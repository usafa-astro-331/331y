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6"/>
  </p:notesMasterIdLst>
  <p:sldIdLst>
    <p:sldId id="256" r:id="rId5"/>
    <p:sldId id="264" r:id="rId6"/>
    <p:sldId id="263" r:id="rId7"/>
    <p:sldId id="258" r:id="rId8"/>
    <p:sldId id="259" r:id="rId9"/>
    <p:sldId id="260" r:id="rId10"/>
    <p:sldId id="261" r:id="rId11"/>
    <p:sldId id="265" r:id="rId12"/>
    <p:sldId id="266" r:id="rId13"/>
    <p:sldId id="267" r:id="rId14"/>
    <p:sldId id="262" r:id="rId15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737"/>
    <a:srgbClr val="965D1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9BEA3B-D0BF-479A-A858-E60B9955EB4A}" v="1" dt="2026-02-27T15:41:18.5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05" autoAdjust="0"/>
  </p:normalViewPr>
  <p:slideViewPr>
    <p:cSldViewPr snapToGrid="0">
      <p:cViewPr varScale="1">
        <p:scale>
          <a:sx n="66" d="100"/>
          <a:sy n="66" d="100"/>
        </p:scale>
        <p:origin x="185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, Wyatt J Lt Col USAF USAFA DF/DFAS" userId="768bfb95-c272-4014-8fa2-010c15306053" providerId="ADAL" clId="{E18DAD13-4A53-44B8-9F3F-46E167733190}"/>
    <pc:docChg chg="undo custSel addSld modSld">
      <pc:chgData name="Harris, Wyatt J Lt Col USAF USAFA DF/DFAS" userId="768bfb95-c272-4014-8fa2-010c15306053" providerId="ADAL" clId="{E18DAD13-4A53-44B8-9F3F-46E167733190}" dt="2026-02-27T15:41:19.527" v="975" actId="20577"/>
      <pc:docMkLst>
        <pc:docMk/>
      </pc:docMkLst>
      <pc:sldChg chg="modSp mod">
        <pc:chgData name="Harris, Wyatt J Lt Col USAF USAFA DF/DFAS" userId="768bfb95-c272-4014-8fa2-010c15306053" providerId="ADAL" clId="{E18DAD13-4A53-44B8-9F3F-46E167733190}" dt="2026-02-26T22:12:33.993" v="923" actId="20577"/>
        <pc:sldMkLst>
          <pc:docMk/>
          <pc:sldMk cId="3188062351" sldId="256"/>
        </pc:sldMkLst>
        <pc:spChg chg="mod">
          <ac:chgData name="Harris, Wyatt J Lt Col USAF USAFA DF/DFAS" userId="768bfb95-c272-4014-8fa2-010c15306053" providerId="ADAL" clId="{E18DAD13-4A53-44B8-9F3F-46E167733190}" dt="2026-02-26T22:12:33.993" v="923" actId="20577"/>
          <ac:spMkLst>
            <pc:docMk/>
            <pc:sldMk cId="3188062351" sldId="256"/>
            <ac:spMk id="3" creationId="{1D63E707-3906-1580-6A39-D3696F120305}"/>
          </ac:spMkLst>
        </pc:spChg>
      </pc:sldChg>
      <pc:sldChg chg="modSp mod">
        <pc:chgData name="Harris, Wyatt J Lt Col USAF USAFA DF/DFAS" userId="768bfb95-c272-4014-8fa2-010c15306053" providerId="ADAL" clId="{E18DAD13-4A53-44B8-9F3F-46E167733190}" dt="2026-02-25T23:22:28.376" v="115" actId="20577"/>
        <pc:sldMkLst>
          <pc:docMk/>
          <pc:sldMk cId="2974458106" sldId="258"/>
        </pc:sldMkLst>
        <pc:spChg chg="mod">
          <ac:chgData name="Harris, Wyatt J Lt Col USAF USAFA DF/DFAS" userId="768bfb95-c272-4014-8fa2-010c15306053" providerId="ADAL" clId="{E18DAD13-4A53-44B8-9F3F-46E167733190}" dt="2026-02-25T23:22:28.376" v="115" actId="20577"/>
          <ac:spMkLst>
            <pc:docMk/>
            <pc:sldMk cId="2974458106" sldId="258"/>
            <ac:spMk id="2" creationId="{23FF3108-E065-CD78-034A-312F9BFCB02C}"/>
          </ac:spMkLst>
        </pc:spChg>
      </pc:sldChg>
      <pc:sldChg chg="addSp delSp modSp mod">
        <pc:chgData name="Harris, Wyatt J Lt Col USAF USAFA DF/DFAS" userId="768bfb95-c272-4014-8fa2-010c15306053" providerId="ADAL" clId="{E18DAD13-4A53-44B8-9F3F-46E167733190}" dt="2026-02-26T15:39:06.148" v="240" actId="1076"/>
        <pc:sldMkLst>
          <pc:docMk/>
          <pc:sldMk cId="467163741" sldId="259"/>
        </pc:sldMkLst>
        <pc:spChg chg="add mod">
          <ac:chgData name="Harris, Wyatt J Lt Col USAF USAFA DF/DFAS" userId="768bfb95-c272-4014-8fa2-010c15306053" providerId="ADAL" clId="{E18DAD13-4A53-44B8-9F3F-46E167733190}" dt="2026-02-26T15:38:41.343" v="236" actId="14100"/>
          <ac:spMkLst>
            <pc:docMk/>
            <pc:sldMk cId="467163741" sldId="259"/>
            <ac:spMk id="8" creationId="{C4CCCEB8-12F7-51F3-B539-154996078F38}"/>
          </ac:spMkLst>
        </pc:spChg>
        <pc:spChg chg="del mod">
          <ac:chgData name="Harris, Wyatt J Lt Col USAF USAFA DF/DFAS" userId="768bfb95-c272-4014-8fa2-010c15306053" providerId="ADAL" clId="{E18DAD13-4A53-44B8-9F3F-46E167733190}" dt="2026-02-26T15:38:01.703" v="230"/>
          <ac:spMkLst>
            <pc:docMk/>
            <pc:sldMk cId="467163741" sldId="259"/>
            <ac:spMk id="9" creationId="{1F6E761F-1E24-7E57-A59E-4D71A47AC049}"/>
          </ac:spMkLst>
        </pc:spChg>
        <pc:picChg chg="del">
          <ac:chgData name="Harris, Wyatt J Lt Col USAF USAFA DF/DFAS" userId="768bfb95-c272-4014-8fa2-010c15306053" providerId="ADAL" clId="{E18DAD13-4A53-44B8-9F3F-46E167733190}" dt="2026-02-26T15:39:01.132" v="237" actId="478"/>
          <ac:picMkLst>
            <pc:docMk/>
            <pc:sldMk cId="467163741" sldId="259"/>
            <ac:picMk id="7" creationId="{0F3A3ACB-AC5D-E759-2DB8-30401283779A}"/>
          </ac:picMkLst>
        </pc:picChg>
        <pc:picChg chg="add mod">
          <ac:chgData name="Harris, Wyatt J Lt Col USAF USAFA DF/DFAS" userId="768bfb95-c272-4014-8fa2-010c15306053" providerId="ADAL" clId="{E18DAD13-4A53-44B8-9F3F-46E167733190}" dt="2026-02-26T15:39:06.148" v="240" actId="1076"/>
          <ac:picMkLst>
            <pc:docMk/>
            <pc:sldMk cId="467163741" sldId="259"/>
            <ac:picMk id="11" creationId="{FA0F1FAF-ACB5-7118-4ACC-B1F96B62036F}"/>
          </ac:picMkLst>
        </pc:picChg>
      </pc:sldChg>
      <pc:sldChg chg="modSp mod">
        <pc:chgData name="Harris, Wyatt J Lt Col USAF USAFA DF/DFAS" userId="768bfb95-c272-4014-8fa2-010c15306053" providerId="ADAL" clId="{E18DAD13-4A53-44B8-9F3F-46E167733190}" dt="2026-02-26T22:11:02.630" v="917" actId="27636"/>
        <pc:sldMkLst>
          <pc:docMk/>
          <pc:sldMk cId="2098343086" sldId="260"/>
        </pc:sldMkLst>
        <pc:spChg chg="mod">
          <ac:chgData name="Harris, Wyatt J Lt Col USAF USAFA DF/DFAS" userId="768bfb95-c272-4014-8fa2-010c15306053" providerId="ADAL" clId="{E18DAD13-4A53-44B8-9F3F-46E167733190}" dt="2026-02-26T22:11:02.630" v="917" actId="27636"/>
          <ac:spMkLst>
            <pc:docMk/>
            <pc:sldMk cId="2098343086" sldId="260"/>
            <ac:spMk id="3" creationId="{4F96071F-CF85-3012-AAE4-AA7CA3A9F3D4}"/>
          </ac:spMkLst>
        </pc:spChg>
      </pc:sldChg>
      <pc:sldChg chg="modSp mod">
        <pc:chgData name="Harris, Wyatt J Lt Col USAF USAFA DF/DFAS" userId="768bfb95-c272-4014-8fa2-010c15306053" providerId="ADAL" clId="{E18DAD13-4A53-44B8-9F3F-46E167733190}" dt="2026-02-26T15:37:43.095" v="227" actId="20577"/>
        <pc:sldMkLst>
          <pc:docMk/>
          <pc:sldMk cId="210347373" sldId="261"/>
        </pc:sldMkLst>
        <pc:spChg chg="mod">
          <ac:chgData name="Harris, Wyatt J Lt Col USAF USAFA DF/DFAS" userId="768bfb95-c272-4014-8fa2-010c15306053" providerId="ADAL" clId="{E18DAD13-4A53-44B8-9F3F-46E167733190}" dt="2026-02-26T15:37:43.095" v="227" actId="20577"/>
          <ac:spMkLst>
            <pc:docMk/>
            <pc:sldMk cId="210347373" sldId="261"/>
            <ac:spMk id="3" creationId="{70FD8C29-1AAD-5A0B-4C0E-C9A103993195}"/>
          </ac:spMkLst>
        </pc:spChg>
      </pc:sldChg>
      <pc:sldChg chg="modSp mod">
        <pc:chgData name="Harris, Wyatt J Lt Col USAF USAFA DF/DFAS" userId="768bfb95-c272-4014-8fa2-010c15306053" providerId="ADAL" clId="{E18DAD13-4A53-44B8-9F3F-46E167733190}" dt="2026-02-27T15:41:19.527" v="975" actId="20577"/>
        <pc:sldMkLst>
          <pc:docMk/>
          <pc:sldMk cId="2358381835" sldId="262"/>
        </pc:sldMkLst>
        <pc:spChg chg="mod">
          <ac:chgData name="Harris, Wyatt J Lt Col USAF USAFA DF/DFAS" userId="768bfb95-c272-4014-8fa2-010c15306053" providerId="ADAL" clId="{E18DAD13-4A53-44B8-9F3F-46E167733190}" dt="2026-02-27T15:41:19.527" v="975" actId="20577"/>
          <ac:spMkLst>
            <pc:docMk/>
            <pc:sldMk cId="2358381835" sldId="262"/>
            <ac:spMk id="3" creationId="{D78B9108-C1B8-7B67-4EA3-84D58E2092DF}"/>
          </ac:spMkLst>
        </pc:spChg>
      </pc:sldChg>
      <pc:sldChg chg="addSp modSp mod">
        <pc:chgData name="Harris, Wyatt J Lt Col USAF USAFA DF/DFAS" userId="768bfb95-c272-4014-8fa2-010c15306053" providerId="ADAL" clId="{E18DAD13-4A53-44B8-9F3F-46E167733190}" dt="2026-02-26T22:10:31.091" v="914" actId="1076"/>
        <pc:sldMkLst>
          <pc:docMk/>
          <pc:sldMk cId="3014748862" sldId="265"/>
        </pc:sldMkLst>
        <pc:spChg chg="mod">
          <ac:chgData name="Harris, Wyatt J Lt Col USAF USAFA DF/DFAS" userId="768bfb95-c272-4014-8fa2-010c15306053" providerId="ADAL" clId="{E18DAD13-4A53-44B8-9F3F-46E167733190}" dt="2026-02-26T22:09:15.388" v="913" actId="14100"/>
          <ac:spMkLst>
            <pc:docMk/>
            <pc:sldMk cId="3014748862" sldId="265"/>
            <ac:spMk id="7" creationId="{4ED5B27E-829B-0DFE-B3F3-FA41F1A33F97}"/>
          </ac:spMkLst>
        </pc:spChg>
        <pc:picChg chg="add mod">
          <ac:chgData name="Harris, Wyatt J Lt Col USAF USAFA DF/DFAS" userId="768bfb95-c272-4014-8fa2-010c15306053" providerId="ADAL" clId="{E18DAD13-4A53-44B8-9F3F-46E167733190}" dt="2026-02-26T22:10:31.091" v="914" actId="1076"/>
          <ac:picMkLst>
            <pc:docMk/>
            <pc:sldMk cId="3014748862" sldId="265"/>
            <ac:picMk id="6" creationId="{9A46FDAF-FE3E-D50A-7158-7E6441B8DA8C}"/>
          </ac:picMkLst>
        </pc:picChg>
      </pc:sldChg>
      <pc:sldChg chg="modSp new mod">
        <pc:chgData name="Harris, Wyatt J Lt Col USAF USAFA DF/DFAS" userId="768bfb95-c272-4014-8fa2-010c15306053" providerId="ADAL" clId="{E18DAD13-4A53-44B8-9F3F-46E167733190}" dt="2026-02-26T22:08:17.193" v="907" actId="20577"/>
        <pc:sldMkLst>
          <pc:docMk/>
          <pc:sldMk cId="3960852674" sldId="266"/>
        </pc:sldMkLst>
        <pc:spChg chg="mod">
          <ac:chgData name="Harris, Wyatt J Lt Col USAF USAFA DF/DFAS" userId="768bfb95-c272-4014-8fa2-010c15306053" providerId="ADAL" clId="{E18DAD13-4A53-44B8-9F3F-46E167733190}" dt="2026-02-26T22:07:58.970" v="886" actId="20577"/>
          <ac:spMkLst>
            <pc:docMk/>
            <pc:sldMk cId="3960852674" sldId="266"/>
            <ac:spMk id="2" creationId="{D8F2676B-4A8F-AE7F-295D-C93928BBA76C}"/>
          </ac:spMkLst>
        </pc:spChg>
        <pc:spChg chg="mod">
          <ac:chgData name="Harris, Wyatt J Lt Col USAF USAFA DF/DFAS" userId="768bfb95-c272-4014-8fa2-010c15306053" providerId="ADAL" clId="{E18DAD13-4A53-44B8-9F3F-46E167733190}" dt="2026-02-26T22:08:17.193" v="907" actId="20577"/>
          <ac:spMkLst>
            <pc:docMk/>
            <pc:sldMk cId="3960852674" sldId="266"/>
            <ac:spMk id="3" creationId="{A1498470-20B1-0B8B-8ABA-B542426D1F5C}"/>
          </ac:spMkLst>
        </pc:spChg>
      </pc:sldChg>
      <pc:sldChg chg="modSp new mod">
        <pc:chgData name="Harris, Wyatt J Lt Col USAF USAFA DF/DFAS" userId="768bfb95-c272-4014-8fa2-010c15306053" providerId="ADAL" clId="{E18DAD13-4A53-44B8-9F3F-46E167733190}" dt="2026-02-26T15:45:40.418" v="857" actId="20577"/>
        <pc:sldMkLst>
          <pc:docMk/>
          <pc:sldMk cId="904354356" sldId="267"/>
        </pc:sldMkLst>
        <pc:spChg chg="mod">
          <ac:chgData name="Harris, Wyatt J Lt Col USAF USAFA DF/DFAS" userId="768bfb95-c272-4014-8fa2-010c15306053" providerId="ADAL" clId="{E18DAD13-4A53-44B8-9F3F-46E167733190}" dt="2026-02-25T23:22:59.633" v="148" actId="113"/>
          <ac:spMkLst>
            <pc:docMk/>
            <pc:sldMk cId="904354356" sldId="267"/>
            <ac:spMk id="2" creationId="{A497174E-0A28-D198-32E7-C69560CFBD19}"/>
          </ac:spMkLst>
        </pc:spChg>
        <pc:spChg chg="mod">
          <ac:chgData name="Harris, Wyatt J Lt Col USAF USAFA DF/DFAS" userId="768bfb95-c272-4014-8fa2-010c15306053" providerId="ADAL" clId="{E18DAD13-4A53-44B8-9F3F-46E167733190}" dt="2026-02-26T15:45:40.418" v="857" actId="20577"/>
          <ac:spMkLst>
            <pc:docMk/>
            <pc:sldMk cId="904354356" sldId="267"/>
            <ac:spMk id="3" creationId="{035AE7D3-E6A7-45CB-454C-C1E150ABA8C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4D2EC29-5E9A-49E8-BC12-73FDF630574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9EB4C982-825B-414E-ABB9-79AB2513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1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5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1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9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7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3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5350" y="1144002"/>
            <a:ext cx="678899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81865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00E-A67F-4D2A-8A36-552C1EFBE963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1DE720-C36A-2EFC-0954-335249276F1A}"/>
              </a:ext>
            </a:extLst>
          </p:cNvPr>
          <p:cNvSpPr txBox="1">
            <a:spLocks/>
          </p:cNvSpPr>
          <p:nvPr userDrawn="1"/>
        </p:nvSpPr>
        <p:spPr>
          <a:xfrm>
            <a:off x="1028701" y="111639"/>
            <a:ext cx="7226780" cy="696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4400"/>
              <a:t>USAFA ASTRO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FD864A1-DC7B-C6C8-87CB-D0D681030469}"/>
              </a:ext>
            </a:extLst>
          </p:cNvPr>
          <p:cNvSpPr txBox="1">
            <a:spLocks/>
          </p:cNvSpPr>
          <p:nvPr userDrawn="1"/>
        </p:nvSpPr>
        <p:spPr>
          <a:xfrm>
            <a:off x="1143000" y="6288282"/>
            <a:ext cx="6858000" cy="501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/>
              <a:t>ASTRO 331 – Space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65268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D194C-E731-4CF3-8F14-16F2CEB9B5CF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0626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C6FCA-E440-4A17-8C6B-54B65BC400EF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F287-72CA-49D4-A601-3B9D2E83EA05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6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B2832-1105-4FA1-AD49-3D1761459FB9}" type="datetime1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7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F9A-2345-4D36-85FA-49730D271487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4DED-4E37-473F-AD62-970655F2D578}" type="datetime1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5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4D36-2BA6-4632-B283-5D3E851C5410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9CD72-2059-40BB-BF30-AF971560729B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0F733-755F-4A68-A044-3BB7487EA333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1D12-59AE-465C-A617-7D2534E388B9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991" y="136523"/>
            <a:ext cx="7886700" cy="652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40" y="1002507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634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D194C-E731-4CF3-8F14-16F2CEB9B5CF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50169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Astro 331 Lab #5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E8A6C5-C92C-8448-0311-8A5C323071D8}"/>
              </a:ext>
            </a:extLst>
          </p:cNvPr>
          <p:cNvSpPr/>
          <p:nvPr userDrawn="1"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918AF-A31D-A49D-520C-D6A347912BFA}"/>
              </a:ext>
            </a:extLst>
          </p:cNvPr>
          <p:cNvSpPr txBox="1"/>
          <p:nvPr userDrawn="1"/>
        </p:nvSpPr>
        <p:spPr>
          <a:xfrm>
            <a:off x="8115301" y="72097"/>
            <a:ext cx="970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>
                <a:latin typeface="Segoe UI" panose="020B0502040204020203" pitchFamily="34" charset="0"/>
                <a:cs typeface="Segoe UI" panose="020B0502040204020203" pitchFamily="34" charset="0"/>
              </a:rPr>
              <a:t>2025 Fall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FB5F7-9C45-8CB0-F5C4-6BF493EF4BCD}"/>
              </a:ext>
            </a:extLst>
          </p:cNvPr>
          <p:cNvSpPr/>
          <p:nvPr userDrawn="1"/>
        </p:nvSpPr>
        <p:spPr>
          <a:xfrm>
            <a:off x="1106340" y="815389"/>
            <a:ext cx="7991296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49DA28-CF7C-1CE3-C307-FC252DA9EB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64" y="18574"/>
            <a:ext cx="864115" cy="97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dafruit.com/product/4755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sparkfun.com/sparkfun-gps-breakout-chip-antenna-sam-m10q-qwiic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E2C4-BC94-2EEF-55E0-A1575A57F5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Lab #8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3E707-3906-1580-6A39-D3696F120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500" b="1" dirty="0"/>
              <a:t>KestrelSAT Capstone</a:t>
            </a:r>
          </a:p>
          <a:p>
            <a:r>
              <a:rPr lang="en-US" b="1" dirty="0"/>
              <a:t>AKA </a:t>
            </a:r>
            <a:r>
              <a:rPr lang="en-US" b="1" i="1" dirty="0"/>
              <a:t>“Choose Your </a:t>
            </a:r>
            <a:r>
              <a:rPr lang="en-US" b="1" i="1"/>
              <a:t>Own Adventure</a:t>
            </a:r>
            <a:r>
              <a:rPr lang="en-US" b="1" i="1" dirty="0"/>
              <a:t>”</a:t>
            </a:r>
          </a:p>
          <a:p>
            <a:endParaRPr lang="en-US" b="1" dirty="0"/>
          </a:p>
          <a:p>
            <a:r>
              <a:rPr lang="en-US" b="1" dirty="0"/>
              <a:t>Initial Guidance</a:t>
            </a:r>
          </a:p>
        </p:txBody>
      </p:sp>
    </p:spTree>
    <p:extLst>
      <p:ext uri="{BB962C8B-B14F-4D97-AF65-F5344CB8AC3E}">
        <p14:creationId xmlns:p14="http://schemas.microsoft.com/office/powerpoint/2010/main" val="318806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73D2-B628-1A23-870A-A8B73A65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Authorized Resources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8E3CA-0C5C-22BB-0298-AB6FEB11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A771F-03B5-CFE1-1177-409E58C6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</a:t>
            </a:fld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AB706DEC-6A7E-C1E9-6119-55760C6CF72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06488" y="1080654"/>
            <a:ext cx="7886700" cy="53844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4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Lab activities &amp; lab presentation are team effort</a:t>
            </a:r>
          </a:p>
          <a:p>
            <a:pPr marL="0" indent="-223838"/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-223838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Any non-human resource.</a:t>
            </a:r>
          </a:p>
          <a:p>
            <a:pPr marL="681038" lvl="1" indent="-223838"/>
            <a:r>
              <a:rPr lang="en-US" b="1" dirty="0"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Generative AI Level 4 Allowed</a:t>
            </a:r>
          </a:p>
          <a:p>
            <a:pPr marL="681038" lvl="1" indent="-223838"/>
            <a:endParaRPr lang="en-US" b="1" dirty="0">
              <a:highlight>
                <a:srgbClr val="FFFF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-223838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Any human for: brainstorming / advice / limited troubleshooting.</a:t>
            </a: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-223838"/>
            <a:r>
              <a:rPr lang="en-US" b="1" dirty="0"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Non-group members cannot write code for you or perform any substantive amount of work.  </a:t>
            </a:r>
          </a:p>
        </p:txBody>
      </p:sp>
    </p:spTree>
    <p:extLst>
      <p:ext uri="{BB962C8B-B14F-4D97-AF65-F5344CB8AC3E}">
        <p14:creationId xmlns:p14="http://schemas.microsoft.com/office/powerpoint/2010/main" val="1667617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0903B-93C5-1553-F031-FB2181CC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Lab #8 Proposal Turn-in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C34AF-BD72-18C7-CCEF-36B203272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the proposal turn-in, use the provided final presentation template and complete the first two slides: Overview and Objectives.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2AEDA3-271E-7BE0-6E18-CB99C0144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1D24D-BB29-02DE-4154-FF0FC095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9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3108-E065-CD78-034A-312F9BFC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Topic Idea 1: Upgrade 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41C40-98CE-E800-03AD-0A19970E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340" y="1002506"/>
            <a:ext cx="4877670" cy="53047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u="sng" dirty="0"/>
              <a:t>Goal ideas: </a:t>
            </a:r>
          </a:p>
          <a:p>
            <a:pPr marL="514350" indent="-514350">
              <a:buAutoNum type="arabicParenBoth"/>
            </a:pPr>
            <a:r>
              <a:rPr lang="en-US" sz="2000" dirty="0"/>
              <a:t>Add a solar power charge controller to the EPS system of </a:t>
            </a:r>
            <a:r>
              <a:rPr lang="en-US" sz="2000" dirty="0" err="1"/>
              <a:t>KestrelSAT</a:t>
            </a:r>
            <a:r>
              <a:rPr lang="en-US" sz="2000" dirty="0"/>
              <a:t>. Use this controller and a boost converter to charge the onboard battery.</a:t>
            </a:r>
          </a:p>
          <a:p>
            <a:pPr marL="514350" indent="-514350">
              <a:buAutoNum type="arabicParenBoth"/>
            </a:pPr>
            <a:r>
              <a:rPr lang="en-US" sz="2000" dirty="0"/>
              <a:t>Add solar cells as required to provide enough power to the controller to charge the onboard battery.</a:t>
            </a:r>
          </a:p>
          <a:p>
            <a:pPr marL="514350" indent="-514350">
              <a:buAutoNum type="arabicParenBoth"/>
            </a:pPr>
            <a:r>
              <a:rPr lang="en-US" sz="2000" dirty="0"/>
              <a:t>Record the voltage and current output from the charge controller using the onboard INA219 and determine how much charge the battery received.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u="sng" dirty="0"/>
              <a:t>Stretch Goal ideas:</a:t>
            </a:r>
          </a:p>
          <a:p>
            <a:pPr marL="0" indent="0">
              <a:buNone/>
            </a:pPr>
            <a:r>
              <a:rPr lang="en-US" sz="2000" dirty="0"/>
              <a:t>(1) Design a 3D Printed Bracket mount the additional solar cells to </a:t>
            </a:r>
            <a:r>
              <a:rPr lang="en-US" sz="2000" dirty="0" err="1"/>
              <a:t>KestrelSAT</a:t>
            </a:r>
            <a:r>
              <a:rPr lang="en-US" sz="2000" dirty="0"/>
              <a:t>.</a:t>
            </a:r>
          </a:p>
          <a:p>
            <a:pPr marL="514350" indent="-514350">
              <a:buAutoNum type="arabicParenBoth"/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17311-9E15-7F81-7D17-8368C4E0F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6E98D-5989-F031-E874-71340CC0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71D758-CA16-8F67-88DF-9A2E5C864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257" y="4625116"/>
            <a:ext cx="2434814" cy="2205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B9161C-6CC1-59AD-5D8E-2601AD55A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465" y="933210"/>
            <a:ext cx="2356399" cy="1863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541677-78E3-4518-A989-4F338657B45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90246" y="3440419"/>
            <a:ext cx="1641972" cy="12841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846A48-CC28-5854-2F7F-C7EE26FB271D}"/>
              </a:ext>
            </a:extLst>
          </p:cNvPr>
          <p:cNvSpPr txBox="1"/>
          <p:nvPr/>
        </p:nvSpPr>
        <p:spPr>
          <a:xfrm>
            <a:off x="5984010" y="2778721"/>
            <a:ext cx="3345390" cy="645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Proxima Nova"/>
                <a:hlinkClick r:id="rId5"/>
              </a:rPr>
              <a:t>Adafruit Universal USB / DC / Solar Lithium Ion/Polymer charger - bq24074</a:t>
            </a:r>
            <a:endParaRPr lang="en-US" sz="1400" b="0" i="0" dirty="0">
              <a:solidFill>
                <a:srgbClr val="000000"/>
              </a:solidFill>
              <a:effectLst/>
              <a:latin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97445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7EC58-D24C-3E70-415D-08C5BEDD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ECAC3-3E3E-91F0-00A1-0244AE1E6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Topic Idea 2: Add GNSS Receiver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E0022-D36F-7764-3984-41D436697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340" y="1002507"/>
            <a:ext cx="4837260" cy="53671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u="sng" dirty="0"/>
              <a:t>Goal ideas: </a:t>
            </a:r>
          </a:p>
          <a:p>
            <a:pPr marL="514350" indent="-514350">
              <a:buAutoNum type="arabicParenBoth"/>
            </a:pPr>
            <a:r>
              <a:rPr lang="en-US" sz="2000" dirty="0"/>
              <a:t>Add a GNSS receiver to </a:t>
            </a:r>
            <a:r>
              <a:rPr lang="en-US" sz="2000" dirty="0" err="1"/>
              <a:t>KestrelSAT</a:t>
            </a:r>
            <a:r>
              <a:rPr lang="en-US" sz="2000" dirty="0"/>
              <a:t> and record the following data:</a:t>
            </a:r>
          </a:p>
          <a:p>
            <a:pPr marL="914400" lvl="2" indent="0">
              <a:buNone/>
            </a:pPr>
            <a:r>
              <a:rPr lang="en-US" sz="1800" dirty="0"/>
              <a:t>Latitude / Longitude</a:t>
            </a:r>
          </a:p>
          <a:p>
            <a:pPr marL="914400" lvl="2" indent="0">
              <a:buNone/>
            </a:pPr>
            <a:r>
              <a:rPr lang="en-US" sz="1800" dirty="0"/>
              <a:t>Height above Ellipsoid </a:t>
            </a:r>
          </a:p>
          <a:p>
            <a:pPr marL="914400" lvl="2" indent="0">
              <a:buNone/>
            </a:pPr>
            <a:r>
              <a:rPr lang="en-US" sz="1800" dirty="0"/>
              <a:t>3D velocity</a:t>
            </a:r>
          </a:p>
          <a:p>
            <a:pPr marL="914400" lvl="2" indent="0">
              <a:buNone/>
            </a:pPr>
            <a:r>
              <a:rPr lang="en-US" sz="1800" dirty="0"/>
              <a:t>Number of Satellites in View</a:t>
            </a:r>
          </a:p>
          <a:p>
            <a:pPr marL="914400" lvl="2" indent="0">
              <a:buNone/>
            </a:pPr>
            <a:r>
              <a:rPr lang="en-US" sz="1800" dirty="0"/>
              <a:t>DOP</a:t>
            </a:r>
          </a:p>
          <a:p>
            <a:pPr marL="514350" indent="-514350">
              <a:buAutoNum type="arabicParenBoth"/>
            </a:pPr>
            <a:r>
              <a:rPr lang="en-US" sz="2000" dirty="0"/>
              <a:t>Record the GNSS data onboard KestrelSAT SD card, and send it over </a:t>
            </a:r>
            <a:r>
              <a:rPr lang="en-US" sz="2000" dirty="0" err="1"/>
              <a:t>Xbee</a:t>
            </a:r>
            <a:r>
              <a:rPr lang="en-US" sz="2000" dirty="0"/>
              <a:t> connection. Record Ground Station RSSI for each packet sent.</a:t>
            </a:r>
          </a:p>
          <a:p>
            <a:pPr marL="514350" indent="-514350">
              <a:buAutoNum type="arabicParenBoth"/>
            </a:pPr>
            <a:r>
              <a:rPr lang="en-US" sz="2000" dirty="0"/>
              <a:t>Conduct a simulated s/c fly-by, recording the location and RSSI over time. Plot and analyze the trajectory and RSSI.</a:t>
            </a:r>
          </a:p>
          <a:p>
            <a:pPr marL="0" indent="0">
              <a:buNone/>
            </a:pPr>
            <a:r>
              <a:rPr lang="en-US" sz="2000" u="sng" dirty="0"/>
              <a:t>Stretch goal ideas:</a:t>
            </a:r>
          </a:p>
          <a:p>
            <a:pPr marL="457200" indent="-457200">
              <a:buAutoNum type="arabicParenBoth"/>
            </a:pPr>
            <a:r>
              <a:rPr lang="en-US" sz="2000" dirty="0"/>
              <a:t>Get and examine Az/El and C/N0 for GNSS Sats in view.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CBC051-0ADC-0018-B514-5C6F89E1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92875"/>
            <a:ext cx="3086100" cy="365125"/>
          </a:xfrm>
        </p:spPr>
        <p:txBody>
          <a:bodyPr/>
          <a:lstStyle/>
          <a:p>
            <a:r>
              <a:rPr lang="en-US" dirty="0"/>
              <a:t>Astro 331 Lab #8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0E6DF-7F36-2534-BBC7-1CEE70B6E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CCCEB8-12F7-51F3-B539-154996078F38}"/>
              </a:ext>
            </a:extLst>
          </p:cNvPr>
          <p:cNvSpPr txBox="1"/>
          <p:nvPr/>
        </p:nvSpPr>
        <p:spPr>
          <a:xfrm>
            <a:off x="5600700" y="4117236"/>
            <a:ext cx="3543300" cy="822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750"/>
              </a:spcAft>
              <a:buNone/>
            </a:pPr>
            <a:r>
              <a:rPr lang="en-US" sz="1400" b="1" i="0" dirty="0" err="1">
                <a:solidFill>
                  <a:srgbClr val="24444A"/>
                </a:solidFill>
                <a:effectLst/>
                <a:latin typeface="Montserrat" panose="00000500000000000000" pitchFamily="2" charset="0"/>
                <a:hlinkClick r:id="rId2"/>
              </a:rPr>
              <a:t>SparkFun</a:t>
            </a:r>
            <a:r>
              <a:rPr lang="en-US" sz="1400" b="1" i="0" dirty="0">
                <a:solidFill>
                  <a:srgbClr val="24444A"/>
                </a:solidFill>
                <a:effectLst/>
                <a:latin typeface="Montserrat" panose="00000500000000000000" pitchFamily="2" charset="0"/>
                <a:hlinkClick r:id="rId2"/>
              </a:rPr>
              <a:t> GPS Breakout - Chip Antenna, SAM-M10Q (</a:t>
            </a:r>
            <a:r>
              <a:rPr lang="en-US" sz="1400" b="1" i="0" dirty="0" err="1">
                <a:solidFill>
                  <a:srgbClr val="24444A"/>
                </a:solidFill>
                <a:effectLst/>
                <a:latin typeface="Montserrat" panose="00000500000000000000" pitchFamily="2" charset="0"/>
                <a:hlinkClick r:id="rId2"/>
              </a:rPr>
              <a:t>Qwiic</a:t>
            </a:r>
            <a:r>
              <a:rPr lang="en-US" sz="1400" b="1" i="0" dirty="0">
                <a:solidFill>
                  <a:srgbClr val="24444A"/>
                </a:solidFill>
                <a:effectLst/>
                <a:latin typeface="Montserrat" panose="00000500000000000000" pitchFamily="2" charset="0"/>
                <a:hlinkClick r:id="rId2"/>
              </a:rPr>
              <a:t>)</a:t>
            </a:r>
            <a:endParaRPr lang="en-US" sz="1400" b="1" i="0" dirty="0">
              <a:solidFill>
                <a:srgbClr val="24444A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0F1FAF-ACB5-7118-4ACC-B1F96B620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373" y="1257720"/>
            <a:ext cx="2756937" cy="266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63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CB67B-C98A-63D0-7418-E011F68E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49C3E-F06D-272C-1F43-04C42ACD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Topic Idea 3: Active Control of </a:t>
            </a:r>
            <a:r>
              <a:rPr lang="en-US" sz="2400" b="1" dirty="0" err="1"/>
              <a:t>KestrelSAT</a:t>
            </a:r>
            <a:r>
              <a:rPr lang="en-US" sz="2400" b="1" dirty="0"/>
              <a:t> Attitude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6071F-CF85-3012-AAE4-AA7CA3A9F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340" y="1002506"/>
            <a:ext cx="6533472" cy="50553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 dirty="0"/>
              <a:t>Goal ideas: </a:t>
            </a:r>
          </a:p>
          <a:p>
            <a:pPr marL="514350" indent="-514350">
              <a:buAutoNum type="arabicParenBoth"/>
            </a:pPr>
            <a:r>
              <a:rPr lang="en-US" dirty="0"/>
              <a:t>Implement a control algorithm that uses the reaction wheel to stabilize KestrelSAT’s attitude about the Z-axis to a particular attitude (e.g. slew magnetic heading or track sun).</a:t>
            </a:r>
          </a:p>
          <a:p>
            <a:pPr marL="514350" indent="-514350">
              <a:buAutoNum type="arabicParenBoth"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Stretch goal ideas:</a:t>
            </a:r>
          </a:p>
          <a:p>
            <a:pPr marL="514350" indent="-514350">
              <a:buAutoNum type="arabicParenBoth"/>
            </a:pPr>
            <a:r>
              <a:rPr lang="en-US" dirty="0"/>
              <a:t>Dynamically update heading setpoint over </a:t>
            </a:r>
            <a:r>
              <a:rPr lang="en-US" dirty="0" err="1"/>
              <a:t>Xbee</a:t>
            </a:r>
            <a:r>
              <a:rPr lang="en-US" dirty="0"/>
              <a:t> connection.</a:t>
            </a:r>
          </a:p>
          <a:p>
            <a:pPr marL="514350" indent="-514350">
              <a:buAutoNum type="arabicParenBoth"/>
            </a:pPr>
            <a:r>
              <a:rPr lang="en-US" dirty="0"/>
              <a:t>Implement a complimentary filter sensor fusion algorithm to combine gyro heading and magnetometer heading. </a:t>
            </a:r>
          </a:p>
          <a:p>
            <a:pPr marL="514350" indent="-514350">
              <a:buAutoNum type="arabicParenBoth"/>
            </a:pPr>
            <a:r>
              <a:rPr lang="en-US" dirty="0"/>
              <a:t>Add a small PC fan to simulate a disturbance (e.g. a stuck thruster) and examine if/how the control system can overcome this disturbance.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CB279-B056-8D99-3FDE-6DF4A2EFC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66B49F-805D-CBE4-C319-076E1886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43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2B71-C111-B6C6-3775-6ED39A05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65063-01EC-EE8E-E244-3435CAD3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Topic Idea 4: Send Image over </a:t>
            </a:r>
            <a:r>
              <a:rPr lang="en-US" sz="2400" b="1" dirty="0" err="1"/>
              <a:t>XBee</a:t>
            </a:r>
            <a:r>
              <a:rPr lang="en-US" sz="2400" b="1" dirty="0"/>
              <a:t>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D8C29-1AAD-5A0B-4C0E-C9A103993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/>
              <a:t>Goal ideas: </a:t>
            </a:r>
          </a:p>
          <a:p>
            <a:pPr marL="514350" indent="-514350">
              <a:buAutoNum type="arabicParenBoth"/>
            </a:pPr>
            <a:r>
              <a:rPr lang="en-US" dirty="0"/>
              <a:t>Transfer image from SD card over </a:t>
            </a:r>
            <a:r>
              <a:rPr lang="en-US" dirty="0" err="1"/>
              <a:t>Xbee</a:t>
            </a:r>
            <a:r>
              <a:rPr lang="en-US" dirty="0"/>
              <a:t> connection.</a:t>
            </a:r>
          </a:p>
          <a:p>
            <a:pPr marL="514350" indent="-514350">
              <a:buAutoNum type="arabicParenBoth"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Stretch goal ideas:</a:t>
            </a:r>
          </a:p>
          <a:p>
            <a:pPr marL="514350" indent="-514350">
              <a:buAutoNum type="arabicParenBoth"/>
            </a:pPr>
            <a:r>
              <a:rPr lang="en-US" dirty="0"/>
              <a:t>Save an image captured by the onboard camera to SD.</a:t>
            </a:r>
          </a:p>
          <a:p>
            <a:pPr marL="514350" indent="-514350">
              <a:buAutoNum type="arabicParenBoth"/>
            </a:pPr>
            <a:r>
              <a:rPr lang="en-US" dirty="0"/>
              <a:t>Transfer an image captured by the onboard camera over the </a:t>
            </a:r>
            <a:r>
              <a:rPr lang="en-US" dirty="0" err="1"/>
              <a:t>XBee</a:t>
            </a:r>
            <a:r>
              <a:rPr lang="en-US" dirty="0"/>
              <a:t> connection to the ground station. </a:t>
            </a:r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E08287-493A-623E-D50B-82B2D3F58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79E86-AE52-43A5-DA30-A3ED4497F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7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1E993-CC48-C09D-9439-FEC52EFC7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Topic Idea 5: </a:t>
            </a:r>
            <a:r>
              <a:rPr lang="en-US" b="1"/>
              <a:t>Add Thrusters</a:t>
            </a: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55F29-7319-F1C5-7F7F-45250D9B9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52137-9BEF-00B9-E6E0-F3D045A2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D5B27E-829B-0DFE-B3F3-FA41F1A33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340" y="1002507"/>
            <a:ext cx="5171016" cy="47956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 dirty="0"/>
              <a:t>Goal ideas: </a:t>
            </a:r>
          </a:p>
          <a:p>
            <a:pPr marL="514350" indent="-514350">
              <a:buAutoNum type="arabicParenBoth"/>
            </a:pPr>
            <a:r>
              <a:rPr lang="en-US" dirty="0"/>
              <a:t>Design and 3D print a mount for two small PC fans to attaches to KestrelSAT and act as </a:t>
            </a:r>
            <a:r>
              <a:rPr lang="en-US" dirty="0" err="1"/>
              <a:t>thusters</a:t>
            </a:r>
            <a:r>
              <a:rPr lang="en-US" dirty="0"/>
              <a:t>.</a:t>
            </a:r>
          </a:p>
          <a:p>
            <a:pPr marL="514350" indent="-514350">
              <a:buAutoNum type="arabicParenBoth"/>
            </a:pPr>
            <a:r>
              <a:rPr lang="en-US" dirty="0"/>
              <a:t>Examine maneuvering KestrelSAT with these thrusters. Experimentally determine the amount of thrust produced by the thrusters.</a:t>
            </a:r>
          </a:p>
          <a:p>
            <a:pPr marL="514350" indent="-514350">
              <a:buAutoNum type="arabicParenBoth"/>
            </a:pPr>
            <a:r>
              <a:rPr lang="en-US" dirty="0"/>
              <a:t>Examine momentum dumping of the RW using the thrusters.</a:t>
            </a:r>
          </a:p>
          <a:p>
            <a:pPr marL="514350" indent="-514350">
              <a:buAutoNum type="arabicParenBoth"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Stretch goal ideas:</a:t>
            </a:r>
          </a:p>
          <a:p>
            <a:pPr marL="0" indent="0">
              <a:buNone/>
            </a:pPr>
            <a:r>
              <a:rPr lang="en-US" dirty="0"/>
              <a:t>(1) Develop an active controller that uses the thrusters (and RW if desired) to control KestrelSAT attitude to a specific heading.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46FDAF-FE3E-D50A-7158-7E6441B8D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6" y="2200980"/>
            <a:ext cx="2625598" cy="190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48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676B-4A8F-AE7F-295D-C93928BB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Topic Idea 6: Integrate Magnetorquer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98470-20B1-0B8B-8ABA-B542426D1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Goal Ideas:</a:t>
            </a:r>
            <a:r>
              <a:rPr lang="en-US" dirty="0"/>
              <a:t> </a:t>
            </a:r>
          </a:p>
          <a:p>
            <a:pPr marL="514350" indent="-514350">
              <a:buAutoNum type="arabicParenBoth"/>
            </a:pPr>
            <a:r>
              <a:rPr lang="en-US" dirty="0"/>
              <a:t>Understand theory of magnetorquers and design/build one (or use ones in lab)</a:t>
            </a:r>
          </a:p>
          <a:p>
            <a:pPr marL="514350" indent="-514350">
              <a:buAutoNum type="arabicParenBoth"/>
            </a:pPr>
            <a:r>
              <a:rPr lang="en-US" dirty="0"/>
              <a:t>Attach to KestrelSAT and demonstrate slew maneuver using 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Stretch Goal Ideas:</a:t>
            </a:r>
            <a:endParaRPr lang="en-US" dirty="0"/>
          </a:p>
          <a:p>
            <a:pPr marL="514350" indent="-514350">
              <a:buAutoNum type="arabicParenBoth"/>
            </a:pPr>
            <a:r>
              <a:rPr lang="en-US" dirty="0"/>
              <a:t>Demonstrate momentum dumping of reaction wheel using magnetorquer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E3D75-62CF-AA12-7DEE-CD239F6C0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4C4852-B3AD-D89F-8ED6-7638A0D1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52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174E-0A28-D198-32E7-C69560CF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Topic Idea 7: Create TCS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AE7D3-E6A7-45CB-454C-C1E150ABA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/>
              <a:t>Goal Ideas:</a:t>
            </a:r>
            <a:endParaRPr lang="en-US" dirty="0"/>
          </a:p>
          <a:p>
            <a:pPr marL="514350" indent="-514350">
              <a:buAutoNum type="arabicParenBoth"/>
            </a:pPr>
            <a:r>
              <a:rPr lang="en-US" dirty="0"/>
              <a:t>Design a KestrelSAT lab demonstrating TCS topics </a:t>
            </a:r>
          </a:p>
          <a:p>
            <a:pPr marL="514350" indent="-514350">
              <a:buAutoNum type="arabicParenBoth"/>
            </a:pPr>
            <a:r>
              <a:rPr lang="en-US" dirty="0"/>
              <a:t>Incorporate thermocouples to measure temperature of parts</a:t>
            </a:r>
          </a:p>
          <a:p>
            <a:pPr marL="514350" indent="-514350">
              <a:buAutoNum type="arabicParenBoth"/>
            </a:pPr>
            <a:r>
              <a:rPr lang="en-US" dirty="0"/>
              <a:t>Create lab procedures and documentation </a:t>
            </a:r>
          </a:p>
          <a:p>
            <a:pPr marL="514350" indent="-514350">
              <a:buAutoNum type="arabicParenBoth"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Stretch Goal Ideas:</a:t>
            </a:r>
          </a:p>
          <a:p>
            <a:pPr marL="514350" indent="-514350">
              <a:buAutoNum type="arabicParenBoth"/>
            </a:pPr>
            <a:r>
              <a:rPr lang="en-US" dirty="0"/>
              <a:t>Create an actively controlled TCS (e.g. radiator with louvers)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E299B5-6D39-F22C-43D4-FAA437BC7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Astro 331 Lab #6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D9430-3C98-5EC5-026E-525DB7F9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54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AB69C-E1CC-D8DC-CA00-39C3C55B7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40CC-6F2E-A072-A3C5-7D4DB0400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Other ideas (discuss with instructor)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B9108-C1B8-7B67-4EA3-84D58E209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Design an improved sun sensor and creation a sensor fusion algorithm to combine it with gyro data</a:t>
            </a:r>
          </a:p>
          <a:p>
            <a:pPr lvl="1"/>
            <a:r>
              <a:rPr lang="en-US" sz="1600" dirty="0"/>
              <a:t>Design PCB for sun sensor</a:t>
            </a:r>
          </a:p>
          <a:p>
            <a:r>
              <a:rPr lang="en-US" sz="2000" dirty="0"/>
              <a:t>Real-time calibration of magnetometer</a:t>
            </a:r>
          </a:p>
          <a:p>
            <a:r>
              <a:rPr lang="en-US" sz="2000" dirty="0"/>
              <a:t>3DOF attitude estimation using gyro</a:t>
            </a:r>
          </a:p>
          <a:p>
            <a:r>
              <a:rPr lang="en-US" sz="2000" dirty="0"/>
              <a:t>Antenna radiation pattern characterization </a:t>
            </a:r>
          </a:p>
          <a:p>
            <a:r>
              <a:rPr lang="en-US" sz="2000" dirty="0"/>
              <a:t>Sun tracking solar array</a:t>
            </a:r>
          </a:p>
          <a:p>
            <a:r>
              <a:rPr lang="en-US" sz="2000" dirty="0"/>
              <a:t>Vibe test KestrelSAT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24724-86FC-900A-49BB-001448504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Astro 331 Lab #8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4ACEB-5A6D-2812-AD1C-85F733E22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81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aab13084cbfb645f826f7dc6731109d6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2636cc15ff2f3d2629ecec77a65aea39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BBE40B-5132-4413-B41B-D600BDFD6F0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23aa48c-73f2-40da-86b1-f1ae286477fe"/>
    <ds:schemaRef ds:uri="7584c457-6b5a-4caa-be47-be979cbe6555"/>
  </ds:schemaRefs>
</ds:datastoreItem>
</file>

<file path=customXml/itemProps2.xml><?xml version="1.0" encoding="utf-8"?>
<ds:datastoreItem xmlns:ds="http://schemas.openxmlformats.org/officeDocument/2006/customXml" ds:itemID="{F9E4DC69-AE5F-4F9B-BFA1-BA90321DBF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D2D841-10C3-4814-B094-BEF86B28E2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584c457-6b5a-4caa-be47-be979cbe6555"/>
    <ds:schemaRef ds:uri="723aa48c-73f2-40da-86b1-f1ae28647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6663</TotalTime>
  <Words>756</Words>
  <Application>Microsoft Office PowerPoint</Application>
  <PresentationFormat>Letter Paper (8.5x11 in)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Montserrat</vt:lpstr>
      <vt:lpstr>Proxima Nova</vt:lpstr>
      <vt:lpstr>Segoe UI</vt:lpstr>
      <vt:lpstr>Office Theme</vt:lpstr>
      <vt:lpstr>Lab #8</vt:lpstr>
      <vt:lpstr>Authorized Resources</vt:lpstr>
      <vt:lpstr>Lab #8 Proposal Turn-in</vt:lpstr>
      <vt:lpstr>Topic Idea 1: Upgrade EPS</vt:lpstr>
      <vt:lpstr>Topic Idea 2: Add GNSS Receiver</vt:lpstr>
      <vt:lpstr>Topic Idea 3: Active Control of KestrelSAT Attitude</vt:lpstr>
      <vt:lpstr>Topic Idea 4: Send Image over XBee Connection</vt:lpstr>
      <vt:lpstr>Topic Idea 5: Add Thrusters</vt:lpstr>
      <vt:lpstr>Topic Idea 6: Integrate Magnetorquer</vt:lpstr>
      <vt:lpstr>Topic Idea 7: Create TCS Lab</vt:lpstr>
      <vt:lpstr>Other ideas (discuss with instructor)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Harris, Wyatt J Lt Col USAF USAFA DF/DFAS</dc:creator>
  <cp:lastModifiedBy>Harris, Wyatt J Lt Col USAF USAFA DF/DFAS</cp:lastModifiedBy>
  <cp:revision>1</cp:revision>
  <cp:lastPrinted>2025-08-01T16:37:26Z</cp:lastPrinted>
  <dcterms:created xsi:type="dcterms:W3CDTF">2025-07-17T17:53:42Z</dcterms:created>
  <dcterms:modified xsi:type="dcterms:W3CDTF">2026-02-27T15:41:28Z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