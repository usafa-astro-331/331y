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2"/>
  </p:notesMasterIdLst>
  <p:handoutMasterIdLst>
    <p:handoutMasterId r:id="rId13"/>
  </p:handoutMasterIdLst>
  <p:sldIdLst>
    <p:sldId id="256" r:id="rId5"/>
    <p:sldId id="257" r:id="rId6"/>
    <p:sldId id="261" r:id="rId7"/>
    <p:sldId id="276" r:id="rId8"/>
    <p:sldId id="277" r:id="rId9"/>
    <p:sldId id="282" r:id="rId10"/>
    <p:sldId id="281" r:id="rId11"/>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B0392B-37DD-4205-A14C-8FAA80572653}" v="2" dt="2026-02-05T20:57:25.0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005" autoAdjust="0"/>
  </p:normalViewPr>
  <p:slideViewPr>
    <p:cSldViewPr snapToGrid="0">
      <p:cViewPr varScale="1">
        <p:scale>
          <a:sx n="98" d="100"/>
          <a:sy n="98" d="100"/>
        </p:scale>
        <p:origin x="2010" y="312"/>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addSld delSld modSld sldOrd modMainMaster">
      <pc:chgData name="Harris, Wyatt J Lt Col USAF USAFA DF/DFAS" userId="768bfb95-c272-4014-8fa2-010c15306053" providerId="ADAL" clId="{E18DAD13-4A53-44B8-9F3F-46E167733190}" dt="2026-02-05T20:57:42.725" v="293" actId="20577"/>
      <pc:docMkLst>
        <pc:docMk/>
      </pc:docMkLst>
      <pc:sldChg chg="modSp mod">
        <pc:chgData name="Harris, Wyatt J Lt Col USAF USAFA DF/DFAS" userId="768bfb95-c272-4014-8fa2-010c15306053" providerId="ADAL" clId="{E18DAD13-4A53-44B8-9F3F-46E167733190}" dt="2026-02-05T20:54:50.629" v="154" actId="20577"/>
        <pc:sldMkLst>
          <pc:docMk/>
          <pc:sldMk cId="3188062351" sldId="256"/>
        </pc:sldMkLst>
        <pc:spChg chg="mod">
          <ac:chgData name="Harris, Wyatt J Lt Col USAF USAFA DF/DFAS" userId="768bfb95-c272-4014-8fa2-010c15306053" providerId="ADAL" clId="{E18DAD13-4A53-44B8-9F3F-46E167733190}" dt="2026-02-05T20:54:38.436" v="120" actId="20577"/>
          <ac:spMkLst>
            <pc:docMk/>
            <pc:sldMk cId="3188062351" sldId="256"/>
            <ac:spMk id="2" creationId="{1560E2C4-BC94-2EEF-55E0-A1575A57F58F}"/>
          </ac:spMkLst>
        </pc:spChg>
        <pc:spChg chg="mod">
          <ac:chgData name="Harris, Wyatt J Lt Col USAF USAFA DF/DFAS" userId="768bfb95-c272-4014-8fa2-010c15306053" providerId="ADAL" clId="{E18DAD13-4A53-44B8-9F3F-46E167733190}" dt="2026-02-05T20:54:50.629" v="154" actId="20577"/>
          <ac:spMkLst>
            <pc:docMk/>
            <pc:sldMk cId="3188062351" sldId="256"/>
            <ac:spMk id="3" creationId="{1D63E707-3906-1580-6A39-D3696F120305}"/>
          </ac:spMkLst>
        </pc:spChg>
      </pc:sldChg>
      <pc:sldChg chg="modSp mod">
        <pc:chgData name="Harris, Wyatt J Lt Col USAF USAFA DF/DFAS" userId="768bfb95-c272-4014-8fa2-010c15306053" providerId="ADAL" clId="{E18DAD13-4A53-44B8-9F3F-46E167733190}" dt="2026-02-05T20:56:12.176" v="279" actId="1076"/>
        <pc:sldMkLst>
          <pc:docMk/>
          <pc:sldMk cId="2953783623" sldId="257"/>
        </pc:sldMkLst>
        <pc:spChg chg="mod">
          <ac:chgData name="Harris, Wyatt J Lt Col USAF USAFA DF/DFAS" userId="768bfb95-c272-4014-8fa2-010c15306053" providerId="ADAL" clId="{E18DAD13-4A53-44B8-9F3F-46E167733190}" dt="2026-02-05T20:56:12.176" v="279" actId="1076"/>
          <ac:spMkLst>
            <pc:docMk/>
            <pc:sldMk cId="2953783623" sldId="257"/>
            <ac:spMk id="3" creationId="{A72387E7-B2E1-2B8C-98B1-1309384FFED1}"/>
          </ac:spMkLst>
        </pc:spChg>
        <pc:spChg chg="mod">
          <ac:chgData name="Harris, Wyatt J Lt Col USAF USAFA DF/DFAS" userId="768bfb95-c272-4014-8fa2-010c15306053" providerId="ADAL" clId="{E18DAD13-4A53-44B8-9F3F-46E167733190}" dt="2026-02-05T20:55:24.912" v="179" actId="5793"/>
          <ac:spMkLst>
            <pc:docMk/>
            <pc:sldMk cId="2953783623" sldId="257"/>
            <ac:spMk id="9" creationId="{D68F642A-11BE-64B8-3677-78DCDCE774E8}"/>
          </ac:spMkLst>
        </pc:spChg>
        <pc:spChg chg="mod">
          <ac:chgData name="Harris, Wyatt J Lt Col USAF USAFA DF/DFAS" userId="768bfb95-c272-4014-8fa2-010c15306053" providerId="ADAL" clId="{E18DAD13-4A53-44B8-9F3F-46E167733190}" dt="2026-02-05T20:56:06.314" v="278" actId="14100"/>
          <ac:spMkLst>
            <pc:docMk/>
            <pc:sldMk cId="2953783623" sldId="257"/>
            <ac:spMk id="10" creationId="{36E7FF56-53AE-427A-37D2-A0E2F2CFEDD0}"/>
          </ac:spMkLst>
        </pc:spChg>
      </pc:sldChg>
      <pc:sldChg chg="del">
        <pc:chgData name="Harris, Wyatt J Lt Col USAF USAFA DF/DFAS" userId="768bfb95-c272-4014-8fa2-010c15306053" providerId="ADAL" clId="{E18DAD13-4A53-44B8-9F3F-46E167733190}" dt="2026-02-05T20:54:58.510" v="155" actId="47"/>
        <pc:sldMkLst>
          <pc:docMk/>
          <pc:sldMk cId="2737436295" sldId="258"/>
        </pc:sldMkLst>
      </pc:sldChg>
      <pc:sldChg chg="modSp del mod ord setBg">
        <pc:chgData name="Harris, Wyatt J Lt Col USAF USAFA DF/DFAS" userId="768bfb95-c272-4014-8fa2-010c15306053" providerId="ADAL" clId="{E18DAD13-4A53-44B8-9F3F-46E167733190}" dt="2026-02-05T20:54:58.510" v="155" actId="47"/>
        <pc:sldMkLst>
          <pc:docMk/>
          <pc:sldMk cId="3381182170" sldId="259"/>
        </pc:sldMkLst>
        <pc:picChg chg="mod">
          <ac:chgData name="Harris, Wyatt J Lt Col USAF USAFA DF/DFAS" userId="768bfb95-c272-4014-8fa2-010c15306053" providerId="ADAL" clId="{E18DAD13-4A53-44B8-9F3F-46E167733190}" dt="2026-01-15T20:12:22.906" v="106"/>
          <ac:picMkLst>
            <pc:docMk/>
            <pc:sldMk cId="3381182170" sldId="259"/>
            <ac:picMk id="11" creationId="{3D90D960-B677-EDB6-7929-F793427DF17A}"/>
          </ac:picMkLst>
        </pc:picChg>
      </pc:sldChg>
      <pc:sldChg chg="modSp del mod">
        <pc:chgData name="Harris, Wyatt J Lt Col USAF USAFA DF/DFAS" userId="768bfb95-c272-4014-8fa2-010c15306053" providerId="ADAL" clId="{E18DAD13-4A53-44B8-9F3F-46E167733190}" dt="2026-02-05T20:54:58.510" v="155" actId="47"/>
        <pc:sldMkLst>
          <pc:docMk/>
          <pc:sldMk cId="2741946930" sldId="260"/>
        </pc:sldMkLst>
        <pc:spChg chg="mod">
          <ac:chgData name="Harris, Wyatt J Lt Col USAF USAFA DF/DFAS" userId="768bfb95-c272-4014-8fa2-010c15306053" providerId="ADAL" clId="{E18DAD13-4A53-44B8-9F3F-46E167733190}" dt="2026-01-15T20:10:03.788" v="87" actId="20577"/>
          <ac:spMkLst>
            <pc:docMk/>
            <pc:sldMk cId="2741946930" sldId="260"/>
            <ac:spMk id="3" creationId="{D89B9D66-E144-AAC5-D572-975EA3A728F9}"/>
          </ac:spMkLst>
        </pc:spChg>
      </pc:sldChg>
      <pc:sldChg chg="add">
        <pc:chgData name="Harris, Wyatt J Lt Col USAF USAFA DF/DFAS" userId="768bfb95-c272-4014-8fa2-010c15306053" providerId="ADAL" clId="{E18DAD13-4A53-44B8-9F3F-46E167733190}" dt="2026-02-05T20:57:04.154" v="280"/>
        <pc:sldMkLst>
          <pc:docMk/>
          <pc:sldMk cId="2592074456" sldId="261"/>
        </pc:sldMkLst>
      </pc:sldChg>
      <pc:sldChg chg="del ord setBg">
        <pc:chgData name="Harris, Wyatt J Lt Col USAF USAFA DF/DFAS" userId="768bfb95-c272-4014-8fa2-010c15306053" providerId="ADAL" clId="{E18DAD13-4A53-44B8-9F3F-46E167733190}" dt="2026-02-05T20:54:58.510" v="155" actId="47"/>
        <pc:sldMkLst>
          <pc:docMk/>
          <pc:sldMk cId="3406567706" sldId="261"/>
        </pc:sldMkLst>
      </pc:sldChg>
      <pc:sldChg chg="del">
        <pc:chgData name="Harris, Wyatt J Lt Col USAF USAFA DF/DFAS" userId="768bfb95-c272-4014-8fa2-010c15306053" providerId="ADAL" clId="{E18DAD13-4A53-44B8-9F3F-46E167733190}" dt="2026-02-05T20:54:58.510" v="155" actId="47"/>
        <pc:sldMkLst>
          <pc:docMk/>
          <pc:sldMk cId="3335255862" sldId="262"/>
        </pc:sldMkLst>
      </pc:sldChg>
      <pc:sldChg chg="addSp delSp modSp new del mod setBg modClrScheme chgLayout">
        <pc:chgData name="Harris, Wyatt J Lt Col USAF USAFA DF/DFAS" userId="768bfb95-c272-4014-8fa2-010c15306053" providerId="ADAL" clId="{E18DAD13-4A53-44B8-9F3F-46E167733190}" dt="2026-02-05T20:54:58.510" v="155" actId="47"/>
        <pc:sldMkLst>
          <pc:docMk/>
          <pc:sldMk cId="3879203649" sldId="263"/>
        </pc:sldMkLst>
        <pc:spChg chg="mod ord">
          <ac:chgData name="Harris, Wyatt J Lt Col USAF USAFA DF/DFAS" userId="768bfb95-c272-4014-8fa2-010c15306053" providerId="ADAL" clId="{E18DAD13-4A53-44B8-9F3F-46E167733190}" dt="2026-01-15T19:58:02.280" v="3" actId="700"/>
          <ac:spMkLst>
            <pc:docMk/>
            <pc:sldMk cId="3879203649" sldId="263"/>
            <ac:spMk id="4" creationId="{68C3D788-1464-B52F-DABB-83FD56F0ADBA}"/>
          </ac:spMkLst>
        </pc:spChg>
        <pc:spChg chg="mod ord">
          <ac:chgData name="Harris, Wyatt J Lt Col USAF USAFA DF/DFAS" userId="768bfb95-c272-4014-8fa2-010c15306053" providerId="ADAL" clId="{E18DAD13-4A53-44B8-9F3F-46E167733190}" dt="2026-01-15T19:58:02.280" v="3" actId="700"/>
          <ac:spMkLst>
            <pc:docMk/>
            <pc:sldMk cId="3879203649" sldId="263"/>
            <ac:spMk id="5" creationId="{A1513149-A162-6147-E666-AB5183AB9B79}"/>
          </ac:spMkLst>
        </pc:spChg>
        <pc:spChg chg="add mod ord">
          <ac:chgData name="Harris, Wyatt J Lt Col USAF USAFA DF/DFAS" userId="768bfb95-c272-4014-8fa2-010c15306053" providerId="ADAL" clId="{E18DAD13-4A53-44B8-9F3F-46E167733190}" dt="2026-01-15T19:58:27.470" v="46" actId="113"/>
          <ac:spMkLst>
            <pc:docMk/>
            <pc:sldMk cId="3879203649" sldId="263"/>
            <ac:spMk id="6" creationId="{61FCD32B-F40F-D669-E6FA-99C67FB64AF9}"/>
          </ac:spMkLst>
        </pc:spChg>
        <pc:spChg chg="add mod ord">
          <ac:chgData name="Harris, Wyatt J Lt Col USAF USAFA DF/DFAS" userId="768bfb95-c272-4014-8fa2-010c15306053" providerId="ADAL" clId="{E18DAD13-4A53-44B8-9F3F-46E167733190}" dt="2026-01-15T19:58:22.581" v="45" actId="20577"/>
          <ac:spMkLst>
            <pc:docMk/>
            <pc:sldMk cId="3879203649" sldId="263"/>
            <ac:spMk id="7" creationId="{2D9C9206-B79B-6705-1136-85BFAF6778B9}"/>
          </ac:spMkLst>
        </pc:spChg>
      </pc:sldChg>
      <pc:sldChg chg="add">
        <pc:chgData name="Harris, Wyatt J Lt Col USAF USAFA DF/DFAS" userId="768bfb95-c272-4014-8fa2-010c15306053" providerId="ADAL" clId="{E18DAD13-4A53-44B8-9F3F-46E167733190}" dt="2026-02-05T20:57:04.154" v="280"/>
        <pc:sldMkLst>
          <pc:docMk/>
          <pc:sldMk cId="2495809353" sldId="276"/>
        </pc:sldMkLst>
      </pc:sldChg>
      <pc:sldChg chg="add">
        <pc:chgData name="Harris, Wyatt J Lt Col USAF USAFA DF/DFAS" userId="768bfb95-c272-4014-8fa2-010c15306053" providerId="ADAL" clId="{E18DAD13-4A53-44B8-9F3F-46E167733190}" dt="2026-02-05T20:57:04.154" v="280"/>
        <pc:sldMkLst>
          <pc:docMk/>
          <pc:sldMk cId="1727072757" sldId="277"/>
        </pc:sldMkLst>
      </pc:sldChg>
      <pc:sldChg chg="add">
        <pc:chgData name="Harris, Wyatt J Lt Col USAF USAFA DF/DFAS" userId="768bfb95-c272-4014-8fa2-010c15306053" providerId="ADAL" clId="{E18DAD13-4A53-44B8-9F3F-46E167733190}" dt="2026-02-05T20:57:25.088" v="281"/>
        <pc:sldMkLst>
          <pc:docMk/>
          <pc:sldMk cId="192777807" sldId="281"/>
        </pc:sldMkLst>
      </pc:sldChg>
      <pc:sldChg chg="modSp new mod">
        <pc:chgData name="Harris, Wyatt J Lt Col USAF USAFA DF/DFAS" userId="768bfb95-c272-4014-8fa2-010c15306053" providerId="ADAL" clId="{E18DAD13-4A53-44B8-9F3F-46E167733190}" dt="2026-02-05T20:57:42.725" v="293" actId="20577"/>
        <pc:sldMkLst>
          <pc:docMk/>
          <pc:sldMk cId="986559050" sldId="282"/>
        </pc:sldMkLst>
        <pc:spChg chg="mod">
          <ac:chgData name="Harris, Wyatt J Lt Col USAF USAFA DF/DFAS" userId="768bfb95-c272-4014-8fa2-010c15306053" providerId="ADAL" clId="{E18DAD13-4A53-44B8-9F3F-46E167733190}" dt="2026-02-05T20:57:42.725" v="293" actId="20577"/>
          <ac:spMkLst>
            <pc:docMk/>
            <pc:sldMk cId="986559050" sldId="282"/>
            <ac:spMk id="2" creationId="{D668FCC9-7E96-B1A9-C9C5-D3E73598C1A6}"/>
          </ac:spMkLst>
        </pc:spChg>
      </pc:sldChg>
      <pc:sldMasterChg chg="modSp mod">
        <pc:chgData name="Harris, Wyatt J Lt Col USAF USAFA DF/DFAS" userId="768bfb95-c272-4014-8fa2-010c15306053" providerId="ADAL" clId="{E18DAD13-4A53-44B8-9F3F-46E167733190}" dt="2026-01-15T20:10:37.374" v="102" actId="313"/>
        <pc:sldMasterMkLst>
          <pc:docMk/>
          <pc:sldMasterMk cId="85601226" sldId="2147483660"/>
        </pc:sldMasterMkLst>
        <pc:spChg chg="mod">
          <ac:chgData name="Harris, Wyatt J Lt Col USAF USAFA DF/DFAS" userId="768bfb95-c272-4014-8fa2-010c15306053" providerId="ADAL" clId="{E18DAD13-4A53-44B8-9F3F-46E167733190}" dt="2026-01-15T20:10:37.374" v="102" actId="313"/>
          <ac:spMkLst>
            <pc:docMk/>
            <pc:sldMasterMk cId="85601226" sldId="2147483660"/>
            <ac:spMk id="8" creationId="{1B2918AF-A31D-A49D-520C-D6A347912BFA}"/>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61B999-8C79-A73D-BA6C-02E0B9B850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028CA79-4085-A524-0AE5-44E2EC8C7E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D09F729-5551-4C15-AB72-20C58B6935F5}" type="datetimeFigureOut">
              <a:rPr lang="en-US" smtClean="0"/>
              <a:t>2/5/2026</a:t>
            </a:fld>
            <a:endParaRPr lang="en-US"/>
          </a:p>
        </p:txBody>
      </p:sp>
      <p:sp>
        <p:nvSpPr>
          <p:cNvPr id="4" name="Footer Placeholder 3">
            <a:extLst>
              <a:ext uri="{FF2B5EF4-FFF2-40B4-BE49-F238E27FC236}">
                <a16:creationId xmlns:a16="http://schemas.microsoft.com/office/drawing/2014/main" id="{F2C55D73-434D-7D50-38BE-0D025E1835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600E1D0-C235-76EF-7085-AB88C135C1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F1CDB4-F3EC-47B1-92C5-EAF846040DC6}" type="slidenum">
              <a:rPr lang="en-US" smtClean="0"/>
              <a:t>‹#›</a:t>
            </a:fld>
            <a:endParaRPr lang="en-US"/>
          </a:p>
        </p:txBody>
      </p:sp>
    </p:spTree>
    <p:extLst>
      <p:ext uri="{BB962C8B-B14F-4D97-AF65-F5344CB8AC3E}">
        <p14:creationId xmlns:p14="http://schemas.microsoft.com/office/powerpoint/2010/main" val="13081264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2/5/2026</a:t>
            </a:fld>
            <a:endParaRPr lang="en-US"/>
          </a:p>
        </p:txBody>
      </p:sp>
      <p:sp>
        <p:nvSpPr>
          <p:cNvPr id="5" name="Footer Placeholder 4"/>
          <p:cNvSpPr>
            <a:spLocks noGrp="1"/>
          </p:cNvSpPr>
          <p:nvPr>
            <p:ph type="ftr" sz="quarter" idx="11"/>
          </p:nvPr>
        </p:nvSpPr>
        <p:spPr/>
        <p:txBody>
          <a:bodyPr/>
          <a:lstStyle/>
          <a:p>
            <a:r>
              <a:rPr lang="en-US" dirty="0"/>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2/5/2026</a:t>
            </a:fld>
            <a:endParaRPr lang="en-US" dirty="0"/>
          </a:p>
        </p:txBody>
      </p:sp>
      <p:sp>
        <p:nvSpPr>
          <p:cNvPr id="5" name="Footer Placeholder 4"/>
          <p:cNvSpPr>
            <a:spLocks noGrp="1"/>
          </p:cNvSpPr>
          <p:nvPr>
            <p:ph type="ftr" sz="quarter" idx="11"/>
          </p:nvPr>
        </p:nvSpPr>
        <p:spPr/>
        <p:txBody>
          <a:bodyPr/>
          <a:lstStyle/>
          <a:p>
            <a:r>
              <a:rPr lang="en-US" dirty="0"/>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2/5/2026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2/5/2026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2/5/2026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2/5/2026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2/5/2026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2/5/2026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2/5/2026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2/5/2026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2/5/2026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2/5/2026</a:t>
            </a:fld>
            <a:endParaRPr lang="en-US" dirty="0"/>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Astro 331 Lab #2</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24158" y="72097"/>
            <a:ext cx="1261615"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analog.com/en/products/max17048.html" TargetMode="External"/><Relationship Id="rId7" Type="http://schemas.openxmlformats.org/officeDocument/2006/relationships/hyperlink" Target="https://cdn.sparkfun.com/assets/7/0/3/c/9/WS2812C-2020.pdf" TargetMode="External"/><Relationship Id="rId2" Type="http://schemas.openxmlformats.org/officeDocument/2006/relationships/hyperlink" Target="https://www.sparkfun.com/" TargetMode="External"/><Relationship Id="rId1" Type="http://schemas.openxmlformats.org/officeDocument/2006/relationships/slideLayout" Target="../slideLayouts/slideLayout2.xml"/><Relationship Id="rId6" Type="http://schemas.openxmlformats.org/officeDocument/2006/relationships/hyperlink" Target="https://learn.sparkfun.com/tutorials/esp32-thing-plus-usb-c-hookup-guide" TargetMode="External"/><Relationship Id="rId5" Type="http://schemas.openxmlformats.org/officeDocument/2006/relationships/hyperlink" Target="https://www.sparkfun.com/sparkfun-thing-plus-esp32-wroom-usb-c.html#content-features" TargetMode="External"/><Relationship Id="rId4" Type="http://schemas.openxmlformats.org/officeDocument/2006/relationships/image" Target="../media/image6.jpe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dirty="0"/>
              <a:t>KestrelSAT</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Intro &amp; Initial Assembly</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dirty="0"/>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90" y="1794473"/>
            <a:ext cx="5501690" cy="4707219"/>
          </a:xfrm>
        </p:spPr>
        <p:txBody>
          <a:bodyPr>
            <a:normAutofit/>
          </a:bodyPr>
          <a:lstStyle/>
          <a:p>
            <a:pPr marL="0" indent="0">
              <a:spcBef>
                <a:spcPts val="0"/>
              </a:spcBef>
              <a:buNone/>
            </a:pPr>
            <a:r>
              <a:rPr lang="en-US" sz="1600" dirty="0"/>
              <a:t>TBD</a:t>
            </a:r>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dirty="0"/>
              <a:t>Astro 331 Lab #2</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C0653B1A-2758-6290-C2D9-FE631F8950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b="1" dirty="0">
                <a:solidFill>
                  <a:srgbClr val="00B0F0"/>
                </a:solidFill>
              </a:rPr>
              <a:t>Intro</a:t>
            </a:r>
            <a:endParaRPr lang="en-US" sz="1200" dirty="0">
              <a:solidFill>
                <a:srgbClr val="00B0F0"/>
              </a:solidFill>
            </a:endParaRP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Turn-in </a:t>
            </a:r>
            <a:r>
              <a:rPr lang="en-US" sz="1200" dirty="0" err="1"/>
              <a:t>Reqt’s</a:t>
            </a:r>
            <a:endParaRPr lang="en-US" sz="1200" dirty="0"/>
          </a:p>
          <a:p>
            <a:pPr marL="0" indent="0">
              <a:buNone/>
            </a:pPr>
            <a:endParaRPr lang="en-US" sz="1200" dirty="0"/>
          </a:p>
        </p:txBody>
      </p:sp>
      <p:sp>
        <p:nvSpPr>
          <p:cNvPr id="7" name="Content Placeholder 7">
            <a:extLst>
              <a:ext uri="{FF2B5EF4-FFF2-40B4-BE49-F238E27FC236}">
                <a16:creationId xmlns:a16="http://schemas.microsoft.com/office/drawing/2014/main" id="{3033449D-4FED-2CC0-A422-94359CE9F8EF}"/>
              </a:ext>
            </a:extLst>
          </p:cNvPr>
          <p:cNvSpPr txBox="1">
            <a:spLocks/>
          </p:cNvSpPr>
          <p:nvPr/>
        </p:nvSpPr>
        <p:spPr>
          <a:xfrm>
            <a:off x="6712622" y="1712050"/>
            <a:ext cx="2241069" cy="2509221"/>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t>Authorized Resources</a:t>
            </a:r>
          </a:p>
          <a:p>
            <a:r>
              <a:rPr lang="en-US" sz="1200" b="1" dirty="0">
                <a:solidFill>
                  <a:srgbClr val="FF0000"/>
                </a:solidFill>
              </a:rPr>
              <a:t>This is a team effort lab</a:t>
            </a:r>
          </a:p>
          <a:p>
            <a:r>
              <a:rPr lang="en-US" sz="1200" dirty="0"/>
              <a:t>External resources should not be necessary, but you may use:</a:t>
            </a:r>
          </a:p>
          <a:p>
            <a:pPr lvl="1"/>
            <a:r>
              <a:rPr lang="en-US" sz="1200" dirty="0"/>
              <a:t>Any non-human resource</a:t>
            </a:r>
          </a:p>
          <a:p>
            <a:pPr lvl="2"/>
            <a:r>
              <a:rPr lang="en-US" sz="1200" b="1" dirty="0">
                <a:highlight>
                  <a:srgbClr val="FFFF00"/>
                </a:highlight>
              </a:rPr>
              <a:t>Generative AI Level 4 Allowed</a:t>
            </a:r>
          </a:p>
          <a:p>
            <a:pPr lvl="1"/>
            <a:r>
              <a:rPr lang="en-US" sz="1200" dirty="0"/>
              <a:t>Astro 331 course instructor </a:t>
            </a:r>
          </a:p>
        </p:txBody>
      </p:sp>
      <p:sp>
        <p:nvSpPr>
          <p:cNvPr id="9" name="TextBox 8">
            <a:extLst>
              <a:ext uri="{FF2B5EF4-FFF2-40B4-BE49-F238E27FC236}">
                <a16:creationId xmlns:a16="http://schemas.microsoft.com/office/drawing/2014/main" id="{D68F642A-11BE-64B8-3677-78DCDCE774E8}"/>
              </a:ext>
            </a:extLst>
          </p:cNvPr>
          <p:cNvSpPr txBox="1"/>
          <p:nvPr/>
        </p:nvSpPr>
        <p:spPr>
          <a:xfrm>
            <a:off x="1066990" y="939824"/>
            <a:ext cx="8030643" cy="369332"/>
          </a:xfrm>
          <a:prstGeom prst="rect">
            <a:avLst/>
          </a:prstGeom>
          <a:noFill/>
        </p:spPr>
        <p:txBody>
          <a:bodyPr wrap="square">
            <a:spAutoFit/>
          </a:bodyPr>
          <a:lstStyle/>
          <a:p>
            <a:pPr marL="0" indent="0">
              <a:buNone/>
            </a:pPr>
            <a:r>
              <a:rPr lang="en-US" sz="1800" b="1" dirty="0"/>
              <a:t>KestrelSAT is…</a:t>
            </a:r>
            <a:endParaRPr lang="en-US" sz="2000" b="1" dirty="0"/>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155088" y="4926373"/>
            <a:ext cx="7917493" cy="1615305"/>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800" b="1" dirty="0"/>
              <a:t>Objectives:</a:t>
            </a:r>
          </a:p>
          <a:p>
            <a:pPr marL="0" indent="0">
              <a:spcBef>
                <a:spcPts val="0"/>
              </a:spcBef>
              <a:buNone/>
            </a:pPr>
            <a:endParaRPr lang="en-US" sz="1800" dirty="0"/>
          </a:p>
          <a:p>
            <a:pPr marL="514350" indent="-514350">
              <a:spcBef>
                <a:spcPts val="0"/>
              </a:spcBef>
              <a:buAutoNum type="arabicParenBoth"/>
            </a:pPr>
            <a:r>
              <a:rPr lang="en-US" sz="1800" dirty="0"/>
              <a:t>Understand KestrelSAT…</a:t>
            </a:r>
          </a:p>
          <a:p>
            <a:pPr marL="514350" indent="-514350">
              <a:spcBef>
                <a:spcPts val="0"/>
              </a:spcBef>
              <a:buAutoNum type="arabicParenBoth"/>
            </a:pPr>
            <a:endParaRPr lang="en-US" sz="1800" dirty="0"/>
          </a:p>
          <a:p>
            <a:pPr marL="514350" indent="-514350">
              <a:spcBef>
                <a:spcPts val="0"/>
              </a:spcBef>
              <a:buAutoNum type="arabicParenBoth"/>
            </a:pPr>
            <a:r>
              <a:rPr lang="en-US" sz="1800" dirty="0"/>
              <a:t>Conduct initial assembly of </a:t>
            </a:r>
            <a:r>
              <a:rPr lang="en-US" sz="1800" dirty="0" err="1"/>
              <a:t>KrestrelSAT</a:t>
            </a:r>
            <a:endParaRPr lang="en-US" sz="1800" dirty="0"/>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a:t>KestrelSAT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42791" y="811773"/>
            <a:ext cx="3086100" cy="3188848"/>
          </a:xfrm>
          <a:prstGeom prst="rect">
            <a:avLst/>
          </a:prstGeom>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26180"/>
            <a:ext cx="3519560" cy="3595297"/>
          </a:xfrm>
          <a:prstGeom prst="rect">
            <a:avLst/>
          </a:prstGeom>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15050" y="3789243"/>
            <a:ext cx="2960207" cy="2907582"/>
          </a:xfrm>
          <a:prstGeom prst="rect">
            <a:avLst/>
          </a:prstGeom>
        </p:spPr>
      </p:pic>
      <p:sp>
        <p:nvSpPr>
          <p:cNvPr id="15" name="TextBox 14">
            <a:extLst>
              <a:ext uri="{FF2B5EF4-FFF2-40B4-BE49-F238E27FC236}">
                <a16:creationId xmlns:a16="http://schemas.microsoft.com/office/drawing/2014/main" id="{B7F13540-366A-1BB6-CD45-CCE78189C27D}"/>
              </a:ext>
            </a:extLst>
          </p:cNvPr>
          <p:cNvSpPr txBox="1"/>
          <p:nvPr/>
        </p:nvSpPr>
        <p:spPr>
          <a:xfrm>
            <a:off x="872302" y="3577317"/>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5">
            <a:extLst>
              <a:ext uri="{FF2B5EF4-FFF2-40B4-BE49-F238E27FC236}">
                <a16:creationId xmlns:a16="http://schemas.microsoft.com/office/drawing/2014/main" id="{95323B53-E00A-823F-7046-3404BDEE898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38537-4705-7AE5-40DB-D41B41332E43}"/>
              </a:ext>
            </a:extLst>
          </p:cNvPr>
          <p:cNvSpPr>
            <a:spLocks noGrp="1"/>
          </p:cNvSpPr>
          <p:nvPr>
            <p:ph type="title"/>
          </p:nvPr>
        </p:nvSpPr>
        <p:spPr/>
        <p:txBody>
          <a:bodyPr>
            <a:normAutofit/>
          </a:bodyPr>
          <a:lstStyle/>
          <a:p>
            <a:r>
              <a:rPr lang="en-US" b="1"/>
              <a:t>KestrelSAT MCU: ESP32 WROOM </a:t>
            </a:r>
          </a:p>
        </p:txBody>
      </p:sp>
      <p:sp>
        <p:nvSpPr>
          <p:cNvPr id="3" name="Content Placeholder 2">
            <a:extLst>
              <a:ext uri="{FF2B5EF4-FFF2-40B4-BE49-F238E27FC236}">
                <a16:creationId xmlns:a16="http://schemas.microsoft.com/office/drawing/2014/main" id="{94951BE9-49A9-223C-1AF8-448E72959CC4}"/>
              </a:ext>
            </a:extLst>
          </p:cNvPr>
          <p:cNvSpPr>
            <a:spLocks noGrp="1"/>
          </p:cNvSpPr>
          <p:nvPr>
            <p:ph idx="1"/>
          </p:nvPr>
        </p:nvSpPr>
        <p:spPr>
          <a:xfrm>
            <a:off x="1240762" y="953185"/>
            <a:ext cx="4982001" cy="5159523"/>
          </a:xfrm>
        </p:spPr>
        <p:txBody>
          <a:bodyPr>
            <a:normAutofit/>
          </a:bodyPr>
          <a:lstStyle/>
          <a:p>
            <a:pPr marL="0" indent="0">
              <a:buNone/>
            </a:pPr>
            <a:r>
              <a:rPr lang="en-US" sz="1800"/>
              <a:t>KestrelSAT uses an </a:t>
            </a:r>
            <a:r>
              <a:rPr lang="en-US" sz="1800" err="1"/>
              <a:t>Espressif</a:t>
            </a:r>
            <a:r>
              <a:rPr lang="en-US" sz="1800"/>
              <a:t> ESP32 WROOM MCU on a </a:t>
            </a:r>
            <a:r>
              <a:rPr lang="en-US" sz="1800" err="1">
                <a:hlinkClick r:id="rId2"/>
              </a:rPr>
              <a:t>Sparkfun</a:t>
            </a:r>
            <a:r>
              <a:rPr lang="en-US" sz="1800"/>
              <a:t> Thing Plus breakout board. </a:t>
            </a:r>
          </a:p>
          <a:p>
            <a:pPr marL="0" indent="0">
              <a:buNone/>
            </a:pPr>
            <a:endParaRPr lang="en-US" sz="1050"/>
          </a:p>
          <a:p>
            <a:pPr marL="0" indent="0">
              <a:spcBef>
                <a:spcPts val="0"/>
              </a:spcBef>
              <a:spcAft>
                <a:spcPts val="600"/>
              </a:spcAft>
              <a:buNone/>
            </a:pPr>
            <a:r>
              <a:rPr lang="en-US" sz="1400" b="1"/>
              <a:t>Features:</a:t>
            </a:r>
          </a:p>
          <a:p>
            <a:pPr marL="0" indent="0">
              <a:spcBef>
                <a:spcPts val="0"/>
              </a:spcBef>
              <a:spcAft>
                <a:spcPts val="600"/>
              </a:spcAft>
              <a:buNone/>
            </a:pPr>
            <a:r>
              <a:rPr lang="en-US" sz="1100"/>
              <a:t>Xtensa® Dual-Core 32-bit LX6 Microprocessor (up to 240MHz)</a:t>
            </a:r>
          </a:p>
          <a:p>
            <a:pPr marL="0" indent="0">
              <a:spcBef>
                <a:spcPts val="0"/>
              </a:spcBef>
              <a:spcAft>
                <a:spcPts val="600"/>
              </a:spcAft>
              <a:buNone/>
            </a:pPr>
            <a:r>
              <a:rPr lang="en-US" sz="1100"/>
              <a:t>448KB of ROM and 520KB SRAM, 16MB of Embedded SPI flash storage</a:t>
            </a:r>
          </a:p>
          <a:p>
            <a:pPr marL="0" indent="0">
              <a:spcBef>
                <a:spcPts val="0"/>
              </a:spcBef>
              <a:spcAft>
                <a:spcPts val="600"/>
              </a:spcAft>
              <a:buNone/>
            </a:pPr>
            <a:r>
              <a:rPr lang="en-US" sz="1100"/>
              <a:t>21 Multifunctional GPIO, Up to thirteen 12-bit ADC Channels</a:t>
            </a:r>
          </a:p>
          <a:p>
            <a:pPr marL="0" indent="0">
              <a:spcBef>
                <a:spcPts val="0"/>
              </a:spcBef>
              <a:spcAft>
                <a:spcPts val="600"/>
              </a:spcAft>
              <a:buNone/>
            </a:pPr>
            <a:r>
              <a:rPr lang="en-US" sz="1100"/>
              <a:t>Up to sixteen PWM outputs, Up to two DAC channels</a:t>
            </a:r>
          </a:p>
          <a:p>
            <a:pPr marL="0" indent="0">
              <a:spcBef>
                <a:spcPts val="0"/>
              </a:spcBef>
              <a:spcAft>
                <a:spcPts val="600"/>
              </a:spcAft>
              <a:buNone/>
            </a:pPr>
            <a:r>
              <a:rPr lang="en-US" sz="1200"/>
              <a:t>Integrated 802.11b/g/n </a:t>
            </a:r>
            <a:r>
              <a:rPr lang="en-US" sz="1200" err="1"/>
              <a:t>WiFi</a:t>
            </a:r>
            <a:r>
              <a:rPr lang="en-US" sz="1200"/>
              <a:t> 2.4GHz transceiver</a:t>
            </a:r>
          </a:p>
          <a:p>
            <a:pPr marL="0" indent="0">
              <a:spcBef>
                <a:spcPts val="0"/>
              </a:spcBef>
              <a:spcAft>
                <a:spcPts val="600"/>
              </a:spcAft>
              <a:buNone/>
            </a:pPr>
            <a:r>
              <a:rPr lang="en-US" sz="1200"/>
              <a:t>Integrated dual-mode Bluetooth® (classic and BLE®)</a:t>
            </a:r>
          </a:p>
          <a:p>
            <a:pPr marL="0" indent="0">
              <a:spcBef>
                <a:spcPts val="0"/>
              </a:spcBef>
              <a:spcAft>
                <a:spcPts val="600"/>
              </a:spcAft>
              <a:buNone/>
            </a:pPr>
            <a:r>
              <a:rPr lang="en-US" sz="1200">
                <a:solidFill>
                  <a:srgbClr val="1D1D1B"/>
                </a:solidFill>
                <a:hlinkClick r:id="rId3"/>
              </a:rPr>
              <a:t>MAX17048</a:t>
            </a:r>
            <a:r>
              <a:rPr lang="en-US" sz="1200">
                <a:solidFill>
                  <a:srgbClr val="1D1D1B"/>
                </a:solidFill>
              </a:rPr>
              <a:t> Fuel Gauge</a:t>
            </a:r>
          </a:p>
          <a:p>
            <a:pPr marL="0" indent="0">
              <a:buNone/>
            </a:pPr>
            <a:endParaRPr lang="en-US" sz="1200"/>
          </a:p>
          <a:p>
            <a:pPr marL="0" indent="0">
              <a:buNone/>
            </a:pPr>
            <a:endParaRPr lang="en-US" sz="2000"/>
          </a:p>
        </p:txBody>
      </p:sp>
      <p:sp>
        <p:nvSpPr>
          <p:cNvPr id="4" name="Footer Placeholder 3">
            <a:extLst>
              <a:ext uri="{FF2B5EF4-FFF2-40B4-BE49-F238E27FC236}">
                <a16:creationId xmlns:a16="http://schemas.microsoft.com/office/drawing/2014/main" id="{9EBF0B95-888D-71B3-23B4-6B39810C3457}"/>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287CAECA-0CD0-C8B5-E36F-D7ABE635336C}"/>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26" name="Picture 2" descr="SparkFun Thing Plus - ESP32 WROOM (USB-C)">
            <a:extLst>
              <a:ext uri="{FF2B5EF4-FFF2-40B4-BE49-F238E27FC236}">
                <a16:creationId xmlns:a16="http://schemas.microsoft.com/office/drawing/2014/main" id="{D71354C1-64CE-2CF8-75FB-F524F897F533}"/>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35283" y="163837"/>
            <a:ext cx="3820175" cy="3820175"/>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4A13BB8F-ADD0-2976-C2C0-20B25B5DB836}"/>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b="1">
                <a:solidFill>
                  <a:srgbClr val="00B0F0"/>
                </a:solidFill>
              </a:rPr>
              <a:t>Reference</a:t>
            </a:r>
          </a:p>
          <a:p>
            <a:pPr marL="0" indent="0">
              <a:buNone/>
            </a:pPr>
            <a:r>
              <a:rPr lang="en-US" sz="1200"/>
              <a:t>Prelab</a:t>
            </a:r>
          </a:p>
          <a:p>
            <a:pPr marL="0" indent="0">
              <a:buNone/>
            </a:pPr>
            <a:r>
              <a:rPr lang="en-US" sz="1200"/>
              <a:t>Task 0</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Turn-in </a:t>
            </a:r>
            <a:r>
              <a:rPr lang="en-US" sz="1200" err="1"/>
              <a:t>Reqt’s</a:t>
            </a:r>
            <a:endParaRPr lang="en-US" sz="1200"/>
          </a:p>
          <a:p>
            <a:pPr marL="0" indent="0">
              <a:buNone/>
            </a:pPr>
            <a:endParaRPr lang="en-US" sz="1200"/>
          </a:p>
        </p:txBody>
      </p:sp>
      <p:sp>
        <p:nvSpPr>
          <p:cNvPr id="7" name="Content Placeholder 6">
            <a:extLst>
              <a:ext uri="{FF2B5EF4-FFF2-40B4-BE49-F238E27FC236}">
                <a16:creationId xmlns:a16="http://schemas.microsoft.com/office/drawing/2014/main" id="{64F2ADC7-1C0B-1113-6AF5-9E6967605E07}"/>
              </a:ext>
            </a:extLst>
          </p:cNvPr>
          <p:cNvSpPr txBox="1">
            <a:spLocks/>
          </p:cNvSpPr>
          <p:nvPr/>
        </p:nvSpPr>
        <p:spPr>
          <a:xfrm>
            <a:off x="6465346" y="5440695"/>
            <a:ext cx="2390968" cy="1280782"/>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050" u="sng">
                <a:solidFill>
                  <a:srgbClr val="FF0000"/>
                </a:solidFill>
              </a:rPr>
              <a:t>WARNING</a:t>
            </a:r>
          </a:p>
          <a:p>
            <a:pPr>
              <a:spcBef>
                <a:spcPts val="0"/>
              </a:spcBef>
            </a:pPr>
            <a:r>
              <a:rPr lang="en-US" sz="1050">
                <a:solidFill>
                  <a:srgbClr val="FF0000"/>
                </a:solidFill>
              </a:rPr>
              <a:t>This MCU is a 3.3V microcontroller. DO NOT apply &gt;3.3V (i.e. 5V or 12V) to any pin on the device, except:</a:t>
            </a:r>
          </a:p>
          <a:p>
            <a:pPr>
              <a:spcBef>
                <a:spcPts val="0"/>
              </a:spcBef>
            </a:pPr>
            <a:r>
              <a:rPr lang="en-US" sz="1050">
                <a:solidFill>
                  <a:srgbClr val="FF0000"/>
                </a:solidFill>
              </a:rPr>
              <a:t>- 5V via the USB connecter (i.e. power from laptop or 5V charger)</a:t>
            </a:r>
          </a:p>
          <a:p>
            <a:pPr>
              <a:spcBef>
                <a:spcPts val="0"/>
              </a:spcBef>
            </a:pPr>
            <a:r>
              <a:rPr lang="en-US" sz="1050">
                <a:solidFill>
                  <a:srgbClr val="FF0000"/>
                </a:solidFill>
              </a:rPr>
              <a:t>- 5V to VUSB pin</a:t>
            </a:r>
          </a:p>
          <a:p>
            <a:pPr>
              <a:spcBef>
                <a:spcPts val="0"/>
              </a:spcBef>
            </a:pPr>
            <a:r>
              <a:rPr lang="en-US" sz="1050">
                <a:solidFill>
                  <a:srgbClr val="FF0000"/>
                </a:solidFill>
              </a:rPr>
              <a:t>- Up to 4.2V to VBAT pin</a:t>
            </a:r>
          </a:p>
          <a:p>
            <a:pPr>
              <a:spcBef>
                <a:spcPts val="0"/>
              </a:spcBef>
            </a:pPr>
            <a:endParaRPr lang="en-US" sz="1050">
              <a:solidFill>
                <a:srgbClr val="FF0000"/>
              </a:solidFill>
            </a:endParaRPr>
          </a:p>
        </p:txBody>
      </p:sp>
      <p:sp>
        <p:nvSpPr>
          <p:cNvPr id="9" name="TextBox 8">
            <a:extLst>
              <a:ext uri="{FF2B5EF4-FFF2-40B4-BE49-F238E27FC236}">
                <a16:creationId xmlns:a16="http://schemas.microsoft.com/office/drawing/2014/main" id="{C37AF465-006A-96E2-28AD-02E3B345BE0D}"/>
              </a:ext>
            </a:extLst>
          </p:cNvPr>
          <p:cNvSpPr txBox="1"/>
          <p:nvPr/>
        </p:nvSpPr>
        <p:spPr>
          <a:xfrm>
            <a:off x="1240763" y="6037923"/>
            <a:ext cx="4598894" cy="646331"/>
          </a:xfrm>
          <a:prstGeom prst="rect">
            <a:avLst/>
          </a:prstGeom>
          <a:noFill/>
        </p:spPr>
        <p:txBody>
          <a:bodyPr wrap="square">
            <a:spAutoFit/>
          </a:bodyPr>
          <a:lstStyle/>
          <a:p>
            <a:pPr marL="0" indent="0">
              <a:buNone/>
            </a:pPr>
            <a:r>
              <a:rPr lang="en-US" sz="1800">
                <a:hlinkClick r:id="rId5"/>
              </a:rPr>
              <a:t>Product Page</a:t>
            </a:r>
            <a:endParaRPr lang="en-US" sz="1800"/>
          </a:p>
          <a:p>
            <a:pPr marL="0" indent="0">
              <a:buNone/>
            </a:pPr>
            <a:r>
              <a:rPr lang="en-US" sz="1800">
                <a:hlinkClick r:id="rId6"/>
              </a:rPr>
              <a:t>Tutorial</a:t>
            </a:r>
            <a:endParaRPr lang="en-US" sz="1800"/>
          </a:p>
        </p:txBody>
      </p:sp>
      <p:sp>
        <p:nvSpPr>
          <p:cNvPr id="11" name="TextBox 10">
            <a:extLst>
              <a:ext uri="{FF2B5EF4-FFF2-40B4-BE49-F238E27FC236}">
                <a16:creationId xmlns:a16="http://schemas.microsoft.com/office/drawing/2014/main" id="{84E5F9A6-51AE-62E4-B38A-838E96466A6E}"/>
              </a:ext>
            </a:extLst>
          </p:cNvPr>
          <p:cNvSpPr txBox="1"/>
          <p:nvPr/>
        </p:nvSpPr>
        <p:spPr>
          <a:xfrm>
            <a:off x="6031516" y="3254122"/>
            <a:ext cx="3066119" cy="1015663"/>
          </a:xfrm>
          <a:prstGeom prst="rect">
            <a:avLst/>
          </a:prstGeom>
          <a:noFill/>
        </p:spPr>
        <p:txBody>
          <a:bodyPr wrap="square">
            <a:spAutoFit/>
          </a:bodyPr>
          <a:lstStyle/>
          <a:p>
            <a:pPr marL="0" indent="0" algn="ctr">
              <a:buNone/>
            </a:pPr>
            <a:r>
              <a:rPr lang="en-US" sz="1200" b="1" u="sng"/>
              <a:t>LEDs</a:t>
            </a:r>
          </a:p>
          <a:p>
            <a:pPr marL="0" indent="0">
              <a:buNone/>
            </a:pPr>
            <a:r>
              <a:rPr lang="en-US" sz="1200">
                <a:highlight>
                  <a:srgbClr val="FF0000"/>
                </a:highlight>
              </a:rPr>
              <a:t>PWR</a:t>
            </a:r>
            <a:r>
              <a:rPr lang="en-US" sz="1200"/>
              <a:t> - Red power LED</a:t>
            </a:r>
          </a:p>
          <a:p>
            <a:pPr marL="0" indent="0">
              <a:buNone/>
            </a:pPr>
            <a:r>
              <a:rPr lang="en-US" sz="1200">
                <a:highlight>
                  <a:srgbClr val="FFFF00"/>
                </a:highlight>
              </a:rPr>
              <a:t>CHG</a:t>
            </a:r>
            <a:r>
              <a:rPr lang="en-US" sz="1200"/>
              <a:t> - Yellow battery charging indicator</a:t>
            </a:r>
          </a:p>
          <a:p>
            <a:pPr marL="0" indent="0">
              <a:buNone/>
            </a:pPr>
            <a:r>
              <a:rPr lang="en-US" sz="1200">
                <a:highlight>
                  <a:srgbClr val="00FFFF"/>
                </a:highlight>
              </a:rPr>
              <a:t>STAT</a:t>
            </a:r>
            <a:r>
              <a:rPr lang="en-US" sz="1200"/>
              <a:t> - Blue status LED (user-programable)</a:t>
            </a:r>
          </a:p>
          <a:p>
            <a:pPr marL="0" indent="0">
              <a:buNone/>
            </a:pPr>
            <a:r>
              <a:rPr lang="en-US" sz="1200">
                <a:hlinkClick r:id="rId7"/>
              </a:rPr>
              <a:t>WS2812</a:t>
            </a:r>
            <a:r>
              <a:rPr lang="en-US" sz="1200"/>
              <a:t> </a:t>
            </a:r>
            <a:r>
              <a:rPr lang="en-US" sz="1200">
                <a:highlight>
                  <a:srgbClr val="FF0000"/>
                </a:highlight>
              </a:rPr>
              <a:t>R</a:t>
            </a:r>
            <a:r>
              <a:rPr lang="en-US" sz="1200">
                <a:highlight>
                  <a:srgbClr val="00FF00"/>
                </a:highlight>
              </a:rPr>
              <a:t>G</a:t>
            </a:r>
            <a:r>
              <a:rPr lang="en-US" sz="1200">
                <a:highlight>
                  <a:srgbClr val="00FFFF"/>
                </a:highlight>
              </a:rPr>
              <a:t>B</a:t>
            </a:r>
            <a:r>
              <a:rPr lang="en-US" sz="1200"/>
              <a:t> LED (user-programable)</a:t>
            </a:r>
          </a:p>
        </p:txBody>
      </p:sp>
      <p:sp>
        <p:nvSpPr>
          <p:cNvPr id="12" name="Freeform: Shape 11">
            <a:extLst>
              <a:ext uri="{FF2B5EF4-FFF2-40B4-BE49-F238E27FC236}">
                <a16:creationId xmlns:a16="http://schemas.microsoft.com/office/drawing/2014/main" id="{F55D8095-5913-BA98-3EC2-8D7C2E6A1F74}"/>
              </a:ext>
            </a:extLst>
          </p:cNvPr>
          <p:cNvSpPr/>
          <p:nvPr/>
        </p:nvSpPr>
        <p:spPr>
          <a:xfrm>
            <a:off x="8552329" y="1581377"/>
            <a:ext cx="484683" cy="2582809"/>
          </a:xfrm>
          <a:custGeom>
            <a:avLst/>
            <a:gdLst>
              <a:gd name="csX0" fmla="*/ 75304 w 484683"/>
              <a:gd name="csY0" fmla="*/ 2796989 h 2851945"/>
              <a:gd name="csX1" fmla="*/ 376518 w 484683"/>
              <a:gd name="csY1" fmla="*/ 2700170 h 2851945"/>
              <a:gd name="csX2" fmla="*/ 462579 w 484683"/>
              <a:gd name="csY2" fmla="*/ 1506071 h 2851945"/>
              <a:gd name="csX3" fmla="*/ 0 w 484683"/>
              <a:gd name="csY3" fmla="*/ 0 h 2851945"/>
            </a:gdLst>
            <a:ahLst/>
            <a:cxnLst>
              <a:cxn ang="0">
                <a:pos x="csX0" y="csY0"/>
              </a:cxn>
              <a:cxn ang="0">
                <a:pos x="csX1" y="csY1"/>
              </a:cxn>
              <a:cxn ang="0">
                <a:pos x="csX2" y="csY2"/>
              </a:cxn>
              <a:cxn ang="0">
                <a:pos x="csX3" y="csY3"/>
              </a:cxn>
            </a:cxnLst>
            <a:rect l="l" t="t" r="r" b="b"/>
            <a:pathLst>
              <a:path w="484683" h="2851945">
                <a:moveTo>
                  <a:pt x="75304" y="2796989"/>
                </a:moveTo>
                <a:cubicBezTo>
                  <a:pt x="193638" y="2856156"/>
                  <a:pt x="311972" y="2915323"/>
                  <a:pt x="376518" y="2700170"/>
                </a:cubicBezTo>
                <a:cubicBezTo>
                  <a:pt x="441064" y="2485017"/>
                  <a:pt x="525332" y="1956099"/>
                  <a:pt x="462579" y="1506071"/>
                </a:cubicBezTo>
                <a:cubicBezTo>
                  <a:pt x="399826" y="1056043"/>
                  <a:pt x="199913" y="528021"/>
                  <a:pt x="0" y="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7441D4C-CEB4-B3CD-B419-19E91C9B35BE}"/>
              </a:ext>
            </a:extLst>
          </p:cNvPr>
          <p:cNvSpPr txBox="1"/>
          <p:nvPr/>
        </p:nvSpPr>
        <p:spPr>
          <a:xfrm>
            <a:off x="6222764" y="4260004"/>
            <a:ext cx="2683621" cy="938719"/>
          </a:xfrm>
          <a:prstGeom prst="rect">
            <a:avLst/>
          </a:prstGeom>
          <a:noFill/>
        </p:spPr>
        <p:txBody>
          <a:bodyPr wrap="square">
            <a:spAutoFit/>
          </a:bodyPr>
          <a:lstStyle/>
          <a:p>
            <a:pPr algn="ctr"/>
            <a:r>
              <a:rPr lang="en-US" sz="1100" b="1" i="0" u="sng">
                <a:solidFill>
                  <a:srgbClr val="1D1D1B"/>
                </a:solidFill>
                <a:effectLst/>
                <a:latin typeface="Open Sans" panose="020B0606030504020204" pitchFamily="34" charset="0"/>
              </a:rPr>
              <a:t>Connectors</a:t>
            </a:r>
          </a:p>
          <a:p>
            <a:pPr algn="l"/>
            <a:r>
              <a:rPr lang="en-US" sz="1100" b="0" i="0">
                <a:solidFill>
                  <a:srgbClr val="1D1D1B"/>
                </a:solidFill>
                <a:effectLst/>
                <a:latin typeface="Open Sans" panose="020B0606030504020204" pitchFamily="34" charset="0"/>
              </a:rPr>
              <a:t>USB-C Connector</a:t>
            </a:r>
          </a:p>
          <a:p>
            <a:pPr algn="l"/>
            <a:r>
              <a:rPr lang="en-US" sz="1100" b="0" i="0">
                <a:solidFill>
                  <a:srgbClr val="1D1D1B"/>
                </a:solidFill>
                <a:effectLst/>
                <a:latin typeface="Open Sans" panose="020B0606030504020204" pitchFamily="34" charset="0"/>
              </a:rPr>
              <a:t>2-pin JST Connector for a LiPo Battery</a:t>
            </a:r>
          </a:p>
          <a:p>
            <a:pPr algn="l"/>
            <a:r>
              <a:rPr lang="en-US" sz="1100" b="0" i="0">
                <a:solidFill>
                  <a:srgbClr val="1D1D1B"/>
                </a:solidFill>
                <a:effectLst/>
                <a:latin typeface="Open Sans" panose="020B0606030504020204" pitchFamily="34" charset="0"/>
              </a:rPr>
              <a:t>4-pin JST </a:t>
            </a:r>
            <a:r>
              <a:rPr lang="en-US" sz="1100" b="0" i="0" err="1">
                <a:solidFill>
                  <a:srgbClr val="1D1D1B"/>
                </a:solidFill>
                <a:effectLst/>
                <a:latin typeface="Open Sans" panose="020B0606030504020204" pitchFamily="34" charset="0"/>
              </a:rPr>
              <a:t>Qwiic</a:t>
            </a:r>
            <a:r>
              <a:rPr lang="en-US" sz="1100" b="0" i="0">
                <a:solidFill>
                  <a:srgbClr val="1D1D1B"/>
                </a:solidFill>
                <a:effectLst/>
                <a:latin typeface="Open Sans" panose="020B0606030504020204" pitchFamily="34" charset="0"/>
              </a:rPr>
              <a:t> Connector</a:t>
            </a:r>
          </a:p>
          <a:p>
            <a:pPr algn="l"/>
            <a:r>
              <a:rPr lang="en-US" sz="1100" b="0" i="0">
                <a:solidFill>
                  <a:srgbClr val="1D1D1B"/>
                </a:solidFill>
                <a:effectLst/>
                <a:latin typeface="Open Sans" panose="020B0606030504020204" pitchFamily="34" charset="0"/>
              </a:rPr>
              <a:t>SD Card Slot</a:t>
            </a:r>
          </a:p>
        </p:txBody>
      </p:sp>
      <p:pic>
        <p:nvPicPr>
          <p:cNvPr id="8" name="Picture 2" descr="SparkFun Thing Plus - ESP32 WROOM (USB-C)">
            <a:extLst>
              <a:ext uri="{FF2B5EF4-FFF2-40B4-BE49-F238E27FC236}">
                <a16:creationId xmlns:a16="http://schemas.microsoft.com/office/drawing/2014/main" id="{B2F40249-4610-854D-ECEF-CD89EF410F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1412040" y="2747336"/>
            <a:ext cx="333375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arkFun Thing Plus - ESP32 WROOM (USB-C)">
            <a:extLst>
              <a:ext uri="{FF2B5EF4-FFF2-40B4-BE49-F238E27FC236}">
                <a16:creationId xmlns:a16="http://schemas.microsoft.com/office/drawing/2014/main" id="{FDD4DA5C-2511-AA33-F54F-A232CC33FA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6200000">
            <a:off x="2697460" y="4026320"/>
            <a:ext cx="3333750" cy="333375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183AF18B-7BE0-CC1E-E98E-7D73257997E5}"/>
              </a:ext>
            </a:extLst>
          </p:cNvPr>
          <p:cNvCxnSpPr>
            <a:cxnSpLocks/>
          </p:cNvCxnSpPr>
          <p:nvPr/>
        </p:nvCxnSpPr>
        <p:spPr>
          <a:xfrm flipH="1" flipV="1">
            <a:off x="4467343" y="4412486"/>
            <a:ext cx="1797340" cy="126602"/>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81CF660-A4D1-E34B-603A-83C985782DAD}"/>
              </a:ext>
            </a:extLst>
          </p:cNvPr>
          <p:cNvCxnSpPr>
            <a:cxnSpLocks/>
          </p:cNvCxnSpPr>
          <p:nvPr/>
        </p:nvCxnSpPr>
        <p:spPr>
          <a:xfrm flipH="1">
            <a:off x="3746619" y="4717256"/>
            <a:ext cx="2525594" cy="73607"/>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F0036DD-2DB8-F3A9-5D6B-1E6EE222C5CF}"/>
              </a:ext>
            </a:extLst>
          </p:cNvPr>
          <p:cNvCxnSpPr>
            <a:cxnSpLocks/>
          </p:cNvCxnSpPr>
          <p:nvPr/>
        </p:nvCxnSpPr>
        <p:spPr>
          <a:xfrm flipH="1">
            <a:off x="4125704" y="4895037"/>
            <a:ext cx="2146509" cy="0"/>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568FE48-A0D0-1148-6FDC-F73BC588D566}"/>
              </a:ext>
            </a:extLst>
          </p:cNvPr>
          <p:cNvCxnSpPr>
            <a:cxnSpLocks/>
          </p:cNvCxnSpPr>
          <p:nvPr/>
        </p:nvCxnSpPr>
        <p:spPr>
          <a:xfrm flipH="1">
            <a:off x="5153025" y="5055708"/>
            <a:ext cx="1119188" cy="488962"/>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5809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C0B3-1EC3-5E9A-8F32-877B156C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81CAB-FDB7-4776-6FEF-87B0DFB21E98}"/>
              </a:ext>
            </a:extLst>
          </p:cNvPr>
          <p:cNvSpPr>
            <a:spLocks noGrp="1"/>
          </p:cNvSpPr>
          <p:nvPr>
            <p:ph type="title"/>
          </p:nvPr>
        </p:nvSpPr>
        <p:spPr/>
        <p:txBody>
          <a:bodyPr>
            <a:normAutofit/>
          </a:bodyPr>
          <a:lstStyle/>
          <a:p>
            <a:r>
              <a:rPr lang="en-US" b="1"/>
              <a:t>ESP32 Thing Plus Pinout Diagram</a:t>
            </a:r>
          </a:p>
        </p:txBody>
      </p:sp>
      <p:sp>
        <p:nvSpPr>
          <p:cNvPr id="4" name="Footer Placeholder 3">
            <a:extLst>
              <a:ext uri="{FF2B5EF4-FFF2-40B4-BE49-F238E27FC236}">
                <a16:creationId xmlns:a16="http://schemas.microsoft.com/office/drawing/2014/main" id="{E68801EB-CF08-3CA5-9478-5D2B008F28A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851EDD8-FB91-4812-EBD8-CAB2CB4D5DB0}"/>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10" name="Picture 9">
            <a:extLst>
              <a:ext uri="{FF2B5EF4-FFF2-40B4-BE49-F238E27FC236}">
                <a16:creationId xmlns:a16="http://schemas.microsoft.com/office/drawing/2014/main" id="{BF885ED0-54BA-8E84-11C7-4CB8B1FAB93C}"/>
              </a:ext>
            </a:extLst>
          </p:cNvPr>
          <p:cNvPicPr>
            <a:picLocks noChangeAspect="1"/>
          </p:cNvPicPr>
          <p:nvPr/>
        </p:nvPicPr>
        <p:blipFill>
          <a:blip r:embed="rId2"/>
          <a:stretch>
            <a:fillRect/>
          </a:stretch>
        </p:blipFill>
        <p:spPr>
          <a:xfrm>
            <a:off x="1066990" y="909248"/>
            <a:ext cx="8077010" cy="5841960"/>
          </a:xfrm>
          <a:prstGeom prst="rect">
            <a:avLst/>
          </a:prstGeom>
        </p:spPr>
      </p:pic>
      <p:sp>
        <p:nvSpPr>
          <p:cNvPr id="3" name="Content Placeholder 5">
            <a:extLst>
              <a:ext uri="{FF2B5EF4-FFF2-40B4-BE49-F238E27FC236}">
                <a16:creationId xmlns:a16="http://schemas.microsoft.com/office/drawing/2014/main" id="{F39E0281-BD4D-B595-A8F6-54F44780853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72707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8FCC9-7E96-B1A9-C9C5-D3E73598C1A6}"/>
              </a:ext>
            </a:extLst>
          </p:cNvPr>
          <p:cNvSpPr>
            <a:spLocks noGrp="1"/>
          </p:cNvSpPr>
          <p:nvPr>
            <p:ph type="title"/>
          </p:nvPr>
        </p:nvSpPr>
        <p:spPr/>
        <p:txBody>
          <a:bodyPr/>
          <a:lstStyle/>
          <a:p>
            <a:r>
              <a:rPr lang="en-US" dirty="0"/>
              <a:t>EPS Diagram</a:t>
            </a:r>
          </a:p>
        </p:txBody>
      </p:sp>
      <p:sp>
        <p:nvSpPr>
          <p:cNvPr id="3" name="Content Placeholder 2">
            <a:extLst>
              <a:ext uri="{FF2B5EF4-FFF2-40B4-BE49-F238E27FC236}">
                <a16:creationId xmlns:a16="http://schemas.microsoft.com/office/drawing/2014/main" id="{6FDD37F3-78B2-FCBA-6D23-85B6A2318AD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A3A8644-E80D-A7B5-8954-8DAB767FA96B}"/>
              </a:ext>
            </a:extLst>
          </p:cNvPr>
          <p:cNvSpPr>
            <a:spLocks noGrp="1"/>
          </p:cNvSpPr>
          <p:nvPr>
            <p:ph type="ftr" sz="quarter" idx="11"/>
          </p:nvPr>
        </p:nvSpPr>
        <p:spPr/>
        <p:txBody>
          <a:bodyPr/>
          <a:lstStyle/>
          <a:p>
            <a:r>
              <a:rPr lang="en-US"/>
              <a:t>Astro 331 Lab #2</a:t>
            </a:r>
            <a:endParaRPr lang="en-US" dirty="0"/>
          </a:p>
        </p:txBody>
      </p:sp>
      <p:sp>
        <p:nvSpPr>
          <p:cNvPr id="5" name="Slide Number Placeholder 4">
            <a:extLst>
              <a:ext uri="{FF2B5EF4-FFF2-40B4-BE49-F238E27FC236}">
                <a16:creationId xmlns:a16="http://schemas.microsoft.com/office/drawing/2014/main" id="{72364F4B-1C1D-78FE-A253-79473A824523}"/>
              </a:ext>
            </a:extLst>
          </p:cNvPr>
          <p:cNvSpPr>
            <a:spLocks noGrp="1"/>
          </p:cNvSpPr>
          <p:nvPr>
            <p:ph type="sldNum" sz="quarter" idx="12"/>
          </p:nvPr>
        </p:nvSpPr>
        <p:spPr/>
        <p:txBody>
          <a:bodyPr/>
          <a:lstStyle/>
          <a:p>
            <a:fld id="{9A3029B7-FE6B-4680-9049-80E8298A0825}" type="slidenum">
              <a:rPr lang="en-US" smtClean="0"/>
              <a:t>6</a:t>
            </a:fld>
            <a:endParaRPr lang="en-US"/>
          </a:p>
        </p:txBody>
      </p:sp>
    </p:spTree>
    <p:extLst>
      <p:ext uri="{BB962C8B-B14F-4D97-AF65-F5344CB8AC3E}">
        <p14:creationId xmlns:p14="http://schemas.microsoft.com/office/powerpoint/2010/main" val="986559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7DA04-4B9F-16CA-0C25-73762E003116}"/>
              </a:ext>
            </a:extLst>
          </p:cNvPr>
          <p:cNvSpPr>
            <a:spLocks noGrp="1"/>
          </p:cNvSpPr>
          <p:nvPr>
            <p:ph type="title"/>
          </p:nvPr>
        </p:nvSpPr>
        <p:spPr/>
        <p:txBody>
          <a:bodyPr>
            <a:normAutofit/>
          </a:bodyPr>
          <a:lstStyle/>
          <a:p>
            <a:r>
              <a:rPr lang="en-US" sz="2400" b="1" dirty="0"/>
              <a:t>Task 3 – Finish Setting Up </a:t>
            </a:r>
            <a:r>
              <a:rPr lang="en-US" sz="2400" b="1" dirty="0" err="1"/>
              <a:t>KestrelSAT</a:t>
            </a:r>
            <a:r>
              <a:rPr lang="en-US" sz="2400" b="1" dirty="0"/>
              <a:t> EPS</a:t>
            </a:r>
          </a:p>
        </p:txBody>
      </p:sp>
      <p:sp>
        <p:nvSpPr>
          <p:cNvPr id="3" name="Content Placeholder 2">
            <a:extLst>
              <a:ext uri="{FF2B5EF4-FFF2-40B4-BE49-F238E27FC236}">
                <a16:creationId xmlns:a16="http://schemas.microsoft.com/office/drawing/2014/main" id="{D028BCD5-A9DB-0358-4037-7B6E4E3AEF89}"/>
              </a:ext>
            </a:extLst>
          </p:cNvPr>
          <p:cNvSpPr>
            <a:spLocks noGrp="1"/>
          </p:cNvSpPr>
          <p:nvPr>
            <p:ph idx="1"/>
          </p:nvPr>
        </p:nvSpPr>
        <p:spPr>
          <a:xfrm>
            <a:off x="1066990" y="897624"/>
            <a:ext cx="4645712" cy="5896748"/>
          </a:xfrm>
        </p:spPr>
        <p:txBody>
          <a:bodyPr>
            <a:normAutofit/>
          </a:bodyPr>
          <a:lstStyle/>
          <a:p>
            <a:pPr marL="0" indent="0">
              <a:buNone/>
            </a:pPr>
            <a:r>
              <a:rPr lang="en-US" sz="1400" b="1" dirty="0"/>
              <a:t>In this task you will prepare for future labs by completing setup of the electrical power system for your KestrelSAT. </a:t>
            </a:r>
          </a:p>
          <a:p>
            <a:pPr marL="514350" indent="-514350">
              <a:buAutoNum type="arabicParenBoth"/>
            </a:pPr>
            <a:r>
              <a:rPr lang="en-US" sz="1400" dirty="0"/>
              <a:t>Using a multimeter, measure the voltage of your KestrelSAT battery. Discuss with your instructor how to estimate the state of charge of the battery. </a:t>
            </a:r>
          </a:p>
          <a:p>
            <a:pPr marL="514350" indent="-514350">
              <a:buAutoNum type="arabicParenBoth"/>
            </a:pPr>
            <a:r>
              <a:rPr lang="en-US" sz="1400" dirty="0"/>
              <a:t>Install the battery and connect it to the female end of the power switch. Connect the male end of the power switch to the battery connector on your MCU. Confirm you can power on your KestrelSAT with the power switch. </a:t>
            </a:r>
          </a:p>
          <a:p>
            <a:pPr marL="514350" indent="-514350">
              <a:buAutoNum type="arabicParenBoth"/>
            </a:pPr>
            <a:r>
              <a:rPr lang="en-US" sz="1400" dirty="0">
                <a:solidFill>
                  <a:srgbClr val="7030A0"/>
                </a:solidFill>
              </a:rPr>
              <a:t>Link all power rails on your breadboard together using red and black jumper wires (red for </a:t>
            </a:r>
            <a:r>
              <a:rPr lang="en-US" sz="1400" b="1" dirty="0">
                <a:solidFill>
                  <a:srgbClr val="7030A0"/>
                </a:solidFill>
              </a:rPr>
              <a:t>+</a:t>
            </a:r>
            <a:r>
              <a:rPr lang="en-US" sz="1400" dirty="0">
                <a:solidFill>
                  <a:srgbClr val="7030A0"/>
                </a:solidFill>
              </a:rPr>
              <a:t> and black for </a:t>
            </a:r>
            <a:r>
              <a:rPr lang="en-US" sz="1400" b="1" dirty="0">
                <a:solidFill>
                  <a:srgbClr val="7030A0"/>
                </a:solidFill>
              </a:rPr>
              <a:t>-</a:t>
            </a:r>
            <a:r>
              <a:rPr lang="en-US" sz="1400" dirty="0">
                <a:solidFill>
                  <a:srgbClr val="7030A0"/>
                </a:solidFill>
              </a:rPr>
              <a:t>). </a:t>
            </a:r>
            <a:endParaRPr lang="en-US" sz="1400" b="1" dirty="0">
              <a:solidFill>
                <a:srgbClr val="7030A0"/>
              </a:solidFill>
            </a:endParaRPr>
          </a:p>
          <a:p>
            <a:pPr marL="514350" indent="-514350">
              <a:buAutoNum type="arabicParenBoth"/>
            </a:pPr>
            <a:r>
              <a:rPr lang="en-US" sz="1400" dirty="0">
                <a:solidFill>
                  <a:srgbClr val="0070C0"/>
                </a:solidFill>
              </a:rPr>
              <a:t>Connect a black wire from MCU ground pin to the ground rail. </a:t>
            </a:r>
          </a:p>
          <a:p>
            <a:pPr marL="514350" indent="-514350">
              <a:buAutoNum type="arabicParenBoth"/>
            </a:pPr>
            <a:r>
              <a:rPr lang="en-US" sz="1400" dirty="0">
                <a:solidFill>
                  <a:srgbClr val="FF0000"/>
                </a:solidFill>
              </a:rPr>
              <a:t>Connect the VBAT to the VIN terminal of the 5V Step-Up Regulator. Connect a black or brown wire from the ground rail to ground of the regulator. </a:t>
            </a:r>
          </a:p>
          <a:p>
            <a:pPr marL="514350" indent="-514350">
              <a:buAutoNum type="arabicParenBoth"/>
            </a:pPr>
            <a:r>
              <a:rPr lang="en-US" sz="1400" dirty="0"/>
              <a:t>With KestrelSAT powered on, confirm the regulator provides 5V on the VOUT pin. Connect VOUT to the </a:t>
            </a:r>
            <a:r>
              <a:rPr lang="en-US" sz="1400" b="1" dirty="0"/>
              <a:t>+</a:t>
            </a:r>
            <a:r>
              <a:rPr lang="en-US" sz="1400" dirty="0"/>
              <a:t> power rail. </a:t>
            </a:r>
            <a:r>
              <a:rPr lang="en-US" sz="1400" b="1" dirty="0"/>
              <a:t>All power rails on the breadboard are now 5V potential. </a:t>
            </a:r>
          </a:p>
        </p:txBody>
      </p:sp>
      <p:sp>
        <p:nvSpPr>
          <p:cNvPr id="4" name="Footer Placeholder 3">
            <a:extLst>
              <a:ext uri="{FF2B5EF4-FFF2-40B4-BE49-F238E27FC236}">
                <a16:creationId xmlns:a16="http://schemas.microsoft.com/office/drawing/2014/main" id="{26317C00-BF1C-E372-A5F5-25CD37724E45}"/>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88A8ECE1-2E41-D943-C1B2-C14DF8159793}"/>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Content Placeholder 5">
            <a:extLst>
              <a:ext uri="{FF2B5EF4-FFF2-40B4-BE49-F238E27FC236}">
                <a16:creationId xmlns:a16="http://schemas.microsoft.com/office/drawing/2014/main" id="{FAB2A503-E4C4-E1B2-FB62-FDD2B9AB2E26}"/>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b="1" dirty="0">
                <a:solidFill>
                  <a:srgbClr val="00B0F0"/>
                </a:solidFill>
              </a:rPr>
              <a:t>Task 3</a:t>
            </a:r>
          </a:p>
          <a:p>
            <a:pPr marL="0" indent="0">
              <a:buNone/>
            </a:pPr>
            <a:r>
              <a:rPr lang="en-US" sz="1200" dirty="0"/>
              <a:t>Turn-in </a:t>
            </a:r>
            <a:r>
              <a:rPr lang="en-US" sz="1200" dirty="0" err="1"/>
              <a:t>Reqt’s</a:t>
            </a:r>
            <a:endParaRPr lang="en-US" sz="1200" dirty="0"/>
          </a:p>
          <a:p>
            <a:pPr marL="0" indent="0">
              <a:buNone/>
            </a:pPr>
            <a:endParaRPr lang="en-US" sz="1200" dirty="0"/>
          </a:p>
        </p:txBody>
      </p:sp>
      <p:grpSp>
        <p:nvGrpSpPr>
          <p:cNvPr id="11" name="Group 10">
            <a:extLst>
              <a:ext uri="{FF2B5EF4-FFF2-40B4-BE49-F238E27FC236}">
                <a16:creationId xmlns:a16="http://schemas.microsoft.com/office/drawing/2014/main" id="{01298734-399A-9077-71F3-8613C452041A}"/>
              </a:ext>
            </a:extLst>
          </p:cNvPr>
          <p:cNvGrpSpPr/>
          <p:nvPr/>
        </p:nvGrpSpPr>
        <p:grpSpPr>
          <a:xfrm>
            <a:off x="5705434" y="2379146"/>
            <a:ext cx="3358390" cy="1264427"/>
            <a:chOff x="1010562" y="4600076"/>
            <a:chExt cx="4913560" cy="1849947"/>
          </a:xfrm>
        </p:grpSpPr>
        <p:pic>
          <p:nvPicPr>
            <p:cNvPr id="8" name="Picture 7">
              <a:extLst>
                <a:ext uri="{FF2B5EF4-FFF2-40B4-BE49-F238E27FC236}">
                  <a16:creationId xmlns:a16="http://schemas.microsoft.com/office/drawing/2014/main" id="{2061E369-A719-61F8-1DF8-2986384D15D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10562" y="4855105"/>
              <a:ext cx="4913560" cy="1594918"/>
            </a:xfrm>
            <a:prstGeom prst="rect">
              <a:avLst/>
            </a:prstGeom>
          </p:spPr>
        </p:pic>
        <p:sp>
          <p:nvSpPr>
            <p:cNvPr id="10" name="TextBox 9">
              <a:extLst>
                <a:ext uri="{FF2B5EF4-FFF2-40B4-BE49-F238E27FC236}">
                  <a16:creationId xmlns:a16="http://schemas.microsoft.com/office/drawing/2014/main" id="{87876ADA-DDC3-9749-044A-6F3F15F5DEA9}"/>
                </a:ext>
              </a:extLst>
            </p:cNvPr>
            <p:cNvSpPr txBox="1"/>
            <p:nvPr/>
          </p:nvSpPr>
          <p:spPr>
            <a:xfrm>
              <a:off x="1181343" y="4600076"/>
              <a:ext cx="4571998" cy="510059"/>
            </a:xfrm>
            <a:prstGeom prst="rect">
              <a:avLst/>
            </a:prstGeom>
            <a:noFill/>
          </p:spPr>
          <p:txBody>
            <a:bodyPr wrap="square">
              <a:spAutoFit/>
            </a:bodyPr>
            <a:lstStyle/>
            <a:p>
              <a:pPr algn="l">
                <a:lnSpc>
                  <a:spcPts val="2340"/>
                </a:lnSpc>
                <a:buNone/>
              </a:pPr>
              <a:r>
                <a:rPr lang="en-US" sz="1200" b="1" i="0">
                  <a:solidFill>
                    <a:srgbClr val="333333"/>
                  </a:solidFill>
                  <a:effectLst/>
                  <a:latin typeface="Arial" panose="020B0604020202020204" pitchFamily="34" charset="0"/>
                </a:rPr>
                <a:t>5V Step-Up Voltage Regulator U3V70F5</a:t>
              </a:r>
            </a:p>
          </p:txBody>
        </p:sp>
      </p:grpSp>
      <p:grpSp>
        <p:nvGrpSpPr>
          <p:cNvPr id="20" name="Group 19">
            <a:extLst>
              <a:ext uri="{FF2B5EF4-FFF2-40B4-BE49-F238E27FC236}">
                <a16:creationId xmlns:a16="http://schemas.microsoft.com/office/drawing/2014/main" id="{65F3E9DA-6542-50AC-4A74-BFE53693664A}"/>
              </a:ext>
            </a:extLst>
          </p:cNvPr>
          <p:cNvGrpSpPr/>
          <p:nvPr/>
        </p:nvGrpSpPr>
        <p:grpSpPr>
          <a:xfrm>
            <a:off x="5825764" y="3588252"/>
            <a:ext cx="3269986" cy="3206119"/>
            <a:chOff x="5825764" y="3588252"/>
            <a:chExt cx="3269986" cy="3206119"/>
          </a:xfrm>
        </p:grpSpPr>
        <p:pic>
          <p:nvPicPr>
            <p:cNvPr id="13" name="Picture 12">
              <a:extLst>
                <a:ext uri="{FF2B5EF4-FFF2-40B4-BE49-F238E27FC236}">
                  <a16:creationId xmlns:a16="http://schemas.microsoft.com/office/drawing/2014/main" id="{50D31578-A5E6-D4A7-304E-B30DA3AB0E83}"/>
                </a:ext>
              </a:extLst>
            </p:cNvPr>
            <p:cNvPicPr>
              <a:picLocks noChangeAspect="1"/>
            </p:cNvPicPr>
            <p:nvPr/>
          </p:nvPicPr>
          <p:blipFill>
            <a:blip r:embed="rId3"/>
            <a:stretch>
              <a:fillRect/>
            </a:stretch>
          </p:blipFill>
          <p:spPr>
            <a:xfrm rot="16200000">
              <a:off x="5857697" y="3556319"/>
              <a:ext cx="3206119" cy="3269986"/>
            </a:xfrm>
            <a:prstGeom prst="rect">
              <a:avLst/>
            </a:prstGeom>
          </p:spPr>
        </p:pic>
        <p:sp>
          <p:nvSpPr>
            <p:cNvPr id="15" name="TextBox 14">
              <a:extLst>
                <a:ext uri="{FF2B5EF4-FFF2-40B4-BE49-F238E27FC236}">
                  <a16:creationId xmlns:a16="http://schemas.microsoft.com/office/drawing/2014/main" id="{4129B2BB-6A71-20EC-1EC7-C7A39D8BA7AF}"/>
                </a:ext>
              </a:extLst>
            </p:cNvPr>
            <p:cNvSpPr txBox="1"/>
            <p:nvPr/>
          </p:nvSpPr>
          <p:spPr>
            <a:xfrm>
              <a:off x="6115048" y="4571860"/>
              <a:ext cx="539750" cy="369332"/>
            </a:xfrm>
            <a:prstGeom prst="rect">
              <a:avLst/>
            </a:prstGeom>
            <a:noFill/>
          </p:spPr>
          <p:txBody>
            <a:bodyPr wrap="square">
              <a:spAutoFit/>
            </a:bodyPr>
            <a:lstStyle/>
            <a:p>
              <a:r>
                <a:rPr lang="en-US" sz="1800" b="1">
                  <a:solidFill>
                    <a:srgbClr val="7030A0"/>
                  </a:solidFill>
                </a:rPr>
                <a:t>(3)</a:t>
              </a:r>
              <a:endParaRPr lang="en-US">
                <a:solidFill>
                  <a:srgbClr val="7030A0"/>
                </a:solidFill>
              </a:endParaRPr>
            </a:p>
          </p:txBody>
        </p:sp>
        <p:sp>
          <p:nvSpPr>
            <p:cNvPr id="16" name="TextBox 15">
              <a:extLst>
                <a:ext uri="{FF2B5EF4-FFF2-40B4-BE49-F238E27FC236}">
                  <a16:creationId xmlns:a16="http://schemas.microsoft.com/office/drawing/2014/main" id="{87C49519-DD46-FAD5-8209-B6BEA525D209}"/>
                </a:ext>
              </a:extLst>
            </p:cNvPr>
            <p:cNvSpPr txBox="1"/>
            <p:nvPr/>
          </p:nvSpPr>
          <p:spPr>
            <a:xfrm>
              <a:off x="8157208" y="5006646"/>
              <a:ext cx="539750" cy="369332"/>
            </a:xfrm>
            <a:prstGeom prst="rect">
              <a:avLst/>
            </a:prstGeom>
            <a:noFill/>
          </p:spPr>
          <p:txBody>
            <a:bodyPr wrap="square">
              <a:spAutoFit/>
            </a:bodyPr>
            <a:lstStyle/>
            <a:p>
              <a:r>
                <a:rPr lang="en-US" sz="1800" b="1">
                  <a:solidFill>
                    <a:srgbClr val="0070C0"/>
                  </a:solidFill>
                </a:rPr>
                <a:t>(4)</a:t>
              </a:r>
              <a:endParaRPr lang="en-US">
                <a:solidFill>
                  <a:srgbClr val="0070C0"/>
                </a:solidFill>
              </a:endParaRPr>
            </a:p>
          </p:txBody>
        </p:sp>
        <p:sp>
          <p:nvSpPr>
            <p:cNvPr id="17" name="TextBox 16">
              <a:extLst>
                <a:ext uri="{FF2B5EF4-FFF2-40B4-BE49-F238E27FC236}">
                  <a16:creationId xmlns:a16="http://schemas.microsoft.com/office/drawing/2014/main" id="{35858A68-1B9C-4DB1-9C94-C5319AD1F99F}"/>
                </a:ext>
              </a:extLst>
            </p:cNvPr>
            <p:cNvSpPr txBox="1"/>
            <p:nvPr/>
          </p:nvSpPr>
          <p:spPr>
            <a:xfrm>
              <a:off x="7324088" y="5595926"/>
              <a:ext cx="539750" cy="369332"/>
            </a:xfrm>
            <a:prstGeom prst="rect">
              <a:avLst/>
            </a:prstGeom>
            <a:noFill/>
          </p:spPr>
          <p:txBody>
            <a:bodyPr wrap="square">
              <a:spAutoFit/>
            </a:bodyPr>
            <a:lstStyle/>
            <a:p>
              <a:r>
                <a:rPr lang="en-US" sz="1800" b="1">
                  <a:solidFill>
                    <a:srgbClr val="FF0000"/>
                  </a:solidFill>
                </a:rPr>
                <a:t>(</a:t>
              </a:r>
              <a:r>
                <a:rPr lang="en-US" b="1">
                  <a:solidFill>
                    <a:srgbClr val="FF0000"/>
                  </a:solidFill>
                </a:rPr>
                <a:t>5</a:t>
              </a:r>
              <a:r>
                <a:rPr lang="en-US" sz="1800" b="1">
                  <a:solidFill>
                    <a:srgbClr val="FF0000"/>
                  </a:solidFill>
                </a:rPr>
                <a:t>)</a:t>
              </a:r>
              <a:endParaRPr lang="en-US">
                <a:solidFill>
                  <a:srgbClr val="FF0000"/>
                </a:solidFill>
              </a:endParaRPr>
            </a:p>
          </p:txBody>
        </p:sp>
      </p:grpSp>
      <p:sp>
        <p:nvSpPr>
          <p:cNvPr id="19" name="TextBox 18">
            <a:extLst>
              <a:ext uri="{FF2B5EF4-FFF2-40B4-BE49-F238E27FC236}">
                <a16:creationId xmlns:a16="http://schemas.microsoft.com/office/drawing/2014/main" id="{348CBE01-E0BE-5710-25FB-DD956BED99B1}"/>
              </a:ext>
            </a:extLst>
          </p:cNvPr>
          <p:cNvSpPr txBox="1"/>
          <p:nvPr/>
        </p:nvSpPr>
        <p:spPr>
          <a:xfrm>
            <a:off x="6500486" y="5743376"/>
            <a:ext cx="539750" cy="369332"/>
          </a:xfrm>
          <a:prstGeom prst="rect">
            <a:avLst/>
          </a:prstGeom>
          <a:noFill/>
        </p:spPr>
        <p:txBody>
          <a:bodyPr wrap="square">
            <a:spAutoFit/>
          </a:bodyPr>
          <a:lstStyle/>
          <a:p>
            <a:r>
              <a:rPr lang="en-US" sz="1800" b="1"/>
              <a:t>(</a:t>
            </a:r>
            <a:r>
              <a:rPr lang="en-US" b="1"/>
              <a:t>2</a:t>
            </a:r>
            <a:r>
              <a:rPr lang="en-US" sz="1800" b="1"/>
              <a:t>)</a:t>
            </a:r>
            <a:endParaRPr lang="en-US"/>
          </a:p>
        </p:txBody>
      </p:sp>
      <p:pic>
        <p:nvPicPr>
          <p:cNvPr id="1026" name="Picture 2" descr="Li-ion Voltage Analysis">
            <a:extLst>
              <a:ext uri="{FF2B5EF4-FFF2-40B4-BE49-F238E27FC236}">
                <a16:creationId xmlns:a16="http://schemas.microsoft.com/office/drawing/2014/main" id="{815B7CC9-7D41-E5F0-03D8-2F29FF0812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69" y="583186"/>
            <a:ext cx="2665973" cy="1870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778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41771AE-CB5E-4555-9372-FF977EDBB7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10833DE-2A72-47B9-8243-52EC226ACA0F}">
  <ds:schemaRefs>
    <ds:schemaRef ds:uri="http://schemas.microsoft.com/sharepoint/v3/contenttype/forms"/>
  </ds:schemaRefs>
</ds:datastoreItem>
</file>

<file path=customXml/itemProps3.xml><?xml version="1.0" encoding="utf-8"?>
<ds:datastoreItem xmlns:ds="http://schemas.openxmlformats.org/officeDocument/2006/customXml" ds:itemID="{65607181-CECF-4744-89B4-04EE492AC2F3}">
  <ds:schemaRefs>
    <ds:schemaRef ds:uri="http://schemas.microsoft.com/office/2006/metadata/properties"/>
    <ds:schemaRef ds:uri="http://schemas.microsoft.com/office/infopath/2007/PartnerControls"/>
    <ds:schemaRef ds:uri="http://schemas.microsoft.com/sharepoint/v3"/>
    <ds:schemaRef ds:uri="723aa48c-73f2-40da-86b1-f1ae286477fe"/>
    <ds:schemaRef ds:uri="7584c457-6b5a-4caa-be47-be979cbe6555"/>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8356</TotalTime>
  <Words>610</Words>
  <Application>Microsoft Office PowerPoint</Application>
  <PresentationFormat>Letter Paper (8.5x11 in)</PresentationFormat>
  <Paragraphs>128</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Open Sans</vt:lpstr>
      <vt:lpstr>Segoe UI</vt:lpstr>
      <vt:lpstr>Office Theme</vt:lpstr>
      <vt:lpstr>KestrelSAT</vt:lpstr>
      <vt:lpstr>Intro</vt:lpstr>
      <vt:lpstr>KestrelSAT Overview</vt:lpstr>
      <vt:lpstr>KestrelSAT MCU: ESP32 WROOM </vt:lpstr>
      <vt:lpstr>ESP32 Thing Plus Pinout Diagram</vt:lpstr>
      <vt:lpstr>EPS Diagram</vt:lpstr>
      <vt:lpstr>Task 3 – Finish Setting Up KestrelSAT 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2</cp:revision>
  <cp:lastPrinted>2025-08-01T16:37:26Z</cp:lastPrinted>
  <dcterms:created xsi:type="dcterms:W3CDTF">2025-07-17T17:53:42Z</dcterms:created>
  <dcterms:modified xsi:type="dcterms:W3CDTF">2026-02-05T20:57:53Z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