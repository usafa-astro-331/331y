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8"/>
  </p:notesMasterIdLst>
  <p:sldIdLst>
    <p:sldId id="256" r:id="rId5"/>
    <p:sldId id="259" r:id="rId6"/>
    <p:sldId id="260" r:id="rId7"/>
    <p:sldId id="268" r:id="rId8"/>
    <p:sldId id="269" r:id="rId9"/>
    <p:sldId id="262" r:id="rId10"/>
    <p:sldId id="267" r:id="rId11"/>
    <p:sldId id="272" r:id="rId12"/>
    <p:sldId id="263" r:id="rId13"/>
    <p:sldId id="273" r:id="rId14"/>
    <p:sldId id="265" r:id="rId15"/>
    <p:sldId id="266" r:id="rId16"/>
    <p:sldId id="271" r:id="rId17"/>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E5EACB-CB9C-4766-A334-214581D90D38}" v="31" dt="2026-01-07T15:13:29.5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232" autoAdjust="0"/>
  </p:normalViewPr>
  <p:slideViewPr>
    <p:cSldViewPr snapToGrid="0">
      <p:cViewPr varScale="1">
        <p:scale>
          <a:sx n="99" d="100"/>
          <a:sy n="99" d="100"/>
        </p:scale>
        <p:origin x="1980"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E18DAD13-4A53-44B8-9F3F-46E167733190}"/>
    <pc:docChg chg="undo custSel modSld">
      <pc:chgData name="Harris, Wyatt J Lt Col USAF USAFA DF/DFAS" userId="768bfb95-c272-4014-8fa2-010c15306053" providerId="ADAL" clId="{E18DAD13-4A53-44B8-9F3F-46E167733190}" dt="2026-01-07T15:14:31.719" v="870" actId="20577"/>
      <pc:docMkLst>
        <pc:docMk/>
      </pc:docMkLst>
      <pc:sldChg chg="modSp mod">
        <pc:chgData name="Harris, Wyatt J Lt Col USAF USAFA DF/DFAS" userId="768bfb95-c272-4014-8fa2-010c15306053" providerId="ADAL" clId="{E18DAD13-4A53-44B8-9F3F-46E167733190}" dt="2026-01-06T21:01:17.023" v="0" actId="13926"/>
        <pc:sldMkLst>
          <pc:docMk/>
          <pc:sldMk cId="1434979562" sldId="259"/>
        </pc:sldMkLst>
        <pc:spChg chg="mod">
          <ac:chgData name="Harris, Wyatt J Lt Col USAF USAFA DF/DFAS" userId="768bfb95-c272-4014-8fa2-010c15306053" providerId="ADAL" clId="{E18DAD13-4A53-44B8-9F3F-46E167733190}" dt="2026-01-06T21:01:17.023" v="0" actId="13926"/>
          <ac:spMkLst>
            <pc:docMk/>
            <pc:sldMk cId="1434979562" sldId="259"/>
            <ac:spMk id="8" creationId="{DAE1C122-D6AC-99C4-BDF5-B3CCA5AE21D9}"/>
          </ac:spMkLst>
        </pc:spChg>
      </pc:sldChg>
      <pc:sldChg chg="modSp mod">
        <pc:chgData name="Harris, Wyatt J Lt Col USAF USAFA DF/DFAS" userId="768bfb95-c272-4014-8fa2-010c15306053" providerId="ADAL" clId="{E18DAD13-4A53-44B8-9F3F-46E167733190}" dt="2026-01-06T21:07:35.413" v="33" actId="27636"/>
        <pc:sldMkLst>
          <pc:docMk/>
          <pc:sldMk cId="570581100" sldId="262"/>
        </pc:sldMkLst>
        <pc:spChg chg="mod">
          <ac:chgData name="Harris, Wyatt J Lt Col USAF USAFA DF/DFAS" userId="768bfb95-c272-4014-8fa2-010c15306053" providerId="ADAL" clId="{E18DAD13-4A53-44B8-9F3F-46E167733190}" dt="2026-01-06T21:07:35.413" v="33" actId="27636"/>
          <ac:spMkLst>
            <pc:docMk/>
            <pc:sldMk cId="570581100" sldId="262"/>
            <ac:spMk id="8" creationId="{6DA10169-5BF3-3ECF-675F-73D818D05D4B}"/>
          </ac:spMkLst>
        </pc:spChg>
        <pc:spChg chg="mod">
          <ac:chgData name="Harris, Wyatt J Lt Col USAF USAFA DF/DFAS" userId="768bfb95-c272-4014-8fa2-010c15306053" providerId="ADAL" clId="{E18DAD13-4A53-44B8-9F3F-46E167733190}" dt="2026-01-06T21:06:53.959" v="14" actId="404"/>
          <ac:spMkLst>
            <pc:docMk/>
            <pc:sldMk cId="570581100" sldId="262"/>
            <ac:spMk id="10" creationId="{2DF2A7AF-FCB6-4707-7BF2-C59D1F959606}"/>
          </ac:spMkLst>
        </pc:spChg>
      </pc:sldChg>
      <pc:sldChg chg="addSp delSp modSp mod">
        <pc:chgData name="Harris, Wyatt J Lt Col USAF USAFA DF/DFAS" userId="768bfb95-c272-4014-8fa2-010c15306053" providerId="ADAL" clId="{E18DAD13-4A53-44B8-9F3F-46E167733190}" dt="2026-01-06T21:58:47.961" v="740" actId="20577"/>
        <pc:sldMkLst>
          <pc:docMk/>
          <pc:sldMk cId="1094884155" sldId="265"/>
        </pc:sldMkLst>
        <pc:spChg chg="mod">
          <ac:chgData name="Harris, Wyatt J Lt Col USAF USAFA DF/DFAS" userId="768bfb95-c272-4014-8fa2-010c15306053" providerId="ADAL" clId="{E18DAD13-4A53-44B8-9F3F-46E167733190}" dt="2026-01-06T21:58:47.961" v="740" actId="20577"/>
          <ac:spMkLst>
            <pc:docMk/>
            <pc:sldMk cId="1094884155" sldId="265"/>
            <ac:spMk id="15" creationId="{21564EBE-4B1C-C647-0ADE-D6DC1A988B08}"/>
          </ac:spMkLst>
        </pc:spChg>
        <pc:grpChg chg="add mod ord">
          <ac:chgData name="Harris, Wyatt J Lt Col USAF USAFA DF/DFAS" userId="768bfb95-c272-4014-8fa2-010c15306053" providerId="ADAL" clId="{E18DAD13-4A53-44B8-9F3F-46E167733190}" dt="2026-01-06T21:48:59.654" v="419" actId="167"/>
          <ac:grpSpMkLst>
            <pc:docMk/>
            <pc:sldMk cId="1094884155" sldId="265"/>
            <ac:grpSpMk id="8" creationId="{935311E8-2273-FE71-41B4-306C203E3647}"/>
          </ac:grpSpMkLst>
        </pc:grpChg>
        <pc:picChg chg="add mod ord">
          <ac:chgData name="Harris, Wyatt J Lt Col USAF USAFA DF/DFAS" userId="768bfb95-c272-4014-8fa2-010c15306053" providerId="ADAL" clId="{E18DAD13-4A53-44B8-9F3F-46E167733190}" dt="2026-01-06T21:48:57.422" v="418" actId="164"/>
          <ac:picMkLst>
            <pc:docMk/>
            <pc:sldMk cId="1094884155" sldId="265"/>
            <ac:picMk id="6" creationId="{16C80704-BFDE-A720-D4F1-B351F3138980}"/>
          </ac:picMkLst>
        </pc:picChg>
        <pc:picChg chg="mod ord">
          <ac:chgData name="Harris, Wyatt J Lt Col USAF USAFA DF/DFAS" userId="768bfb95-c272-4014-8fa2-010c15306053" providerId="ADAL" clId="{E18DAD13-4A53-44B8-9F3F-46E167733190}" dt="2026-01-06T21:48:57.422" v="418" actId="164"/>
          <ac:picMkLst>
            <pc:docMk/>
            <pc:sldMk cId="1094884155" sldId="265"/>
            <ac:picMk id="11" creationId="{71472940-E21C-6969-2712-23406967C190}"/>
          </ac:picMkLst>
        </pc:picChg>
        <pc:picChg chg="mod">
          <ac:chgData name="Harris, Wyatt J Lt Col USAF USAFA DF/DFAS" userId="768bfb95-c272-4014-8fa2-010c15306053" providerId="ADAL" clId="{E18DAD13-4A53-44B8-9F3F-46E167733190}" dt="2026-01-06T21:50:33.598" v="442" actId="1076"/>
          <ac:picMkLst>
            <pc:docMk/>
            <pc:sldMk cId="1094884155" sldId="265"/>
            <ac:picMk id="13" creationId="{23033FA5-FC37-DFD5-87FC-9DF9CF0D96AD}"/>
          </ac:picMkLst>
        </pc:picChg>
        <pc:picChg chg="add mod">
          <ac:chgData name="Harris, Wyatt J Lt Col USAF USAFA DF/DFAS" userId="768bfb95-c272-4014-8fa2-010c15306053" providerId="ADAL" clId="{E18DAD13-4A53-44B8-9F3F-46E167733190}" dt="2026-01-06T21:51:38.236" v="448" actId="1076"/>
          <ac:picMkLst>
            <pc:docMk/>
            <pc:sldMk cId="1094884155" sldId="265"/>
            <ac:picMk id="16" creationId="{E7A9C947-5CCA-E6F8-DECF-366DEC65BA11}"/>
          </ac:picMkLst>
        </pc:picChg>
        <pc:picChg chg="add del mod">
          <ac:chgData name="Harris, Wyatt J Lt Col USAF USAFA DF/DFAS" userId="768bfb95-c272-4014-8fa2-010c15306053" providerId="ADAL" clId="{E18DAD13-4A53-44B8-9F3F-46E167733190}" dt="2026-01-06T21:49:20.717" v="423" actId="478"/>
          <ac:picMkLst>
            <pc:docMk/>
            <pc:sldMk cId="1094884155" sldId="265"/>
            <ac:picMk id="18" creationId="{488345A5-4DDB-68C4-FCAC-6E64CE97B972}"/>
          </ac:picMkLst>
        </pc:picChg>
        <pc:picChg chg="add mod">
          <ac:chgData name="Harris, Wyatt J Lt Col USAF USAFA DF/DFAS" userId="768bfb95-c272-4014-8fa2-010c15306053" providerId="ADAL" clId="{E18DAD13-4A53-44B8-9F3F-46E167733190}" dt="2026-01-06T21:50:30.631" v="439" actId="571"/>
          <ac:picMkLst>
            <pc:docMk/>
            <pc:sldMk cId="1094884155" sldId="265"/>
            <ac:picMk id="20" creationId="{B37E0AFF-5961-1DC2-04E4-69474802FF7E}"/>
          </ac:picMkLst>
        </pc:picChg>
        <pc:cxnChg chg="add mod">
          <ac:chgData name="Harris, Wyatt J Lt Col USAF USAFA DF/DFAS" userId="768bfb95-c272-4014-8fa2-010c15306053" providerId="ADAL" clId="{E18DAD13-4A53-44B8-9F3F-46E167733190}" dt="2026-01-06T21:52:00.218" v="451" actId="1582"/>
          <ac:cxnSpMkLst>
            <pc:docMk/>
            <pc:sldMk cId="1094884155" sldId="265"/>
            <ac:cxnSpMk id="12" creationId="{9B686E2C-F4ED-42D6-1BE5-BE98E2385BE8}"/>
          </ac:cxnSpMkLst>
        </pc:cxnChg>
      </pc:sldChg>
      <pc:sldChg chg="modSp mod">
        <pc:chgData name="Harris, Wyatt J Lt Col USAF USAFA DF/DFAS" userId="768bfb95-c272-4014-8fa2-010c15306053" providerId="ADAL" clId="{E18DAD13-4A53-44B8-9F3F-46E167733190}" dt="2026-01-06T21:54:43.009" v="665" actId="27636"/>
        <pc:sldMkLst>
          <pc:docMk/>
          <pc:sldMk cId="3701618559" sldId="266"/>
        </pc:sldMkLst>
        <pc:spChg chg="mod">
          <ac:chgData name="Harris, Wyatt J Lt Col USAF USAFA DF/DFAS" userId="768bfb95-c272-4014-8fa2-010c15306053" providerId="ADAL" clId="{E18DAD13-4A53-44B8-9F3F-46E167733190}" dt="2026-01-06T21:54:43.009" v="665" actId="27636"/>
          <ac:spMkLst>
            <pc:docMk/>
            <pc:sldMk cId="3701618559" sldId="266"/>
            <ac:spMk id="3" creationId="{C9402BEE-7DAA-FD49-6042-5B004D12C5A8}"/>
          </ac:spMkLst>
        </pc:spChg>
      </pc:sldChg>
      <pc:sldChg chg="addSp delSp modSp mod">
        <pc:chgData name="Harris, Wyatt J Lt Col USAF USAFA DF/DFAS" userId="768bfb95-c272-4014-8fa2-010c15306053" providerId="ADAL" clId="{E18DAD13-4A53-44B8-9F3F-46E167733190}" dt="2026-01-07T15:13:29.523" v="848" actId="164"/>
        <pc:sldMkLst>
          <pc:docMk/>
          <pc:sldMk cId="4019064821" sldId="267"/>
        </pc:sldMkLst>
        <pc:spChg chg="mod">
          <ac:chgData name="Harris, Wyatt J Lt Col USAF USAFA DF/DFAS" userId="768bfb95-c272-4014-8fa2-010c15306053" providerId="ADAL" clId="{E18DAD13-4A53-44B8-9F3F-46E167733190}" dt="2026-01-07T15:13:20.524" v="846" actId="1076"/>
          <ac:spMkLst>
            <pc:docMk/>
            <pc:sldMk cId="4019064821" sldId="267"/>
            <ac:spMk id="3" creationId="{F7C8E20F-FEDF-8560-76AD-A77357F4B3A5}"/>
          </ac:spMkLst>
        </pc:spChg>
        <pc:spChg chg="add mod">
          <ac:chgData name="Harris, Wyatt J Lt Col USAF USAFA DF/DFAS" userId="768bfb95-c272-4014-8fa2-010c15306053" providerId="ADAL" clId="{E18DAD13-4A53-44B8-9F3F-46E167733190}" dt="2026-01-07T15:13:29.523" v="848" actId="164"/>
          <ac:spMkLst>
            <pc:docMk/>
            <pc:sldMk cId="4019064821" sldId="267"/>
            <ac:spMk id="7" creationId="{B53D52B0-26A4-4147-0EB4-FC3EC52EF3C3}"/>
          </ac:spMkLst>
        </pc:spChg>
        <pc:spChg chg="mod">
          <ac:chgData name="Harris, Wyatt J Lt Col USAF USAFA DF/DFAS" userId="768bfb95-c272-4014-8fa2-010c15306053" providerId="ADAL" clId="{E18DAD13-4A53-44B8-9F3F-46E167733190}" dt="2026-01-06T21:58:00.393" v="726" actId="571"/>
          <ac:spMkLst>
            <pc:docMk/>
            <pc:sldMk cId="4019064821" sldId="267"/>
            <ac:spMk id="10" creationId="{84D0AA4B-F6B3-1CC2-35C1-9BE96CEA5CEA}"/>
          </ac:spMkLst>
        </pc:spChg>
        <pc:spChg chg="mod">
          <ac:chgData name="Harris, Wyatt J Lt Col USAF USAFA DF/DFAS" userId="768bfb95-c272-4014-8fa2-010c15306053" providerId="ADAL" clId="{E18DAD13-4A53-44B8-9F3F-46E167733190}" dt="2026-01-06T21:58:00.393" v="726" actId="571"/>
          <ac:spMkLst>
            <pc:docMk/>
            <pc:sldMk cId="4019064821" sldId="267"/>
            <ac:spMk id="11" creationId="{523647A8-9CB7-EE4F-3721-77A101492B99}"/>
          </ac:spMkLst>
        </pc:spChg>
        <pc:spChg chg="mod">
          <ac:chgData name="Harris, Wyatt J Lt Col USAF USAFA DF/DFAS" userId="768bfb95-c272-4014-8fa2-010c15306053" providerId="ADAL" clId="{E18DAD13-4A53-44B8-9F3F-46E167733190}" dt="2026-01-06T21:58:00.393" v="726" actId="571"/>
          <ac:spMkLst>
            <pc:docMk/>
            <pc:sldMk cId="4019064821" sldId="267"/>
            <ac:spMk id="12" creationId="{2F48744B-CCF4-03B8-7282-28F25F9F932F}"/>
          </ac:spMkLst>
        </pc:spChg>
        <pc:spChg chg="mod topLvl">
          <ac:chgData name="Harris, Wyatt J Lt Col USAF USAFA DF/DFAS" userId="768bfb95-c272-4014-8fa2-010c15306053" providerId="ADAL" clId="{E18DAD13-4A53-44B8-9F3F-46E167733190}" dt="2026-01-06T21:18:23.819" v="190" actId="164"/>
          <ac:spMkLst>
            <pc:docMk/>
            <pc:sldMk cId="4019064821" sldId="267"/>
            <ac:spMk id="13" creationId="{4E0FBCBF-7462-7547-76D5-AFD416F26D7C}"/>
          </ac:spMkLst>
        </pc:spChg>
        <pc:spChg chg="mod topLvl">
          <ac:chgData name="Harris, Wyatt J Lt Col USAF USAFA DF/DFAS" userId="768bfb95-c272-4014-8fa2-010c15306053" providerId="ADAL" clId="{E18DAD13-4A53-44B8-9F3F-46E167733190}" dt="2026-01-06T21:18:23.819" v="190" actId="164"/>
          <ac:spMkLst>
            <pc:docMk/>
            <pc:sldMk cId="4019064821" sldId="267"/>
            <ac:spMk id="14" creationId="{561E0615-3EDA-6707-269B-894630AC0076}"/>
          </ac:spMkLst>
        </pc:spChg>
        <pc:spChg chg="mod topLvl">
          <ac:chgData name="Harris, Wyatt J Lt Col USAF USAFA DF/DFAS" userId="768bfb95-c272-4014-8fa2-010c15306053" providerId="ADAL" clId="{E18DAD13-4A53-44B8-9F3F-46E167733190}" dt="2026-01-06T21:18:23.819" v="190" actId="164"/>
          <ac:spMkLst>
            <pc:docMk/>
            <pc:sldMk cId="4019064821" sldId="267"/>
            <ac:spMk id="15" creationId="{F75858DE-BE64-E7FB-F70B-7E9B5F3C5D73}"/>
          </ac:spMkLst>
        </pc:spChg>
        <pc:spChg chg="mod">
          <ac:chgData name="Harris, Wyatt J Lt Col USAF USAFA DF/DFAS" userId="768bfb95-c272-4014-8fa2-010c15306053" providerId="ADAL" clId="{E18DAD13-4A53-44B8-9F3F-46E167733190}" dt="2026-01-06T21:58:00.393" v="726" actId="571"/>
          <ac:spMkLst>
            <pc:docMk/>
            <pc:sldMk cId="4019064821" sldId="267"/>
            <ac:spMk id="16" creationId="{89BCFD1E-EBB7-FF5C-256B-3902911BAA6D}"/>
          </ac:spMkLst>
        </pc:spChg>
        <pc:spChg chg="mod topLvl">
          <ac:chgData name="Harris, Wyatt J Lt Col USAF USAFA DF/DFAS" userId="768bfb95-c272-4014-8fa2-010c15306053" providerId="ADAL" clId="{E18DAD13-4A53-44B8-9F3F-46E167733190}" dt="2026-01-06T21:18:23.819" v="190" actId="164"/>
          <ac:spMkLst>
            <pc:docMk/>
            <pc:sldMk cId="4019064821" sldId="267"/>
            <ac:spMk id="17" creationId="{6B97D243-C71A-C641-46FF-F7784189656A}"/>
          </ac:spMkLst>
        </pc:spChg>
        <pc:spChg chg="add mod">
          <ac:chgData name="Harris, Wyatt J Lt Col USAF USAFA DF/DFAS" userId="768bfb95-c272-4014-8fa2-010c15306053" providerId="ADAL" clId="{E18DAD13-4A53-44B8-9F3F-46E167733190}" dt="2026-01-06T21:18:15.001" v="187" actId="571"/>
          <ac:spMkLst>
            <pc:docMk/>
            <pc:sldMk cId="4019064821" sldId="267"/>
            <ac:spMk id="23" creationId="{FC8654F4-302D-6B5E-C946-CE29F9E82C97}"/>
          </ac:spMkLst>
        </pc:spChg>
        <pc:spChg chg="mod">
          <ac:chgData name="Harris, Wyatt J Lt Col USAF USAFA DF/DFAS" userId="768bfb95-c272-4014-8fa2-010c15306053" providerId="ADAL" clId="{E18DAD13-4A53-44B8-9F3F-46E167733190}" dt="2026-01-06T21:18:16.760" v="189" actId="1076"/>
          <ac:spMkLst>
            <pc:docMk/>
            <pc:sldMk cId="4019064821" sldId="267"/>
            <ac:spMk id="26" creationId="{7984EB90-B4CB-D8AA-1AE4-DB30A88D713B}"/>
          </ac:spMkLst>
        </pc:spChg>
        <pc:spChg chg="del">
          <ac:chgData name="Harris, Wyatt J Lt Col USAF USAFA DF/DFAS" userId="768bfb95-c272-4014-8fa2-010c15306053" providerId="ADAL" clId="{E18DAD13-4A53-44B8-9F3F-46E167733190}" dt="2026-01-06T21:10:30.492" v="35" actId="478"/>
          <ac:spMkLst>
            <pc:docMk/>
            <pc:sldMk cId="4019064821" sldId="267"/>
            <ac:spMk id="27" creationId="{598EAA80-8BE1-FDF0-9BC8-CF63AED6F231}"/>
          </ac:spMkLst>
        </pc:spChg>
        <pc:spChg chg="add mod">
          <ac:chgData name="Harris, Wyatt J Lt Col USAF USAFA DF/DFAS" userId="768bfb95-c272-4014-8fa2-010c15306053" providerId="ADAL" clId="{E18DAD13-4A53-44B8-9F3F-46E167733190}" dt="2026-01-06T21:19:46.186" v="267" actId="208"/>
          <ac:spMkLst>
            <pc:docMk/>
            <pc:sldMk cId="4019064821" sldId="267"/>
            <ac:spMk id="30" creationId="{1A8441B0-E538-DF1F-56C6-0841E53FFBFA}"/>
          </ac:spMkLst>
        </pc:spChg>
        <pc:grpChg chg="add mod">
          <ac:chgData name="Harris, Wyatt J Lt Col USAF USAFA DF/DFAS" userId="768bfb95-c272-4014-8fa2-010c15306053" providerId="ADAL" clId="{E18DAD13-4A53-44B8-9F3F-46E167733190}" dt="2026-01-06T21:58:00.393" v="726" actId="571"/>
          <ac:grpSpMkLst>
            <pc:docMk/>
            <pc:sldMk cId="4019064821" sldId="267"/>
            <ac:grpSpMk id="8" creationId="{48711D11-DF25-0B87-6BF7-8AD4677C2ECF}"/>
          </ac:grpSpMkLst>
        </pc:grpChg>
        <pc:grpChg chg="add mod">
          <ac:chgData name="Harris, Wyatt J Lt Col USAF USAFA DF/DFAS" userId="768bfb95-c272-4014-8fa2-010c15306053" providerId="ADAL" clId="{E18DAD13-4A53-44B8-9F3F-46E167733190}" dt="2026-01-07T15:13:29.523" v="848" actId="164"/>
          <ac:grpSpMkLst>
            <pc:docMk/>
            <pc:sldMk cId="4019064821" sldId="267"/>
            <ac:grpSpMk id="8" creationId="{D7CF3EFF-AEAF-30B4-A6C0-76F41A5EB316}"/>
          </ac:grpSpMkLst>
        </pc:grpChg>
        <pc:grpChg chg="add del ord">
          <ac:chgData name="Harris, Wyatt J Lt Col USAF USAFA DF/DFAS" userId="768bfb95-c272-4014-8fa2-010c15306053" providerId="ADAL" clId="{E18DAD13-4A53-44B8-9F3F-46E167733190}" dt="2026-01-06T21:17:18.493" v="98" actId="165"/>
          <ac:grpSpMkLst>
            <pc:docMk/>
            <pc:sldMk cId="4019064821" sldId="267"/>
            <ac:grpSpMk id="24" creationId="{5E9B3C61-3746-8DDF-540C-46F70949D1A9}"/>
          </ac:grpSpMkLst>
        </pc:grpChg>
        <pc:grpChg chg="add mod">
          <ac:chgData name="Harris, Wyatt J Lt Col USAF USAFA DF/DFAS" userId="768bfb95-c272-4014-8fa2-010c15306053" providerId="ADAL" clId="{E18DAD13-4A53-44B8-9F3F-46E167733190}" dt="2026-01-06T21:18:57.807" v="199" actId="1076"/>
          <ac:grpSpMkLst>
            <pc:docMk/>
            <pc:sldMk cId="4019064821" sldId="267"/>
            <ac:grpSpMk id="25" creationId="{CAC4CCD4-42D6-AB7E-44A8-4A793F0F0E9C}"/>
          </ac:grpSpMkLst>
        </pc:grpChg>
        <pc:picChg chg="mod">
          <ac:chgData name="Harris, Wyatt J Lt Col USAF USAFA DF/DFAS" userId="768bfb95-c272-4014-8fa2-010c15306053" providerId="ADAL" clId="{E18DAD13-4A53-44B8-9F3F-46E167733190}" dt="2026-01-06T21:58:00.393" v="726" actId="571"/>
          <ac:picMkLst>
            <pc:docMk/>
            <pc:sldMk cId="4019064821" sldId="267"/>
            <ac:picMk id="9" creationId="{B54FF67A-6124-2E55-07D1-D79DDFF80638}"/>
          </ac:picMkLst>
        </pc:picChg>
        <pc:picChg chg="add del mod">
          <ac:chgData name="Harris, Wyatt J Lt Col USAF USAFA DF/DFAS" userId="768bfb95-c272-4014-8fa2-010c15306053" providerId="ADAL" clId="{E18DAD13-4A53-44B8-9F3F-46E167733190}" dt="2026-01-06T21:13:53.731" v="94" actId="21"/>
          <ac:picMkLst>
            <pc:docMk/>
            <pc:sldMk cId="4019064821" sldId="267"/>
            <ac:picMk id="11" creationId="{93B7A716-2BCE-9FE1-25DB-C29244C42588}"/>
          </ac:picMkLst>
        </pc:picChg>
        <pc:picChg chg="del">
          <ac:chgData name="Harris, Wyatt J Lt Col USAF USAFA DF/DFAS" userId="768bfb95-c272-4014-8fa2-010c15306053" providerId="ADAL" clId="{E18DAD13-4A53-44B8-9F3F-46E167733190}" dt="2026-01-06T21:13:26.830" v="89" actId="478"/>
          <ac:picMkLst>
            <pc:docMk/>
            <pc:sldMk cId="4019064821" sldId="267"/>
            <ac:picMk id="12" creationId="{B5584DD9-27AD-02C6-E0CE-9852D89294A6}"/>
          </ac:picMkLst>
        </pc:picChg>
        <pc:picChg chg="add del mod">
          <ac:chgData name="Harris, Wyatt J Lt Col USAF USAFA DF/DFAS" userId="768bfb95-c272-4014-8fa2-010c15306053" providerId="ADAL" clId="{E18DAD13-4A53-44B8-9F3F-46E167733190}" dt="2026-01-06T21:17:06.296" v="96" actId="478"/>
          <ac:picMkLst>
            <pc:docMk/>
            <pc:sldMk cId="4019064821" sldId="267"/>
            <ac:picMk id="16" creationId="{93B7A716-2BCE-9FE1-25DB-C29244C42588}"/>
          </ac:picMkLst>
        </pc:picChg>
        <pc:picChg chg="add mod ord">
          <ac:chgData name="Harris, Wyatt J Lt Col USAF USAFA DF/DFAS" userId="768bfb95-c272-4014-8fa2-010c15306053" providerId="ADAL" clId="{E18DAD13-4A53-44B8-9F3F-46E167733190}" dt="2026-01-06T21:18:23.819" v="190" actId="164"/>
          <ac:picMkLst>
            <pc:docMk/>
            <pc:sldMk cId="4019064821" sldId="267"/>
            <ac:picMk id="18" creationId="{F2D080FE-1EDA-EEA6-30C4-5DF7949A2AE9}"/>
          </ac:picMkLst>
        </pc:picChg>
        <pc:picChg chg="add mod">
          <ac:chgData name="Harris, Wyatt J Lt Col USAF USAFA DF/DFAS" userId="768bfb95-c272-4014-8fa2-010c15306053" providerId="ADAL" clId="{E18DAD13-4A53-44B8-9F3F-46E167733190}" dt="2026-01-06T21:18:56.155" v="198" actId="1076"/>
          <ac:picMkLst>
            <pc:docMk/>
            <pc:sldMk cId="4019064821" sldId="267"/>
            <ac:picMk id="29" creationId="{682FC6FB-FFD2-5D26-D5BE-B73DF5C822EF}"/>
          </ac:picMkLst>
        </pc:picChg>
        <pc:picChg chg="add mod">
          <ac:chgData name="Harris, Wyatt J Lt Col USAF USAFA DF/DFAS" userId="768bfb95-c272-4014-8fa2-010c15306053" providerId="ADAL" clId="{E18DAD13-4A53-44B8-9F3F-46E167733190}" dt="2026-01-07T15:13:29.523" v="848" actId="164"/>
          <ac:picMkLst>
            <pc:docMk/>
            <pc:sldMk cId="4019064821" sldId="267"/>
            <ac:picMk id="32" creationId="{E48223DE-C543-6F58-4A1E-F1E3B0DE9641}"/>
          </ac:picMkLst>
        </pc:picChg>
        <pc:cxnChg chg="del">
          <ac:chgData name="Harris, Wyatt J Lt Col USAF USAFA DF/DFAS" userId="768bfb95-c272-4014-8fa2-010c15306053" providerId="ADAL" clId="{E18DAD13-4A53-44B8-9F3F-46E167733190}" dt="2026-01-06T21:13:19.057" v="86" actId="478"/>
          <ac:cxnSpMkLst>
            <pc:docMk/>
            <pc:sldMk cId="4019064821" sldId="267"/>
            <ac:cxnSpMk id="19" creationId="{0258341F-7032-DD26-EEB6-19EDA0982722}"/>
          </ac:cxnSpMkLst>
        </pc:cxnChg>
        <pc:cxnChg chg="del">
          <ac:chgData name="Harris, Wyatt J Lt Col USAF USAFA DF/DFAS" userId="768bfb95-c272-4014-8fa2-010c15306053" providerId="ADAL" clId="{E18DAD13-4A53-44B8-9F3F-46E167733190}" dt="2026-01-06T21:13:15.952" v="83" actId="478"/>
          <ac:cxnSpMkLst>
            <pc:docMk/>
            <pc:sldMk cId="4019064821" sldId="267"/>
            <ac:cxnSpMk id="20" creationId="{6C665E69-B0F7-8F92-B81B-89DC3B945105}"/>
          </ac:cxnSpMkLst>
        </pc:cxnChg>
        <pc:cxnChg chg="del mod">
          <ac:chgData name="Harris, Wyatt J Lt Col USAF USAFA DF/DFAS" userId="768bfb95-c272-4014-8fa2-010c15306053" providerId="ADAL" clId="{E18DAD13-4A53-44B8-9F3F-46E167733190}" dt="2026-01-06T21:13:11.634" v="80" actId="478"/>
          <ac:cxnSpMkLst>
            <pc:docMk/>
            <pc:sldMk cId="4019064821" sldId="267"/>
            <ac:cxnSpMk id="21" creationId="{FDE79A1F-ADAF-1DF6-F026-39BD4B37CDB8}"/>
          </ac:cxnSpMkLst>
        </pc:cxnChg>
        <pc:cxnChg chg="del mod">
          <ac:chgData name="Harris, Wyatt J Lt Col USAF USAFA DF/DFAS" userId="768bfb95-c272-4014-8fa2-010c15306053" providerId="ADAL" clId="{E18DAD13-4A53-44B8-9F3F-46E167733190}" dt="2026-01-06T21:13:09.616" v="79" actId="478"/>
          <ac:cxnSpMkLst>
            <pc:docMk/>
            <pc:sldMk cId="4019064821" sldId="267"/>
            <ac:cxnSpMk id="22" creationId="{22339FC9-B2EF-CCC9-158F-36952F24ED41}"/>
          </ac:cxnSpMkLst>
        </pc:cxnChg>
      </pc:sldChg>
      <pc:sldChg chg="modSp mod">
        <pc:chgData name="Harris, Wyatt J Lt Col USAF USAFA DF/DFAS" userId="768bfb95-c272-4014-8fa2-010c15306053" providerId="ADAL" clId="{E18DAD13-4A53-44B8-9F3F-46E167733190}" dt="2026-01-06T21:01:53.209" v="3" actId="20577"/>
        <pc:sldMkLst>
          <pc:docMk/>
          <pc:sldMk cId="1423098466" sldId="268"/>
        </pc:sldMkLst>
        <pc:spChg chg="mod">
          <ac:chgData name="Harris, Wyatt J Lt Col USAF USAFA DF/DFAS" userId="768bfb95-c272-4014-8fa2-010c15306053" providerId="ADAL" clId="{E18DAD13-4A53-44B8-9F3F-46E167733190}" dt="2026-01-06T21:01:53.209" v="3" actId="20577"/>
          <ac:spMkLst>
            <pc:docMk/>
            <pc:sldMk cId="1423098466" sldId="268"/>
            <ac:spMk id="3" creationId="{AA90AEBE-CA8F-DE2B-994A-9838962DD198}"/>
          </ac:spMkLst>
        </pc:spChg>
      </pc:sldChg>
      <pc:sldChg chg="modSp mod">
        <pc:chgData name="Harris, Wyatt J Lt Col USAF USAFA DF/DFAS" userId="768bfb95-c272-4014-8fa2-010c15306053" providerId="ADAL" clId="{E18DAD13-4A53-44B8-9F3F-46E167733190}" dt="2026-01-06T21:02:14.255" v="6" actId="5793"/>
        <pc:sldMkLst>
          <pc:docMk/>
          <pc:sldMk cId="3198728827" sldId="269"/>
        </pc:sldMkLst>
        <pc:spChg chg="mod">
          <ac:chgData name="Harris, Wyatt J Lt Col USAF USAFA DF/DFAS" userId="768bfb95-c272-4014-8fa2-010c15306053" providerId="ADAL" clId="{E18DAD13-4A53-44B8-9F3F-46E167733190}" dt="2026-01-06T21:02:14.255" v="6" actId="5793"/>
          <ac:spMkLst>
            <pc:docMk/>
            <pc:sldMk cId="3198728827" sldId="269"/>
            <ac:spMk id="3" creationId="{923EB7F6-A347-AEFB-8A53-D1D6F3C175DF}"/>
          </ac:spMkLst>
        </pc:spChg>
      </pc:sldChg>
      <pc:sldChg chg="modSp mod">
        <pc:chgData name="Harris, Wyatt J Lt Col USAF USAFA DF/DFAS" userId="768bfb95-c272-4014-8fa2-010c15306053" providerId="ADAL" clId="{E18DAD13-4A53-44B8-9F3F-46E167733190}" dt="2026-01-07T15:00:46.397" v="837" actId="20577"/>
        <pc:sldMkLst>
          <pc:docMk/>
          <pc:sldMk cId="3835083646" sldId="271"/>
        </pc:sldMkLst>
        <pc:spChg chg="mod">
          <ac:chgData name="Harris, Wyatt J Lt Col USAF USAFA DF/DFAS" userId="768bfb95-c272-4014-8fa2-010c15306053" providerId="ADAL" clId="{E18DAD13-4A53-44B8-9F3F-46E167733190}" dt="2026-01-07T15:00:46.397" v="837" actId="20577"/>
          <ac:spMkLst>
            <pc:docMk/>
            <pc:sldMk cId="3835083646" sldId="271"/>
            <ac:spMk id="3" creationId="{68CB5C3F-2B5C-141F-AF28-956869DDCA66}"/>
          </ac:spMkLst>
        </pc:spChg>
      </pc:sldChg>
      <pc:sldChg chg="addSp delSp modSp mod">
        <pc:chgData name="Harris, Wyatt J Lt Col USAF USAFA DF/DFAS" userId="768bfb95-c272-4014-8fa2-010c15306053" providerId="ADAL" clId="{E18DAD13-4A53-44B8-9F3F-46E167733190}" dt="2026-01-06T21:41:38.677" v="405" actId="208"/>
        <pc:sldMkLst>
          <pc:docMk/>
          <pc:sldMk cId="4248991531" sldId="272"/>
        </pc:sldMkLst>
        <pc:spChg chg="mod">
          <ac:chgData name="Harris, Wyatt J Lt Col USAF USAFA DF/DFAS" userId="768bfb95-c272-4014-8fa2-010c15306053" providerId="ADAL" clId="{E18DAD13-4A53-44B8-9F3F-46E167733190}" dt="2026-01-06T21:41:23.584" v="402" actId="207"/>
          <ac:spMkLst>
            <pc:docMk/>
            <pc:sldMk cId="4248991531" sldId="272"/>
            <ac:spMk id="3" creationId="{0A96260C-636C-A1D8-227A-7418DE74D4F7}"/>
          </ac:spMkLst>
        </pc:spChg>
        <pc:spChg chg="add mod">
          <ac:chgData name="Harris, Wyatt J Lt Col USAF USAFA DF/DFAS" userId="768bfb95-c272-4014-8fa2-010c15306053" providerId="ADAL" clId="{E18DAD13-4A53-44B8-9F3F-46E167733190}" dt="2026-01-06T21:41:38.677" v="405" actId="208"/>
          <ac:spMkLst>
            <pc:docMk/>
            <pc:sldMk cId="4248991531" sldId="272"/>
            <ac:spMk id="14" creationId="{1F56CC3F-7417-0B7E-CDC0-2267BDCF67A3}"/>
          </ac:spMkLst>
        </pc:spChg>
        <pc:spChg chg="mod topLvl">
          <ac:chgData name="Harris, Wyatt J Lt Col USAF USAFA DF/DFAS" userId="768bfb95-c272-4014-8fa2-010c15306053" providerId="ADAL" clId="{E18DAD13-4A53-44B8-9F3F-46E167733190}" dt="2026-01-06T21:39:51.797" v="299" actId="14100"/>
          <ac:spMkLst>
            <pc:docMk/>
            <pc:sldMk cId="4248991531" sldId="272"/>
            <ac:spMk id="35" creationId="{E5C2D5BD-9A07-6C4B-64FF-A0770C42E22B}"/>
          </ac:spMkLst>
        </pc:spChg>
        <pc:spChg chg="mod topLvl">
          <ac:chgData name="Harris, Wyatt J Lt Col USAF USAFA DF/DFAS" userId="768bfb95-c272-4014-8fa2-010c15306053" providerId="ADAL" clId="{E18DAD13-4A53-44B8-9F3F-46E167733190}" dt="2026-01-06T21:40:06.291" v="304" actId="1076"/>
          <ac:spMkLst>
            <pc:docMk/>
            <pc:sldMk cId="4248991531" sldId="272"/>
            <ac:spMk id="38" creationId="{DF9CCCA4-8A9F-B94D-7097-AF78B62D36CB}"/>
          </ac:spMkLst>
        </pc:spChg>
        <pc:spChg chg="mod topLvl">
          <ac:chgData name="Harris, Wyatt J Lt Col USAF USAFA DF/DFAS" userId="768bfb95-c272-4014-8fa2-010c15306053" providerId="ADAL" clId="{E18DAD13-4A53-44B8-9F3F-46E167733190}" dt="2026-01-06T21:40:37.665" v="332" actId="1076"/>
          <ac:spMkLst>
            <pc:docMk/>
            <pc:sldMk cId="4248991531" sldId="272"/>
            <ac:spMk id="41" creationId="{69C7D6BA-AEAA-CFF9-D55F-97B452D28464}"/>
          </ac:spMkLst>
        </pc:spChg>
        <pc:spChg chg="mod topLvl">
          <ac:chgData name="Harris, Wyatt J Lt Col USAF USAFA DF/DFAS" userId="768bfb95-c272-4014-8fa2-010c15306053" providerId="ADAL" clId="{E18DAD13-4A53-44B8-9F3F-46E167733190}" dt="2026-01-06T21:40:47.196" v="344" actId="1036"/>
          <ac:spMkLst>
            <pc:docMk/>
            <pc:sldMk cId="4248991531" sldId="272"/>
            <ac:spMk id="46" creationId="{B671016F-BCA8-CC10-E766-BBF5C4ADBE7C}"/>
          </ac:spMkLst>
        </pc:spChg>
        <pc:spChg chg="mod topLvl">
          <ac:chgData name="Harris, Wyatt J Lt Col USAF USAFA DF/DFAS" userId="768bfb95-c272-4014-8fa2-010c15306053" providerId="ADAL" clId="{E18DAD13-4A53-44B8-9F3F-46E167733190}" dt="2026-01-06T21:40:50.888" v="345" actId="1076"/>
          <ac:spMkLst>
            <pc:docMk/>
            <pc:sldMk cId="4248991531" sldId="272"/>
            <ac:spMk id="50" creationId="{B31839CE-B03B-52C0-2EE1-A325219F7869}"/>
          </ac:spMkLst>
        </pc:spChg>
        <pc:grpChg chg="del">
          <ac:chgData name="Harris, Wyatt J Lt Col USAF USAFA DF/DFAS" userId="768bfb95-c272-4014-8fa2-010c15306053" providerId="ADAL" clId="{E18DAD13-4A53-44B8-9F3F-46E167733190}" dt="2026-01-06T21:39:32.834" v="289" actId="165"/>
          <ac:grpSpMkLst>
            <pc:docMk/>
            <pc:sldMk cId="4248991531" sldId="272"/>
            <ac:grpSpMk id="60" creationId="{44F92189-67D7-A1A6-89AA-96E038188C5E}"/>
          </ac:grpSpMkLst>
        </pc:grpChg>
        <pc:picChg chg="add mod ord">
          <ac:chgData name="Harris, Wyatt J Lt Col USAF USAFA DF/DFAS" userId="768bfb95-c272-4014-8fa2-010c15306053" providerId="ADAL" clId="{E18DAD13-4A53-44B8-9F3F-46E167733190}" dt="2026-01-06T21:40:02.569" v="303" actId="1076"/>
          <ac:picMkLst>
            <pc:docMk/>
            <pc:sldMk cId="4248991531" sldId="272"/>
            <ac:picMk id="11" creationId="{9CEAB7F1-C0E9-EF98-1207-58211A03DEBC}"/>
          </ac:picMkLst>
        </pc:picChg>
        <pc:picChg chg="add mod">
          <ac:chgData name="Harris, Wyatt J Lt Col USAF USAFA DF/DFAS" userId="768bfb95-c272-4014-8fa2-010c15306053" providerId="ADAL" clId="{E18DAD13-4A53-44B8-9F3F-46E167733190}" dt="2026-01-06T21:40:01.520" v="302" actId="571"/>
          <ac:picMkLst>
            <pc:docMk/>
            <pc:sldMk cId="4248991531" sldId="272"/>
            <ac:picMk id="12" creationId="{B5FF398A-90ED-90D3-0A37-58288F7C7A8E}"/>
          </ac:picMkLst>
        </pc:picChg>
        <pc:picChg chg="add mod">
          <ac:chgData name="Harris, Wyatt J Lt Col USAF USAFA DF/DFAS" userId="768bfb95-c272-4014-8fa2-010c15306053" providerId="ADAL" clId="{E18DAD13-4A53-44B8-9F3F-46E167733190}" dt="2026-01-06T21:40:34.829" v="331" actId="571"/>
          <ac:picMkLst>
            <pc:docMk/>
            <pc:sldMk cId="4248991531" sldId="272"/>
            <ac:picMk id="13" creationId="{BA3B2D68-A64D-349E-3D84-5E464936E502}"/>
          </ac:picMkLst>
        </pc:picChg>
        <pc:picChg chg="del">
          <ac:chgData name="Harris, Wyatt J Lt Col USAF USAFA DF/DFAS" userId="768bfb95-c272-4014-8fa2-010c15306053" providerId="ADAL" clId="{E18DAD13-4A53-44B8-9F3F-46E167733190}" dt="2026-01-06T21:39:23.235" v="287" actId="478"/>
          <ac:picMkLst>
            <pc:docMk/>
            <pc:sldMk cId="4248991531" sldId="272"/>
            <ac:picMk id="45" creationId="{877E625A-FD6A-C81A-2A1E-DB35C492B318}"/>
          </ac:picMkLst>
        </pc:picChg>
        <pc:cxnChg chg="del mod topLvl">
          <ac:chgData name="Harris, Wyatt J Lt Col USAF USAFA DF/DFAS" userId="768bfb95-c272-4014-8fa2-010c15306053" providerId="ADAL" clId="{E18DAD13-4A53-44B8-9F3F-46E167733190}" dt="2026-01-06T21:39:36.722" v="292" actId="478"/>
          <ac:cxnSpMkLst>
            <pc:docMk/>
            <pc:sldMk cId="4248991531" sldId="272"/>
            <ac:cxnSpMk id="36" creationId="{0A9B800C-C7EE-C875-50B2-FCFDE92352A7}"/>
          </ac:cxnSpMkLst>
        </pc:cxnChg>
        <pc:cxnChg chg="del mod topLvl">
          <ac:chgData name="Harris, Wyatt J Lt Col USAF USAFA DF/DFAS" userId="768bfb95-c272-4014-8fa2-010c15306053" providerId="ADAL" clId="{E18DAD13-4A53-44B8-9F3F-46E167733190}" dt="2026-01-06T21:39:34.786" v="290" actId="478"/>
          <ac:cxnSpMkLst>
            <pc:docMk/>
            <pc:sldMk cId="4248991531" sldId="272"/>
            <ac:cxnSpMk id="39" creationId="{8FF5D717-0B24-F510-2611-A2BDA74DAE0A}"/>
          </ac:cxnSpMkLst>
        </pc:cxnChg>
        <pc:cxnChg chg="del mod topLvl">
          <ac:chgData name="Harris, Wyatt J Lt Col USAF USAFA DF/DFAS" userId="768bfb95-c272-4014-8fa2-010c15306053" providerId="ADAL" clId="{E18DAD13-4A53-44B8-9F3F-46E167733190}" dt="2026-01-06T21:39:35.586" v="291" actId="478"/>
          <ac:cxnSpMkLst>
            <pc:docMk/>
            <pc:sldMk cId="4248991531" sldId="272"/>
            <ac:cxnSpMk id="42" creationId="{32194F1B-08D7-F53B-C1B4-ADBC3B7DB53B}"/>
          </ac:cxnSpMkLst>
        </pc:cxnChg>
        <pc:cxnChg chg="del">
          <ac:chgData name="Harris, Wyatt J Lt Col USAF USAFA DF/DFAS" userId="768bfb95-c272-4014-8fa2-010c15306053" providerId="ADAL" clId="{E18DAD13-4A53-44B8-9F3F-46E167733190}" dt="2026-01-06T21:39:38.242" v="293" actId="478"/>
          <ac:cxnSpMkLst>
            <pc:docMk/>
            <pc:sldMk cId="4248991531" sldId="272"/>
            <ac:cxnSpMk id="47" creationId="{069464BE-6DF1-3660-EFA2-5B0331F76878}"/>
          </ac:cxnSpMkLst>
        </pc:cxnChg>
        <pc:cxnChg chg="del mod topLvl">
          <ac:chgData name="Harris, Wyatt J Lt Col USAF USAFA DF/DFAS" userId="768bfb95-c272-4014-8fa2-010c15306053" providerId="ADAL" clId="{E18DAD13-4A53-44B8-9F3F-46E167733190}" dt="2026-01-06T21:39:39.363" v="294" actId="478"/>
          <ac:cxnSpMkLst>
            <pc:docMk/>
            <pc:sldMk cId="4248991531" sldId="272"/>
            <ac:cxnSpMk id="51" creationId="{8BE8E21F-B8B7-F02F-444E-1813D005F6C1}"/>
          </ac:cxnSpMkLst>
        </pc:cxnChg>
      </pc:sldChg>
      <pc:sldChg chg="modSp mod">
        <pc:chgData name="Harris, Wyatt J Lt Col USAF USAFA DF/DFAS" userId="768bfb95-c272-4014-8fa2-010c15306053" providerId="ADAL" clId="{E18DAD13-4A53-44B8-9F3F-46E167733190}" dt="2026-01-07T15:14:31.719" v="870" actId="20577"/>
        <pc:sldMkLst>
          <pc:docMk/>
          <pc:sldMk cId="84334701" sldId="273"/>
        </pc:sldMkLst>
        <pc:spChg chg="mod">
          <ac:chgData name="Harris, Wyatt J Lt Col USAF USAFA DF/DFAS" userId="768bfb95-c272-4014-8fa2-010c15306053" providerId="ADAL" clId="{E18DAD13-4A53-44B8-9F3F-46E167733190}" dt="2026-01-07T15:14:31.719" v="870" actId="20577"/>
          <ac:spMkLst>
            <pc:docMk/>
            <pc:sldMk cId="84334701" sldId="273"/>
            <ac:spMk id="9" creationId="{26F6A71B-B4C6-94C4-6EE7-2E5C40CF8EEC}"/>
          </ac:spMkLst>
        </pc:spChg>
      </pc:sldChg>
    </pc:docChg>
  </pc:docChgLst>
  <pc:docChgLst>
    <pc:chgData name="Harris, Wyatt J Lt Col USAF USAFA DF/DFAS" userId="768bfb95-c272-4014-8fa2-010c15306053" providerId="ADAL" clId="{95571437-1CDD-49A9-9F44-9267EE8F1204}"/>
    <pc:docChg chg="custSel modSld modMainMaster">
      <pc:chgData name="Harris, Wyatt J Lt Col USAF USAFA DF/DFAS" userId="768bfb95-c272-4014-8fa2-010c15306053" providerId="ADAL" clId="{95571437-1CDD-49A9-9F44-9267EE8F1204}" dt="2026-01-06T03:32:57.075" v="336" actId="27636"/>
      <pc:docMkLst>
        <pc:docMk/>
      </pc:docMkLst>
      <pc:sldChg chg="modSp mod">
        <pc:chgData name="Harris, Wyatt J Lt Col USAF USAFA DF/DFAS" userId="768bfb95-c272-4014-8fa2-010c15306053" providerId="ADAL" clId="{95571437-1CDD-49A9-9F44-9267EE8F1204}" dt="2026-01-06T03:29:24.039" v="90" actId="404"/>
        <pc:sldMkLst>
          <pc:docMk/>
          <pc:sldMk cId="570581100" sldId="262"/>
        </pc:sldMkLst>
        <pc:spChg chg="mod">
          <ac:chgData name="Harris, Wyatt J Lt Col USAF USAFA DF/DFAS" userId="768bfb95-c272-4014-8fa2-010c15306053" providerId="ADAL" clId="{95571437-1CDD-49A9-9F44-9267EE8F1204}" dt="2026-01-06T03:28:45.978" v="2" actId="207"/>
          <ac:spMkLst>
            <pc:docMk/>
            <pc:sldMk cId="570581100" sldId="262"/>
            <ac:spMk id="3" creationId="{F8FBEA1E-706F-4917-7002-57FCF08A4297}"/>
          </ac:spMkLst>
        </pc:spChg>
        <pc:spChg chg="mod">
          <ac:chgData name="Harris, Wyatt J Lt Col USAF USAFA DF/DFAS" userId="768bfb95-c272-4014-8fa2-010c15306053" providerId="ADAL" clId="{95571437-1CDD-49A9-9F44-9267EE8F1204}" dt="2026-01-06T03:29:24.039" v="90" actId="404"/>
          <ac:spMkLst>
            <pc:docMk/>
            <pc:sldMk cId="570581100" sldId="262"/>
            <ac:spMk id="12" creationId="{F8C7A733-9376-1A5A-3327-411249E595FA}"/>
          </ac:spMkLst>
        </pc:spChg>
      </pc:sldChg>
      <pc:sldChg chg="modSp mod">
        <pc:chgData name="Harris, Wyatt J Lt Col USAF USAFA DF/DFAS" userId="768bfb95-c272-4014-8fa2-010c15306053" providerId="ADAL" clId="{95571437-1CDD-49A9-9F44-9267EE8F1204}" dt="2026-01-06T03:32:57.075" v="336" actId="27636"/>
        <pc:sldMkLst>
          <pc:docMk/>
          <pc:sldMk cId="3835083646" sldId="271"/>
        </pc:sldMkLst>
        <pc:spChg chg="mod">
          <ac:chgData name="Harris, Wyatt J Lt Col USAF USAFA DF/DFAS" userId="768bfb95-c272-4014-8fa2-010c15306053" providerId="ADAL" clId="{95571437-1CDD-49A9-9F44-9267EE8F1204}" dt="2026-01-06T03:32:57.075" v="336" actId="27636"/>
          <ac:spMkLst>
            <pc:docMk/>
            <pc:sldMk cId="3835083646" sldId="271"/>
            <ac:spMk id="3" creationId="{68CB5C3F-2B5C-141F-AF28-956869DDCA66}"/>
          </ac:spMkLst>
        </pc:spChg>
      </pc:sldChg>
      <pc:sldMasterChg chg="modSp mod">
        <pc:chgData name="Harris, Wyatt J Lt Col USAF USAFA DF/DFAS" userId="768bfb95-c272-4014-8fa2-010c15306053" providerId="ADAL" clId="{95571437-1CDD-49A9-9F44-9267EE8F1204}" dt="2026-01-06T03:30:54.206" v="101" actId="14100"/>
        <pc:sldMasterMkLst>
          <pc:docMk/>
          <pc:sldMasterMk cId="85601226" sldId="2147483660"/>
        </pc:sldMasterMkLst>
        <pc:spChg chg="mod">
          <ac:chgData name="Harris, Wyatt J Lt Col USAF USAFA DF/DFAS" userId="768bfb95-c272-4014-8fa2-010c15306053" providerId="ADAL" clId="{95571437-1CDD-49A9-9F44-9267EE8F1204}" dt="2026-01-06T03:30:54.206" v="101" actId="14100"/>
          <ac:spMkLst>
            <pc:docMk/>
            <pc:sldMasterMk cId="85601226" sldId="2147483660"/>
            <ac:spMk id="8" creationId="{1B2918AF-A31D-A49D-520C-D6A347912BFA}"/>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2" tIns="45716" rIns="91432" bIns="45716" rtlCol="0"/>
          <a:lstStyle>
            <a:lvl1pPr algn="r">
              <a:defRPr sz="1200"/>
            </a:lvl1pPr>
          </a:lstStyle>
          <a:p>
            <a:fld id="{94D2EC29-5E9A-49E8-BC12-73FDF6305747}" type="datetimeFigureOut">
              <a:rPr lang="en-US" smtClean="0"/>
              <a:t>1/7/2026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32" tIns="45716" rIns="91432" bIns="45716"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penguintutor.com/electronics/pico-power"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defTabSz="914318">
              <a:defRPr/>
            </a:pPr>
            <a:r>
              <a:rPr lang="en-US" dirty="0">
                <a:solidFill>
                  <a:srgbClr val="FF0000"/>
                </a:solidFill>
                <a:hlinkClick r:id="rId3"/>
              </a:rPr>
              <a:t>Guide to powering the Raspberry Pi Pico</a:t>
            </a:r>
            <a:endParaRPr lang="en-US" dirty="0">
              <a:solidFill>
                <a:srgbClr val="FF0000"/>
              </a:solidFill>
            </a:endParaRP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4</a:t>
            </a:fld>
            <a:endParaRPr lang="en-US"/>
          </a:p>
        </p:txBody>
      </p:sp>
    </p:spTree>
    <p:extLst>
      <p:ext uri="{BB962C8B-B14F-4D97-AF65-F5344CB8AC3E}">
        <p14:creationId xmlns:p14="http://schemas.microsoft.com/office/powerpoint/2010/main" val="34220806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9</a:t>
            </a:fld>
            <a:endParaRPr lang="en-US"/>
          </a:p>
        </p:txBody>
      </p:sp>
    </p:spTree>
    <p:extLst>
      <p:ext uri="{BB962C8B-B14F-4D97-AF65-F5344CB8AC3E}">
        <p14:creationId xmlns:p14="http://schemas.microsoft.com/office/powerpoint/2010/main" val="508481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E6894-3C5E-1270-E225-358CEFC32F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2D47D-E886-4494-A8EB-171EA9502CA7}"/>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B1B37622-0194-3BD0-F83B-AEB5C5AC25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0AF283-E5BC-100D-F3DB-E3E537924C23}"/>
              </a:ext>
            </a:extLst>
          </p:cNvPr>
          <p:cNvSpPr>
            <a:spLocks noGrp="1"/>
          </p:cNvSpPr>
          <p:nvPr>
            <p:ph type="sldNum" sz="quarter" idx="5"/>
          </p:nvPr>
        </p:nvSpPr>
        <p:spPr/>
        <p:txBody>
          <a:bodyPr/>
          <a:lstStyle/>
          <a:p>
            <a:fld id="{9EB4C982-825B-414E-ABB9-79AB251390A5}" type="slidenum">
              <a:rPr lang="en-US" smtClean="0"/>
              <a:t>10</a:t>
            </a:fld>
            <a:endParaRPr lang="en-US"/>
          </a:p>
        </p:txBody>
      </p:sp>
    </p:spTree>
    <p:extLst>
      <p:ext uri="{BB962C8B-B14F-4D97-AF65-F5344CB8AC3E}">
        <p14:creationId xmlns:p14="http://schemas.microsoft.com/office/powerpoint/2010/main" val="2513183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5350" y="1144002"/>
            <a:ext cx="678899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EE600E-A67F-4D2A-8A36-552C1EFBE963}" type="datetime1">
              <a:rPr lang="en-US" smtClean="0"/>
              <a:t>1/7/2026</a:t>
            </a:fld>
            <a:endParaRPr lang="en-US"/>
          </a:p>
        </p:txBody>
      </p:sp>
      <p:sp>
        <p:nvSpPr>
          <p:cNvPr id="5" name="Footer Placeholder 4"/>
          <p:cNvSpPr>
            <a:spLocks noGrp="1"/>
          </p:cNvSpPr>
          <p:nvPr>
            <p:ph type="ftr" sz="quarter" idx="11"/>
          </p:nvPr>
        </p:nvSpPr>
        <p:spPr/>
        <p:txBody>
          <a:bodyPr/>
          <a:lstStyle/>
          <a:p>
            <a:r>
              <a:rPr lang="en-US"/>
              <a:t>Astro 331 Lab #1</a:t>
            </a:r>
            <a:endParaRPr lang="en-US" dirty="0"/>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dirty="0"/>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r>
              <a:rPr lang="en-US" sz="4400" dirty="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dirty="0"/>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9D194C-E731-4CF3-8F14-16F2CEB9B5CF}" type="datetime1">
              <a:rPr lang="en-US" smtClean="0"/>
              <a:t>1/7/2026</a:t>
            </a:fld>
            <a:endParaRPr lang="en-US" dirty="0"/>
          </a:p>
        </p:txBody>
      </p:sp>
      <p:sp>
        <p:nvSpPr>
          <p:cNvPr id="5" name="Footer Placeholder 4"/>
          <p:cNvSpPr>
            <a:spLocks noGrp="1"/>
          </p:cNvSpPr>
          <p:nvPr>
            <p:ph type="ftr" sz="quarter" idx="11"/>
          </p:nvPr>
        </p:nvSpPr>
        <p:spPr/>
        <p:txBody>
          <a:bodyPr/>
          <a:lstStyle/>
          <a:p>
            <a:r>
              <a:rPr lang="en-US"/>
              <a:t>Astro 331 Lab #1</a:t>
            </a:r>
            <a:endParaRPr lang="en-US" dirty="0"/>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1/7/2026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CEF287-72CA-49D4-A601-3B9D2E83EA05}" type="datetime1">
              <a:rPr lang="en-US" smtClean="0"/>
              <a:t>1/7/2026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2B2832-1105-4FA1-AD49-3D1761459FB9}" type="datetime1">
              <a:rPr lang="en-US" smtClean="0"/>
              <a:t>1/7/2026</a:t>
            </a:fld>
            <a:endParaRPr lang="en-US"/>
          </a:p>
        </p:txBody>
      </p:sp>
      <p:sp>
        <p:nvSpPr>
          <p:cNvPr id="8" name="Footer Placeholder 7"/>
          <p:cNvSpPr>
            <a:spLocks noGrp="1"/>
          </p:cNvSpPr>
          <p:nvPr>
            <p:ph type="ftr" sz="quarter" idx="11"/>
          </p:nvPr>
        </p:nvSpPr>
        <p:spPr/>
        <p:txBody>
          <a:bodyPr/>
          <a:lstStyle/>
          <a:p>
            <a:r>
              <a:rPr lang="en-US"/>
              <a:t>Astro 331 Lab #1</a:t>
            </a:r>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08DF9A-2345-4D36-85FA-49730D271487}" type="datetime1">
              <a:rPr lang="en-US" smtClean="0"/>
              <a:t>1/7/2026</a:t>
            </a:fld>
            <a:endParaRPr lang="en-US"/>
          </a:p>
        </p:txBody>
      </p:sp>
      <p:sp>
        <p:nvSpPr>
          <p:cNvPr id="4" name="Footer Placeholder 3"/>
          <p:cNvSpPr>
            <a:spLocks noGrp="1"/>
          </p:cNvSpPr>
          <p:nvPr>
            <p:ph type="ftr" sz="quarter" idx="11"/>
          </p:nvPr>
        </p:nvSpPr>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1/7/2026</a:t>
            </a:fld>
            <a:endParaRPr lang="en-US"/>
          </a:p>
        </p:txBody>
      </p:sp>
      <p:sp>
        <p:nvSpPr>
          <p:cNvPr id="3" name="Footer Placeholder 2"/>
          <p:cNvSpPr>
            <a:spLocks noGrp="1"/>
          </p:cNvSpPr>
          <p:nvPr>
            <p:ph type="ftr" sz="quarter" idx="11"/>
          </p:nvPr>
        </p:nvSpPr>
        <p:spPr/>
        <p:txBody>
          <a:bodyPr/>
          <a:lstStyle/>
          <a:p>
            <a:r>
              <a:rPr lang="en-US"/>
              <a:t>Astro 331 Lab #1</a:t>
            </a:r>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1/7/2026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1/7/2026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B0F733-755F-4A68-A044-3BB7487EA333}" type="datetime1">
              <a:rPr lang="en-US" smtClean="0"/>
              <a:t>1/7/2026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E81D12-59AE-465C-A617-7D2534E388B9}" type="datetime1">
              <a:rPr lang="en-US" smtClean="0"/>
              <a:t>1/7/2026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529176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458638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5500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777838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47661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204853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860794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35338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030893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388541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574097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74527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6991" y="136523"/>
            <a:ext cx="7886700" cy="6521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106340" y="1002507"/>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10634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1/7/2026</a:t>
            </a:fld>
            <a:endParaRPr lang="en-US" dirty="0"/>
          </a:p>
        </p:txBody>
      </p:sp>
      <p:sp>
        <p:nvSpPr>
          <p:cNvPr id="5" name="Footer Placeholder 4"/>
          <p:cNvSpPr>
            <a:spLocks noGrp="1"/>
          </p:cNvSpPr>
          <p:nvPr>
            <p:ph type="ftr" sz="quarter" idx="3"/>
          </p:nvPr>
        </p:nvSpPr>
        <p:spPr>
          <a:xfrm>
            <a:off x="3028950" y="6501692"/>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Astro 331 Lab #1</a:t>
            </a:r>
            <a:endParaRPr lang="en-US" dirty="0"/>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7" name="Rectangle 6">
            <a:extLst>
              <a:ext uri="{FF2B5EF4-FFF2-40B4-BE49-F238E27FC236}">
                <a16:creationId xmlns:a16="http://schemas.microsoft.com/office/drawing/2014/main" id="{77E8A6C5-C92C-8448-0311-8A5C323071D8}"/>
              </a:ext>
            </a:extLst>
          </p:cNvPr>
          <p:cNvSpPr/>
          <p:nvPr userDrawn="1"/>
        </p:nvSpPr>
        <p:spPr>
          <a:xfrm>
            <a:off x="0" y="0"/>
            <a:ext cx="1028700" cy="685800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7838983" y="72097"/>
            <a:ext cx="1246790" cy="307777"/>
          </a:xfrm>
          <a:prstGeom prst="rect">
            <a:avLst/>
          </a:prstGeom>
          <a:noFill/>
        </p:spPr>
        <p:txBody>
          <a:bodyPr wrap="square" rtlCol="0">
            <a:spAutoFit/>
          </a:bodyPr>
          <a:lstStyle/>
          <a:p>
            <a:pPr algn="r"/>
            <a:r>
              <a:rPr lang="en-US" sz="1400" b="1" dirty="0">
                <a:latin typeface="Segoe UI" panose="020B0502040204020203" pitchFamily="34" charset="0"/>
                <a:cs typeface="Segoe UI" panose="020B0502040204020203" pitchFamily="34" charset="0"/>
              </a:rPr>
              <a:t>2026 Spring</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1106340" y="815389"/>
            <a:ext cx="7991296" cy="4571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25">
            <a:clrChange>
              <a:clrFrom>
                <a:srgbClr val="FFFFFF"/>
              </a:clrFrom>
              <a:clrTo>
                <a:srgbClr val="FFFFFF">
                  <a:alpha val="0"/>
                </a:srgbClr>
              </a:clrTo>
            </a:clrChange>
          </a:blip>
          <a:stretch>
            <a:fillRect/>
          </a:stretch>
        </p:blipFill>
        <p:spPr>
          <a:xfrm>
            <a:off x="46364" y="18574"/>
            <a:ext cx="864115" cy="973265"/>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Lst>
  <p:hf hdr="0" dt="0"/>
  <p:txStyles>
    <p:titleStyle>
      <a:lvl1pPr algn="l" defTabSz="914400" rtl="0" eaLnBrk="1" latinLnBrk="0" hangingPunct="1">
        <a:lnSpc>
          <a:spcPct val="90000"/>
        </a:lnSpc>
        <a:spcBef>
          <a:spcPct val="0"/>
        </a:spcBef>
        <a:buNone/>
        <a:defRPr sz="3200"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4.xml"/><Relationship Id="rId5" Type="http://schemas.openxmlformats.org/officeDocument/2006/relationships/hyperlink" Target="https://datasheets.raspberrypi.com/pico/pico-datasheet.pdf" TargetMode="External"/><Relationship Id="rId4" Type="http://schemas.openxmlformats.org/officeDocument/2006/relationships/hyperlink" Target="https://www.raspberrypi.com/documentation/microcontrollers/pico-series.html#pico-1-family"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hyperlink" Target="https://learn.adafruit.com/breadboards-for-beginners/breadboard-usage?view=all&amp;gad_source=1&amp;gad_campaignid=21079267614&amp;gbraid=0AAAAADx9JvT5hdlhmZ3t1eTsKdqwkEU2M&amp;gclid=Cj0KCQjwkILEBhDeARIsAL--pjxOVz6uhUbAjdGPkQ_MA-QOODfbc-kbASPUHX16pxaZ7BNLTR3DzfIaAjDREALw_wcB" TargetMode="External"/><Relationship Id="rId1" Type="http://schemas.openxmlformats.org/officeDocument/2006/relationships/slideLayout" Target="../slideLayouts/slideLayout1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earlephilhower/arduino-pico/releases/download/global/package_rp2040_index.json" TargetMode="External"/><Relationship Id="rId2" Type="http://schemas.openxmlformats.org/officeDocument/2006/relationships/hyperlink" Target="https://www.arduino.cc/en/software/#ide" TargetMode="External"/><Relationship Id="rId1" Type="http://schemas.openxmlformats.org/officeDocument/2006/relationships/slideLayout" Target="../slideLayouts/slideLayout1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8.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0.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1.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hyperlink" Target="https://learn.sparkfun.com/tutorials/pulse-width-modulation/all" TargetMode="External"/><Relationship Id="rId2" Type="http://schemas.openxmlformats.org/officeDocument/2006/relationships/image" Target="../media/image26.pn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dirty="0"/>
              <a:t>Lab #1</a:t>
            </a:r>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dirty="0"/>
              <a:t>Introduction to Embedded Systems</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24F5E-A46F-A4FC-19BF-D57A36FDC439}"/>
              </a:ext>
            </a:extLst>
          </p:cNvPr>
          <p:cNvSpPr>
            <a:spLocks noGrp="1"/>
          </p:cNvSpPr>
          <p:nvPr>
            <p:ph type="title"/>
          </p:nvPr>
        </p:nvSpPr>
        <p:spPr/>
        <p:txBody>
          <a:bodyPr>
            <a:normAutofit/>
          </a:bodyPr>
          <a:lstStyle/>
          <a:p>
            <a:r>
              <a:rPr lang="en-US" sz="3200" b="1" dirty="0"/>
              <a:t>Introduction</a:t>
            </a:r>
          </a:p>
        </p:txBody>
      </p:sp>
      <p:sp>
        <p:nvSpPr>
          <p:cNvPr id="3" name="Content Placeholder 2">
            <a:extLst>
              <a:ext uri="{FF2B5EF4-FFF2-40B4-BE49-F238E27FC236}">
                <a16:creationId xmlns:a16="http://schemas.microsoft.com/office/drawing/2014/main" id="{C9F3659F-DF5E-7C0D-93C4-FC8F241D473D}"/>
              </a:ext>
            </a:extLst>
          </p:cNvPr>
          <p:cNvSpPr>
            <a:spLocks noGrp="1"/>
          </p:cNvSpPr>
          <p:nvPr>
            <p:ph idx="1"/>
          </p:nvPr>
        </p:nvSpPr>
        <p:spPr>
          <a:xfrm>
            <a:off x="1066991" y="971775"/>
            <a:ext cx="6134673" cy="1772159"/>
          </a:xfrm>
        </p:spPr>
        <p:txBody>
          <a:bodyPr>
            <a:normAutofit fontScale="92500" lnSpcReduction="10000"/>
          </a:bodyPr>
          <a:lstStyle/>
          <a:p>
            <a:pPr marL="0" indent="0">
              <a:buNone/>
            </a:pPr>
            <a:r>
              <a:rPr lang="en-US" sz="1400" dirty="0"/>
              <a:t>    Embedded systems are at the heart of nearly every function in spacecraft—from controlling attitude and propulsion to managing power, communications, and payloads.</a:t>
            </a:r>
          </a:p>
          <a:p>
            <a:pPr marL="0" indent="0">
              <a:buNone/>
            </a:pPr>
            <a:r>
              <a:rPr lang="en-US" sz="1400" dirty="0"/>
              <a:t>    This lab will introduce you to embedded systems using a low-cost microcontroller and the Arduino development environment.</a:t>
            </a:r>
          </a:p>
          <a:p>
            <a:pPr marL="0" indent="0">
              <a:buNone/>
            </a:pPr>
            <a:r>
              <a:rPr lang="en-US" sz="1400" dirty="0"/>
              <a:t>    You’ll perform four tasks that are each analogous to functions performed on spacecraft:</a:t>
            </a:r>
          </a:p>
          <a:p>
            <a:pPr marL="0" indent="0">
              <a:buNone/>
            </a:pPr>
            <a:r>
              <a:rPr lang="en-US" sz="1400" dirty="0"/>
              <a:t> </a:t>
            </a:r>
          </a:p>
        </p:txBody>
      </p:sp>
      <p:sp>
        <p:nvSpPr>
          <p:cNvPr id="4" name="Footer Placeholder 3">
            <a:extLst>
              <a:ext uri="{FF2B5EF4-FFF2-40B4-BE49-F238E27FC236}">
                <a16:creationId xmlns:a16="http://schemas.microsoft.com/office/drawing/2014/main" id="{C21B9B42-DD0C-EEF4-5D34-F779305D3E9B}"/>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74D2189E-BD38-2502-FE47-45A8E0A3D50F}"/>
              </a:ext>
            </a:extLst>
          </p:cNvPr>
          <p:cNvSpPr>
            <a:spLocks noGrp="1"/>
          </p:cNvSpPr>
          <p:nvPr>
            <p:ph type="sldNum" sz="quarter" idx="12"/>
          </p:nvPr>
        </p:nvSpPr>
        <p:spPr/>
        <p:txBody>
          <a:bodyPr/>
          <a:lstStyle/>
          <a:p>
            <a:fld id="{9A3029B7-FE6B-4680-9049-80E8298A0825}" type="slidenum">
              <a:rPr lang="en-US" smtClean="0"/>
              <a:t>2</a:t>
            </a:fld>
            <a:endParaRPr lang="en-US"/>
          </a:p>
        </p:txBody>
      </p:sp>
      <p:sp>
        <p:nvSpPr>
          <p:cNvPr id="6" name="Content Placeholder 5">
            <a:extLst>
              <a:ext uri="{FF2B5EF4-FFF2-40B4-BE49-F238E27FC236}">
                <a16:creationId xmlns:a16="http://schemas.microsoft.com/office/drawing/2014/main" id="{070CB1BB-AFA7-E04F-FACA-4767C55D05E7}"/>
              </a:ext>
            </a:extLst>
          </p:cNvPr>
          <p:cNvSpPr>
            <a:spLocks noGrp="1"/>
          </p:cNvSpPr>
          <p:nvPr>
            <p:ph idx="13"/>
          </p:nvPr>
        </p:nvSpPr>
        <p:spPr/>
        <p:txBody>
          <a:bodyPr/>
          <a:lstStyle/>
          <a:p>
            <a:endParaRPr lang="en-US" b="1" dirty="0">
              <a:solidFill>
                <a:srgbClr val="0070C0"/>
              </a:solidFill>
            </a:endParaRPr>
          </a:p>
          <a:p>
            <a:r>
              <a:rPr lang="en-US" b="1" dirty="0">
                <a:solidFill>
                  <a:srgbClr val="00B0F0"/>
                </a:solidFill>
              </a:rPr>
              <a:t>Intro</a:t>
            </a:r>
            <a:endParaRPr lang="en-US" dirty="0">
              <a:solidFill>
                <a:srgbClr val="00B0F0"/>
              </a:solidFill>
            </a:endParaRPr>
          </a:p>
          <a:p>
            <a:r>
              <a:rPr lang="en-US" dirty="0"/>
              <a:t>Materials</a:t>
            </a:r>
          </a:p>
          <a:p>
            <a:r>
              <a:rPr lang="en-US" dirty="0"/>
              <a:t>Task 0A</a:t>
            </a:r>
          </a:p>
          <a:p>
            <a:r>
              <a:rPr lang="en-US" dirty="0"/>
              <a:t>Task 0B</a:t>
            </a:r>
          </a:p>
          <a:p>
            <a:r>
              <a:rPr lang="en-US" dirty="0"/>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sp>
        <p:nvSpPr>
          <p:cNvPr id="7" name="Content Placeholder 6">
            <a:extLst>
              <a:ext uri="{FF2B5EF4-FFF2-40B4-BE49-F238E27FC236}">
                <a16:creationId xmlns:a16="http://schemas.microsoft.com/office/drawing/2014/main" id="{07612F2D-E804-9AC3-BE4E-B9F2569048FA}"/>
              </a:ext>
            </a:extLst>
          </p:cNvPr>
          <p:cNvSpPr>
            <a:spLocks noGrp="1"/>
          </p:cNvSpPr>
          <p:nvPr>
            <p:ph idx="14"/>
          </p:nvPr>
        </p:nvSpPr>
        <p:spPr>
          <a:xfrm>
            <a:off x="1180141" y="4779341"/>
            <a:ext cx="7917493" cy="1501547"/>
          </a:xfrm>
        </p:spPr>
        <p:style>
          <a:lnRef idx="2">
            <a:schemeClr val="dk1"/>
          </a:lnRef>
          <a:fillRef idx="1">
            <a:schemeClr val="lt1"/>
          </a:fillRef>
          <a:effectRef idx="0">
            <a:schemeClr val="dk1"/>
          </a:effectRef>
          <a:fontRef idx="minor">
            <a:schemeClr val="dk1"/>
          </a:fontRef>
        </p:style>
        <p:txBody>
          <a:bodyPr>
            <a:normAutofit/>
          </a:bodyPr>
          <a:lstStyle/>
          <a:p>
            <a:r>
              <a:rPr lang="en-US" b="1" dirty="0"/>
              <a:t>Objectives:</a:t>
            </a:r>
            <a:endParaRPr lang="en-US" dirty="0"/>
          </a:p>
          <a:p>
            <a:pPr marL="342858" indent="-342858">
              <a:buAutoNum type="arabicParenBoth"/>
            </a:pPr>
            <a:r>
              <a:rPr lang="en-US" dirty="0"/>
              <a:t>Understand what embedded systems are, the function of their basic components, and why they are important for spacecraft.</a:t>
            </a:r>
          </a:p>
          <a:p>
            <a:pPr marL="342858" indent="-342858">
              <a:buAutoNum type="arabicParenBoth"/>
            </a:pPr>
            <a:r>
              <a:rPr lang="en-US" dirty="0"/>
              <a:t>Use a microcontroller development board and construct simple circuits on a breadboard.</a:t>
            </a:r>
          </a:p>
          <a:p>
            <a:pPr marL="342858" indent="-342858">
              <a:buAutoNum type="arabicParenBoth"/>
            </a:pPr>
            <a:r>
              <a:rPr lang="en-US" dirty="0"/>
              <a:t>Write, upload, and debug basic embedded code to perform simple tasks. </a:t>
            </a:r>
          </a:p>
          <a:p>
            <a:pPr marL="342858" indent="-342858">
              <a:buAutoNum type="arabicParenBoth"/>
            </a:pPr>
            <a:endParaRPr lang="en-US" dirty="0"/>
          </a:p>
        </p:txBody>
      </p:sp>
      <p:sp>
        <p:nvSpPr>
          <p:cNvPr id="8" name="Content Placeholder 7">
            <a:extLst>
              <a:ext uri="{FF2B5EF4-FFF2-40B4-BE49-F238E27FC236}">
                <a16:creationId xmlns:a16="http://schemas.microsoft.com/office/drawing/2014/main" id="{DAE1C122-D6AC-99C4-BDF5-B3CCA5AE21D9}"/>
              </a:ext>
            </a:extLst>
          </p:cNvPr>
          <p:cNvSpPr>
            <a:spLocks noGrp="1"/>
          </p:cNvSpPr>
          <p:nvPr>
            <p:ph idx="15"/>
          </p:nvPr>
        </p:nvSpPr>
        <p:spPr>
          <a:xfrm>
            <a:off x="7068621" y="1680642"/>
            <a:ext cx="2034283" cy="2209589"/>
          </a:xfrm>
        </p:spPr>
        <p:style>
          <a:lnRef idx="2">
            <a:schemeClr val="accent2"/>
          </a:lnRef>
          <a:fillRef idx="1">
            <a:schemeClr val="lt1"/>
          </a:fillRef>
          <a:effectRef idx="0">
            <a:schemeClr val="accent2"/>
          </a:effectRef>
          <a:fontRef idx="minor">
            <a:schemeClr val="dk1"/>
          </a:fontRef>
        </p:style>
        <p:txBody>
          <a:bodyPr>
            <a:normAutofit fontScale="92500" lnSpcReduction="10000"/>
          </a:bodyPr>
          <a:lstStyle/>
          <a:p>
            <a:pPr marL="0" indent="0" algn="ctr">
              <a:buNone/>
            </a:pPr>
            <a:r>
              <a:rPr lang="en-US" sz="1400" b="1" u="sng" dirty="0"/>
              <a:t>Authorized Resources</a:t>
            </a:r>
          </a:p>
          <a:p>
            <a:r>
              <a:rPr lang="en-US" sz="1400" b="1" dirty="0">
                <a:solidFill>
                  <a:srgbClr val="FF0000"/>
                </a:solidFill>
                <a:highlight>
                  <a:srgbClr val="FFFF00"/>
                </a:highlight>
              </a:rPr>
              <a:t>This lab is individual effort.</a:t>
            </a:r>
          </a:p>
          <a:p>
            <a:r>
              <a:rPr lang="en-US" sz="1400" dirty="0"/>
              <a:t>You may use:</a:t>
            </a:r>
          </a:p>
          <a:p>
            <a:pPr lvl="1"/>
            <a:r>
              <a:rPr lang="en-US" sz="1400" dirty="0"/>
              <a:t>Any non-human resource</a:t>
            </a:r>
          </a:p>
          <a:p>
            <a:pPr lvl="2"/>
            <a:r>
              <a:rPr lang="en-US" b="1" dirty="0">
                <a:highlight>
                  <a:srgbClr val="FFFF00"/>
                </a:highlight>
              </a:rPr>
              <a:t>Generative AI Level 4 Allowed</a:t>
            </a:r>
          </a:p>
          <a:p>
            <a:pPr lvl="1"/>
            <a:r>
              <a:rPr lang="en-US" sz="1400" dirty="0"/>
              <a:t>Astro 331 course instructor </a:t>
            </a:r>
          </a:p>
        </p:txBody>
      </p:sp>
      <p:graphicFrame>
        <p:nvGraphicFramePr>
          <p:cNvPr id="9" name="Table 8">
            <a:extLst>
              <a:ext uri="{FF2B5EF4-FFF2-40B4-BE49-F238E27FC236}">
                <a16:creationId xmlns:a16="http://schemas.microsoft.com/office/drawing/2014/main" id="{696BD2AE-57CC-D232-F353-734251FBF71B}"/>
              </a:ext>
            </a:extLst>
          </p:cNvPr>
          <p:cNvGraphicFramePr>
            <a:graphicFrameLocks noGrp="1"/>
          </p:cNvGraphicFramePr>
          <p:nvPr>
            <p:extLst>
              <p:ext uri="{D42A27DB-BD31-4B8C-83A1-F6EECF244321}">
                <p14:modId xmlns:p14="http://schemas.microsoft.com/office/powerpoint/2010/main" val="4183009965"/>
              </p:ext>
            </p:extLst>
          </p:nvPr>
        </p:nvGraphicFramePr>
        <p:xfrm>
          <a:off x="1148828" y="2516589"/>
          <a:ext cx="5837956" cy="2041949"/>
        </p:xfrm>
        <a:graphic>
          <a:graphicData uri="http://schemas.openxmlformats.org/drawingml/2006/table">
            <a:tbl>
              <a:tblPr firstRow="1" bandRow="1">
                <a:tableStyleId>{5C22544A-7EE6-4342-B048-85BDC9FD1C3A}</a:tableStyleId>
              </a:tblPr>
              <a:tblGrid>
                <a:gridCol w="2889772">
                  <a:extLst>
                    <a:ext uri="{9D8B030D-6E8A-4147-A177-3AD203B41FA5}">
                      <a16:colId xmlns:a16="http://schemas.microsoft.com/office/drawing/2014/main" val="2311999477"/>
                    </a:ext>
                  </a:extLst>
                </a:gridCol>
                <a:gridCol w="2948184">
                  <a:extLst>
                    <a:ext uri="{9D8B030D-6E8A-4147-A177-3AD203B41FA5}">
                      <a16:colId xmlns:a16="http://schemas.microsoft.com/office/drawing/2014/main" val="496462302"/>
                    </a:ext>
                  </a:extLst>
                </a:gridCol>
              </a:tblGrid>
              <a:tr h="335069">
                <a:tc>
                  <a:txBody>
                    <a:bodyPr/>
                    <a:lstStyle/>
                    <a:p>
                      <a:r>
                        <a:rPr lang="en-US" sz="1100" dirty="0"/>
                        <a:t>Task</a:t>
                      </a:r>
                    </a:p>
                  </a:txBody>
                  <a:tcPr/>
                </a:tc>
                <a:tc>
                  <a:txBody>
                    <a:bodyPr/>
                    <a:lstStyle/>
                    <a:p>
                      <a:r>
                        <a:rPr lang="en-US" sz="1100"/>
                        <a:t>Example Similar Spacecraft Function</a:t>
                      </a:r>
                      <a:endParaRPr lang="en-US" sz="1100" dirty="0"/>
                    </a:p>
                  </a:txBody>
                  <a:tcPr/>
                </a:tc>
                <a:extLst>
                  <a:ext uri="{0D108BD9-81ED-4DB2-BD59-A6C34878D82A}">
                    <a16:rowId xmlns:a16="http://schemas.microsoft.com/office/drawing/2014/main" val="3306638629"/>
                  </a:ext>
                </a:extLst>
              </a:tr>
              <a:tr h="413099">
                <a:tc>
                  <a:txBody>
                    <a:bodyPr/>
                    <a:lstStyle/>
                    <a:p>
                      <a:pPr marL="0" indent="0">
                        <a:buNone/>
                      </a:pPr>
                      <a:r>
                        <a:rPr lang="en-US" sz="1100" dirty="0"/>
                        <a:t>(1) Real-Time Digital Output </a:t>
                      </a:r>
                    </a:p>
                    <a:p>
                      <a:pPr marL="0" indent="0">
                        <a:buNone/>
                      </a:pPr>
                      <a:r>
                        <a:rPr lang="en-US" sz="1100" dirty="0">
                          <a:sym typeface="Wingdings" panose="05000000000000000000" pitchFamily="2" charset="2"/>
                        </a:rPr>
                        <a:t>         </a:t>
                      </a:r>
                      <a:r>
                        <a:rPr lang="en-US" sz="1100" dirty="0"/>
                        <a:t>Blink two LEDs at different rates</a:t>
                      </a:r>
                    </a:p>
                  </a:txBody>
                  <a:tcPr/>
                </a:tc>
                <a:tc>
                  <a:txBody>
                    <a:bodyPr/>
                    <a:lstStyle/>
                    <a:p>
                      <a:r>
                        <a:rPr lang="en-US" sz="1100" dirty="0"/>
                        <a:t>Concurrent control of multiple s/c subsystems</a:t>
                      </a:r>
                    </a:p>
                  </a:txBody>
                  <a:tcPr/>
                </a:tc>
                <a:extLst>
                  <a:ext uri="{0D108BD9-81ED-4DB2-BD59-A6C34878D82A}">
                    <a16:rowId xmlns:a16="http://schemas.microsoft.com/office/drawing/2014/main" val="3806162269"/>
                  </a:ext>
                </a:extLst>
              </a:tr>
              <a:tr h="413099">
                <a:tc>
                  <a:txBody>
                    <a:bodyPr/>
                    <a:lstStyle/>
                    <a:p>
                      <a:pPr marL="0" indent="0">
                        <a:buNone/>
                      </a:pPr>
                      <a:r>
                        <a:rPr lang="en-US" sz="1100" dirty="0"/>
                        <a:t>(2) Digital Input</a:t>
                      </a:r>
                    </a:p>
                    <a:p>
                      <a:pPr marL="0" indent="0">
                        <a:buNone/>
                      </a:pPr>
                      <a:r>
                        <a:rPr lang="en-US" sz="1100" dirty="0">
                          <a:sym typeface="Wingdings" panose="05000000000000000000" pitchFamily="2" charset="2"/>
                        </a:rPr>
                        <a:t>         Read pushbutton to control an LED</a:t>
                      </a:r>
                      <a:endParaRPr lang="en-US" sz="1100" dirty="0"/>
                    </a:p>
                  </a:txBody>
                  <a:tcPr/>
                </a:tc>
                <a:tc>
                  <a:txBody>
                    <a:bodyPr/>
                    <a:lstStyle/>
                    <a:p>
                      <a:r>
                        <a:rPr lang="en-US" sz="1100" dirty="0"/>
                        <a:t>Check if a solar panel deployed properly</a:t>
                      </a:r>
                    </a:p>
                  </a:txBody>
                  <a:tcPr/>
                </a:tc>
                <a:extLst>
                  <a:ext uri="{0D108BD9-81ED-4DB2-BD59-A6C34878D82A}">
                    <a16:rowId xmlns:a16="http://schemas.microsoft.com/office/drawing/2014/main" val="1809608656"/>
                  </a:ext>
                </a:extLst>
              </a:tr>
              <a:tr h="413099">
                <a:tc>
                  <a:txBody>
                    <a:bodyPr/>
                    <a:lstStyle/>
                    <a:p>
                      <a:r>
                        <a:rPr lang="en-US" sz="1100" dirty="0"/>
                        <a:t>(3) Analog Input</a:t>
                      </a:r>
                    </a:p>
                    <a:p>
                      <a:r>
                        <a:rPr lang="en-US" sz="1100" dirty="0"/>
                        <a:t>        </a:t>
                      </a:r>
                      <a:r>
                        <a:rPr lang="en-US" sz="1100" dirty="0">
                          <a:sym typeface="Wingdings" panose="05000000000000000000" pitchFamily="2" charset="2"/>
                        </a:rPr>
                        <a:t> Read value of photoresistor </a:t>
                      </a:r>
                      <a:endParaRPr lang="en-US" sz="1100" dirty="0"/>
                    </a:p>
                  </a:txBody>
                  <a:tcPr/>
                </a:tc>
                <a:tc>
                  <a:txBody>
                    <a:bodyPr/>
                    <a:lstStyle/>
                    <a:p>
                      <a:r>
                        <a:rPr lang="en-US" sz="1100" dirty="0"/>
                        <a:t>Read data from a sun sensor</a:t>
                      </a:r>
                    </a:p>
                  </a:txBody>
                  <a:tcPr/>
                </a:tc>
                <a:extLst>
                  <a:ext uri="{0D108BD9-81ED-4DB2-BD59-A6C34878D82A}">
                    <a16:rowId xmlns:a16="http://schemas.microsoft.com/office/drawing/2014/main" val="1625537607"/>
                  </a:ext>
                </a:extLst>
              </a:tr>
              <a:tr h="413099">
                <a:tc>
                  <a:txBody>
                    <a:bodyPr/>
                    <a:lstStyle/>
                    <a:p>
                      <a:r>
                        <a:rPr lang="en-US" sz="1100" dirty="0"/>
                        <a:t>(4) Pulse Width Modulation (PWM)</a:t>
                      </a:r>
                    </a:p>
                    <a:p>
                      <a:r>
                        <a:rPr lang="en-US" sz="1100" dirty="0"/>
                        <a:t>        </a:t>
                      </a:r>
                      <a:r>
                        <a:rPr lang="en-US" sz="1100" dirty="0">
                          <a:sym typeface="Wingdings" panose="05000000000000000000" pitchFamily="2" charset="2"/>
                        </a:rPr>
                        <a:t> Control brightness of LED using PWM</a:t>
                      </a:r>
                      <a:endParaRPr lang="en-US" sz="1100" dirty="0"/>
                    </a:p>
                  </a:txBody>
                  <a:tcPr/>
                </a:tc>
                <a:tc>
                  <a:txBody>
                    <a:bodyPr/>
                    <a:lstStyle/>
                    <a:p>
                      <a:r>
                        <a:rPr lang="en-US" sz="1100" dirty="0"/>
                        <a:t>Modulate force produced by a thruster</a:t>
                      </a:r>
                    </a:p>
                  </a:txBody>
                  <a:tcPr/>
                </a:tc>
                <a:extLst>
                  <a:ext uri="{0D108BD9-81ED-4DB2-BD59-A6C34878D82A}">
                    <a16:rowId xmlns:a16="http://schemas.microsoft.com/office/drawing/2014/main" val="2072636750"/>
                  </a:ext>
                </a:extLst>
              </a:tr>
            </a:tbl>
          </a:graphicData>
        </a:graphic>
      </p:graphicFrame>
    </p:spTree>
    <p:extLst>
      <p:ext uri="{BB962C8B-B14F-4D97-AF65-F5344CB8AC3E}">
        <p14:creationId xmlns:p14="http://schemas.microsoft.com/office/powerpoint/2010/main" val="1434979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9D799-B5EB-C21B-24CD-E855ACC10716}"/>
              </a:ext>
            </a:extLst>
          </p:cNvPr>
          <p:cNvSpPr>
            <a:spLocks noGrp="1"/>
          </p:cNvSpPr>
          <p:nvPr>
            <p:ph type="title"/>
          </p:nvPr>
        </p:nvSpPr>
        <p:spPr/>
        <p:txBody>
          <a:bodyPr>
            <a:normAutofit/>
          </a:bodyPr>
          <a:lstStyle/>
          <a:p>
            <a:r>
              <a:rPr lang="en-US" sz="2800" b="1" dirty="0"/>
              <a:t>Materials (1) – Astro 331 Beginner Kit</a:t>
            </a:r>
          </a:p>
        </p:txBody>
      </p:sp>
      <p:sp>
        <p:nvSpPr>
          <p:cNvPr id="3" name="Content Placeholder 2">
            <a:extLst>
              <a:ext uri="{FF2B5EF4-FFF2-40B4-BE49-F238E27FC236}">
                <a16:creationId xmlns:a16="http://schemas.microsoft.com/office/drawing/2014/main" id="{4CB23080-64BC-7AE7-31F2-2ABD1E3DE01E}"/>
              </a:ext>
            </a:extLst>
          </p:cNvPr>
          <p:cNvSpPr>
            <a:spLocks noGrp="1"/>
          </p:cNvSpPr>
          <p:nvPr>
            <p:ph idx="1"/>
          </p:nvPr>
        </p:nvSpPr>
        <p:spPr>
          <a:xfrm>
            <a:off x="1012339" y="1008520"/>
            <a:ext cx="4030315" cy="3983785"/>
          </a:xfrm>
        </p:spPr>
        <p:txBody>
          <a:bodyPr>
            <a:normAutofit fontScale="85000" lnSpcReduction="20000"/>
          </a:bodyPr>
          <a:lstStyle/>
          <a:p>
            <a:r>
              <a:rPr lang="en-US" dirty="0"/>
              <a:t>In this lab you’ll use the Astro 331 Beginner Kit and your laptop. </a:t>
            </a:r>
          </a:p>
          <a:p>
            <a:r>
              <a:rPr lang="en-US" dirty="0"/>
              <a:t>The beginner kit contains:</a:t>
            </a:r>
          </a:p>
          <a:p>
            <a:pPr lvl="1">
              <a:buAutoNum type="arabicParenBoth"/>
            </a:pPr>
            <a:r>
              <a:rPr lang="en-US" dirty="0"/>
              <a:t>Solderless breadboard</a:t>
            </a:r>
          </a:p>
          <a:p>
            <a:pPr lvl="1">
              <a:buAutoNum type="arabicParenBoth"/>
            </a:pPr>
            <a:r>
              <a:rPr lang="en-US" dirty="0"/>
              <a:t>Breadboard jumper wire kit</a:t>
            </a:r>
          </a:p>
          <a:p>
            <a:pPr lvl="1">
              <a:buAutoNum type="arabicParenBoth"/>
            </a:pPr>
            <a:r>
              <a:rPr lang="en-US" dirty="0"/>
              <a:t>Raspberry Pi Pico Microcontroller</a:t>
            </a:r>
          </a:p>
          <a:p>
            <a:pPr lvl="1">
              <a:buAutoNum type="arabicParenBoth"/>
            </a:pPr>
            <a:r>
              <a:rPr lang="en-US" dirty="0"/>
              <a:t>USB cable</a:t>
            </a:r>
          </a:p>
          <a:p>
            <a:pPr lvl="1">
              <a:buAutoNum type="arabicParenBoth"/>
            </a:pPr>
            <a:r>
              <a:rPr lang="en-US" dirty="0"/>
              <a:t>3D Printed breadboard tool</a:t>
            </a:r>
          </a:p>
          <a:p>
            <a:pPr lvl="1">
              <a:buAutoNum type="arabicParenBoth"/>
            </a:pPr>
            <a:r>
              <a:rPr lang="en-US" dirty="0"/>
              <a:t>Basic electronic components:</a:t>
            </a:r>
          </a:p>
          <a:p>
            <a:pPr marL="1257143" lvl="2" indent="-342858">
              <a:buAutoNum type="alphaLcParenBoth"/>
            </a:pPr>
            <a:r>
              <a:rPr lang="en-US" dirty="0"/>
              <a:t>6x LEDs</a:t>
            </a:r>
          </a:p>
          <a:p>
            <a:pPr marL="1257143" lvl="2" indent="-342858">
              <a:buAutoNum type="alphaLcParenBoth"/>
            </a:pPr>
            <a:r>
              <a:rPr lang="en-US" dirty="0"/>
              <a:t>4x 10K Ohm Resistors (smaller resistors)</a:t>
            </a:r>
          </a:p>
          <a:p>
            <a:pPr marL="1257143" lvl="2" indent="-342858">
              <a:buAutoNum type="alphaLcParenBoth"/>
            </a:pPr>
            <a:r>
              <a:rPr lang="en-US" dirty="0"/>
              <a:t>6x 62 Ohm Resistors (larger resistors)</a:t>
            </a:r>
          </a:p>
          <a:p>
            <a:pPr marL="1257143" lvl="2" indent="-342858">
              <a:buAutoNum type="alphaLcParenBoth"/>
            </a:pPr>
            <a:r>
              <a:rPr lang="en-US" dirty="0"/>
              <a:t>2x photoresistors</a:t>
            </a:r>
          </a:p>
          <a:p>
            <a:pPr marL="1257143" lvl="2" indent="-342858">
              <a:buFont typeface="Wingdings" panose="05000000000000000000" pitchFamily="2" charset="2"/>
              <a:buAutoNum type="alphaLcParenBoth"/>
            </a:pPr>
            <a:r>
              <a:rPr lang="en-US" dirty="0"/>
              <a:t>Push button</a:t>
            </a:r>
          </a:p>
          <a:p>
            <a:pPr marL="1257143" lvl="2" indent="-342858">
              <a:buAutoNum type="alphaLcParenBoth"/>
            </a:pPr>
            <a:r>
              <a:rPr lang="en-US" dirty="0"/>
              <a:t>Buzzer</a:t>
            </a:r>
          </a:p>
        </p:txBody>
      </p:sp>
      <p:sp>
        <p:nvSpPr>
          <p:cNvPr id="4" name="Footer Placeholder 3">
            <a:extLst>
              <a:ext uri="{FF2B5EF4-FFF2-40B4-BE49-F238E27FC236}">
                <a16:creationId xmlns:a16="http://schemas.microsoft.com/office/drawing/2014/main" id="{F06BFAF2-4CD6-8E4D-EDD3-75E89A03C022}"/>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D74B6B22-8433-D3E6-08D5-62509C3B3993}"/>
              </a:ext>
            </a:extLst>
          </p:cNvPr>
          <p:cNvSpPr>
            <a:spLocks noGrp="1"/>
          </p:cNvSpPr>
          <p:nvPr>
            <p:ph type="sldNum" sz="quarter" idx="12"/>
          </p:nvPr>
        </p:nvSpPr>
        <p:spPr/>
        <p:txBody>
          <a:bodyPr/>
          <a:lstStyle/>
          <a:p>
            <a:fld id="{9A3029B7-FE6B-4680-9049-80E8298A0825}" type="slidenum">
              <a:rPr lang="en-US" smtClean="0"/>
              <a:t>3</a:t>
            </a:fld>
            <a:endParaRPr lang="en-US"/>
          </a:p>
        </p:txBody>
      </p:sp>
      <p:sp>
        <p:nvSpPr>
          <p:cNvPr id="6" name="Content Placeholder 5">
            <a:extLst>
              <a:ext uri="{FF2B5EF4-FFF2-40B4-BE49-F238E27FC236}">
                <a16:creationId xmlns:a16="http://schemas.microsoft.com/office/drawing/2014/main" id="{B41FD926-16B8-EFCF-0091-E61CBF92259A}"/>
              </a:ext>
            </a:extLst>
          </p:cNvPr>
          <p:cNvSpPr>
            <a:spLocks noGrp="1"/>
          </p:cNvSpPr>
          <p:nvPr>
            <p:ph idx="13"/>
          </p:nvPr>
        </p:nvSpPr>
        <p:spPr/>
        <p:txBody>
          <a:bodyPr/>
          <a:lstStyle/>
          <a:p>
            <a:endParaRPr lang="en-US" b="1" dirty="0">
              <a:solidFill>
                <a:srgbClr val="0070C0"/>
              </a:solidFill>
            </a:endParaRPr>
          </a:p>
          <a:p>
            <a:r>
              <a:rPr lang="en-US" dirty="0"/>
              <a:t>Intro</a:t>
            </a:r>
          </a:p>
          <a:p>
            <a:r>
              <a:rPr lang="en-US" b="1" dirty="0">
                <a:solidFill>
                  <a:srgbClr val="00B0F0"/>
                </a:solidFill>
              </a:rPr>
              <a:t>Materials</a:t>
            </a:r>
          </a:p>
          <a:p>
            <a:r>
              <a:rPr lang="en-US" dirty="0"/>
              <a:t>Task 0A</a:t>
            </a:r>
          </a:p>
          <a:p>
            <a:r>
              <a:rPr lang="en-US" dirty="0"/>
              <a:t>Task 0B</a:t>
            </a:r>
          </a:p>
          <a:p>
            <a:r>
              <a:rPr lang="en-US" dirty="0"/>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grpSp>
        <p:nvGrpSpPr>
          <p:cNvPr id="20" name="Group 19">
            <a:extLst>
              <a:ext uri="{FF2B5EF4-FFF2-40B4-BE49-F238E27FC236}">
                <a16:creationId xmlns:a16="http://schemas.microsoft.com/office/drawing/2014/main" id="{B8D6E3D4-F02B-DDE5-5DCF-B5C7955C4C23}"/>
              </a:ext>
            </a:extLst>
          </p:cNvPr>
          <p:cNvGrpSpPr/>
          <p:nvPr/>
        </p:nvGrpSpPr>
        <p:grpSpPr>
          <a:xfrm>
            <a:off x="1244257" y="4919642"/>
            <a:ext cx="2654531" cy="1282718"/>
            <a:chOff x="4360893" y="3429000"/>
            <a:chExt cx="2907587" cy="1495493"/>
          </a:xfrm>
        </p:grpSpPr>
        <p:pic>
          <p:nvPicPr>
            <p:cNvPr id="2050" name="Picture 2" descr="CF 62">
              <a:extLst>
                <a:ext uri="{FF2B5EF4-FFF2-40B4-BE49-F238E27FC236}">
                  <a16:creationId xmlns:a16="http://schemas.microsoft.com/office/drawing/2014/main" id="{1D5A01BF-E8B2-3E45-C067-F093F863D4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6626" y="3429000"/>
              <a:ext cx="867738" cy="86773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8E17836-65D1-B747-0EBE-45DED62EF810}"/>
                </a:ext>
              </a:extLst>
            </p:cNvPr>
            <p:cNvSpPr txBox="1"/>
            <p:nvPr/>
          </p:nvSpPr>
          <p:spPr>
            <a:xfrm>
              <a:off x="4360893" y="4386248"/>
              <a:ext cx="2907587" cy="538245"/>
            </a:xfrm>
            <a:prstGeom prst="rect">
              <a:avLst/>
            </a:prstGeom>
            <a:noFill/>
          </p:spPr>
          <p:txBody>
            <a:bodyPr wrap="square">
              <a:spAutoFit/>
            </a:bodyPr>
            <a:lstStyle/>
            <a:p>
              <a:pPr lvl="2" algn="ctr"/>
              <a:r>
                <a:rPr lang="en-US" sz="1200" dirty="0"/>
                <a:t>62 Ohm Resistor </a:t>
              </a:r>
            </a:p>
            <a:p>
              <a:pPr lvl="2" algn="ctr"/>
              <a:r>
                <a:rPr lang="en-US" sz="1200" dirty="0"/>
                <a:t>(larger)</a:t>
              </a:r>
            </a:p>
          </p:txBody>
        </p:sp>
      </p:grpSp>
      <p:grpSp>
        <p:nvGrpSpPr>
          <p:cNvPr id="22" name="Group 21">
            <a:extLst>
              <a:ext uri="{FF2B5EF4-FFF2-40B4-BE49-F238E27FC236}">
                <a16:creationId xmlns:a16="http://schemas.microsoft.com/office/drawing/2014/main" id="{BD54AF3A-4D03-98F7-F531-FBCD99775497}"/>
              </a:ext>
            </a:extLst>
          </p:cNvPr>
          <p:cNvGrpSpPr/>
          <p:nvPr/>
        </p:nvGrpSpPr>
        <p:grpSpPr>
          <a:xfrm>
            <a:off x="2655595" y="4992305"/>
            <a:ext cx="2654531" cy="1202413"/>
            <a:chOff x="4548693" y="2655057"/>
            <a:chExt cx="2907587" cy="1535884"/>
          </a:xfrm>
        </p:grpSpPr>
        <p:pic>
          <p:nvPicPr>
            <p:cNvPr id="2052" name="Picture 4" descr="CF Series 10k">
              <a:extLst>
                <a:ext uri="{FF2B5EF4-FFF2-40B4-BE49-F238E27FC236}">
                  <a16:creationId xmlns:a16="http://schemas.microsoft.com/office/drawing/2014/main" id="{B5D814A8-160E-2370-AF88-FE256A7D00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3150" y="2655057"/>
              <a:ext cx="867739" cy="86773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ECBC245-B327-B4A4-1E1B-1415CF522867}"/>
                </a:ext>
              </a:extLst>
            </p:cNvPr>
            <p:cNvSpPr txBox="1"/>
            <p:nvPr/>
          </p:nvSpPr>
          <p:spPr>
            <a:xfrm>
              <a:off x="4548693" y="3601240"/>
              <a:ext cx="2907587" cy="589701"/>
            </a:xfrm>
            <a:prstGeom prst="rect">
              <a:avLst/>
            </a:prstGeom>
            <a:noFill/>
          </p:spPr>
          <p:txBody>
            <a:bodyPr wrap="square">
              <a:spAutoFit/>
            </a:bodyPr>
            <a:lstStyle/>
            <a:p>
              <a:pPr lvl="2" algn="ctr"/>
              <a:r>
                <a:rPr lang="en-US" sz="1200" dirty="0"/>
                <a:t>10K Ohm Resistor </a:t>
              </a:r>
            </a:p>
            <a:p>
              <a:pPr lvl="2" algn="ctr"/>
              <a:r>
                <a:rPr lang="en-US" sz="1200" dirty="0"/>
                <a:t>(smaller)</a:t>
              </a:r>
            </a:p>
          </p:txBody>
        </p:sp>
      </p:grpSp>
      <p:grpSp>
        <p:nvGrpSpPr>
          <p:cNvPr id="31" name="Group 30">
            <a:extLst>
              <a:ext uri="{FF2B5EF4-FFF2-40B4-BE49-F238E27FC236}">
                <a16:creationId xmlns:a16="http://schemas.microsoft.com/office/drawing/2014/main" id="{6DD89ECE-BF2E-CE71-C1B2-3849CE17E453}"/>
              </a:ext>
            </a:extLst>
          </p:cNvPr>
          <p:cNvGrpSpPr/>
          <p:nvPr/>
        </p:nvGrpSpPr>
        <p:grpSpPr>
          <a:xfrm>
            <a:off x="247979" y="5099878"/>
            <a:ext cx="2234676" cy="812655"/>
            <a:chOff x="3136287" y="4355445"/>
            <a:chExt cx="2234676" cy="812654"/>
          </a:xfrm>
        </p:grpSpPr>
        <p:pic>
          <p:nvPicPr>
            <p:cNvPr id="19" name="Picture 18">
              <a:extLst>
                <a:ext uri="{FF2B5EF4-FFF2-40B4-BE49-F238E27FC236}">
                  <a16:creationId xmlns:a16="http://schemas.microsoft.com/office/drawing/2014/main" id="{DDCF88C3-6B67-C3B4-3DB1-F3D7159A73C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4147738" y="4355445"/>
              <a:ext cx="911654" cy="608565"/>
            </a:xfrm>
            <a:prstGeom prst="rect">
              <a:avLst/>
            </a:prstGeom>
          </p:spPr>
        </p:pic>
        <p:sp>
          <p:nvSpPr>
            <p:cNvPr id="30" name="TextBox 29">
              <a:extLst>
                <a:ext uri="{FF2B5EF4-FFF2-40B4-BE49-F238E27FC236}">
                  <a16:creationId xmlns:a16="http://schemas.microsoft.com/office/drawing/2014/main" id="{F7B1AA10-2BD5-F43A-5B5F-B7B7D6594019}"/>
                </a:ext>
              </a:extLst>
            </p:cNvPr>
            <p:cNvSpPr txBox="1"/>
            <p:nvPr/>
          </p:nvSpPr>
          <p:spPr>
            <a:xfrm>
              <a:off x="3136287" y="4891100"/>
              <a:ext cx="2234676" cy="276999"/>
            </a:xfrm>
            <a:prstGeom prst="rect">
              <a:avLst/>
            </a:prstGeom>
            <a:noFill/>
          </p:spPr>
          <p:txBody>
            <a:bodyPr wrap="square">
              <a:spAutoFit/>
            </a:bodyPr>
            <a:lstStyle/>
            <a:p>
              <a:pPr lvl="2" algn="ctr"/>
              <a:r>
                <a:rPr lang="en-US" sz="1200" dirty="0"/>
                <a:t>Photoresistor</a:t>
              </a:r>
            </a:p>
          </p:txBody>
        </p:sp>
      </p:grpSp>
      <p:grpSp>
        <p:nvGrpSpPr>
          <p:cNvPr id="7" name="Group 6">
            <a:extLst>
              <a:ext uri="{FF2B5EF4-FFF2-40B4-BE49-F238E27FC236}">
                <a16:creationId xmlns:a16="http://schemas.microsoft.com/office/drawing/2014/main" id="{106A3DE0-B4C1-FF14-921A-84848605CB0C}"/>
              </a:ext>
            </a:extLst>
          </p:cNvPr>
          <p:cNvGrpSpPr/>
          <p:nvPr/>
        </p:nvGrpSpPr>
        <p:grpSpPr>
          <a:xfrm>
            <a:off x="5200295" y="896190"/>
            <a:ext cx="3840843" cy="5677102"/>
            <a:chOff x="7329547" y="983549"/>
            <a:chExt cx="3840843" cy="5677103"/>
          </a:xfrm>
        </p:grpSpPr>
        <p:pic>
          <p:nvPicPr>
            <p:cNvPr id="12" name="Picture 11">
              <a:extLst>
                <a:ext uri="{FF2B5EF4-FFF2-40B4-BE49-F238E27FC236}">
                  <a16:creationId xmlns:a16="http://schemas.microsoft.com/office/drawing/2014/main" id="{42555CE1-91BE-C2A8-165A-9411CCCD09FA}"/>
                </a:ext>
              </a:extLst>
            </p:cNvPr>
            <p:cNvPicPr>
              <a:picLocks noChangeAspect="1"/>
            </p:cNvPicPr>
            <p:nvPr/>
          </p:nvPicPr>
          <p:blipFill>
            <a:blip r:embed="rId5"/>
            <a:stretch>
              <a:fillRect/>
            </a:stretch>
          </p:blipFill>
          <p:spPr>
            <a:xfrm>
              <a:off x="7329547" y="983549"/>
              <a:ext cx="3840843" cy="5677103"/>
            </a:xfrm>
            <a:prstGeom prst="rect">
              <a:avLst/>
            </a:prstGeom>
          </p:spPr>
        </p:pic>
        <p:sp>
          <p:nvSpPr>
            <p:cNvPr id="23" name="TextBox 22">
              <a:extLst>
                <a:ext uri="{FF2B5EF4-FFF2-40B4-BE49-F238E27FC236}">
                  <a16:creationId xmlns:a16="http://schemas.microsoft.com/office/drawing/2014/main" id="{C8D75E44-CB61-5B9F-60D2-9E47135A5405}"/>
                </a:ext>
              </a:extLst>
            </p:cNvPr>
            <p:cNvSpPr txBox="1"/>
            <p:nvPr/>
          </p:nvSpPr>
          <p:spPr>
            <a:xfrm>
              <a:off x="10065263" y="3975103"/>
              <a:ext cx="391299" cy="307777"/>
            </a:xfrm>
            <a:prstGeom prst="rect">
              <a:avLst/>
            </a:prstGeom>
            <a:noFill/>
          </p:spPr>
          <p:txBody>
            <a:bodyPr wrap="square">
              <a:spAutoFit/>
            </a:bodyPr>
            <a:lstStyle/>
            <a:p>
              <a:pPr algn="ctr"/>
              <a:r>
                <a:rPr lang="en-US" sz="1400" b="1" dirty="0"/>
                <a:t>(1)</a:t>
              </a:r>
            </a:p>
          </p:txBody>
        </p:sp>
        <p:sp>
          <p:nvSpPr>
            <p:cNvPr id="24" name="TextBox 23">
              <a:extLst>
                <a:ext uri="{FF2B5EF4-FFF2-40B4-BE49-F238E27FC236}">
                  <a16:creationId xmlns:a16="http://schemas.microsoft.com/office/drawing/2014/main" id="{153914AE-C57E-9507-46B7-5936B257BA13}"/>
                </a:ext>
              </a:extLst>
            </p:cNvPr>
            <p:cNvSpPr txBox="1"/>
            <p:nvPr/>
          </p:nvSpPr>
          <p:spPr>
            <a:xfrm>
              <a:off x="7762103" y="2762377"/>
              <a:ext cx="391299" cy="307777"/>
            </a:xfrm>
            <a:prstGeom prst="rect">
              <a:avLst/>
            </a:prstGeom>
            <a:noFill/>
          </p:spPr>
          <p:txBody>
            <a:bodyPr wrap="square">
              <a:spAutoFit/>
            </a:bodyPr>
            <a:lstStyle/>
            <a:p>
              <a:pPr algn="ctr"/>
              <a:r>
                <a:rPr lang="en-US" sz="1400" b="1" dirty="0"/>
                <a:t>(2)</a:t>
              </a:r>
            </a:p>
          </p:txBody>
        </p:sp>
        <p:sp>
          <p:nvSpPr>
            <p:cNvPr id="28" name="TextBox 27">
              <a:extLst>
                <a:ext uri="{FF2B5EF4-FFF2-40B4-BE49-F238E27FC236}">
                  <a16:creationId xmlns:a16="http://schemas.microsoft.com/office/drawing/2014/main" id="{EDCADE0D-53ED-5EAB-BB2E-415B5CFF9C77}"/>
                </a:ext>
              </a:extLst>
            </p:cNvPr>
            <p:cNvSpPr txBox="1"/>
            <p:nvPr/>
          </p:nvSpPr>
          <p:spPr>
            <a:xfrm>
              <a:off x="9869614" y="4591473"/>
              <a:ext cx="391299" cy="307777"/>
            </a:xfrm>
            <a:prstGeom prst="rect">
              <a:avLst/>
            </a:prstGeom>
            <a:noFill/>
          </p:spPr>
          <p:txBody>
            <a:bodyPr wrap="square">
              <a:spAutoFit/>
            </a:bodyPr>
            <a:lstStyle/>
            <a:p>
              <a:pPr algn="ctr"/>
              <a:r>
                <a:rPr lang="en-US" sz="1400" b="1" dirty="0"/>
                <a:t>(3)</a:t>
              </a:r>
            </a:p>
          </p:txBody>
        </p:sp>
        <p:sp>
          <p:nvSpPr>
            <p:cNvPr id="29" name="TextBox 28">
              <a:extLst>
                <a:ext uri="{FF2B5EF4-FFF2-40B4-BE49-F238E27FC236}">
                  <a16:creationId xmlns:a16="http://schemas.microsoft.com/office/drawing/2014/main" id="{644B0470-8E5D-92CF-7848-97263C293B0B}"/>
                </a:ext>
              </a:extLst>
            </p:cNvPr>
            <p:cNvSpPr txBox="1"/>
            <p:nvPr/>
          </p:nvSpPr>
          <p:spPr>
            <a:xfrm>
              <a:off x="8213026" y="4591473"/>
              <a:ext cx="391299" cy="307777"/>
            </a:xfrm>
            <a:prstGeom prst="rect">
              <a:avLst/>
            </a:prstGeom>
            <a:noFill/>
          </p:spPr>
          <p:txBody>
            <a:bodyPr wrap="square">
              <a:spAutoFit/>
            </a:bodyPr>
            <a:lstStyle/>
            <a:p>
              <a:pPr algn="ctr"/>
              <a:r>
                <a:rPr lang="en-US" sz="1400" b="1" dirty="0"/>
                <a:t>(4)</a:t>
              </a:r>
            </a:p>
          </p:txBody>
        </p:sp>
        <p:sp>
          <p:nvSpPr>
            <p:cNvPr id="32" name="TextBox 31">
              <a:extLst>
                <a:ext uri="{FF2B5EF4-FFF2-40B4-BE49-F238E27FC236}">
                  <a16:creationId xmlns:a16="http://schemas.microsoft.com/office/drawing/2014/main" id="{613C7404-20B6-ED42-14EF-813E35285B5B}"/>
                </a:ext>
              </a:extLst>
            </p:cNvPr>
            <p:cNvSpPr txBox="1"/>
            <p:nvPr/>
          </p:nvSpPr>
          <p:spPr>
            <a:xfrm>
              <a:off x="7407214" y="5804735"/>
              <a:ext cx="391299" cy="307777"/>
            </a:xfrm>
            <a:prstGeom prst="rect">
              <a:avLst/>
            </a:prstGeom>
            <a:noFill/>
          </p:spPr>
          <p:txBody>
            <a:bodyPr wrap="square">
              <a:spAutoFit/>
            </a:bodyPr>
            <a:lstStyle/>
            <a:p>
              <a:pPr algn="ctr"/>
              <a:r>
                <a:rPr lang="en-US" sz="1400" b="1" dirty="0"/>
                <a:t>(5)</a:t>
              </a:r>
            </a:p>
          </p:txBody>
        </p:sp>
        <p:sp>
          <p:nvSpPr>
            <p:cNvPr id="33" name="TextBox 32">
              <a:extLst>
                <a:ext uri="{FF2B5EF4-FFF2-40B4-BE49-F238E27FC236}">
                  <a16:creationId xmlns:a16="http://schemas.microsoft.com/office/drawing/2014/main" id="{4F2A5944-96E9-9AF7-9AD6-B920CA53E804}"/>
                </a:ext>
              </a:extLst>
            </p:cNvPr>
            <p:cNvSpPr txBox="1"/>
            <p:nvPr/>
          </p:nvSpPr>
          <p:spPr>
            <a:xfrm>
              <a:off x="9406705" y="5515981"/>
              <a:ext cx="525703" cy="307777"/>
            </a:xfrm>
            <a:prstGeom prst="rect">
              <a:avLst/>
            </a:prstGeom>
            <a:noFill/>
          </p:spPr>
          <p:txBody>
            <a:bodyPr wrap="square">
              <a:spAutoFit/>
            </a:bodyPr>
            <a:lstStyle/>
            <a:p>
              <a:pPr algn="ctr"/>
              <a:r>
                <a:rPr lang="en-US" sz="1400" b="1" dirty="0"/>
                <a:t>(6a)</a:t>
              </a:r>
            </a:p>
          </p:txBody>
        </p:sp>
        <p:sp>
          <p:nvSpPr>
            <p:cNvPr id="34" name="TextBox 33">
              <a:extLst>
                <a:ext uri="{FF2B5EF4-FFF2-40B4-BE49-F238E27FC236}">
                  <a16:creationId xmlns:a16="http://schemas.microsoft.com/office/drawing/2014/main" id="{14AF371E-8DD6-B64A-B8C3-6CAE5C75A67E}"/>
                </a:ext>
              </a:extLst>
            </p:cNvPr>
            <p:cNvSpPr txBox="1"/>
            <p:nvPr/>
          </p:nvSpPr>
          <p:spPr>
            <a:xfrm>
              <a:off x="8604723" y="6256475"/>
              <a:ext cx="494339" cy="307777"/>
            </a:xfrm>
            <a:prstGeom prst="rect">
              <a:avLst/>
            </a:prstGeom>
            <a:noFill/>
          </p:spPr>
          <p:txBody>
            <a:bodyPr wrap="square">
              <a:spAutoFit/>
            </a:bodyPr>
            <a:lstStyle/>
            <a:p>
              <a:pPr algn="ctr"/>
              <a:r>
                <a:rPr lang="en-US" sz="1400" b="1" dirty="0"/>
                <a:t>(6c)</a:t>
              </a:r>
            </a:p>
          </p:txBody>
        </p:sp>
        <p:sp>
          <p:nvSpPr>
            <p:cNvPr id="35" name="TextBox 34">
              <a:extLst>
                <a:ext uri="{FF2B5EF4-FFF2-40B4-BE49-F238E27FC236}">
                  <a16:creationId xmlns:a16="http://schemas.microsoft.com/office/drawing/2014/main" id="{7A01FDCE-CDAD-CF8A-6289-040012B77A6F}"/>
                </a:ext>
              </a:extLst>
            </p:cNvPr>
            <p:cNvSpPr txBox="1"/>
            <p:nvPr/>
          </p:nvSpPr>
          <p:spPr>
            <a:xfrm>
              <a:off x="7992496" y="6243599"/>
              <a:ext cx="494339" cy="307777"/>
            </a:xfrm>
            <a:prstGeom prst="rect">
              <a:avLst/>
            </a:prstGeom>
            <a:noFill/>
          </p:spPr>
          <p:txBody>
            <a:bodyPr wrap="square">
              <a:spAutoFit/>
            </a:bodyPr>
            <a:lstStyle/>
            <a:p>
              <a:pPr algn="ctr"/>
              <a:r>
                <a:rPr lang="en-US" sz="1400" b="1" dirty="0"/>
                <a:t>(6b)</a:t>
              </a:r>
            </a:p>
          </p:txBody>
        </p:sp>
        <p:sp>
          <p:nvSpPr>
            <p:cNvPr id="36" name="TextBox 35">
              <a:extLst>
                <a:ext uri="{FF2B5EF4-FFF2-40B4-BE49-F238E27FC236}">
                  <a16:creationId xmlns:a16="http://schemas.microsoft.com/office/drawing/2014/main" id="{B5549939-9734-EB8C-B96C-B7BF1E1D5269}"/>
                </a:ext>
              </a:extLst>
            </p:cNvPr>
            <p:cNvSpPr txBox="1"/>
            <p:nvPr/>
          </p:nvSpPr>
          <p:spPr>
            <a:xfrm>
              <a:off x="10423095" y="6076709"/>
              <a:ext cx="494339" cy="307777"/>
            </a:xfrm>
            <a:prstGeom prst="rect">
              <a:avLst/>
            </a:prstGeom>
            <a:noFill/>
          </p:spPr>
          <p:txBody>
            <a:bodyPr wrap="square">
              <a:spAutoFit/>
            </a:bodyPr>
            <a:lstStyle/>
            <a:p>
              <a:pPr algn="ctr"/>
              <a:r>
                <a:rPr lang="en-US" sz="1400" b="1" dirty="0"/>
                <a:t>(6d)</a:t>
              </a:r>
            </a:p>
          </p:txBody>
        </p:sp>
        <p:sp>
          <p:nvSpPr>
            <p:cNvPr id="37" name="TextBox 36">
              <a:extLst>
                <a:ext uri="{FF2B5EF4-FFF2-40B4-BE49-F238E27FC236}">
                  <a16:creationId xmlns:a16="http://schemas.microsoft.com/office/drawing/2014/main" id="{077A03F8-4D1B-CDA6-6608-C95E5CE07989}"/>
                </a:ext>
              </a:extLst>
            </p:cNvPr>
            <p:cNvSpPr txBox="1"/>
            <p:nvPr/>
          </p:nvSpPr>
          <p:spPr>
            <a:xfrm>
              <a:off x="10534229" y="4686327"/>
              <a:ext cx="494339" cy="307777"/>
            </a:xfrm>
            <a:prstGeom prst="rect">
              <a:avLst/>
            </a:prstGeom>
            <a:noFill/>
          </p:spPr>
          <p:txBody>
            <a:bodyPr wrap="square">
              <a:spAutoFit/>
            </a:bodyPr>
            <a:lstStyle/>
            <a:p>
              <a:pPr algn="ctr"/>
              <a:r>
                <a:rPr lang="en-US" sz="1400" b="1" dirty="0"/>
                <a:t>(6e)</a:t>
              </a:r>
            </a:p>
          </p:txBody>
        </p:sp>
        <p:sp>
          <p:nvSpPr>
            <p:cNvPr id="38" name="TextBox 37">
              <a:extLst>
                <a:ext uri="{FF2B5EF4-FFF2-40B4-BE49-F238E27FC236}">
                  <a16:creationId xmlns:a16="http://schemas.microsoft.com/office/drawing/2014/main" id="{FABE5CB4-FE87-1CC5-BE86-63578E4624B6}"/>
                </a:ext>
              </a:extLst>
            </p:cNvPr>
            <p:cNvSpPr txBox="1"/>
            <p:nvPr/>
          </p:nvSpPr>
          <p:spPr>
            <a:xfrm>
              <a:off x="10304229" y="5306699"/>
              <a:ext cx="494339" cy="307777"/>
            </a:xfrm>
            <a:prstGeom prst="rect">
              <a:avLst/>
            </a:prstGeom>
            <a:noFill/>
          </p:spPr>
          <p:txBody>
            <a:bodyPr wrap="square">
              <a:spAutoFit/>
            </a:bodyPr>
            <a:lstStyle/>
            <a:p>
              <a:pPr algn="ctr"/>
              <a:r>
                <a:rPr lang="en-US" sz="1400" b="1" dirty="0"/>
                <a:t>(6f)</a:t>
              </a:r>
            </a:p>
          </p:txBody>
        </p:sp>
      </p:grpSp>
    </p:spTree>
    <p:extLst>
      <p:ext uri="{BB962C8B-B14F-4D97-AF65-F5344CB8AC3E}">
        <p14:creationId xmlns:p14="http://schemas.microsoft.com/office/powerpoint/2010/main" val="4048435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C6DA6-87B8-4524-B2D3-C7A67460B717}"/>
              </a:ext>
            </a:extLst>
          </p:cNvPr>
          <p:cNvSpPr>
            <a:spLocks noGrp="1"/>
          </p:cNvSpPr>
          <p:nvPr>
            <p:ph type="title"/>
          </p:nvPr>
        </p:nvSpPr>
        <p:spPr/>
        <p:txBody>
          <a:bodyPr>
            <a:normAutofit/>
          </a:bodyPr>
          <a:lstStyle/>
          <a:p>
            <a:r>
              <a:rPr lang="en-US" sz="2800" b="1" dirty="0"/>
              <a:t>Materials (2) – Raspberry Pi Pico</a:t>
            </a:r>
          </a:p>
        </p:txBody>
      </p:sp>
      <p:sp>
        <p:nvSpPr>
          <p:cNvPr id="3" name="Content Placeholder 2">
            <a:extLst>
              <a:ext uri="{FF2B5EF4-FFF2-40B4-BE49-F238E27FC236}">
                <a16:creationId xmlns:a16="http://schemas.microsoft.com/office/drawing/2014/main" id="{AA90AEBE-CA8F-DE2B-994A-9838962DD198}"/>
              </a:ext>
            </a:extLst>
          </p:cNvPr>
          <p:cNvSpPr>
            <a:spLocks noGrp="1"/>
          </p:cNvSpPr>
          <p:nvPr>
            <p:ph idx="1"/>
          </p:nvPr>
        </p:nvSpPr>
        <p:spPr>
          <a:xfrm>
            <a:off x="1098880" y="925407"/>
            <a:ext cx="7886700" cy="932094"/>
          </a:xfrm>
        </p:spPr>
        <p:txBody>
          <a:bodyPr>
            <a:noAutofit/>
          </a:bodyPr>
          <a:lstStyle/>
          <a:p>
            <a:pPr marL="0" indent="0">
              <a:buNone/>
            </a:pPr>
            <a:r>
              <a:rPr lang="en-US" sz="1200" dirty="0"/>
              <a:t>The </a:t>
            </a:r>
            <a:r>
              <a:rPr lang="en-US" sz="1200" b="1" dirty="0"/>
              <a:t>Raspberry Pi Pico</a:t>
            </a:r>
            <a:r>
              <a:rPr lang="en-US" sz="1200" dirty="0"/>
              <a:t> is a low-cost microcontroller board based on the dual-core ARM Cortex-M0+ RP2040 chip, designed for embedded electronics and Internet of Things (IoT) applications.</a:t>
            </a:r>
          </a:p>
          <a:p>
            <a:pPr marL="0" indent="0" algn="ctr">
              <a:buNone/>
            </a:pPr>
            <a:r>
              <a:rPr lang="en-US" sz="1200" b="1" dirty="0">
                <a:highlight>
                  <a:srgbClr val="FFFF00"/>
                </a:highlight>
              </a:rPr>
              <a:t>Use the pinout diagram below throughout the lab to determine how to connect wires to the Pico.</a:t>
            </a:r>
          </a:p>
        </p:txBody>
      </p:sp>
      <p:sp>
        <p:nvSpPr>
          <p:cNvPr id="4" name="Footer Placeholder 3">
            <a:extLst>
              <a:ext uri="{FF2B5EF4-FFF2-40B4-BE49-F238E27FC236}">
                <a16:creationId xmlns:a16="http://schemas.microsoft.com/office/drawing/2014/main" id="{083FA22F-7061-9EAD-77B7-834BF3710947}"/>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34894FDE-E8A3-93B4-2DB8-1D04646D7A7E}"/>
              </a:ext>
            </a:extLst>
          </p:cNvPr>
          <p:cNvSpPr>
            <a:spLocks noGrp="1"/>
          </p:cNvSpPr>
          <p:nvPr>
            <p:ph type="sldNum" sz="quarter" idx="12"/>
          </p:nvPr>
        </p:nvSpPr>
        <p:spPr/>
        <p:txBody>
          <a:bodyPr/>
          <a:lstStyle/>
          <a:p>
            <a:fld id="{9A3029B7-FE6B-4680-9049-80E8298A0825}" type="slidenum">
              <a:rPr lang="en-US" smtClean="0"/>
              <a:t>4</a:t>
            </a:fld>
            <a:endParaRPr lang="en-US"/>
          </a:p>
        </p:txBody>
      </p:sp>
      <p:sp>
        <p:nvSpPr>
          <p:cNvPr id="6" name="Content Placeholder 5">
            <a:extLst>
              <a:ext uri="{FF2B5EF4-FFF2-40B4-BE49-F238E27FC236}">
                <a16:creationId xmlns:a16="http://schemas.microsoft.com/office/drawing/2014/main" id="{26122638-E2C9-8407-3BC0-5CCCD945ACE0}"/>
              </a:ext>
            </a:extLst>
          </p:cNvPr>
          <p:cNvSpPr>
            <a:spLocks noGrp="1"/>
          </p:cNvSpPr>
          <p:nvPr>
            <p:ph idx="13"/>
          </p:nvPr>
        </p:nvSpPr>
        <p:spPr/>
        <p:txBody>
          <a:bodyPr/>
          <a:lstStyle/>
          <a:p>
            <a:endParaRPr lang="en-US" b="1" dirty="0">
              <a:solidFill>
                <a:srgbClr val="0070C0"/>
              </a:solidFill>
            </a:endParaRPr>
          </a:p>
          <a:p>
            <a:r>
              <a:rPr lang="en-US" dirty="0"/>
              <a:t>Intro</a:t>
            </a:r>
          </a:p>
          <a:p>
            <a:r>
              <a:rPr lang="en-US" b="1" dirty="0">
                <a:solidFill>
                  <a:srgbClr val="00B0F0"/>
                </a:solidFill>
              </a:rPr>
              <a:t>Materials</a:t>
            </a:r>
          </a:p>
          <a:p>
            <a:r>
              <a:rPr lang="en-US" dirty="0"/>
              <a:t>Task 0A</a:t>
            </a:r>
          </a:p>
          <a:p>
            <a:r>
              <a:rPr lang="en-US" dirty="0"/>
              <a:t>Task 0B</a:t>
            </a:r>
          </a:p>
          <a:p>
            <a:r>
              <a:rPr lang="en-US" dirty="0"/>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sp>
        <p:nvSpPr>
          <p:cNvPr id="7" name="Content Placeholder 6">
            <a:extLst>
              <a:ext uri="{FF2B5EF4-FFF2-40B4-BE49-F238E27FC236}">
                <a16:creationId xmlns:a16="http://schemas.microsoft.com/office/drawing/2014/main" id="{80B5776A-03E8-F4CE-F820-016AB75C5C57}"/>
              </a:ext>
            </a:extLst>
          </p:cNvPr>
          <p:cNvSpPr>
            <a:spLocks noGrp="1"/>
          </p:cNvSpPr>
          <p:nvPr>
            <p:ph idx="14"/>
          </p:nvPr>
        </p:nvSpPr>
        <p:spPr>
          <a:xfrm>
            <a:off x="1062265" y="4476903"/>
            <a:ext cx="2681057" cy="1635805"/>
          </a:xfrm>
        </p:spPr>
        <p:txBody>
          <a:bodyPr>
            <a:normAutofit lnSpcReduction="10000"/>
          </a:bodyPr>
          <a:lstStyle/>
          <a:p>
            <a:pPr>
              <a:spcBef>
                <a:spcPts val="0"/>
              </a:spcBef>
            </a:pPr>
            <a:r>
              <a:rPr lang="en-US" sz="1200" u="sng" dirty="0"/>
              <a:t>Raspberry Pi Pico Specifications:</a:t>
            </a:r>
          </a:p>
          <a:p>
            <a:pPr marL="285717" indent="-285717">
              <a:spcBef>
                <a:spcPts val="0"/>
              </a:spcBef>
              <a:buFont typeface="Arial" panose="020B0604020202020204" pitchFamily="34" charset="0"/>
              <a:buChar char="•"/>
            </a:pPr>
            <a:r>
              <a:rPr lang="en-US" sz="1200" dirty="0"/>
              <a:t>Dual-core Arm Cortex M0+ processor, flexible clock running up to 133 MHz</a:t>
            </a:r>
          </a:p>
          <a:p>
            <a:pPr marL="285717" indent="-285717">
              <a:spcBef>
                <a:spcPts val="0"/>
              </a:spcBef>
              <a:buFont typeface="Arial" panose="020B0604020202020204" pitchFamily="34" charset="0"/>
              <a:buChar char="•"/>
            </a:pPr>
            <a:r>
              <a:rPr lang="en-US" sz="1200" dirty="0"/>
              <a:t>264KB of SRAM, and 2MB of on-board flash memory</a:t>
            </a:r>
          </a:p>
          <a:p>
            <a:pPr marL="285717" indent="-285717">
              <a:spcBef>
                <a:spcPts val="0"/>
              </a:spcBef>
              <a:buFont typeface="Arial" panose="020B0604020202020204" pitchFamily="34" charset="0"/>
              <a:buChar char="•"/>
            </a:pPr>
            <a:r>
              <a:rPr lang="en-US" sz="1200" dirty="0"/>
              <a:t>26 × multi-function GPIO pins</a:t>
            </a:r>
          </a:p>
          <a:p>
            <a:pPr marL="285717" indent="-285717">
              <a:spcBef>
                <a:spcPts val="0"/>
              </a:spcBef>
              <a:buFont typeface="Arial" panose="020B0604020202020204" pitchFamily="34" charset="0"/>
              <a:buChar char="•"/>
            </a:pPr>
            <a:r>
              <a:rPr lang="en-US" sz="1200" dirty="0"/>
              <a:t>2 × SPI, 2 × I2C, 2 × UART, 3 × 12-bit ADC, 16 × controllable PWM channels</a:t>
            </a:r>
          </a:p>
          <a:p>
            <a:pPr>
              <a:spcBef>
                <a:spcPts val="0"/>
              </a:spcBef>
            </a:pPr>
            <a:endParaRPr lang="en-US" sz="1200" dirty="0"/>
          </a:p>
        </p:txBody>
      </p:sp>
      <p:pic>
        <p:nvPicPr>
          <p:cNvPr id="11" name="Picture 10">
            <a:extLst>
              <a:ext uri="{FF2B5EF4-FFF2-40B4-BE49-F238E27FC236}">
                <a16:creationId xmlns:a16="http://schemas.microsoft.com/office/drawing/2014/main" id="{05FC43F7-1C48-7917-E9EC-D192C1BDFBA9}"/>
              </a:ext>
            </a:extLst>
          </p:cNvPr>
          <p:cNvPicPr>
            <a:picLocks noChangeAspect="1"/>
          </p:cNvPicPr>
          <p:nvPr/>
        </p:nvPicPr>
        <p:blipFill>
          <a:blip r:embed="rId3"/>
          <a:stretch>
            <a:fillRect/>
          </a:stretch>
        </p:blipFill>
        <p:spPr>
          <a:xfrm>
            <a:off x="3860638" y="2100305"/>
            <a:ext cx="5209682" cy="3681426"/>
          </a:xfrm>
          <a:prstGeom prst="rect">
            <a:avLst/>
          </a:prstGeom>
        </p:spPr>
      </p:pic>
      <p:sp>
        <p:nvSpPr>
          <p:cNvPr id="12" name="Content Placeholder 6">
            <a:extLst>
              <a:ext uri="{FF2B5EF4-FFF2-40B4-BE49-F238E27FC236}">
                <a16:creationId xmlns:a16="http://schemas.microsoft.com/office/drawing/2014/main" id="{3121A512-6CE4-556E-EDC9-ADBCC0B48CD3}"/>
              </a:ext>
            </a:extLst>
          </p:cNvPr>
          <p:cNvSpPr txBox="1">
            <a:spLocks/>
          </p:cNvSpPr>
          <p:nvPr/>
        </p:nvSpPr>
        <p:spPr>
          <a:xfrm>
            <a:off x="6440958" y="5325372"/>
            <a:ext cx="2702788" cy="97604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1200" b="1" dirty="0">
                <a:solidFill>
                  <a:srgbClr val="FF0000"/>
                </a:solidFill>
              </a:rPr>
              <a:t>3V3: +3.3V Power Pin</a:t>
            </a:r>
          </a:p>
          <a:p>
            <a:pPr>
              <a:spcBef>
                <a:spcPts val="0"/>
              </a:spcBef>
            </a:pPr>
            <a:r>
              <a:rPr lang="en-US" sz="1200" b="1" dirty="0"/>
              <a:t>GND: Ground Pin (-)</a:t>
            </a:r>
          </a:p>
          <a:p>
            <a:pPr>
              <a:spcBef>
                <a:spcPts val="0"/>
              </a:spcBef>
            </a:pPr>
            <a:r>
              <a:rPr lang="en-US" sz="1200" dirty="0">
                <a:solidFill>
                  <a:srgbClr val="00B050"/>
                </a:solidFill>
              </a:rPr>
              <a:t>GPIO: General Purpose Input/Output</a:t>
            </a:r>
          </a:p>
          <a:p>
            <a:pPr>
              <a:spcBef>
                <a:spcPts val="0"/>
              </a:spcBef>
            </a:pPr>
            <a:r>
              <a:rPr lang="en-US" sz="1200" dirty="0">
                <a:solidFill>
                  <a:schemeClr val="accent6">
                    <a:lumMod val="50000"/>
                  </a:schemeClr>
                </a:solidFill>
              </a:rPr>
              <a:t>ADC: Analog to Digital Converter </a:t>
            </a:r>
          </a:p>
        </p:txBody>
      </p:sp>
      <p:sp>
        <p:nvSpPr>
          <p:cNvPr id="9" name="TextBox 8">
            <a:extLst>
              <a:ext uri="{FF2B5EF4-FFF2-40B4-BE49-F238E27FC236}">
                <a16:creationId xmlns:a16="http://schemas.microsoft.com/office/drawing/2014/main" id="{03C2A099-CEED-FD4E-4DEE-47063AA2A935}"/>
              </a:ext>
            </a:extLst>
          </p:cNvPr>
          <p:cNvSpPr txBox="1"/>
          <p:nvPr/>
        </p:nvSpPr>
        <p:spPr>
          <a:xfrm>
            <a:off x="5178457" y="1878175"/>
            <a:ext cx="2535943" cy="33855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1600" b="1" i="1" dirty="0">
                <a:solidFill>
                  <a:srgbClr val="00B050"/>
                </a:solidFill>
              </a:rPr>
              <a:t>Raspberry Pi Pico Pinout</a:t>
            </a:r>
            <a:r>
              <a:rPr lang="en-US" sz="1600" i="1" dirty="0">
                <a:solidFill>
                  <a:srgbClr val="00B050"/>
                </a:solidFill>
              </a:rPr>
              <a:t> </a:t>
            </a:r>
          </a:p>
        </p:txBody>
      </p:sp>
      <p:sp>
        <p:nvSpPr>
          <p:cNvPr id="10" name="Content Placeholder 6">
            <a:extLst>
              <a:ext uri="{FF2B5EF4-FFF2-40B4-BE49-F238E27FC236}">
                <a16:creationId xmlns:a16="http://schemas.microsoft.com/office/drawing/2014/main" id="{5F203D32-22C2-A810-C17D-6817D4A157B1}"/>
              </a:ext>
            </a:extLst>
          </p:cNvPr>
          <p:cNvSpPr txBox="1">
            <a:spLocks/>
          </p:cNvSpPr>
          <p:nvPr/>
        </p:nvSpPr>
        <p:spPr>
          <a:xfrm>
            <a:off x="1098879" y="1905921"/>
            <a:ext cx="2644445" cy="1424095"/>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85000" lnSpcReduction="100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u="sng" dirty="0">
                <a:solidFill>
                  <a:srgbClr val="FF0000"/>
                </a:solidFill>
              </a:rPr>
              <a:t>WARNING</a:t>
            </a:r>
          </a:p>
          <a:p>
            <a:pPr algn="ctr">
              <a:spcBef>
                <a:spcPts val="0"/>
              </a:spcBef>
            </a:pPr>
            <a:endParaRPr lang="en-US" u="sng" dirty="0">
              <a:solidFill>
                <a:srgbClr val="FF0000"/>
              </a:solidFill>
            </a:endParaRPr>
          </a:p>
          <a:p>
            <a:pPr>
              <a:spcBef>
                <a:spcPts val="0"/>
              </a:spcBef>
            </a:pPr>
            <a:r>
              <a:rPr lang="en-US" dirty="0">
                <a:solidFill>
                  <a:srgbClr val="FF0000"/>
                </a:solidFill>
              </a:rPr>
              <a:t>The Pico is a 3.3V microcontroller. DO NOT apply &gt;3.3V (i.e. 5V or 12V) to any pin on the device, except:</a:t>
            </a:r>
          </a:p>
          <a:p>
            <a:pPr>
              <a:spcBef>
                <a:spcPts val="0"/>
              </a:spcBef>
            </a:pPr>
            <a:r>
              <a:rPr lang="en-US" dirty="0">
                <a:solidFill>
                  <a:srgbClr val="FF0000"/>
                </a:solidFill>
              </a:rPr>
              <a:t>- 5V via the USB connecter (i.e. power from laptop or 5V charger)</a:t>
            </a:r>
          </a:p>
          <a:p>
            <a:pPr>
              <a:spcBef>
                <a:spcPts val="0"/>
              </a:spcBef>
            </a:pPr>
            <a:r>
              <a:rPr lang="en-US" dirty="0">
                <a:solidFill>
                  <a:srgbClr val="FF0000"/>
                </a:solidFill>
              </a:rPr>
              <a:t>- 5V to VBUS pin</a:t>
            </a:r>
          </a:p>
          <a:p>
            <a:pPr>
              <a:spcBef>
                <a:spcPts val="0"/>
              </a:spcBef>
            </a:pPr>
            <a:r>
              <a:rPr lang="en-US" dirty="0">
                <a:solidFill>
                  <a:srgbClr val="FF0000"/>
                </a:solidFill>
              </a:rPr>
              <a:t>- 1.8V-5.5V to VSYS pin</a:t>
            </a:r>
          </a:p>
          <a:p>
            <a:pPr>
              <a:spcBef>
                <a:spcPts val="0"/>
              </a:spcBef>
            </a:pPr>
            <a:endParaRPr lang="en-US" dirty="0">
              <a:solidFill>
                <a:srgbClr val="FF0000"/>
              </a:solidFill>
            </a:endParaRPr>
          </a:p>
        </p:txBody>
      </p:sp>
      <p:sp>
        <p:nvSpPr>
          <p:cNvPr id="14" name="TextBox 13">
            <a:extLst>
              <a:ext uri="{FF2B5EF4-FFF2-40B4-BE49-F238E27FC236}">
                <a16:creationId xmlns:a16="http://schemas.microsoft.com/office/drawing/2014/main" id="{ADFF4B28-0AF4-3E73-EFCE-4B84D84F9F1F}"/>
              </a:ext>
            </a:extLst>
          </p:cNvPr>
          <p:cNvSpPr txBox="1"/>
          <p:nvPr/>
        </p:nvSpPr>
        <p:spPr>
          <a:xfrm>
            <a:off x="964002" y="6001337"/>
            <a:ext cx="5910714" cy="600164"/>
          </a:xfrm>
          <a:prstGeom prst="rect">
            <a:avLst/>
          </a:prstGeom>
          <a:noFill/>
        </p:spPr>
        <p:txBody>
          <a:bodyPr wrap="square">
            <a:spAutoFit/>
          </a:bodyPr>
          <a:lstStyle/>
          <a:p>
            <a:r>
              <a:rPr lang="en-US" sz="1100" dirty="0"/>
              <a:t>Documentation: </a:t>
            </a:r>
            <a:r>
              <a:rPr lang="en-US" sz="1100" dirty="0">
                <a:hlinkClick r:id="rId4"/>
              </a:rPr>
              <a:t>https://www.raspberrypi.com/documentation/microcontrollers/pico-series.html#pico-1-family</a:t>
            </a:r>
            <a:r>
              <a:rPr lang="en-US" sz="1100" dirty="0"/>
              <a:t> </a:t>
            </a:r>
          </a:p>
          <a:p>
            <a:r>
              <a:rPr lang="en-US" sz="1100" dirty="0"/>
              <a:t>Datasheet: </a:t>
            </a:r>
            <a:r>
              <a:rPr lang="en-US" sz="1100" dirty="0">
                <a:hlinkClick r:id="rId5"/>
              </a:rPr>
              <a:t>https://datasheets.raspberrypi.com/pico/pico-datasheet.pdf</a:t>
            </a:r>
            <a:r>
              <a:rPr lang="en-US" sz="1100" dirty="0"/>
              <a:t> </a:t>
            </a:r>
          </a:p>
        </p:txBody>
      </p:sp>
      <p:sp>
        <p:nvSpPr>
          <p:cNvPr id="15" name="Content Placeholder 6">
            <a:extLst>
              <a:ext uri="{FF2B5EF4-FFF2-40B4-BE49-F238E27FC236}">
                <a16:creationId xmlns:a16="http://schemas.microsoft.com/office/drawing/2014/main" id="{77023A40-2A48-F28D-315B-1D8B1C7E47F4}"/>
              </a:ext>
            </a:extLst>
          </p:cNvPr>
          <p:cNvSpPr txBox="1">
            <a:spLocks/>
          </p:cNvSpPr>
          <p:nvPr/>
        </p:nvSpPr>
        <p:spPr>
          <a:xfrm>
            <a:off x="1062266" y="3462828"/>
            <a:ext cx="2681058" cy="883071"/>
          </a:xfrm>
          <a:prstGeom prst="rect">
            <a:avLst/>
          </a:prstGeom>
          <a:ln/>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100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100" u="sng" dirty="0"/>
              <a:t>NOTE</a:t>
            </a:r>
          </a:p>
          <a:p>
            <a:pPr>
              <a:spcBef>
                <a:spcPts val="0"/>
              </a:spcBef>
            </a:pPr>
            <a:r>
              <a:rPr lang="en-US" sz="1100" dirty="0"/>
              <a:t>The Raspberry Pi Pico can be programmed with either </a:t>
            </a:r>
            <a:r>
              <a:rPr lang="en-US" sz="1100" dirty="0" err="1"/>
              <a:t>Micropython</a:t>
            </a:r>
            <a:r>
              <a:rPr lang="en-US" sz="1100" dirty="0"/>
              <a:t> or C++. We’ll be using the Arduino environment to program it in C++, but note that many examples online use </a:t>
            </a:r>
            <a:r>
              <a:rPr lang="en-US" sz="1100" dirty="0" err="1"/>
              <a:t>Micropython</a:t>
            </a:r>
            <a:r>
              <a:rPr lang="en-US" sz="1100" dirty="0"/>
              <a:t>. </a:t>
            </a:r>
          </a:p>
          <a:p>
            <a:pPr lvl="1">
              <a:spcBef>
                <a:spcPts val="0"/>
              </a:spcBef>
            </a:pPr>
            <a:endParaRPr lang="en-US" sz="1100" dirty="0"/>
          </a:p>
          <a:p>
            <a:pPr>
              <a:spcBef>
                <a:spcPts val="0"/>
              </a:spcBef>
            </a:pPr>
            <a:endParaRPr lang="en-US" sz="1100" dirty="0"/>
          </a:p>
        </p:txBody>
      </p:sp>
    </p:spTree>
    <p:extLst>
      <p:ext uri="{BB962C8B-B14F-4D97-AF65-F5344CB8AC3E}">
        <p14:creationId xmlns:p14="http://schemas.microsoft.com/office/powerpoint/2010/main" val="1423098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89826-9341-69D1-B10E-25D8065A1230}"/>
              </a:ext>
            </a:extLst>
          </p:cNvPr>
          <p:cNvSpPr>
            <a:spLocks noGrp="1"/>
          </p:cNvSpPr>
          <p:nvPr>
            <p:ph type="title"/>
          </p:nvPr>
        </p:nvSpPr>
        <p:spPr/>
        <p:txBody>
          <a:bodyPr>
            <a:normAutofit/>
          </a:bodyPr>
          <a:lstStyle/>
          <a:p>
            <a:r>
              <a:rPr lang="en-US" sz="2800" b="1" dirty="0"/>
              <a:t>Materials (3) – Solderless Breadboard</a:t>
            </a:r>
          </a:p>
        </p:txBody>
      </p:sp>
      <p:sp>
        <p:nvSpPr>
          <p:cNvPr id="3" name="Content Placeholder 2">
            <a:extLst>
              <a:ext uri="{FF2B5EF4-FFF2-40B4-BE49-F238E27FC236}">
                <a16:creationId xmlns:a16="http://schemas.microsoft.com/office/drawing/2014/main" id="{923EB7F6-A347-AEFB-8A53-D1D6F3C175DF}"/>
              </a:ext>
            </a:extLst>
          </p:cNvPr>
          <p:cNvSpPr>
            <a:spLocks noGrp="1"/>
          </p:cNvSpPr>
          <p:nvPr>
            <p:ph idx="1"/>
          </p:nvPr>
        </p:nvSpPr>
        <p:spPr>
          <a:xfrm>
            <a:off x="1066992" y="953109"/>
            <a:ext cx="4732362" cy="1552960"/>
          </a:xfrm>
        </p:spPr>
        <p:txBody>
          <a:bodyPr>
            <a:normAutofit/>
          </a:bodyPr>
          <a:lstStyle/>
          <a:p>
            <a:pPr marL="0" indent="0">
              <a:buNone/>
            </a:pPr>
            <a:r>
              <a:rPr lang="en-US" sz="1200" dirty="0"/>
              <a:t>A breadboard is a reusable platform for prototyping electronic circuits without soldering.</a:t>
            </a:r>
          </a:p>
          <a:p>
            <a:pPr marL="0" indent="0">
              <a:buNone/>
            </a:pPr>
            <a:r>
              <a:rPr lang="en-US" sz="1200" dirty="0"/>
              <a:t>Interconnected rows and columns allow components to be connected via wires that are easily inserted and rearranged.</a:t>
            </a:r>
          </a:p>
          <a:p>
            <a:pPr marL="0" indent="0">
              <a:buNone/>
            </a:pPr>
            <a:r>
              <a:rPr lang="en-US" sz="1200" dirty="0"/>
              <a:t>In addition to the breadboard, the beginner kit contains a jumper kit whose wires can be used to make connections on the breadboard.</a:t>
            </a:r>
          </a:p>
        </p:txBody>
      </p:sp>
      <p:sp>
        <p:nvSpPr>
          <p:cNvPr id="4" name="Footer Placeholder 3">
            <a:extLst>
              <a:ext uri="{FF2B5EF4-FFF2-40B4-BE49-F238E27FC236}">
                <a16:creationId xmlns:a16="http://schemas.microsoft.com/office/drawing/2014/main" id="{1F0176A2-0A14-6CCA-8B19-4BD52800D12A}"/>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F1C48DF5-058C-B32B-B523-55219629797D}"/>
              </a:ext>
            </a:extLst>
          </p:cNvPr>
          <p:cNvSpPr>
            <a:spLocks noGrp="1"/>
          </p:cNvSpPr>
          <p:nvPr>
            <p:ph type="sldNum" sz="quarter" idx="12"/>
          </p:nvPr>
        </p:nvSpPr>
        <p:spPr/>
        <p:txBody>
          <a:bodyPr/>
          <a:lstStyle/>
          <a:p>
            <a:fld id="{9A3029B7-FE6B-4680-9049-80E8298A0825}" type="slidenum">
              <a:rPr lang="en-US" smtClean="0"/>
              <a:t>5</a:t>
            </a:fld>
            <a:endParaRPr lang="en-US"/>
          </a:p>
        </p:txBody>
      </p:sp>
      <p:sp>
        <p:nvSpPr>
          <p:cNvPr id="6" name="Content Placeholder 5">
            <a:extLst>
              <a:ext uri="{FF2B5EF4-FFF2-40B4-BE49-F238E27FC236}">
                <a16:creationId xmlns:a16="http://schemas.microsoft.com/office/drawing/2014/main" id="{392E9F5A-DDDC-36D3-543C-92049253D716}"/>
              </a:ext>
            </a:extLst>
          </p:cNvPr>
          <p:cNvSpPr>
            <a:spLocks noGrp="1"/>
          </p:cNvSpPr>
          <p:nvPr>
            <p:ph idx="13"/>
          </p:nvPr>
        </p:nvSpPr>
        <p:spPr/>
        <p:txBody>
          <a:bodyPr/>
          <a:lstStyle/>
          <a:p>
            <a:endParaRPr lang="en-US" b="1" dirty="0">
              <a:solidFill>
                <a:srgbClr val="0070C0"/>
              </a:solidFill>
            </a:endParaRPr>
          </a:p>
          <a:p>
            <a:r>
              <a:rPr lang="en-US" dirty="0"/>
              <a:t>Intro</a:t>
            </a:r>
          </a:p>
          <a:p>
            <a:r>
              <a:rPr lang="en-US" b="1" dirty="0">
                <a:solidFill>
                  <a:srgbClr val="00B0F0"/>
                </a:solidFill>
              </a:rPr>
              <a:t>Materials</a:t>
            </a:r>
          </a:p>
          <a:p>
            <a:r>
              <a:rPr lang="en-US" dirty="0"/>
              <a:t>Task 0A</a:t>
            </a:r>
          </a:p>
          <a:p>
            <a:r>
              <a:rPr lang="en-US" dirty="0"/>
              <a:t>Task 0B</a:t>
            </a:r>
          </a:p>
          <a:p>
            <a:r>
              <a:rPr lang="en-US" dirty="0"/>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sp>
        <p:nvSpPr>
          <p:cNvPr id="7" name="Content Placeholder 6">
            <a:extLst>
              <a:ext uri="{FF2B5EF4-FFF2-40B4-BE49-F238E27FC236}">
                <a16:creationId xmlns:a16="http://schemas.microsoft.com/office/drawing/2014/main" id="{89BFCD1F-2422-1238-7FAF-B88856ADF645}"/>
              </a:ext>
            </a:extLst>
          </p:cNvPr>
          <p:cNvSpPr>
            <a:spLocks noGrp="1"/>
          </p:cNvSpPr>
          <p:nvPr>
            <p:ph idx="14"/>
          </p:nvPr>
        </p:nvSpPr>
        <p:spPr>
          <a:xfrm>
            <a:off x="5291950" y="6513858"/>
            <a:ext cx="4456737" cy="365125"/>
          </a:xfrm>
        </p:spPr>
        <p:txBody>
          <a:bodyPr>
            <a:normAutofit/>
          </a:bodyPr>
          <a:lstStyle/>
          <a:p>
            <a:r>
              <a:rPr lang="en-US" sz="1100" dirty="0"/>
              <a:t>Further Reading: </a:t>
            </a:r>
            <a:r>
              <a:rPr lang="en-US" sz="1100" dirty="0">
                <a:hlinkClick r:id="rId2"/>
              </a:rPr>
              <a:t>Adafruit </a:t>
            </a:r>
            <a:r>
              <a:rPr lang="en-US" sz="1100" dirty="0" err="1">
                <a:hlinkClick r:id="rId2"/>
              </a:rPr>
              <a:t>Breadboads</a:t>
            </a:r>
            <a:r>
              <a:rPr lang="en-US" sz="1100" dirty="0">
                <a:hlinkClick r:id="rId2"/>
              </a:rPr>
              <a:t> for Beginners</a:t>
            </a:r>
            <a:endParaRPr lang="en-US" sz="1100" dirty="0"/>
          </a:p>
        </p:txBody>
      </p:sp>
      <p:grpSp>
        <p:nvGrpSpPr>
          <p:cNvPr id="15" name="Group 14">
            <a:extLst>
              <a:ext uri="{FF2B5EF4-FFF2-40B4-BE49-F238E27FC236}">
                <a16:creationId xmlns:a16="http://schemas.microsoft.com/office/drawing/2014/main" id="{149C7AD9-A11B-FC08-BB25-7C52B52C10E9}"/>
              </a:ext>
            </a:extLst>
          </p:cNvPr>
          <p:cNvGrpSpPr>
            <a:grpSpLocks noChangeAspect="1"/>
          </p:cNvGrpSpPr>
          <p:nvPr/>
        </p:nvGrpSpPr>
        <p:grpSpPr>
          <a:xfrm>
            <a:off x="1141323" y="4016211"/>
            <a:ext cx="3019127" cy="2622009"/>
            <a:chOff x="7850056" y="3059684"/>
            <a:chExt cx="3672525" cy="3189462"/>
          </a:xfrm>
        </p:grpSpPr>
        <p:pic>
          <p:nvPicPr>
            <p:cNvPr id="3079" name="Picture 7" descr="Pico Graphic Programming Lesson 2: Use Push Button to control LED «  osoyoo.com">
              <a:extLst>
                <a:ext uri="{FF2B5EF4-FFF2-40B4-BE49-F238E27FC236}">
                  <a16:creationId xmlns:a16="http://schemas.microsoft.com/office/drawing/2014/main" id="{F0D707B4-6343-70D3-F981-5B89B60571F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867" b="16478"/>
            <a:stretch>
              <a:fillRect/>
            </a:stretch>
          </p:blipFill>
          <p:spPr bwMode="auto">
            <a:xfrm>
              <a:off x="7850056" y="3059684"/>
              <a:ext cx="3672525" cy="266825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A726638-AB56-C8DB-EBEE-F975F8E5A8F3}"/>
                </a:ext>
              </a:extLst>
            </p:cNvPr>
            <p:cNvSpPr txBox="1"/>
            <p:nvPr/>
          </p:nvSpPr>
          <p:spPr>
            <a:xfrm>
              <a:off x="7850056" y="5687568"/>
              <a:ext cx="3672525" cy="561578"/>
            </a:xfrm>
            <a:prstGeom prst="rect">
              <a:avLst/>
            </a:prstGeom>
            <a:noFill/>
          </p:spPr>
          <p:txBody>
            <a:bodyPr wrap="square">
              <a:spAutoFit/>
            </a:bodyPr>
            <a:lstStyle/>
            <a:p>
              <a:r>
                <a:rPr lang="en-US" sz="1200" dirty="0"/>
                <a:t>Example wiring diagram for an LED and push button connected to a Pico</a:t>
              </a:r>
            </a:p>
          </p:txBody>
        </p:sp>
      </p:grpSp>
      <p:grpSp>
        <p:nvGrpSpPr>
          <p:cNvPr id="14" name="Group 13">
            <a:extLst>
              <a:ext uri="{FF2B5EF4-FFF2-40B4-BE49-F238E27FC236}">
                <a16:creationId xmlns:a16="http://schemas.microsoft.com/office/drawing/2014/main" id="{258E2157-52A9-C3AB-6F15-372F4DE6CFE1}"/>
              </a:ext>
            </a:extLst>
          </p:cNvPr>
          <p:cNvGrpSpPr/>
          <p:nvPr/>
        </p:nvGrpSpPr>
        <p:grpSpPr>
          <a:xfrm>
            <a:off x="4496954" y="4166557"/>
            <a:ext cx="4456737" cy="1892839"/>
            <a:chOff x="2234137" y="3950589"/>
            <a:chExt cx="5162764" cy="2276103"/>
          </a:xfrm>
        </p:grpSpPr>
        <p:pic>
          <p:nvPicPr>
            <p:cNvPr id="3077" name="Picture 5" descr="How to Connect a Circuit on a Breadboard | EMT Laboratories – Open  Education Resources">
              <a:extLst>
                <a:ext uri="{FF2B5EF4-FFF2-40B4-BE49-F238E27FC236}">
                  <a16:creationId xmlns:a16="http://schemas.microsoft.com/office/drawing/2014/main" id="{8DBCCBE5-1270-D54E-9F2B-1177CC2F07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4137" y="3950589"/>
              <a:ext cx="5162764" cy="189731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1FDE87C0-E8B4-AF3F-C9DB-3045D04F49EF}"/>
                </a:ext>
              </a:extLst>
            </p:cNvPr>
            <p:cNvSpPr txBox="1"/>
            <p:nvPr/>
          </p:nvSpPr>
          <p:spPr>
            <a:xfrm>
              <a:off x="2234137" y="5849198"/>
              <a:ext cx="5162764" cy="377494"/>
            </a:xfrm>
            <a:prstGeom prst="rect">
              <a:avLst/>
            </a:prstGeom>
            <a:noFill/>
          </p:spPr>
          <p:txBody>
            <a:bodyPr wrap="square">
              <a:spAutoFit/>
            </a:bodyPr>
            <a:lstStyle/>
            <a:p>
              <a:pPr algn="ctr"/>
              <a:r>
                <a:rPr lang="en-US" sz="1400" dirty="0"/>
                <a:t>Electrical connections within breadboard</a:t>
              </a:r>
            </a:p>
          </p:txBody>
        </p:sp>
      </p:grpSp>
      <p:grpSp>
        <p:nvGrpSpPr>
          <p:cNvPr id="17" name="Group 16">
            <a:extLst>
              <a:ext uri="{FF2B5EF4-FFF2-40B4-BE49-F238E27FC236}">
                <a16:creationId xmlns:a16="http://schemas.microsoft.com/office/drawing/2014/main" id="{3994527F-06DA-3C76-5980-A366C03A9439}"/>
              </a:ext>
            </a:extLst>
          </p:cNvPr>
          <p:cNvGrpSpPr/>
          <p:nvPr/>
        </p:nvGrpSpPr>
        <p:grpSpPr>
          <a:xfrm>
            <a:off x="906403" y="2187563"/>
            <a:ext cx="4841455" cy="1868227"/>
            <a:chOff x="2653933" y="2636204"/>
            <a:chExt cx="4841454" cy="1868227"/>
          </a:xfrm>
        </p:grpSpPr>
        <p:pic>
          <p:nvPicPr>
            <p:cNvPr id="13" name="Picture 12">
              <a:extLst>
                <a:ext uri="{FF2B5EF4-FFF2-40B4-BE49-F238E27FC236}">
                  <a16:creationId xmlns:a16="http://schemas.microsoft.com/office/drawing/2014/main" id="{DD54BCAE-8C99-C125-471E-3469492417CA}"/>
                </a:ext>
              </a:extLst>
            </p:cNvPr>
            <p:cNvPicPr>
              <a:picLocks noChangeAspect="1"/>
            </p:cNvPicPr>
            <p:nvPr/>
          </p:nvPicPr>
          <p:blipFill>
            <a:blip r:embed="rId5">
              <a:clrChange>
                <a:clrFrom>
                  <a:srgbClr val="FFFFFF"/>
                </a:clrFrom>
                <a:clrTo>
                  <a:srgbClr val="FFFFFF">
                    <a:alpha val="0"/>
                  </a:srgbClr>
                </a:clrTo>
              </a:clrChange>
            </a:blip>
            <a:stretch>
              <a:fillRect/>
            </a:stretch>
          </p:blipFill>
          <p:spPr>
            <a:xfrm rot="1003602">
              <a:off x="3465909" y="2636204"/>
              <a:ext cx="3217502" cy="1868227"/>
            </a:xfrm>
            <a:prstGeom prst="rect">
              <a:avLst/>
            </a:prstGeom>
          </p:spPr>
        </p:pic>
        <p:sp>
          <p:nvSpPr>
            <p:cNvPr id="16" name="TextBox 15">
              <a:extLst>
                <a:ext uri="{FF2B5EF4-FFF2-40B4-BE49-F238E27FC236}">
                  <a16:creationId xmlns:a16="http://schemas.microsoft.com/office/drawing/2014/main" id="{EC94E52E-F414-912A-A2A2-522A51BBC108}"/>
                </a:ext>
              </a:extLst>
            </p:cNvPr>
            <p:cNvSpPr txBox="1"/>
            <p:nvPr/>
          </p:nvSpPr>
          <p:spPr>
            <a:xfrm>
              <a:off x="2653933" y="4009884"/>
              <a:ext cx="4841454" cy="307777"/>
            </a:xfrm>
            <a:prstGeom prst="rect">
              <a:avLst/>
            </a:prstGeom>
            <a:noFill/>
          </p:spPr>
          <p:txBody>
            <a:bodyPr wrap="square">
              <a:spAutoFit/>
            </a:bodyPr>
            <a:lstStyle/>
            <a:p>
              <a:pPr algn="ctr"/>
              <a:r>
                <a:rPr lang="en-US" sz="1400" dirty="0"/>
                <a:t>Jumper wire kit</a:t>
              </a:r>
            </a:p>
          </p:txBody>
        </p:sp>
      </p:grpSp>
      <p:grpSp>
        <p:nvGrpSpPr>
          <p:cNvPr id="23" name="Group 22">
            <a:extLst>
              <a:ext uri="{FF2B5EF4-FFF2-40B4-BE49-F238E27FC236}">
                <a16:creationId xmlns:a16="http://schemas.microsoft.com/office/drawing/2014/main" id="{9158328E-503D-73D3-FE28-F7113A4CAEE2}"/>
              </a:ext>
            </a:extLst>
          </p:cNvPr>
          <p:cNvGrpSpPr>
            <a:grpSpLocks noChangeAspect="1"/>
          </p:cNvGrpSpPr>
          <p:nvPr/>
        </p:nvGrpSpPr>
        <p:grpSpPr>
          <a:xfrm>
            <a:off x="5676324" y="1246144"/>
            <a:ext cx="3421310" cy="2384408"/>
            <a:chOff x="7576309" y="1025543"/>
            <a:chExt cx="4364936" cy="3042048"/>
          </a:xfrm>
        </p:grpSpPr>
        <p:pic>
          <p:nvPicPr>
            <p:cNvPr id="19" name="Picture 18">
              <a:extLst>
                <a:ext uri="{FF2B5EF4-FFF2-40B4-BE49-F238E27FC236}">
                  <a16:creationId xmlns:a16="http://schemas.microsoft.com/office/drawing/2014/main" id="{42E93332-7FF3-3330-5148-D313A8386B80}"/>
                </a:ext>
              </a:extLst>
            </p:cNvPr>
            <p:cNvPicPr>
              <a:picLocks noChangeAspect="1"/>
            </p:cNvPicPr>
            <p:nvPr/>
          </p:nvPicPr>
          <p:blipFill>
            <a:blip r:embed="rId6"/>
            <a:stretch>
              <a:fillRect/>
            </a:stretch>
          </p:blipFill>
          <p:spPr>
            <a:xfrm>
              <a:off x="7733270" y="1025543"/>
              <a:ext cx="3307415" cy="1981279"/>
            </a:xfrm>
            <a:prstGeom prst="rect">
              <a:avLst/>
            </a:prstGeom>
          </p:spPr>
        </p:pic>
        <p:pic>
          <p:nvPicPr>
            <p:cNvPr id="21" name="Picture 20">
              <a:extLst>
                <a:ext uri="{FF2B5EF4-FFF2-40B4-BE49-F238E27FC236}">
                  <a16:creationId xmlns:a16="http://schemas.microsoft.com/office/drawing/2014/main" id="{7718B6D9-9B70-F63E-A295-99C0466F5745}"/>
                </a:ext>
              </a:extLst>
            </p:cNvPr>
            <p:cNvPicPr>
              <a:picLocks noChangeAspect="1"/>
            </p:cNvPicPr>
            <p:nvPr/>
          </p:nvPicPr>
          <p:blipFill>
            <a:blip r:embed="rId7"/>
            <a:stretch>
              <a:fillRect/>
            </a:stretch>
          </p:blipFill>
          <p:spPr>
            <a:xfrm>
              <a:off x="9575910" y="2499216"/>
              <a:ext cx="2365335" cy="1568375"/>
            </a:xfrm>
            <a:prstGeom prst="rect">
              <a:avLst/>
            </a:prstGeom>
          </p:spPr>
        </p:pic>
        <p:sp>
          <p:nvSpPr>
            <p:cNvPr id="22" name="TextBox 21">
              <a:extLst>
                <a:ext uri="{FF2B5EF4-FFF2-40B4-BE49-F238E27FC236}">
                  <a16:creationId xmlns:a16="http://schemas.microsoft.com/office/drawing/2014/main" id="{9CA82579-17F8-A703-7301-0A9FADB9F282}"/>
                </a:ext>
              </a:extLst>
            </p:cNvPr>
            <p:cNvSpPr txBox="1"/>
            <p:nvPr/>
          </p:nvSpPr>
          <p:spPr>
            <a:xfrm>
              <a:off x="7576309" y="3014818"/>
              <a:ext cx="2098738" cy="949998"/>
            </a:xfrm>
            <a:prstGeom prst="rect">
              <a:avLst/>
            </a:prstGeom>
            <a:noFill/>
          </p:spPr>
          <p:txBody>
            <a:bodyPr wrap="square">
              <a:spAutoFit/>
            </a:bodyPr>
            <a:lstStyle/>
            <a:p>
              <a:pPr algn="ctr"/>
              <a:r>
                <a:rPr lang="en-US" sz="1200" dirty="0"/>
                <a:t>Examples of good breadboard technique</a:t>
              </a:r>
            </a:p>
          </p:txBody>
        </p:sp>
      </p:grpSp>
    </p:spTree>
    <p:extLst>
      <p:ext uri="{BB962C8B-B14F-4D97-AF65-F5344CB8AC3E}">
        <p14:creationId xmlns:p14="http://schemas.microsoft.com/office/powerpoint/2010/main" val="3198728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5630E-D0CF-A640-1461-64AE973F6BC1}"/>
              </a:ext>
            </a:extLst>
          </p:cNvPr>
          <p:cNvSpPr>
            <a:spLocks noGrp="1"/>
          </p:cNvSpPr>
          <p:nvPr>
            <p:ph type="title"/>
          </p:nvPr>
        </p:nvSpPr>
        <p:spPr/>
        <p:txBody>
          <a:bodyPr>
            <a:normAutofit/>
          </a:bodyPr>
          <a:lstStyle/>
          <a:p>
            <a:r>
              <a:rPr lang="en-US" sz="2800" b="1" dirty="0"/>
              <a:t>Task 0A – Self Study</a:t>
            </a:r>
          </a:p>
        </p:txBody>
      </p:sp>
      <p:sp>
        <p:nvSpPr>
          <p:cNvPr id="3" name="Content Placeholder 2">
            <a:extLst>
              <a:ext uri="{FF2B5EF4-FFF2-40B4-BE49-F238E27FC236}">
                <a16:creationId xmlns:a16="http://schemas.microsoft.com/office/drawing/2014/main" id="{F8FBEA1E-706F-4917-7002-57FCF08A4297}"/>
              </a:ext>
            </a:extLst>
          </p:cNvPr>
          <p:cNvSpPr>
            <a:spLocks noGrp="1"/>
          </p:cNvSpPr>
          <p:nvPr>
            <p:ph idx="1"/>
          </p:nvPr>
        </p:nvSpPr>
        <p:spPr>
          <a:xfrm>
            <a:off x="964002" y="992639"/>
            <a:ext cx="5544549" cy="3589415"/>
          </a:xfrm>
        </p:spPr>
        <p:txBody>
          <a:bodyPr>
            <a:normAutofit fontScale="77500" lnSpcReduction="20000"/>
          </a:bodyPr>
          <a:lstStyle/>
          <a:p>
            <a:r>
              <a:rPr lang="en-US" sz="1600" dirty="0"/>
              <a:t>Spend at least 30 minutes using generative AI and other resources to teach yourself about embedded systems and electronics. </a:t>
            </a:r>
          </a:p>
          <a:p>
            <a:r>
              <a:rPr lang="en-US" sz="1600" dirty="0"/>
              <a:t>Recommended Prompts:</a:t>
            </a:r>
          </a:p>
          <a:p>
            <a:pPr lvl="1"/>
            <a:r>
              <a:rPr lang="en-US" sz="1400" dirty="0"/>
              <a:t>What is an embedded system?</a:t>
            </a:r>
          </a:p>
          <a:p>
            <a:pPr lvl="1"/>
            <a:r>
              <a:rPr lang="en-US" sz="1400" dirty="0"/>
              <a:t>How are embedded systems used in Spacecraft?</a:t>
            </a:r>
          </a:p>
          <a:p>
            <a:pPr lvl="1"/>
            <a:r>
              <a:rPr lang="en-US" sz="1400" dirty="0"/>
              <a:t>What does ‘real-time’ mean in computing? </a:t>
            </a:r>
          </a:p>
          <a:p>
            <a:pPr lvl="1"/>
            <a:r>
              <a:rPr lang="en-US" sz="1400" dirty="0"/>
              <a:t>What is Arduino?</a:t>
            </a:r>
          </a:p>
          <a:p>
            <a:pPr lvl="1"/>
            <a:r>
              <a:rPr lang="en-US" sz="1400" dirty="0"/>
              <a:t>How does learning Arduino apply to Spacecraft Systems Engineering?</a:t>
            </a:r>
          </a:p>
          <a:p>
            <a:pPr lvl="1"/>
            <a:r>
              <a:rPr lang="en-US" sz="1400" dirty="0"/>
              <a:t>Explain the basic structure of an Arduino ‘sketch’</a:t>
            </a:r>
          </a:p>
          <a:p>
            <a:pPr lvl="1"/>
            <a:r>
              <a:rPr lang="en-US" sz="1400" dirty="0"/>
              <a:t>Teach me about basic Arduino syntax</a:t>
            </a:r>
          </a:p>
          <a:p>
            <a:pPr lvl="1"/>
            <a:r>
              <a:rPr lang="en-US" sz="1400" dirty="0"/>
              <a:t>In Arduino, what does the </a:t>
            </a:r>
            <a:r>
              <a:rPr lang="en-US" sz="1400" dirty="0" err="1"/>
              <a:t>millis</a:t>
            </a:r>
            <a:r>
              <a:rPr lang="en-US" sz="1400" dirty="0"/>
              <a:t>() function do?</a:t>
            </a:r>
          </a:p>
          <a:p>
            <a:pPr lvl="1"/>
            <a:r>
              <a:rPr lang="en-US" sz="1400" dirty="0"/>
              <a:t>What is a Raspberry Pi Pico?</a:t>
            </a:r>
          </a:p>
          <a:p>
            <a:r>
              <a:rPr lang="en-US" sz="1600" dirty="0"/>
              <a:t>As you explore these topics, </a:t>
            </a:r>
            <a:r>
              <a:rPr lang="en-US" sz="1600" b="1" dirty="0">
                <a:solidFill>
                  <a:srgbClr val="7030A0"/>
                </a:solidFill>
              </a:rPr>
              <a:t>try entering the same prompt on at least two AI tools and/or a non-AI internet search.</a:t>
            </a:r>
            <a:r>
              <a:rPr lang="en-US" sz="1600" dirty="0">
                <a:solidFill>
                  <a:srgbClr val="7030A0"/>
                </a:solidFill>
              </a:rPr>
              <a:t> </a:t>
            </a:r>
            <a:r>
              <a:rPr lang="en-US" sz="1600" dirty="0"/>
              <a:t>Compare the results and note differences/inconsistencies.</a:t>
            </a:r>
          </a:p>
          <a:p>
            <a:r>
              <a:rPr lang="en-US" sz="1600" dirty="0"/>
              <a:t>During this task and throughout the rest of the lab, consider pros and cons of using generative AI, and what tools work best for your learning. </a:t>
            </a:r>
          </a:p>
        </p:txBody>
      </p:sp>
      <p:sp>
        <p:nvSpPr>
          <p:cNvPr id="4" name="Footer Placeholder 3">
            <a:extLst>
              <a:ext uri="{FF2B5EF4-FFF2-40B4-BE49-F238E27FC236}">
                <a16:creationId xmlns:a16="http://schemas.microsoft.com/office/drawing/2014/main" id="{67CECE57-6F17-DAF2-976D-31353A1DF286}"/>
              </a:ext>
            </a:extLst>
          </p:cNvPr>
          <p:cNvSpPr>
            <a:spLocks noGrp="1"/>
          </p:cNvSpPr>
          <p:nvPr>
            <p:ph type="ftr" sz="quarter" idx="11"/>
          </p:nvPr>
        </p:nvSpPr>
        <p:spPr/>
        <p:txBody>
          <a:bodyPr/>
          <a:lstStyle/>
          <a:p>
            <a:r>
              <a:rPr lang="en-US" dirty="0"/>
              <a:t>Astro 331 Lab #1</a:t>
            </a:r>
          </a:p>
        </p:txBody>
      </p:sp>
      <p:sp>
        <p:nvSpPr>
          <p:cNvPr id="5" name="Slide Number Placeholder 4">
            <a:extLst>
              <a:ext uri="{FF2B5EF4-FFF2-40B4-BE49-F238E27FC236}">
                <a16:creationId xmlns:a16="http://schemas.microsoft.com/office/drawing/2014/main" id="{9A77CCE2-9F33-CFFB-263A-10DA67158AA7}"/>
              </a:ext>
            </a:extLst>
          </p:cNvPr>
          <p:cNvSpPr>
            <a:spLocks noGrp="1"/>
          </p:cNvSpPr>
          <p:nvPr>
            <p:ph type="sldNum" sz="quarter" idx="12"/>
          </p:nvPr>
        </p:nvSpPr>
        <p:spPr/>
        <p:txBody>
          <a:bodyPr/>
          <a:lstStyle/>
          <a:p>
            <a:fld id="{9A3029B7-FE6B-4680-9049-80E8298A0825}" type="slidenum">
              <a:rPr lang="en-US" smtClean="0"/>
              <a:t>6</a:t>
            </a:fld>
            <a:endParaRPr lang="en-US" dirty="0"/>
          </a:p>
        </p:txBody>
      </p:sp>
      <p:sp>
        <p:nvSpPr>
          <p:cNvPr id="6" name="Content Placeholder 5">
            <a:extLst>
              <a:ext uri="{FF2B5EF4-FFF2-40B4-BE49-F238E27FC236}">
                <a16:creationId xmlns:a16="http://schemas.microsoft.com/office/drawing/2014/main" id="{16F42EBF-4356-F4E3-E887-1527D32A9FCD}"/>
              </a:ext>
            </a:extLst>
          </p:cNvPr>
          <p:cNvSpPr>
            <a:spLocks noGrp="1"/>
          </p:cNvSpPr>
          <p:nvPr>
            <p:ph idx="13"/>
          </p:nvPr>
        </p:nvSpPr>
        <p:spPr/>
        <p:txBody>
          <a:bodyPr/>
          <a:lstStyle/>
          <a:p>
            <a:endParaRPr lang="en-US" b="1" dirty="0">
              <a:solidFill>
                <a:srgbClr val="0070C0"/>
              </a:solidFill>
            </a:endParaRPr>
          </a:p>
          <a:p>
            <a:r>
              <a:rPr lang="en-US" dirty="0"/>
              <a:t>Intro</a:t>
            </a:r>
          </a:p>
          <a:p>
            <a:r>
              <a:rPr lang="en-US" dirty="0"/>
              <a:t>Materials</a:t>
            </a:r>
          </a:p>
          <a:p>
            <a:r>
              <a:rPr lang="en-US" b="1" dirty="0">
                <a:solidFill>
                  <a:srgbClr val="00B0F0"/>
                </a:solidFill>
              </a:rPr>
              <a:t>Task 0A</a:t>
            </a:r>
          </a:p>
          <a:p>
            <a:r>
              <a:rPr lang="en-US" dirty="0"/>
              <a:t>Task 0B</a:t>
            </a:r>
          </a:p>
          <a:p>
            <a:r>
              <a:rPr lang="en-US" dirty="0"/>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sp>
        <p:nvSpPr>
          <p:cNvPr id="9" name="Content Placeholder 6">
            <a:extLst>
              <a:ext uri="{FF2B5EF4-FFF2-40B4-BE49-F238E27FC236}">
                <a16:creationId xmlns:a16="http://schemas.microsoft.com/office/drawing/2014/main" id="{748992CC-DA2D-9EDD-5AD8-992C1F32E359}"/>
              </a:ext>
            </a:extLst>
          </p:cNvPr>
          <p:cNvSpPr>
            <a:spLocks noGrp="1"/>
          </p:cNvSpPr>
          <p:nvPr>
            <p:ph idx="14"/>
          </p:nvPr>
        </p:nvSpPr>
        <p:spPr>
          <a:xfrm>
            <a:off x="1162768" y="5433071"/>
            <a:ext cx="7886700" cy="679637"/>
          </a:xfrm>
        </p:spPr>
        <p:txBody>
          <a:bodyPr>
            <a:normAutofit fontScale="85000" lnSpcReduction="10000"/>
          </a:bodyPr>
          <a:lstStyle/>
          <a:p>
            <a:pPr>
              <a:spcBef>
                <a:spcPts val="0"/>
              </a:spcBef>
            </a:pPr>
            <a:r>
              <a:rPr lang="en-US" b="1" dirty="0"/>
              <a:t>Task Outcomes:</a:t>
            </a:r>
            <a:endParaRPr lang="en-US" dirty="0"/>
          </a:p>
          <a:p>
            <a:pPr marL="342858" indent="-342858">
              <a:spcBef>
                <a:spcPts val="0"/>
              </a:spcBef>
              <a:buAutoNum type="arabicParenBoth"/>
            </a:pPr>
            <a:r>
              <a:rPr lang="en-US" dirty="0"/>
              <a:t>Learn fundamentals of embedded systems and topics relevant to this course (Arduino, Raspberry Pi Pico, etc.) </a:t>
            </a:r>
          </a:p>
          <a:p>
            <a:pPr marL="342858" indent="-342858">
              <a:spcBef>
                <a:spcPts val="0"/>
              </a:spcBef>
              <a:buAutoNum type="arabicParenBoth"/>
            </a:pPr>
            <a:r>
              <a:rPr lang="en-US" dirty="0"/>
              <a:t>Gain exposure to generative AI, with a focus on understanding pros, cons, and potential pitfalls of using AI. </a:t>
            </a:r>
          </a:p>
        </p:txBody>
      </p:sp>
      <p:sp>
        <p:nvSpPr>
          <p:cNvPr id="8" name="Content Placeholder 7">
            <a:extLst>
              <a:ext uri="{FF2B5EF4-FFF2-40B4-BE49-F238E27FC236}">
                <a16:creationId xmlns:a16="http://schemas.microsoft.com/office/drawing/2014/main" id="{6DA10169-5BF3-3ECF-675F-73D818D05D4B}"/>
              </a:ext>
            </a:extLst>
          </p:cNvPr>
          <p:cNvSpPr>
            <a:spLocks noGrp="1"/>
          </p:cNvSpPr>
          <p:nvPr>
            <p:ph idx="15"/>
          </p:nvPr>
        </p:nvSpPr>
        <p:spPr>
          <a:xfrm>
            <a:off x="6611541" y="1097073"/>
            <a:ext cx="2418159" cy="1111195"/>
          </a:xfrm>
        </p:spPr>
        <p:style>
          <a:lnRef idx="2">
            <a:schemeClr val="dk1"/>
          </a:lnRef>
          <a:fillRef idx="1">
            <a:schemeClr val="lt1"/>
          </a:fillRef>
          <a:effectRef idx="0">
            <a:schemeClr val="dk1"/>
          </a:effectRef>
          <a:fontRef idx="minor">
            <a:schemeClr val="dk1"/>
          </a:fontRef>
        </p:style>
        <p:txBody>
          <a:bodyPr>
            <a:normAutofit/>
          </a:bodyPr>
          <a:lstStyle/>
          <a:p>
            <a:pPr marL="0" indent="0">
              <a:spcBef>
                <a:spcPts val="0"/>
              </a:spcBef>
              <a:buNone/>
            </a:pPr>
            <a:r>
              <a:rPr lang="en-US" sz="1400" u="sng" dirty="0"/>
              <a:t>Popular Generative AI Tools:</a:t>
            </a:r>
          </a:p>
          <a:p>
            <a:pPr>
              <a:spcBef>
                <a:spcPts val="0"/>
              </a:spcBef>
            </a:pPr>
            <a:r>
              <a:rPr lang="en-US" sz="1400" dirty="0"/>
              <a:t>ChatGPT</a:t>
            </a:r>
          </a:p>
          <a:p>
            <a:pPr>
              <a:spcBef>
                <a:spcPts val="0"/>
              </a:spcBef>
            </a:pPr>
            <a:r>
              <a:rPr lang="en-US" sz="1400" dirty="0"/>
              <a:t>Google Gemini</a:t>
            </a:r>
          </a:p>
          <a:p>
            <a:pPr>
              <a:spcBef>
                <a:spcPts val="0"/>
              </a:spcBef>
            </a:pPr>
            <a:r>
              <a:rPr lang="en-US" sz="1400" dirty="0"/>
              <a:t>Microsoft CoPilot</a:t>
            </a:r>
          </a:p>
          <a:p>
            <a:pPr>
              <a:spcBef>
                <a:spcPts val="0"/>
              </a:spcBef>
            </a:pPr>
            <a:r>
              <a:rPr lang="en-US" sz="1400" dirty="0"/>
              <a:t>Claude</a:t>
            </a:r>
          </a:p>
        </p:txBody>
      </p:sp>
      <p:sp>
        <p:nvSpPr>
          <p:cNvPr id="7" name="Content Placeholder 6">
            <a:extLst>
              <a:ext uri="{FF2B5EF4-FFF2-40B4-BE49-F238E27FC236}">
                <a16:creationId xmlns:a16="http://schemas.microsoft.com/office/drawing/2014/main" id="{9C873846-3DF2-06D0-DC2B-1A5B7203EBA2}"/>
              </a:ext>
            </a:extLst>
          </p:cNvPr>
          <p:cNvSpPr txBox="1">
            <a:spLocks/>
          </p:cNvSpPr>
          <p:nvPr/>
        </p:nvSpPr>
        <p:spPr>
          <a:xfrm>
            <a:off x="6611541" y="2335326"/>
            <a:ext cx="2426506" cy="2118155"/>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200" u="sng" dirty="0">
                <a:solidFill>
                  <a:srgbClr val="FF0000"/>
                </a:solidFill>
              </a:rPr>
              <a:t>WARNING</a:t>
            </a:r>
          </a:p>
          <a:p>
            <a:pPr algn="ctr">
              <a:spcBef>
                <a:spcPts val="0"/>
              </a:spcBef>
            </a:pPr>
            <a:endParaRPr lang="en-US" sz="1200" u="sng" dirty="0">
              <a:solidFill>
                <a:srgbClr val="FF0000"/>
              </a:solidFill>
            </a:endParaRPr>
          </a:p>
          <a:p>
            <a:pPr>
              <a:spcBef>
                <a:spcPts val="0"/>
              </a:spcBef>
            </a:pPr>
            <a:r>
              <a:rPr lang="en-US" sz="1200" dirty="0">
                <a:solidFill>
                  <a:srgbClr val="FF0000"/>
                </a:solidFill>
              </a:rPr>
              <a:t>While generative AI can be a powerful learning aid, relying on it </a:t>
            </a:r>
            <a:r>
              <a:rPr lang="en-US" sz="1200" b="1" dirty="0">
                <a:solidFill>
                  <a:srgbClr val="FF0000"/>
                </a:solidFill>
              </a:rPr>
              <a:t>without critical thinking</a:t>
            </a:r>
            <a:r>
              <a:rPr lang="en-US" sz="1200" dirty="0">
                <a:solidFill>
                  <a:srgbClr val="FF0000"/>
                </a:solidFill>
              </a:rPr>
              <a:t> can lead to </a:t>
            </a:r>
            <a:r>
              <a:rPr lang="en-US" sz="1200" b="1" dirty="0">
                <a:solidFill>
                  <a:srgbClr val="FF0000"/>
                </a:solidFill>
              </a:rPr>
              <a:t>misconceptions, oversimplified explanations, or factual errors</a:t>
            </a:r>
            <a:r>
              <a:rPr lang="en-US" sz="1200" dirty="0">
                <a:solidFill>
                  <a:srgbClr val="FF0000"/>
                </a:solidFill>
              </a:rPr>
              <a:t>. AI-generated responses may sound confident even when incorrect, lack context, or miss nuances important to deep understanding. You should always: </a:t>
            </a:r>
            <a:endParaRPr lang="en-US" sz="1200" b="1" dirty="0">
              <a:solidFill>
                <a:srgbClr val="FF0000"/>
              </a:solidFill>
            </a:endParaRPr>
          </a:p>
          <a:p>
            <a:pPr marL="171430" indent="-171430">
              <a:spcBef>
                <a:spcPts val="0"/>
              </a:spcBef>
              <a:buFont typeface="Arial" panose="020B0604020202020204" pitchFamily="34" charset="0"/>
              <a:buChar char="•"/>
            </a:pPr>
            <a:r>
              <a:rPr lang="en-US" sz="1200" b="1" dirty="0">
                <a:solidFill>
                  <a:srgbClr val="FF0000"/>
                </a:solidFill>
              </a:rPr>
              <a:t>Verify information with trusted sources</a:t>
            </a:r>
            <a:r>
              <a:rPr lang="en-US" sz="1200" dirty="0">
                <a:solidFill>
                  <a:srgbClr val="FF0000"/>
                </a:solidFill>
              </a:rPr>
              <a:t> </a:t>
            </a:r>
          </a:p>
          <a:p>
            <a:pPr marL="171430" indent="-171430">
              <a:spcBef>
                <a:spcPts val="0"/>
              </a:spcBef>
              <a:buFont typeface="Arial" panose="020B0604020202020204" pitchFamily="34" charset="0"/>
              <a:buChar char="•"/>
            </a:pPr>
            <a:r>
              <a:rPr lang="en-US" sz="1200" b="1" dirty="0">
                <a:solidFill>
                  <a:srgbClr val="FF0000"/>
                </a:solidFill>
              </a:rPr>
              <a:t>Ask follow-up questions</a:t>
            </a:r>
            <a:endParaRPr lang="en-US" sz="1200" dirty="0">
              <a:solidFill>
                <a:srgbClr val="FF0000"/>
              </a:solidFill>
            </a:endParaRPr>
          </a:p>
          <a:p>
            <a:pPr marL="171430" indent="-171430">
              <a:spcBef>
                <a:spcPts val="0"/>
              </a:spcBef>
              <a:buFont typeface="Arial" panose="020B0604020202020204" pitchFamily="34" charset="0"/>
              <a:buChar char="•"/>
            </a:pPr>
            <a:r>
              <a:rPr lang="en-US" sz="1200" dirty="0">
                <a:solidFill>
                  <a:srgbClr val="FF0000"/>
                </a:solidFill>
              </a:rPr>
              <a:t>Use AI as a </a:t>
            </a:r>
            <a:r>
              <a:rPr lang="en-US" sz="1200" b="1" dirty="0">
                <a:solidFill>
                  <a:srgbClr val="FF0000"/>
                </a:solidFill>
              </a:rPr>
              <a:t>supplement—not a substitute—for rigorous study and active engagement</a:t>
            </a:r>
            <a:r>
              <a:rPr lang="en-US" sz="1200" dirty="0">
                <a:solidFill>
                  <a:srgbClr val="FF0000"/>
                </a:solidFill>
              </a:rPr>
              <a:t>.</a:t>
            </a:r>
          </a:p>
        </p:txBody>
      </p:sp>
      <p:sp>
        <p:nvSpPr>
          <p:cNvPr id="10" name="Content Placeholder 6">
            <a:extLst>
              <a:ext uri="{FF2B5EF4-FFF2-40B4-BE49-F238E27FC236}">
                <a16:creationId xmlns:a16="http://schemas.microsoft.com/office/drawing/2014/main" id="{2DF2A7AF-FCB6-4707-7BF2-C59D1F959606}"/>
              </a:ext>
            </a:extLst>
          </p:cNvPr>
          <p:cNvSpPr txBox="1">
            <a:spLocks/>
          </p:cNvSpPr>
          <p:nvPr/>
        </p:nvSpPr>
        <p:spPr>
          <a:xfrm>
            <a:off x="1162767" y="4582054"/>
            <a:ext cx="7886700" cy="784123"/>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100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300" u="sng" dirty="0">
                <a:solidFill>
                  <a:srgbClr val="FF0000"/>
                </a:solidFill>
              </a:rPr>
              <a:t>WARNING</a:t>
            </a:r>
          </a:p>
          <a:p>
            <a:pPr algn="ctr">
              <a:spcBef>
                <a:spcPts val="0"/>
              </a:spcBef>
            </a:pPr>
            <a:endParaRPr lang="en-US" sz="500" b="1" u="sng" dirty="0">
              <a:solidFill>
                <a:srgbClr val="FF0000"/>
              </a:solidFill>
            </a:endParaRPr>
          </a:p>
          <a:p>
            <a:pPr>
              <a:spcBef>
                <a:spcPts val="0"/>
              </a:spcBef>
            </a:pPr>
            <a:r>
              <a:rPr lang="en-US" sz="1300" b="1" dirty="0">
                <a:solidFill>
                  <a:srgbClr val="FF0000"/>
                </a:solidFill>
              </a:rPr>
              <a:t>Using generative AI for coding does not absolve you of the responsibility to understand what every line of code does</a:t>
            </a:r>
            <a:r>
              <a:rPr lang="en-US" sz="1300" dirty="0">
                <a:solidFill>
                  <a:srgbClr val="FF0000"/>
                </a:solidFill>
              </a:rPr>
              <a:t> </a:t>
            </a:r>
            <a:r>
              <a:rPr lang="en-US" sz="1300" b="1" dirty="0">
                <a:solidFill>
                  <a:srgbClr val="FF0000"/>
                </a:solidFill>
              </a:rPr>
              <a:t>and that the program functions as intended.</a:t>
            </a:r>
            <a:r>
              <a:rPr lang="en-US" sz="1300" dirty="0">
                <a:solidFill>
                  <a:srgbClr val="FF0000"/>
                </a:solidFill>
              </a:rPr>
              <a:t> Generated code almost always contains errors and/or is suboptimal. If you don’t deeply understand code, don’t use it!</a:t>
            </a:r>
          </a:p>
        </p:txBody>
      </p:sp>
      <p:sp>
        <p:nvSpPr>
          <p:cNvPr id="12" name="TextBox 11">
            <a:extLst>
              <a:ext uri="{FF2B5EF4-FFF2-40B4-BE49-F238E27FC236}">
                <a16:creationId xmlns:a16="http://schemas.microsoft.com/office/drawing/2014/main" id="{F8C7A733-9376-1A5A-3327-411249E595FA}"/>
              </a:ext>
            </a:extLst>
          </p:cNvPr>
          <p:cNvSpPr txBox="1"/>
          <p:nvPr/>
        </p:nvSpPr>
        <p:spPr>
          <a:xfrm>
            <a:off x="1006415" y="5994936"/>
            <a:ext cx="8007851" cy="338554"/>
          </a:xfrm>
          <a:prstGeom prst="rect">
            <a:avLst/>
          </a:prstGeom>
          <a:noFill/>
        </p:spPr>
        <p:txBody>
          <a:bodyPr wrap="square">
            <a:spAutoFit/>
          </a:bodyPr>
          <a:lstStyle/>
          <a:p>
            <a:pPr algn="ctr"/>
            <a:r>
              <a:rPr lang="en-US" sz="1600" b="1" dirty="0">
                <a:highlight>
                  <a:srgbClr val="FFFF00"/>
                </a:highlight>
              </a:rPr>
              <a:t>Concepts from this self study will be tested on the Lab 1 in-class quiz (closed book)</a:t>
            </a:r>
          </a:p>
        </p:txBody>
      </p:sp>
    </p:spTree>
    <p:extLst>
      <p:ext uri="{BB962C8B-B14F-4D97-AF65-F5344CB8AC3E}">
        <p14:creationId xmlns:p14="http://schemas.microsoft.com/office/powerpoint/2010/main" val="570581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FEC06-2D6C-783A-0F2E-CB21B97A7A8B}"/>
              </a:ext>
            </a:extLst>
          </p:cNvPr>
          <p:cNvSpPr>
            <a:spLocks noGrp="1"/>
          </p:cNvSpPr>
          <p:nvPr>
            <p:ph type="title"/>
          </p:nvPr>
        </p:nvSpPr>
        <p:spPr/>
        <p:txBody>
          <a:bodyPr>
            <a:normAutofit/>
          </a:bodyPr>
          <a:lstStyle/>
          <a:p>
            <a:r>
              <a:rPr lang="en-US" sz="2800" b="1" dirty="0"/>
              <a:t>Task 0B – Install Arduino IDE</a:t>
            </a:r>
          </a:p>
        </p:txBody>
      </p:sp>
      <p:sp>
        <p:nvSpPr>
          <p:cNvPr id="3" name="Content Placeholder 2">
            <a:extLst>
              <a:ext uri="{FF2B5EF4-FFF2-40B4-BE49-F238E27FC236}">
                <a16:creationId xmlns:a16="http://schemas.microsoft.com/office/drawing/2014/main" id="{F7C8E20F-FEDF-8560-76AD-A77357F4B3A5}"/>
              </a:ext>
            </a:extLst>
          </p:cNvPr>
          <p:cNvSpPr>
            <a:spLocks noGrp="1"/>
          </p:cNvSpPr>
          <p:nvPr>
            <p:ph idx="1"/>
          </p:nvPr>
        </p:nvSpPr>
        <p:spPr>
          <a:xfrm>
            <a:off x="1043726" y="1602346"/>
            <a:ext cx="4348830" cy="3185092"/>
          </a:xfrm>
        </p:spPr>
        <p:txBody>
          <a:bodyPr>
            <a:noAutofit/>
          </a:bodyPr>
          <a:lstStyle/>
          <a:p>
            <a:pPr>
              <a:buFont typeface="+mj-lt"/>
              <a:buAutoNum type="arabicPeriod"/>
            </a:pPr>
            <a:r>
              <a:rPr lang="en-US" sz="1200" dirty="0"/>
              <a:t>Install the Arduino Integrated Development Environment (IDE). [Version 2.3.7 as of writing]  </a:t>
            </a:r>
          </a:p>
          <a:p>
            <a:pPr marL="457143" lvl="1" indent="0">
              <a:buNone/>
            </a:pPr>
            <a:r>
              <a:rPr lang="en-US" sz="1200" dirty="0">
                <a:solidFill>
                  <a:schemeClr val="accent2">
                    <a:lumMod val="75000"/>
                  </a:schemeClr>
                </a:solidFill>
              </a:rPr>
              <a:t>1.1 Download and run installer from here: </a:t>
            </a:r>
            <a:r>
              <a:rPr lang="en-US" sz="1200" dirty="0">
                <a:solidFill>
                  <a:schemeClr val="accent2">
                    <a:lumMod val="75000"/>
                  </a:schemeClr>
                </a:solidFill>
                <a:hlinkClick r:id="rId2">
                  <a:extLst>
                    <a:ext uri="{A12FA001-AC4F-418D-AE19-62706E023703}">
                      <ahyp:hlinkClr xmlns:ahyp="http://schemas.microsoft.com/office/drawing/2018/hyperlinkcolor" val="tx"/>
                    </a:ext>
                  </a:extLst>
                </a:hlinkClick>
              </a:rPr>
              <a:t>https://www.arduino.cc/en/software/#ide</a:t>
            </a:r>
            <a:r>
              <a:rPr lang="en-US" sz="1200" dirty="0">
                <a:solidFill>
                  <a:schemeClr val="accent2">
                    <a:lumMod val="75000"/>
                  </a:schemeClr>
                </a:solidFill>
              </a:rPr>
              <a:t>  </a:t>
            </a:r>
          </a:p>
          <a:p>
            <a:pPr>
              <a:buFont typeface="+mj-lt"/>
              <a:buAutoNum type="arabicPeriod"/>
            </a:pPr>
            <a:endParaRPr lang="en-US" sz="1200" dirty="0"/>
          </a:p>
          <a:p>
            <a:pPr>
              <a:buFont typeface="+mj-lt"/>
              <a:buAutoNum type="arabicPeriod"/>
            </a:pPr>
            <a:endParaRPr lang="en-US" sz="1200" dirty="0"/>
          </a:p>
          <a:p>
            <a:pPr>
              <a:buFont typeface="+mj-lt"/>
              <a:buAutoNum type="arabicPeriod"/>
            </a:pPr>
            <a:endParaRPr lang="en-US" sz="1200" dirty="0"/>
          </a:p>
          <a:p>
            <a:pPr>
              <a:buFont typeface="+mj-lt"/>
              <a:buAutoNum type="arabicPeriod"/>
            </a:pPr>
            <a:endParaRPr lang="en-US" sz="1200" dirty="0"/>
          </a:p>
          <a:p>
            <a:pPr>
              <a:buFont typeface="+mj-lt"/>
              <a:buAutoNum type="arabicPeriod"/>
            </a:pPr>
            <a:endParaRPr lang="en-US" sz="1200" dirty="0"/>
          </a:p>
          <a:p>
            <a:pPr>
              <a:buFont typeface="+mj-lt"/>
              <a:buAutoNum type="arabicPeriod"/>
            </a:pPr>
            <a:r>
              <a:rPr lang="en-US" sz="1200" dirty="0"/>
              <a:t>Open the Arduino IDE</a:t>
            </a:r>
          </a:p>
          <a:p>
            <a:pPr>
              <a:buFont typeface="+mj-lt"/>
              <a:buAutoNum type="arabicPeriod"/>
            </a:pPr>
            <a:r>
              <a:rPr lang="en-US" sz="1200" dirty="0"/>
              <a:t>Open </a:t>
            </a:r>
            <a:r>
              <a:rPr lang="en-US" sz="1200" b="1" dirty="0"/>
              <a:t>File → Preferences</a:t>
            </a:r>
          </a:p>
          <a:p>
            <a:pPr>
              <a:buFont typeface="+mj-lt"/>
              <a:buAutoNum type="arabicPeriod"/>
            </a:pPr>
            <a:r>
              <a:rPr lang="en-US" sz="1200" dirty="0">
                <a:solidFill>
                  <a:srgbClr val="00B0F0"/>
                </a:solidFill>
              </a:rPr>
              <a:t>In </a:t>
            </a:r>
            <a:r>
              <a:rPr lang="en-US" sz="1200" b="1" dirty="0">
                <a:solidFill>
                  <a:srgbClr val="00B0F0"/>
                </a:solidFill>
              </a:rPr>
              <a:t>Additional Boards Manager URLs</a:t>
            </a:r>
            <a:r>
              <a:rPr lang="en-US" sz="1200" dirty="0">
                <a:solidFill>
                  <a:srgbClr val="00B0F0"/>
                </a:solidFill>
              </a:rPr>
              <a:t>, add:</a:t>
            </a:r>
          </a:p>
          <a:p>
            <a:pPr marL="457142" lvl="1" indent="0">
              <a:buNone/>
            </a:pPr>
            <a:r>
              <a:rPr lang="en-US" sz="1100" dirty="0">
                <a:solidFill>
                  <a:schemeClr val="accent1"/>
                </a:solidFill>
                <a:hlinkClick r:id="rId3">
                  <a:extLst>
                    <a:ext uri="{A12FA001-AC4F-418D-AE19-62706E023703}">
                      <ahyp:hlinkClr xmlns:ahyp="http://schemas.microsoft.com/office/drawing/2018/hyperlinkcolor" val="tx"/>
                    </a:ext>
                  </a:extLst>
                </a:hlinkClick>
              </a:rPr>
              <a:t>https://github.com/earlephilhower/arduino-pico/releases/download/global/package_rp2040_index.json</a:t>
            </a:r>
            <a:endParaRPr lang="en-US" sz="1100" dirty="0">
              <a:solidFill>
                <a:schemeClr val="accent1"/>
              </a:solidFill>
            </a:endParaRPr>
          </a:p>
          <a:p>
            <a:pPr>
              <a:buFont typeface="+mj-lt"/>
              <a:buAutoNum type="arabicPeriod"/>
            </a:pPr>
            <a:r>
              <a:rPr lang="en-US" sz="1200" dirty="0"/>
              <a:t>Install board definition for the Raspberry Pi Pico</a:t>
            </a:r>
          </a:p>
          <a:p>
            <a:pPr marL="457143" lvl="1" indent="0">
              <a:buNone/>
            </a:pPr>
            <a:r>
              <a:rPr lang="en-US" sz="1200" dirty="0">
                <a:solidFill>
                  <a:srgbClr val="DAA600"/>
                </a:solidFill>
              </a:rPr>
              <a:t>3.1 Select the Boards Manager icon</a:t>
            </a:r>
          </a:p>
          <a:p>
            <a:pPr marL="457143" lvl="1" indent="0">
              <a:buNone/>
            </a:pPr>
            <a:r>
              <a:rPr lang="en-US" sz="1200" dirty="0">
                <a:solidFill>
                  <a:schemeClr val="accent5">
                    <a:lumMod val="60000"/>
                    <a:lumOff val="40000"/>
                  </a:schemeClr>
                </a:solidFill>
              </a:rPr>
              <a:t>3.2 Search for “</a:t>
            </a:r>
            <a:r>
              <a:rPr lang="en-US" sz="1200" dirty="0" err="1">
                <a:solidFill>
                  <a:schemeClr val="accent5">
                    <a:lumMod val="60000"/>
                    <a:lumOff val="40000"/>
                  </a:schemeClr>
                </a:solidFill>
              </a:rPr>
              <a:t>pico</a:t>
            </a:r>
            <a:r>
              <a:rPr lang="en-US" sz="1200" dirty="0">
                <a:solidFill>
                  <a:schemeClr val="accent5">
                    <a:lumMod val="60000"/>
                    <a:lumOff val="40000"/>
                  </a:schemeClr>
                </a:solidFill>
              </a:rPr>
              <a:t>”</a:t>
            </a:r>
          </a:p>
          <a:p>
            <a:pPr marL="457143" lvl="1" indent="0">
              <a:buNone/>
            </a:pPr>
            <a:r>
              <a:rPr lang="en-US" sz="1200" dirty="0">
                <a:solidFill>
                  <a:srgbClr val="00B050"/>
                </a:solidFill>
              </a:rPr>
              <a:t>3.3 Select Version 5.4.4 (or latest version)</a:t>
            </a:r>
          </a:p>
          <a:p>
            <a:pPr marL="457143" lvl="1" indent="0">
              <a:buNone/>
            </a:pPr>
            <a:r>
              <a:rPr lang="en-US" sz="1200" dirty="0">
                <a:solidFill>
                  <a:srgbClr val="FF0000"/>
                </a:solidFill>
              </a:rPr>
              <a:t>3.4 Click Install (accept any pop-ups that appear)</a:t>
            </a:r>
          </a:p>
          <a:p>
            <a:pPr>
              <a:buFont typeface="+mj-lt"/>
              <a:buAutoNum type="arabicPeriod"/>
            </a:pPr>
            <a:r>
              <a:rPr lang="en-US" sz="1200" dirty="0"/>
              <a:t>Restart the Arduino IDE</a:t>
            </a:r>
          </a:p>
        </p:txBody>
      </p:sp>
      <p:sp>
        <p:nvSpPr>
          <p:cNvPr id="4" name="Footer Placeholder 3">
            <a:extLst>
              <a:ext uri="{FF2B5EF4-FFF2-40B4-BE49-F238E27FC236}">
                <a16:creationId xmlns:a16="http://schemas.microsoft.com/office/drawing/2014/main" id="{BCCAD31D-F2E9-3B88-B66B-393236643F06}"/>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565EECB8-C428-4977-9571-A757B6E47176}"/>
              </a:ext>
            </a:extLst>
          </p:cNvPr>
          <p:cNvSpPr>
            <a:spLocks noGrp="1"/>
          </p:cNvSpPr>
          <p:nvPr>
            <p:ph type="sldNum" sz="quarter" idx="12"/>
          </p:nvPr>
        </p:nvSpPr>
        <p:spPr/>
        <p:txBody>
          <a:bodyPr/>
          <a:lstStyle/>
          <a:p>
            <a:fld id="{9A3029B7-FE6B-4680-9049-80E8298A0825}" type="slidenum">
              <a:rPr lang="en-US" smtClean="0"/>
              <a:t>7</a:t>
            </a:fld>
            <a:endParaRPr lang="en-US"/>
          </a:p>
        </p:txBody>
      </p:sp>
      <p:sp>
        <p:nvSpPr>
          <p:cNvPr id="6" name="Content Placeholder 5">
            <a:extLst>
              <a:ext uri="{FF2B5EF4-FFF2-40B4-BE49-F238E27FC236}">
                <a16:creationId xmlns:a16="http://schemas.microsoft.com/office/drawing/2014/main" id="{BB22B2C5-85F2-64FD-DF12-C67D4C22CA70}"/>
              </a:ext>
            </a:extLst>
          </p:cNvPr>
          <p:cNvSpPr>
            <a:spLocks noGrp="1"/>
          </p:cNvSpPr>
          <p:nvPr>
            <p:ph idx="13"/>
          </p:nvPr>
        </p:nvSpPr>
        <p:spPr/>
        <p:txBody>
          <a:bodyPr/>
          <a:lstStyle/>
          <a:p>
            <a:endParaRPr lang="en-US" b="1" dirty="0">
              <a:solidFill>
                <a:srgbClr val="0070C0"/>
              </a:solidFill>
            </a:endParaRPr>
          </a:p>
          <a:p>
            <a:r>
              <a:rPr lang="en-US" dirty="0"/>
              <a:t>Intro</a:t>
            </a:r>
          </a:p>
          <a:p>
            <a:r>
              <a:rPr lang="en-US" dirty="0"/>
              <a:t>Materials</a:t>
            </a:r>
          </a:p>
          <a:p>
            <a:r>
              <a:rPr lang="en-US" dirty="0"/>
              <a:t>Task 0A</a:t>
            </a:r>
          </a:p>
          <a:p>
            <a:r>
              <a:rPr lang="en-US" b="1" dirty="0">
                <a:solidFill>
                  <a:srgbClr val="00B0F0"/>
                </a:solidFill>
              </a:rPr>
              <a:t>Task 0B</a:t>
            </a:r>
          </a:p>
          <a:p>
            <a:r>
              <a:rPr lang="en-US" dirty="0"/>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sp>
        <p:nvSpPr>
          <p:cNvPr id="26" name="TextBox 25">
            <a:extLst>
              <a:ext uri="{FF2B5EF4-FFF2-40B4-BE49-F238E27FC236}">
                <a16:creationId xmlns:a16="http://schemas.microsoft.com/office/drawing/2014/main" id="{7984EB90-B4CB-D8AA-1AE4-DB30A88D713B}"/>
              </a:ext>
            </a:extLst>
          </p:cNvPr>
          <p:cNvSpPr txBox="1"/>
          <p:nvPr/>
        </p:nvSpPr>
        <p:spPr>
          <a:xfrm>
            <a:off x="1066991" y="956015"/>
            <a:ext cx="8030643" cy="646331"/>
          </a:xfrm>
          <a:prstGeom prst="rect">
            <a:avLst/>
          </a:prstGeom>
          <a:noFill/>
        </p:spPr>
        <p:txBody>
          <a:bodyPr wrap="square">
            <a:spAutoFit/>
          </a:bodyPr>
          <a:lstStyle/>
          <a:p>
            <a:r>
              <a:rPr lang="en-US" b="1" dirty="0"/>
              <a:t>In Task 0B/0C, you will install the Arduino IDE, Raspberry Pi Pico board definition, and test uploading code to your Pico. </a:t>
            </a:r>
          </a:p>
        </p:txBody>
      </p:sp>
      <p:grpSp>
        <p:nvGrpSpPr>
          <p:cNvPr id="25" name="Group 24">
            <a:extLst>
              <a:ext uri="{FF2B5EF4-FFF2-40B4-BE49-F238E27FC236}">
                <a16:creationId xmlns:a16="http://schemas.microsoft.com/office/drawing/2014/main" id="{CAC4CCD4-42D6-AB7E-44A8-4A793F0F0E9C}"/>
              </a:ext>
            </a:extLst>
          </p:cNvPr>
          <p:cNvGrpSpPr/>
          <p:nvPr/>
        </p:nvGrpSpPr>
        <p:grpSpPr>
          <a:xfrm>
            <a:off x="6079503" y="3122832"/>
            <a:ext cx="2627271" cy="3676429"/>
            <a:chOff x="6057829" y="1961239"/>
            <a:chExt cx="2627271" cy="3676429"/>
          </a:xfrm>
        </p:grpSpPr>
        <p:pic>
          <p:nvPicPr>
            <p:cNvPr id="18" name="Picture 17">
              <a:extLst>
                <a:ext uri="{FF2B5EF4-FFF2-40B4-BE49-F238E27FC236}">
                  <a16:creationId xmlns:a16="http://schemas.microsoft.com/office/drawing/2014/main" id="{F2D080FE-1EDA-EEA6-30C4-5DF7949A2AE9}"/>
                </a:ext>
              </a:extLst>
            </p:cNvPr>
            <p:cNvPicPr>
              <a:picLocks noChangeAspect="1"/>
            </p:cNvPicPr>
            <p:nvPr/>
          </p:nvPicPr>
          <p:blipFill>
            <a:blip r:embed="rId4"/>
            <a:stretch>
              <a:fillRect/>
            </a:stretch>
          </p:blipFill>
          <p:spPr>
            <a:xfrm>
              <a:off x="6080371" y="1961239"/>
              <a:ext cx="2604729" cy="3676429"/>
            </a:xfrm>
            <a:prstGeom prst="rect">
              <a:avLst/>
            </a:prstGeom>
          </p:spPr>
        </p:pic>
        <p:sp>
          <p:nvSpPr>
            <p:cNvPr id="13" name="Rectangle 12">
              <a:extLst>
                <a:ext uri="{FF2B5EF4-FFF2-40B4-BE49-F238E27FC236}">
                  <a16:creationId xmlns:a16="http://schemas.microsoft.com/office/drawing/2014/main" id="{4E0FBCBF-7462-7547-76D5-AFD416F26D7C}"/>
                </a:ext>
              </a:extLst>
            </p:cNvPr>
            <p:cNvSpPr/>
            <p:nvPr/>
          </p:nvSpPr>
          <p:spPr>
            <a:xfrm>
              <a:off x="6057829" y="2782677"/>
              <a:ext cx="348719" cy="351350"/>
            </a:xfrm>
            <a:prstGeom prst="rect">
              <a:avLst/>
            </a:prstGeom>
            <a:noFill/>
            <a:ln>
              <a:solidFill>
                <a:srgbClr val="DAA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61E0615-3EDA-6707-269B-894630AC0076}"/>
                </a:ext>
              </a:extLst>
            </p:cNvPr>
            <p:cNvSpPr/>
            <p:nvPr/>
          </p:nvSpPr>
          <p:spPr>
            <a:xfrm>
              <a:off x="6481481" y="5077870"/>
              <a:ext cx="493417" cy="35135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75858DE-BE64-E7FB-F70B-7E9B5F3C5D73}"/>
                </a:ext>
              </a:extLst>
            </p:cNvPr>
            <p:cNvSpPr/>
            <p:nvPr/>
          </p:nvSpPr>
          <p:spPr>
            <a:xfrm>
              <a:off x="6433087" y="2623399"/>
              <a:ext cx="554901" cy="227377"/>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B97D243-C71A-C641-46FF-F7784189656A}"/>
                </a:ext>
              </a:extLst>
            </p:cNvPr>
            <p:cNvSpPr/>
            <p:nvPr/>
          </p:nvSpPr>
          <p:spPr>
            <a:xfrm>
              <a:off x="6996955" y="5091953"/>
              <a:ext cx="711786" cy="3231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9" name="Picture 28">
            <a:extLst>
              <a:ext uri="{FF2B5EF4-FFF2-40B4-BE49-F238E27FC236}">
                <a16:creationId xmlns:a16="http://schemas.microsoft.com/office/drawing/2014/main" id="{682FC6FB-FFD2-5D26-D5BE-B73DF5C822EF}"/>
              </a:ext>
            </a:extLst>
          </p:cNvPr>
          <p:cNvPicPr>
            <a:picLocks noChangeAspect="1"/>
          </p:cNvPicPr>
          <p:nvPr/>
        </p:nvPicPr>
        <p:blipFill>
          <a:blip r:embed="rId5"/>
          <a:stretch>
            <a:fillRect/>
          </a:stretch>
        </p:blipFill>
        <p:spPr>
          <a:xfrm>
            <a:off x="5472280" y="1549588"/>
            <a:ext cx="2604729" cy="1646162"/>
          </a:xfrm>
          <a:prstGeom prst="rect">
            <a:avLst/>
          </a:prstGeom>
        </p:spPr>
      </p:pic>
      <p:sp>
        <p:nvSpPr>
          <p:cNvPr id="30" name="Rectangle 29">
            <a:extLst>
              <a:ext uri="{FF2B5EF4-FFF2-40B4-BE49-F238E27FC236}">
                <a16:creationId xmlns:a16="http://schemas.microsoft.com/office/drawing/2014/main" id="{1A8441B0-E538-DF1F-56C6-0841E53FFBFA}"/>
              </a:ext>
            </a:extLst>
          </p:cNvPr>
          <p:cNvSpPr/>
          <p:nvPr/>
        </p:nvSpPr>
        <p:spPr>
          <a:xfrm>
            <a:off x="5508813" y="2774577"/>
            <a:ext cx="2568196" cy="141514"/>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D7CF3EFF-AEAF-30B4-A6C0-76F41A5EB316}"/>
              </a:ext>
            </a:extLst>
          </p:cNvPr>
          <p:cNvGrpSpPr/>
          <p:nvPr/>
        </p:nvGrpSpPr>
        <p:grpSpPr>
          <a:xfrm>
            <a:off x="1559421" y="2441213"/>
            <a:ext cx="3198228" cy="1386455"/>
            <a:chOff x="1559421" y="2441213"/>
            <a:chExt cx="3198228" cy="1386455"/>
          </a:xfrm>
        </p:grpSpPr>
        <p:pic>
          <p:nvPicPr>
            <p:cNvPr id="32" name="Picture 31">
              <a:extLst>
                <a:ext uri="{FF2B5EF4-FFF2-40B4-BE49-F238E27FC236}">
                  <a16:creationId xmlns:a16="http://schemas.microsoft.com/office/drawing/2014/main" id="{E48223DE-C543-6F58-4A1E-F1E3B0DE9641}"/>
                </a:ext>
              </a:extLst>
            </p:cNvPr>
            <p:cNvPicPr>
              <a:picLocks noChangeAspect="1"/>
            </p:cNvPicPr>
            <p:nvPr/>
          </p:nvPicPr>
          <p:blipFill>
            <a:blip r:embed="rId6"/>
            <a:stretch>
              <a:fillRect/>
            </a:stretch>
          </p:blipFill>
          <p:spPr>
            <a:xfrm>
              <a:off x="1559421" y="2441213"/>
              <a:ext cx="3198228" cy="1386455"/>
            </a:xfrm>
            <a:prstGeom prst="rect">
              <a:avLst/>
            </a:prstGeom>
            <a:ln w="19050">
              <a:solidFill>
                <a:schemeClr val="accent2">
                  <a:lumMod val="75000"/>
                </a:schemeClr>
              </a:solidFill>
            </a:ln>
          </p:spPr>
        </p:pic>
        <p:sp>
          <p:nvSpPr>
            <p:cNvPr id="7" name="Rectangle 6">
              <a:extLst>
                <a:ext uri="{FF2B5EF4-FFF2-40B4-BE49-F238E27FC236}">
                  <a16:creationId xmlns:a16="http://schemas.microsoft.com/office/drawing/2014/main" id="{B53D52B0-26A4-4147-0EB4-FC3EC52EF3C3}"/>
                </a:ext>
              </a:extLst>
            </p:cNvPr>
            <p:cNvSpPr/>
            <p:nvPr/>
          </p:nvSpPr>
          <p:spPr>
            <a:xfrm>
              <a:off x="4237556" y="3106411"/>
              <a:ext cx="477016" cy="227377"/>
            </a:xfrm>
            <a:prstGeom prst="rect">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019064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07546-2D22-61FC-E40D-14F217121181}"/>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9CEAB7F1-C0E9-EF98-1207-58211A03DEBC}"/>
              </a:ext>
            </a:extLst>
          </p:cNvPr>
          <p:cNvPicPr>
            <a:picLocks noChangeAspect="1"/>
          </p:cNvPicPr>
          <p:nvPr/>
        </p:nvPicPr>
        <p:blipFill>
          <a:blip r:embed="rId2"/>
          <a:stretch>
            <a:fillRect/>
          </a:stretch>
        </p:blipFill>
        <p:spPr>
          <a:xfrm>
            <a:off x="5038165" y="2221464"/>
            <a:ext cx="4105835" cy="2486677"/>
          </a:xfrm>
          <a:prstGeom prst="rect">
            <a:avLst/>
          </a:prstGeom>
        </p:spPr>
      </p:pic>
      <p:sp>
        <p:nvSpPr>
          <p:cNvPr id="2" name="Title 1">
            <a:extLst>
              <a:ext uri="{FF2B5EF4-FFF2-40B4-BE49-F238E27FC236}">
                <a16:creationId xmlns:a16="http://schemas.microsoft.com/office/drawing/2014/main" id="{C4E043F3-FE04-EC13-B02C-E6FD509F5173}"/>
              </a:ext>
            </a:extLst>
          </p:cNvPr>
          <p:cNvSpPr>
            <a:spLocks noGrp="1"/>
          </p:cNvSpPr>
          <p:nvPr>
            <p:ph type="title"/>
          </p:nvPr>
        </p:nvSpPr>
        <p:spPr/>
        <p:txBody>
          <a:bodyPr>
            <a:normAutofit/>
          </a:bodyPr>
          <a:lstStyle/>
          <a:p>
            <a:r>
              <a:rPr lang="en-US" sz="2400" b="1" dirty="0"/>
              <a:t>Task 0C – Test Uploading Code to Your Pico</a:t>
            </a:r>
          </a:p>
        </p:txBody>
      </p:sp>
      <p:sp>
        <p:nvSpPr>
          <p:cNvPr id="3" name="Content Placeholder 2">
            <a:extLst>
              <a:ext uri="{FF2B5EF4-FFF2-40B4-BE49-F238E27FC236}">
                <a16:creationId xmlns:a16="http://schemas.microsoft.com/office/drawing/2014/main" id="{0A96260C-636C-A1D8-227A-7418DE74D4F7}"/>
              </a:ext>
            </a:extLst>
          </p:cNvPr>
          <p:cNvSpPr>
            <a:spLocks noGrp="1"/>
          </p:cNvSpPr>
          <p:nvPr>
            <p:ph idx="1"/>
          </p:nvPr>
        </p:nvSpPr>
        <p:spPr>
          <a:xfrm>
            <a:off x="1065148" y="958796"/>
            <a:ext cx="3907611" cy="5442189"/>
          </a:xfrm>
        </p:spPr>
        <p:txBody>
          <a:bodyPr>
            <a:noAutofit/>
          </a:bodyPr>
          <a:lstStyle/>
          <a:p>
            <a:pPr>
              <a:buFont typeface="+mj-lt"/>
              <a:buAutoNum type="arabicPeriod"/>
            </a:pPr>
            <a:r>
              <a:rPr lang="en-US" sz="1100" dirty="0"/>
              <a:t>Connect your Raspberry Pi Pico.</a:t>
            </a:r>
          </a:p>
          <a:p>
            <a:pPr marL="457143" lvl="1" indent="0">
              <a:buNone/>
            </a:pPr>
            <a:r>
              <a:rPr lang="en-US" sz="1100" dirty="0"/>
              <a:t>1.1 </a:t>
            </a:r>
            <a:r>
              <a:rPr lang="en-US" sz="1100" b="1" dirty="0"/>
              <a:t>New Raspberry Pi Pico’s are loaded with </a:t>
            </a:r>
            <a:r>
              <a:rPr lang="en-US" sz="1100" b="1" dirty="0" err="1"/>
              <a:t>Micropython</a:t>
            </a:r>
            <a:r>
              <a:rPr lang="en-US" sz="1100" b="1" dirty="0"/>
              <a:t> by default. To use a new Pico with Arduino, hold down the ‘BOOTSEL’ button (see right) on the board the first time you plug it in to your computer with the provided USB cable. </a:t>
            </a:r>
          </a:p>
          <a:p>
            <a:pPr>
              <a:buFont typeface="+mj-lt"/>
              <a:buAutoNum type="arabicPeriod"/>
            </a:pPr>
            <a:r>
              <a:rPr lang="en-US" sz="1100" dirty="0"/>
              <a:t>After plugging in the Pico, it should initially appear as a UF2_board in Arduino.</a:t>
            </a:r>
          </a:p>
          <a:p>
            <a:pPr marL="457143" lvl="1" indent="0">
              <a:buNone/>
            </a:pPr>
            <a:r>
              <a:rPr lang="en-US" sz="1100" dirty="0">
                <a:solidFill>
                  <a:srgbClr val="DAA600"/>
                </a:solidFill>
              </a:rPr>
              <a:t>2.1 Click the port drop down</a:t>
            </a:r>
          </a:p>
          <a:p>
            <a:pPr marL="457143" lvl="1" indent="0">
              <a:buNone/>
            </a:pPr>
            <a:r>
              <a:rPr lang="en-US" sz="1100" dirty="0">
                <a:solidFill>
                  <a:srgbClr val="00B050"/>
                </a:solidFill>
              </a:rPr>
              <a:t>2.2 Search for “raspberry pi </a:t>
            </a:r>
            <a:r>
              <a:rPr lang="en-US" sz="1100" dirty="0" err="1">
                <a:solidFill>
                  <a:srgbClr val="00B050"/>
                </a:solidFill>
              </a:rPr>
              <a:t>pico</a:t>
            </a:r>
            <a:r>
              <a:rPr lang="en-US" sz="1100" dirty="0">
                <a:solidFill>
                  <a:srgbClr val="00B050"/>
                </a:solidFill>
              </a:rPr>
              <a:t>”</a:t>
            </a:r>
          </a:p>
          <a:p>
            <a:pPr marL="457143" lvl="1" indent="0">
              <a:buNone/>
            </a:pPr>
            <a:r>
              <a:rPr lang="en-US" sz="1100" dirty="0">
                <a:solidFill>
                  <a:schemeClr val="accent5">
                    <a:lumMod val="60000"/>
                    <a:lumOff val="40000"/>
                  </a:schemeClr>
                </a:solidFill>
              </a:rPr>
              <a:t>2.3 Select “Raspberry Pi Pico – Raspberry Pi Pico/RP2040”</a:t>
            </a:r>
          </a:p>
          <a:p>
            <a:pPr marL="457143" lvl="1" indent="0">
              <a:buNone/>
            </a:pPr>
            <a:r>
              <a:rPr lang="en-US" sz="1100" dirty="0">
                <a:solidFill>
                  <a:srgbClr val="00B0F0"/>
                </a:solidFill>
              </a:rPr>
              <a:t>2.3 Select “Show all ports”</a:t>
            </a:r>
          </a:p>
          <a:p>
            <a:pPr marL="457143" lvl="1" indent="0">
              <a:buNone/>
            </a:pPr>
            <a:r>
              <a:rPr lang="en-US" sz="1100" dirty="0">
                <a:solidFill>
                  <a:schemeClr val="accent2">
                    <a:lumMod val="75000"/>
                  </a:schemeClr>
                </a:solidFill>
              </a:rPr>
              <a:t>2.4 Select “UF2 Board UF2 Devices” (you may have to select “show all ports” first</a:t>
            </a:r>
          </a:p>
          <a:p>
            <a:pPr marL="457143" lvl="1" indent="0">
              <a:buNone/>
            </a:pPr>
            <a:r>
              <a:rPr lang="en-US" sz="1100" dirty="0">
                <a:solidFill>
                  <a:srgbClr val="FF0000"/>
                </a:solidFill>
              </a:rPr>
              <a:t>2.5 Click OK</a:t>
            </a:r>
          </a:p>
          <a:p>
            <a:pPr>
              <a:buFont typeface="+mj-lt"/>
              <a:buAutoNum type="arabicPeriod"/>
            </a:pPr>
            <a:r>
              <a:rPr lang="en-US" sz="1100" dirty="0"/>
              <a:t>Write the following code between the curly brackets of the </a:t>
            </a:r>
            <a:r>
              <a:rPr lang="en-US" sz="1100" dirty="0">
                <a:solidFill>
                  <a:schemeClr val="tx2">
                    <a:lumMod val="75000"/>
                    <a:lumOff val="25000"/>
                  </a:schemeClr>
                </a:solidFill>
                <a:latin typeface="Monospac821 BT" panose="020B0609020202020204" pitchFamily="49" charset="0"/>
              </a:rPr>
              <a:t>void loop()</a:t>
            </a:r>
            <a:r>
              <a:rPr lang="en-US" sz="1100" dirty="0">
                <a:solidFill>
                  <a:schemeClr val="tx2">
                    <a:lumMod val="75000"/>
                    <a:lumOff val="25000"/>
                  </a:schemeClr>
                </a:solidFill>
              </a:rPr>
              <a:t> </a:t>
            </a:r>
            <a:r>
              <a:rPr lang="en-US" sz="1100" dirty="0"/>
              <a:t>function:</a:t>
            </a:r>
          </a:p>
          <a:p>
            <a:pPr marL="457143" lvl="1" indent="0">
              <a:buNone/>
            </a:pPr>
            <a:r>
              <a:rPr lang="en-US" sz="1100" dirty="0" err="1">
                <a:solidFill>
                  <a:schemeClr val="tx2">
                    <a:lumMod val="75000"/>
                    <a:lumOff val="25000"/>
                  </a:schemeClr>
                </a:solidFill>
                <a:latin typeface="Monospac821 BT" panose="020B0609020202020204" pitchFamily="49" charset="0"/>
              </a:rPr>
              <a:t>Serial.println</a:t>
            </a:r>
            <a:r>
              <a:rPr lang="en-US" sz="1100" dirty="0">
                <a:solidFill>
                  <a:schemeClr val="tx2">
                    <a:lumMod val="75000"/>
                    <a:lumOff val="25000"/>
                  </a:schemeClr>
                </a:solidFill>
                <a:latin typeface="Monospac821 BT" panose="020B0609020202020204" pitchFamily="49" charset="0"/>
              </a:rPr>
              <a:t>("Hello World!");</a:t>
            </a:r>
          </a:p>
          <a:p>
            <a:pPr marL="457143" lvl="1" indent="0">
              <a:buNone/>
            </a:pPr>
            <a:r>
              <a:rPr lang="en-US" sz="1100" dirty="0">
                <a:solidFill>
                  <a:schemeClr val="tx2">
                    <a:lumMod val="75000"/>
                    <a:lumOff val="25000"/>
                  </a:schemeClr>
                </a:solidFill>
                <a:latin typeface="Monospac821 BT" panose="020B0609020202020204" pitchFamily="49" charset="0"/>
              </a:rPr>
              <a:t>delay(1000);</a:t>
            </a:r>
          </a:p>
          <a:p>
            <a:pPr>
              <a:buFont typeface="+mj-lt"/>
              <a:buAutoNum type="arabicPeriod"/>
            </a:pPr>
            <a:r>
              <a:rPr lang="en-US" sz="1100" dirty="0"/>
              <a:t>Click the upload button (arrow button on top left of IDE) and wait until “Done Uploading” is displayed.</a:t>
            </a:r>
          </a:p>
          <a:p>
            <a:pPr>
              <a:buFont typeface="+mj-lt"/>
              <a:buAutoNum type="arabicPeriod"/>
            </a:pPr>
            <a:r>
              <a:rPr lang="en-US" sz="1100" dirty="0"/>
              <a:t>Open the serial monitor (top right of IDE)</a:t>
            </a:r>
          </a:p>
          <a:p>
            <a:pPr marL="457143" lvl="1" indent="0">
              <a:buNone/>
            </a:pPr>
            <a:r>
              <a:rPr lang="en-US" sz="1100" dirty="0"/>
              <a:t>5.1 You should see “Hello World!” displayed once a second. This text is generated by the Pico and sent over a Serial connection to your computer. </a:t>
            </a:r>
          </a:p>
          <a:p>
            <a:pPr>
              <a:buFont typeface="+mj-lt"/>
              <a:buAutoNum type="arabicPeriod"/>
            </a:pPr>
            <a:r>
              <a:rPr lang="en-US" sz="1100" dirty="0"/>
              <a:t>The Pico should now show up as a COM port, and you will no longer need to hold the BOOLSEL button when you plug it in. </a:t>
            </a:r>
          </a:p>
          <a:p>
            <a:pPr>
              <a:buFont typeface="+mj-lt"/>
              <a:buAutoNum type="arabicPeriod"/>
            </a:pPr>
            <a:endParaRPr lang="en-US" sz="1100" dirty="0"/>
          </a:p>
          <a:p>
            <a:pPr>
              <a:buFont typeface="+mj-lt"/>
              <a:buAutoNum type="arabicPeriod"/>
            </a:pPr>
            <a:endParaRPr lang="en-US" sz="1100" dirty="0"/>
          </a:p>
        </p:txBody>
      </p:sp>
      <p:sp>
        <p:nvSpPr>
          <p:cNvPr id="4" name="Footer Placeholder 3">
            <a:extLst>
              <a:ext uri="{FF2B5EF4-FFF2-40B4-BE49-F238E27FC236}">
                <a16:creationId xmlns:a16="http://schemas.microsoft.com/office/drawing/2014/main" id="{5FB436AB-4443-8B44-65F5-88C7118A5A18}"/>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978D7787-4321-EC4B-C81D-DF24A38BA372}"/>
              </a:ext>
            </a:extLst>
          </p:cNvPr>
          <p:cNvSpPr>
            <a:spLocks noGrp="1"/>
          </p:cNvSpPr>
          <p:nvPr>
            <p:ph type="sldNum" sz="quarter" idx="12"/>
          </p:nvPr>
        </p:nvSpPr>
        <p:spPr/>
        <p:txBody>
          <a:bodyPr/>
          <a:lstStyle/>
          <a:p>
            <a:fld id="{9A3029B7-FE6B-4680-9049-80E8298A0825}" type="slidenum">
              <a:rPr lang="en-US" smtClean="0"/>
              <a:t>8</a:t>
            </a:fld>
            <a:endParaRPr lang="en-US" dirty="0"/>
          </a:p>
        </p:txBody>
      </p:sp>
      <p:sp>
        <p:nvSpPr>
          <p:cNvPr id="6" name="Content Placeholder 5">
            <a:extLst>
              <a:ext uri="{FF2B5EF4-FFF2-40B4-BE49-F238E27FC236}">
                <a16:creationId xmlns:a16="http://schemas.microsoft.com/office/drawing/2014/main" id="{BE53BA27-F537-5EA5-F1D9-72743BD41663}"/>
              </a:ext>
            </a:extLst>
          </p:cNvPr>
          <p:cNvSpPr>
            <a:spLocks noGrp="1"/>
          </p:cNvSpPr>
          <p:nvPr>
            <p:ph idx="13"/>
          </p:nvPr>
        </p:nvSpPr>
        <p:spPr/>
        <p:txBody>
          <a:bodyPr/>
          <a:lstStyle/>
          <a:p>
            <a:endParaRPr lang="en-US" b="1" dirty="0">
              <a:solidFill>
                <a:srgbClr val="0070C0"/>
              </a:solidFill>
            </a:endParaRPr>
          </a:p>
          <a:p>
            <a:r>
              <a:rPr lang="en-US" dirty="0"/>
              <a:t>Intro</a:t>
            </a:r>
          </a:p>
          <a:p>
            <a:r>
              <a:rPr lang="en-US" dirty="0"/>
              <a:t>Materials</a:t>
            </a:r>
          </a:p>
          <a:p>
            <a:r>
              <a:rPr lang="en-US" dirty="0"/>
              <a:t>Task 0A</a:t>
            </a:r>
          </a:p>
          <a:p>
            <a:r>
              <a:rPr lang="en-US" dirty="0"/>
              <a:t>Task 0B</a:t>
            </a:r>
          </a:p>
          <a:p>
            <a:r>
              <a:rPr lang="en-US" b="1" dirty="0">
                <a:solidFill>
                  <a:srgbClr val="00B0F0"/>
                </a:solidFill>
              </a:rPr>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pic>
        <p:nvPicPr>
          <p:cNvPr id="10" name="Picture 9">
            <a:extLst>
              <a:ext uri="{FF2B5EF4-FFF2-40B4-BE49-F238E27FC236}">
                <a16:creationId xmlns:a16="http://schemas.microsoft.com/office/drawing/2014/main" id="{77DACC5F-268A-2176-BF33-662F734C40A1}"/>
              </a:ext>
            </a:extLst>
          </p:cNvPr>
          <p:cNvPicPr>
            <a:picLocks noChangeAspect="1"/>
          </p:cNvPicPr>
          <p:nvPr/>
        </p:nvPicPr>
        <p:blipFill>
          <a:blip r:embed="rId3"/>
          <a:stretch>
            <a:fillRect/>
          </a:stretch>
        </p:blipFill>
        <p:spPr>
          <a:xfrm>
            <a:off x="5838971" y="995915"/>
            <a:ext cx="2024008" cy="902228"/>
          </a:xfrm>
          <a:prstGeom prst="rect">
            <a:avLst/>
          </a:prstGeom>
        </p:spPr>
      </p:pic>
      <p:sp>
        <p:nvSpPr>
          <p:cNvPr id="35" name="Rectangle 34">
            <a:extLst>
              <a:ext uri="{FF2B5EF4-FFF2-40B4-BE49-F238E27FC236}">
                <a16:creationId xmlns:a16="http://schemas.microsoft.com/office/drawing/2014/main" id="{E5C2D5BD-9A07-6C4B-64FF-A0770C42E22B}"/>
              </a:ext>
            </a:extLst>
          </p:cNvPr>
          <p:cNvSpPr/>
          <p:nvPr/>
        </p:nvSpPr>
        <p:spPr>
          <a:xfrm>
            <a:off x="5393206" y="2343277"/>
            <a:ext cx="818390" cy="190072"/>
          </a:xfrm>
          <a:prstGeom prst="rect">
            <a:avLst/>
          </a:prstGeom>
          <a:noFill/>
          <a:ln>
            <a:solidFill>
              <a:srgbClr val="DAA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DF9CCCA4-8A9F-B94D-7097-AF78B62D36CB}"/>
              </a:ext>
            </a:extLst>
          </p:cNvPr>
          <p:cNvSpPr/>
          <p:nvPr/>
        </p:nvSpPr>
        <p:spPr>
          <a:xfrm>
            <a:off x="7005953" y="3536524"/>
            <a:ext cx="857026" cy="158628"/>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69C7D6BA-AEAA-CFF9-D55F-97B452D28464}"/>
              </a:ext>
            </a:extLst>
          </p:cNvPr>
          <p:cNvSpPr/>
          <p:nvPr/>
        </p:nvSpPr>
        <p:spPr>
          <a:xfrm>
            <a:off x="7045605" y="4054829"/>
            <a:ext cx="952274" cy="154190"/>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B671016F-BCA8-CC10-E766-BBF5C4ADBE7C}"/>
              </a:ext>
            </a:extLst>
          </p:cNvPr>
          <p:cNvSpPr/>
          <p:nvPr/>
        </p:nvSpPr>
        <p:spPr>
          <a:xfrm>
            <a:off x="8028596" y="3713080"/>
            <a:ext cx="637880" cy="154192"/>
          </a:xfrm>
          <a:prstGeom prst="rect">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B31839CE-B03B-52C0-2EE1-A325219F7869}"/>
              </a:ext>
            </a:extLst>
          </p:cNvPr>
          <p:cNvSpPr/>
          <p:nvPr/>
        </p:nvSpPr>
        <p:spPr>
          <a:xfrm>
            <a:off x="8764358" y="4436127"/>
            <a:ext cx="318940" cy="2103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C3CCE792-0451-463C-77E7-623E13B3262B}"/>
              </a:ext>
            </a:extLst>
          </p:cNvPr>
          <p:cNvGrpSpPr/>
          <p:nvPr/>
        </p:nvGrpSpPr>
        <p:grpSpPr>
          <a:xfrm>
            <a:off x="7154799" y="4997791"/>
            <a:ext cx="1686160" cy="1260502"/>
            <a:chOff x="8021628" y="5550260"/>
            <a:chExt cx="1686160" cy="1260502"/>
          </a:xfrm>
        </p:grpSpPr>
        <p:pic>
          <p:nvPicPr>
            <p:cNvPr id="34" name="Picture 33">
              <a:extLst>
                <a:ext uri="{FF2B5EF4-FFF2-40B4-BE49-F238E27FC236}">
                  <a16:creationId xmlns:a16="http://schemas.microsoft.com/office/drawing/2014/main" id="{472840B8-9A04-D28D-88BE-D3756FDD3901}"/>
                </a:ext>
              </a:extLst>
            </p:cNvPr>
            <p:cNvPicPr>
              <a:picLocks noChangeAspect="1"/>
            </p:cNvPicPr>
            <p:nvPr/>
          </p:nvPicPr>
          <p:blipFill>
            <a:blip r:embed="rId4"/>
            <a:stretch>
              <a:fillRect/>
            </a:stretch>
          </p:blipFill>
          <p:spPr>
            <a:xfrm>
              <a:off x="8021628" y="5550260"/>
              <a:ext cx="1686160" cy="924055"/>
            </a:xfrm>
            <a:prstGeom prst="rect">
              <a:avLst/>
            </a:prstGeom>
          </p:spPr>
        </p:pic>
        <p:sp>
          <p:nvSpPr>
            <p:cNvPr id="56" name="Rectangle 55">
              <a:extLst>
                <a:ext uri="{FF2B5EF4-FFF2-40B4-BE49-F238E27FC236}">
                  <a16:creationId xmlns:a16="http://schemas.microsoft.com/office/drawing/2014/main" id="{2E76B4B7-47E2-B56B-BCBD-A1FE914BCA12}"/>
                </a:ext>
              </a:extLst>
            </p:cNvPr>
            <p:cNvSpPr/>
            <p:nvPr/>
          </p:nvSpPr>
          <p:spPr>
            <a:xfrm>
              <a:off x="9296401" y="6077472"/>
              <a:ext cx="382085" cy="337560"/>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a16="http://schemas.microsoft.com/office/drawing/2014/main" id="{FC47EB3E-27C9-46E0-8074-3C10ADD58B04}"/>
                </a:ext>
              </a:extLst>
            </p:cNvPr>
            <p:cNvSpPr txBox="1"/>
            <p:nvPr/>
          </p:nvSpPr>
          <p:spPr>
            <a:xfrm>
              <a:off x="8051167" y="6441430"/>
              <a:ext cx="1580020" cy="369332"/>
            </a:xfrm>
            <a:prstGeom prst="rect">
              <a:avLst/>
            </a:prstGeom>
            <a:noFill/>
          </p:spPr>
          <p:txBody>
            <a:bodyPr wrap="square">
              <a:spAutoFit/>
            </a:bodyPr>
            <a:lstStyle/>
            <a:p>
              <a:r>
                <a:rPr lang="en-US" dirty="0"/>
                <a:t>Serial Monitor </a:t>
              </a:r>
            </a:p>
          </p:txBody>
        </p:sp>
      </p:grpSp>
      <p:grpSp>
        <p:nvGrpSpPr>
          <p:cNvPr id="7" name="Group 6">
            <a:extLst>
              <a:ext uri="{FF2B5EF4-FFF2-40B4-BE49-F238E27FC236}">
                <a16:creationId xmlns:a16="http://schemas.microsoft.com/office/drawing/2014/main" id="{33FA0B95-0071-C1AF-3DE0-1CDD40D9FE51}"/>
              </a:ext>
            </a:extLst>
          </p:cNvPr>
          <p:cNvGrpSpPr/>
          <p:nvPr/>
        </p:nvGrpSpPr>
        <p:grpSpPr>
          <a:xfrm>
            <a:off x="5202762" y="4988258"/>
            <a:ext cx="1686160" cy="1279319"/>
            <a:chOff x="6069591" y="5540727"/>
            <a:chExt cx="1686160" cy="1279319"/>
          </a:xfrm>
        </p:grpSpPr>
        <p:pic>
          <p:nvPicPr>
            <p:cNvPr id="32" name="Picture 31">
              <a:extLst>
                <a:ext uri="{FF2B5EF4-FFF2-40B4-BE49-F238E27FC236}">
                  <a16:creationId xmlns:a16="http://schemas.microsoft.com/office/drawing/2014/main" id="{3DD6DF59-ACD4-659F-A0C7-1E9126A5730A}"/>
                </a:ext>
              </a:extLst>
            </p:cNvPr>
            <p:cNvPicPr>
              <a:picLocks noChangeAspect="1"/>
            </p:cNvPicPr>
            <p:nvPr/>
          </p:nvPicPr>
          <p:blipFill>
            <a:blip r:embed="rId5"/>
            <a:stretch>
              <a:fillRect/>
            </a:stretch>
          </p:blipFill>
          <p:spPr>
            <a:xfrm>
              <a:off x="6260034" y="5540727"/>
              <a:ext cx="1200319" cy="933580"/>
            </a:xfrm>
            <a:prstGeom prst="rect">
              <a:avLst/>
            </a:prstGeom>
          </p:spPr>
        </p:pic>
        <p:sp>
          <p:nvSpPr>
            <p:cNvPr id="54" name="Rectangle 53">
              <a:extLst>
                <a:ext uri="{FF2B5EF4-FFF2-40B4-BE49-F238E27FC236}">
                  <a16:creationId xmlns:a16="http://schemas.microsoft.com/office/drawing/2014/main" id="{43FB3F6E-5759-78E4-9D28-6B7ABB49D389}"/>
                </a:ext>
              </a:extLst>
            </p:cNvPr>
            <p:cNvSpPr/>
            <p:nvPr/>
          </p:nvSpPr>
          <p:spPr>
            <a:xfrm>
              <a:off x="6670509" y="6113152"/>
              <a:ext cx="382085" cy="337560"/>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TextBox 58">
              <a:extLst>
                <a:ext uri="{FF2B5EF4-FFF2-40B4-BE49-F238E27FC236}">
                  <a16:creationId xmlns:a16="http://schemas.microsoft.com/office/drawing/2014/main" id="{5B23B962-C951-A253-2B96-E85FF9C0E7A6}"/>
                </a:ext>
              </a:extLst>
            </p:cNvPr>
            <p:cNvSpPr txBox="1"/>
            <p:nvPr/>
          </p:nvSpPr>
          <p:spPr>
            <a:xfrm>
              <a:off x="6069591" y="6450714"/>
              <a:ext cx="1686160" cy="369332"/>
            </a:xfrm>
            <a:prstGeom prst="rect">
              <a:avLst/>
            </a:prstGeom>
            <a:noFill/>
          </p:spPr>
          <p:txBody>
            <a:bodyPr wrap="square">
              <a:spAutoFit/>
            </a:bodyPr>
            <a:lstStyle/>
            <a:p>
              <a:r>
                <a:rPr lang="en-US" dirty="0"/>
                <a:t>Upload button</a:t>
              </a:r>
            </a:p>
          </p:txBody>
        </p:sp>
      </p:grpSp>
      <p:sp>
        <p:nvSpPr>
          <p:cNvPr id="14" name="Rectangle 13">
            <a:extLst>
              <a:ext uri="{FF2B5EF4-FFF2-40B4-BE49-F238E27FC236}">
                <a16:creationId xmlns:a16="http://schemas.microsoft.com/office/drawing/2014/main" id="{1F56CC3F-7417-0B7E-CDC0-2267BDCF67A3}"/>
              </a:ext>
            </a:extLst>
          </p:cNvPr>
          <p:cNvSpPr/>
          <p:nvPr/>
        </p:nvSpPr>
        <p:spPr>
          <a:xfrm>
            <a:off x="7974348" y="4326457"/>
            <a:ext cx="637880" cy="154192"/>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48991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D3722-9584-AB7D-9A20-B9CAB433DB66}"/>
              </a:ext>
            </a:extLst>
          </p:cNvPr>
          <p:cNvSpPr>
            <a:spLocks noGrp="1"/>
          </p:cNvSpPr>
          <p:nvPr>
            <p:ph type="title"/>
          </p:nvPr>
        </p:nvSpPr>
        <p:spPr/>
        <p:txBody>
          <a:bodyPr>
            <a:normAutofit/>
          </a:bodyPr>
          <a:lstStyle/>
          <a:p>
            <a:r>
              <a:rPr lang="en-US" sz="2800" b="1" dirty="0"/>
              <a:t>Task 1 – Real-Time Digital Output</a:t>
            </a:r>
          </a:p>
        </p:txBody>
      </p:sp>
      <p:sp>
        <p:nvSpPr>
          <p:cNvPr id="3" name="Content Placeholder 2">
            <a:extLst>
              <a:ext uri="{FF2B5EF4-FFF2-40B4-BE49-F238E27FC236}">
                <a16:creationId xmlns:a16="http://schemas.microsoft.com/office/drawing/2014/main" id="{B1B10943-F50C-9CCC-4357-C9A0AEFA33B1}"/>
              </a:ext>
            </a:extLst>
          </p:cNvPr>
          <p:cNvSpPr>
            <a:spLocks noGrp="1"/>
          </p:cNvSpPr>
          <p:nvPr>
            <p:ph idx="1"/>
          </p:nvPr>
        </p:nvSpPr>
        <p:spPr>
          <a:xfrm>
            <a:off x="1111498" y="1906648"/>
            <a:ext cx="2493240" cy="3906753"/>
          </a:xfrm>
        </p:spPr>
        <p:txBody>
          <a:bodyPr>
            <a:normAutofit fontScale="92500" lnSpcReduction="20000"/>
          </a:bodyPr>
          <a:lstStyle/>
          <a:p>
            <a:pPr marL="457143" indent="-457143">
              <a:buAutoNum type="arabicPeriod"/>
            </a:pPr>
            <a:r>
              <a:rPr lang="en-US" sz="1200" dirty="0"/>
              <a:t>Connect an LED to the Pico (see diagram at right)</a:t>
            </a:r>
          </a:p>
          <a:p>
            <a:pPr marL="457143" lvl="1" indent="0">
              <a:buNone/>
            </a:pPr>
            <a:r>
              <a:rPr lang="en-US" sz="1200" dirty="0"/>
              <a:t>1.1 Connect one lead of a 62 Ohm resistor (larger resistor in your kit) to a GPIO pin of your choosing (note the pin number for your code).</a:t>
            </a:r>
          </a:p>
          <a:p>
            <a:pPr marL="457143" lvl="1" indent="0">
              <a:buNone/>
            </a:pPr>
            <a:r>
              <a:rPr lang="en-US" sz="1200" dirty="0"/>
              <a:t>1.2 Connect the LED’s long leg to the other end of the resistor, and the short leg to Ground. </a:t>
            </a:r>
          </a:p>
          <a:p>
            <a:pPr marL="457143" indent="-457143">
              <a:buAutoNum type="arabicPeriod"/>
            </a:pPr>
            <a:r>
              <a:rPr lang="en-US" sz="1200" dirty="0"/>
              <a:t>Write code to change the state (on/off) of the LED every 500 milliseconds. Do not use the </a:t>
            </a:r>
            <a:r>
              <a:rPr lang="en-US" sz="1200" dirty="0">
                <a:solidFill>
                  <a:srgbClr val="0070C0"/>
                </a:solidFill>
                <a:latin typeface="Monospac821 BT" panose="020B0609020202020204"/>
              </a:rPr>
              <a:t>delay() </a:t>
            </a:r>
            <a:r>
              <a:rPr lang="en-US" sz="1200" dirty="0"/>
              <a:t>function. Use the </a:t>
            </a:r>
            <a:r>
              <a:rPr lang="en-US" sz="1200" dirty="0" err="1">
                <a:solidFill>
                  <a:srgbClr val="0070C0"/>
                </a:solidFill>
                <a:latin typeface="Monospac821 BT" panose="020B0609020202020204"/>
              </a:rPr>
              <a:t>millis</a:t>
            </a:r>
            <a:r>
              <a:rPr lang="en-US" sz="1200" dirty="0">
                <a:solidFill>
                  <a:srgbClr val="0070C0"/>
                </a:solidFill>
                <a:latin typeface="Monospac821 BT" panose="020B0609020202020204"/>
              </a:rPr>
              <a:t>()</a:t>
            </a:r>
            <a:r>
              <a:rPr lang="en-US" sz="1200" dirty="0">
                <a:solidFill>
                  <a:srgbClr val="0070C0"/>
                </a:solidFill>
              </a:rPr>
              <a:t> </a:t>
            </a:r>
            <a:r>
              <a:rPr lang="en-US" sz="1200" dirty="0"/>
              <a:t>function to create a timing statement that compares the current time to the previous time the LED’s state was changed. </a:t>
            </a:r>
          </a:p>
          <a:p>
            <a:pPr marL="457143" indent="-457143">
              <a:buAutoNum type="arabicPeriod"/>
            </a:pPr>
            <a:r>
              <a:rPr lang="en-US" sz="1200" dirty="0"/>
              <a:t>Add a second LED connected to a different GPIO pin.</a:t>
            </a:r>
          </a:p>
          <a:p>
            <a:pPr marL="457143" indent="-457143">
              <a:buAutoNum type="arabicPeriod"/>
            </a:pPr>
            <a:r>
              <a:rPr lang="en-US" sz="1200" dirty="0"/>
              <a:t>Add a second timing statement like your first to blink the second LED simultaneously to the first at a different rate of your choosing. </a:t>
            </a:r>
          </a:p>
        </p:txBody>
      </p:sp>
      <p:sp>
        <p:nvSpPr>
          <p:cNvPr id="4" name="Footer Placeholder 3">
            <a:extLst>
              <a:ext uri="{FF2B5EF4-FFF2-40B4-BE49-F238E27FC236}">
                <a16:creationId xmlns:a16="http://schemas.microsoft.com/office/drawing/2014/main" id="{AFB7003E-AA2F-D293-D67B-E9C2FC613BED}"/>
              </a:ext>
            </a:extLst>
          </p:cNvPr>
          <p:cNvSpPr>
            <a:spLocks noGrp="1"/>
          </p:cNvSpPr>
          <p:nvPr>
            <p:ph type="ftr" sz="quarter" idx="11"/>
          </p:nvPr>
        </p:nvSpPr>
        <p:spPr/>
        <p:txBody>
          <a:bodyPr/>
          <a:lstStyle/>
          <a:p>
            <a:r>
              <a:rPr lang="en-US" dirty="0"/>
              <a:t>Astro 331 Lab #1</a:t>
            </a:r>
          </a:p>
        </p:txBody>
      </p:sp>
      <p:sp>
        <p:nvSpPr>
          <p:cNvPr id="5" name="Slide Number Placeholder 4">
            <a:extLst>
              <a:ext uri="{FF2B5EF4-FFF2-40B4-BE49-F238E27FC236}">
                <a16:creationId xmlns:a16="http://schemas.microsoft.com/office/drawing/2014/main" id="{8B424DDD-488F-F279-DE25-52D89BBD1A1F}"/>
              </a:ext>
            </a:extLst>
          </p:cNvPr>
          <p:cNvSpPr>
            <a:spLocks noGrp="1"/>
          </p:cNvSpPr>
          <p:nvPr>
            <p:ph type="sldNum" sz="quarter" idx="12"/>
          </p:nvPr>
        </p:nvSpPr>
        <p:spPr/>
        <p:txBody>
          <a:bodyPr/>
          <a:lstStyle/>
          <a:p>
            <a:fld id="{9A3029B7-FE6B-4680-9049-80E8298A0825}" type="slidenum">
              <a:rPr lang="en-US" smtClean="0"/>
              <a:t>9</a:t>
            </a:fld>
            <a:endParaRPr lang="en-US" dirty="0"/>
          </a:p>
        </p:txBody>
      </p:sp>
      <p:sp>
        <p:nvSpPr>
          <p:cNvPr id="6" name="Content Placeholder 5">
            <a:extLst>
              <a:ext uri="{FF2B5EF4-FFF2-40B4-BE49-F238E27FC236}">
                <a16:creationId xmlns:a16="http://schemas.microsoft.com/office/drawing/2014/main" id="{8CE1069B-1DD2-5E33-FC63-A8223A994159}"/>
              </a:ext>
            </a:extLst>
          </p:cNvPr>
          <p:cNvSpPr>
            <a:spLocks noGrp="1"/>
          </p:cNvSpPr>
          <p:nvPr>
            <p:ph idx="13"/>
          </p:nvPr>
        </p:nvSpPr>
        <p:spPr/>
        <p:txBody>
          <a:bodyPr/>
          <a:lstStyle/>
          <a:p>
            <a:endParaRPr lang="en-US" b="1" dirty="0">
              <a:solidFill>
                <a:srgbClr val="0070C0"/>
              </a:solidFill>
            </a:endParaRPr>
          </a:p>
          <a:p>
            <a:r>
              <a:rPr lang="en-US" dirty="0"/>
              <a:t>Intro</a:t>
            </a:r>
          </a:p>
          <a:p>
            <a:r>
              <a:rPr lang="en-US" dirty="0"/>
              <a:t>Materials</a:t>
            </a:r>
          </a:p>
          <a:p>
            <a:r>
              <a:rPr lang="en-US" dirty="0"/>
              <a:t>Task 0A</a:t>
            </a:r>
          </a:p>
          <a:p>
            <a:r>
              <a:rPr lang="en-US" dirty="0"/>
              <a:t>Task 0B</a:t>
            </a:r>
          </a:p>
          <a:p>
            <a:r>
              <a:rPr lang="en-US" dirty="0"/>
              <a:t>Task 0C</a:t>
            </a:r>
          </a:p>
          <a:p>
            <a:r>
              <a:rPr lang="en-US" b="1" dirty="0">
                <a:solidFill>
                  <a:srgbClr val="00B0F0"/>
                </a:solidFill>
              </a:rPr>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sp>
        <p:nvSpPr>
          <p:cNvPr id="7" name="Content Placeholder 6">
            <a:extLst>
              <a:ext uri="{FF2B5EF4-FFF2-40B4-BE49-F238E27FC236}">
                <a16:creationId xmlns:a16="http://schemas.microsoft.com/office/drawing/2014/main" id="{7C1815D7-581A-DAAD-8C16-BAF4306F7097}"/>
              </a:ext>
            </a:extLst>
          </p:cNvPr>
          <p:cNvSpPr>
            <a:spLocks noGrp="1"/>
          </p:cNvSpPr>
          <p:nvPr>
            <p:ph idx="14"/>
          </p:nvPr>
        </p:nvSpPr>
        <p:spPr>
          <a:xfrm>
            <a:off x="1066991" y="5848674"/>
            <a:ext cx="8030643" cy="805104"/>
          </a:xfrm>
        </p:spPr>
        <p:txBody>
          <a:bodyPr>
            <a:normAutofit/>
          </a:bodyPr>
          <a:lstStyle/>
          <a:p>
            <a:pPr>
              <a:spcBef>
                <a:spcPts val="0"/>
              </a:spcBef>
            </a:pPr>
            <a:r>
              <a:rPr lang="en-US" b="1" dirty="0"/>
              <a:t>Task Outcome:</a:t>
            </a:r>
            <a:endParaRPr lang="en-US" dirty="0"/>
          </a:p>
          <a:p>
            <a:pPr marL="342858" indent="-342858">
              <a:spcBef>
                <a:spcPts val="0"/>
              </a:spcBef>
              <a:buAutoNum type="arabicParenBoth"/>
            </a:pPr>
            <a:r>
              <a:rPr lang="en-US" dirty="0"/>
              <a:t>Two LED’s blinking simultaneously at different rates using non-blocking code (</a:t>
            </a:r>
            <a:r>
              <a:rPr lang="en-US" dirty="0" err="1"/>
              <a:t>i.e</a:t>
            </a:r>
            <a:r>
              <a:rPr lang="en-US" dirty="0"/>
              <a:t> Arduino </a:t>
            </a:r>
            <a:r>
              <a:rPr lang="en-US" dirty="0">
                <a:solidFill>
                  <a:schemeClr val="tx2">
                    <a:lumMod val="75000"/>
                    <a:lumOff val="25000"/>
                  </a:schemeClr>
                </a:solidFill>
                <a:latin typeface="Monospac821 BT" panose="020B0609020202020204" pitchFamily="49" charset="0"/>
              </a:rPr>
              <a:t>delay()</a:t>
            </a:r>
            <a:r>
              <a:rPr lang="en-US" dirty="0">
                <a:solidFill>
                  <a:schemeClr val="tx2">
                    <a:lumMod val="75000"/>
                    <a:lumOff val="25000"/>
                  </a:schemeClr>
                </a:solidFill>
                <a:latin typeface="+mn-lt"/>
              </a:rPr>
              <a:t> </a:t>
            </a:r>
            <a:r>
              <a:rPr lang="en-US" dirty="0"/>
              <a:t>function is </a:t>
            </a:r>
            <a:r>
              <a:rPr lang="en-US" i="1" u="sng" dirty="0"/>
              <a:t>not</a:t>
            </a:r>
            <a:r>
              <a:rPr lang="en-US" dirty="0"/>
              <a:t> used). </a:t>
            </a:r>
          </a:p>
          <a:p>
            <a:pPr marL="342858" indent="-342858">
              <a:spcBef>
                <a:spcPts val="0"/>
              </a:spcBef>
              <a:buAutoNum type="arabicParenBoth"/>
            </a:pPr>
            <a:endParaRPr lang="en-US" dirty="0"/>
          </a:p>
        </p:txBody>
      </p:sp>
      <p:sp>
        <p:nvSpPr>
          <p:cNvPr id="11" name="Content Placeholder 6">
            <a:extLst>
              <a:ext uri="{FF2B5EF4-FFF2-40B4-BE49-F238E27FC236}">
                <a16:creationId xmlns:a16="http://schemas.microsoft.com/office/drawing/2014/main" id="{E6BC0C83-0FA0-39DB-D2F8-14E1735CB7E4}"/>
              </a:ext>
            </a:extLst>
          </p:cNvPr>
          <p:cNvSpPr txBox="1">
            <a:spLocks/>
          </p:cNvSpPr>
          <p:nvPr/>
        </p:nvSpPr>
        <p:spPr>
          <a:xfrm>
            <a:off x="6857133" y="2562426"/>
            <a:ext cx="2005115" cy="1552676"/>
          </a:xfrm>
          <a:prstGeom prst="rect">
            <a:avLst/>
          </a:prstGeom>
          <a:ln>
            <a:solidFill>
              <a:srgbClr val="FFC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100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200" u="sng" dirty="0">
                <a:solidFill>
                  <a:srgbClr val="DAA600"/>
                </a:solidFill>
              </a:rPr>
              <a:t>CAUTION</a:t>
            </a:r>
          </a:p>
          <a:p>
            <a:pPr algn="ctr">
              <a:spcBef>
                <a:spcPts val="0"/>
              </a:spcBef>
            </a:pPr>
            <a:endParaRPr lang="en-US" sz="1200" u="sng" dirty="0">
              <a:solidFill>
                <a:srgbClr val="FF0000"/>
              </a:solidFill>
            </a:endParaRPr>
          </a:p>
          <a:p>
            <a:pPr>
              <a:spcBef>
                <a:spcPts val="0"/>
              </a:spcBef>
            </a:pPr>
            <a:r>
              <a:rPr lang="en-US" sz="1200" dirty="0">
                <a:solidFill>
                  <a:srgbClr val="DAA600"/>
                </a:solidFill>
              </a:rPr>
              <a:t>LEDs are directional—the longer (or bent) leg must be connected to power, and the shorter leg to ground. Connecting the LED backwards won't damage anything, but the LED will not illuminate. </a:t>
            </a:r>
          </a:p>
          <a:p>
            <a:pPr lvl="1">
              <a:spcBef>
                <a:spcPts val="0"/>
              </a:spcBef>
            </a:pPr>
            <a:endParaRPr lang="en-US" sz="1200" dirty="0">
              <a:solidFill>
                <a:srgbClr val="FF0000"/>
              </a:solidFill>
            </a:endParaRPr>
          </a:p>
        </p:txBody>
      </p:sp>
      <p:sp>
        <p:nvSpPr>
          <p:cNvPr id="12" name="Content Placeholder 6">
            <a:extLst>
              <a:ext uri="{FF2B5EF4-FFF2-40B4-BE49-F238E27FC236}">
                <a16:creationId xmlns:a16="http://schemas.microsoft.com/office/drawing/2014/main" id="{2846C122-980B-0265-C778-19F7057A2CFA}"/>
              </a:ext>
            </a:extLst>
          </p:cNvPr>
          <p:cNvSpPr txBox="1">
            <a:spLocks/>
          </p:cNvSpPr>
          <p:nvPr/>
        </p:nvSpPr>
        <p:spPr>
          <a:xfrm>
            <a:off x="6142484" y="1044599"/>
            <a:ext cx="2811208" cy="1319674"/>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200" u="sng" dirty="0">
                <a:solidFill>
                  <a:srgbClr val="FF0000"/>
                </a:solidFill>
              </a:rPr>
              <a:t>WARNING</a:t>
            </a:r>
          </a:p>
          <a:p>
            <a:pPr algn="ctr">
              <a:spcBef>
                <a:spcPts val="0"/>
              </a:spcBef>
            </a:pPr>
            <a:endParaRPr lang="en-US" sz="1200" u="sng" dirty="0">
              <a:solidFill>
                <a:srgbClr val="FF0000"/>
              </a:solidFill>
            </a:endParaRPr>
          </a:p>
          <a:p>
            <a:pPr>
              <a:spcBef>
                <a:spcPts val="0"/>
              </a:spcBef>
            </a:pPr>
            <a:r>
              <a:rPr lang="en-US" sz="1200" dirty="0">
                <a:solidFill>
                  <a:srgbClr val="FF0000"/>
                </a:solidFill>
              </a:rPr>
              <a:t>LEDs (light emitting diodes) illuminate when current flows through them. If connected directly to a voltage source, they will burn out immediately—</a:t>
            </a:r>
            <a:r>
              <a:rPr lang="en-US" sz="1200" b="1" dirty="0">
                <a:solidFill>
                  <a:srgbClr val="FF0000"/>
                </a:solidFill>
              </a:rPr>
              <a:t>they must always be connected in series with a resistor, which will limit the current. </a:t>
            </a:r>
          </a:p>
          <a:p>
            <a:pPr lvl="1">
              <a:spcBef>
                <a:spcPts val="0"/>
              </a:spcBef>
            </a:pPr>
            <a:endParaRPr lang="en-US" sz="1200" dirty="0">
              <a:solidFill>
                <a:srgbClr val="FF0000"/>
              </a:solidFill>
            </a:endParaRPr>
          </a:p>
        </p:txBody>
      </p:sp>
      <p:sp>
        <p:nvSpPr>
          <p:cNvPr id="8" name="Content Placeholder 6">
            <a:extLst>
              <a:ext uri="{FF2B5EF4-FFF2-40B4-BE49-F238E27FC236}">
                <a16:creationId xmlns:a16="http://schemas.microsoft.com/office/drawing/2014/main" id="{2147A0E7-B14F-96B3-EAD7-A3CE6641E2D6}"/>
              </a:ext>
            </a:extLst>
          </p:cNvPr>
          <p:cNvSpPr txBox="1">
            <a:spLocks/>
          </p:cNvSpPr>
          <p:nvPr/>
        </p:nvSpPr>
        <p:spPr>
          <a:xfrm>
            <a:off x="6857133" y="4240071"/>
            <a:ext cx="2005115" cy="1573330"/>
          </a:xfrm>
          <a:prstGeom prst="rect">
            <a:avLst/>
          </a:prstGeom>
          <a:ln>
            <a:solidFill>
              <a:srgbClr val="FFC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200" u="sng" dirty="0">
                <a:solidFill>
                  <a:srgbClr val="DAA600"/>
                </a:solidFill>
              </a:rPr>
              <a:t>CAUTION</a:t>
            </a:r>
          </a:p>
          <a:p>
            <a:pPr algn="ctr">
              <a:spcBef>
                <a:spcPts val="0"/>
              </a:spcBef>
            </a:pPr>
            <a:endParaRPr lang="en-US" sz="1200" u="sng" dirty="0">
              <a:solidFill>
                <a:srgbClr val="FF0000"/>
              </a:solidFill>
            </a:endParaRPr>
          </a:p>
          <a:p>
            <a:pPr>
              <a:spcBef>
                <a:spcPts val="0"/>
              </a:spcBef>
            </a:pPr>
            <a:r>
              <a:rPr lang="en-US" sz="1200" dirty="0">
                <a:solidFill>
                  <a:srgbClr val="DAA600"/>
                </a:solidFill>
              </a:rPr>
              <a:t>Using </a:t>
            </a:r>
            <a:r>
              <a:rPr lang="en-US" sz="1200" dirty="0">
                <a:solidFill>
                  <a:schemeClr val="tx2">
                    <a:lumMod val="75000"/>
                    <a:lumOff val="25000"/>
                  </a:schemeClr>
                </a:solidFill>
                <a:latin typeface="Monospac821 BT" panose="020B0609020202020204" pitchFamily="49" charset="0"/>
              </a:rPr>
              <a:t>delay()</a:t>
            </a:r>
            <a:r>
              <a:rPr lang="en-US" sz="1200" dirty="0">
                <a:solidFill>
                  <a:srgbClr val="DAA600"/>
                </a:solidFill>
              </a:rPr>
              <a:t> in Arduino code can be problematic, especially for real-time or multitasking applications, because it blocks the processor from doing anything else during the delay period.</a:t>
            </a:r>
            <a:endParaRPr lang="en-US" sz="1200" dirty="0">
              <a:solidFill>
                <a:srgbClr val="FF0000"/>
              </a:solidFill>
            </a:endParaRPr>
          </a:p>
        </p:txBody>
      </p:sp>
      <p:grpSp>
        <p:nvGrpSpPr>
          <p:cNvPr id="26" name="Group 25">
            <a:extLst>
              <a:ext uri="{FF2B5EF4-FFF2-40B4-BE49-F238E27FC236}">
                <a16:creationId xmlns:a16="http://schemas.microsoft.com/office/drawing/2014/main" id="{03DFED1A-0334-2B6F-72FD-50B000BF3FEA}"/>
              </a:ext>
            </a:extLst>
          </p:cNvPr>
          <p:cNvGrpSpPr/>
          <p:nvPr/>
        </p:nvGrpSpPr>
        <p:grpSpPr>
          <a:xfrm>
            <a:off x="3719997" y="2657950"/>
            <a:ext cx="2950265" cy="2402310"/>
            <a:chOff x="5374791" y="3301119"/>
            <a:chExt cx="3296729" cy="2998396"/>
          </a:xfrm>
        </p:grpSpPr>
        <p:pic>
          <p:nvPicPr>
            <p:cNvPr id="10" name="Picture 9">
              <a:extLst>
                <a:ext uri="{FF2B5EF4-FFF2-40B4-BE49-F238E27FC236}">
                  <a16:creationId xmlns:a16="http://schemas.microsoft.com/office/drawing/2014/main" id="{1B944CAB-0276-0BF5-4057-66B677A60B6D}"/>
                </a:ext>
              </a:extLst>
            </p:cNvPr>
            <p:cNvPicPr>
              <a:picLocks noChangeAspect="1"/>
            </p:cNvPicPr>
            <p:nvPr/>
          </p:nvPicPr>
          <p:blipFill>
            <a:blip r:embed="rId3"/>
            <a:stretch>
              <a:fillRect/>
            </a:stretch>
          </p:blipFill>
          <p:spPr>
            <a:xfrm>
              <a:off x="5374791" y="3301119"/>
              <a:ext cx="3296729" cy="2608640"/>
            </a:xfrm>
            <a:prstGeom prst="rect">
              <a:avLst/>
            </a:prstGeom>
          </p:spPr>
        </p:pic>
        <p:sp>
          <p:nvSpPr>
            <p:cNvPr id="14" name="TextBox 13">
              <a:extLst>
                <a:ext uri="{FF2B5EF4-FFF2-40B4-BE49-F238E27FC236}">
                  <a16:creationId xmlns:a16="http://schemas.microsoft.com/office/drawing/2014/main" id="{61E1C807-3204-CBBF-BA5D-E5151B3897F3}"/>
                </a:ext>
              </a:extLst>
            </p:cNvPr>
            <p:cNvSpPr txBox="1"/>
            <p:nvPr/>
          </p:nvSpPr>
          <p:spPr>
            <a:xfrm>
              <a:off x="5787339" y="5953784"/>
              <a:ext cx="2569557" cy="345731"/>
            </a:xfrm>
            <a:prstGeom prst="rect">
              <a:avLst/>
            </a:prstGeom>
            <a:noFill/>
          </p:spPr>
          <p:txBody>
            <a:bodyPr wrap="square">
              <a:spAutoFit/>
            </a:bodyPr>
            <a:lstStyle/>
            <a:p>
              <a:r>
                <a:rPr lang="en-US" sz="1200" b="1" dirty="0"/>
                <a:t>Example Single LED circuit</a:t>
              </a:r>
            </a:p>
          </p:txBody>
        </p:sp>
        <p:sp>
          <p:nvSpPr>
            <p:cNvPr id="15" name="TextBox 14">
              <a:extLst>
                <a:ext uri="{FF2B5EF4-FFF2-40B4-BE49-F238E27FC236}">
                  <a16:creationId xmlns:a16="http://schemas.microsoft.com/office/drawing/2014/main" id="{2947CDD5-D879-27EC-997B-DE74946C5CE4}"/>
                </a:ext>
              </a:extLst>
            </p:cNvPr>
            <p:cNvSpPr txBox="1"/>
            <p:nvPr/>
          </p:nvSpPr>
          <p:spPr>
            <a:xfrm>
              <a:off x="7023155" y="5497419"/>
              <a:ext cx="1333741" cy="326523"/>
            </a:xfrm>
            <a:prstGeom prst="rect">
              <a:avLst/>
            </a:prstGeom>
            <a:solidFill>
              <a:schemeClr val="bg1"/>
            </a:solidFill>
          </p:spPr>
          <p:txBody>
            <a:bodyPr wrap="square">
              <a:spAutoFit/>
            </a:bodyPr>
            <a:lstStyle/>
            <a:p>
              <a:pPr algn="ctr"/>
              <a:r>
                <a:rPr lang="en-US" sz="1100" dirty="0"/>
                <a:t>62 Ohm Resistor</a:t>
              </a:r>
            </a:p>
          </p:txBody>
        </p:sp>
        <p:sp>
          <p:nvSpPr>
            <p:cNvPr id="16" name="TextBox 15">
              <a:extLst>
                <a:ext uri="{FF2B5EF4-FFF2-40B4-BE49-F238E27FC236}">
                  <a16:creationId xmlns:a16="http://schemas.microsoft.com/office/drawing/2014/main" id="{29D332A5-7C5D-0DCE-F159-764602AC68E4}"/>
                </a:ext>
              </a:extLst>
            </p:cNvPr>
            <p:cNvSpPr txBox="1"/>
            <p:nvPr/>
          </p:nvSpPr>
          <p:spPr>
            <a:xfrm>
              <a:off x="7836815" y="4985223"/>
              <a:ext cx="834705" cy="316920"/>
            </a:xfrm>
            <a:prstGeom prst="rect">
              <a:avLst/>
            </a:prstGeom>
            <a:solidFill>
              <a:schemeClr val="bg1"/>
            </a:solidFill>
          </p:spPr>
          <p:txBody>
            <a:bodyPr wrap="square">
              <a:spAutoFit/>
            </a:bodyPr>
            <a:lstStyle/>
            <a:p>
              <a:pPr algn="ctr"/>
              <a:r>
                <a:rPr lang="en-US" sz="1050" dirty="0"/>
                <a:t>Long lead</a:t>
              </a:r>
            </a:p>
          </p:txBody>
        </p:sp>
        <p:sp>
          <p:nvSpPr>
            <p:cNvPr id="17" name="TextBox 16">
              <a:extLst>
                <a:ext uri="{FF2B5EF4-FFF2-40B4-BE49-F238E27FC236}">
                  <a16:creationId xmlns:a16="http://schemas.microsoft.com/office/drawing/2014/main" id="{843677C7-BCAD-359F-5971-BF81D9843090}"/>
                </a:ext>
              </a:extLst>
            </p:cNvPr>
            <p:cNvSpPr txBox="1"/>
            <p:nvPr/>
          </p:nvSpPr>
          <p:spPr>
            <a:xfrm>
              <a:off x="6160986" y="4039066"/>
              <a:ext cx="589904" cy="326523"/>
            </a:xfrm>
            <a:prstGeom prst="rect">
              <a:avLst/>
            </a:prstGeom>
            <a:solidFill>
              <a:schemeClr val="bg1"/>
            </a:solidFill>
          </p:spPr>
          <p:txBody>
            <a:bodyPr wrap="square">
              <a:spAutoFit/>
            </a:bodyPr>
            <a:lstStyle/>
            <a:p>
              <a:pPr algn="ctr"/>
              <a:r>
                <a:rPr lang="en-US" sz="1100" dirty="0"/>
                <a:t>GND</a:t>
              </a:r>
            </a:p>
          </p:txBody>
        </p:sp>
        <p:cxnSp>
          <p:nvCxnSpPr>
            <p:cNvPr id="18" name="Straight Arrow Connector 17">
              <a:extLst>
                <a:ext uri="{FF2B5EF4-FFF2-40B4-BE49-F238E27FC236}">
                  <a16:creationId xmlns:a16="http://schemas.microsoft.com/office/drawing/2014/main" id="{A57A15D6-0F31-6C32-7880-D9394E39B36E}"/>
                </a:ext>
              </a:extLst>
            </p:cNvPr>
            <p:cNvCxnSpPr>
              <a:cxnSpLocks/>
            </p:cNvCxnSpPr>
            <p:nvPr/>
          </p:nvCxnSpPr>
          <p:spPr>
            <a:xfrm flipH="1" flipV="1">
              <a:off x="7816445" y="4039066"/>
              <a:ext cx="416122" cy="917482"/>
            </a:xfrm>
            <a:prstGeom prst="straightConnector1">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26755A0F-CE61-4238-EE58-5660D5E37D32}"/>
                </a:ext>
              </a:extLst>
            </p:cNvPr>
            <p:cNvCxnSpPr>
              <a:cxnSpLocks/>
            </p:cNvCxnSpPr>
            <p:nvPr/>
          </p:nvCxnSpPr>
          <p:spPr>
            <a:xfrm flipH="1" flipV="1">
              <a:off x="7631451" y="4497807"/>
              <a:ext cx="146676" cy="967548"/>
            </a:xfrm>
            <a:prstGeom prst="straightConnector1">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8A99ADD7-4214-0EEC-EBC7-EB6FBD533203}"/>
                </a:ext>
              </a:extLst>
            </p:cNvPr>
            <p:cNvCxnSpPr>
              <a:cxnSpLocks/>
              <a:stCxn id="17" idx="1"/>
            </p:cNvCxnSpPr>
            <p:nvPr/>
          </p:nvCxnSpPr>
          <p:spPr>
            <a:xfrm flipH="1" flipV="1">
              <a:off x="5925718" y="4074292"/>
              <a:ext cx="235268" cy="128036"/>
            </a:xfrm>
            <a:prstGeom prst="straightConnector1">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27" name="TextBox 26">
            <a:extLst>
              <a:ext uri="{FF2B5EF4-FFF2-40B4-BE49-F238E27FC236}">
                <a16:creationId xmlns:a16="http://schemas.microsoft.com/office/drawing/2014/main" id="{69F72C53-4561-E72F-3ABE-17E8B9B1445D}"/>
              </a:ext>
            </a:extLst>
          </p:cNvPr>
          <p:cNvSpPr txBox="1"/>
          <p:nvPr/>
        </p:nvSpPr>
        <p:spPr>
          <a:xfrm>
            <a:off x="1066992" y="933686"/>
            <a:ext cx="5603270" cy="892552"/>
          </a:xfrm>
          <a:prstGeom prst="rect">
            <a:avLst/>
          </a:prstGeom>
          <a:noFill/>
        </p:spPr>
        <p:txBody>
          <a:bodyPr wrap="square">
            <a:spAutoFit/>
          </a:bodyPr>
          <a:lstStyle/>
          <a:p>
            <a:r>
              <a:rPr lang="en-US" sz="1400" b="1" dirty="0"/>
              <a:t>In this task, you’ll demonstrate real-time digital output by asynchronously  blinking two LEDs using non-blocking code. </a:t>
            </a:r>
          </a:p>
          <a:p>
            <a:r>
              <a:rPr lang="en-US" sz="1200" b="1" dirty="0">
                <a:solidFill>
                  <a:srgbClr val="0070C0"/>
                </a:solidFill>
              </a:rPr>
              <a:t>    </a:t>
            </a:r>
            <a:r>
              <a:rPr lang="en-US" sz="1200" b="1" dirty="0">
                <a:solidFill>
                  <a:srgbClr val="0070C0"/>
                </a:solidFill>
                <a:sym typeface="Wingdings" panose="05000000000000000000" pitchFamily="2" charset="2"/>
              </a:rPr>
              <a:t> </a:t>
            </a:r>
            <a:r>
              <a:rPr lang="en-US" sz="1200" b="1" dirty="0">
                <a:solidFill>
                  <a:srgbClr val="0070C0"/>
                </a:solidFill>
              </a:rPr>
              <a:t>This is analogous to how spacecraft computers control multiple subsystems simultaneously.   </a:t>
            </a:r>
          </a:p>
        </p:txBody>
      </p:sp>
    </p:spTree>
    <p:extLst>
      <p:ext uri="{BB962C8B-B14F-4D97-AF65-F5344CB8AC3E}">
        <p14:creationId xmlns:p14="http://schemas.microsoft.com/office/powerpoint/2010/main" val="3710215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5AA21-6202-D58A-C118-467271AF8D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C29CDE-8320-A659-D4EA-3D4B02541F96}"/>
              </a:ext>
            </a:extLst>
          </p:cNvPr>
          <p:cNvSpPr>
            <a:spLocks noGrp="1"/>
          </p:cNvSpPr>
          <p:nvPr>
            <p:ph type="title"/>
          </p:nvPr>
        </p:nvSpPr>
        <p:spPr/>
        <p:txBody>
          <a:bodyPr>
            <a:normAutofit/>
          </a:bodyPr>
          <a:lstStyle/>
          <a:p>
            <a:r>
              <a:rPr lang="en-US" sz="2800" b="1" dirty="0"/>
              <a:t>Task 2 – Digital Input</a:t>
            </a:r>
          </a:p>
        </p:txBody>
      </p:sp>
      <p:sp>
        <p:nvSpPr>
          <p:cNvPr id="3" name="Content Placeholder 2">
            <a:extLst>
              <a:ext uri="{FF2B5EF4-FFF2-40B4-BE49-F238E27FC236}">
                <a16:creationId xmlns:a16="http://schemas.microsoft.com/office/drawing/2014/main" id="{DE26C493-84E6-CB35-B242-99CFF0BB19FA}"/>
              </a:ext>
            </a:extLst>
          </p:cNvPr>
          <p:cNvSpPr>
            <a:spLocks noGrp="1"/>
          </p:cNvSpPr>
          <p:nvPr>
            <p:ph idx="1"/>
          </p:nvPr>
        </p:nvSpPr>
        <p:spPr>
          <a:xfrm>
            <a:off x="1059972" y="2041589"/>
            <a:ext cx="2829531" cy="3712967"/>
          </a:xfrm>
        </p:spPr>
        <p:txBody>
          <a:bodyPr>
            <a:normAutofit fontScale="92500" lnSpcReduction="20000"/>
          </a:bodyPr>
          <a:lstStyle/>
          <a:p>
            <a:pPr marL="457143" indent="-457143">
              <a:buFont typeface="Wingdings" panose="05000000000000000000" pitchFamily="2" charset="2"/>
              <a:buAutoNum type="arabicPeriod"/>
            </a:pPr>
            <a:r>
              <a:rPr lang="en-US" sz="1200" dirty="0"/>
              <a:t>Keep LEDs from previous task connected and functional.</a:t>
            </a:r>
          </a:p>
          <a:p>
            <a:pPr marL="457143" indent="-457143">
              <a:buAutoNum type="arabicPeriod"/>
            </a:pPr>
            <a:r>
              <a:rPr lang="en-US" sz="1200" dirty="0"/>
              <a:t>Connect a pushbutton and third LED to the Pico (reference diagram at right)</a:t>
            </a:r>
          </a:p>
          <a:p>
            <a:pPr marL="457143" lvl="1" indent="0">
              <a:buNone/>
            </a:pPr>
            <a:r>
              <a:rPr lang="en-US" sz="1200" dirty="0"/>
              <a:t>1.1 Connect the third LED to a new GPIO as you did in the previous task.</a:t>
            </a:r>
          </a:p>
          <a:p>
            <a:pPr marL="457143" lvl="1" indent="0">
              <a:buNone/>
            </a:pPr>
            <a:r>
              <a:rPr lang="en-US" sz="1200" dirty="0"/>
              <a:t>1.2 Connect the pushbutton and a pull-down resistor connected to ground as shown. The terminal of the button with the resistor should connect to a GPIO of your choosing. The other terminal connects to 3.3V power from the Pico.</a:t>
            </a:r>
          </a:p>
          <a:p>
            <a:pPr marL="457143" indent="-457143">
              <a:buAutoNum type="arabicPeriod"/>
            </a:pPr>
            <a:r>
              <a:rPr lang="en-US" sz="1200" dirty="0"/>
              <a:t>Add code to your existing program to turn the LED on when the button is pushed and keep it off otherwise.</a:t>
            </a:r>
          </a:p>
          <a:p>
            <a:pPr marL="457143" lvl="1" indent="0">
              <a:buNone/>
            </a:pPr>
            <a:r>
              <a:rPr lang="en-US" sz="1200" b="1" dirty="0"/>
              <a:t>3.1 Put this code in a separate timing statement as you did for each LED in the previous task and have it run at 100 Hz (i.e. the program reads the pushbutton state and updates the third LED every 10 msec). </a:t>
            </a:r>
          </a:p>
          <a:p>
            <a:pPr marL="457143" indent="-457143">
              <a:buAutoNum type="arabicPeriod"/>
            </a:pPr>
            <a:endParaRPr lang="en-US" sz="1200" dirty="0"/>
          </a:p>
        </p:txBody>
      </p:sp>
      <p:sp>
        <p:nvSpPr>
          <p:cNvPr id="4" name="Footer Placeholder 3">
            <a:extLst>
              <a:ext uri="{FF2B5EF4-FFF2-40B4-BE49-F238E27FC236}">
                <a16:creationId xmlns:a16="http://schemas.microsoft.com/office/drawing/2014/main" id="{7660DF49-6D69-CC42-AB58-6489C66D351D}"/>
              </a:ext>
            </a:extLst>
          </p:cNvPr>
          <p:cNvSpPr>
            <a:spLocks noGrp="1"/>
          </p:cNvSpPr>
          <p:nvPr>
            <p:ph type="ftr" sz="quarter" idx="11"/>
          </p:nvPr>
        </p:nvSpPr>
        <p:spPr/>
        <p:txBody>
          <a:bodyPr/>
          <a:lstStyle/>
          <a:p>
            <a:r>
              <a:rPr lang="en-US" dirty="0"/>
              <a:t>Astro 331 Lab #1</a:t>
            </a:r>
          </a:p>
        </p:txBody>
      </p:sp>
      <p:sp>
        <p:nvSpPr>
          <p:cNvPr id="5" name="Slide Number Placeholder 4">
            <a:extLst>
              <a:ext uri="{FF2B5EF4-FFF2-40B4-BE49-F238E27FC236}">
                <a16:creationId xmlns:a16="http://schemas.microsoft.com/office/drawing/2014/main" id="{6FF4AC09-8C4C-88C9-CF94-20B6F688D9EE}"/>
              </a:ext>
            </a:extLst>
          </p:cNvPr>
          <p:cNvSpPr>
            <a:spLocks noGrp="1"/>
          </p:cNvSpPr>
          <p:nvPr>
            <p:ph type="sldNum" sz="quarter" idx="12"/>
          </p:nvPr>
        </p:nvSpPr>
        <p:spPr/>
        <p:txBody>
          <a:bodyPr/>
          <a:lstStyle/>
          <a:p>
            <a:fld id="{9A3029B7-FE6B-4680-9049-80E8298A0825}" type="slidenum">
              <a:rPr lang="en-US" smtClean="0"/>
              <a:t>10</a:t>
            </a:fld>
            <a:endParaRPr lang="en-US" dirty="0"/>
          </a:p>
        </p:txBody>
      </p:sp>
      <p:sp>
        <p:nvSpPr>
          <p:cNvPr id="6" name="Content Placeholder 5">
            <a:extLst>
              <a:ext uri="{FF2B5EF4-FFF2-40B4-BE49-F238E27FC236}">
                <a16:creationId xmlns:a16="http://schemas.microsoft.com/office/drawing/2014/main" id="{DE57BB14-4EEA-3F1C-D013-33F732A97C59}"/>
              </a:ext>
            </a:extLst>
          </p:cNvPr>
          <p:cNvSpPr>
            <a:spLocks noGrp="1"/>
          </p:cNvSpPr>
          <p:nvPr>
            <p:ph idx="13"/>
          </p:nvPr>
        </p:nvSpPr>
        <p:spPr/>
        <p:txBody>
          <a:bodyPr/>
          <a:lstStyle/>
          <a:p>
            <a:endParaRPr lang="en-US" b="1" dirty="0">
              <a:solidFill>
                <a:srgbClr val="0070C0"/>
              </a:solidFill>
            </a:endParaRPr>
          </a:p>
          <a:p>
            <a:r>
              <a:rPr lang="en-US" dirty="0"/>
              <a:t>Intro</a:t>
            </a:r>
          </a:p>
          <a:p>
            <a:r>
              <a:rPr lang="en-US" dirty="0"/>
              <a:t>Materials</a:t>
            </a:r>
          </a:p>
          <a:p>
            <a:r>
              <a:rPr lang="en-US" dirty="0"/>
              <a:t>Task 0A</a:t>
            </a:r>
          </a:p>
          <a:p>
            <a:r>
              <a:rPr lang="en-US" dirty="0"/>
              <a:t>Task 0B</a:t>
            </a:r>
          </a:p>
          <a:p>
            <a:r>
              <a:rPr lang="en-US" dirty="0"/>
              <a:t>Task 0C</a:t>
            </a:r>
          </a:p>
          <a:p>
            <a:r>
              <a:rPr lang="en-US" dirty="0"/>
              <a:t>Task 1</a:t>
            </a:r>
          </a:p>
          <a:p>
            <a:r>
              <a:rPr lang="en-US" b="1" dirty="0">
                <a:solidFill>
                  <a:srgbClr val="00B0F0"/>
                </a:solidFill>
              </a:rPr>
              <a:t>Task 2</a:t>
            </a:r>
          </a:p>
          <a:p>
            <a:r>
              <a:rPr lang="en-US" dirty="0"/>
              <a:t>Task 3</a:t>
            </a:r>
          </a:p>
          <a:p>
            <a:r>
              <a:rPr lang="en-US" dirty="0"/>
              <a:t>Task 4</a:t>
            </a:r>
          </a:p>
          <a:p>
            <a:r>
              <a:rPr lang="en-US" dirty="0"/>
              <a:t>Turn-In </a:t>
            </a:r>
            <a:r>
              <a:rPr lang="en-US" dirty="0" err="1"/>
              <a:t>Reqt’s</a:t>
            </a:r>
            <a:endParaRPr lang="en-US" dirty="0"/>
          </a:p>
          <a:p>
            <a:endParaRPr lang="en-US" dirty="0"/>
          </a:p>
        </p:txBody>
      </p:sp>
      <p:sp>
        <p:nvSpPr>
          <p:cNvPr id="7" name="Content Placeholder 6">
            <a:extLst>
              <a:ext uri="{FF2B5EF4-FFF2-40B4-BE49-F238E27FC236}">
                <a16:creationId xmlns:a16="http://schemas.microsoft.com/office/drawing/2014/main" id="{CD001149-3F20-81D2-8133-B24ED4C4DDDA}"/>
              </a:ext>
            </a:extLst>
          </p:cNvPr>
          <p:cNvSpPr>
            <a:spLocks noGrp="1"/>
          </p:cNvSpPr>
          <p:nvPr>
            <p:ph idx="14"/>
          </p:nvPr>
        </p:nvSpPr>
        <p:spPr>
          <a:xfrm>
            <a:off x="1066991" y="5906952"/>
            <a:ext cx="9443413" cy="765805"/>
          </a:xfrm>
        </p:spPr>
        <p:txBody>
          <a:bodyPr>
            <a:normAutofit/>
          </a:bodyPr>
          <a:lstStyle/>
          <a:p>
            <a:pPr>
              <a:spcBef>
                <a:spcPts val="0"/>
              </a:spcBef>
            </a:pPr>
            <a:r>
              <a:rPr lang="en-US" b="1" dirty="0"/>
              <a:t>Task Outcomes:</a:t>
            </a:r>
            <a:endParaRPr lang="en-US" dirty="0"/>
          </a:p>
          <a:p>
            <a:pPr marL="342858" indent="-342858">
              <a:spcBef>
                <a:spcPts val="0"/>
              </a:spcBef>
              <a:buAutoNum type="arabicParenBoth"/>
            </a:pPr>
            <a:r>
              <a:rPr lang="en-US" dirty="0"/>
              <a:t>Previous task still functional.</a:t>
            </a:r>
          </a:p>
          <a:p>
            <a:pPr marL="342858" indent="-342858">
              <a:spcBef>
                <a:spcPts val="0"/>
              </a:spcBef>
              <a:buAutoNum type="arabicParenBoth"/>
            </a:pPr>
            <a:r>
              <a:rPr lang="en-US" dirty="0"/>
              <a:t>Pushbutton that controls state of third LED, updated 100 times a second.</a:t>
            </a:r>
          </a:p>
        </p:txBody>
      </p:sp>
      <p:sp>
        <p:nvSpPr>
          <p:cNvPr id="27" name="TextBox 26">
            <a:extLst>
              <a:ext uri="{FF2B5EF4-FFF2-40B4-BE49-F238E27FC236}">
                <a16:creationId xmlns:a16="http://schemas.microsoft.com/office/drawing/2014/main" id="{D2FEB54D-1418-9435-4E53-878C7B514A69}"/>
              </a:ext>
            </a:extLst>
          </p:cNvPr>
          <p:cNvSpPr txBox="1"/>
          <p:nvPr/>
        </p:nvSpPr>
        <p:spPr>
          <a:xfrm>
            <a:off x="1140613" y="908236"/>
            <a:ext cx="5295183" cy="1077218"/>
          </a:xfrm>
          <a:prstGeom prst="rect">
            <a:avLst/>
          </a:prstGeom>
          <a:noFill/>
        </p:spPr>
        <p:txBody>
          <a:bodyPr wrap="square">
            <a:spAutoFit/>
          </a:bodyPr>
          <a:lstStyle/>
          <a:p>
            <a:r>
              <a:rPr lang="en-US" sz="1400" b="1" dirty="0"/>
              <a:t>In this task, you’ll use digital input from a pushbutton to control the state on an LED. </a:t>
            </a:r>
          </a:p>
          <a:p>
            <a:r>
              <a:rPr lang="en-US" sz="1200" b="1" dirty="0">
                <a:solidFill>
                  <a:srgbClr val="0070C0"/>
                </a:solidFill>
              </a:rPr>
              <a:t> </a:t>
            </a:r>
            <a:r>
              <a:rPr lang="en-US" sz="1200" b="1" dirty="0">
                <a:solidFill>
                  <a:srgbClr val="0070C0"/>
                </a:solidFill>
                <a:sym typeface="Wingdings" panose="05000000000000000000" pitchFamily="2" charset="2"/>
              </a:rPr>
              <a:t> </a:t>
            </a:r>
            <a:r>
              <a:rPr lang="en-US" sz="1200" b="1" dirty="0">
                <a:solidFill>
                  <a:srgbClr val="0070C0"/>
                </a:solidFill>
              </a:rPr>
              <a:t>This is analogous to how a spacecraft checks if a physical event has happened, e.g. if a docking mechanism is attached or if a solar panel has deployed. </a:t>
            </a:r>
          </a:p>
        </p:txBody>
      </p:sp>
      <p:sp>
        <p:nvSpPr>
          <p:cNvPr id="9" name="Content Placeholder 6">
            <a:extLst>
              <a:ext uri="{FF2B5EF4-FFF2-40B4-BE49-F238E27FC236}">
                <a16:creationId xmlns:a16="http://schemas.microsoft.com/office/drawing/2014/main" id="{26F6A71B-B4C6-94C4-6EE7-2E5C40CF8EEC}"/>
              </a:ext>
            </a:extLst>
          </p:cNvPr>
          <p:cNvSpPr txBox="1">
            <a:spLocks/>
          </p:cNvSpPr>
          <p:nvPr/>
        </p:nvSpPr>
        <p:spPr>
          <a:xfrm>
            <a:off x="6557998" y="948269"/>
            <a:ext cx="2538347" cy="1623524"/>
          </a:xfrm>
          <a:prstGeom prst="rect">
            <a:avLst/>
          </a:prstGeom>
          <a:ln/>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100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1200" u="sng" dirty="0"/>
              <a:t>Suggested GenAI Queries:</a:t>
            </a:r>
          </a:p>
          <a:p>
            <a:pPr marL="228573" indent="-228573">
              <a:buAutoNum type="arabicParenBoth"/>
            </a:pPr>
            <a:r>
              <a:rPr lang="en-US" sz="1200" dirty="0"/>
              <a:t>Why is there a resistor connected between the pushbutton and ground? </a:t>
            </a:r>
          </a:p>
          <a:p>
            <a:pPr marL="228573" indent="-228573">
              <a:buAutoNum type="arabicParenBoth"/>
            </a:pPr>
            <a:r>
              <a:rPr lang="en-US" sz="1200" dirty="0"/>
              <a:t>What is switch bounce and how do you fix it? </a:t>
            </a:r>
          </a:p>
          <a:p>
            <a:pPr marL="225398"/>
            <a:r>
              <a:rPr lang="en-US" sz="1200" dirty="0">
                <a:sym typeface="Wingdings" panose="05000000000000000000" pitchFamily="2" charset="2"/>
              </a:rPr>
              <a:t></a:t>
            </a:r>
            <a:r>
              <a:rPr lang="en-US" sz="1200" dirty="0">
                <a:highlight>
                  <a:srgbClr val="FFFF00"/>
                </a:highlight>
              </a:rPr>
              <a:t>Understand how </a:t>
            </a:r>
            <a:r>
              <a:rPr lang="en-US" sz="1200">
                <a:highlight>
                  <a:srgbClr val="FFFF00"/>
                </a:highlight>
              </a:rPr>
              <a:t>we are </a:t>
            </a:r>
            <a:r>
              <a:rPr lang="en-US" sz="1200" dirty="0">
                <a:highlight>
                  <a:srgbClr val="FFFF00"/>
                </a:highlight>
              </a:rPr>
              <a:t>dealing with switch bounce in this task. </a:t>
            </a:r>
          </a:p>
        </p:txBody>
      </p:sp>
      <p:grpSp>
        <p:nvGrpSpPr>
          <p:cNvPr id="39" name="Group 38">
            <a:extLst>
              <a:ext uri="{FF2B5EF4-FFF2-40B4-BE49-F238E27FC236}">
                <a16:creationId xmlns:a16="http://schemas.microsoft.com/office/drawing/2014/main" id="{FF5BCCB4-6081-0325-2F72-7A884BA28624}"/>
              </a:ext>
            </a:extLst>
          </p:cNvPr>
          <p:cNvGrpSpPr/>
          <p:nvPr/>
        </p:nvGrpSpPr>
        <p:grpSpPr>
          <a:xfrm>
            <a:off x="6815006" y="3697584"/>
            <a:ext cx="2281339" cy="2438308"/>
            <a:chOff x="9267689" y="3339977"/>
            <a:chExt cx="2862487" cy="3079482"/>
          </a:xfrm>
        </p:grpSpPr>
        <p:pic>
          <p:nvPicPr>
            <p:cNvPr id="11" name="Picture 10">
              <a:extLst>
                <a:ext uri="{FF2B5EF4-FFF2-40B4-BE49-F238E27FC236}">
                  <a16:creationId xmlns:a16="http://schemas.microsoft.com/office/drawing/2014/main" id="{9B59A4E6-9126-4004-D168-C2CEE257282E}"/>
                </a:ext>
              </a:extLst>
            </p:cNvPr>
            <p:cNvPicPr>
              <a:picLocks noChangeAspect="1"/>
            </p:cNvPicPr>
            <p:nvPr/>
          </p:nvPicPr>
          <p:blipFill>
            <a:blip r:embed="rId3"/>
            <a:stretch>
              <a:fillRect/>
            </a:stretch>
          </p:blipFill>
          <p:spPr>
            <a:xfrm>
              <a:off x="9267689" y="3339977"/>
              <a:ext cx="2862487" cy="3079482"/>
            </a:xfrm>
            <a:prstGeom prst="rect">
              <a:avLst/>
            </a:prstGeom>
          </p:spPr>
        </p:pic>
        <p:sp>
          <p:nvSpPr>
            <p:cNvPr id="19" name="TextBox 18">
              <a:extLst>
                <a:ext uri="{FF2B5EF4-FFF2-40B4-BE49-F238E27FC236}">
                  <a16:creationId xmlns:a16="http://schemas.microsoft.com/office/drawing/2014/main" id="{D1C63C73-CF29-F17D-D533-073D6B63DD2B}"/>
                </a:ext>
              </a:extLst>
            </p:cNvPr>
            <p:cNvSpPr txBox="1"/>
            <p:nvPr/>
          </p:nvSpPr>
          <p:spPr>
            <a:xfrm>
              <a:off x="11380003" y="5913072"/>
              <a:ext cx="604820" cy="320685"/>
            </a:xfrm>
            <a:prstGeom prst="rect">
              <a:avLst/>
            </a:prstGeom>
            <a:solidFill>
              <a:schemeClr val="bg1"/>
            </a:solidFill>
          </p:spPr>
          <p:txBody>
            <a:bodyPr wrap="square">
              <a:spAutoFit/>
            </a:bodyPr>
            <a:lstStyle/>
            <a:p>
              <a:pPr algn="ctr"/>
              <a:r>
                <a:rPr lang="en-US" sz="1050" b="1" dirty="0"/>
                <a:t>GND</a:t>
              </a:r>
            </a:p>
          </p:txBody>
        </p:sp>
        <p:cxnSp>
          <p:nvCxnSpPr>
            <p:cNvPr id="22" name="Straight Arrow Connector 21">
              <a:extLst>
                <a:ext uri="{FF2B5EF4-FFF2-40B4-BE49-F238E27FC236}">
                  <a16:creationId xmlns:a16="http://schemas.microsoft.com/office/drawing/2014/main" id="{BA65914B-AB88-C253-4CD7-F269EB18D62F}"/>
                </a:ext>
              </a:extLst>
            </p:cNvPr>
            <p:cNvCxnSpPr>
              <a:cxnSpLocks/>
            </p:cNvCxnSpPr>
            <p:nvPr/>
          </p:nvCxnSpPr>
          <p:spPr>
            <a:xfrm flipV="1">
              <a:off x="11644313" y="5567363"/>
              <a:ext cx="76200" cy="393324"/>
            </a:xfrm>
            <a:prstGeom prst="straightConnector1">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pic>
        <p:nvPicPr>
          <p:cNvPr id="13" name="Picture 12">
            <a:extLst>
              <a:ext uri="{FF2B5EF4-FFF2-40B4-BE49-F238E27FC236}">
                <a16:creationId xmlns:a16="http://schemas.microsoft.com/office/drawing/2014/main" id="{E879A957-8CAA-570D-B0DA-75C4749704C6}"/>
              </a:ext>
            </a:extLst>
          </p:cNvPr>
          <p:cNvPicPr>
            <a:picLocks noChangeAspect="1"/>
          </p:cNvPicPr>
          <p:nvPr/>
        </p:nvPicPr>
        <p:blipFill>
          <a:blip r:embed="rId4"/>
          <a:stretch>
            <a:fillRect/>
          </a:stretch>
        </p:blipFill>
        <p:spPr>
          <a:xfrm>
            <a:off x="3923429" y="2691002"/>
            <a:ext cx="3215599" cy="2414143"/>
          </a:xfrm>
          <a:prstGeom prst="rect">
            <a:avLst/>
          </a:prstGeom>
        </p:spPr>
      </p:pic>
      <p:sp>
        <p:nvSpPr>
          <p:cNvPr id="38" name="TextBox 37">
            <a:extLst>
              <a:ext uri="{FF2B5EF4-FFF2-40B4-BE49-F238E27FC236}">
                <a16:creationId xmlns:a16="http://schemas.microsoft.com/office/drawing/2014/main" id="{C838E95D-AA13-DF35-C498-6DA4AC8DF75C}"/>
              </a:ext>
            </a:extLst>
          </p:cNvPr>
          <p:cNvSpPr txBox="1"/>
          <p:nvPr/>
        </p:nvSpPr>
        <p:spPr>
          <a:xfrm>
            <a:off x="3788205" y="5082880"/>
            <a:ext cx="3252031" cy="523220"/>
          </a:xfrm>
          <a:prstGeom prst="rect">
            <a:avLst/>
          </a:prstGeom>
          <a:noFill/>
        </p:spPr>
        <p:txBody>
          <a:bodyPr wrap="square">
            <a:spAutoFit/>
          </a:bodyPr>
          <a:lstStyle/>
          <a:p>
            <a:pPr algn="ctr"/>
            <a:r>
              <a:rPr lang="en-US" sz="1400" b="1" dirty="0"/>
              <a:t>Example pushbutton &amp; LED circuit</a:t>
            </a:r>
          </a:p>
          <a:p>
            <a:pPr algn="ctr"/>
            <a:r>
              <a:rPr lang="en-US" sz="1400" dirty="0"/>
              <a:t>(GP pins are arbitrary) </a:t>
            </a:r>
          </a:p>
        </p:txBody>
      </p:sp>
    </p:spTree>
    <p:extLst>
      <p:ext uri="{BB962C8B-B14F-4D97-AF65-F5344CB8AC3E}">
        <p14:creationId xmlns:p14="http://schemas.microsoft.com/office/powerpoint/2010/main" val="84334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35311E8-2273-FE71-41B4-306C203E3647}"/>
              </a:ext>
            </a:extLst>
          </p:cNvPr>
          <p:cNvGrpSpPr/>
          <p:nvPr/>
        </p:nvGrpSpPr>
        <p:grpSpPr>
          <a:xfrm>
            <a:off x="4041150" y="2431020"/>
            <a:ext cx="3615416" cy="2308767"/>
            <a:chOff x="4041150" y="2431020"/>
            <a:chExt cx="3615416" cy="2308767"/>
          </a:xfrm>
        </p:grpSpPr>
        <p:pic>
          <p:nvPicPr>
            <p:cNvPr id="11" name="Picture 10">
              <a:extLst>
                <a:ext uri="{FF2B5EF4-FFF2-40B4-BE49-F238E27FC236}">
                  <a16:creationId xmlns:a16="http://schemas.microsoft.com/office/drawing/2014/main" id="{71472940-E21C-6969-2712-23406967C190}"/>
                </a:ext>
              </a:extLst>
            </p:cNvPr>
            <p:cNvPicPr>
              <a:picLocks noChangeAspect="1"/>
            </p:cNvPicPr>
            <p:nvPr/>
          </p:nvPicPr>
          <p:blipFill>
            <a:blip r:embed="rId2"/>
            <a:stretch>
              <a:fillRect/>
            </a:stretch>
          </p:blipFill>
          <p:spPr>
            <a:xfrm>
              <a:off x="4041150" y="2431020"/>
              <a:ext cx="3615416" cy="2308767"/>
            </a:xfrm>
            <a:prstGeom prst="rect">
              <a:avLst/>
            </a:prstGeom>
          </p:spPr>
        </p:pic>
        <p:pic>
          <p:nvPicPr>
            <p:cNvPr id="6" name="Picture 5">
              <a:extLst>
                <a:ext uri="{FF2B5EF4-FFF2-40B4-BE49-F238E27FC236}">
                  <a16:creationId xmlns:a16="http://schemas.microsoft.com/office/drawing/2014/main" id="{16C80704-BFDE-A720-D4F1-B351F3138980}"/>
                </a:ext>
              </a:extLst>
            </p:cNvPr>
            <p:cNvPicPr>
              <a:picLocks noChangeAspect="1"/>
            </p:cNvPicPr>
            <p:nvPr/>
          </p:nvPicPr>
          <p:blipFill>
            <a:blip r:embed="rId3"/>
            <a:stretch>
              <a:fillRect/>
            </a:stretch>
          </p:blipFill>
          <p:spPr>
            <a:xfrm>
              <a:off x="5114925" y="3093276"/>
              <a:ext cx="1317626" cy="93006"/>
            </a:xfrm>
            <a:prstGeom prst="rect">
              <a:avLst/>
            </a:prstGeom>
          </p:spPr>
        </p:pic>
      </p:grpSp>
      <p:sp>
        <p:nvSpPr>
          <p:cNvPr id="2" name="Title 1">
            <a:extLst>
              <a:ext uri="{FF2B5EF4-FFF2-40B4-BE49-F238E27FC236}">
                <a16:creationId xmlns:a16="http://schemas.microsoft.com/office/drawing/2014/main" id="{9CECBC23-2C20-9957-7F34-69B3AAB60EC1}"/>
              </a:ext>
            </a:extLst>
          </p:cNvPr>
          <p:cNvSpPr>
            <a:spLocks noGrp="1"/>
          </p:cNvSpPr>
          <p:nvPr>
            <p:ph type="title"/>
          </p:nvPr>
        </p:nvSpPr>
        <p:spPr/>
        <p:txBody>
          <a:bodyPr>
            <a:normAutofit/>
          </a:bodyPr>
          <a:lstStyle/>
          <a:p>
            <a:r>
              <a:rPr lang="en-US" sz="2800" b="1" dirty="0"/>
              <a:t>Task 3 – Analog Input</a:t>
            </a:r>
          </a:p>
        </p:txBody>
      </p:sp>
      <p:sp>
        <p:nvSpPr>
          <p:cNvPr id="4" name="Footer Placeholder 3">
            <a:extLst>
              <a:ext uri="{FF2B5EF4-FFF2-40B4-BE49-F238E27FC236}">
                <a16:creationId xmlns:a16="http://schemas.microsoft.com/office/drawing/2014/main" id="{89263391-48C2-1285-104C-1F87F2EFD7E7}"/>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D6C401E4-D5D2-FBEB-8DF2-80DE3A08DC1D}"/>
              </a:ext>
            </a:extLst>
          </p:cNvPr>
          <p:cNvSpPr>
            <a:spLocks noGrp="1"/>
          </p:cNvSpPr>
          <p:nvPr>
            <p:ph type="sldNum" sz="quarter" idx="12"/>
          </p:nvPr>
        </p:nvSpPr>
        <p:spPr/>
        <p:txBody>
          <a:bodyPr/>
          <a:lstStyle/>
          <a:p>
            <a:fld id="{9A3029B7-FE6B-4680-9049-80E8298A0825}" type="slidenum">
              <a:rPr lang="en-US" smtClean="0"/>
              <a:t>11</a:t>
            </a:fld>
            <a:endParaRPr lang="en-US"/>
          </a:p>
        </p:txBody>
      </p:sp>
      <p:sp>
        <p:nvSpPr>
          <p:cNvPr id="7" name="Content Placeholder 6">
            <a:extLst>
              <a:ext uri="{FF2B5EF4-FFF2-40B4-BE49-F238E27FC236}">
                <a16:creationId xmlns:a16="http://schemas.microsoft.com/office/drawing/2014/main" id="{D79BF6A9-F732-6F21-60F2-A92104607942}"/>
              </a:ext>
            </a:extLst>
          </p:cNvPr>
          <p:cNvSpPr>
            <a:spLocks noGrp="1"/>
          </p:cNvSpPr>
          <p:nvPr>
            <p:ph idx="13"/>
          </p:nvPr>
        </p:nvSpPr>
        <p:spPr>
          <a:xfrm>
            <a:off x="1066991" y="5916760"/>
            <a:ext cx="10758579" cy="696375"/>
          </a:xfrm>
        </p:spPr>
        <p:txBody>
          <a:bodyPr/>
          <a:lstStyle/>
          <a:p>
            <a:pPr>
              <a:spcBef>
                <a:spcPts val="0"/>
              </a:spcBef>
            </a:pPr>
            <a:r>
              <a:rPr lang="en-US" sz="1400" b="1" dirty="0"/>
              <a:t>Task Outcome:</a:t>
            </a:r>
            <a:endParaRPr lang="en-US" sz="1400" dirty="0"/>
          </a:p>
          <a:p>
            <a:pPr marL="342858" indent="-342858">
              <a:spcBef>
                <a:spcPts val="0"/>
              </a:spcBef>
              <a:buAutoNum type="arabicParenBoth"/>
            </a:pPr>
            <a:r>
              <a:rPr lang="en-US" sz="1400" dirty="0"/>
              <a:t>Previous tasks still functional.</a:t>
            </a:r>
          </a:p>
          <a:p>
            <a:pPr marL="342858" indent="-342858">
              <a:spcBef>
                <a:spcPts val="0"/>
              </a:spcBef>
              <a:buAutoNum type="arabicParenBoth"/>
            </a:pPr>
            <a:r>
              <a:rPr lang="en-US" sz="1400" dirty="0"/>
              <a:t>Photoresistor connected with sensor reading printed to serial terminal 10 times a second.</a:t>
            </a:r>
          </a:p>
          <a:p>
            <a:pPr marL="342858" indent="-342858">
              <a:spcBef>
                <a:spcPts val="0"/>
              </a:spcBef>
              <a:buAutoNum type="arabicParenBoth"/>
            </a:pPr>
            <a:endParaRPr lang="en-US" sz="1400" dirty="0"/>
          </a:p>
          <a:p>
            <a:pPr>
              <a:spcBef>
                <a:spcPts val="0"/>
              </a:spcBef>
            </a:pPr>
            <a:endParaRPr lang="en-US" sz="1400" dirty="0"/>
          </a:p>
          <a:p>
            <a:pPr>
              <a:spcBef>
                <a:spcPts val="0"/>
              </a:spcBef>
            </a:pPr>
            <a:endParaRPr lang="en-US" sz="1400" dirty="0"/>
          </a:p>
        </p:txBody>
      </p:sp>
      <p:sp>
        <p:nvSpPr>
          <p:cNvPr id="9" name="TextBox 8">
            <a:extLst>
              <a:ext uri="{FF2B5EF4-FFF2-40B4-BE49-F238E27FC236}">
                <a16:creationId xmlns:a16="http://schemas.microsoft.com/office/drawing/2014/main" id="{A199047E-3D62-7339-BA18-5CF8F21F6347}"/>
              </a:ext>
            </a:extLst>
          </p:cNvPr>
          <p:cNvSpPr txBox="1"/>
          <p:nvPr/>
        </p:nvSpPr>
        <p:spPr>
          <a:xfrm>
            <a:off x="1066991" y="1027760"/>
            <a:ext cx="5848135" cy="738664"/>
          </a:xfrm>
          <a:prstGeom prst="rect">
            <a:avLst/>
          </a:prstGeom>
          <a:noFill/>
        </p:spPr>
        <p:txBody>
          <a:bodyPr wrap="square">
            <a:spAutoFit/>
          </a:bodyPr>
          <a:lstStyle/>
          <a:p>
            <a:r>
              <a:rPr lang="en-US" sz="1400" b="1" dirty="0"/>
              <a:t>In this task, you’ll add a photoresistor to your circuit to sense the amount of light present.</a:t>
            </a:r>
          </a:p>
          <a:p>
            <a:r>
              <a:rPr lang="en-US" sz="1400" b="1" dirty="0">
                <a:solidFill>
                  <a:srgbClr val="0070C0"/>
                </a:solidFill>
              </a:rPr>
              <a:t>    </a:t>
            </a:r>
            <a:r>
              <a:rPr lang="en-US" sz="1400" b="1" dirty="0">
                <a:solidFill>
                  <a:srgbClr val="0070C0"/>
                </a:solidFill>
                <a:sym typeface="Wingdings" panose="05000000000000000000" pitchFamily="2" charset="2"/>
              </a:rPr>
              <a:t> </a:t>
            </a:r>
            <a:r>
              <a:rPr lang="en-US" sz="1200" b="1" dirty="0">
                <a:solidFill>
                  <a:srgbClr val="0070C0"/>
                </a:solidFill>
              </a:rPr>
              <a:t>This is analogous to how spacecraft sun sensors work.  </a:t>
            </a:r>
            <a:endParaRPr lang="en-US" sz="1200" b="1" dirty="0"/>
          </a:p>
        </p:txBody>
      </p:sp>
      <p:pic>
        <p:nvPicPr>
          <p:cNvPr id="13" name="Picture 12">
            <a:extLst>
              <a:ext uri="{FF2B5EF4-FFF2-40B4-BE49-F238E27FC236}">
                <a16:creationId xmlns:a16="http://schemas.microsoft.com/office/drawing/2014/main" id="{23033FA5-FC37-DFD5-87FC-9DF9CF0D96AD}"/>
              </a:ext>
            </a:extLst>
          </p:cNvPr>
          <p:cNvPicPr>
            <a:picLocks noChangeAspect="1"/>
          </p:cNvPicPr>
          <p:nvPr/>
        </p:nvPicPr>
        <p:blipFill>
          <a:blip r:embed="rId4"/>
          <a:stretch>
            <a:fillRect/>
          </a:stretch>
        </p:blipFill>
        <p:spPr>
          <a:xfrm>
            <a:off x="6915126" y="3331044"/>
            <a:ext cx="1867545" cy="2526910"/>
          </a:xfrm>
          <a:prstGeom prst="rect">
            <a:avLst/>
          </a:prstGeom>
        </p:spPr>
      </p:pic>
      <p:sp>
        <p:nvSpPr>
          <p:cNvPr id="14" name="Content Placeholder 6">
            <a:extLst>
              <a:ext uri="{FF2B5EF4-FFF2-40B4-BE49-F238E27FC236}">
                <a16:creationId xmlns:a16="http://schemas.microsoft.com/office/drawing/2014/main" id="{2EA3CF56-49C2-B85C-2F6A-E06D3D23C800}"/>
              </a:ext>
            </a:extLst>
          </p:cNvPr>
          <p:cNvSpPr txBox="1">
            <a:spLocks/>
          </p:cNvSpPr>
          <p:nvPr/>
        </p:nvSpPr>
        <p:spPr>
          <a:xfrm>
            <a:off x="6524626" y="1123097"/>
            <a:ext cx="2429066" cy="1278520"/>
          </a:xfrm>
          <a:prstGeom prst="rect">
            <a:avLst/>
          </a:prstGeom>
          <a:ln/>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200" u="sng" dirty="0"/>
              <a:t>Note</a:t>
            </a:r>
          </a:p>
          <a:p>
            <a:pPr algn="ctr">
              <a:spcBef>
                <a:spcPts val="0"/>
              </a:spcBef>
            </a:pPr>
            <a:endParaRPr lang="en-US" sz="1200" u="sng" dirty="0"/>
          </a:p>
          <a:p>
            <a:pPr>
              <a:spcBef>
                <a:spcPts val="0"/>
              </a:spcBef>
            </a:pPr>
            <a:r>
              <a:rPr lang="en-US" sz="1100" dirty="0"/>
              <a:t>A </a:t>
            </a:r>
            <a:r>
              <a:rPr lang="en-US" sz="1100" b="1" dirty="0"/>
              <a:t>photoresistor</a:t>
            </a:r>
            <a:r>
              <a:rPr lang="en-US" sz="1100" dirty="0"/>
              <a:t>, also known as a </a:t>
            </a:r>
            <a:r>
              <a:rPr lang="en-US" sz="1100" b="1" dirty="0"/>
              <a:t>light-dependent resistor (LDR)</a:t>
            </a:r>
            <a:r>
              <a:rPr lang="en-US" sz="1100" dirty="0"/>
              <a:t>, is an electronic component whose </a:t>
            </a:r>
            <a:r>
              <a:rPr lang="en-US" sz="1100" b="1" dirty="0"/>
              <a:t>resistance changes based on the amount of light</a:t>
            </a:r>
            <a:r>
              <a:rPr lang="en-US" sz="1100" dirty="0"/>
              <a:t> that hits it. </a:t>
            </a:r>
            <a:r>
              <a:rPr lang="en-US" sz="1100" i="1" dirty="0"/>
              <a:t>It outputs a lower resistance the more light it senses.</a:t>
            </a:r>
            <a:endParaRPr lang="en-US" sz="1100" i="1" dirty="0">
              <a:highlight>
                <a:srgbClr val="FFFF00"/>
              </a:highlight>
            </a:endParaRPr>
          </a:p>
        </p:txBody>
      </p:sp>
      <p:sp>
        <p:nvSpPr>
          <p:cNvPr id="15" name="TextBox 14">
            <a:extLst>
              <a:ext uri="{FF2B5EF4-FFF2-40B4-BE49-F238E27FC236}">
                <a16:creationId xmlns:a16="http://schemas.microsoft.com/office/drawing/2014/main" id="{21564EBE-4B1C-C647-0ADE-D6DC1A988B08}"/>
              </a:ext>
            </a:extLst>
          </p:cNvPr>
          <p:cNvSpPr txBox="1"/>
          <p:nvPr/>
        </p:nvSpPr>
        <p:spPr>
          <a:xfrm>
            <a:off x="4176285" y="4779361"/>
            <a:ext cx="2603706" cy="738664"/>
          </a:xfrm>
          <a:prstGeom prst="rect">
            <a:avLst/>
          </a:prstGeom>
          <a:noFill/>
        </p:spPr>
        <p:txBody>
          <a:bodyPr wrap="square">
            <a:spAutoFit/>
          </a:bodyPr>
          <a:lstStyle/>
          <a:p>
            <a:pPr algn="ctr"/>
            <a:r>
              <a:rPr lang="en-US" sz="1400" b="1" dirty="0"/>
              <a:t>Example photoresistor circuit</a:t>
            </a:r>
          </a:p>
          <a:p>
            <a:pPr algn="ctr"/>
            <a:r>
              <a:rPr lang="en-US" sz="1400" dirty="0"/>
              <a:t>(Photoresistor must connect to an ADC pin) </a:t>
            </a:r>
          </a:p>
        </p:txBody>
      </p:sp>
      <p:sp>
        <p:nvSpPr>
          <p:cNvPr id="19" name="Content Placeholder 2">
            <a:extLst>
              <a:ext uri="{FF2B5EF4-FFF2-40B4-BE49-F238E27FC236}">
                <a16:creationId xmlns:a16="http://schemas.microsoft.com/office/drawing/2014/main" id="{76428A5D-4BAB-8D4C-EEFA-608D6C5BA566}"/>
              </a:ext>
            </a:extLst>
          </p:cNvPr>
          <p:cNvSpPr txBox="1">
            <a:spLocks/>
          </p:cNvSpPr>
          <p:nvPr/>
        </p:nvSpPr>
        <p:spPr>
          <a:xfrm>
            <a:off x="1066991" y="1856773"/>
            <a:ext cx="2876359" cy="3942374"/>
          </a:xfrm>
          <a:prstGeom prst="rect">
            <a:avLst/>
          </a:prstGeom>
        </p:spPr>
        <p:txBody>
          <a:bodyPr vert="horz" lIns="91440" tIns="45720" rIns="91440" bIns="45720" rtlCol="0">
            <a:normAutofit lnSpcReduction="10000"/>
          </a:bodyPr>
          <a:lstStyle>
            <a:lvl1pPr marL="342900" indent="-342900" algn="l" defTabSz="914400" rtl="0" eaLnBrk="1" latinLnBrk="0" hangingPunct="1">
              <a:lnSpc>
                <a:spcPct val="90000"/>
              </a:lnSpc>
              <a:spcBef>
                <a:spcPts val="1000"/>
              </a:spcBef>
              <a:buFont typeface="Wingdings" panose="05000000000000000000" pitchFamily="2" charset="2"/>
              <a:buChar char="§"/>
              <a:defRPr sz="2000" kern="1200">
                <a:solidFill>
                  <a:schemeClr val="tx1"/>
                </a:solidFill>
                <a:latin typeface="Segoe UI" panose="020B0502040204020203" pitchFamily="34" charset="0"/>
                <a:ea typeface="+mn-ea"/>
                <a:cs typeface="Segoe UI" panose="020B0502040204020203" pitchFamily="34" charset="0"/>
              </a:defRPr>
            </a:lvl1pPr>
            <a:lvl2pPr marL="800100" indent="-3429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Segoe UI" panose="020B0502040204020203" pitchFamily="34" charset="0"/>
                <a:ea typeface="+mn-ea"/>
                <a:cs typeface="Segoe UI" panose="020B0502040204020203" pitchFamily="34" charset="0"/>
              </a:defRPr>
            </a:lvl2pPr>
            <a:lvl3pPr marL="1200150" indent="-285750" algn="l" defTabSz="914400" rtl="0" eaLnBrk="1" latinLnBrk="0" hangingPunct="1">
              <a:lnSpc>
                <a:spcPct val="90000"/>
              </a:lnSpc>
              <a:spcBef>
                <a:spcPts val="500"/>
              </a:spcBef>
              <a:buFont typeface="Wingdings" panose="05000000000000000000" pitchFamily="2" charset="2"/>
              <a:buChar char="§"/>
              <a:defRPr sz="1600" kern="1200">
                <a:solidFill>
                  <a:schemeClr val="tx1"/>
                </a:solidFill>
                <a:latin typeface="Segoe UI" panose="020B0502040204020203" pitchFamily="34" charset="0"/>
                <a:ea typeface="+mn-ea"/>
                <a:cs typeface="Segoe UI" panose="020B0502040204020203" pitchFamily="34" charset="0"/>
              </a:defRPr>
            </a:lvl3pPr>
            <a:lvl4pPr marL="1657350" indent="-28575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Segoe UI" panose="020B0502040204020203" pitchFamily="34" charset="0"/>
                <a:ea typeface="+mn-ea"/>
                <a:cs typeface="Segoe UI" panose="020B0502040204020203" pitchFamily="34" charset="0"/>
              </a:defRPr>
            </a:lvl4pPr>
            <a:lvl5pPr marL="2114550" indent="-28575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AutoNum type="arabicPeriod"/>
            </a:pPr>
            <a:r>
              <a:rPr lang="en-US" sz="1200" dirty="0"/>
              <a:t>Keep components from previous tasks connected and functional.</a:t>
            </a:r>
          </a:p>
          <a:p>
            <a:pPr>
              <a:buFont typeface="Wingdings" panose="05000000000000000000" pitchFamily="2" charset="2"/>
              <a:buAutoNum type="arabicPeriod"/>
            </a:pPr>
            <a:r>
              <a:rPr lang="en-US" sz="1200" dirty="0"/>
              <a:t>Add a photoresistor and 10Kohm resistor (reference diagram at right). The GPIO pin that the photoresistor connects to is arbitrary but must be correctly declared in code.</a:t>
            </a:r>
          </a:p>
          <a:p>
            <a:pPr>
              <a:buFont typeface="Wingdings" panose="05000000000000000000" pitchFamily="2" charset="2"/>
              <a:buAutoNum type="arabicPeriod"/>
            </a:pPr>
            <a:r>
              <a:rPr lang="en-US" sz="1200" dirty="0"/>
              <a:t>While other tasks are still running, use </a:t>
            </a:r>
            <a:r>
              <a:rPr lang="en-US" sz="1200" dirty="0" err="1">
                <a:solidFill>
                  <a:srgbClr val="0070C0"/>
                </a:solidFill>
                <a:latin typeface="Monospac821 BT" panose="020B0609020202020204" pitchFamily="49" charset="0"/>
              </a:rPr>
              <a:t>analogRead</a:t>
            </a:r>
            <a:r>
              <a:rPr lang="en-US" sz="1200" dirty="0">
                <a:solidFill>
                  <a:srgbClr val="0070C0"/>
                </a:solidFill>
                <a:latin typeface="Monospac821 BT" panose="020B0609020202020204" pitchFamily="49" charset="0"/>
              </a:rPr>
              <a:t>()</a:t>
            </a:r>
            <a:r>
              <a:rPr lang="en-US" sz="1200" dirty="0"/>
              <a:t> function to poll the photoresistor. Print the reading over Serial and view the reading . </a:t>
            </a:r>
          </a:p>
          <a:p>
            <a:pPr marL="457143" lvl="1" indent="0">
              <a:buNone/>
            </a:pPr>
            <a:r>
              <a:rPr lang="en-US" sz="1200" dirty="0"/>
              <a:t>3.1. </a:t>
            </a:r>
            <a:r>
              <a:rPr lang="en-US" sz="1200" b="1" dirty="0"/>
              <a:t>As with previous tasks, put this code in a separate timing statement running at 10 Hz (i.e. the program reads the sensor and prints its value every 100 msec). </a:t>
            </a:r>
          </a:p>
          <a:p>
            <a:pPr marL="457143" lvl="1" indent="0">
              <a:buNone/>
            </a:pPr>
            <a:r>
              <a:rPr lang="en-US" sz="1200" dirty="0"/>
              <a:t>3.2. You can view the sensor reading using the Serial monitor, or alternatively, you can see it graphically using </a:t>
            </a:r>
            <a:r>
              <a:rPr lang="en-US" sz="1200" dirty="0" err="1"/>
              <a:t>Tools</a:t>
            </a:r>
            <a:r>
              <a:rPr lang="en-US" sz="1200" dirty="0" err="1">
                <a:sym typeface="Wingdings" panose="05000000000000000000" pitchFamily="2" charset="2"/>
              </a:rPr>
              <a:t>Serial</a:t>
            </a:r>
            <a:r>
              <a:rPr lang="en-US" sz="1200" dirty="0">
                <a:sym typeface="Wingdings" panose="05000000000000000000" pitchFamily="2" charset="2"/>
              </a:rPr>
              <a:t> Plotter.</a:t>
            </a:r>
            <a:endParaRPr lang="en-US" sz="1200" dirty="0"/>
          </a:p>
        </p:txBody>
      </p:sp>
      <p:sp>
        <p:nvSpPr>
          <p:cNvPr id="10" name="Content Placeholder 5">
            <a:extLst>
              <a:ext uri="{FF2B5EF4-FFF2-40B4-BE49-F238E27FC236}">
                <a16:creationId xmlns:a16="http://schemas.microsoft.com/office/drawing/2014/main" id="{8961AF83-7A96-92BD-4FFA-933CDD81E313}"/>
              </a:ext>
            </a:extLst>
          </p:cNvPr>
          <p:cNvSpPr txBox="1">
            <a:spLocks/>
          </p:cNvSpPr>
          <p:nvPr/>
        </p:nvSpPr>
        <p:spPr>
          <a:xfrm>
            <a:off x="46366" y="1130060"/>
            <a:ext cx="917636" cy="498264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200" b="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051"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051"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b="1" dirty="0">
              <a:solidFill>
                <a:srgbClr val="0070C0"/>
              </a:solidFill>
            </a:endParaRPr>
          </a:p>
          <a:p>
            <a:r>
              <a:rPr lang="en-US" dirty="0"/>
              <a:t>Intro</a:t>
            </a:r>
          </a:p>
          <a:p>
            <a:r>
              <a:rPr lang="en-US" dirty="0"/>
              <a:t>Materials</a:t>
            </a:r>
          </a:p>
          <a:p>
            <a:r>
              <a:rPr lang="en-US" dirty="0"/>
              <a:t>Task 0A</a:t>
            </a:r>
          </a:p>
          <a:p>
            <a:r>
              <a:rPr lang="en-US" dirty="0"/>
              <a:t>Task 0B</a:t>
            </a:r>
          </a:p>
          <a:p>
            <a:r>
              <a:rPr lang="en-US" dirty="0"/>
              <a:t>Task 0C</a:t>
            </a:r>
          </a:p>
          <a:p>
            <a:r>
              <a:rPr lang="en-US" dirty="0"/>
              <a:t>Task 1</a:t>
            </a:r>
          </a:p>
          <a:p>
            <a:r>
              <a:rPr lang="en-US" dirty="0"/>
              <a:t>Task 2</a:t>
            </a:r>
            <a:endParaRPr lang="en-US" b="1" dirty="0">
              <a:solidFill>
                <a:srgbClr val="00B0F0"/>
              </a:solidFill>
            </a:endParaRPr>
          </a:p>
          <a:p>
            <a:r>
              <a:rPr lang="en-US" b="1" dirty="0">
                <a:solidFill>
                  <a:srgbClr val="00B0F0"/>
                </a:solidFill>
              </a:rPr>
              <a:t>Task 3</a:t>
            </a:r>
          </a:p>
          <a:p>
            <a:r>
              <a:rPr lang="en-US" dirty="0"/>
              <a:t>Task 4</a:t>
            </a:r>
          </a:p>
          <a:p>
            <a:r>
              <a:rPr lang="en-US" dirty="0"/>
              <a:t>Turn-In </a:t>
            </a:r>
            <a:r>
              <a:rPr lang="en-US" dirty="0" err="1"/>
              <a:t>Reqt’s</a:t>
            </a:r>
            <a:endParaRPr lang="en-US" dirty="0"/>
          </a:p>
          <a:p>
            <a:endParaRPr lang="en-US" dirty="0"/>
          </a:p>
        </p:txBody>
      </p:sp>
      <p:pic>
        <p:nvPicPr>
          <p:cNvPr id="16" name="Picture 15">
            <a:extLst>
              <a:ext uri="{FF2B5EF4-FFF2-40B4-BE49-F238E27FC236}">
                <a16:creationId xmlns:a16="http://schemas.microsoft.com/office/drawing/2014/main" id="{E7A9C947-5CCA-E6F8-DECF-366DEC65BA11}"/>
              </a:ext>
            </a:extLst>
          </p:cNvPr>
          <p:cNvPicPr>
            <a:picLocks noChangeAspect="1"/>
          </p:cNvPicPr>
          <p:nvPr/>
        </p:nvPicPr>
        <p:blipFill>
          <a:blip r:embed="rId5"/>
          <a:stretch>
            <a:fillRect/>
          </a:stretch>
        </p:blipFill>
        <p:spPr>
          <a:xfrm flipV="1">
            <a:off x="8238618" y="4883539"/>
            <a:ext cx="274320" cy="39662"/>
          </a:xfrm>
          <a:prstGeom prst="rect">
            <a:avLst/>
          </a:prstGeom>
        </p:spPr>
      </p:pic>
      <p:cxnSp>
        <p:nvCxnSpPr>
          <p:cNvPr id="12" name="Straight Connector 11">
            <a:extLst>
              <a:ext uri="{FF2B5EF4-FFF2-40B4-BE49-F238E27FC236}">
                <a16:creationId xmlns:a16="http://schemas.microsoft.com/office/drawing/2014/main" id="{9B686E2C-F4ED-42D6-1BE5-BE98E2385BE8}"/>
              </a:ext>
            </a:extLst>
          </p:cNvPr>
          <p:cNvCxnSpPr/>
          <p:nvPr/>
        </p:nvCxnSpPr>
        <p:spPr>
          <a:xfrm>
            <a:off x="8238618" y="4449763"/>
            <a:ext cx="274320" cy="857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4884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0F974-8D22-5E9A-0DC4-B1E897F4F53D}"/>
              </a:ext>
            </a:extLst>
          </p:cNvPr>
          <p:cNvSpPr>
            <a:spLocks noGrp="1"/>
          </p:cNvSpPr>
          <p:nvPr>
            <p:ph type="title"/>
          </p:nvPr>
        </p:nvSpPr>
        <p:spPr/>
        <p:txBody>
          <a:bodyPr>
            <a:noAutofit/>
          </a:bodyPr>
          <a:lstStyle/>
          <a:p>
            <a:r>
              <a:rPr lang="en-US" sz="2800" b="1" dirty="0"/>
              <a:t>Task 4 – Pulse Width Modulation (PWM)</a:t>
            </a:r>
          </a:p>
        </p:txBody>
      </p:sp>
      <p:sp>
        <p:nvSpPr>
          <p:cNvPr id="3" name="Content Placeholder 2">
            <a:extLst>
              <a:ext uri="{FF2B5EF4-FFF2-40B4-BE49-F238E27FC236}">
                <a16:creationId xmlns:a16="http://schemas.microsoft.com/office/drawing/2014/main" id="{C9402BEE-7DAA-FD49-6042-5B004D12C5A8}"/>
              </a:ext>
            </a:extLst>
          </p:cNvPr>
          <p:cNvSpPr>
            <a:spLocks noGrp="1"/>
          </p:cNvSpPr>
          <p:nvPr>
            <p:ph idx="1"/>
          </p:nvPr>
        </p:nvSpPr>
        <p:spPr>
          <a:xfrm>
            <a:off x="1162767" y="2160825"/>
            <a:ext cx="3984965" cy="3500481"/>
          </a:xfrm>
        </p:spPr>
        <p:txBody>
          <a:bodyPr>
            <a:normAutofit fontScale="92500" lnSpcReduction="10000"/>
          </a:bodyPr>
          <a:lstStyle/>
          <a:p>
            <a:pPr marL="457143" indent="-457143">
              <a:buFont typeface="Wingdings" panose="05000000000000000000" pitchFamily="2" charset="2"/>
              <a:buAutoNum type="arabicPeriod"/>
            </a:pPr>
            <a:r>
              <a:rPr lang="en-US" sz="1400" dirty="0"/>
              <a:t>Keep components from previous tasks connected and functional.</a:t>
            </a:r>
          </a:p>
          <a:p>
            <a:pPr marL="457143" indent="-457143">
              <a:buAutoNum type="arabicPeriod"/>
            </a:pPr>
            <a:r>
              <a:rPr lang="en-US" sz="1400" dirty="0"/>
              <a:t>Add a fourth LED/resistor to your circuit.</a:t>
            </a:r>
          </a:p>
          <a:p>
            <a:pPr marL="457143" indent="-457143">
              <a:buAutoNum type="arabicPeriod"/>
            </a:pPr>
            <a:r>
              <a:rPr lang="en-US" sz="1400" dirty="0"/>
              <a:t>While other tasks are still running, control the brightness of this LED using a PWM signal whose duty cycle is determined by the sensor reading from the photoresistor. </a:t>
            </a:r>
          </a:p>
          <a:p>
            <a:pPr marL="457143" lvl="1" indent="0">
              <a:buNone/>
            </a:pPr>
            <a:r>
              <a:rPr lang="en-US" sz="1400" dirty="0"/>
              <a:t>3.1. If the photoresistor reports a high value (low light), turn the LED on brighter, and vice versa (so if you place your finger over the resistor, the light should turn on). </a:t>
            </a:r>
          </a:p>
          <a:p>
            <a:pPr marL="457143" lvl="1" indent="0">
              <a:buNone/>
            </a:pPr>
            <a:r>
              <a:rPr lang="en-US" sz="1400" dirty="0"/>
              <a:t>3.2. Perform a two-point calibration so that the LED is fully off when resistor is uncovered and LED is fully on when resistor is covered. </a:t>
            </a:r>
          </a:p>
          <a:p>
            <a:pPr marL="457143" lvl="1" indent="0">
              <a:buNone/>
            </a:pPr>
            <a:r>
              <a:rPr lang="en-US" sz="1400" dirty="0"/>
              <a:t>3.3. </a:t>
            </a:r>
            <a:r>
              <a:rPr lang="en-US" sz="1400" b="1" dirty="0"/>
              <a:t>Place this code inside the same timing statement as the previous task (i.e. the LED’s brightness is updated every time the photoresistor is read.)</a:t>
            </a:r>
          </a:p>
          <a:p>
            <a:pPr marL="457143" lvl="1" indent="0">
              <a:buNone/>
            </a:pPr>
            <a:endParaRPr lang="en-US" sz="1400" dirty="0"/>
          </a:p>
          <a:p>
            <a:pPr marL="457143" indent="-457143">
              <a:buAutoNum type="arabicPeriod"/>
            </a:pPr>
            <a:endParaRPr lang="en-US" sz="1400" dirty="0"/>
          </a:p>
        </p:txBody>
      </p:sp>
      <p:sp>
        <p:nvSpPr>
          <p:cNvPr id="4" name="Footer Placeholder 3">
            <a:extLst>
              <a:ext uri="{FF2B5EF4-FFF2-40B4-BE49-F238E27FC236}">
                <a16:creationId xmlns:a16="http://schemas.microsoft.com/office/drawing/2014/main" id="{F5310634-1FE8-3CEC-A887-7BB2154EEFC5}"/>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7AA41129-A2EC-5CE5-9167-C0D4195E1402}"/>
              </a:ext>
            </a:extLst>
          </p:cNvPr>
          <p:cNvSpPr>
            <a:spLocks noGrp="1"/>
          </p:cNvSpPr>
          <p:nvPr>
            <p:ph type="sldNum" sz="quarter" idx="12"/>
          </p:nvPr>
        </p:nvSpPr>
        <p:spPr/>
        <p:txBody>
          <a:bodyPr/>
          <a:lstStyle/>
          <a:p>
            <a:fld id="{9A3029B7-FE6B-4680-9049-80E8298A0825}" type="slidenum">
              <a:rPr lang="en-US" smtClean="0"/>
              <a:t>12</a:t>
            </a:fld>
            <a:endParaRPr lang="en-US"/>
          </a:p>
        </p:txBody>
      </p:sp>
      <p:sp>
        <p:nvSpPr>
          <p:cNvPr id="6" name="Content Placeholder 5">
            <a:extLst>
              <a:ext uri="{FF2B5EF4-FFF2-40B4-BE49-F238E27FC236}">
                <a16:creationId xmlns:a16="http://schemas.microsoft.com/office/drawing/2014/main" id="{60B6622E-BDD2-DC32-A238-7DE294965007}"/>
              </a:ext>
            </a:extLst>
          </p:cNvPr>
          <p:cNvSpPr>
            <a:spLocks noGrp="1"/>
          </p:cNvSpPr>
          <p:nvPr>
            <p:ph idx="13"/>
          </p:nvPr>
        </p:nvSpPr>
        <p:spPr/>
        <p:txBody>
          <a:bodyPr/>
          <a:lstStyle/>
          <a:p>
            <a:endParaRPr lang="en-US" b="1" dirty="0">
              <a:solidFill>
                <a:srgbClr val="0070C0"/>
              </a:solidFill>
            </a:endParaRPr>
          </a:p>
          <a:p>
            <a:r>
              <a:rPr lang="en-US" dirty="0"/>
              <a:t>Intro</a:t>
            </a:r>
          </a:p>
          <a:p>
            <a:r>
              <a:rPr lang="en-US" dirty="0"/>
              <a:t>Materials</a:t>
            </a:r>
          </a:p>
          <a:p>
            <a:r>
              <a:rPr lang="en-US" dirty="0"/>
              <a:t>Task 0A</a:t>
            </a:r>
          </a:p>
          <a:p>
            <a:r>
              <a:rPr lang="en-US" dirty="0"/>
              <a:t>Task 0B</a:t>
            </a:r>
          </a:p>
          <a:p>
            <a:r>
              <a:rPr lang="en-US" dirty="0"/>
              <a:t>Task 0C</a:t>
            </a:r>
          </a:p>
          <a:p>
            <a:r>
              <a:rPr lang="en-US" dirty="0"/>
              <a:t>Task 1</a:t>
            </a:r>
          </a:p>
          <a:p>
            <a:r>
              <a:rPr lang="en-US" dirty="0"/>
              <a:t>Task 2</a:t>
            </a:r>
          </a:p>
          <a:p>
            <a:r>
              <a:rPr lang="en-US" dirty="0"/>
              <a:t>Task 3</a:t>
            </a:r>
          </a:p>
          <a:p>
            <a:r>
              <a:rPr lang="en-US" b="1" dirty="0">
                <a:solidFill>
                  <a:srgbClr val="00B0F0"/>
                </a:solidFill>
              </a:rPr>
              <a:t>Task 4</a:t>
            </a:r>
          </a:p>
          <a:p>
            <a:r>
              <a:rPr lang="en-US" dirty="0"/>
              <a:t>Turn-In </a:t>
            </a:r>
            <a:r>
              <a:rPr lang="en-US" dirty="0" err="1"/>
              <a:t>Reqt’s</a:t>
            </a:r>
            <a:endParaRPr lang="en-US" dirty="0"/>
          </a:p>
          <a:p>
            <a:endParaRPr lang="en-US" dirty="0"/>
          </a:p>
        </p:txBody>
      </p:sp>
      <p:sp>
        <p:nvSpPr>
          <p:cNvPr id="15" name="Content Placeholder 6">
            <a:extLst>
              <a:ext uri="{FF2B5EF4-FFF2-40B4-BE49-F238E27FC236}">
                <a16:creationId xmlns:a16="http://schemas.microsoft.com/office/drawing/2014/main" id="{2DDB949A-5CF8-BFC6-996B-32922B2BAA0E}"/>
              </a:ext>
            </a:extLst>
          </p:cNvPr>
          <p:cNvSpPr>
            <a:spLocks noGrp="1"/>
          </p:cNvSpPr>
          <p:nvPr>
            <p:ph idx="14"/>
          </p:nvPr>
        </p:nvSpPr>
        <p:spPr>
          <a:xfrm>
            <a:off x="1066991" y="5793494"/>
            <a:ext cx="7715059" cy="696375"/>
          </a:xfrm>
        </p:spPr>
        <p:txBody>
          <a:bodyPr/>
          <a:lstStyle/>
          <a:p>
            <a:pPr>
              <a:spcBef>
                <a:spcPts val="0"/>
              </a:spcBef>
            </a:pPr>
            <a:r>
              <a:rPr lang="en-US" b="1" dirty="0"/>
              <a:t>Task Outcome:</a:t>
            </a:r>
            <a:endParaRPr lang="en-US" dirty="0"/>
          </a:p>
          <a:p>
            <a:pPr marL="342858" indent="-342858">
              <a:spcBef>
                <a:spcPts val="0"/>
              </a:spcBef>
              <a:buAutoNum type="arabicParenBoth"/>
            </a:pPr>
            <a:r>
              <a:rPr lang="en-US" dirty="0"/>
              <a:t>Previous tasks still functional.</a:t>
            </a:r>
          </a:p>
          <a:p>
            <a:pPr marL="342858" indent="-342858">
              <a:spcBef>
                <a:spcPts val="0"/>
              </a:spcBef>
              <a:buAutoNum type="arabicParenBoth"/>
            </a:pPr>
            <a:r>
              <a:rPr lang="en-US" dirty="0"/>
              <a:t>LED whose brightness is inversely proportional to amount of light sensed by photoresistor. </a:t>
            </a:r>
          </a:p>
          <a:p>
            <a:pPr>
              <a:spcBef>
                <a:spcPts val="0"/>
              </a:spcBef>
            </a:pPr>
            <a:endParaRPr lang="en-US" dirty="0"/>
          </a:p>
          <a:p>
            <a:endParaRPr lang="en-US" dirty="0"/>
          </a:p>
        </p:txBody>
      </p:sp>
      <p:sp>
        <p:nvSpPr>
          <p:cNvPr id="8" name="Content Placeholder 7">
            <a:extLst>
              <a:ext uri="{FF2B5EF4-FFF2-40B4-BE49-F238E27FC236}">
                <a16:creationId xmlns:a16="http://schemas.microsoft.com/office/drawing/2014/main" id="{9FED94AA-9EB1-08A9-74B5-194E04BD7DC8}"/>
              </a:ext>
            </a:extLst>
          </p:cNvPr>
          <p:cNvSpPr>
            <a:spLocks noGrp="1"/>
          </p:cNvSpPr>
          <p:nvPr>
            <p:ph idx="15"/>
          </p:nvPr>
        </p:nvSpPr>
        <p:spPr>
          <a:xfrm>
            <a:off x="6429377" y="1039223"/>
            <a:ext cx="2668258" cy="2168118"/>
          </a:xfrm>
        </p:spPr>
        <p:txBody>
          <a:bodyPr>
            <a:normAutofit fontScale="55000" lnSpcReduction="20000"/>
          </a:bodyPr>
          <a:lstStyle/>
          <a:p>
            <a:pPr marL="0" indent="0">
              <a:buNone/>
            </a:pPr>
            <a:r>
              <a:rPr lang="en-US" u="sng" dirty="0"/>
              <a:t>What is PWM?</a:t>
            </a:r>
          </a:p>
          <a:p>
            <a:pPr marL="0" indent="0">
              <a:buNone/>
            </a:pPr>
            <a:r>
              <a:rPr lang="en-US" dirty="0"/>
              <a:t>PWM (Pulse Width Modulation) is a technique used to simulate analog voltage using a digital output by rapidly switching it on and off at a fixed frequency, with a variable duty cycle.</a:t>
            </a:r>
          </a:p>
          <a:p>
            <a:pPr marL="0" indent="0">
              <a:buNone/>
            </a:pPr>
            <a:r>
              <a:rPr lang="en-US" u="sng" dirty="0"/>
              <a:t>How It Works:</a:t>
            </a:r>
          </a:p>
          <a:p>
            <a:pPr marL="0" indent="0">
              <a:buNone/>
            </a:pPr>
            <a:r>
              <a:rPr lang="en-US" dirty="0"/>
              <a:t>Digital pins can only output HIGH (e.g., 5V or 3.3V) or LOW (0V).</a:t>
            </a:r>
          </a:p>
          <a:p>
            <a:pPr marL="0" indent="0">
              <a:buNone/>
            </a:pPr>
            <a:r>
              <a:rPr lang="en-US" dirty="0"/>
              <a:t>PWM fakes an “average voltage” by turning the pin on and off very quickly.</a:t>
            </a:r>
          </a:p>
          <a:p>
            <a:pPr marL="0" indent="0">
              <a:buNone/>
            </a:pPr>
            <a:r>
              <a:rPr lang="en-US" dirty="0"/>
              <a:t>The duty cycle determines how much time the signal is HIGH in each cycle.</a:t>
            </a:r>
          </a:p>
        </p:txBody>
      </p:sp>
      <p:sp>
        <p:nvSpPr>
          <p:cNvPr id="9" name="TextBox 8">
            <a:extLst>
              <a:ext uri="{FF2B5EF4-FFF2-40B4-BE49-F238E27FC236}">
                <a16:creationId xmlns:a16="http://schemas.microsoft.com/office/drawing/2014/main" id="{892577BD-EADB-2AF8-06B0-EBB7AC4F3348}"/>
              </a:ext>
            </a:extLst>
          </p:cNvPr>
          <p:cNvSpPr txBox="1"/>
          <p:nvPr/>
        </p:nvSpPr>
        <p:spPr>
          <a:xfrm>
            <a:off x="1066991" y="901635"/>
            <a:ext cx="5362384" cy="1107996"/>
          </a:xfrm>
          <a:prstGeom prst="rect">
            <a:avLst/>
          </a:prstGeom>
          <a:noFill/>
        </p:spPr>
        <p:txBody>
          <a:bodyPr wrap="square">
            <a:spAutoFit/>
          </a:bodyPr>
          <a:lstStyle/>
          <a:p>
            <a:r>
              <a:rPr lang="en-US" sz="1400" b="1" dirty="0"/>
              <a:t>In this task, you’ll use Pulse Width Modulation (PWM) to vary the brightness of an LED based on the sensed amount of light from the photoresistor added in the last task. </a:t>
            </a:r>
          </a:p>
          <a:p>
            <a:r>
              <a:rPr lang="en-US" sz="1200" b="1" dirty="0">
                <a:solidFill>
                  <a:srgbClr val="0070C0"/>
                </a:solidFill>
              </a:rPr>
              <a:t> </a:t>
            </a:r>
            <a:r>
              <a:rPr lang="en-US" sz="1200" b="1" dirty="0">
                <a:solidFill>
                  <a:srgbClr val="0070C0"/>
                </a:solidFill>
                <a:sym typeface="Wingdings" panose="05000000000000000000" pitchFamily="2" charset="2"/>
              </a:rPr>
              <a:t> </a:t>
            </a:r>
            <a:r>
              <a:rPr lang="en-US" sz="1200" b="1" dirty="0">
                <a:solidFill>
                  <a:srgbClr val="0070C0"/>
                </a:solidFill>
              </a:rPr>
              <a:t>PWM is used on spacecraft to control actuators such as thrusters or reaction wheels. </a:t>
            </a:r>
            <a:endParaRPr lang="en-US" sz="1200" b="1" dirty="0"/>
          </a:p>
        </p:txBody>
      </p:sp>
      <p:grpSp>
        <p:nvGrpSpPr>
          <p:cNvPr id="20" name="Group 19">
            <a:extLst>
              <a:ext uri="{FF2B5EF4-FFF2-40B4-BE49-F238E27FC236}">
                <a16:creationId xmlns:a16="http://schemas.microsoft.com/office/drawing/2014/main" id="{6D6D2F2E-77FA-4675-FC60-BD8CA10327F7}"/>
              </a:ext>
            </a:extLst>
          </p:cNvPr>
          <p:cNvGrpSpPr/>
          <p:nvPr/>
        </p:nvGrpSpPr>
        <p:grpSpPr>
          <a:xfrm>
            <a:off x="5545720" y="3363391"/>
            <a:ext cx="3598280" cy="2592974"/>
            <a:chOff x="8833449" y="3263573"/>
            <a:chExt cx="3598280" cy="2592973"/>
          </a:xfrm>
        </p:grpSpPr>
        <p:pic>
          <p:nvPicPr>
            <p:cNvPr id="14" name="Picture 13">
              <a:extLst>
                <a:ext uri="{FF2B5EF4-FFF2-40B4-BE49-F238E27FC236}">
                  <a16:creationId xmlns:a16="http://schemas.microsoft.com/office/drawing/2014/main" id="{3D3B7AB3-0B53-74C9-5C15-91942582EB5E}"/>
                </a:ext>
              </a:extLst>
            </p:cNvPr>
            <p:cNvPicPr>
              <a:picLocks noChangeAspect="1"/>
            </p:cNvPicPr>
            <p:nvPr/>
          </p:nvPicPr>
          <p:blipFill>
            <a:blip r:embed="rId2"/>
            <a:stretch>
              <a:fillRect/>
            </a:stretch>
          </p:blipFill>
          <p:spPr>
            <a:xfrm>
              <a:off x="8833449" y="3263573"/>
              <a:ext cx="3018180" cy="2277695"/>
            </a:xfrm>
            <a:prstGeom prst="rect">
              <a:avLst/>
            </a:prstGeom>
          </p:spPr>
        </p:pic>
        <p:sp>
          <p:nvSpPr>
            <p:cNvPr id="19" name="TextBox 18">
              <a:extLst>
                <a:ext uri="{FF2B5EF4-FFF2-40B4-BE49-F238E27FC236}">
                  <a16:creationId xmlns:a16="http://schemas.microsoft.com/office/drawing/2014/main" id="{8DC2C016-A378-BB1C-2193-A3E6641A750C}"/>
                </a:ext>
              </a:extLst>
            </p:cNvPr>
            <p:cNvSpPr txBox="1"/>
            <p:nvPr/>
          </p:nvSpPr>
          <p:spPr>
            <a:xfrm>
              <a:off x="11114068" y="5579547"/>
              <a:ext cx="1317661" cy="276999"/>
            </a:xfrm>
            <a:prstGeom prst="rect">
              <a:avLst/>
            </a:prstGeom>
            <a:noFill/>
          </p:spPr>
          <p:txBody>
            <a:bodyPr wrap="square">
              <a:spAutoFit/>
            </a:bodyPr>
            <a:lstStyle/>
            <a:p>
              <a:r>
                <a:rPr lang="en-US" sz="1200" b="1" dirty="0">
                  <a:hlinkClick r:id="rId3"/>
                </a:rPr>
                <a:t>Reference</a:t>
              </a:r>
              <a:endParaRPr lang="en-US" sz="1200" b="1" dirty="0"/>
            </a:p>
          </p:txBody>
        </p:sp>
      </p:grpSp>
    </p:spTree>
    <p:extLst>
      <p:ext uri="{BB962C8B-B14F-4D97-AF65-F5344CB8AC3E}">
        <p14:creationId xmlns:p14="http://schemas.microsoft.com/office/powerpoint/2010/main" val="3701618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AB5CB-4024-0F68-7F6C-1191CD95559B}"/>
              </a:ext>
            </a:extLst>
          </p:cNvPr>
          <p:cNvSpPr>
            <a:spLocks noGrp="1"/>
          </p:cNvSpPr>
          <p:nvPr>
            <p:ph type="title"/>
          </p:nvPr>
        </p:nvSpPr>
        <p:spPr/>
        <p:txBody>
          <a:bodyPr>
            <a:normAutofit/>
          </a:bodyPr>
          <a:lstStyle/>
          <a:p>
            <a:r>
              <a:rPr lang="en-US" sz="2800" b="1" dirty="0"/>
              <a:t>Turn-in Requirements</a:t>
            </a:r>
          </a:p>
        </p:txBody>
      </p:sp>
      <p:sp>
        <p:nvSpPr>
          <p:cNvPr id="3" name="Content Placeholder 2">
            <a:extLst>
              <a:ext uri="{FF2B5EF4-FFF2-40B4-BE49-F238E27FC236}">
                <a16:creationId xmlns:a16="http://schemas.microsoft.com/office/drawing/2014/main" id="{68CB5C3F-2B5C-141F-AF28-956869DDCA66}"/>
              </a:ext>
            </a:extLst>
          </p:cNvPr>
          <p:cNvSpPr>
            <a:spLocks noGrp="1"/>
          </p:cNvSpPr>
          <p:nvPr>
            <p:ph idx="1"/>
          </p:nvPr>
        </p:nvSpPr>
        <p:spPr>
          <a:xfrm>
            <a:off x="1066991" y="1130066"/>
            <a:ext cx="7886700" cy="5335039"/>
          </a:xfrm>
        </p:spPr>
        <p:txBody>
          <a:bodyPr>
            <a:normAutofit fontScale="92500" lnSpcReduction="20000"/>
          </a:bodyPr>
          <a:lstStyle/>
          <a:p>
            <a:pPr marL="0" indent="0">
              <a:spcAft>
                <a:spcPts val="600"/>
              </a:spcAft>
              <a:buNone/>
            </a:pPr>
            <a:r>
              <a:rPr lang="en-US" dirty="0"/>
              <a:t>There are two parts to the turn-in for this lab:</a:t>
            </a:r>
          </a:p>
          <a:p>
            <a:pPr marL="457143" lvl="1" indent="0">
              <a:spcAft>
                <a:spcPts val="600"/>
              </a:spcAft>
              <a:buNone/>
            </a:pPr>
            <a:r>
              <a:rPr lang="en-US" dirty="0"/>
              <a:t>(1) Send an email to your instructor. </a:t>
            </a:r>
          </a:p>
          <a:p>
            <a:pPr lvl="2">
              <a:spcAft>
                <a:spcPts val="600"/>
              </a:spcAft>
            </a:pPr>
            <a:r>
              <a:rPr lang="en-US" dirty="0"/>
              <a:t>Subject of the </a:t>
            </a:r>
            <a:r>
              <a:rPr lang="en-US" dirty="0" err="1"/>
              <a:t>the</a:t>
            </a:r>
            <a:r>
              <a:rPr lang="en-US" dirty="0"/>
              <a:t> email: “LASTNAME Lab 1”</a:t>
            </a:r>
          </a:p>
          <a:p>
            <a:pPr lvl="2">
              <a:spcAft>
                <a:spcPts val="600"/>
              </a:spcAft>
            </a:pPr>
            <a:r>
              <a:rPr lang="en-US" dirty="0"/>
              <a:t>Attach your Arduino .</a:t>
            </a:r>
            <a:r>
              <a:rPr lang="en-US" dirty="0" err="1"/>
              <a:t>ino</a:t>
            </a:r>
            <a:r>
              <a:rPr lang="en-US" dirty="0"/>
              <a:t> file that contains code for Tasks 1-4</a:t>
            </a:r>
          </a:p>
          <a:p>
            <a:pPr lvl="3">
              <a:spcAft>
                <a:spcPts val="600"/>
              </a:spcAft>
            </a:pPr>
            <a:r>
              <a:rPr lang="en-US" dirty="0"/>
              <a:t>Title your file “LASTNAME_Lab1.ino”</a:t>
            </a:r>
          </a:p>
          <a:p>
            <a:pPr lvl="2">
              <a:spcAft>
                <a:spcPts val="600"/>
              </a:spcAft>
            </a:pPr>
            <a:r>
              <a:rPr lang="en-US" dirty="0"/>
              <a:t>Attach a short video (~15” is fine) demonstrating your code working:</a:t>
            </a:r>
          </a:p>
          <a:p>
            <a:pPr lvl="3">
              <a:spcAft>
                <a:spcPts val="600"/>
              </a:spcAft>
            </a:pPr>
            <a:r>
              <a:rPr lang="en-US" dirty="0"/>
              <a:t>Two LEDs blink at different rates</a:t>
            </a:r>
          </a:p>
          <a:p>
            <a:pPr lvl="3">
              <a:spcAft>
                <a:spcPts val="600"/>
              </a:spcAft>
            </a:pPr>
            <a:r>
              <a:rPr lang="en-US" dirty="0"/>
              <a:t>Press the push button to turn on a third LED</a:t>
            </a:r>
          </a:p>
          <a:p>
            <a:pPr lvl="3">
              <a:spcAft>
                <a:spcPts val="600"/>
              </a:spcAft>
            </a:pPr>
            <a:r>
              <a:rPr lang="en-US" dirty="0"/>
              <a:t>Put your finger over the photoresistor to show the fourth LED turn on</a:t>
            </a:r>
          </a:p>
          <a:p>
            <a:pPr lvl="3">
              <a:spcAft>
                <a:spcPts val="600"/>
              </a:spcAft>
            </a:pPr>
            <a:r>
              <a:rPr lang="en-US" dirty="0"/>
              <a:t>Title your video “LASTNAME_Lab1.---”</a:t>
            </a:r>
          </a:p>
          <a:p>
            <a:pPr lvl="2">
              <a:spcAft>
                <a:spcPts val="600"/>
              </a:spcAft>
            </a:pPr>
            <a:r>
              <a:rPr lang="en-US" dirty="0"/>
              <a:t>Include a documentation statement in the body of the email</a:t>
            </a:r>
          </a:p>
          <a:p>
            <a:pPr lvl="3">
              <a:spcAft>
                <a:spcPts val="600"/>
              </a:spcAft>
            </a:pPr>
            <a:r>
              <a:rPr lang="en-US" dirty="0"/>
              <a:t>Specify which GenAI tools you used and how you used them (</a:t>
            </a:r>
            <a:r>
              <a:rPr lang="en-US" b="1" dirty="0">
                <a:solidFill>
                  <a:srgbClr val="FF0000"/>
                </a:solidFill>
              </a:rPr>
              <a:t>at least 2 required</a:t>
            </a:r>
            <a:r>
              <a:rPr lang="en-US" dirty="0"/>
              <a:t>)</a:t>
            </a:r>
          </a:p>
          <a:p>
            <a:pPr lvl="3">
              <a:spcAft>
                <a:spcPts val="600"/>
              </a:spcAft>
            </a:pPr>
            <a:r>
              <a:rPr lang="en-US" b="1" dirty="0"/>
              <a:t>Provide a link to your GenAI conversation(s)</a:t>
            </a:r>
          </a:p>
          <a:p>
            <a:pPr lvl="3">
              <a:spcAft>
                <a:spcPts val="600"/>
              </a:spcAft>
            </a:pPr>
            <a:endParaRPr lang="en-US" dirty="0"/>
          </a:p>
          <a:p>
            <a:pPr marL="457143" lvl="1" indent="0">
              <a:spcAft>
                <a:spcPts val="600"/>
              </a:spcAft>
              <a:buNone/>
            </a:pPr>
            <a:r>
              <a:rPr lang="en-US" dirty="0"/>
              <a:t>(2) An in-class closed-book quiz covering the content of this lab:</a:t>
            </a:r>
          </a:p>
          <a:p>
            <a:pPr lvl="2">
              <a:spcAft>
                <a:spcPts val="600"/>
              </a:spcAft>
            </a:pPr>
            <a:r>
              <a:rPr lang="en-US" dirty="0"/>
              <a:t>Topics learned in Task 0A and throughout Tasks 1-4</a:t>
            </a:r>
          </a:p>
          <a:p>
            <a:pPr lvl="2">
              <a:spcAft>
                <a:spcPts val="600"/>
              </a:spcAft>
            </a:pPr>
            <a:r>
              <a:rPr lang="en-US" dirty="0"/>
              <a:t>Basic functionality of code for Tasks 1-4 (you don’t need to memorize Arduino syntax, but must understand how your code works)</a:t>
            </a:r>
          </a:p>
        </p:txBody>
      </p:sp>
      <p:sp>
        <p:nvSpPr>
          <p:cNvPr id="4" name="Footer Placeholder 3">
            <a:extLst>
              <a:ext uri="{FF2B5EF4-FFF2-40B4-BE49-F238E27FC236}">
                <a16:creationId xmlns:a16="http://schemas.microsoft.com/office/drawing/2014/main" id="{338478FC-B8D8-01E3-ADA8-340FAA855529}"/>
              </a:ext>
            </a:extLst>
          </p:cNvPr>
          <p:cNvSpPr>
            <a:spLocks noGrp="1"/>
          </p:cNvSpPr>
          <p:nvPr>
            <p:ph type="ftr" sz="quarter" idx="11"/>
          </p:nvPr>
        </p:nvSpPr>
        <p:spPr/>
        <p:txBody>
          <a:bodyPr/>
          <a:lstStyle/>
          <a:p>
            <a:r>
              <a:rPr lang="en-US" dirty="0"/>
              <a:t>Astro 331 Lab #1</a:t>
            </a:r>
          </a:p>
        </p:txBody>
      </p:sp>
      <p:sp>
        <p:nvSpPr>
          <p:cNvPr id="5" name="Slide Number Placeholder 4">
            <a:extLst>
              <a:ext uri="{FF2B5EF4-FFF2-40B4-BE49-F238E27FC236}">
                <a16:creationId xmlns:a16="http://schemas.microsoft.com/office/drawing/2014/main" id="{25A95765-E0B5-1C98-801A-73D4E8EA11CD}"/>
              </a:ext>
            </a:extLst>
          </p:cNvPr>
          <p:cNvSpPr>
            <a:spLocks noGrp="1"/>
          </p:cNvSpPr>
          <p:nvPr>
            <p:ph type="sldNum" sz="quarter" idx="12"/>
          </p:nvPr>
        </p:nvSpPr>
        <p:spPr/>
        <p:txBody>
          <a:bodyPr/>
          <a:lstStyle/>
          <a:p>
            <a:fld id="{9A3029B7-FE6B-4680-9049-80E8298A0825}" type="slidenum">
              <a:rPr lang="en-US" smtClean="0"/>
              <a:t>13</a:t>
            </a:fld>
            <a:endParaRPr lang="en-US"/>
          </a:p>
        </p:txBody>
      </p:sp>
      <p:sp>
        <p:nvSpPr>
          <p:cNvPr id="6" name="Content Placeholder 5">
            <a:extLst>
              <a:ext uri="{FF2B5EF4-FFF2-40B4-BE49-F238E27FC236}">
                <a16:creationId xmlns:a16="http://schemas.microsoft.com/office/drawing/2014/main" id="{D54C653C-CA4D-2FD4-E2F3-6258F476FC88}"/>
              </a:ext>
            </a:extLst>
          </p:cNvPr>
          <p:cNvSpPr>
            <a:spLocks noGrp="1"/>
          </p:cNvSpPr>
          <p:nvPr>
            <p:ph idx="13"/>
          </p:nvPr>
        </p:nvSpPr>
        <p:spPr/>
        <p:txBody>
          <a:bodyPr/>
          <a:lstStyle/>
          <a:p>
            <a:endParaRPr lang="en-US" b="1" dirty="0">
              <a:solidFill>
                <a:srgbClr val="0070C0"/>
              </a:solidFill>
            </a:endParaRPr>
          </a:p>
          <a:p>
            <a:r>
              <a:rPr lang="en-US" dirty="0"/>
              <a:t>Intro</a:t>
            </a:r>
          </a:p>
          <a:p>
            <a:r>
              <a:rPr lang="en-US" dirty="0"/>
              <a:t>Materials</a:t>
            </a:r>
          </a:p>
          <a:p>
            <a:r>
              <a:rPr lang="en-US" dirty="0"/>
              <a:t>Task 0A</a:t>
            </a:r>
          </a:p>
          <a:p>
            <a:r>
              <a:rPr lang="en-US" dirty="0"/>
              <a:t>Task 0B</a:t>
            </a:r>
          </a:p>
          <a:p>
            <a:r>
              <a:rPr lang="en-US" dirty="0"/>
              <a:t>Task 0C</a:t>
            </a:r>
          </a:p>
          <a:p>
            <a:r>
              <a:rPr lang="en-US" dirty="0"/>
              <a:t>Task 1</a:t>
            </a:r>
          </a:p>
          <a:p>
            <a:r>
              <a:rPr lang="en-US" dirty="0"/>
              <a:t>Task 2</a:t>
            </a:r>
          </a:p>
          <a:p>
            <a:r>
              <a:rPr lang="en-US" dirty="0"/>
              <a:t>Task 3</a:t>
            </a:r>
          </a:p>
          <a:p>
            <a:r>
              <a:rPr lang="en-US" dirty="0"/>
              <a:t>Task 4</a:t>
            </a:r>
          </a:p>
          <a:p>
            <a:r>
              <a:rPr lang="en-US" b="1" dirty="0">
                <a:solidFill>
                  <a:srgbClr val="00B0F0"/>
                </a:solidFill>
              </a:rPr>
              <a:t>Turn-In </a:t>
            </a:r>
            <a:r>
              <a:rPr lang="en-US" b="1" dirty="0" err="1">
                <a:solidFill>
                  <a:srgbClr val="00B0F0"/>
                </a:solidFill>
              </a:rPr>
              <a:t>Reqt’s</a:t>
            </a:r>
            <a:endParaRPr lang="en-US" b="1" dirty="0">
              <a:solidFill>
                <a:srgbClr val="00B0F0"/>
              </a:solidFill>
            </a:endParaRPr>
          </a:p>
          <a:p>
            <a:endParaRPr lang="en-US" dirty="0"/>
          </a:p>
        </p:txBody>
      </p:sp>
    </p:spTree>
    <p:extLst>
      <p:ext uri="{BB962C8B-B14F-4D97-AF65-F5344CB8AC3E}">
        <p14:creationId xmlns:p14="http://schemas.microsoft.com/office/powerpoint/2010/main" val="38350836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aab13084cbfb645f826f7dc6731109d6">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2636cc15ff2f3d2629ecec77a65aea39"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A3FF40-82A9-41E6-ADC2-4EE68DBB434C}">
  <ds:schemaRefs>
    <ds:schemaRef ds:uri="http://purl.org/dc/term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723aa48c-73f2-40da-86b1-f1ae286477fe"/>
    <ds:schemaRef ds:uri="7584c457-6b5a-4caa-be47-be979cbe6555"/>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E055B39-A3E8-4A6F-AC35-DFAA8466265F}">
  <ds:schemaRefs>
    <ds:schemaRef ds:uri="http://schemas.microsoft.com/sharepoint/v3/contenttype/forms"/>
  </ds:schemaRefs>
</ds:datastoreItem>
</file>

<file path=customXml/itemProps3.xml><?xml version="1.0" encoding="utf-8"?>
<ds:datastoreItem xmlns:ds="http://schemas.openxmlformats.org/officeDocument/2006/customXml" ds:itemID="{D95784FF-F282-41A7-B17B-A12D3C6A653A}"/>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TotalTime>8284</TotalTime>
  <Words>3175</Words>
  <Application>Microsoft Office PowerPoint</Application>
  <PresentationFormat>Letter Paper (8.5x11 in)</PresentationFormat>
  <Paragraphs>421</Paragraphs>
  <Slides>13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Monospac821 BT</vt:lpstr>
      <vt:lpstr>Segoe UI</vt:lpstr>
      <vt:lpstr>Wingdings</vt:lpstr>
      <vt:lpstr>Office Theme</vt:lpstr>
      <vt:lpstr>Lab #1</vt:lpstr>
      <vt:lpstr>Introduction</vt:lpstr>
      <vt:lpstr>Materials (1) – Astro 331 Beginner Kit</vt:lpstr>
      <vt:lpstr>Materials (2) – Raspberry Pi Pico</vt:lpstr>
      <vt:lpstr>Materials (3) – Solderless Breadboard</vt:lpstr>
      <vt:lpstr>Task 0A – Self Study</vt:lpstr>
      <vt:lpstr>Task 0B – Install Arduino IDE</vt:lpstr>
      <vt:lpstr>Task 0C – Test Uploading Code to Your Pico</vt:lpstr>
      <vt:lpstr>Task 1 – Real-Time Digital Output</vt:lpstr>
      <vt:lpstr>Task 2 – Digital Input</vt:lpstr>
      <vt:lpstr>Task 3 – Analog Input</vt:lpstr>
      <vt:lpstr>Task 4 – Pulse Width Modulation (PWM)</vt:lpstr>
      <vt:lpstr>Turn-in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lastModifiedBy>Harris, Wyatt J Lt Col USAF USAFA DF/DFAS</cp:lastModifiedBy>
  <cp:revision>2</cp:revision>
  <cp:lastPrinted>2025-08-01T16:37:26Z</cp:lastPrinted>
  <dcterms:created xsi:type="dcterms:W3CDTF">2025-07-17T17:53:42Z</dcterms:created>
  <dcterms:modified xsi:type="dcterms:W3CDTF">2026-01-07T15:14:32Z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