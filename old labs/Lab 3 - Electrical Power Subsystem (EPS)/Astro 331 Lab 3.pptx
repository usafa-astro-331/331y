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7"/>
  </p:notesMasterIdLst>
  <p:sldIdLst>
    <p:sldId id="256" r:id="rId5"/>
    <p:sldId id="257" r:id="rId6"/>
    <p:sldId id="261" r:id="rId7"/>
    <p:sldId id="276" r:id="rId8"/>
    <p:sldId id="277" r:id="rId9"/>
    <p:sldId id="265" r:id="rId10"/>
    <p:sldId id="268" r:id="rId11"/>
    <p:sldId id="267" r:id="rId12"/>
    <p:sldId id="271" r:id="rId13"/>
    <p:sldId id="270" r:id="rId14"/>
    <p:sldId id="262" r:id="rId15"/>
    <p:sldId id="264" r:id="rId16"/>
    <p:sldId id="278" r:id="rId17"/>
    <p:sldId id="269" r:id="rId18"/>
    <p:sldId id="273" r:id="rId19"/>
    <p:sldId id="266" r:id="rId20"/>
    <p:sldId id="280" r:id="rId21"/>
    <p:sldId id="281" r:id="rId22"/>
    <p:sldId id="260" r:id="rId23"/>
    <p:sldId id="263" r:id="rId24"/>
    <p:sldId id="275" r:id="rId25"/>
    <p:sldId id="274" r:id="rId26"/>
  </p:sldIdLst>
  <p:sldSz cx="9144000" cy="6858000" type="letter"/>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C09371-2337-4AAB-ADAD-FDE1FD94C675}" v="1" dt="2026-03-03T03:25:17.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5" d="100"/>
          <a:sy n="155" d="100"/>
        </p:scale>
        <p:origin x="161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95571437-1CDD-49A9-9F44-9267EE8F1204}"/>
    <pc:docChg chg="undo redo custSel addSld delSld modSld sldOrd modMainMaster">
      <pc:chgData name="Harris, Wyatt J Lt Col USAF USAFA DF/DFAS" userId="768bfb95-c272-4014-8fa2-010c15306053" providerId="ADAL" clId="{95571437-1CDD-49A9-9F44-9267EE8F1204}" dt="2026-02-02T04:51:39.471" v="8831" actId="14100"/>
      <pc:docMkLst>
        <pc:docMk/>
      </pc:docMkLst>
      <pc:sldChg chg="addSp delSp modSp mod setBg">
        <pc:chgData name="Harris, Wyatt J Lt Col USAF USAFA DF/DFAS" userId="768bfb95-c272-4014-8fa2-010c15306053" providerId="ADAL" clId="{95571437-1CDD-49A9-9F44-9267EE8F1204}" dt="2026-02-02T03:39:43.156" v="6773"/>
        <pc:sldMkLst>
          <pc:docMk/>
          <pc:sldMk cId="2953783623" sldId="257"/>
        </pc:sldMkLst>
        <pc:spChg chg="add mod">
          <ac:chgData name="Harris, Wyatt J Lt Col USAF USAFA DF/DFAS" userId="768bfb95-c272-4014-8fa2-010c15306053" providerId="ADAL" clId="{95571437-1CDD-49A9-9F44-9267EE8F1204}" dt="2026-02-02T03:39:43.156" v="6773"/>
          <ac:spMkLst>
            <pc:docMk/>
            <pc:sldMk cId="2953783623" sldId="257"/>
            <ac:spMk id="6" creationId="{FFFB02BF-C7E9-F49A-7A62-192D03657CA5}"/>
          </ac:spMkLst>
        </pc:spChg>
      </pc:sldChg>
      <pc:sldChg chg="addSp delSp modSp mod modShow">
        <pc:chgData name="Harris, Wyatt J Lt Col USAF USAFA DF/DFAS" userId="768bfb95-c272-4014-8fa2-010c15306053" providerId="ADAL" clId="{95571437-1CDD-49A9-9F44-9267EE8F1204}" dt="2026-02-02T04:49:26.861" v="8741" actId="20577"/>
        <pc:sldMkLst>
          <pc:docMk/>
          <pc:sldMk cId="2741946930" sldId="260"/>
        </pc:sldMkLst>
        <pc:spChg chg="mod">
          <ac:chgData name="Harris, Wyatt J Lt Col USAF USAFA DF/DFAS" userId="768bfb95-c272-4014-8fa2-010c15306053" providerId="ADAL" clId="{95571437-1CDD-49A9-9F44-9267EE8F1204}" dt="2026-02-02T03:37:22.344" v="6659" actId="20577"/>
          <ac:spMkLst>
            <pc:docMk/>
            <pc:sldMk cId="2741946930" sldId="260"/>
            <ac:spMk id="2" creationId="{01A9EADA-02F8-5847-F017-37991CF47047}"/>
          </ac:spMkLst>
        </pc:spChg>
        <pc:spChg chg="mod">
          <ac:chgData name="Harris, Wyatt J Lt Col USAF USAFA DF/DFAS" userId="768bfb95-c272-4014-8fa2-010c15306053" providerId="ADAL" clId="{95571437-1CDD-49A9-9F44-9267EE8F1204}" dt="2026-02-02T04:49:26.861" v="8741" actId="20577"/>
          <ac:spMkLst>
            <pc:docMk/>
            <pc:sldMk cId="2741946930" sldId="260"/>
            <ac:spMk id="3" creationId="{D89B9D66-E144-AAC5-D572-975EA3A728F9}"/>
          </ac:spMkLst>
        </pc:spChg>
        <pc:spChg chg="add mod">
          <ac:chgData name="Harris, Wyatt J Lt Col USAF USAFA DF/DFAS" userId="768bfb95-c272-4014-8fa2-010c15306053" providerId="ADAL" clId="{95571437-1CDD-49A9-9F44-9267EE8F1204}" dt="2026-02-02T03:38:26.788" v="6726" actId="20577"/>
          <ac:spMkLst>
            <pc:docMk/>
            <pc:sldMk cId="2741946930" sldId="260"/>
            <ac:spMk id="7" creationId="{E9806D2B-45C9-2A03-4E00-17D4CE12C221}"/>
          </ac:spMkLst>
        </pc:spChg>
      </pc:sldChg>
      <pc:sldChg chg="addSp delSp modSp mod setBg">
        <pc:chgData name="Harris, Wyatt J Lt Col USAF USAFA DF/DFAS" userId="768bfb95-c272-4014-8fa2-010c15306053" providerId="ADAL" clId="{95571437-1CDD-49A9-9F44-9267EE8F1204}" dt="2026-02-02T03:39:39.631" v="6771"/>
        <pc:sldMkLst>
          <pc:docMk/>
          <pc:sldMk cId="2592074456" sldId="261"/>
        </pc:sldMkLst>
        <pc:spChg chg="add mod">
          <ac:chgData name="Harris, Wyatt J Lt Col USAF USAFA DF/DFAS" userId="768bfb95-c272-4014-8fa2-010c15306053" providerId="ADAL" clId="{95571437-1CDD-49A9-9F44-9267EE8F1204}" dt="2026-02-02T03:39:39.631" v="6771"/>
          <ac:spMkLst>
            <pc:docMk/>
            <pc:sldMk cId="2592074456" sldId="261"/>
            <ac:spMk id="3" creationId="{95323B53-E00A-823F-7046-3404BDEE898B}"/>
          </ac:spMkLst>
        </pc:spChg>
      </pc:sldChg>
      <pc:sldChg chg="addSp delSp modSp add mod setBg">
        <pc:chgData name="Harris, Wyatt J Lt Col USAF USAFA DF/DFAS" userId="768bfb95-c272-4014-8fa2-010c15306053" providerId="ADAL" clId="{95571437-1CDD-49A9-9F44-9267EE8F1204}" dt="2026-02-02T03:39:11.435" v="6756" actId="20577"/>
        <pc:sldMkLst>
          <pc:docMk/>
          <pc:sldMk cId="1550499404" sldId="262"/>
        </pc:sldMkLst>
        <pc:spChg chg="add mod">
          <ac:chgData name="Harris, Wyatt J Lt Col USAF USAFA DF/DFAS" userId="768bfb95-c272-4014-8fa2-010c15306053" providerId="ADAL" clId="{95571437-1CDD-49A9-9F44-9267EE8F1204}" dt="2026-02-02T03:39:11.435" v="6756" actId="20577"/>
          <ac:spMkLst>
            <pc:docMk/>
            <pc:sldMk cId="1550499404" sldId="262"/>
            <ac:spMk id="8" creationId="{B938C92E-BAE0-2D59-352C-9A96B9D9DA18}"/>
          </ac:spMkLst>
        </pc:spChg>
      </pc:sldChg>
      <pc:sldChg chg="addSp delSp modSp add mod setBg modNotesTx">
        <pc:chgData name="Harris, Wyatt J Lt Col USAF USAFA DF/DFAS" userId="768bfb95-c272-4014-8fa2-010c15306053" providerId="ADAL" clId="{95571437-1CDD-49A9-9F44-9267EE8F1204}" dt="2026-02-02T03:39:05.977" v="6752" actId="20577"/>
        <pc:sldMkLst>
          <pc:docMk/>
          <pc:sldMk cId="1587559954" sldId="264"/>
        </pc:sldMkLst>
        <pc:spChg chg="add mod">
          <ac:chgData name="Harris, Wyatt J Lt Col USAF USAFA DF/DFAS" userId="768bfb95-c272-4014-8fa2-010c15306053" providerId="ADAL" clId="{95571437-1CDD-49A9-9F44-9267EE8F1204}" dt="2026-02-02T03:39:05.977" v="6752" actId="20577"/>
          <ac:spMkLst>
            <pc:docMk/>
            <pc:sldMk cId="1587559954" sldId="264"/>
            <ac:spMk id="7" creationId="{0A61D0E3-5309-864E-4A7A-2512BDF93B07}"/>
          </ac:spMkLst>
        </pc:spChg>
      </pc:sldChg>
      <pc:sldChg chg="addSp delSp modSp mod setBg">
        <pc:chgData name="Harris, Wyatt J Lt Col USAF USAFA DF/DFAS" userId="768bfb95-c272-4014-8fa2-010c15306053" providerId="ADAL" clId="{95571437-1CDD-49A9-9F44-9267EE8F1204}" dt="2026-02-02T03:39:32.858" v="6767"/>
        <pc:sldMkLst>
          <pc:docMk/>
          <pc:sldMk cId="2600938468" sldId="265"/>
        </pc:sldMkLst>
        <pc:spChg chg="add mod">
          <ac:chgData name="Harris, Wyatt J Lt Col USAF USAFA DF/DFAS" userId="768bfb95-c272-4014-8fa2-010c15306053" providerId="ADAL" clId="{95571437-1CDD-49A9-9F44-9267EE8F1204}" dt="2026-02-02T03:39:32.858" v="6767"/>
          <ac:spMkLst>
            <pc:docMk/>
            <pc:sldMk cId="2600938468" sldId="265"/>
            <ac:spMk id="6" creationId="{8A83103B-EF8C-95BE-DDBB-78211F255531}"/>
          </ac:spMkLst>
        </pc:spChg>
      </pc:sldChg>
      <pc:sldChg chg="addSp delSp modSp mod modShow">
        <pc:chgData name="Harris, Wyatt J Lt Col USAF USAFA DF/DFAS" userId="768bfb95-c272-4014-8fa2-010c15306053" providerId="ADAL" clId="{95571437-1CDD-49A9-9F44-9267EE8F1204}" dt="2026-02-02T04:09:30.139" v="8113" actId="20577"/>
        <pc:sldMkLst>
          <pc:docMk/>
          <pc:sldMk cId="3721727457" sldId="266"/>
        </pc:sldMkLst>
        <pc:spChg chg="add mod">
          <ac:chgData name="Harris, Wyatt J Lt Col USAF USAFA DF/DFAS" userId="768bfb95-c272-4014-8fa2-010c15306053" providerId="ADAL" clId="{95571437-1CDD-49A9-9F44-9267EE8F1204}" dt="2026-02-02T03:38:41.298" v="6732" actId="20577"/>
          <ac:spMkLst>
            <pc:docMk/>
            <pc:sldMk cId="3721727457" sldId="266"/>
            <ac:spMk id="7" creationId="{B5961EBD-2954-A5BD-B646-5B5771D01F9D}"/>
          </ac:spMkLst>
        </pc:spChg>
        <pc:spChg chg="mod">
          <ac:chgData name="Harris, Wyatt J Lt Col USAF USAFA DF/DFAS" userId="768bfb95-c272-4014-8fa2-010c15306053" providerId="ADAL" clId="{95571437-1CDD-49A9-9F44-9267EE8F1204}" dt="2026-02-02T04:09:30.139" v="8113" actId="20577"/>
          <ac:spMkLst>
            <pc:docMk/>
            <pc:sldMk cId="3721727457" sldId="266"/>
            <ac:spMk id="8" creationId="{9FDBA21B-B757-D082-AD93-5382F16F6714}"/>
          </ac:spMkLst>
        </pc:spChg>
      </pc:sldChg>
      <pc:sldChg chg="addSp delSp modSp mod setBg">
        <pc:chgData name="Harris, Wyatt J Lt Col USAF USAFA DF/DFAS" userId="768bfb95-c272-4014-8fa2-010c15306053" providerId="ADAL" clId="{95571437-1CDD-49A9-9F44-9267EE8F1204}" dt="2026-02-02T03:39:25.965" v="6763"/>
        <pc:sldMkLst>
          <pc:docMk/>
          <pc:sldMk cId="1787220716" sldId="267"/>
        </pc:sldMkLst>
        <pc:spChg chg="add mod">
          <ac:chgData name="Harris, Wyatt J Lt Col USAF USAFA DF/DFAS" userId="768bfb95-c272-4014-8fa2-010c15306053" providerId="ADAL" clId="{95571437-1CDD-49A9-9F44-9267EE8F1204}" dt="2026-02-02T03:39:25.965" v="6763"/>
          <ac:spMkLst>
            <pc:docMk/>
            <pc:sldMk cId="1787220716" sldId="267"/>
            <ac:spMk id="6" creationId="{896CD0DF-4BE7-3096-22E9-BC3EB4478572}"/>
          </ac:spMkLst>
        </pc:spChg>
      </pc:sldChg>
      <pc:sldChg chg="addSp delSp modSp mod setBg">
        <pc:chgData name="Harris, Wyatt J Lt Col USAF USAFA DF/DFAS" userId="768bfb95-c272-4014-8fa2-010c15306053" providerId="ADAL" clId="{95571437-1CDD-49A9-9F44-9267EE8F1204}" dt="2026-02-02T03:39:29.558" v="6765"/>
        <pc:sldMkLst>
          <pc:docMk/>
          <pc:sldMk cId="966145074" sldId="268"/>
        </pc:sldMkLst>
        <pc:spChg chg="add mod">
          <ac:chgData name="Harris, Wyatt J Lt Col USAF USAFA DF/DFAS" userId="768bfb95-c272-4014-8fa2-010c15306053" providerId="ADAL" clId="{95571437-1CDD-49A9-9F44-9267EE8F1204}" dt="2026-02-02T03:39:29.558" v="6765"/>
          <ac:spMkLst>
            <pc:docMk/>
            <pc:sldMk cId="966145074" sldId="268"/>
            <ac:spMk id="6" creationId="{B0737D59-2F9C-05CD-5A9B-704AA6AE77FB}"/>
          </ac:spMkLst>
        </pc:spChg>
      </pc:sldChg>
      <pc:sldChg chg="addSp delSp modSp mod modShow">
        <pc:chgData name="Harris, Wyatt J Lt Col USAF USAFA DF/DFAS" userId="768bfb95-c272-4014-8fa2-010c15306053" providerId="ADAL" clId="{95571437-1CDD-49A9-9F44-9267EE8F1204}" dt="2026-02-02T04:12:34.934" v="8319" actId="1076"/>
        <pc:sldMkLst>
          <pc:docMk/>
          <pc:sldMk cId="77318418" sldId="269"/>
        </pc:sldMkLst>
        <pc:spChg chg="mod">
          <ac:chgData name="Harris, Wyatt J Lt Col USAF USAFA DF/DFAS" userId="768bfb95-c272-4014-8fa2-010c15306053" providerId="ADAL" clId="{95571437-1CDD-49A9-9F44-9267EE8F1204}" dt="2026-02-02T04:12:23.888" v="8316" actId="20577"/>
          <ac:spMkLst>
            <pc:docMk/>
            <pc:sldMk cId="77318418" sldId="269"/>
            <ac:spMk id="3" creationId="{4DA61448-6E43-85F8-7E12-36A77D55B371}"/>
          </ac:spMkLst>
        </pc:spChg>
        <pc:spChg chg="add mod">
          <ac:chgData name="Harris, Wyatt J Lt Col USAF USAFA DF/DFAS" userId="768bfb95-c272-4014-8fa2-010c15306053" providerId="ADAL" clId="{95571437-1CDD-49A9-9F44-9267EE8F1204}" dt="2026-02-02T03:36:35.458" v="6647" actId="164"/>
          <ac:spMkLst>
            <pc:docMk/>
            <pc:sldMk cId="77318418" sldId="269"/>
            <ac:spMk id="6" creationId="{9CF1FCFD-675A-9848-FDA4-36B51AE81B0A}"/>
          </ac:spMkLst>
        </pc:spChg>
        <pc:spChg chg="add mod">
          <ac:chgData name="Harris, Wyatt J Lt Col USAF USAFA DF/DFAS" userId="768bfb95-c272-4014-8fa2-010c15306053" providerId="ADAL" clId="{95571437-1CDD-49A9-9F44-9267EE8F1204}" dt="2026-02-02T03:38:52.693" v="6738" actId="20577"/>
          <ac:spMkLst>
            <pc:docMk/>
            <pc:sldMk cId="77318418" sldId="269"/>
            <ac:spMk id="11" creationId="{BE99F954-091C-E41B-56D3-C0884AF43E08}"/>
          </ac:spMkLst>
        </pc:spChg>
        <pc:spChg chg="add mod">
          <ac:chgData name="Harris, Wyatt J Lt Col USAF USAFA DF/DFAS" userId="768bfb95-c272-4014-8fa2-010c15306053" providerId="ADAL" clId="{95571437-1CDD-49A9-9F44-9267EE8F1204}" dt="2026-02-02T04:12:31.774" v="8317" actId="164"/>
          <ac:spMkLst>
            <pc:docMk/>
            <pc:sldMk cId="77318418" sldId="269"/>
            <ac:spMk id="12" creationId="{36843ADC-7D0F-9D89-D5C2-6AA03AF53EAF}"/>
          </ac:spMkLst>
        </pc:spChg>
        <pc:grpChg chg="add mod">
          <ac:chgData name="Harris, Wyatt J Lt Col USAF USAFA DF/DFAS" userId="768bfb95-c272-4014-8fa2-010c15306053" providerId="ADAL" clId="{95571437-1CDD-49A9-9F44-9267EE8F1204}" dt="2026-02-02T04:12:34.934" v="8319" actId="1076"/>
          <ac:grpSpMkLst>
            <pc:docMk/>
            <pc:sldMk cId="77318418" sldId="269"/>
            <ac:grpSpMk id="7" creationId="{7163C7F2-4B0A-DD7C-C936-12F33CCC4BDB}"/>
          </ac:grpSpMkLst>
        </pc:grpChg>
        <pc:grpChg chg="add mod">
          <ac:chgData name="Harris, Wyatt J Lt Col USAF USAFA DF/DFAS" userId="768bfb95-c272-4014-8fa2-010c15306053" providerId="ADAL" clId="{95571437-1CDD-49A9-9F44-9267EE8F1204}" dt="2026-02-02T04:12:33.495" v="8318" actId="1076"/>
          <ac:grpSpMkLst>
            <pc:docMk/>
            <pc:sldMk cId="77318418" sldId="269"/>
            <ac:grpSpMk id="13" creationId="{12D271A4-BB16-CD73-7762-C7F240360624}"/>
          </ac:grpSpMkLst>
        </pc:grpChg>
        <pc:picChg chg="mod">
          <ac:chgData name="Harris, Wyatt J Lt Col USAF USAFA DF/DFAS" userId="768bfb95-c272-4014-8fa2-010c15306053" providerId="ADAL" clId="{95571437-1CDD-49A9-9F44-9267EE8F1204}" dt="2026-02-02T03:36:35.458" v="6647" actId="164"/>
          <ac:picMkLst>
            <pc:docMk/>
            <pc:sldMk cId="77318418" sldId="269"/>
            <ac:picMk id="9" creationId="{DF8211D8-7E10-F76D-05B2-5516B7A2148D}"/>
          </ac:picMkLst>
        </pc:picChg>
        <pc:picChg chg="add mod">
          <ac:chgData name="Harris, Wyatt J Lt Col USAF USAFA DF/DFAS" userId="768bfb95-c272-4014-8fa2-010c15306053" providerId="ADAL" clId="{95571437-1CDD-49A9-9F44-9267EE8F1204}" dt="2026-02-02T04:12:31.774" v="8317" actId="164"/>
          <ac:picMkLst>
            <pc:docMk/>
            <pc:sldMk cId="77318418" sldId="269"/>
            <ac:picMk id="10" creationId="{CF5CB6C3-538C-FEA4-1399-C5BB51035B03}"/>
          </ac:picMkLst>
        </pc:picChg>
      </pc:sldChg>
      <pc:sldChg chg="addSp delSp modSp mod setBg">
        <pc:chgData name="Harris, Wyatt J Lt Col USAF USAFA DF/DFAS" userId="768bfb95-c272-4014-8fa2-010c15306053" providerId="ADAL" clId="{95571437-1CDD-49A9-9F44-9267EE8F1204}" dt="2026-02-02T03:39:15.260" v="6759" actId="20577"/>
        <pc:sldMkLst>
          <pc:docMk/>
          <pc:sldMk cId="787047744" sldId="270"/>
        </pc:sldMkLst>
        <pc:spChg chg="add mod">
          <ac:chgData name="Harris, Wyatt J Lt Col USAF USAFA DF/DFAS" userId="768bfb95-c272-4014-8fa2-010c15306053" providerId="ADAL" clId="{95571437-1CDD-49A9-9F44-9267EE8F1204}" dt="2026-02-02T03:39:15.260" v="6759" actId="20577"/>
          <ac:spMkLst>
            <pc:docMk/>
            <pc:sldMk cId="787047744" sldId="270"/>
            <ac:spMk id="22" creationId="{197CFD52-4D16-3F30-167E-D6437587E773}"/>
          </ac:spMkLst>
        </pc:spChg>
      </pc:sldChg>
      <pc:sldChg chg="addSp delSp modSp mod setBg">
        <pc:chgData name="Harris, Wyatt J Lt Col USAF USAFA DF/DFAS" userId="768bfb95-c272-4014-8fa2-010c15306053" providerId="ADAL" clId="{95571437-1CDD-49A9-9F44-9267EE8F1204}" dt="2026-02-02T03:39:22.595" v="6761"/>
        <pc:sldMkLst>
          <pc:docMk/>
          <pc:sldMk cId="2916955559" sldId="271"/>
        </pc:sldMkLst>
        <pc:spChg chg="add mod">
          <ac:chgData name="Harris, Wyatt J Lt Col USAF USAFA DF/DFAS" userId="768bfb95-c272-4014-8fa2-010c15306053" providerId="ADAL" clId="{95571437-1CDD-49A9-9F44-9267EE8F1204}" dt="2026-02-02T03:39:22.595" v="6761"/>
          <ac:spMkLst>
            <pc:docMk/>
            <pc:sldMk cId="2916955559" sldId="271"/>
            <ac:spMk id="6" creationId="{D59DD7BC-85A3-7BAC-05A2-927AB26C2588}"/>
          </ac:spMkLst>
        </pc:spChg>
      </pc:sldChg>
      <pc:sldChg chg="addSp delSp modSp mod modShow">
        <pc:chgData name="Harris, Wyatt J Lt Col USAF USAFA DF/DFAS" userId="768bfb95-c272-4014-8fa2-010c15306053" providerId="ADAL" clId="{95571437-1CDD-49A9-9F44-9267EE8F1204}" dt="2026-02-02T04:12:47.460" v="8320" actId="113"/>
        <pc:sldMkLst>
          <pc:docMk/>
          <pc:sldMk cId="1728668912" sldId="273"/>
        </pc:sldMkLst>
        <pc:spChg chg="add mod">
          <ac:chgData name="Harris, Wyatt J Lt Col USAF USAFA DF/DFAS" userId="768bfb95-c272-4014-8fa2-010c15306053" providerId="ADAL" clId="{95571437-1CDD-49A9-9F44-9267EE8F1204}" dt="2026-02-02T03:38:49.138" v="6735" actId="20577"/>
          <ac:spMkLst>
            <pc:docMk/>
            <pc:sldMk cId="1728668912" sldId="273"/>
            <ac:spMk id="8" creationId="{F891C764-FBD4-E536-B830-E7D43FBA4A25}"/>
          </ac:spMkLst>
        </pc:spChg>
        <pc:spChg chg="mod">
          <ac:chgData name="Harris, Wyatt J Lt Col USAF USAFA DF/DFAS" userId="768bfb95-c272-4014-8fa2-010c15306053" providerId="ADAL" clId="{95571437-1CDD-49A9-9F44-9267EE8F1204}" dt="2026-02-02T04:12:47.460" v="8320" actId="113"/>
          <ac:spMkLst>
            <pc:docMk/>
            <pc:sldMk cId="1728668912" sldId="273"/>
            <ac:spMk id="23" creationId="{00F38186-9CD8-C646-7DC3-BB36BADD74B8}"/>
          </ac:spMkLst>
        </pc:spChg>
      </pc:sldChg>
      <pc:sldChg chg="addSp delSp modSp mod ord modShow">
        <pc:chgData name="Harris, Wyatt J Lt Col USAF USAFA DF/DFAS" userId="768bfb95-c272-4014-8fa2-010c15306053" providerId="ADAL" clId="{95571437-1CDD-49A9-9F44-9267EE8F1204}" dt="2026-02-02T03:37:14.905" v="6651" actId="729"/>
        <pc:sldMkLst>
          <pc:docMk/>
          <pc:sldMk cId="1749803004" sldId="274"/>
        </pc:sldMkLst>
      </pc:sldChg>
      <pc:sldChg chg="addSp delSp modSp add mod setBg">
        <pc:chgData name="Harris, Wyatt J Lt Col USAF USAFA DF/DFAS" userId="768bfb95-c272-4014-8fa2-010c15306053" providerId="ADAL" clId="{95571437-1CDD-49A9-9F44-9267EE8F1204}" dt="2026-02-02T03:39:36.265" v="6769"/>
        <pc:sldMkLst>
          <pc:docMk/>
          <pc:sldMk cId="1727072757" sldId="277"/>
        </pc:sldMkLst>
        <pc:spChg chg="add mod">
          <ac:chgData name="Harris, Wyatt J Lt Col USAF USAFA DF/DFAS" userId="768bfb95-c272-4014-8fa2-010c15306053" providerId="ADAL" clId="{95571437-1CDD-49A9-9F44-9267EE8F1204}" dt="2026-02-02T03:39:36.265" v="6769"/>
          <ac:spMkLst>
            <pc:docMk/>
            <pc:sldMk cId="1727072757" sldId="277"/>
            <ac:spMk id="3" creationId="{F39E0281-BD4D-B595-A8F6-54F44780853A}"/>
          </ac:spMkLst>
        </pc:spChg>
      </pc:sldChg>
      <pc:sldChg chg="addSp delSp modSp new mod">
        <pc:chgData name="Harris, Wyatt J Lt Col USAF USAFA DF/DFAS" userId="768bfb95-c272-4014-8fa2-010c15306053" providerId="ADAL" clId="{95571437-1CDD-49A9-9F44-9267EE8F1204}" dt="2026-02-02T03:39:02.599" v="6749" actId="1035"/>
        <pc:sldMkLst>
          <pc:docMk/>
          <pc:sldMk cId="503228617" sldId="278"/>
        </pc:sldMkLst>
        <pc:spChg chg="add mod">
          <ac:chgData name="Harris, Wyatt J Lt Col USAF USAFA DF/DFAS" userId="768bfb95-c272-4014-8fa2-010c15306053" providerId="ADAL" clId="{95571437-1CDD-49A9-9F44-9267EE8F1204}" dt="2026-02-02T03:38:57.213" v="6741" actId="20577"/>
          <ac:spMkLst>
            <pc:docMk/>
            <pc:sldMk cId="503228617" sldId="278"/>
            <ac:spMk id="30" creationId="{67603A38-2CB7-3B6A-17E7-A53A544468B3}"/>
          </ac:spMkLst>
        </pc:spChg>
      </pc:sldChg>
      <pc:sldChg chg="modSp add mod">
        <pc:chgData name="Harris, Wyatt J Lt Col USAF USAFA DF/DFAS" userId="768bfb95-c272-4014-8fa2-010c15306053" providerId="ADAL" clId="{95571437-1CDD-49A9-9F44-9267EE8F1204}" dt="2026-02-02T03:38:33.069" v="6728" actId="20577"/>
        <pc:sldMkLst>
          <pc:docMk/>
          <pc:sldMk cId="3118547620" sldId="280"/>
        </pc:sldMkLst>
        <pc:spChg chg="mod">
          <ac:chgData name="Harris, Wyatt J Lt Col USAF USAFA DF/DFAS" userId="768bfb95-c272-4014-8fa2-010c15306053" providerId="ADAL" clId="{95571437-1CDD-49A9-9F44-9267EE8F1204}" dt="2026-02-02T03:38:33.069" v="6728" actId="20577"/>
          <ac:spMkLst>
            <pc:docMk/>
            <pc:sldMk cId="3118547620" sldId="280"/>
            <ac:spMk id="7" creationId="{FD611763-4E8E-2C1A-2B65-40192F601D64}"/>
          </ac:spMkLst>
        </pc:spChg>
      </pc:sldChg>
      <pc:sldChg chg="addSp delSp modSp new mod">
        <pc:chgData name="Harris, Wyatt J Lt Col USAF USAFA DF/DFAS" userId="768bfb95-c272-4014-8fa2-010c15306053" providerId="ADAL" clId="{95571437-1CDD-49A9-9F44-9267EE8F1204}" dt="2026-02-02T04:51:39.471" v="8831" actId="14100"/>
        <pc:sldMkLst>
          <pc:docMk/>
          <pc:sldMk cId="192777807" sldId="281"/>
        </pc:sldMkLst>
        <pc:spChg chg="mod">
          <ac:chgData name="Harris, Wyatt J Lt Col USAF USAFA DF/DFAS" userId="768bfb95-c272-4014-8fa2-010c15306053" providerId="ADAL" clId="{95571437-1CDD-49A9-9F44-9267EE8F1204}" dt="2026-02-02T03:37:57.775" v="6707" actId="404"/>
          <ac:spMkLst>
            <pc:docMk/>
            <pc:sldMk cId="192777807" sldId="281"/>
            <ac:spMk id="2" creationId="{01B7DA04-4B9F-16CA-0C25-73762E003116}"/>
          </ac:spMkLst>
        </pc:spChg>
        <pc:spChg chg="mod">
          <ac:chgData name="Harris, Wyatt J Lt Col USAF USAFA DF/DFAS" userId="768bfb95-c272-4014-8fa2-010c15306053" providerId="ADAL" clId="{95571437-1CDD-49A9-9F44-9267EE8F1204}" dt="2026-02-02T04:51:39.471" v="8831" actId="14100"/>
          <ac:spMkLst>
            <pc:docMk/>
            <pc:sldMk cId="192777807" sldId="281"/>
            <ac:spMk id="3" creationId="{D028BCD5-A9DB-0358-4037-7B6E4E3AEF89}"/>
          </ac:spMkLst>
        </pc:spChg>
        <pc:spChg chg="mod">
          <ac:chgData name="Harris, Wyatt J Lt Col USAF USAFA DF/DFAS" userId="768bfb95-c272-4014-8fa2-010c15306053" providerId="ADAL" clId="{95571437-1CDD-49A9-9F44-9267EE8F1204}" dt="2026-02-02T04:05:23.664" v="8006"/>
          <ac:spMkLst>
            <pc:docMk/>
            <pc:sldMk cId="192777807" sldId="281"/>
            <ac:spMk id="5" creationId="{88A8ECE1-2E41-D943-C1B2-C14DF8159793}"/>
          </ac:spMkLst>
        </pc:spChg>
        <pc:spChg chg="add mod">
          <ac:chgData name="Harris, Wyatt J Lt Col USAF USAFA DF/DFAS" userId="768bfb95-c272-4014-8fa2-010c15306053" providerId="ADAL" clId="{95571437-1CDD-49A9-9F44-9267EE8F1204}" dt="2026-02-02T03:38:18.222" v="6719" actId="207"/>
          <ac:spMkLst>
            <pc:docMk/>
            <pc:sldMk cId="192777807" sldId="281"/>
            <ac:spMk id="6" creationId="{FAB2A503-E4C4-E1B2-FB62-FDD2B9AB2E26}"/>
          </ac:spMkLst>
        </pc:spChg>
        <pc:spChg chg="add mod">
          <ac:chgData name="Harris, Wyatt J Lt Col USAF USAFA DF/DFAS" userId="768bfb95-c272-4014-8fa2-010c15306053" providerId="ADAL" clId="{95571437-1CDD-49A9-9F44-9267EE8F1204}" dt="2026-02-02T04:04:22.158" v="7991" actId="1076"/>
          <ac:spMkLst>
            <pc:docMk/>
            <pc:sldMk cId="192777807" sldId="281"/>
            <ac:spMk id="10" creationId="{87876ADA-DDC3-9749-044A-6F3F15F5DEA9}"/>
          </ac:spMkLst>
        </pc:spChg>
        <pc:spChg chg="add mod topLvl">
          <ac:chgData name="Harris, Wyatt J Lt Col USAF USAFA DF/DFAS" userId="768bfb95-c272-4014-8fa2-010c15306053" providerId="ADAL" clId="{95571437-1CDD-49A9-9F44-9267EE8F1204}" dt="2026-02-02T04:51:27.775" v="8830" actId="338"/>
          <ac:spMkLst>
            <pc:docMk/>
            <pc:sldMk cId="192777807" sldId="281"/>
            <ac:spMk id="15" creationId="{4129B2BB-6A71-20EC-1EC7-C7A39D8BA7AF}"/>
          </ac:spMkLst>
        </pc:spChg>
        <pc:spChg chg="add mod topLvl">
          <ac:chgData name="Harris, Wyatt J Lt Col USAF USAFA DF/DFAS" userId="768bfb95-c272-4014-8fa2-010c15306053" providerId="ADAL" clId="{95571437-1CDD-49A9-9F44-9267EE8F1204}" dt="2026-02-02T04:51:27.775" v="8830" actId="338"/>
          <ac:spMkLst>
            <pc:docMk/>
            <pc:sldMk cId="192777807" sldId="281"/>
            <ac:spMk id="16" creationId="{87C49519-DD46-FAD5-8209-B6BEA525D209}"/>
          </ac:spMkLst>
        </pc:spChg>
        <pc:spChg chg="add mod topLvl">
          <ac:chgData name="Harris, Wyatt J Lt Col USAF USAFA DF/DFAS" userId="768bfb95-c272-4014-8fa2-010c15306053" providerId="ADAL" clId="{95571437-1CDD-49A9-9F44-9267EE8F1204}" dt="2026-02-02T04:51:27.775" v="8830" actId="338"/>
          <ac:spMkLst>
            <pc:docMk/>
            <pc:sldMk cId="192777807" sldId="281"/>
            <ac:spMk id="17" creationId="{35858A68-1B9C-4DB1-9C94-C5319AD1F99F}"/>
          </ac:spMkLst>
        </pc:spChg>
        <pc:spChg chg="add mod">
          <ac:chgData name="Harris, Wyatt J Lt Col USAF USAFA DF/DFAS" userId="768bfb95-c272-4014-8fa2-010c15306053" providerId="ADAL" clId="{95571437-1CDD-49A9-9F44-9267EE8F1204}" dt="2026-02-02T04:51:13.784" v="8828" actId="1076"/>
          <ac:spMkLst>
            <pc:docMk/>
            <pc:sldMk cId="192777807" sldId="281"/>
            <ac:spMk id="19" creationId="{348CBE01-E0BE-5710-25FB-DD956BED99B1}"/>
          </ac:spMkLst>
        </pc:spChg>
        <pc:grpChg chg="add mod">
          <ac:chgData name="Harris, Wyatt J Lt Col USAF USAFA DF/DFAS" userId="768bfb95-c272-4014-8fa2-010c15306053" providerId="ADAL" clId="{95571437-1CDD-49A9-9F44-9267EE8F1204}" dt="2026-02-02T04:50:23.183" v="8754" actId="1076"/>
          <ac:grpSpMkLst>
            <pc:docMk/>
            <pc:sldMk cId="192777807" sldId="281"/>
            <ac:grpSpMk id="11" creationId="{01298734-399A-9077-71F3-8613C452041A}"/>
          </ac:grpSpMkLst>
        </pc:grpChg>
        <pc:grpChg chg="add mod">
          <ac:chgData name="Harris, Wyatt J Lt Col USAF USAFA DF/DFAS" userId="768bfb95-c272-4014-8fa2-010c15306053" providerId="ADAL" clId="{95571437-1CDD-49A9-9F44-9267EE8F1204}" dt="2026-02-02T04:51:27.775" v="8830" actId="338"/>
          <ac:grpSpMkLst>
            <pc:docMk/>
            <pc:sldMk cId="192777807" sldId="281"/>
            <ac:grpSpMk id="20" creationId="{65F3E9DA-6542-50AC-4A74-BFE53693664A}"/>
          </ac:grpSpMkLst>
        </pc:grpChg>
        <pc:picChg chg="add mod">
          <ac:chgData name="Harris, Wyatt J Lt Col USAF USAFA DF/DFAS" userId="768bfb95-c272-4014-8fa2-010c15306053" providerId="ADAL" clId="{95571437-1CDD-49A9-9F44-9267EE8F1204}" dt="2026-02-02T04:04:24.582" v="7992" actId="1076"/>
          <ac:picMkLst>
            <pc:docMk/>
            <pc:sldMk cId="192777807" sldId="281"/>
            <ac:picMk id="8" creationId="{2061E369-A719-61F8-1DF8-2986384D15D8}"/>
          </ac:picMkLst>
        </pc:picChg>
        <pc:picChg chg="add mod topLvl">
          <ac:chgData name="Harris, Wyatt J Lt Col USAF USAFA DF/DFAS" userId="768bfb95-c272-4014-8fa2-010c15306053" providerId="ADAL" clId="{95571437-1CDD-49A9-9F44-9267EE8F1204}" dt="2026-02-02T04:51:27.775" v="8830" actId="338"/>
          <ac:picMkLst>
            <pc:docMk/>
            <pc:sldMk cId="192777807" sldId="281"/>
            <ac:picMk id="13" creationId="{50D31578-A5E6-D4A7-304E-B30DA3AB0E83}"/>
          </ac:picMkLst>
        </pc:picChg>
        <pc:picChg chg="add mod">
          <ac:chgData name="Harris, Wyatt J Lt Col USAF USAFA DF/DFAS" userId="768bfb95-c272-4014-8fa2-010c15306053" providerId="ADAL" clId="{95571437-1CDD-49A9-9F44-9267EE8F1204}" dt="2026-02-02T04:50:27.471" v="8757" actId="1076"/>
          <ac:picMkLst>
            <pc:docMk/>
            <pc:sldMk cId="192777807" sldId="281"/>
            <ac:picMk id="1026" creationId="{815B7CC9-7D41-E5F0-03D8-2F29FF081246}"/>
          </ac:picMkLst>
        </pc:picChg>
      </pc:sldChg>
    </pc:docChg>
  </pc:docChgLst>
  <pc:docChgLst>
    <pc:chgData name="Harris, Wyatt J Lt Col USAF USAFA DF/DFAS" userId="768bfb95-c272-4014-8fa2-010c15306053" providerId="ADAL" clId="{F3711698-5DD9-46F6-BE65-19B04B1F152B}"/>
    <pc:docChg chg="modSld">
      <pc:chgData name="Harris, Wyatt J Lt Col USAF USAFA DF/DFAS" userId="768bfb95-c272-4014-8fa2-010c15306053" providerId="ADAL" clId="{F3711698-5DD9-46F6-BE65-19B04B1F152B}" dt="2026-02-02T15:17:09.951" v="1"/>
      <pc:docMkLst>
        <pc:docMk/>
      </pc:docMkLst>
      <pc:sldChg chg="setBg">
        <pc:chgData name="Harris, Wyatt J Lt Col USAF USAFA DF/DFAS" userId="768bfb95-c272-4014-8fa2-010c15306053" providerId="ADAL" clId="{F3711698-5DD9-46F6-BE65-19B04B1F152B}" dt="2026-02-02T15:17:09.951" v="1"/>
        <pc:sldMkLst>
          <pc:docMk/>
          <pc:sldMk cId="2741946930" sldId="260"/>
        </pc:sldMkLst>
      </pc:sldChg>
    </pc:docChg>
  </pc:docChgLst>
  <pc:docChgLst>
    <pc:chgData name="Harris, Wyatt J Lt Col USAF USAFA DF/DFAS" userId="768bfb95-c272-4014-8fa2-010c15306053" providerId="ADAL" clId="{E18DAD13-4A53-44B8-9F3F-46E167733190}"/>
    <pc:docChg chg="undo custSel modSld">
      <pc:chgData name="Harris, Wyatt J Lt Col USAF USAFA DF/DFAS" userId="768bfb95-c272-4014-8fa2-010c15306053" providerId="ADAL" clId="{E18DAD13-4A53-44B8-9F3F-46E167733190}" dt="2026-02-08T21:15:43.720" v="470" actId="20577"/>
      <pc:docMkLst>
        <pc:docMk/>
      </pc:docMkLst>
      <pc:sldChg chg="modSp mod">
        <pc:chgData name="Harris, Wyatt J Lt Col USAF USAFA DF/DFAS" userId="768bfb95-c272-4014-8fa2-010c15306053" providerId="ADAL" clId="{E18DAD13-4A53-44B8-9F3F-46E167733190}" dt="2026-02-02T18:52:08.827" v="348" actId="20577"/>
        <pc:sldMkLst>
          <pc:docMk/>
          <pc:sldMk cId="2953783623" sldId="257"/>
        </pc:sldMkLst>
        <pc:spChg chg="mod">
          <ac:chgData name="Harris, Wyatt J Lt Col USAF USAFA DF/DFAS" userId="768bfb95-c272-4014-8fa2-010c15306053" providerId="ADAL" clId="{E18DAD13-4A53-44B8-9F3F-46E167733190}" dt="2026-02-02T18:52:08.827" v="348" actId="20577"/>
          <ac:spMkLst>
            <pc:docMk/>
            <pc:sldMk cId="2953783623" sldId="257"/>
            <ac:spMk id="6" creationId="{FFFB02BF-C7E9-F49A-7A62-192D03657CA5}"/>
          </ac:spMkLst>
        </pc:spChg>
      </pc:sldChg>
      <pc:sldChg chg="modSp mod modShow">
        <pc:chgData name="Harris, Wyatt J Lt Col USAF USAFA DF/DFAS" userId="768bfb95-c272-4014-8fa2-010c15306053" providerId="ADAL" clId="{E18DAD13-4A53-44B8-9F3F-46E167733190}" dt="2026-02-02T18:50:58.443" v="322" actId="20577"/>
        <pc:sldMkLst>
          <pc:docMk/>
          <pc:sldMk cId="2741946930" sldId="260"/>
        </pc:sldMkLst>
        <pc:spChg chg="mod">
          <ac:chgData name="Harris, Wyatt J Lt Col USAF USAFA DF/DFAS" userId="768bfb95-c272-4014-8fa2-010c15306053" providerId="ADAL" clId="{E18DAD13-4A53-44B8-9F3F-46E167733190}" dt="2026-02-02T18:50:58.443" v="322" actId="20577"/>
          <ac:spMkLst>
            <pc:docMk/>
            <pc:sldMk cId="2741946930" sldId="260"/>
            <ac:spMk id="7" creationId="{E9806D2B-45C9-2A03-4E00-17D4CE12C221}"/>
          </ac:spMkLst>
        </pc:spChg>
      </pc:sldChg>
      <pc:sldChg chg="modSp mod">
        <pc:chgData name="Harris, Wyatt J Lt Col USAF USAFA DF/DFAS" userId="768bfb95-c272-4014-8fa2-010c15306053" providerId="ADAL" clId="{E18DAD13-4A53-44B8-9F3F-46E167733190}" dt="2026-02-02T18:52:06.261" v="347" actId="20577"/>
        <pc:sldMkLst>
          <pc:docMk/>
          <pc:sldMk cId="2592074456" sldId="261"/>
        </pc:sldMkLst>
        <pc:spChg chg="mod">
          <ac:chgData name="Harris, Wyatt J Lt Col USAF USAFA DF/DFAS" userId="768bfb95-c272-4014-8fa2-010c15306053" providerId="ADAL" clId="{E18DAD13-4A53-44B8-9F3F-46E167733190}" dt="2026-02-02T18:52:06.261" v="347" actId="20577"/>
          <ac:spMkLst>
            <pc:docMk/>
            <pc:sldMk cId="2592074456" sldId="261"/>
            <ac:spMk id="3" creationId="{95323B53-E00A-823F-7046-3404BDEE898B}"/>
          </ac:spMkLst>
        </pc:spChg>
      </pc:sldChg>
      <pc:sldChg chg="modSp mod">
        <pc:chgData name="Harris, Wyatt J Lt Col USAF USAFA DF/DFAS" userId="768bfb95-c272-4014-8fa2-010c15306053" providerId="ADAL" clId="{E18DAD13-4A53-44B8-9F3F-46E167733190}" dt="2026-02-02T18:51:44.239" v="340" actId="20577"/>
        <pc:sldMkLst>
          <pc:docMk/>
          <pc:sldMk cId="1550499404" sldId="262"/>
        </pc:sldMkLst>
        <pc:spChg chg="mod">
          <ac:chgData name="Harris, Wyatt J Lt Col USAF USAFA DF/DFAS" userId="768bfb95-c272-4014-8fa2-010c15306053" providerId="ADAL" clId="{E18DAD13-4A53-44B8-9F3F-46E167733190}" dt="2026-02-02T18:51:44.239" v="340" actId="20577"/>
          <ac:spMkLst>
            <pc:docMk/>
            <pc:sldMk cId="1550499404" sldId="262"/>
            <ac:spMk id="8" creationId="{B938C92E-BAE0-2D59-352C-9A96B9D9DA18}"/>
          </ac:spMkLst>
        </pc:spChg>
      </pc:sldChg>
      <pc:sldChg chg="modSp mod">
        <pc:chgData name="Harris, Wyatt J Lt Col USAF USAFA DF/DFAS" userId="768bfb95-c272-4014-8fa2-010c15306053" providerId="ADAL" clId="{E18DAD13-4A53-44B8-9F3F-46E167733190}" dt="2026-02-08T21:15:43.720" v="470" actId="20577"/>
        <pc:sldMkLst>
          <pc:docMk/>
          <pc:sldMk cId="1587559954" sldId="264"/>
        </pc:sldMkLst>
        <pc:spChg chg="mod">
          <ac:chgData name="Harris, Wyatt J Lt Col USAF USAFA DF/DFAS" userId="768bfb95-c272-4014-8fa2-010c15306053" providerId="ADAL" clId="{E18DAD13-4A53-44B8-9F3F-46E167733190}" dt="2026-02-08T21:15:43.720" v="470" actId="20577"/>
          <ac:spMkLst>
            <pc:docMk/>
            <pc:sldMk cId="1587559954" sldId="264"/>
            <ac:spMk id="3" creationId="{12663027-B588-8233-955A-249DF0262781}"/>
          </ac:spMkLst>
        </pc:spChg>
        <pc:spChg chg="mod">
          <ac:chgData name="Harris, Wyatt J Lt Col USAF USAFA DF/DFAS" userId="768bfb95-c272-4014-8fa2-010c15306053" providerId="ADAL" clId="{E18DAD13-4A53-44B8-9F3F-46E167733190}" dt="2026-02-02T18:51:41.853" v="339" actId="20577"/>
          <ac:spMkLst>
            <pc:docMk/>
            <pc:sldMk cId="1587559954" sldId="264"/>
            <ac:spMk id="7" creationId="{0A61D0E3-5309-864E-4A7A-2512BDF93B07}"/>
          </ac:spMkLst>
        </pc:spChg>
      </pc:sldChg>
      <pc:sldChg chg="modSp mod">
        <pc:chgData name="Harris, Wyatt J Lt Col USAF USAFA DF/DFAS" userId="768bfb95-c272-4014-8fa2-010c15306053" providerId="ADAL" clId="{E18DAD13-4A53-44B8-9F3F-46E167733190}" dt="2026-02-02T18:51:56.541" v="345" actId="20577"/>
        <pc:sldMkLst>
          <pc:docMk/>
          <pc:sldMk cId="2600938468" sldId="265"/>
        </pc:sldMkLst>
        <pc:spChg chg="mod">
          <ac:chgData name="Harris, Wyatt J Lt Col USAF USAFA DF/DFAS" userId="768bfb95-c272-4014-8fa2-010c15306053" providerId="ADAL" clId="{E18DAD13-4A53-44B8-9F3F-46E167733190}" dt="2026-02-02T18:51:56.541" v="345" actId="20577"/>
          <ac:spMkLst>
            <pc:docMk/>
            <pc:sldMk cId="2600938468" sldId="265"/>
            <ac:spMk id="6" creationId="{8A83103B-EF8C-95BE-DDBB-78211F255531}"/>
          </ac:spMkLst>
        </pc:spChg>
      </pc:sldChg>
      <pc:sldChg chg="modSp mod modShow">
        <pc:chgData name="Harris, Wyatt J Lt Col USAF USAFA DF/DFAS" userId="768bfb95-c272-4014-8fa2-010c15306053" providerId="ADAL" clId="{E18DAD13-4A53-44B8-9F3F-46E167733190}" dt="2026-02-02T18:51:25.784" v="335" actId="20577"/>
        <pc:sldMkLst>
          <pc:docMk/>
          <pc:sldMk cId="3721727457" sldId="266"/>
        </pc:sldMkLst>
        <pc:spChg chg="mod">
          <ac:chgData name="Harris, Wyatt J Lt Col USAF USAFA DF/DFAS" userId="768bfb95-c272-4014-8fa2-010c15306053" providerId="ADAL" clId="{E18DAD13-4A53-44B8-9F3F-46E167733190}" dt="2026-02-02T18:50:37.266" v="319" actId="20577"/>
          <ac:spMkLst>
            <pc:docMk/>
            <pc:sldMk cId="3721727457" sldId="266"/>
            <ac:spMk id="2" creationId="{F0EB7C85-BFFF-267E-E83B-B86AB6F011EF}"/>
          </ac:spMkLst>
        </pc:spChg>
        <pc:spChg chg="mod">
          <ac:chgData name="Harris, Wyatt J Lt Col USAF USAFA DF/DFAS" userId="768bfb95-c272-4014-8fa2-010c15306053" providerId="ADAL" clId="{E18DAD13-4A53-44B8-9F3F-46E167733190}" dt="2026-02-02T18:51:25.784" v="335" actId="20577"/>
          <ac:spMkLst>
            <pc:docMk/>
            <pc:sldMk cId="3721727457" sldId="266"/>
            <ac:spMk id="7" creationId="{B5961EBD-2954-A5BD-B646-5B5771D01F9D}"/>
          </ac:spMkLst>
        </pc:spChg>
      </pc:sldChg>
      <pc:sldChg chg="modSp mod">
        <pc:chgData name="Harris, Wyatt J Lt Col USAF USAFA DF/DFAS" userId="768bfb95-c272-4014-8fa2-010c15306053" providerId="ADAL" clId="{E18DAD13-4A53-44B8-9F3F-46E167733190}" dt="2026-02-02T18:51:51.256" v="343" actId="20577"/>
        <pc:sldMkLst>
          <pc:docMk/>
          <pc:sldMk cId="1787220716" sldId="267"/>
        </pc:sldMkLst>
        <pc:spChg chg="mod">
          <ac:chgData name="Harris, Wyatt J Lt Col USAF USAFA DF/DFAS" userId="768bfb95-c272-4014-8fa2-010c15306053" providerId="ADAL" clId="{E18DAD13-4A53-44B8-9F3F-46E167733190}" dt="2026-02-02T18:51:51.256" v="343" actId="20577"/>
          <ac:spMkLst>
            <pc:docMk/>
            <pc:sldMk cId="1787220716" sldId="267"/>
            <ac:spMk id="6" creationId="{896CD0DF-4BE7-3096-22E9-BC3EB4478572}"/>
          </ac:spMkLst>
        </pc:spChg>
      </pc:sldChg>
      <pc:sldChg chg="modSp mod">
        <pc:chgData name="Harris, Wyatt J Lt Col USAF USAFA DF/DFAS" userId="768bfb95-c272-4014-8fa2-010c15306053" providerId="ADAL" clId="{E18DAD13-4A53-44B8-9F3F-46E167733190}" dt="2026-02-02T18:51:53.752" v="344" actId="20577"/>
        <pc:sldMkLst>
          <pc:docMk/>
          <pc:sldMk cId="966145074" sldId="268"/>
        </pc:sldMkLst>
        <pc:spChg chg="mod">
          <ac:chgData name="Harris, Wyatt J Lt Col USAF USAFA DF/DFAS" userId="768bfb95-c272-4014-8fa2-010c15306053" providerId="ADAL" clId="{E18DAD13-4A53-44B8-9F3F-46E167733190}" dt="2026-02-02T18:51:53.752" v="344" actId="20577"/>
          <ac:spMkLst>
            <pc:docMk/>
            <pc:sldMk cId="966145074" sldId="268"/>
            <ac:spMk id="6" creationId="{B0737D59-2F9C-05CD-5A9B-704AA6AE77FB}"/>
          </ac:spMkLst>
        </pc:spChg>
      </pc:sldChg>
      <pc:sldChg chg="addSp delSp modSp mod modShow">
        <pc:chgData name="Harris, Wyatt J Lt Col USAF USAFA DF/DFAS" userId="768bfb95-c272-4014-8fa2-010c15306053" providerId="ADAL" clId="{E18DAD13-4A53-44B8-9F3F-46E167733190}" dt="2026-02-05T20:51:55.690" v="424" actId="1076"/>
        <pc:sldMkLst>
          <pc:docMk/>
          <pc:sldMk cId="77318418" sldId="269"/>
        </pc:sldMkLst>
        <pc:spChg chg="mod">
          <ac:chgData name="Harris, Wyatt J Lt Col USAF USAFA DF/DFAS" userId="768bfb95-c272-4014-8fa2-010c15306053" providerId="ADAL" clId="{E18DAD13-4A53-44B8-9F3F-46E167733190}" dt="2026-02-02T18:51:37.173" v="337" actId="20577"/>
          <ac:spMkLst>
            <pc:docMk/>
            <pc:sldMk cId="77318418" sldId="269"/>
            <ac:spMk id="11" creationId="{BE99F954-091C-E41B-56D3-C0884AF43E08}"/>
          </ac:spMkLst>
        </pc:spChg>
        <pc:spChg chg="add mod">
          <ac:chgData name="Harris, Wyatt J Lt Col USAF USAFA DF/DFAS" userId="768bfb95-c272-4014-8fa2-010c15306053" providerId="ADAL" clId="{E18DAD13-4A53-44B8-9F3F-46E167733190}" dt="2026-02-05T20:51:55.690" v="424" actId="1076"/>
          <ac:spMkLst>
            <pc:docMk/>
            <pc:sldMk cId="77318418" sldId="269"/>
            <ac:spMk id="14" creationId="{E943800B-DEDF-A69B-57D9-A5D317417C0E}"/>
          </ac:spMkLst>
        </pc:spChg>
      </pc:sldChg>
      <pc:sldChg chg="modSp mod">
        <pc:chgData name="Harris, Wyatt J Lt Col USAF USAFA DF/DFAS" userId="768bfb95-c272-4014-8fa2-010c15306053" providerId="ADAL" clId="{E18DAD13-4A53-44B8-9F3F-46E167733190}" dt="2026-02-02T18:51:46.258" v="341" actId="20577"/>
        <pc:sldMkLst>
          <pc:docMk/>
          <pc:sldMk cId="787047744" sldId="270"/>
        </pc:sldMkLst>
        <pc:spChg chg="mod">
          <ac:chgData name="Harris, Wyatt J Lt Col USAF USAFA DF/DFAS" userId="768bfb95-c272-4014-8fa2-010c15306053" providerId="ADAL" clId="{E18DAD13-4A53-44B8-9F3F-46E167733190}" dt="2026-02-02T18:51:46.258" v="341" actId="20577"/>
          <ac:spMkLst>
            <pc:docMk/>
            <pc:sldMk cId="787047744" sldId="270"/>
            <ac:spMk id="22" creationId="{197CFD52-4D16-3F30-167E-D6437587E773}"/>
          </ac:spMkLst>
        </pc:spChg>
      </pc:sldChg>
      <pc:sldChg chg="modSp mod">
        <pc:chgData name="Harris, Wyatt J Lt Col USAF USAFA DF/DFAS" userId="768bfb95-c272-4014-8fa2-010c15306053" providerId="ADAL" clId="{E18DAD13-4A53-44B8-9F3F-46E167733190}" dt="2026-02-02T18:51:48.485" v="342" actId="20577"/>
        <pc:sldMkLst>
          <pc:docMk/>
          <pc:sldMk cId="2916955559" sldId="271"/>
        </pc:sldMkLst>
        <pc:spChg chg="mod">
          <ac:chgData name="Harris, Wyatt J Lt Col USAF USAFA DF/DFAS" userId="768bfb95-c272-4014-8fa2-010c15306053" providerId="ADAL" clId="{E18DAD13-4A53-44B8-9F3F-46E167733190}" dt="2026-02-02T18:51:48.485" v="342" actId="20577"/>
          <ac:spMkLst>
            <pc:docMk/>
            <pc:sldMk cId="2916955559" sldId="271"/>
            <ac:spMk id="6" creationId="{D59DD7BC-85A3-7BAC-05A2-927AB26C2588}"/>
          </ac:spMkLst>
        </pc:spChg>
      </pc:sldChg>
      <pc:sldChg chg="modSp mod modShow">
        <pc:chgData name="Harris, Wyatt J Lt Col USAF USAFA DF/DFAS" userId="768bfb95-c272-4014-8fa2-010c15306053" providerId="ADAL" clId="{E18DAD13-4A53-44B8-9F3F-46E167733190}" dt="2026-02-02T18:51:32.626" v="336" actId="20577"/>
        <pc:sldMkLst>
          <pc:docMk/>
          <pc:sldMk cId="1728668912" sldId="273"/>
        </pc:sldMkLst>
        <pc:spChg chg="mod">
          <ac:chgData name="Harris, Wyatt J Lt Col USAF USAFA DF/DFAS" userId="768bfb95-c272-4014-8fa2-010c15306053" providerId="ADAL" clId="{E18DAD13-4A53-44B8-9F3F-46E167733190}" dt="2026-02-02T18:51:32.626" v="336" actId="20577"/>
          <ac:spMkLst>
            <pc:docMk/>
            <pc:sldMk cId="1728668912" sldId="273"/>
            <ac:spMk id="8" creationId="{F891C764-FBD4-E536-B830-E7D43FBA4A25}"/>
          </ac:spMkLst>
        </pc:spChg>
      </pc:sldChg>
      <pc:sldChg chg="modSp mod">
        <pc:chgData name="Harris, Wyatt J Lt Col USAF USAFA DF/DFAS" userId="768bfb95-c272-4014-8fa2-010c15306053" providerId="ADAL" clId="{E18DAD13-4A53-44B8-9F3F-46E167733190}" dt="2026-02-02T18:51:59.604" v="346" actId="20577"/>
        <pc:sldMkLst>
          <pc:docMk/>
          <pc:sldMk cId="1727072757" sldId="277"/>
        </pc:sldMkLst>
        <pc:spChg chg="mod">
          <ac:chgData name="Harris, Wyatt J Lt Col USAF USAFA DF/DFAS" userId="768bfb95-c272-4014-8fa2-010c15306053" providerId="ADAL" clId="{E18DAD13-4A53-44B8-9F3F-46E167733190}" dt="2026-02-02T18:51:59.604" v="346" actId="20577"/>
          <ac:spMkLst>
            <pc:docMk/>
            <pc:sldMk cId="1727072757" sldId="277"/>
            <ac:spMk id="3" creationId="{F39E0281-BD4D-B595-A8F6-54F44780853A}"/>
          </ac:spMkLst>
        </pc:spChg>
      </pc:sldChg>
      <pc:sldChg chg="addSp delSp modSp mod">
        <pc:chgData name="Harris, Wyatt J Lt Col USAF USAFA DF/DFAS" userId="768bfb95-c272-4014-8fa2-010c15306053" providerId="ADAL" clId="{E18DAD13-4A53-44B8-9F3F-46E167733190}" dt="2026-02-03T15:56:24.375" v="417" actId="27636"/>
        <pc:sldMkLst>
          <pc:docMk/>
          <pc:sldMk cId="503228617" sldId="278"/>
        </pc:sldMkLst>
        <pc:spChg chg="mod">
          <ac:chgData name="Harris, Wyatt J Lt Col USAF USAFA DF/DFAS" userId="768bfb95-c272-4014-8fa2-010c15306053" providerId="ADAL" clId="{E18DAD13-4A53-44B8-9F3F-46E167733190}" dt="2026-02-03T15:56:24.375" v="417" actId="27636"/>
          <ac:spMkLst>
            <pc:docMk/>
            <pc:sldMk cId="503228617" sldId="278"/>
            <ac:spMk id="8" creationId="{A910AD32-2B25-5837-476F-0852FC75803A}"/>
          </ac:spMkLst>
        </pc:spChg>
        <pc:spChg chg="add mod">
          <ac:chgData name="Harris, Wyatt J Lt Col USAF USAFA DF/DFAS" userId="768bfb95-c272-4014-8fa2-010c15306053" providerId="ADAL" clId="{E18DAD13-4A53-44B8-9F3F-46E167733190}" dt="2026-02-03T15:55:48.680" v="403" actId="14100"/>
          <ac:spMkLst>
            <pc:docMk/>
            <pc:sldMk cId="503228617" sldId="278"/>
            <ac:spMk id="11" creationId="{0E155E65-3B38-0664-4D28-E690757D1648}"/>
          </ac:spMkLst>
        </pc:spChg>
        <pc:spChg chg="mod">
          <ac:chgData name="Harris, Wyatt J Lt Col USAF USAFA DF/DFAS" userId="768bfb95-c272-4014-8fa2-010c15306053" providerId="ADAL" clId="{E18DAD13-4A53-44B8-9F3F-46E167733190}" dt="2026-02-02T18:51:39.385" v="338" actId="20577"/>
          <ac:spMkLst>
            <pc:docMk/>
            <pc:sldMk cId="503228617" sldId="278"/>
            <ac:spMk id="30" creationId="{67603A38-2CB7-3B6A-17E7-A53A544468B3}"/>
          </ac:spMkLst>
        </pc:spChg>
        <pc:grpChg chg="mod">
          <ac:chgData name="Harris, Wyatt J Lt Col USAF USAFA DF/DFAS" userId="768bfb95-c272-4014-8fa2-010c15306053" providerId="ADAL" clId="{E18DAD13-4A53-44B8-9F3F-46E167733190}" dt="2026-02-03T15:56:21.499" v="415" actId="1076"/>
          <ac:grpSpMkLst>
            <pc:docMk/>
            <pc:sldMk cId="503228617" sldId="278"/>
            <ac:grpSpMk id="20" creationId="{F89D63C1-DDD6-D163-3982-3B2CA6C1972E}"/>
          </ac:grpSpMkLst>
        </pc:grpChg>
        <pc:grpChg chg="mod">
          <ac:chgData name="Harris, Wyatt J Lt Col USAF USAFA DF/DFAS" userId="768bfb95-c272-4014-8fa2-010c15306053" providerId="ADAL" clId="{E18DAD13-4A53-44B8-9F3F-46E167733190}" dt="2026-02-03T15:56:09.572" v="405" actId="1076"/>
          <ac:grpSpMkLst>
            <pc:docMk/>
            <pc:sldMk cId="503228617" sldId="278"/>
            <ac:grpSpMk id="21" creationId="{3E609DEA-3CA8-5281-D72C-62909E856D7E}"/>
          </ac:grpSpMkLst>
        </pc:grpChg>
        <pc:grpChg chg="mod">
          <ac:chgData name="Harris, Wyatt J Lt Col USAF USAFA DF/DFAS" userId="768bfb95-c272-4014-8fa2-010c15306053" providerId="ADAL" clId="{E18DAD13-4A53-44B8-9F3F-46E167733190}" dt="2026-02-03T15:56:12.968" v="407" actId="1076"/>
          <ac:grpSpMkLst>
            <pc:docMk/>
            <pc:sldMk cId="503228617" sldId="278"/>
            <ac:grpSpMk id="25" creationId="{4DF8BCA9-D94E-DC7D-3181-CFBF7A3F088A}"/>
          </ac:grpSpMkLst>
        </pc:grpChg>
        <pc:grpChg chg="mod">
          <ac:chgData name="Harris, Wyatt J Lt Col USAF USAFA DF/DFAS" userId="768bfb95-c272-4014-8fa2-010c15306053" providerId="ADAL" clId="{E18DAD13-4A53-44B8-9F3F-46E167733190}" dt="2026-02-03T15:56:11.219" v="406" actId="1076"/>
          <ac:grpSpMkLst>
            <pc:docMk/>
            <pc:sldMk cId="503228617" sldId="278"/>
            <ac:grpSpMk id="29" creationId="{86A1791E-6D70-B95D-2958-7ECC56037B5B}"/>
          </ac:grpSpMkLst>
        </pc:grpChg>
        <pc:picChg chg="add mod modCrop">
          <ac:chgData name="Harris, Wyatt J Lt Col USAF USAFA DF/DFAS" userId="768bfb95-c272-4014-8fa2-010c15306053" providerId="ADAL" clId="{E18DAD13-4A53-44B8-9F3F-46E167733190}" dt="2026-02-03T15:55:38.169" v="398" actId="1076"/>
          <ac:picMkLst>
            <pc:docMk/>
            <pc:sldMk cId="503228617" sldId="278"/>
            <ac:picMk id="6" creationId="{F77CA697-D011-D0C1-548D-E38E8FF78E1E}"/>
          </ac:picMkLst>
        </pc:picChg>
        <pc:picChg chg="add mod">
          <ac:chgData name="Harris, Wyatt J Lt Col USAF USAFA DF/DFAS" userId="768bfb95-c272-4014-8fa2-010c15306053" providerId="ADAL" clId="{E18DAD13-4A53-44B8-9F3F-46E167733190}" dt="2026-02-03T15:55:39.418" v="399" actId="1076"/>
          <ac:picMkLst>
            <pc:docMk/>
            <pc:sldMk cId="503228617" sldId="278"/>
            <ac:picMk id="15" creationId="{7A942DA4-01B5-79FE-25EB-5C67A773C6F7}"/>
          </ac:picMkLst>
        </pc:picChg>
      </pc:sldChg>
      <pc:sldChg chg="modSp mod">
        <pc:chgData name="Harris, Wyatt J Lt Col USAF USAFA DF/DFAS" userId="768bfb95-c272-4014-8fa2-010c15306053" providerId="ADAL" clId="{E18DAD13-4A53-44B8-9F3F-46E167733190}" dt="2026-02-02T18:51:14.020" v="330" actId="207"/>
        <pc:sldMkLst>
          <pc:docMk/>
          <pc:sldMk cId="3118547620" sldId="280"/>
        </pc:sldMkLst>
        <pc:spChg chg="mod">
          <ac:chgData name="Harris, Wyatt J Lt Col USAF USAFA DF/DFAS" userId="768bfb95-c272-4014-8fa2-010c15306053" providerId="ADAL" clId="{E18DAD13-4A53-44B8-9F3F-46E167733190}" dt="2026-02-02T18:50:49.620" v="320" actId="20577"/>
          <ac:spMkLst>
            <pc:docMk/>
            <pc:sldMk cId="3118547620" sldId="280"/>
            <ac:spMk id="2" creationId="{7B1529A4-208E-C64D-058F-6D6B9467DB4C}"/>
          </ac:spMkLst>
        </pc:spChg>
        <pc:spChg chg="mod">
          <ac:chgData name="Harris, Wyatt J Lt Col USAF USAFA DF/DFAS" userId="768bfb95-c272-4014-8fa2-010c15306053" providerId="ADAL" clId="{E18DAD13-4A53-44B8-9F3F-46E167733190}" dt="2026-02-02T18:51:14.020" v="330" actId="207"/>
          <ac:spMkLst>
            <pc:docMk/>
            <pc:sldMk cId="3118547620" sldId="280"/>
            <ac:spMk id="7" creationId="{FD611763-4E8E-2C1A-2B65-40192F601D64}"/>
          </ac:spMkLst>
        </pc:spChg>
      </pc:sldChg>
      <pc:sldChg chg="modSp mod">
        <pc:chgData name="Harris, Wyatt J Lt Col USAF USAFA DF/DFAS" userId="768bfb95-c272-4014-8fa2-010c15306053" providerId="ADAL" clId="{E18DAD13-4A53-44B8-9F3F-46E167733190}" dt="2026-02-05T20:52:49.916" v="468" actId="20577"/>
        <pc:sldMkLst>
          <pc:docMk/>
          <pc:sldMk cId="192777807" sldId="281"/>
        </pc:sldMkLst>
        <pc:spChg chg="mod">
          <ac:chgData name="Harris, Wyatt J Lt Col USAF USAFA DF/DFAS" userId="768bfb95-c272-4014-8fa2-010c15306053" providerId="ADAL" clId="{E18DAD13-4A53-44B8-9F3F-46E167733190}" dt="2026-02-02T18:50:54.594" v="321" actId="20577"/>
          <ac:spMkLst>
            <pc:docMk/>
            <pc:sldMk cId="192777807" sldId="281"/>
            <ac:spMk id="2" creationId="{01B7DA04-4B9F-16CA-0C25-73762E003116}"/>
          </ac:spMkLst>
        </pc:spChg>
        <pc:spChg chg="mod">
          <ac:chgData name="Harris, Wyatt J Lt Col USAF USAFA DF/DFAS" userId="768bfb95-c272-4014-8fa2-010c15306053" providerId="ADAL" clId="{E18DAD13-4A53-44B8-9F3F-46E167733190}" dt="2026-02-05T20:52:49.916" v="468" actId="20577"/>
          <ac:spMkLst>
            <pc:docMk/>
            <pc:sldMk cId="192777807" sldId="281"/>
            <ac:spMk id="3" creationId="{D028BCD5-A9DB-0358-4037-7B6E4E3AEF89}"/>
          </ac:spMkLst>
        </pc:spChg>
        <pc:spChg chg="mod">
          <ac:chgData name="Harris, Wyatt J Lt Col USAF USAFA DF/DFAS" userId="768bfb95-c272-4014-8fa2-010c15306053" providerId="ADAL" clId="{E18DAD13-4A53-44B8-9F3F-46E167733190}" dt="2026-02-02T18:51:04.742" v="325" actId="113"/>
          <ac:spMkLst>
            <pc:docMk/>
            <pc:sldMk cId="192777807" sldId="281"/>
            <ac:spMk id="6" creationId="{FAB2A503-E4C4-E1B2-FB62-FDD2B9AB2E26}"/>
          </ac:spMkLst>
        </pc:spChg>
      </pc:sldChg>
    </pc:docChg>
  </pc:docChgLst>
  <pc:docChgLst>
    <pc:chgData name="Boyer, Jamee M Capt USAF USAFA DF/DFAS" userId="S::jamee.boyer@afacademy.af.edu::149f54e3-d5e6-4746-85bc-cd1b24504573" providerId="AD" clId="Web-{11A937FB-3148-6488-F368-5846D4886787}"/>
    <pc:docChg chg="modSld">
      <pc:chgData name="Boyer, Jamee M Capt USAF USAFA DF/DFAS" userId="S::jamee.boyer@afacademy.af.edu::149f54e3-d5e6-4746-85bc-cd1b24504573" providerId="AD" clId="Web-{11A937FB-3148-6488-F368-5846D4886787}" dt="2026-02-28T21:21:31.892" v="0" actId="1076"/>
      <pc:docMkLst>
        <pc:docMk/>
      </pc:docMkLst>
      <pc:sldChg chg="modSp">
        <pc:chgData name="Boyer, Jamee M Capt USAF USAFA DF/DFAS" userId="S::jamee.boyer@afacademy.af.edu::149f54e3-d5e6-4746-85bc-cd1b24504573" providerId="AD" clId="Web-{11A937FB-3148-6488-F368-5846D4886787}" dt="2026-02-28T21:21:31.892" v="0" actId="1076"/>
        <pc:sldMkLst>
          <pc:docMk/>
          <pc:sldMk cId="1550499404" sldId="262"/>
        </pc:sldMkLst>
        <pc:spChg chg="mod">
          <ac:chgData name="Boyer, Jamee M Capt USAF USAFA DF/DFAS" userId="S::jamee.boyer@afacademy.af.edu::149f54e3-d5e6-4746-85bc-cd1b24504573" providerId="AD" clId="Web-{11A937FB-3148-6488-F368-5846D4886787}" dt="2026-02-28T21:21:31.892" v="0" actId="1076"/>
          <ac:spMkLst>
            <pc:docMk/>
            <pc:sldMk cId="1550499404" sldId="262"/>
            <ac:spMk id="3" creationId="{0ABA0AAD-789C-58A7-3B43-BCA30043D76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22" tIns="46411" rIns="92822" bIns="46411"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22" tIns="46411" rIns="92822" bIns="46411" rtlCol="0"/>
          <a:lstStyle>
            <a:lvl1pPr algn="r">
              <a:defRPr sz="1200"/>
            </a:lvl1pPr>
          </a:lstStyle>
          <a:p>
            <a:fld id="{94D2EC29-5E9A-49E8-BC12-73FDF6305747}" type="datetimeFigureOut">
              <a:rPr lang="en-US" smtClean="0"/>
              <a:t>4/28/2026</a:t>
            </a:fld>
            <a:endParaRPr lang="en-US"/>
          </a:p>
        </p:txBody>
      </p:sp>
      <p:sp>
        <p:nvSpPr>
          <p:cNvPr id="4" name="Slide Image Placeholder 3"/>
          <p:cNvSpPr>
            <a:spLocks noGrp="1" noRot="1" noChangeAspect="1"/>
          </p:cNvSpPr>
          <p:nvPr>
            <p:ph type="sldImg" idx="2"/>
          </p:nvPr>
        </p:nvSpPr>
        <p:spPr>
          <a:xfrm>
            <a:off x="1427163" y="1154113"/>
            <a:ext cx="4156075" cy="3117850"/>
          </a:xfrm>
          <a:prstGeom prst="rect">
            <a:avLst/>
          </a:prstGeom>
          <a:noFill/>
          <a:ln w="12700">
            <a:solidFill>
              <a:prstClr val="black"/>
            </a:solidFill>
          </a:ln>
        </p:spPr>
        <p:txBody>
          <a:bodyPr vert="horz" lIns="92822" tIns="46411" rIns="92822" bIns="46411"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22" tIns="46411" rIns="92822" bIns="4641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22" tIns="46411" rIns="92822" bIns="46411"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22" tIns="46411" rIns="92822" bIns="46411"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overleaf.com/read/vzjvwdkjhvrh#5be3f8"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104956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12</a:t>
            </a:fld>
            <a:endParaRPr lang="en-US"/>
          </a:p>
        </p:txBody>
      </p:sp>
    </p:spTree>
    <p:extLst>
      <p:ext uri="{BB962C8B-B14F-4D97-AF65-F5344CB8AC3E}">
        <p14:creationId xmlns:p14="http://schemas.microsoft.com/office/powerpoint/2010/main" val="1967807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14</a:t>
            </a:fld>
            <a:endParaRPr lang="en-US"/>
          </a:p>
        </p:txBody>
      </p:sp>
    </p:spTree>
    <p:extLst>
      <p:ext uri="{BB962C8B-B14F-4D97-AF65-F5344CB8AC3E}">
        <p14:creationId xmlns:p14="http://schemas.microsoft.com/office/powerpoint/2010/main" val="2579452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16</a:t>
            </a:fld>
            <a:endParaRPr lang="en-US"/>
          </a:p>
        </p:txBody>
      </p:sp>
    </p:spTree>
    <p:extLst>
      <p:ext uri="{BB962C8B-B14F-4D97-AF65-F5344CB8AC3E}">
        <p14:creationId xmlns:p14="http://schemas.microsoft.com/office/powerpoint/2010/main" val="1825601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FF66B-61B8-2EBA-2218-7BB2E53FE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74086-4013-2D99-2C3C-35FFE6F70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ADDFD-E4A3-DE11-A398-C7815D85C3D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626F81-B048-5261-A181-47A799A44827}"/>
              </a:ext>
            </a:extLst>
          </p:cNvPr>
          <p:cNvSpPr>
            <a:spLocks noGrp="1"/>
          </p:cNvSpPr>
          <p:nvPr>
            <p:ph type="sldNum" sz="quarter" idx="5"/>
          </p:nvPr>
        </p:nvSpPr>
        <p:spPr/>
        <p:txBody>
          <a:bodyPr/>
          <a:lstStyle/>
          <a:p>
            <a:fld id="{9EB4C982-825B-414E-ABB9-79AB251390A5}" type="slidenum">
              <a:rPr lang="en-US" smtClean="0"/>
              <a:t>17</a:t>
            </a:fld>
            <a:endParaRPr lang="en-US"/>
          </a:p>
        </p:txBody>
      </p:sp>
    </p:spTree>
    <p:extLst>
      <p:ext uri="{BB962C8B-B14F-4D97-AF65-F5344CB8AC3E}">
        <p14:creationId xmlns:p14="http://schemas.microsoft.com/office/powerpoint/2010/main" val="2276832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13">
              <a:defRPr/>
            </a:pPr>
            <a:r>
              <a:rPr lang="en-US"/>
              <a:t>Old Prelab Report Guidance: </a:t>
            </a:r>
            <a:r>
              <a:rPr lang="en-US">
                <a:hlinkClick r:id="rId3"/>
              </a:rPr>
              <a:t>https://www.overleaf.com/read/vzjvwdkjhvrh#5be3f8</a:t>
            </a:r>
            <a:r>
              <a:rPr lang="en-US"/>
              <a:t> </a:t>
            </a:r>
            <a:r>
              <a:rPr lang="en-US">
                <a:sym typeface="Wingdings" panose="05000000000000000000" pitchFamily="2" charset="2"/>
              </a:rPr>
              <a:t> </a:t>
            </a:r>
            <a:r>
              <a:rPr lang="en-US"/>
              <a:t>DEPRECATED (DO NOT USE, FOR INSTRUCTOR REFERENCE ONLY)</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20</a:t>
            </a:fld>
            <a:endParaRPr lang="en-US"/>
          </a:p>
        </p:txBody>
      </p:sp>
    </p:spTree>
    <p:extLst>
      <p:ext uri="{BB962C8B-B14F-4D97-AF65-F5344CB8AC3E}">
        <p14:creationId xmlns:p14="http://schemas.microsoft.com/office/powerpoint/2010/main" val="1842558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a:t>INA219 code reference:</a:t>
                </a:r>
              </a:p>
              <a:p>
                <a:endParaRPr lang="en-US"/>
              </a:p>
              <a:p>
                <a:r>
                  <a:rPr lang="en-US"/>
                  <a:t>shuntvoltage = ina219.getShuntVoltage_mV(); </a:t>
                </a:r>
              </a:p>
              <a:p>
                <a:r>
                  <a:rPr lang="en-US"/>
                  <a:t>busvoltage = ina219.getBusVoltage_V(); </a:t>
                </a:r>
              </a:p>
              <a:p>
                <a:r>
                  <a:rPr lang="en-US"/>
                  <a:t>current_mA = ina219.getCurrent_mA(); </a:t>
                </a:r>
              </a:p>
              <a:p>
                <a:r>
                  <a:rPr lang="en-US"/>
                  <a:t>loadvoltage = busvoltage + (shuntvoltage / 1000);</a:t>
                </a:r>
                <a:endParaRPr lang="en-US" b="1"/>
              </a:p>
              <a:p>
                <a:endParaRPr lang="en-US" b="1"/>
              </a:p>
              <a:p>
                <a:r>
                  <a:rPr lang="en-US" b="1"/>
                  <a:t>What each variable means</a:t>
                </a:r>
              </a:p>
              <a:p>
                <a:r>
                  <a:rPr lang="en-US" b="1"/>
                  <a:t>shuntvoltage</a:t>
                </a:r>
                <a:r>
                  <a:rPr lang="en-US"/>
                  <a:t> → the voltage drop (in mV) across the </a:t>
                </a:r>
                <a:r>
                  <a:rPr lang="en-US" b="1"/>
                  <a:t>0.1 </a:t>
                </a:r>
                <a:r>
                  <a:rPr lang="el-GR" b="1"/>
                  <a:t>Ω </a:t>
                </a:r>
                <a:r>
                  <a:rPr lang="en-US" b="1"/>
                  <a:t>sense resistor</a:t>
                </a:r>
                <a:r>
                  <a:rPr lang="en-US"/>
                  <a:t>.</a:t>
                </a:r>
              </a:p>
              <a:p>
                <a:pPr lvl="1"/>
                <a:r>
                  <a:rPr lang="en-US"/>
                  <a:t>Ohm’s law: </a:t>
                </a:r>
                <a14:m>
                  <m:oMath xmlns:m="http://schemas.openxmlformats.org/officeDocument/2006/math">
                    <m:r>
                      <a:rPr lang="en-US" i="1">
                        <a:latin typeface="Cambria Math" panose="02040503050406030204" pitchFamily="18" charset="0"/>
                      </a:rPr>
                      <m:t>𝑉</m:t>
                    </m:r>
                    <m:r>
                      <a:rPr lang="en-US">
                        <a:latin typeface="Cambria Math" panose="02040503050406030204" pitchFamily="18" charset="0"/>
                      </a:rPr>
                      <m:t>=</m:t>
                    </m:r>
                    <m:r>
                      <a:rPr lang="en-US" i="1">
                        <a:latin typeface="Cambria Math" panose="02040503050406030204" pitchFamily="18" charset="0"/>
                      </a:rPr>
                      <m:t>𝐼</m:t>
                    </m:r>
                    <m:r>
                      <a:rPr lang="en-US">
                        <a:latin typeface="Cambria Math" panose="02040503050406030204" pitchFamily="18" charset="0"/>
                      </a:rPr>
                      <m:t>×</m:t>
                    </m:r>
                    <m:r>
                      <a:rPr lang="en-US" i="1">
                        <a:latin typeface="Cambria Math" panose="02040503050406030204" pitchFamily="18" charset="0"/>
                      </a:rPr>
                      <m:t>𝑅</m:t>
                    </m:r>
                  </m:oMath>
                </a14:m>
                <a:r>
                  <a:rPr lang="en-US"/>
                  <a:t>.</a:t>
                </a:r>
              </a:p>
              <a:p>
                <a:pPr lvl="1"/>
                <a:r>
                  <a:rPr lang="en-US"/>
                  <a:t>If current is flowing, this will be some small positive or negative value depending on current direction.</a:t>
                </a:r>
              </a:p>
              <a:p>
                <a:r>
                  <a:rPr lang="en-US" b="1"/>
                  <a:t>busvoltage</a:t>
                </a:r>
                <a:r>
                  <a:rPr lang="en-US"/>
                  <a:t> → the voltage that the INA219 measures </a:t>
                </a:r>
                <a:r>
                  <a:rPr lang="en-US" b="1"/>
                  <a:t>at the VIN– pin</a:t>
                </a:r>
                <a:r>
                  <a:rPr lang="en-US"/>
                  <a:t>, i.e. </a:t>
                </a:r>
                <a:r>
                  <a:rPr lang="en-US" b="1"/>
                  <a:t>after the shunt resistor</a:t>
                </a:r>
                <a:r>
                  <a:rPr lang="en-US"/>
                  <a:t>.</a:t>
                </a:r>
              </a:p>
              <a:p>
                <a:pPr lvl="1"/>
                <a:r>
                  <a:rPr lang="en-US"/>
                  <a:t>This is the "downstream" voltage that the load actually sees.</a:t>
                </a:r>
              </a:p>
              <a:p>
                <a:pPr lvl="1"/>
                <a:r>
                  <a:rPr lang="en-US"/>
                  <a:t>Range: 0–26 V.</a:t>
                </a:r>
              </a:p>
              <a:p>
                <a:r>
                  <a:rPr lang="en-US" b="1"/>
                  <a:t>loadvoltage</a:t>
                </a:r>
                <a:r>
                  <a:rPr lang="en-US"/>
                  <a:t> → the </a:t>
                </a:r>
                <a:r>
                  <a:rPr lang="en-US" i="1"/>
                  <a:t>calculated</a:t>
                </a:r>
                <a:r>
                  <a:rPr lang="en-US"/>
                  <a:t> supply voltage going </a:t>
                </a:r>
                <a:r>
                  <a:rPr lang="en-US" b="1"/>
                  <a:t>into</a:t>
                </a:r>
                <a:r>
                  <a:rPr lang="en-US"/>
                  <a:t> the load, i.e. before the shunt resistor.</a:t>
                </a:r>
              </a:p>
              <a:p>
                <a:pPr lvl="1"/>
                <a:r>
                  <a:rPr lang="en-US"/>
                  <a:t>Formula:</a:t>
                </a:r>
              </a:p>
              <a:p>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𝐿𝑂𝐴𝐷</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𝐵𝑈𝑆</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𝑆𝐻𝑈𝑁𝑇</m:t>
                          </m:r>
                        </m:sub>
                      </m:sSub>
                    </m:oMath>
                  </m:oMathPara>
                </a14:m>
                <a:endParaRPr lang="ar-AE"/>
              </a:p>
              <a:p>
                <a:pPr lvl="1"/>
                <a:r>
                  <a:rPr lang="en-US"/>
                  <a:t>Here, busvoltage is at the load side, and shuntvoltage is the drop across the resistor.</a:t>
                </a:r>
              </a:p>
              <a:p>
                <a:pPr lvl="1"/>
                <a:r>
                  <a:rPr lang="en-US"/>
                  <a:t>Dividing by 1000 just converts mV → V.</a:t>
                </a:r>
              </a:p>
              <a:p>
                <a:r>
                  <a:rPr lang="en-US" b="1"/>
                  <a:t>current_mA</a:t>
                </a:r>
                <a:r>
                  <a:rPr lang="en-US"/>
                  <a:t> → the INA219 calculates this by taking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𝑆𝐻𝑈𝑁𝑇</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𝑅</m:t>
                        </m:r>
                      </m:e>
                      <m:sub>
                        <m:r>
                          <a:rPr lang="ar-AE" i="1">
                            <a:latin typeface="Cambria Math" panose="02040503050406030204" pitchFamily="18" charset="0"/>
                          </a:rPr>
                          <m:t>𝑆𝐻𝑈𝑁𝑇</m:t>
                        </m:r>
                      </m:sub>
                    </m:sSub>
                  </m:oMath>
                </a14:m>
                <a:r>
                  <a:rPr lang="ar-AE"/>
                  <a:t>.</a:t>
                </a:r>
              </a:p>
              <a:p>
                <a:pPr lvl="1"/>
                <a:r>
                  <a:rPr lang="en-US"/>
                  <a:t>With the default 0.1 </a:t>
                </a:r>
                <a:r>
                  <a:rPr lang="el-GR"/>
                  <a:t>Ω </a:t>
                </a:r>
                <a:r>
                  <a:rPr lang="en-US"/>
                  <a:t>resistor:</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m:t>
                      </m:r>
                      <m:d>
                        <m:dPr>
                          <m:ctrlPr>
                            <a:rPr lang="ar-AE" i="1">
                              <a:latin typeface="Cambria Math" panose="02040503050406030204" pitchFamily="18" charset="0"/>
                            </a:rPr>
                          </m:ctrlPr>
                        </m:dPr>
                        <m:e>
                          <m:r>
                            <a:rPr lang="ar-AE" i="1">
                              <a:latin typeface="Cambria Math" panose="02040503050406030204" pitchFamily="18" charset="0"/>
                            </a:rPr>
                            <m:t>𝑚𝐴</m:t>
                          </m:r>
                        </m:e>
                      </m:d>
                      <m:r>
                        <a:rPr lang="ar-AE">
                          <a:latin typeface="Cambria Math" panose="02040503050406030204" pitchFamily="18" charset="0"/>
                        </a:rPr>
                        <m:t>=</m:t>
                      </m:r>
                      <m:f>
                        <m:fPr>
                          <m:ctrlPr>
                            <a:rPr lang="ar-AE" i="1">
                              <a:latin typeface="Cambria Math" panose="02040503050406030204" pitchFamily="18" charset="0"/>
                            </a:rPr>
                          </m:ctrlPr>
                        </m:fPr>
                        <m:num>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𝑆𝐻𝑈𝑁𝑇</m:t>
                              </m:r>
                            </m:sub>
                          </m:sSub>
                          <m:d>
                            <m:dPr>
                              <m:ctrlPr>
                                <a:rPr lang="ar-AE" i="1">
                                  <a:latin typeface="Cambria Math" panose="02040503050406030204" pitchFamily="18" charset="0"/>
                                </a:rPr>
                              </m:ctrlPr>
                            </m:dPr>
                            <m:e>
                              <m:r>
                                <a:rPr lang="ar-AE" i="1">
                                  <a:latin typeface="Cambria Math" panose="02040503050406030204" pitchFamily="18" charset="0"/>
                                </a:rPr>
                                <m:t>𝑚𝑉</m:t>
                              </m:r>
                            </m:e>
                          </m:d>
                        </m:num>
                        <m:den>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r>
                            <m:rPr>
                              <m:nor/>
                            </m:rPr>
                            <a:rPr lang="ar-AE" i="1"/>
                            <m:t> </m:t>
                          </m:r>
                          <m:r>
                            <m:rPr>
                              <m:sty m:val="p"/>
                            </m:rPr>
                            <a:rPr lang="el-GR">
                              <a:latin typeface="Cambria Math" panose="02040503050406030204" pitchFamily="18" charset="0"/>
                            </a:rPr>
                            <m:t>Ω</m:t>
                          </m:r>
                        </m:den>
                      </m:f>
                    </m:oMath>
                  </m:oMathPara>
                </a14:m>
                <a:endParaRPr lang="ar-AE" b="0"/>
              </a:p>
              <a:p>
                <a:br>
                  <a:rPr lang="ar-AE"/>
                </a:br>
                <a:endParaRPr lang="ar-AE"/>
              </a:p>
              <a:p>
                <a:r>
                  <a:rPr lang="en-US" b="1"/>
                  <a:t>Why compute loadvoltage?</a:t>
                </a:r>
              </a:p>
              <a:p>
                <a:r>
                  <a:rPr lang="en-US"/>
                  <a:t>If you only look at busvoltage, you’re seeing the </a:t>
                </a:r>
                <a:r>
                  <a:rPr lang="en-US" i="1"/>
                  <a:t>reduced</a:t>
                </a:r>
                <a:r>
                  <a:rPr lang="en-US"/>
                  <a:t> voltage after the shunt resistor.</a:t>
                </a:r>
                <a:br>
                  <a:rPr lang="en-US"/>
                </a:br>
                <a:r>
                  <a:rPr lang="en-US"/>
                  <a:t>But in most systems, you care about the </a:t>
                </a:r>
                <a:r>
                  <a:rPr lang="en-US" b="1"/>
                  <a:t>actual supply voltage</a:t>
                </a:r>
                <a:r>
                  <a:rPr lang="en-US"/>
                  <a:t> being applied to the load.</a:t>
                </a:r>
              </a:p>
              <a:p>
                <a:r>
                  <a:rPr lang="en-US"/>
                  <a:t>Example: Suppose you have a 12.00 V battery powering a 1 A load.</a:t>
                </a:r>
              </a:p>
              <a:p>
                <a:pPr lvl="1"/>
                <a:r>
                  <a:rPr lang="en-US"/>
                  <a:t>The 0.1 </a:t>
                </a:r>
                <a:r>
                  <a:rPr lang="el-GR"/>
                  <a:t>Ω </a:t>
                </a:r>
                <a:r>
                  <a:rPr lang="en-US"/>
                  <a:t>resistor drops </a:t>
                </a:r>
                <a14:m>
                  <m:oMath xmlns:m="http://schemas.openxmlformats.org/officeDocument/2006/math">
                    <m:r>
                      <a:rPr lang="en-US">
                        <a:latin typeface="Cambria Math" panose="02040503050406030204" pitchFamily="18" charset="0"/>
                      </a:rPr>
                      <m:t>0</m:t>
                    </m:r>
                    <m:r>
                      <a:rPr lang="en-US">
                        <a:latin typeface="Cambria Math" panose="02040503050406030204" pitchFamily="18" charset="0"/>
                      </a:rPr>
                      <m:t>.</m:t>
                    </m:r>
                    <m:r>
                      <a:rPr lang="en-US">
                        <a:latin typeface="Cambria Math" panose="02040503050406030204" pitchFamily="18" charset="0"/>
                      </a:rPr>
                      <m:t>1</m:t>
                    </m:r>
                    <m:r>
                      <m:rPr>
                        <m:nor/>
                      </m:rPr>
                      <a:rPr lang="en-US" i="1"/>
                      <m:t> </m:t>
                    </m:r>
                    <m:r>
                      <m:rPr>
                        <m:sty m:val="p"/>
                      </m:rPr>
                      <a:rPr lang="el-GR">
                        <a:latin typeface="Cambria Math" panose="02040503050406030204" pitchFamily="18" charset="0"/>
                      </a:rPr>
                      <m:t>Ω</m:t>
                    </m:r>
                    <m:r>
                      <a:rPr lang="el-GR">
                        <a:latin typeface="Cambria Math" panose="02040503050406030204" pitchFamily="18" charset="0"/>
                      </a:rPr>
                      <m:t>×</m:t>
                    </m:r>
                    <m:r>
                      <a:rPr lang="el-GR">
                        <a:latin typeface="Cambria Math" panose="02040503050406030204" pitchFamily="18" charset="0"/>
                      </a:rPr>
                      <m:t>1</m:t>
                    </m:r>
                    <m:r>
                      <m:rPr>
                        <m:nor/>
                      </m:rPr>
                      <a:rPr lang="el-GR" i="1"/>
                      <m:t> </m:t>
                    </m:r>
                    <m:r>
                      <a:rPr lang="el-GR" i="1">
                        <a:latin typeface="Cambria Math" panose="02040503050406030204" pitchFamily="18" charset="0"/>
                      </a:rPr>
                      <m:t>𝐴</m:t>
                    </m:r>
                    <m:r>
                      <a:rPr lang="el-GR">
                        <a:latin typeface="Cambria Math" panose="02040503050406030204" pitchFamily="18" charset="0"/>
                      </a:rPr>
                      <m:t>=</m:t>
                    </m:r>
                    <m:r>
                      <a:rPr lang="el-GR">
                        <a:latin typeface="Cambria Math" panose="02040503050406030204" pitchFamily="18" charset="0"/>
                      </a:rPr>
                      <m:t>0</m:t>
                    </m:r>
                    <m:r>
                      <a:rPr lang="el-GR">
                        <a:latin typeface="Cambria Math" panose="02040503050406030204" pitchFamily="18" charset="0"/>
                      </a:rPr>
                      <m:t>.</m:t>
                    </m:r>
                    <m:r>
                      <a:rPr lang="el-GR">
                        <a:latin typeface="Cambria Math" panose="02040503050406030204" pitchFamily="18" charset="0"/>
                      </a:rPr>
                      <m:t>1</m:t>
                    </m:r>
                    <m:r>
                      <m:rPr>
                        <m:nor/>
                      </m:rPr>
                      <a:rPr lang="el-GR" i="1"/>
                      <m:t> </m:t>
                    </m:r>
                    <m:r>
                      <a:rPr lang="el-GR" i="1">
                        <a:latin typeface="Cambria Math" panose="02040503050406030204" pitchFamily="18" charset="0"/>
                      </a:rPr>
                      <m:t>𝑉</m:t>
                    </m:r>
                  </m:oMath>
                </a14:m>
                <a:r>
                  <a:rPr lang="el-GR"/>
                  <a:t>.</a:t>
                </a:r>
              </a:p>
              <a:p>
                <a:pPr lvl="1"/>
                <a:r>
                  <a:rPr lang="en-US"/>
                  <a:t>INA219 measures:</a:t>
                </a:r>
              </a:p>
              <a:p>
                <a:pPr lvl="2"/>
                <a:r>
                  <a:rPr lang="en-US"/>
                  <a:t>shuntvoltage = 100 mV</a:t>
                </a:r>
              </a:p>
              <a:p>
                <a:pPr lvl="2"/>
                <a:r>
                  <a:rPr lang="en-US"/>
                  <a:t>busvoltage = 11.90 V</a:t>
                </a:r>
              </a:p>
              <a:p>
                <a:pPr lvl="2"/>
                <a:r>
                  <a:rPr lang="en-US"/>
                  <a:t>loadvoltage = 11.90 + 0.10 = </a:t>
                </a:r>
                <a:r>
                  <a:rPr lang="en-US" b="1"/>
                  <a:t>12.00 V</a:t>
                </a:r>
                <a:r>
                  <a:rPr lang="en-US"/>
                  <a:t> (the true battery output).</a:t>
                </a:r>
              </a:p>
              <a:p>
                <a:br>
                  <a:rPr lang="en-US"/>
                </a:br>
                <a:endParaRPr lang="en-US"/>
              </a:p>
              <a:p>
                <a:r>
                  <a:rPr lang="en-US" b="1"/>
                  <a:t>In short:</a:t>
                </a:r>
                <a:br>
                  <a:rPr lang="en-US"/>
                </a:br>
                <a:r>
                  <a:rPr lang="en-US"/>
                  <a:t>loadvoltage is the upstream supply voltage, reconstructed from the downstream bus voltage + the voltage drop across the shunt.</a:t>
                </a:r>
              </a:p>
              <a:p>
                <a:endParaRPr lang="en-US"/>
              </a:p>
              <a:p>
                <a:endParaRPr lang="en-US"/>
              </a:p>
              <a:p>
                <a:endParaRPr lang="en-US"/>
              </a:p>
            </p:txBody>
          </p:sp>
        </mc:Choice>
        <mc:Fallback xmlns="">
          <p:sp>
            <p:nvSpPr>
              <p:cNvPr id="3" name="Notes Placeholder 2"/>
              <p:cNvSpPr>
                <a:spLocks noGrp="1"/>
              </p:cNvSpPr>
              <p:nvPr>
                <p:ph type="body" idx="1"/>
              </p:nvPr>
            </p:nvSpPr>
            <p:spPr/>
            <p:txBody>
              <a:bodyPr/>
              <a:lstStyle/>
              <a:p>
                <a:r>
                  <a:rPr lang="en-US" b="1"/>
                  <a:t>INA219 code reference:</a:t>
                </a:r>
              </a:p>
              <a:p>
                <a:endParaRPr lang="en-US"/>
              </a:p>
              <a:p>
                <a:r>
                  <a:rPr lang="en-US"/>
                  <a:t>shuntvoltage = ina219.getShuntVoltage_mV(); </a:t>
                </a:r>
              </a:p>
              <a:p>
                <a:r>
                  <a:rPr lang="en-US"/>
                  <a:t>busvoltage = ina219.getBusVoltage_V(); </a:t>
                </a:r>
              </a:p>
              <a:p>
                <a:r>
                  <a:rPr lang="en-US"/>
                  <a:t>current_mA = ina219.getCurrent_mA(); </a:t>
                </a:r>
              </a:p>
              <a:p>
                <a:r>
                  <a:rPr lang="en-US"/>
                  <a:t>loadvoltage = busvoltage + (shuntvoltage / 1000);</a:t>
                </a:r>
                <a:endParaRPr lang="en-US" b="1"/>
              </a:p>
              <a:p>
                <a:endParaRPr lang="en-US" b="1"/>
              </a:p>
              <a:p>
                <a:r>
                  <a:rPr lang="en-US" b="1"/>
                  <a:t>What each variable means</a:t>
                </a:r>
              </a:p>
              <a:p>
                <a:r>
                  <a:rPr lang="en-US" sz="1200" b="1" kern="1200">
                    <a:solidFill>
                      <a:schemeClr val="tx1"/>
                    </a:solidFill>
                    <a:latin typeface="+mn-lt"/>
                    <a:ea typeface="+mn-ea"/>
                    <a:cs typeface="+mn-cs"/>
                  </a:rPr>
                  <a:t>shuntvoltage</a:t>
                </a:r>
                <a:r>
                  <a:rPr lang="en-US"/>
                  <a:t> → the voltage drop (in mV) across the </a:t>
                </a:r>
                <a:r>
                  <a:rPr lang="en-US" b="1"/>
                  <a:t>0.1 </a:t>
                </a:r>
                <a:r>
                  <a:rPr lang="el-GR" b="1"/>
                  <a:t>Ω </a:t>
                </a:r>
                <a:r>
                  <a:rPr lang="en-US" b="1"/>
                  <a:t>sense resistor</a:t>
                </a:r>
                <a:r>
                  <a:rPr lang="en-US"/>
                  <a:t>.</a:t>
                </a:r>
              </a:p>
              <a:p>
                <a:pPr lvl="1"/>
                <a:r>
                  <a:rPr lang="en-US"/>
                  <a:t>Ohm’s law: </a:t>
                </a:r>
                <a:r>
                  <a:rPr lang="en-US" sz="1200" i="0" kern="1200">
                    <a:solidFill>
                      <a:schemeClr val="tx1"/>
                    </a:solidFill>
                    <a:latin typeface="Cambria Math" panose="02040503050406030204" pitchFamily="18" charset="0"/>
                    <a:ea typeface="+mn-ea"/>
                    <a:cs typeface="+mn-cs"/>
                  </a:rPr>
                  <a:t>𝑉=𝐼×𝑅</a:t>
                </a:r>
                <a:r>
                  <a:rPr lang="en-US"/>
                  <a:t>.</a:t>
                </a:r>
              </a:p>
              <a:p>
                <a:pPr lvl="1"/>
                <a:r>
                  <a:rPr lang="en-US"/>
                  <a:t>If current is flowing, this will be some small positive or negative value depending on current direction.</a:t>
                </a:r>
              </a:p>
              <a:p>
                <a:r>
                  <a:rPr lang="en-US" sz="1200" b="1" kern="1200">
                    <a:solidFill>
                      <a:schemeClr val="tx1"/>
                    </a:solidFill>
                    <a:latin typeface="+mn-lt"/>
                    <a:ea typeface="+mn-ea"/>
                    <a:cs typeface="+mn-cs"/>
                  </a:rPr>
                  <a:t>busvoltage</a:t>
                </a:r>
                <a:r>
                  <a:rPr lang="en-US"/>
                  <a:t> → the voltage that the INA219 measures </a:t>
                </a:r>
                <a:r>
                  <a:rPr lang="en-US" b="1"/>
                  <a:t>at the </a:t>
                </a:r>
                <a:r>
                  <a:rPr lang="en-US" sz="1200" b="1" kern="1200">
                    <a:solidFill>
                      <a:schemeClr val="tx1"/>
                    </a:solidFill>
                    <a:latin typeface="+mn-lt"/>
                    <a:ea typeface="+mn-ea"/>
                    <a:cs typeface="+mn-cs"/>
                  </a:rPr>
                  <a:t>VIN–</a:t>
                </a:r>
                <a:r>
                  <a:rPr lang="en-US" b="1"/>
                  <a:t> pin</a:t>
                </a:r>
                <a:r>
                  <a:rPr lang="en-US"/>
                  <a:t>, i.e. </a:t>
                </a:r>
                <a:r>
                  <a:rPr lang="en-US" b="1"/>
                  <a:t>after the shunt resistor</a:t>
                </a:r>
                <a:r>
                  <a:rPr lang="en-US"/>
                  <a:t>.</a:t>
                </a:r>
              </a:p>
              <a:p>
                <a:pPr lvl="1"/>
                <a:r>
                  <a:rPr lang="en-US"/>
                  <a:t>This is the "downstream" voltage that the load actually sees.</a:t>
                </a:r>
              </a:p>
              <a:p>
                <a:pPr lvl="1"/>
                <a:r>
                  <a:rPr lang="en-US"/>
                  <a:t>Range: 0–26 V.</a:t>
                </a:r>
              </a:p>
              <a:p>
                <a:r>
                  <a:rPr lang="en-US" sz="1200" b="1" kern="1200">
                    <a:solidFill>
                      <a:schemeClr val="tx1"/>
                    </a:solidFill>
                    <a:latin typeface="+mn-lt"/>
                    <a:ea typeface="+mn-ea"/>
                    <a:cs typeface="+mn-cs"/>
                  </a:rPr>
                  <a:t>loadvoltage</a:t>
                </a:r>
                <a:r>
                  <a:rPr lang="en-US"/>
                  <a:t> → the </a:t>
                </a:r>
                <a:r>
                  <a:rPr lang="en-US" i="1"/>
                  <a:t>calculated</a:t>
                </a:r>
                <a:r>
                  <a:rPr lang="en-US"/>
                  <a:t> supply voltage going </a:t>
                </a:r>
                <a:r>
                  <a:rPr lang="en-US" b="1"/>
                  <a:t>into</a:t>
                </a:r>
                <a:r>
                  <a:rPr lang="en-US"/>
                  <a:t> the load, i.e. before the shunt resistor.</a:t>
                </a:r>
              </a:p>
              <a:p>
                <a:pPr lvl="1"/>
                <a:r>
                  <a:rPr lang="en-US"/>
                  <a:t>Formula:</a:t>
                </a:r>
              </a:p>
              <a:p>
                <a:pPr/>
                <a:r>
                  <a:rPr lang="ar-AE" sz="1200" i="0" kern="1200">
                    <a:solidFill>
                      <a:schemeClr val="tx1"/>
                    </a:solidFill>
                    <a:latin typeface="Cambria Math" panose="02040503050406030204" pitchFamily="18" charset="0"/>
                    <a:ea typeface="+mn-ea"/>
                    <a:cs typeface="+mn-cs"/>
                  </a:rPr>
                  <a:t>𝑉_𝐿𝑂𝐴𝐷=𝑉_𝐵𝑈𝑆+𝑉_𝑆𝐻𝑈𝑁𝑇</a:t>
                </a:r>
                <a:endParaRPr lang="ar-AE"/>
              </a:p>
              <a:p>
                <a:pPr lvl="1"/>
                <a:r>
                  <a:rPr lang="en-US"/>
                  <a:t>Here, </a:t>
                </a:r>
                <a:r>
                  <a:rPr lang="en-US" sz="1200" kern="1200">
                    <a:solidFill>
                      <a:schemeClr val="tx1"/>
                    </a:solidFill>
                    <a:latin typeface="+mn-lt"/>
                    <a:ea typeface="+mn-ea"/>
                    <a:cs typeface="+mn-cs"/>
                  </a:rPr>
                  <a:t>busvoltage</a:t>
                </a:r>
                <a:r>
                  <a:rPr lang="en-US"/>
                  <a:t> is at the load side, and </a:t>
                </a:r>
                <a:r>
                  <a:rPr lang="en-US" sz="1200" kern="1200">
                    <a:solidFill>
                      <a:schemeClr val="tx1"/>
                    </a:solidFill>
                    <a:latin typeface="+mn-lt"/>
                    <a:ea typeface="+mn-ea"/>
                    <a:cs typeface="+mn-cs"/>
                  </a:rPr>
                  <a:t>shuntvoltage</a:t>
                </a:r>
                <a:r>
                  <a:rPr lang="en-US"/>
                  <a:t> is the drop across the resistor.</a:t>
                </a:r>
              </a:p>
              <a:p>
                <a:pPr lvl="1"/>
                <a:r>
                  <a:rPr lang="en-US"/>
                  <a:t>Dividing by 1000 just converts mV → V.</a:t>
                </a:r>
              </a:p>
              <a:p>
                <a:r>
                  <a:rPr lang="en-US" sz="1200" b="1" kern="1200">
                    <a:solidFill>
                      <a:schemeClr val="tx1"/>
                    </a:solidFill>
                    <a:latin typeface="+mn-lt"/>
                    <a:ea typeface="+mn-ea"/>
                    <a:cs typeface="+mn-cs"/>
                  </a:rPr>
                  <a:t>current_mA</a:t>
                </a:r>
                <a:r>
                  <a:rPr lang="en-US"/>
                  <a:t> → the INA219 calculates this by taking </a:t>
                </a:r>
                <a:r>
                  <a:rPr lang="ar-AE" sz="1200" i="0" kern="1200">
                    <a:solidFill>
                      <a:schemeClr val="tx1"/>
                    </a:solidFill>
                    <a:latin typeface="Cambria Math" panose="02040503050406030204" pitchFamily="18" charset="0"/>
                    <a:ea typeface="+mn-ea"/>
                    <a:cs typeface="+mn-cs"/>
                  </a:rPr>
                  <a:t>𝑉_𝑆𝐻𝑈𝑁𝑇/𝑅_𝑆𝐻𝑈𝑁𝑇</a:t>
                </a:r>
                <a:r>
                  <a:rPr lang="ar-AE"/>
                  <a:t>.</a:t>
                </a:r>
              </a:p>
              <a:p>
                <a:pPr lvl="1"/>
                <a:r>
                  <a:rPr lang="en-US"/>
                  <a:t>With the default 0.1 </a:t>
                </a:r>
                <a:r>
                  <a:rPr lang="el-GR"/>
                  <a:t>Ω </a:t>
                </a:r>
                <a:r>
                  <a:rPr lang="en-US"/>
                  <a:t>resistor:</a:t>
                </a:r>
              </a:p>
              <a:p>
                <a:pPr/>
                <a:r>
                  <a:rPr lang="en-US" sz="1200" i="0" kern="1200">
                    <a:solidFill>
                      <a:schemeClr val="tx1"/>
                    </a:solidFill>
                    <a:latin typeface="Cambria Math" panose="02040503050406030204" pitchFamily="18" charset="0"/>
                    <a:ea typeface="+mn-ea"/>
                    <a:cs typeface="+mn-cs"/>
                  </a:rPr>
                  <a:t>𝐼</a:t>
                </a:r>
                <a:r>
                  <a:rPr lang="ar-AE" sz="1200" i="0" kern="1200">
                    <a:solidFill>
                      <a:schemeClr val="tx1"/>
                    </a:solidFill>
                    <a:latin typeface="Cambria Math" panose="02040503050406030204" pitchFamily="18" charset="0"/>
                    <a:ea typeface="+mn-ea"/>
                    <a:cs typeface="+mn-cs"/>
                  </a:rPr>
                  <a:t>(𝑚𝐴)=(𝑉_𝑆𝐻𝑈𝑁𝑇 (𝑚𝑉))/(0.1</a:t>
                </a:r>
                <a:r>
                  <a:rPr lang="ar-AE" sz="1200" b="0" i="0" kern="1200">
                    <a:solidFill>
                      <a:schemeClr val="tx1"/>
                    </a:solidFill>
                    <a:latin typeface="+mn-lt"/>
                    <a:ea typeface="+mn-ea"/>
                    <a:cs typeface="+mn-cs"/>
                  </a:rPr>
                  <a:t>" </a:t>
                </a:r>
                <a:r>
                  <a:rPr lang="el-GR" sz="1200" b="0" i="0" kern="1200">
                    <a:solidFill>
                      <a:schemeClr val="tx1"/>
                    </a:solidFill>
                    <a:latin typeface="Cambria Math" panose="02040503050406030204" pitchFamily="18" charset="0"/>
                    <a:ea typeface="+mn-ea"/>
                    <a:cs typeface="+mn-cs"/>
                  </a:rPr>
                  <a:t>" Ω</a:t>
                </a:r>
                <a:r>
                  <a:rPr lang="ar-AE" sz="1200" b="0" i="0" kern="1200">
                    <a:solidFill>
                      <a:schemeClr val="tx1"/>
                    </a:solidFill>
                    <a:latin typeface="Cambria Math" panose="02040503050406030204" pitchFamily="18" charset="0"/>
                    <a:ea typeface="+mn-ea"/>
                    <a:cs typeface="+mn-cs"/>
                  </a:rPr>
                  <a:t>)</a:t>
                </a:r>
                <a:endParaRPr lang="ar-AE" b="0"/>
              </a:p>
              <a:p>
                <a:br>
                  <a:rPr lang="ar-AE"/>
                </a:br>
                <a:endParaRPr lang="ar-AE"/>
              </a:p>
              <a:p>
                <a:r>
                  <a:rPr lang="en-US" b="1"/>
                  <a:t>Why compute </a:t>
                </a:r>
                <a:r>
                  <a:rPr lang="en-US" sz="1200" b="1" kern="1200">
                    <a:solidFill>
                      <a:schemeClr val="tx1"/>
                    </a:solidFill>
                    <a:latin typeface="+mn-lt"/>
                    <a:ea typeface="+mn-ea"/>
                    <a:cs typeface="+mn-cs"/>
                  </a:rPr>
                  <a:t>loadvoltage</a:t>
                </a:r>
                <a:r>
                  <a:rPr lang="en-US" b="1"/>
                  <a:t>?</a:t>
                </a:r>
              </a:p>
              <a:p>
                <a:r>
                  <a:rPr lang="en-US"/>
                  <a:t>If you only look at </a:t>
                </a:r>
                <a:r>
                  <a:rPr lang="en-US" sz="1200" kern="1200">
                    <a:solidFill>
                      <a:schemeClr val="tx1"/>
                    </a:solidFill>
                    <a:latin typeface="+mn-lt"/>
                    <a:ea typeface="+mn-ea"/>
                    <a:cs typeface="+mn-cs"/>
                  </a:rPr>
                  <a:t>busvoltage</a:t>
                </a:r>
                <a:r>
                  <a:rPr lang="en-US"/>
                  <a:t>, you’re seeing the </a:t>
                </a:r>
                <a:r>
                  <a:rPr lang="en-US" i="1"/>
                  <a:t>reduced</a:t>
                </a:r>
                <a:r>
                  <a:rPr lang="en-US"/>
                  <a:t> voltage after the shunt resistor.</a:t>
                </a:r>
                <a:br>
                  <a:rPr lang="en-US"/>
                </a:br>
                <a:r>
                  <a:rPr lang="en-US"/>
                  <a:t>But in most systems, you care about the </a:t>
                </a:r>
                <a:r>
                  <a:rPr lang="en-US" b="1"/>
                  <a:t>actual supply voltage</a:t>
                </a:r>
                <a:r>
                  <a:rPr lang="en-US"/>
                  <a:t> being applied to the load.</a:t>
                </a:r>
              </a:p>
              <a:p>
                <a:r>
                  <a:rPr lang="en-US"/>
                  <a:t>Example: Suppose you have a 12.00 V battery powering a 1 A load.</a:t>
                </a:r>
              </a:p>
              <a:p>
                <a:pPr lvl="1"/>
                <a:r>
                  <a:rPr lang="en-US"/>
                  <a:t>The 0.1 </a:t>
                </a:r>
                <a:r>
                  <a:rPr lang="el-GR"/>
                  <a:t>Ω </a:t>
                </a:r>
                <a:r>
                  <a:rPr lang="en-US"/>
                  <a:t>resistor drops </a:t>
                </a:r>
                <a:r>
                  <a:rPr lang="en-US" sz="1200" i="0" kern="1200">
                    <a:solidFill>
                      <a:schemeClr val="tx1"/>
                    </a:solidFill>
                    <a:latin typeface="Cambria Math" panose="02040503050406030204" pitchFamily="18" charset="0"/>
                    <a:ea typeface="+mn-ea"/>
                    <a:cs typeface="+mn-cs"/>
                  </a:rPr>
                  <a:t>0.1</a:t>
                </a:r>
                <a:r>
                  <a:rPr lang="en-US" sz="1200" b="0" i="0" kern="1200">
                    <a:solidFill>
                      <a:schemeClr val="tx1"/>
                    </a:solidFill>
                    <a:latin typeface="Cambria Math" panose="02040503050406030204" pitchFamily="18" charset="0"/>
                    <a:ea typeface="+mn-ea"/>
                    <a:cs typeface="+mn-cs"/>
                  </a:rPr>
                  <a:t>" </a:t>
                </a:r>
                <a:r>
                  <a:rPr lang="el-GR" sz="1200" b="0" i="0" kern="1200">
                    <a:solidFill>
                      <a:schemeClr val="tx1"/>
                    </a:solidFill>
                    <a:latin typeface="Cambria Math" panose="02040503050406030204" pitchFamily="18" charset="0"/>
                    <a:ea typeface="+mn-ea"/>
                    <a:cs typeface="+mn-cs"/>
                  </a:rPr>
                  <a:t>" Ω×1" " 𝐴=0.1" " 𝑉</a:t>
                </a:r>
                <a:r>
                  <a:rPr lang="el-GR"/>
                  <a:t>.</a:t>
                </a:r>
              </a:p>
              <a:p>
                <a:pPr lvl="1"/>
                <a:r>
                  <a:rPr lang="en-US"/>
                  <a:t>INA219 measures:</a:t>
                </a:r>
              </a:p>
              <a:p>
                <a:pPr lvl="2"/>
                <a:r>
                  <a:rPr lang="en-US" sz="1200" kern="1200">
                    <a:solidFill>
                      <a:schemeClr val="tx1"/>
                    </a:solidFill>
                    <a:latin typeface="+mn-lt"/>
                    <a:ea typeface="+mn-ea"/>
                    <a:cs typeface="+mn-cs"/>
                  </a:rPr>
                  <a:t>shuntvoltage</a:t>
                </a:r>
                <a:r>
                  <a:rPr lang="en-US"/>
                  <a:t> = 100 mV</a:t>
                </a:r>
              </a:p>
              <a:p>
                <a:pPr lvl="2"/>
                <a:r>
                  <a:rPr lang="en-US" sz="1200" kern="1200">
                    <a:solidFill>
                      <a:schemeClr val="tx1"/>
                    </a:solidFill>
                    <a:latin typeface="+mn-lt"/>
                    <a:ea typeface="+mn-ea"/>
                    <a:cs typeface="+mn-cs"/>
                  </a:rPr>
                  <a:t>busvoltage</a:t>
                </a:r>
                <a:r>
                  <a:rPr lang="en-US"/>
                  <a:t> = 11.90 V</a:t>
                </a:r>
              </a:p>
              <a:p>
                <a:pPr lvl="2"/>
                <a:r>
                  <a:rPr lang="en-US" sz="1200" kern="1200">
                    <a:solidFill>
                      <a:schemeClr val="tx1"/>
                    </a:solidFill>
                    <a:latin typeface="+mn-lt"/>
                    <a:ea typeface="+mn-ea"/>
                    <a:cs typeface="+mn-cs"/>
                  </a:rPr>
                  <a:t>loadvoltage</a:t>
                </a:r>
                <a:r>
                  <a:rPr lang="en-US"/>
                  <a:t> = 11.90 + 0.10 = </a:t>
                </a:r>
                <a:r>
                  <a:rPr lang="en-US" b="1"/>
                  <a:t>12.00 V</a:t>
                </a:r>
                <a:r>
                  <a:rPr lang="en-US"/>
                  <a:t> (the true battery output).</a:t>
                </a:r>
              </a:p>
              <a:p>
                <a:br>
                  <a:rPr lang="en-US"/>
                </a:br>
                <a:endParaRPr lang="en-US"/>
              </a:p>
              <a:p>
                <a:r>
                  <a:rPr lang="en-US" b="1"/>
                  <a:t>In short:</a:t>
                </a:r>
                <a:br>
                  <a:rPr lang="en-US"/>
                </a:br>
                <a:r>
                  <a:rPr lang="en-US" sz="1200" kern="1200">
                    <a:solidFill>
                      <a:schemeClr val="tx1"/>
                    </a:solidFill>
                    <a:latin typeface="+mn-lt"/>
                    <a:ea typeface="+mn-ea"/>
                    <a:cs typeface="+mn-cs"/>
                  </a:rPr>
                  <a:t>loadvoltage</a:t>
                </a:r>
                <a:r>
                  <a:rPr lang="en-US"/>
                  <a:t> is the upstream supply voltage, reconstructed from the downstream bus voltage + the voltage drop across the shunt.</a:t>
                </a:r>
              </a:p>
              <a:p>
                <a:endParaRPr lang="en-US"/>
              </a:p>
              <a:p>
                <a:endParaRPr lang="en-US"/>
              </a:p>
              <a:p>
                <a:endParaRPr lang="en-US"/>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22</a:t>
            </a:fld>
            <a:endParaRPr lang="en-US"/>
          </a:p>
        </p:txBody>
      </p:sp>
    </p:spTree>
    <p:extLst>
      <p:ext uri="{BB962C8B-B14F-4D97-AF65-F5344CB8AC3E}">
        <p14:creationId xmlns:p14="http://schemas.microsoft.com/office/powerpoint/2010/main" val="1073101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#2</a:t>
            </a:r>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#3</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4/28/2026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4/28/2026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4/28/2026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4/28/2026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4/28/2026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4/28/2026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4/28/2026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4/28/2026</a:t>
            </a:fld>
            <a:endParaRPr lang="en-US"/>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Astro 331 Lab #2</a:t>
            </a:r>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38983" y="72097"/>
            <a:ext cx="1246790" cy="307777"/>
          </a:xfrm>
          <a:prstGeom prst="rect">
            <a:avLst/>
          </a:prstGeom>
          <a:noFill/>
        </p:spPr>
        <p:txBody>
          <a:bodyPr wrap="square" rtlCol="0">
            <a:spAutoFit/>
          </a:bodyPr>
          <a:lstStyle/>
          <a:p>
            <a:pPr algn="r"/>
            <a:r>
              <a:rPr lang="en-US" sz="1400" b="1">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analog.com/en/products/max17048.html" TargetMode="External"/><Relationship Id="rId7" Type="http://schemas.openxmlformats.org/officeDocument/2006/relationships/hyperlink" Target="https://cdn.sparkfun.com/assets/7/0/3/c/9/WS2812C-2020.pdf" TargetMode="External"/><Relationship Id="rId2" Type="http://schemas.openxmlformats.org/officeDocument/2006/relationships/hyperlink" Target="https://www.sparkfun.com/" TargetMode="External"/><Relationship Id="rId1" Type="http://schemas.openxmlformats.org/officeDocument/2006/relationships/slideLayout" Target="../slideLayouts/slideLayout2.xml"/><Relationship Id="rId6" Type="http://schemas.openxmlformats.org/officeDocument/2006/relationships/hyperlink" Target="https://learn.sparkfun.com/tutorials/esp32-thing-plus-usb-c-hookup-guide" TargetMode="External"/><Relationship Id="rId5" Type="http://schemas.openxmlformats.org/officeDocument/2006/relationships/hyperlink" Target="https://www.sparkfun.com/sparkfun-thing-plus-esp32-wroom-usb-c.html#content-features" TargetMode="External"/><Relationship Id="rId4" Type="http://schemas.openxmlformats.org/officeDocument/2006/relationships/image" Target="../media/image6.jpe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adafruit.com/product/5856" TargetMode="External"/><Relationship Id="rId2" Type="http://schemas.openxmlformats.org/officeDocument/2006/relationships/hyperlink" Target="https://cdn-shop.adafruit.com/product-files/5856/P5856_Data+Sheet.pdf"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learn.adafruit.com/introducing-adafruit-stemma-qt/what-is-stemma-qt" TargetMode="Externa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hyperlink" Target="https://www.adafruit.com/product/6349" TargetMode="External"/><Relationship Id="rId7" Type="http://schemas.openxmlformats.org/officeDocument/2006/relationships/image" Target="../media/image23.png"/><Relationship Id="rId2" Type="http://schemas.openxmlformats.org/officeDocument/2006/relationships/hyperlink" Target="https://www.ti.com/product/INA238" TargetMode="Externa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learn.adafruit.com/adafruit-ina237-dc-current-voltage-power-monitor"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19.xml.rels><?xml version="1.0" encoding="UTF-8" standalone="yes"?>
<Relationships xmlns="http://schemas.openxmlformats.org/package/2006/relationships"><Relationship Id="rId2" Type="http://schemas.openxmlformats.org/officeDocument/2006/relationships/hyperlink" Target="https://www.overleaf.com/read/dpkvjmphdmwt#dfdc56"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www.adafruit.com/product/904?srsltid=AfmBOorQp_71CeMg3WdUDZKTzztq3CrJ-3sIxRtuNG8bM0HsfmQa5uC1" TargetMode="External"/><Relationship Id="rId2" Type="http://schemas.openxmlformats.org/officeDocument/2006/relationships/hyperlink" Target="https://www.ti.com/lit/gpn/ina219" TargetMode="Externa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hyperlink" Target="https://learn.adafruit.com/adafruit-ina219-current-sensor-breakout/overview"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Lab #3</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Electrical Power Subsystem (EPS)</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00B00-F676-7D41-D135-43A31E9C8FD0}"/>
              </a:ext>
            </a:extLst>
          </p:cNvPr>
          <p:cNvSpPr>
            <a:spLocks noGrp="1"/>
          </p:cNvSpPr>
          <p:nvPr>
            <p:ph type="title"/>
          </p:nvPr>
        </p:nvSpPr>
        <p:spPr/>
        <p:txBody>
          <a:bodyPr/>
          <a:lstStyle/>
          <a:p>
            <a:r>
              <a:rPr lang="en-US" b="1"/>
              <a:t>Intro</a:t>
            </a:r>
          </a:p>
        </p:txBody>
      </p:sp>
      <p:sp>
        <p:nvSpPr>
          <p:cNvPr id="3" name="Content Placeholder 2">
            <a:extLst>
              <a:ext uri="{FF2B5EF4-FFF2-40B4-BE49-F238E27FC236}">
                <a16:creationId xmlns:a16="http://schemas.microsoft.com/office/drawing/2014/main" id="{A72387E7-B2E1-2B8C-98B1-1309384FFED1}"/>
              </a:ext>
            </a:extLst>
          </p:cNvPr>
          <p:cNvSpPr>
            <a:spLocks noGrp="1"/>
          </p:cNvSpPr>
          <p:nvPr>
            <p:ph idx="1"/>
          </p:nvPr>
        </p:nvSpPr>
        <p:spPr>
          <a:xfrm>
            <a:off x="1066990" y="990626"/>
            <a:ext cx="5048060" cy="4774493"/>
          </a:xfrm>
        </p:spPr>
        <p:txBody>
          <a:bodyPr>
            <a:normAutofit/>
          </a:bodyPr>
          <a:lstStyle/>
          <a:p>
            <a:pPr marL="0" indent="0">
              <a:buNone/>
            </a:pPr>
            <a:r>
              <a:rPr lang="en-US" sz="1600" b="1"/>
              <a:t>Solar panels are the central component of the Electrical Power System (EPS) for earth-orbiting spacecraft. In this lab you’ll gain a practical understanding of how solar panels work.</a:t>
            </a:r>
          </a:p>
          <a:p>
            <a:pPr marL="0" indent="0">
              <a:buNone/>
            </a:pPr>
            <a:r>
              <a:rPr lang="en-US" sz="1600"/>
              <a:t>You will test </a:t>
            </a:r>
            <a:r>
              <a:rPr lang="en-US" sz="1600" err="1"/>
              <a:t>KestrelSAT's</a:t>
            </a:r>
            <a:r>
              <a:rPr lang="en-US" sz="1600"/>
              <a:t> solar panel array to determine if it will generate enough power to satisfy mission requirements. </a:t>
            </a:r>
          </a:p>
          <a:p>
            <a:pPr marL="0" indent="0">
              <a:buNone/>
            </a:pPr>
            <a:r>
              <a:rPr lang="en-US" sz="1600"/>
              <a:t>You will measure the voltage and current generated by the solar array at various voltages to generate an I-V plot. You will collect two sets of I-V measurements, one for a series-connected array and one for a parallel-connected array. </a:t>
            </a:r>
          </a:p>
          <a:p>
            <a:pPr marL="0" indent="0">
              <a:buNone/>
            </a:pPr>
            <a:r>
              <a:rPr lang="en-US" sz="1600"/>
              <a:t>You will also record solar illuminance with a luxmeter at the time of your power measurements in order to facilitate analysis. </a:t>
            </a:r>
          </a:p>
          <a:p>
            <a:pPr marL="0" indent="0">
              <a:spcBef>
                <a:spcPts val="0"/>
              </a:spcBef>
              <a:buNone/>
            </a:pPr>
            <a:endParaRPr lang="en-US" sz="1600"/>
          </a:p>
        </p:txBody>
      </p:sp>
      <p:sp>
        <p:nvSpPr>
          <p:cNvPr id="4" name="Footer Placeholder 3">
            <a:extLst>
              <a:ext uri="{FF2B5EF4-FFF2-40B4-BE49-F238E27FC236}">
                <a16:creationId xmlns:a16="http://schemas.microsoft.com/office/drawing/2014/main" id="{5634D110-6516-62C2-236F-FFCF3596F79E}"/>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B1AF9775-06E9-3893-A4A5-93BC8E478ACE}"/>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7" name="Content Placeholder 7">
            <a:extLst>
              <a:ext uri="{FF2B5EF4-FFF2-40B4-BE49-F238E27FC236}">
                <a16:creationId xmlns:a16="http://schemas.microsoft.com/office/drawing/2014/main" id="{3033449D-4FED-2CC0-A422-94359CE9F8EF}"/>
              </a:ext>
            </a:extLst>
          </p:cNvPr>
          <p:cNvSpPr txBox="1">
            <a:spLocks/>
          </p:cNvSpPr>
          <p:nvPr/>
        </p:nvSpPr>
        <p:spPr>
          <a:xfrm>
            <a:off x="6115050" y="2733802"/>
            <a:ext cx="2744803" cy="1967063"/>
          </a:xfrm>
          <a:prstGeom prst="rect">
            <a:avLst/>
          </a:prstGeom>
          <a:solidFill>
            <a:schemeClr val="accent1">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 – LAB &amp; LAB REPORT</a:t>
            </a:r>
            <a:endParaRPr lang="en-US" sz="1200" b="1">
              <a:solidFill>
                <a:srgbClr val="FF0000"/>
              </a:solidFill>
              <a:latin typeface="Segoe UI" panose="020B0502040204020203" pitchFamily="34" charset="0"/>
              <a:cs typeface="Segoe UI" panose="020B0502040204020203" pitchFamily="34" charset="0"/>
            </a:endParaRPr>
          </a:p>
          <a:p>
            <a:r>
              <a:rPr lang="en-US" sz="1200" b="1">
                <a:solidFill>
                  <a:srgbClr val="FF0000"/>
                </a:solidFill>
                <a:latin typeface="Segoe UI" panose="020B0502040204020203" pitchFamily="34" charset="0"/>
                <a:cs typeface="Segoe UI" panose="020B0502040204020203" pitchFamily="34" charset="0"/>
              </a:rPr>
              <a:t>Lab activities &amp; lab report are team effort</a:t>
            </a:r>
          </a:p>
          <a:p>
            <a:pPr marL="0" indent="-223838"/>
            <a:r>
              <a:rPr lang="en-US" sz="1200">
                <a:latin typeface="Segoe UI" panose="020B0502040204020203" pitchFamily="34" charset="0"/>
                <a:cs typeface="Segoe UI" panose="020B0502040204020203" pitchFamily="34" charset="0"/>
              </a:rPr>
              <a:t>Any non-human resource</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3 Allowed</a:t>
            </a:r>
          </a:p>
          <a:p>
            <a:pPr marL="0" indent="-223838"/>
            <a:r>
              <a:rPr lang="en-US" sz="1200">
                <a:latin typeface="Segoe UI" panose="020B0502040204020203" pitchFamily="34" charset="0"/>
                <a:cs typeface="Segoe UI" panose="020B0502040204020203" pitchFamily="34" charset="0"/>
              </a:rPr>
              <a:t>Astro 331 course notes/instructor </a:t>
            </a:r>
          </a:p>
        </p:txBody>
      </p:sp>
      <p:sp>
        <p:nvSpPr>
          <p:cNvPr id="10" name="Content Placeholder 6">
            <a:extLst>
              <a:ext uri="{FF2B5EF4-FFF2-40B4-BE49-F238E27FC236}">
                <a16:creationId xmlns:a16="http://schemas.microsoft.com/office/drawing/2014/main" id="{36E7FF56-53AE-427A-37D2-A0E2F2CFEDD0}"/>
              </a:ext>
            </a:extLst>
          </p:cNvPr>
          <p:cNvSpPr txBox="1">
            <a:spLocks/>
          </p:cNvSpPr>
          <p:nvPr/>
        </p:nvSpPr>
        <p:spPr>
          <a:xfrm>
            <a:off x="1236667" y="5110015"/>
            <a:ext cx="7348533" cy="1239520"/>
          </a:xfrm>
          <a:prstGeom prst="rect">
            <a:avLst/>
          </a:prstGeom>
        </p:spPr>
        <p:style>
          <a:lnRef idx="2">
            <a:schemeClr val="dk1"/>
          </a:lnRef>
          <a:fillRef idx="1">
            <a:schemeClr val="lt1"/>
          </a:fillRef>
          <a:effectRef idx="0">
            <a:schemeClr val="dk1"/>
          </a:effectRef>
          <a:fontRef idx="minor">
            <a:schemeClr val="dk1"/>
          </a:fontRef>
        </p:style>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spcBef>
                <a:spcPts val="0"/>
              </a:spcBef>
              <a:buNone/>
            </a:pPr>
            <a:r>
              <a:rPr lang="en-US" sz="1400" b="1"/>
              <a:t>Objectives:</a:t>
            </a:r>
            <a:endParaRPr lang="en-US" sz="1400"/>
          </a:p>
          <a:p>
            <a:pPr marL="514350" indent="-514350">
              <a:spcBef>
                <a:spcPts val="600"/>
              </a:spcBef>
              <a:buAutoNum type="arabicParenBoth"/>
            </a:pPr>
            <a:r>
              <a:rPr lang="en-US" sz="1400"/>
              <a:t>Understand fundamentals of EPS via practical experimentation.</a:t>
            </a:r>
          </a:p>
          <a:p>
            <a:pPr marL="514350" indent="-514350">
              <a:spcBef>
                <a:spcPts val="600"/>
              </a:spcBef>
              <a:buAutoNum type="arabicParenBoth"/>
            </a:pPr>
            <a:r>
              <a:rPr lang="en-US" sz="1400"/>
              <a:t>Gain hands-on power system measurement skills.</a:t>
            </a:r>
          </a:p>
          <a:p>
            <a:pPr marL="514350" indent="-514350">
              <a:spcBef>
                <a:spcPts val="600"/>
              </a:spcBef>
              <a:buAutoNum type="arabicParenBoth"/>
            </a:pPr>
            <a:r>
              <a:rPr lang="en-US" sz="1400"/>
              <a:t>Calculate EPS power budget.</a:t>
            </a:r>
          </a:p>
          <a:p>
            <a:pPr marL="514350" indent="-514350">
              <a:spcBef>
                <a:spcPts val="600"/>
              </a:spcBef>
              <a:buAutoNum type="arabicParenBoth"/>
            </a:pPr>
            <a:r>
              <a:rPr lang="en-US" sz="1400"/>
              <a:t>Analyze EPS data and report results.</a:t>
            </a:r>
          </a:p>
        </p:txBody>
      </p:sp>
      <p:sp>
        <p:nvSpPr>
          <p:cNvPr id="9" name="Content Placeholder 7">
            <a:extLst>
              <a:ext uri="{FF2B5EF4-FFF2-40B4-BE49-F238E27FC236}">
                <a16:creationId xmlns:a16="http://schemas.microsoft.com/office/drawing/2014/main" id="{35E572C5-87DF-8635-E763-9546E92D68AE}"/>
              </a:ext>
            </a:extLst>
          </p:cNvPr>
          <p:cNvSpPr txBox="1">
            <a:spLocks/>
          </p:cNvSpPr>
          <p:nvPr/>
        </p:nvSpPr>
        <p:spPr>
          <a:xfrm>
            <a:off x="6119400" y="1031321"/>
            <a:ext cx="2744802" cy="1521640"/>
          </a:xfrm>
          <a:prstGeom prst="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 - PRELAB</a:t>
            </a:r>
            <a:endParaRPr lang="en-US" sz="1200" b="1">
              <a:solidFill>
                <a:srgbClr val="FF0000"/>
              </a:solidFill>
              <a:latin typeface="Segoe UI" panose="020B0502040204020203" pitchFamily="34" charset="0"/>
              <a:cs typeface="Segoe UI" panose="020B0502040204020203" pitchFamily="34" charset="0"/>
            </a:endParaRPr>
          </a:p>
          <a:p>
            <a:r>
              <a:rPr lang="en-US" sz="1200" b="1">
                <a:solidFill>
                  <a:srgbClr val="FF0000"/>
                </a:solidFill>
                <a:latin typeface="Segoe UI" panose="020B0502040204020203" pitchFamily="34" charset="0"/>
                <a:cs typeface="Segoe UI" panose="020B0502040204020203" pitchFamily="34" charset="0"/>
              </a:rPr>
              <a:t>Prelab turn-in is individual effort</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0 Allowed (</a:t>
            </a:r>
            <a:r>
              <a:rPr lang="en-US" sz="1200" b="1">
                <a:solidFill>
                  <a:srgbClr val="FF0000"/>
                </a:solidFill>
                <a:highlight>
                  <a:srgbClr val="FFFF00"/>
                </a:highlight>
                <a:latin typeface="Segoe UI" panose="020B0502040204020203" pitchFamily="34" charset="0"/>
                <a:cs typeface="Segoe UI" panose="020B0502040204020203" pitchFamily="34" charset="0"/>
              </a:rPr>
              <a:t>G</a:t>
            </a:r>
            <a:r>
              <a:rPr lang="en-US" sz="1200" b="1" i="1">
                <a:solidFill>
                  <a:srgbClr val="FF0000"/>
                </a:solidFill>
                <a:highlight>
                  <a:srgbClr val="FFFF00"/>
                </a:highlight>
                <a:latin typeface="Segoe UI" panose="020B0502040204020203" pitchFamily="34" charset="0"/>
                <a:cs typeface="Segoe UI" panose="020B0502040204020203" pitchFamily="34" charset="0"/>
              </a:rPr>
              <a:t>enAI not allowed</a:t>
            </a:r>
            <a:r>
              <a:rPr lang="en-US" sz="1200" b="1">
                <a:highlight>
                  <a:srgbClr val="FFFF00"/>
                </a:highlight>
                <a:latin typeface="Segoe UI" panose="020B0502040204020203" pitchFamily="34" charset="0"/>
                <a:cs typeface="Segoe UI" panose="020B0502040204020203" pitchFamily="34" charset="0"/>
              </a:rPr>
              <a:t>)</a:t>
            </a:r>
          </a:p>
          <a:p>
            <a:pPr marL="0" indent="-223838"/>
            <a:r>
              <a:rPr lang="en-US" sz="1200">
                <a:latin typeface="Segoe UI" panose="020B0502040204020203" pitchFamily="34" charset="0"/>
                <a:cs typeface="Segoe UI" panose="020B0502040204020203" pitchFamily="34" charset="0"/>
              </a:rPr>
              <a:t>Astro 331 course notes/ instructor </a:t>
            </a:r>
          </a:p>
        </p:txBody>
      </p:sp>
      <p:sp>
        <p:nvSpPr>
          <p:cNvPr id="6" name="Content Placeholder 5">
            <a:extLst>
              <a:ext uri="{FF2B5EF4-FFF2-40B4-BE49-F238E27FC236}">
                <a16:creationId xmlns:a16="http://schemas.microsoft.com/office/drawing/2014/main" id="{FFFB02BF-C7E9-F49A-7A62-192D03657CA5}"/>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95378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566CE3A-AB03-86DA-E1D8-A4C099E2ECD4}"/>
              </a:ext>
            </a:extLst>
          </p:cNvPr>
          <p:cNvPicPr>
            <a:picLocks noChangeAspect="1"/>
          </p:cNvPicPr>
          <p:nvPr/>
        </p:nvPicPr>
        <p:blipFill>
          <a:blip r:embed="rId2"/>
          <a:stretch>
            <a:fillRect/>
          </a:stretch>
        </p:blipFill>
        <p:spPr>
          <a:xfrm>
            <a:off x="5099683" y="665153"/>
            <a:ext cx="3017504" cy="3263072"/>
          </a:xfrm>
          <a:prstGeom prst="rect">
            <a:avLst/>
          </a:prstGeom>
        </p:spPr>
      </p:pic>
      <p:sp>
        <p:nvSpPr>
          <p:cNvPr id="2" name="Title 1">
            <a:extLst>
              <a:ext uri="{FF2B5EF4-FFF2-40B4-BE49-F238E27FC236}">
                <a16:creationId xmlns:a16="http://schemas.microsoft.com/office/drawing/2014/main" id="{99A54F35-7A45-834B-552E-47B4FCB3F1A5}"/>
              </a:ext>
            </a:extLst>
          </p:cNvPr>
          <p:cNvSpPr>
            <a:spLocks noGrp="1"/>
          </p:cNvSpPr>
          <p:nvPr>
            <p:ph type="title"/>
          </p:nvPr>
        </p:nvSpPr>
        <p:spPr/>
        <p:txBody>
          <a:bodyPr/>
          <a:lstStyle/>
          <a:p>
            <a:r>
              <a:rPr lang="en-US" b="1"/>
              <a:t>KestrelSAT Overview</a:t>
            </a:r>
          </a:p>
        </p:txBody>
      </p:sp>
      <p:sp>
        <p:nvSpPr>
          <p:cNvPr id="4" name="Footer Placeholder 3">
            <a:extLst>
              <a:ext uri="{FF2B5EF4-FFF2-40B4-BE49-F238E27FC236}">
                <a16:creationId xmlns:a16="http://schemas.microsoft.com/office/drawing/2014/main" id="{94D7BBFB-FC84-122A-DAFE-4A3B1255037A}"/>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16DA4141-FE37-5BB7-BB66-8334BFE7CE34}"/>
              </a:ext>
            </a:extLst>
          </p:cNvPr>
          <p:cNvSpPr>
            <a:spLocks noGrp="1"/>
          </p:cNvSpPr>
          <p:nvPr>
            <p:ph type="sldNum" sz="quarter" idx="12"/>
          </p:nvPr>
        </p:nvSpPr>
        <p:spPr/>
        <p:txBody>
          <a:bodyPr/>
          <a:lstStyle/>
          <a:p>
            <a:fld id="{9A3029B7-FE6B-4680-9049-80E8298A0825}" type="slidenum">
              <a:rPr lang="en-US" smtClean="0"/>
              <a:t>3</a:t>
            </a:fld>
            <a:endParaRPr lang="en-US"/>
          </a:p>
        </p:txBody>
      </p:sp>
      <p:pic>
        <p:nvPicPr>
          <p:cNvPr id="9" name="Picture 8">
            <a:extLst>
              <a:ext uri="{FF2B5EF4-FFF2-40B4-BE49-F238E27FC236}">
                <a16:creationId xmlns:a16="http://schemas.microsoft.com/office/drawing/2014/main" id="{3D2D4948-C1E5-58C8-CAB9-7D9AE9A9DC6F}"/>
              </a:ext>
            </a:extLst>
          </p:cNvPr>
          <p:cNvPicPr>
            <a:picLocks noChangeAspect="1"/>
          </p:cNvPicPr>
          <p:nvPr/>
        </p:nvPicPr>
        <p:blipFill>
          <a:blip r:embed="rId3"/>
          <a:stretch>
            <a:fillRect/>
          </a:stretch>
        </p:blipFill>
        <p:spPr>
          <a:xfrm>
            <a:off x="942791" y="811773"/>
            <a:ext cx="3086100" cy="3188848"/>
          </a:xfrm>
          <a:prstGeom prst="rect">
            <a:avLst/>
          </a:prstGeom>
        </p:spPr>
      </p:pic>
      <p:pic>
        <p:nvPicPr>
          <p:cNvPr id="7" name="Picture 6">
            <a:extLst>
              <a:ext uri="{FF2B5EF4-FFF2-40B4-BE49-F238E27FC236}">
                <a16:creationId xmlns:a16="http://schemas.microsoft.com/office/drawing/2014/main" id="{355E37A0-BB69-550E-9206-199D0D2C21E1}"/>
              </a:ext>
            </a:extLst>
          </p:cNvPr>
          <p:cNvPicPr>
            <a:picLocks noChangeAspect="1"/>
          </p:cNvPicPr>
          <p:nvPr/>
        </p:nvPicPr>
        <p:blipFill>
          <a:blip r:embed="rId4"/>
          <a:stretch>
            <a:fillRect/>
          </a:stretch>
        </p:blipFill>
        <p:spPr>
          <a:xfrm>
            <a:off x="1768810" y="3126180"/>
            <a:ext cx="3519560" cy="3595297"/>
          </a:xfrm>
          <a:prstGeom prst="rect">
            <a:avLst/>
          </a:prstGeom>
        </p:spPr>
      </p:pic>
      <p:pic>
        <p:nvPicPr>
          <p:cNvPr id="13" name="Picture 12">
            <a:extLst>
              <a:ext uri="{FF2B5EF4-FFF2-40B4-BE49-F238E27FC236}">
                <a16:creationId xmlns:a16="http://schemas.microsoft.com/office/drawing/2014/main" id="{3D6FB22C-AD24-EEBB-AB02-47AE28C11C93}"/>
              </a:ext>
            </a:extLst>
          </p:cNvPr>
          <p:cNvPicPr>
            <a:picLocks noChangeAspect="1"/>
          </p:cNvPicPr>
          <p:nvPr/>
        </p:nvPicPr>
        <p:blipFill>
          <a:blip r:embed="rId5"/>
          <a:stretch>
            <a:fillRect/>
          </a:stretch>
        </p:blipFill>
        <p:spPr>
          <a:xfrm>
            <a:off x="6115050" y="3789243"/>
            <a:ext cx="2960207" cy="2907582"/>
          </a:xfrm>
          <a:prstGeom prst="rect">
            <a:avLst/>
          </a:prstGeom>
        </p:spPr>
      </p:pic>
      <p:sp>
        <p:nvSpPr>
          <p:cNvPr id="15" name="TextBox 14">
            <a:extLst>
              <a:ext uri="{FF2B5EF4-FFF2-40B4-BE49-F238E27FC236}">
                <a16:creationId xmlns:a16="http://schemas.microsoft.com/office/drawing/2014/main" id="{B7F13540-366A-1BB6-CD45-CCE78189C27D}"/>
              </a:ext>
            </a:extLst>
          </p:cNvPr>
          <p:cNvSpPr txBox="1"/>
          <p:nvPr/>
        </p:nvSpPr>
        <p:spPr>
          <a:xfrm>
            <a:off x="872302" y="3577317"/>
            <a:ext cx="817806"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Camera Side</a:t>
            </a:r>
            <a:endParaRPr lang="en-US" sz="1200">
              <a:solidFill>
                <a:srgbClr val="00B0F0"/>
              </a:solidFill>
            </a:endParaRPr>
          </a:p>
        </p:txBody>
      </p:sp>
      <p:sp>
        <p:nvSpPr>
          <p:cNvPr id="16" name="TextBox 15">
            <a:extLst>
              <a:ext uri="{FF2B5EF4-FFF2-40B4-BE49-F238E27FC236}">
                <a16:creationId xmlns:a16="http://schemas.microsoft.com/office/drawing/2014/main" id="{FA571FF5-3B3D-89B8-BD24-D394316D1D06}"/>
              </a:ext>
            </a:extLst>
          </p:cNvPr>
          <p:cNvSpPr txBox="1"/>
          <p:nvPr/>
        </p:nvSpPr>
        <p:spPr>
          <a:xfrm>
            <a:off x="8301986" y="1431495"/>
            <a:ext cx="624112"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 Side</a:t>
            </a:r>
            <a:endParaRPr lang="en-US" sz="1200">
              <a:solidFill>
                <a:srgbClr val="00B0F0"/>
              </a:solidFill>
            </a:endParaRPr>
          </a:p>
        </p:txBody>
      </p:sp>
      <p:sp>
        <p:nvSpPr>
          <p:cNvPr id="17" name="TextBox 16">
            <a:extLst>
              <a:ext uri="{FF2B5EF4-FFF2-40B4-BE49-F238E27FC236}">
                <a16:creationId xmlns:a16="http://schemas.microsoft.com/office/drawing/2014/main" id="{D8C01838-74F9-37D5-9A3F-B93CEFF660FE}"/>
              </a:ext>
            </a:extLst>
          </p:cNvPr>
          <p:cNvSpPr txBox="1"/>
          <p:nvPr/>
        </p:nvSpPr>
        <p:spPr>
          <a:xfrm>
            <a:off x="515429" y="4571665"/>
            <a:ext cx="1128825"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Comm (</a:t>
            </a:r>
            <a:r>
              <a:rPr lang="en-US" sz="1200" b="1" err="1">
                <a:solidFill>
                  <a:srgbClr val="00B0F0"/>
                </a:solidFill>
              </a:rPr>
              <a:t>Xbee</a:t>
            </a:r>
            <a:r>
              <a:rPr lang="en-US" sz="1200" b="1">
                <a:solidFill>
                  <a:srgbClr val="00B0F0"/>
                </a:solidFill>
              </a:rPr>
              <a:t> transceiver)</a:t>
            </a:r>
            <a:endParaRPr lang="en-US" sz="1200">
              <a:solidFill>
                <a:srgbClr val="00B0F0"/>
              </a:solidFill>
            </a:endParaRPr>
          </a:p>
        </p:txBody>
      </p:sp>
      <p:sp>
        <p:nvSpPr>
          <p:cNvPr id="18" name="TextBox 17">
            <a:extLst>
              <a:ext uri="{FF2B5EF4-FFF2-40B4-BE49-F238E27FC236}">
                <a16:creationId xmlns:a16="http://schemas.microsoft.com/office/drawing/2014/main" id="{859B32C9-8A04-B91E-DAA4-B8CFBDF09D7F}"/>
              </a:ext>
            </a:extLst>
          </p:cNvPr>
          <p:cNvSpPr txBox="1"/>
          <p:nvPr/>
        </p:nvSpPr>
        <p:spPr>
          <a:xfrm>
            <a:off x="428942" y="5145092"/>
            <a:ext cx="1215312" cy="276999"/>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IMU (BNO055)</a:t>
            </a:r>
            <a:endParaRPr lang="en-US" sz="1200">
              <a:solidFill>
                <a:srgbClr val="00B0F0"/>
              </a:solidFill>
            </a:endParaRPr>
          </a:p>
        </p:txBody>
      </p:sp>
      <p:sp>
        <p:nvSpPr>
          <p:cNvPr id="19" name="TextBox 18">
            <a:extLst>
              <a:ext uri="{FF2B5EF4-FFF2-40B4-BE49-F238E27FC236}">
                <a16:creationId xmlns:a16="http://schemas.microsoft.com/office/drawing/2014/main" id="{38E4581C-D5D6-02D0-BE5C-E8EF9D6C6360}"/>
              </a:ext>
            </a:extLst>
          </p:cNvPr>
          <p:cNvSpPr txBox="1"/>
          <p:nvPr/>
        </p:nvSpPr>
        <p:spPr>
          <a:xfrm>
            <a:off x="200483" y="5531964"/>
            <a:ext cx="1443771" cy="646331"/>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MCU (</a:t>
            </a:r>
            <a:r>
              <a:rPr lang="en-US" sz="1200" b="1" err="1">
                <a:solidFill>
                  <a:srgbClr val="00B0F0"/>
                </a:solidFill>
              </a:rPr>
              <a:t>Rpi</a:t>
            </a:r>
            <a:r>
              <a:rPr lang="en-US" sz="1200" b="1">
                <a:solidFill>
                  <a:srgbClr val="00B0F0"/>
                </a:solidFill>
              </a:rPr>
              <a:t> Pico)</a:t>
            </a:r>
          </a:p>
          <a:p>
            <a:pPr algn="ctr"/>
            <a:r>
              <a:rPr lang="en-US" sz="1200" b="1">
                <a:solidFill>
                  <a:srgbClr val="00B0F0"/>
                </a:solidFill>
              </a:rPr>
              <a:t>Memory (SD)</a:t>
            </a:r>
          </a:p>
          <a:p>
            <a:pPr algn="ctr"/>
            <a:r>
              <a:rPr lang="en-US" sz="1200" b="1">
                <a:solidFill>
                  <a:srgbClr val="00B0F0"/>
                </a:solidFill>
              </a:rPr>
              <a:t>Real-Time Clock</a:t>
            </a:r>
            <a:endParaRPr lang="en-US" sz="1200">
              <a:solidFill>
                <a:srgbClr val="00B0F0"/>
              </a:solidFill>
            </a:endParaRPr>
          </a:p>
        </p:txBody>
      </p:sp>
      <p:sp>
        <p:nvSpPr>
          <p:cNvPr id="20" name="TextBox 19">
            <a:extLst>
              <a:ext uri="{FF2B5EF4-FFF2-40B4-BE49-F238E27FC236}">
                <a16:creationId xmlns:a16="http://schemas.microsoft.com/office/drawing/2014/main" id="{BF8CE2D5-3D0D-D20D-B389-87E4D55F96F5}"/>
              </a:ext>
            </a:extLst>
          </p:cNvPr>
          <p:cNvSpPr txBox="1"/>
          <p:nvPr/>
        </p:nvSpPr>
        <p:spPr>
          <a:xfrm>
            <a:off x="8170502" y="3063991"/>
            <a:ext cx="973498"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Reaction Wheel</a:t>
            </a:r>
            <a:endParaRPr lang="en-US" sz="1200">
              <a:solidFill>
                <a:srgbClr val="00B0F0"/>
              </a:solidFill>
            </a:endParaRPr>
          </a:p>
        </p:txBody>
      </p:sp>
      <p:sp>
        <p:nvSpPr>
          <p:cNvPr id="21" name="TextBox 20">
            <a:extLst>
              <a:ext uri="{FF2B5EF4-FFF2-40B4-BE49-F238E27FC236}">
                <a16:creationId xmlns:a16="http://schemas.microsoft.com/office/drawing/2014/main" id="{B68D59D5-931B-762E-231B-584522654965}"/>
              </a:ext>
            </a:extLst>
          </p:cNvPr>
          <p:cNvSpPr txBox="1"/>
          <p:nvPr/>
        </p:nvSpPr>
        <p:spPr>
          <a:xfrm>
            <a:off x="5255127" y="5071235"/>
            <a:ext cx="837544"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Motor Driver</a:t>
            </a:r>
            <a:endParaRPr lang="en-US" sz="1200">
              <a:solidFill>
                <a:srgbClr val="00B0F0"/>
              </a:solidFill>
            </a:endParaRPr>
          </a:p>
        </p:txBody>
      </p:sp>
      <p:sp>
        <p:nvSpPr>
          <p:cNvPr id="22" name="TextBox 21">
            <a:extLst>
              <a:ext uri="{FF2B5EF4-FFF2-40B4-BE49-F238E27FC236}">
                <a16:creationId xmlns:a16="http://schemas.microsoft.com/office/drawing/2014/main" id="{7481C920-E9B7-4172-DFD4-DB91BEB2F75A}"/>
              </a:ext>
            </a:extLst>
          </p:cNvPr>
          <p:cNvSpPr txBox="1"/>
          <p:nvPr/>
        </p:nvSpPr>
        <p:spPr>
          <a:xfrm>
            <a:off x="5255127" y="3641154"/>
            <a:ext cx="837544" cy="830997"/>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Solar Power</a:t>
            </a:r>
          </a:p>
          <a:p>
            <a:pPr algn="ctr"/>
            <a:r>
              <a:rPr lang="en-US" sz="1200" b="1">
                <a:solidFill>
                  <a:srgbClr val="00B0F0"/>
                </a:solidFill>
              </a:rPr>
              <a:t>V &amp; I Sensor</a:t>
            </a:r>
            <a:endParaRPr lang="en-US" sz="1200">
              <a:solidFill>
                <a:srgbClr val="00B0F0"/>
              </a:solidFill>
            </a:endParaRPr>
          </a:p>
        </p:txBody>
      </p:sp>
      <p:sp>
        <p:nvSpPr>
          <p:cNvPr id="23" name="TextBox 22">
            <a:extLst>
              <a:ext uri="{FF2B5EF4-FFF2-40B4-BE49-F238E27FC236}">
                <a16:creationId xmlns:a16="http://schemas.microsoft.com/office/drawing/2014/main" id="{7A3844A2-D610-A306-6B29-3D6D1318BC3F}"/>
              </a:ext>
            </a:extLst>
          </p:cNvPr>
          <p:cNvSpPr txBox="1"/>
          <p:nvPr/>
        </p:nvSpPr>
        <p:spPr>
          <a:xfrm>
            <a:off x="5210369" y="4529253"/>
            <a:ext cx="927060" cy="461665"/>
          </a:xfrm>
          <a:prstGeom prst="rect">
            <a:avLst/>
          </a:prstGeom>
          <a:solidFill>
            <a:schemeClr val="bg1"/>
          </a:solidFill>
          <a:ln>
            <a:solidFill>
              <a:srgbClr val="00B0F0"/>
            </a:solidFill>
          </a:ln>
        </p:spPr>
        <p:txBody>
          <a:bodyPr wrap="square">
            <a:spAutoFit/>
          </a:bodyPr>
          <a:lstStyle/>
          <a:p>
            <a:pPr algn="ctr"/>
            <a:r>
              <a:rPr lang="en-US" sz="1200" b="1">
                <a:solidFill>
                  <a:srgbClr val="00B0F0"/>
                </a:solidFill>
              </a:rPr>
              <a:t>Battery Controller</a:t>
            </a:r>
            <a:endParaRPr lang="en-US" sz="1200">
              <a:solidFill>
                <a:srgbClr val="00B0F0"/>
              </a:solidFill>
            </a:endParaRPr>
          </a:p>
        </p:txBody>
      </p:sp>
      <p:sp>
        <p:nvSpPr>
          <p:cNvPr id="24" name="TextBox 23">
            <a:extLst>
              <a:ext uri="{FF2B5EF4-FFF2-40B4-BE49-F238E27FC236}">
                <a16:creationId xmlns:a16="http://schemas.microsoft.com/office/drawing/2014/main" id="{BEEF44AF-6BA4-E0E2-A832-F72B61514E1A}"/>
              </a:ext>
            </a:extLst>
          </p:cNvPr>
          <p:cNvSpPr txBox="1"/>
          <p:nvPr/>
        </p:nvSpPr>
        <p:spPr>
          <a:xfrm>
            <a:off x="5266317" y="5684485"/>
            <a:ext cx="837544" cy="600164"/>
          </a:xfrm>
          <a:prstGeom prst="rect">
            <a:avLst/>
          </a:prstGeom>
          <a:solidFill>
            <a:schemeClr val="bg1"/>
          </a:solidFill>
          <a:ln>
            <a:solidFill>
              <a:srgbClr val="00B0F0"/>
            </a:solidFill>
          </a:ln>
        </p:spPr>
        <p:txBody>
          <a:bodyPr wrap="square">
            <a:spAutoFit/>
          </a:bodyPr>
          <a:lstStyle/>
          <a:p>
            <a:pPr algn="ctr"/>
            <a:r>
              <a:rPr lang="en-US" sz="1100" b="1">
                <a:solidFill>
                  <a:srgbClr val="00B0F0"/>
                </a:solidFill>
              </a:rPr>
              <a:t>12V DC to 5V DC Regulator</a:t>
            </a:r>
            <a:endParaRPr lang="en-US" sz="1100">
              <a:solidFill>
                <a:srgbClr val="00B0F0"/>
              </a:solidFill>
            </a:endParaRPr>
          </a:p>
        </p:txBody>
      </p:sp>
      <p:cxnSp>
        <p:nvCxnSpPr>
          <p:cNvPr id="26" name="Straight Arrow Connector 25">
            <a:extLst>
              <a:ext uri="{FF2B5EF4-FFF2-40B4-BE49-F238E27FC236}">
                <a16:creationId xmlns:a16="http://schemas.microsoft.com/office/drawing/2014/main" id="{07AD982C-F3DB-50E1-D648-9EA64C8C8062}"/>
              </a:ext>
            </a:extLst>
          </p:cNvPr>
          <p:cNvCxnSpPr>
            <a:cxnSpLocks/>
          </p:cNvCxnSpPr>
          <p:nvPr/>
        </p:nvCxnSpPr>
        <p:spPr>
          <a:xfrm flipV="1">
            <a:off x="1209190" y="3063991"/>
            <a:ext cx="332869" cy="57716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8DDDB93F-E026-D312-22FE-6F1E226B3312}"/>
              </a:ext>
            </a:extLst>
          </p:cNvPr>
          <p:cNvCxnSpPr>
            <a:cxnSpLocks/>
          </p:cNvCxnSpPr>
          <p:nvPr/>
        </p:nvCxnSpPr>
        <p:spPr>
          <a:xfrm flipV="1">
            <a:off x="1617568" y="4050329"/>
            <a:ext cx="1080307" cy="77932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FCB7317-6A74-D257-CDAF-DC1202867EDC}"/>
              </a:ext>
            </a:extLst>
          </p:cNvPr>
          <p:cNvCxnSpPr>
            <a:cxnSpLocks/>
          </p:cNvCxnSpPr>
          <p:nvPr/>
        </p:nvCxnSpPr>
        <p:spPr>
          <a:xfrm flipV="1">
            <a:off x="1617568" y="4910817"/>
            <a:ext cx="1511712" cy="398980"/>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42C285E-95DD-CA72-6621-A02402373440}"/>
              </a:ext>
            </a:extLst>
          </p:cNvPr>
          <p:cNvCxnSpPr>
            <a:cxnSpLocks/>
          </p:cNvCxnSpPr>
          <p:nvPr/>
        </p:nvCxnSpPr>
        <p:spPr>
          <a:xfrm flipV="1">
            <a:off x="1546950" y="5800015"/>
            <a:ext cx="1150925" cy="125805"/>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51536598-E67F-0A67-02D5-34AE4E181403}"/>
              </a:ext>
            </a:extLst>
          </p:cNvPr>
          <p:cNvCxnSpPr>
            <a:cxnSpLocks/>
          </p:cNvCxnSpPr>
          <p:nvPr/>
        </p:nvCxnSpPr>
        <p:spPr>
          <a:xfrm flipH="1">
            <a:off x="4079356" y="4035810"/>
            <a:ext cx="1186961" cy="218646"/>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1ACCC54-ACEF-A05A-0E69-FBF7B5EAF82C}"/>
              </a:ext>
            </a:extLst>
          </p:cNvPr>
          <p:cNvCxnSpPr>
            <a:cxnSpLocks/>
          </p:cNvCxnSpPr>
          <p:nvPr/>
        </p:nvCxnSpPr>
        <p:spPr>
          <a:xfrm flipH="1" flipV="1">
            <a:off x="4683863" y="4562305"/>
            <a:ext cx="626886" cy="155253"/>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2525982-BB6B-9C41-F5D0-9CE1059DD0DC}"/>
              </a:ext>
            </a:extLst>
          </p:cNvPr>
          <p:cNvCxnSpPr>
            <a:cxnSpLocks/>
          </p:cNvCxnSpPr>
          <p:nvPr/>
        </p:nvCxnSpPr>
        <p:spPr>
          <a:xfrm flipH="1" flipV="1">
            <a:off x="4051545" y="5164086"/>
            <a:ext cx="1269941" cy="10014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5F63928-0051-9D1F-04A4-CA00C5371727}"/>
              </a:ext>
            </a:extLst>
          </p:cNvPr>
          <p:cNvCxnSpPr>
            <a:cxnSpLocks/>
          </p:cNvCxnSpPr>
          <p:nvPr/>
        </p:nvCxnSpPr>
        <p:spPr>
          <a:xfrm flipH="1" flipV="1">
            <a:off x="3928114" y="5909453"/>
            <a:ext cx="1395670" cy="68102"/>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74B7D1C-2742-712D-18EB-897451283656}"/>
              </a:ext>
            </a:extLst>
          </p:cNvPr>
          <p:cNvCxnSpPr>
            <a:cxnSpLocks/>
          </p:cNvCxnSpPr>
          <p:nvPr/>
        </p:nvCxnSpPr>
        <p:spPr>
          <a:xfrm flipH="1">
            <a:off x="7810496" y="3544278"/>
            <a:ext cx="866311" cy="1636629"/>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D85CEFD-7287-88F6-1006-6C16113A087F}"/>
              </a:ext>
            </a:extLst>
          </p:cNvPr>
          <p:cNvCxnSpPr>
            <a:cxnSpLocks/>
          </p:cNvCxnSpPr>
          <p:nvPr/>
        </p:nvCxnSpPr>
        <p:spPr>
          <a:xfrm flipH="1">
            <a:off x="7416800" y="1877143"/>
            <a:ext cx="885186" cy="723817"/>
          </a:xfrm>
          <a:prstGeom prst="straightConnector1">
            <a:avLst/>
          </a:prstGeom>
          <a:ln w="5715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3" name="Content Placeholder 5">
            <a:extLst>
              <a:ext uri="{FF2B5EF4-FFF2-40B4-BE49-F238E27FC236}">
                <a16:creationId xmlns:a16="http://schemas.microsoft.com/office/drawing/2014/main" id="{95323B53-E00A-823F-7046-3404BDEE898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592074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38537-4705-7AE5-40DB-D41B41332E43}"/>
              </a:ext>
            </a:extLst>
          </p:cNvPr>
          <p:cNvSpPr>
            <a:spLocks noGrp="1"/>
          </p:cNvSpPr>
          <p:nvPr>
            <p:ph type="title"/>
          </p:nvPr>
        </p:nvSpPr>
        <p:spPr/>
        <p:txBody>
          <a:bodyPr>
            <a:normAutofit/>
          </a:bodyPr>
          <a:lstStyle/>
          <a:p>
            <a:r>
              <a:rPr lang="en-US" b="1"/>
              <a:t>KestrelSAT MCU: ESP32 WROOM </a:t>
            </a:r>
          </a:p>
        </p:txBody>
      </p:sp>
      <p:sp>
        <p:nvSpPr>
          <p:cNvPr id="3" name="Content Placeholder 2">
            <a:extLst>
              <a:ext uri="{FF2B5EF4-FFF2-40B4-BE49-F238E27FC236}">
                <a16:creationId xmlns:a16="http://schemas.microsoft.com/office/drawing/2014/main" id="{94951BE9-49A9-223C-1AF8-448E72959CC4}"/>
              </a:ext>
            </a:extLst>
          </p:cNvPr>
          <p:cNvSpPr>
            <a:spLocks noGrp="1"/>
          </p:cNvSpPr>
          <p:nvPr>
            <p:ph idx="1"/>
          </p:nvPr>
        </p:nvSpPr>
        <p:spPr>
          <a:xfrm>
            <a:off x="1240762" y="953185"/>
            <a:ext cx="4982001" cy="5159523"/>
          </a:xfrm>
        </p:spPr>
        <p:txBody>
          <a:bodyPr>
            <a:normAutofit/>
          </a:bodyPr>
          <a:lstStyle/>
          <a:p>
            <a:pPr marL="0" indent="0">
              <a:buNone/>
            </a:pPr>
            <a:r>
              <a:rPr lang="en-US" sz="1800"/>
              <a:t>KestrelSAT uses an </a:t>
            </a:r>
            <a:r>
              <a:rPr lang="en-US" sz="1800" err="1"/>
              <a:t>Espressif</a:t>
            </a:r>
            <a:r>
              <a:rPr lang="en-US" sz="1800"/>
              <a:t> ESP32 WROOM MCU on a </a:t>
            </a:r>
            <a:r>
              <a:rPr lang="en-US" sz="1800" err="1">
                <a:hlinkClick r:id="rId2"/>
              </a:rPr>
              <a:t>Sparkfun</a:t>
            </a:r>
            <a:r>
              <a:rPr lang="en-US" sz="1800"/>
              <a:t> Thing Plus breakout board. </a:t>
            </a:r>
          </a:p>
          <a:p>
            <a:pPr marL="0" indent="0">
              <a:buNone/>
            </a:pPr>
            <a:endParaRPr lang="en-US" sz="1050"/>
          </a:p>
          <a:p>
            <a:pPr marL="0" indent="0">
              <a:spcBef>
                <a:spcPts val="0"/>
              </a:spcBef>
              <a:spcAft>
                <a:spcPts val="600"/>
              </a:spcAft>
              <a:buNone/>
            </a:pPr>
            <a:r>
              <a:rPr lang="en-US" sz="1400" b="1"/>
              <a:t>Features:</a:t>
            </a:r>
          </a:p>
          <a:p>
            <a:pPr marL="0" indent="0">
              <a:spcBef>
                <a:spcPts val="0"/>
              </a:spcBef>
              <a:spcAft>
                <a:spcPts val="600"/>
              </a:spcAft>
              <a:buNone/>
            </a:pPr>
            <a:r>
              <a:rPr lang="en-US" sz="1100"/>
              <a:t>Xtensa® Dual-Core 32-bit LX6 Microprocessor (up to 240MHz)</a:t>
            </a:r>
          </a:p>
          <a:p>
            <a:pPr marL="0" indent="0">
              <a:spcBef>
                <a:spcPts val="0"/>
              </a:spcBef>
              <a:spcAft>
                <a:spcPts val="600"/>
              </a:spcAft>
              <a:buNone/>
            </a:pPr>
            <a:r>
              <a:rPr lang="en-US" sz="1100"/>
              <a:t>448KB of ROM and 520KB SRAM, 16MB of Embedded SPI flash storage</a:t>
            </a:r>
          </a:p>
          <a:p>
            <a:pPr marL="0" indent="0">
              <a:spcBef>
                <a:spcPts val="0"/>
              </a:spcBef>
              <a:spcAft>
                <a:spcPts val="600"/>
              </a:spcAft>
              <a:buNone/>
            </a:pPr>
            <a:r>
              <a:rPr lang="en-US" sz="1100"/>
              <a:t>21 Multifunctional GPIO, Up to thirteen 12-bit ADC Channels</a:t>
            </a:r>
          </a:p>
          <a:p>
            <a:pPr marL="0" indent="0">
              <a:spcBef>
                <a:spcPts val="0"/>
              </a:spcBef>
              <a:spcAft>
                <a:spcPts val="600"/>
              </a:spcAft>
              <a:buNone/>
            </a:pPr>
            <a:r>
              <a:rPr lang="en-US" sz="1100"/>
              <a:t>Up to sixteen PWM outputs, Up to two DAC channels</a:t>
            </a:r>
          </a:p>
          <a:p>
            <a:pPr marL="0" indent="0">
              <a:spcBef>
                <a:spcPts val="0"/>
              </a:spcBef>
              <a:spcAft>
                <a:spcPts val="600"/>
              </a:spcAft>
              <a:buNone/>
            </a:pPr>
            <a:r>
              <a:rPr lang="en-US" sz="1200"/>
              <a:t>Integrated 802.11b/g/n </a:t>
            </a:r>
            <a:r>
              <a:rPr lang="en-US" sz="1200" err="1"/>
              <a:t>WiFi</a:t>
            </a:r>
            <a:r>
              <a:rPr lang="en-US" sz="1200"/>
              <a:t> 2.4GHz transceiver</a:t>
            </a:r>
          </a:p>
          <a:p>
            <a:pPr marL="0" indent="0">
              <a:spcBef>
                <a:spcPts val="0"/>
              </a:spcBef>
              <a:spcAft>
                <a:spcPts val="600"/>
              </a:spcAft>
              <a:buNone/>
            </a:pPr>
            <a:r>
              <a:rPr lang="en-US" sz="1200"/>
              <a:t>Integrated dual-mode Bluetooth® (classic and BLE®)</a:t>
            </a:r>
          </a:p>
          <a:p>
            <a:pPr marL="0" indent="0">
              <a:spcBef>
                <a:spcPts val="0"/>
              </a:spcBef>
              <a:spcAft>
                <a:spcPts val="600"/>
              </a:spcAft>
              <a:buNone/>
            </a:pPr>
            <a:r>
              <a:rPr lang="en-US" sz="1200">
                <a:solidFill>
                  <a:srgbClr val="1D1D1B"/>
                </a:solidFill>
                <a:hlinkClick r:id="rId3"/>
              </a:rPr>
              <a:t>MAX17048</a:t>
            </a:r>
            <a:r>
              <a:rPr lang="en-US" sz="1200">
                <a:solidFill>
                  <a:srgbClr val="1D1D1B"/>
                </a:solidFill>
              </a:rPr>
              <a:t> Fuel Gauge</a:t>
            </a:r>
          </a:p>
          <a:p>
            <a:pPr marL="0" indent="0">
              <a:buNone/>
            </a:pPr>
            <a:endParaRPr lang="en-US" sz="1200"/>
          </a:p>
          <a:p>
            <a:pPr marL="0" indent="0">
              <a:buNone/>
            </a:pPr>
            <a:endParaRPr lang="en-US" sz="2000"/>
          </a:p>
        </p:txBody>
      </p:sp>
      <p:sp>
        <p:nvSpPr>
          <p:cNvPr id="4" name="Footer Placeholder 3">
            <a:extLst>
              <a:ext uri="{FF2B5EF4-FFF2-40B4-BE49-F238E27FC236}">
                <a16:creationId xmlns:a16="http://schemas.microsoft.com/office/drawing/2014/main" id="{9EBF0B95-888D-71B3-23B4-6B39810C3457}"/>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287CAECA-0CD0-C8B5-E36F-D7ABE635336C}"/>
              </a:ext>
            </a:extLst>
          </p:cNvPr>
          <p:cNvSpPr>
            <a:spLocks noGrp="1"/>
          </p:cNvSpPr>
          <p:nvPr>
            <p:ph type="sldNum" sz="quarter" idx="12"/>
          </p:nvPr>
        </p:nvSpPr>
        <p:spPr/>
        <p:txBody>
          <a:bodyPr/>
          <a:lstStyle/>
          <a:p>
            <a:fld id="{9A3029B7-FE6B-4680-9049-80E8298A0825}" type="slidenum">
              <a:rPr lang="en-US" smtClean="0"/>
              <a:t>4</a:t>
            </a:fld>
            <a:endParaRPr lang="en-US"/>
          </a:p>
        </p:txBody>
      </p:sp>
      <p:pic>
        <p:nvPicPr>
          <p:cNvPr id="1026" name="Picture 2" descr="SparkFun Thing Plus - ESP32 WROOM (USB-C)">
            <a:extLst>
              <a:ext uri="{FF2B5EF4-FFF2-40B4-BE49-F238E27FC236}">
                <a16:creationId xmlns:a16="http://schemas.microsoft.com/office/drawing/2014/main" id="{D71354C1-64CE-2CF8-75FB-F524F897F533}"/>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35283" y="163837"/>
            <a:ext cx="3820175" cy="3820175"/>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4A13BB8F-ADD0-2976-C2C0-20B25B5DB836}"/>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b="1">
                <a:solidFill>
                  <a:srgbClr val="00B0F0"/>
                </a:solidFill>
              </a:rPr>
              <a:t>Reference</a:t>
            </a:r>
          </a:p>
          <a:p>
            <a:pPr marL="0" indent="0">
              <a:buNone/>
            </a:pPr>
            <a:r>
              <a:rPr lang="en-US" sz="1200"/>
              <a:t>Prelab</a:t>
            </a:r>
          </a:p>
          <a:p>
            <a:pPr marL="0" indent="0">
              <a:buNone/>
            </a:pPr>
            <a:r>
              <a:rPr lang="en-US" sz="1200"/>
              <a:t>Task 0</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Turn-in </a:t>
            </a:r>
            <a:r>
              <a:rPr lang="en-US" sz="1200" err="1"/>
              <a:t>Reqt’s</a:t>
            </a:r>
            <a:endParaRPr lang="en-US" sz="1200"/>
          </a:p>
          <a:p>
            <a:pPr marL="0" indent="0">
              <a:buNone/>
            </a:pPr>
            <a:endParaRPr lang="en-US" sz="1200"/>
          </a:p>
        </p:txBody>
      </p:sp>
      <p:sp>
        <p:nvSpPr>
          <p:cNvPr id="7" name="Content Placeholder 6">
            <a:extLst>
              <a:ext uri="{FF2B5EF4-FFF2-40B4-BE49-F238E27FC236}">
                <a16:creationId xmlns:a16="http://schemas.microsoft.com/office/drawing/2014/main" id="{64F2ADC7-1C0B-1113-6AF5-9E6967605E07}"/>
              </a:ext>
            </a:extLst>
          </p:cNvPr>
          <p:cNvSpPr txBox="1">
            <a:spLocks/>
          </p:cNvSpPr>
          <p:nvPr/>
        </p:nvSpPr>
        <p:spPr>
          <a:xfrm>
            <a:off x="6465346" y="5440695"/>
            <a:ext cx="2390968" cy="1280782"/>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050" u="sng">
                <a:solidFill>
                  <a:srgbClr val="FF0000"/>
                </a:solidFill>
              </a:rPr>
              <a:t>WARNING</a:t>
            </a:r>
          </a:p>
          <a:p>
            <a:pPr>
              <a:spcBef>
                <a:spcPts val="0"/>
              </a:spcBef>
            </a:pPr>
            <a:r>
              <a:rPr lang="en-US" sz="1050">
                <a:solidFill>
                  <a:srgbClr val="FF0000"/>
                </a:solidFill>
              </a:rPr>
              <a:t>This MCU is a 3.3V microcontroller. DO NOT apply &gt;3.3V (i.e. 5V or 12V) to any pin on the device, except:</a:t>
            </a:r>
          </a:p>
          <a:p>
            <a:pPr>
              <a:spcBef>
                <a:spcPts val="0"/>
              </a:spcBef>
            </a:pPr>
            <a:r>
              <a:rPr lang="en-US" sz="1050">
                <a:solidFill>
                  <a:srgbClr val="FF0000"/>
                </a:solidFill>
              </a:rPr>
              <a:t>- 5V via the USB connecter (i.e. power from laptop or 5V charger)</a:t>
            </a:r>
          </a:p>
          <a:p>
            <a:pPr>
              <a:spcBef>
                <a:spcPts val="0"/>
              </a:spcBef>
            </a:pPr>
            <a:r>
              <a:rPr lang="en-US" sz="1050">
                <a:solidFill>
                  <a:srgbClr val="FF0000"/>
                </a:solidFill>
              </a:rPr>
              <a:t>- 5V to VUSB pin</a:t>
            </a:r>
          </a:p>
          <a:p>
            <a:pPr>
              <a:spcBef>
                <a:spcPts val="0"/>
              </a:spcBef>
            </a:pPr>
            <a:r>
              <a:rPr lang="en-US" sz="1050">
                <a:solidFill>
                  <a:srgbClr val="FF0000"/>
                </a:solidFill>
              </a:rPr>
              <a:t>- Up to 4.2V to VBAT pin</a:t>
            </a:r>
          </a:p>
          <a:p>
            <a:pPr>
              <a:spcBef>
                <a:spcPts val="0"/>
              </a:spcBef>
            </a:pPr>
            <a:endParaRPr lang="en-US" sz="1050">
              <a:solidFill>
                <a:srgbClr val="FF0000"/>
              </a:solidFill>
            </a:endParaRPr>
          </a:p>
        </p:txBody>
      </p:sp>
      <p:sp>
        <p:nvSpPr>
          <p:cNvPr id="9" name="TextBox 8">
            <a:extLst>
              <a:ext uri="{FF2B5EF4-FFF2-40B4-BE49-F238E27FC236}">
                <a16:creationId xmlns:a16="http://schemas.microsoft.com/office/drawing/2014/main" id="{C37AF465-006A-96E2-28AD-02E3B345BE0D}"/>
              </a:ext>
            </a:extLst>
          </p:cNvPr>
          <p:cNvSpPr txBox="1"/>
          <p:nvPr/>
        </p:nvSpPr>
        <p:spPr>
          <a:xfrm>
            <a:off x="1240763" y="6037923"/>
            <a:ext cx="4598894" cy="646331"/>
          </a:xfrm>
          <a:prstGeom prst="rect">
            <a:avLst/>
          </a:prstGeom>
          <a:noFill/>
        </p:spPr>
        <p:txBody>
          <a:bodyPr wrap="square">
            <a:spAutoFit/>
          </a:bodyPr>
          <a:lstStyle/>
          <a:p>
            <a:pPr marL="0" indent="0">
              <a:buNone/>
            </a:pPr>
            <a:r>
              <a:rPr lang="en-US" sz="1800">
                <a:hlinkClick r:id="rId5"/>
              </a:rPr>
              <a:t>Product Page</a:t>
            </a:r>
            <a:endParaRPr lang="en-US" sz="1800"/>
          </a:p>
          <a:p>
            <a:pPr marL="0" indent="0">
              <a:buNone/>
            </a:pPr>
            <a:r>
              <a:rPr lang="en-US" sz="1800">
                <a:hlinkClick r:id="rId6"/>
              </a:rPr>
              <a:t>Tutorial</a:t>
            </a:r>
            <a:endParaRPr lang="en-US" sz="1800"/>
          </a:p>
        </p:txBody>
      </p:sp>
      <p:sp>
        <p:nvSpPr>
          <p:cNvPr id="11" name="TextBox 10">
            <a:extLst>
              <a:ext uri="{FF2B5EF4-FFF2-40B4-BE49-F238E27FC236}">
                <a16:creationId xmlns:a16="http://schemas.microsoft.com/office/drawing/2014/main" id="{84E5F9A6-51AE-62E4-B38A-838E96466A6E}"/>
              </a:ext>
            </a:extLst>
          </p:cNvPr>
          <p:cNvSpPr txBox="1"/>
          <p:nvPr/>
        </p:nvSpPr>
        <p:spPr>
          <a:xfrm>
            <a:off x="6031516" y="3254122"/>
            <a:ext cx="3066119" cy="1015663"/>
          </a:xfrm>
          <a:prstGeom prst="rect">
            <a:avLst/>
          </a:prstGeom>
          <a:noFill/>
        </p:spPr>
        <p:txBody>
          <a:bodyPr wrap="square">
            <a:spAutoFit/>
          </a:bodyPr>
          <a:lstStyle/>
          <a:p>
            <a:pPr marL="0" indent="0" algn="ctr">
              <a:buNone/>
            </a:pPr>
            <a:r>
              <a:rPr lang="en-US" sz="1200" b="1" u="sng"/>
              <a:t>LEDs</a:t>
            </a:r>
          </a:p>
          <a:p>
            <a:pPr marL="0" indent="0">
              <a:buNone/>
            </a:pPr>
            <a:r>
              <a:rPr lang="en-US" sz="1200">
                <a:highlight>
                  <a:srgbClr val="FF0000"/>
                </a:highlight>
              </a:rPr>
              <a:t>PWR</a:t>
            </a:r>
            <a:r>
              <a:rPr lang="en-US" sz="1200"/>
              <a:t> - Red power LED</a:t>
            </a:r>
          </a:p>
          <a:p>
            <a:pPr marL="0" indent="0">
              <a:buNone/>
            </a:pPr>
            <a:r>
              <a:rPr lang="en-US" sz="1200">
                <a:highlight>
                  <a:srgbClr val="FFFF00"/>
                </a:highlight>
              </a:rPr>
              <a:t>CHG</a:t>
            </a:r>
            <a:r>
              <a:rPr lang="en-US" sz="1200"/>
              <a:t> - Yellow battery charging indicator</a:t>
            </a:r>
          </a:p>
          <a:p>
            <a:pPr marL="0" indent="0">
              <a:buNone/>
            </a:pPr>
            <a:r>
              <a:rPr lang="en-US" sz="1200">
                <a:highlight>
                  <a:srgbClr val="00FFFF"/>
                </a:highlight>
              </a:rPr>
              <a:t>STAT</a:t>
            </a:r>
            <a:r>
              <a:rPr lang="en-US" sz="1200"/>
              <a:t> - Blue status LED (user-programable)</a:t>
            </a:r>
          </a:p>
          <a:p>
            <a:pPr marL="0" indent="0">
              <a:buNone/>
            </a:pPr>
            <a:r>
              <a:rPr lang="en-US" sz="1200">
                <a:hlinkClick r:id="rId7"/>
              </a:rPr>
              <a:t>WS2812</a:t>
            </a:r>
            <a:r>
              <a:rPr lang="en-US" sz="1200"/>
              <a:t> </a:t>
            </a:r>
            <a:r>
              <a:rPr lang="en-US" sz="1200">
                <a:highlight>
                  <a:srgbClr val="FF0000"/>
                </a:highlight>
              </a:rPr>
              <a:t>R</a:t>
            </a:r>
            <a:r>
              <a:rPr lang="en-US" sz="1200">
                <a:highlight>
                  <a:srgbClr val="00FF00"/>
                </a:highlight>
              </a:rPr>
              <a:t>G</a:t>
            </a:r>
            <a:r>
              <a:rPr lang="en-US" sz="1200">
                <a:highlight>
                  <a:srgbClr val="00FFFF"/>
                </a:highlight>
              </a:rPr>
              <a:t>B</a:t>
            </a:r>
            <a:r>
              <a:rPr lang="en-US" sz="1200"/>
              <a:t> LED (user-programable)</a:t>
            </a:r>
          </a:p>
        </p:txBody>
      </p:sp>
      <p:sp>
        <p:nvSpPr>
          <p:cNvPr id="12" name="Freeform: Shape 11">
            <a:extLst>
              <a:ext uri="{FF2B5EF4-FFF2-40B4-BE49-F238E27FC236}">
                <a16:creationId xmlns:a16="http://schemas.microsoft.com/office/drawing/2014/main" id="{F55D8095-5913-BA98-3EC2-8D7C2E6A1F74}"/>
              </a:ext>
            </a:extLst>
          </p:cNvPr>
          <p:cNvSpPr/>
          <p:nvPr/>
        </p:nvSpPr>
        <p:spPr>
          <a:xfrm>
            <a:off x="8552329" y="1581377"/>
            <a:ext cx="484683" cy="2582809"/>
          </a:xfrm>
          <a:custGeom>
            <a:avLst/>
            <a:gdLst>
              <a:gd name="csX0" fmla="*/ 75304 w 484683"/>
              <a:gd name="csY0" fmla="*/ 2796989 h 2851945"/>
              <a:gd name="csX1" fmla="*/ 376518 w 484683"/>
              <a:gd name="csY1" fmla="*/ 2700170 h 2851945"/>
              <a:gd name="csX2" fmla="*/ 462579 w 484683"/>
              <a:gd name="csY2" fmla="*/ 1506071 h 2851945"/>
              <a:gd name="csX3" fmla="*/ 0 w 484683"/>
              <a:gd name="csY3" fmla="*/ 0 h 2851945"/>
            </a:gdLst>
            <a:ahLst/>
            <a:cxnLst>
              <a:cxn ang="0">
                <a:pos x="csX0" y="csY0"/>
              </a:cxn>
              <a:cxn ang="0">
                <a:pos x="csX1" y="csY1"/>
              </a:cxn>
              <a:cxn ang="0">
                <a:pos x="csX2" y="csY2"/>
              </a:cxn>
              <a:cxn ang="0">
                <a:pos x="csX3" y="csY3"/>
              </a:cxn>
            </a:cxnLst>
            <a:rect l="l" t="t" r="r" b="b"/>
            <a:pathLst>
              <a:path w="484683" h="2851945">
                <a:moveTo>
                  <a:pt x="75304" y="2796989"/>
                </a:moveTo>
                <a:cubicBezTo>
                  <a:pt x="193638" y="2856156"/>
                  <a:pt x="311972" y="2915323"/>
                  <a:pt x="376518" y="2700170"/>
                </a:cubicBezTo>
                <a:cubicBezTo>
                  <a:pt x="441064" y="2485017"/>
                  <a:pt x="525332" y="1956099"/>
                  <a:pt x="462579" y="1506071"/>
                </a:cubicBezTo>
                <a:cubicBezTo>
                  <a:pt x="399826" y="1056043"/>
                  <a:pt x="199913" y="528021"/>
                  <a:pt x="0" y="0"/>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7441D4C-CEB4-B3CD-B419-19E91C9B35BE}"/>
              </a:ext>
            </a:extLst>
          </p:cNvPr>
          <p:cNvSpPr txBox="1"/>
          <p:nvPr/>
        </p:nvSpPr>
        <p:spPr>
          <a:xfrm>
            <a:off x="6222764" y="4260004"/>
            <a:ext cx="2683621" cy="938719"/>
          </a:xfrm>
          <a:prstGeom prst="rect">
            <a:avLst/>
          </a:prstGeom>
          <a:noFill/>
        </p:spPr>
        <p:txBody>
          <a:bodyPr wrap="square">
            <a:spAutoFit/>
          </a:bodyPr>
          <a:lstStyle/>
          <a:p>
            <a:pPr algn="ctr"/>
            <a:r>
              <a:rPr lang="en-US" sz="1100" b="1" i="0" u="sng">
                <a:solidFill>
                  <a:srgbClr val="1D1D1B"/>
                </a:solidFill>
                <a:effectLst/>
                <a:latin typeface="Open Sans" panose="020B0606030504020204" pitchFamily="34" charset="0"/>
              </a:rPr>
              <a:t>Connectors</a:t>
            </a:r>
          </a:p>
          <a:p>
            <a:pPr algn="l"/>
            <a:r>
              <a:rPr lang="en-US" sz="1100" b="0" i="0">
                <a:solidFill>
                  <a:srgbClr val="1D1D1B"/>
                </a:solidFill>
                <a:effectLst/>
                <a:latin typeface="Open Sans" panose="020B0606030504020204" pitchFamily="34" charset="0"/>
              </a:rPr>
              <a:t>USB-C Connector</a:t>
            </a:r>
          </a:p>
          <a:p>
            <a:pPr algn="l"/>
            <a:r>
              <a:rPr lang="en-US" sz="1100" b="0" i="0">
                <a:solidFill>
                  <a:srgbClr val="1D1D1B"/>
                </a:solidFill>
                <a:effectLst/>
                <a:latin typeface="Open Sans" panose="020B0606030504020204" pitchFamily="34" charset="0"/>
              </a:rPr>
              <a:t>2-pin JST Connector for a LiPo Battery</a:t>
            </a:r>
          </a:p>
          <a:p>
            <a:pPr algn="l"/>
            <a:r>
              <a:rPr lang="en-US" sz="1100" b="0" i="0">
                <a:solidFill>
                  <a:srgbClr val="1D1D1B"/>
                </a:solidFill>
                <a:effectLst/>
                <a:latin typeface="Open Sans" panose="020B0606030504020204" pitchFamily="34" charset="0"/>
              </a:rPr>
              <a:t>4-pin JST </a:t>
            </a:r>
            <a:r>
              <a:rPr lang="en-US" sz="1100" b="0" i="0" err="1">
                <a:solidFill>
                  <a:srgbClr val="1D1D1B"/>
                </a:solidFill>
                <a:effectLst/>
                <a:latin typeface="Open Sans" panose="020B0606030504020204" pitchFamily="34" charset="0"/>
              </a:rPr>
              <a:t>Qwiic</a:t>
            </a:r>
            <a:r>
              <a:rPr lang="en-US" sz="1100" b="0" i="0">
                <a:solidFill>
                  <a:srgbClr val="1D1D1B"/>
                </a:solidFill>
                <a:effectLst/>
                <a:latin typeface="Open Sans" panose="020B0606030504020204" pitchFamily="34" charset="0"/>
              </a:rPr>
              <a:t> Connector</a:t>
            </a:r>
          </a:p>
          <a:p>
            <a:pPr algn="l"/>
            <a:r>
              <a:rPr lang="en-US" sz="1100" b="0" i="0">
                <a:solidFill>
                  <a:srgbClr val="1D1D1B"/>
                </a:solidFill>
                <a:effectLst/>
                <a:latin typeface="Open Sans" panose="020B0606030504020204" pitchFamily="34" charset="0"/>
              </a:rPr>
              <a:t>SD Card Slot</a:t>
            </a:r>
          </a:p>
        </p:txBody>
      </p:sp>
      <p:pic>
        <p:nvPicPr>
          <p:cNvPr id="8" name="Picture 2" descr="SparkFun Thing Plus - ESP32 WROOM (USB-C)">
            <a:extLst>
              <a:ext uri="{FF2B5EF4-FFF2-40B4-BE49-F238E27FC236}">
                <a16:creationId xmlns:a16="http://schemas.microsoft.com/office/drawing/2014/main" id="{B2F40249-4610-854D-ECEF-CD89EF410F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1412040" y="2747336"/>
            <a:ext cx="333375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arkFun Thing Plus - ESP32 WROOM (USB-C)">
            <a:extLst>
              <a:ext uri="{FF2B5EF4-FFF2-40B4-BE49-F238E27FC236}">
                <a16:creationId xmlns:a16="http://schemas.microsoft.com/office/drawing/2014/main" id="{FDD4DA5C-2511-AA33-F54F-A232CC33FA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6200000">
            <a:off x="2697460" y="4026320"/>
            <a:ext cx="3333750" cy="333375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183AF18B-7BE0-CC1E-E98E-7D73257997E5}"/>
              </a:ext>
            </a:extLst>
          </p:cNvPr>
          <p:cNvCxnSpPr>
            <a:cxnSpLocks/>
          </p:cNvCxnSpPr>
          <p:nvPr/>
        </p:nvCxnSpPr>
        <p:spPr>
          <a:xfrm flipH="1" flipV="1">
            <a:off x="4467343" y="4412486"/>
            <a:ext cx="1797340" cy="126602"/>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81CF660-A4D1-E34B-603A-83C985782DAD}"/>
              </a:ext>
            </a:extLst>
          </p:cNvPr>
          <p:cNvCxnSpPr>
            <a:cxnSpLocks/>
          </p:cNvCxnSpPr>
          <p:nvPr/>
        </p:nvCxnSpPr>
        <p:spPr>
          <a:xfrm flipH="1">
            <a:off x="3746619" y="4717256"/>
            <a:ext cx="2525594" cy="73607"/>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F0036DD-2DB8-F3A9-5D6B-1E6EE222C5CF}"/>
              </a:ext>
            </a:extLst>
          </p:cNvPr>
          <p:cNvCxnSpPr>
            <a:cxnSpLocks/>
          </p:cNvCxnSpPr>
          <p:nvPr/>
        </p:nvCxnSpPr>
        <p:spPr>
          <a:xfrm flipH="1">
            <a:off x="4125704" y="4895037"/>
            <a:ext cx="2146509" cy="0"/>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E568FE48-A0D0-1148-6FDC-F73BC588D566}"/>
              </a:ext>
            </a:extLst>
          </p:cNvPr>
          <p:cNvCxnSpPr>
            <a:cxnSpLocks/>
          </p:cNvCxnSpPr>
          <p:nvPr/>
        </p:nvCxnSpPr>
        <p:spPr>
          <a:xfrm flipH="1">
            <a:off x="5153025" y="5055708"/>
            <a:ext cx="1119188" cy="488962"/>
          </a:xfrm>
          <a:prstGeom prst="straightConnector1">
            <a:avLst/>
          </a:prstGeom>
          <a:ln>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5809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C0B3-1EC3-5E9A-8F32-877B156CE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81CAB-FDB7-4776-6FEF-87B0DFB21E98}"/>
              </a:ext>
            </a:extLst>
          </p:cNvPr>
          <p:cNvSpPr>
            <a:spLocks noGrp="1"/>
          </p:cNvSpPr>
          <p:nvPr>
            <p:ph type="title"/>
          </p:nvPr>
        </p:nvSpPr>
        <p:spPr/>
        <p:txBody>
          <a:bodyPr>
            <a:normAutofit/>
          </a:bodyPr>
          <a:lstStyle/>
          <a:p>
            <a:r>
              <a:rPr lang="en-US" b="1"/>
              <a:t>ESP32 Thing Plus Pinout Diagram</a:t>
            </a:r>
          </a:p>
        </p:txBody>
      </p:sp>
      <p:sp>
        <p:nvSpPr>
          <p:cNvPr id="4" name="Footer Placeholder 3">
            <a:extLst>
              <a:ext uri="{FF2B5EF4-FFF2-40B4-BE49-F238E27FC236}">
                <a16:creationId xmlns:a16="http://schemas.microsoft.com/office/drawing/2014/main" id="{E68801EB-CF08-3CA5-9478-5D2B008F28A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851EDD8-FB91-4812-EBD8-CAB2CB4D5DB0}"/>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10" name="Picture 9">
            <a:extLst>
              <a:ext uri="{FF2B5EF4-FFF2-40B4-BE49-F238E27FC236}">
                <a16:creationId xmlns:a16="http://schemas.microsoft.com/office/drawing/2014/main" id="{BF885ED0-54BA-8E84-11C7-4CB8B1FAB93C}"/>
              </a:ext>
            </a:extLst>
          </p:cNvPr>
          <p:cNvPicPr>
            <a:picLocks noChangeAspect="1"/>
          </p:cNvPicPr>
          <p:nvPr/>
        </p:nvPicPr>
        <p:blipFill>
          <a:blip r:embed="rId2"/>
          <a:stretch>
            <a:fillRect/>
          </a:stretch>
        </p:blipFill>
        <p:spPr>
          <a:xfrm>
            <a:off x="1066990" y="909248"/>
            <a:ext cx="8077010" cy="5841960"/>
          </a:xfrm>
          <a:prstGeom prst="rect">
            <a:avLst/>
          </a:prstGeom>
        </p:spPr>
      </p:pic>
      <p:sp>
        <p:nvSpPr>
          <p:cNvPr id="3" name="Content Placeholder 5">
            <a:extLst>
              <a:ext uri="{FF2B5EF4-FFF2-40B4-BE49-F238E27FC236}">
                <a16:creationId xmlns:a16="http://schemas.microsoft.com/office/drawing/2014/main" id="{F39E0281-BD4D-B595-A8F6-54F44780853A}"/>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72707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A0A30-407F-6632-4CA6-C36865CD044C}"/>
              </a:ext>
            </a:extLst>
          </p:cNvPr>
          <p:cNvSpPr>
            <a:spLocks noGrp="1"/>
          </p:cNvSpPr>
          <p:nvPr>
            <p:ph type="title"/>
          </p:nvPr>
        </p:nvSpPr>
        <p:spPr/>
        <p:txBody>
          <a:bodyPr/>
          <a:lstStyle/>
          <a:p>
            <a:r>
              <a:rPr lang="en-US" b="1"/>
              <a:t>KestrelSAT Solar Panel Reference</a:t>
            </a:r>
          </a:p>
        </p:txBody>
      </p:sp>
      <p:sp>
        <p:nvSpPr>
          <p:cNvPr id="3" name="Content Placeholder 2">
            <a:extLst>
              <a:ext uri="{FF2B5EF4-FFF2-40B4-BE49-F238E27FC236}">
                <a16:creationId xmlns:a16="http://schemas.microsoft.com/office/drawing/2014/main" id="{F9AA9B07-DA5A-2BAB-BAF1-C2625E49822E}"/>
              </a:ext>
            </a:extLst>
          </p:cNvPr>
          <p:cNvSpPr>
            <a:spLocks noGrp="1"/>
          </p:cNvSpPr>
          <p:nvPr>
            <p:ph idx="1"/>
          </p:nvPr>
        </p:nvSpPr>
        <p:spPr>
          <a:xfrm>
            <a:off x="1066990" y="1311657"/>
            <a:ext cx="7449820" cy="1228885"/>
          </a:xfrm>
        </p:spPr>
        <p:txBody>
          <a:bodyPr>
            <a:normAutofit/>
          </a:bodyPr>
          <a:lstStyle/>
          <a:p>
            <a:pPr marL="0" indent="0">
              <a:buNone/>
            </a:pPr>
            <a:r>
              <a:rPr lang="en-US" sz="2000">
                <a:hlinkClick r:id="rId2"/>
              </a:rPr>
              <a:t>Solar Panel Datasheet</a:t>
            </a:r>
            <a:endParaRPr lang="en-US" sz="2000">
              <a:hlinkClick r:id="rId3"/>
            </a:endParaRPr>
          </a:p>
          <a:p>
            <a:pPr marL="0" indent="0">
              <a:buNone/>
            </a:pPr>
            <a:r>
              <a:rPr lang="en-US" sz="2000">
                <a:hlinkClick r:id="rId3"/>
              </a:rPr>
              <a:t>Solar Panel Product Page</a:t>
            </a:r>
            <a:endParaRPr lang="en-US" sz="2000"/>
          </a:p>
        </p:txBody>
      </p:sp>
      <p:sp>
        <p:nvSpPr>
          <p:cNvPr id="4" name="Footer Placeholder 3">
            <a:extLst>
              <a:ext uri="{FF2B5EF4-FFF2-40B4-BE49-F238E27FC236}">
                <a16:creationId xmlns:a16="http://schemas.microsoft.com/office/drawing/2014/main" id="{B5A81671-2BB8-CB92-7F87-345FA9451AAC}"/>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3A3F7998-DD1F-C4D9-EE44-2E9C1914C227}"/>
              </a:ext>
            </a:extLst>
          </p:cNvPr>
          <p:cNvSpPr>
            <a:spLocks noGrp="1"/>
          </p:cNvSpPr>
          <p:nvPr>
            <p:ph type="sldNum" sz="quarter" idx="12"/>
          </p:nvPr>
        </p:nvSpPr>
        <p:spPr/>
        <p:txBody>
          <a:bodyPr/>
          <a:lstStyle/>
          <a:p>
            <a:fld id="{9A3029B7-FE6B-4680-9049-80E8298A0825}" type="slidenum">
              <a:rPr lang="en-US" smtClean="0"/>
              <a:t>6</a:t>
            </a:fld>
            <a:endParaRPr lang="en-US"/>
          </a:p>
        </p:txBody>
      </p:sp>
      <p:pic>
        <p:nvPicPr>
          <p:cNvPr id="9" name="Picture 8">
            <a:extLst>
              <a:ext uri="{FF2B5EF4-FFF2-40B4-BE49-F238E27FC236}">
                <a16:creationId xmlns:a16="http://schemas.microsoft.com/office/drawing/2014/main" id="{93C60A8D-78A4-5678-AD8F-A94EB4A92692}"/>
              </a:ext>
            </a:extLst>
          </p:cNvPr>
          <p:cNvPicPr>
            <a:picLocks noChangeAspect="1"/>
          </p:cNvPicPr>
          <p:nvPr/>
        </p:nvPicPr>
        <p:blipFill>
          <a:blip r:embed="rId4"/>
          <a:stretch>
            <a:fillRect/>
          </a:stretch>
        </p:blipFill>
        <p:spPr>
          <a:xfrm>
            <a:off x="4973344" y="3636974"/>
            <a:ext cx="3810532" cy="2735054"/>
          </a:xfrm>
          <a:prstGeom prst="rect">
            <a:avLst/>
          </a:prstGeom>
        </p:spPr>
      </p:pic>
      <p:pic>
        <p:nvPicPr>
          <p:cNvPr id="11" name="Picture 10">
            <a:extLst>
              <a:ext uri="{FF2B5EF4-FFF2-40B4-BE49-F238E27FC236}">
                <a16:creationId xmlns:a16="http://schemas.microsoft.com/office/drawing/2014/main" id="{8044E737-AC30-6E67-C4AA-12B40BDE7D97}"/>
              </a:ext>
            </a:extLst>
          </p:cNvPr>
          <p:cNvPicPr>
            <a:picLocks noChangeAspect="1"/>
          </p:cNvPicPr>
          <p:nvPr/>
        </p:nvPicPr>
        <p:blipFill>
          <a:blip r:embed="rId5"/>
          <a:srcRect t="5082" b="10373"/>
          <a:stretch>
            <a:fillRect/>
          </a:stretch>
        </p:blipFill>
        <p:spPr>
          <a:xfrm>
            <a:off x="4699404" y="1284001"/>
            <a:ext cx="4444596" cy="2208775"/>
          </a:xfrm>
          <a:prstGeom prst="rect">
            <a:avLst/>
          </a:prstGeom>
        </p:spPr>
      </p:pic>
      <p:sp>
        <p:nvSpPr>
          <p:cNvPr id="13" name="TextBox 12">
            <a:extLst>
              <a:ext uri="{FF2B5EF4-FFF2-40B4-BE49-F238E27FC236}">
                <a16:creationId xmlns:a16="http://schemas.microsoft.com/office/drawing/2014/main" id="{09EC88F3-C721-AB6A-89D4-F2E5C6B6109F}"/>
              </a:ext>
            </a:extLst>
          </p:cNvPr>
          <p:cNvSpPr txBox="1"/>
          <p:nvPr/>
        </p:nvSpPr>
        <p:spPr>
          <a:xfrm>
            <a:off x="2687344" y="849992"/>
            <a:ext cx="4572000" cy="461665"/>
          </a:xfrm>
          <a:prstGeom prst="rect">
            <a:avLst/>
          </a:prstGeom>
          <a:noFill/>
        </p:spPr>
        <p:txBody>
          <a:bodyPr wrap="square">
            <a:spAutoFit/>
          </a:bodyPr>
          <a:lstStyle/>
          <a:p>
            <a:pPr algn="ctr"/>
            <a:r>
              <a:rPr lang="en-US" sz="2400" b="1">
                <a:solidFill>
                  <a:srgbClr val="FF0000"/>
                </a:solidFill>
              </a:rPr>
              <a:t>*Data listed is for single cell*</a:t>
            </a:r>
          </a:p>
        </p:txBody>
      </p:sp>
      <p:pic>
        <p:nvPicPr>
          <p:cNvPr id="10" name="Picture 9">
            <a:extLst>
              <a:ext uri="{FF2B5EF4-FFF2-40B4-BE49-F238E27FC236}">
                <a16:creationId xmlns:a16="http://schemas.microsoft.com/office/drawing/2014/main" id="{D1276567-F5AE-C8AC-4EFC-8363E38F7430}"/>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1026524" y="2215052"/>
            <a:ext cx="3810532" cy="4601217"/>
          </a:xfrm>
          <a:prstGeom prst="rect">
            <a:avLst/>
          </a:prstGeom>
        </p:spPr>
      </p:pic>
      <p:sp>
        <p:nvSpPr>
          <p:cNvPr id="6" name="Content Placeholder 5">
            <a:extLst>
              <a:ext uri="{FF2B5EF4-FFF2-40B4-BE49-F238E27FC236}">
                <a16:creationId xmlns:a16="http://schemas.microsoft.com/office/drawing/2014/main" id="{8A83103B-EF8C-95BE-DDBB-78211F255531}"/>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600938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AAC38-E17C-C116-41A3-3C75606C330D}"/>
              </a:ext>
            </a:extLst>
          </p:cNvPr>
          <p:cNvSpPr>
            <a:spLocks noGrp="1"/>
          </p:cNvSpPr>
          <p:nvPr>
            <p:ph type="title"/>
          </p:nvPr>
        </p:nvSpPr>
        <p:spPr/>
        <p:txBody>
          <a:bodyPr/>
          <a:lstStyle/>
          <a:p>
            <a:r>
              <a:rPr lang="en-US" b="1"/>
              <a:t>Reference – Voltage Divider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C3A3DB-DFD7-2388-E525-4717772FBD81}"/>
                  </a:ext>
                </a:extLst>
              </p:cNvPr>
              <p:cNvSpPr>
                <a:spLocks noGrp="1"/>
              </p:cNvSpPr>
              <p:nvPr>
                <p:ph idx="1"/>
              </p:nvPr>
            </p:nvSpPr>
            <p:spPr>
              <a:xfrm>
                <a:off x="1106339" y="1002506"/>
                <a:ext cx="4410541" cy="5591334"/>
              </a:xfrm>
            </p:spPr>
            <p:txBody>
              <a:bodyPr>
                <a:normAutofit fontScale="77500" lnSpcReduction="20000"/>
              </a:bodyPr>
              <a:lstStyle/>
              <a:p>
                <a:pPr marL="0" indent="0">
                  <a:buNone/>
                </a:pPr>
                <a:r>
                  <a:rPr lang="en-US" sz="2300"/>
                  <a:t>A </a:t>
                </a:r>
                <a:r>
                  <a:rPr lang="en-US" sz="2300" b="1"/>
                  <a:t>voltage divider</a:t>
                </a:r>
                <a:r>
                  <a:rPr lang="en-US" sz="2300"/>
                  <a:t> is one of the simplest and most useful circuits in electronics. It uses two resistors (or other resistive elements) in series to "divide" an input voltage into a smaller output voltage.</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sz="2300" b="1"/>
                  <a:t>Example:</a:t>
                </a:r>
              </a:p>
              <a:p>
                <a:pPr marL="0" indent="0">
                  <a:buNone/>
                </a:pPr>
                <a14:m>
                  <m:oMathPara xmlns:m="http://schemas.openxmlformats.org/officeDocument/2006/math">
                    <m:oMathParaPr>
                      <m:jc m:val="centerGroup"/>
                    </m:oMathParaPr>
                    <m:oMath xmlns:m="http://schemas.openxmlformats.org/officeDocument/2006/math">
                      <m:sSub>
                        <m:sSubPr>
                          <m:ctrlPr>
                            <a:rPr lang="ar-AE" sz="2300" i="1">
                              <a:latin typeface="Cambria Math" panose="02040503050406030204" pitchFamily="18" charset="0"/>
                            </a:rPr>
                          </m:ctrlPr>
                        </m:sSubPr>
                        <m:e>
                          <m:r>
                            <a:rPr lang="ar-AE" sz="2300" i="1">
                              <a:latin typeface="Cambria Math" panose="02040503050406030204" pitchFamily="18" charset="0"/>
                            </a:rPr>
                            <m:t>𝑉</m:t>
                          </m:r>
                        </m:e>
                        <m:sub>
                          <m:r>
                            <a:rPr lang="ar-AE" sz="2300" i="1">
                              <a:latin typeface="Cambria Math" panose="02040503050406030204" pitchFamily="18" charset="0"/>
                            </a:rPr>
                            <m:t>𝑖𝑛</m:t>
                          </m:r>
                        </m:sub>
                      </m:sSub>
                      <m:r>
                        <a:rPr lang="ar-AE" sz="2300">
                          <a:latin typeface="Cambria Math" panose="02040503050406030204" pitchFamily="18" charset="0"/>
                        </a:rPr>
                        <m:t>=</m:t>
                      </m:r>
                      <m:r>
                        <a:rPr lang="ar-AE" sz="2300">
                          <a:latin typeface="Cambria Math" panose="02040503050406030204" pitchFamily="18" charset="0"/>
                        </a:rPr>
                        <m:t>12</m:t>
                      </m:r>
                      <m:r>
                        <m:rPr>
                          <m:nor/>
                        </m:rPr>
                        <a:rPr lang="ar-AE" sz="2300" i="1"/>
                        <m:t>  </m:t>
                      </m:r>
                      <m:r>
                        <a:rPr lang="ar-AE" sz="2300" i="1">
                          <a:latin typeface="Cambria Math" panose="02040503050406030204" pitchFamily="18" charset="0"/>
                        </a:rPr>
                        <m:t>𝑉</m:t>
                      </m:r>
                    </m:oMath>
                  </m:oMathPara>
                </a14:m>
                <a:endParaRPr lang="ar-AE" sz="2300"/>
              </a:p>
              <a:p>
                <a:pPr marL="0" indent="0">
                  <a:buNone/>
                </a:pPr>
                <a14:m>
                  <m:oMathPara xmlns:m="http://schemas.openxmlformats.org/officeDocument/2006/math">
                    <m:oMathParaPr>
                      <m:jc m:val="centerGroup"/>
                    </m:oMathParaPr>
                    <m:oMath xmlns:m="http://schemas.openxmlformats.org/officeDocument/2006/math">
                      <m:r>
                        <a:rPr lang="ar-AE" sz="2300" i="1">
                          <a:latin typeface="Cambria Math" panose="02040503050406030204" pitchFamily="18" charset="0"/>
                        </a:rPr>
                        <m:t>𝑅</m:t>
                      </m:r>
                      <m:r>
                        <a:rPr lang="ar-AE" sz="2300">
                          <a:latin typeface="Cambria Math" panose="02040503050406030204" pitchFamily="18" charset="0"/>
                        </a:rPr>
                        <m:t>1</m:t>
                      </m:r>
                      <m:r>
                        <a:rPr lang="ar-AE" sz="2300">
                          <a:latin typeface="Cambria Math" panose="02040503050406030204" pitchFamily="18" charset="0"/>
                        </a:rPr>
                        <m:t>=</m:t>
                      </m:r>
                      <m:r>
                        <a:rPr lang="ar-AE" sz="2300">
                          <a:latin typeface="Cambria Math" panose="02040503050406030204" pitchFamily="18" charset="0"/>
                        </a:rPr>
                        <m:t>8</m:t>
                      </m:r>
                      <m:r>
                        <m:rPr>
                          <m:nor/>
                        </m:rPr>
                        <a:rPr lang="ar-AE" sz="2300" i="1"/>
                        <m:t>  </m:t>
                      </m:r>
                      <m:r>
                        <a:rPr lang="ar-AE" sz="2300" i="1">
                          <a:latin typeface="Cambria Math" panose="02040503050406030204" pitchFamily="18" charset="0"/>
                        </a:rPr>
                        <m:t>𝑘</m:t>
                      </m:r>
                      <m:r>
                        <m:rPr>
                          <m:sty m:val="p"/>
                        </m:rPr>
                        <a:rPr lang="el-GR" sz="2300">
                          <a:latin typeface="Cambria Math" panose="02040503050406030204" pitchFamily="18" charset="0"/>
                        </a:rPr>
                        <m:t>Ω</m:t>
                      </m:r>
                    </m:oMath>
                  </m:oMathPara>
                </a14:m>
                <a:endParaRPr lang="el-GR" sz="2300"/>
              </a:p>
              <a:p>
                <a:pPr marL="0" indent="0">
                  <a:buNone/>
                </a:pPr>
                <a14:m>
                  <m:oMathPara xmlns:m="http://schemas.openxmlformats.org/officeDocument/2006/math">
                    <m:oMathParaPr>
                      <m:jc m:val="centerGroup"/>
                    </m:oMathParaPr>
                    <m:oMath xmlns:m="http://schemas.openxmlformats.org/officeDocument/2006/math">
                      <m:r>
                        <a:rPr lang="el-GR" sz="2300" i="1">
                          <a:latin typeface="Cambria Math" panose="02040503050406030204" pitchFamily="18" charset="0"/>
                        </a:rPr>
                        <m:t>𝑅</m:t>
                      </m:r>
                      <m:r>
                        <a:rPr lang="el-GR" sz="2300">
                          <a:latin typeface="Cambria Math" panose="02040503050406030204" pitchFamily="18" charset="0"/>
                        </a:rPr>
                        <m:t>2</m:t>
                      </m:r>
                      <m:r>
                        <a:rPr lang="el-GR" sz="2300">
                          <a:latin typeface="Cambria Math" panose="02040503050406030204" pitchFamily="18" charset="0"/>
                        </a:rPr>
                        <m:t>=</m:t>
                      </m:r>
                      <m:r>
                        <a:rPr lang="el-GR" sz="2300">
                          <a:latin typeface="Cambria Math" panose="02040503050406030204" pitchFamily="18" charset="0"/>
                        </a:rPr>
                        <m:t>4</m:t>
                      </m:r>
                      <m:r>
                        <m:rPr>
                          <m:nor/>
                        </m:rPr>
                        <a:rPr lang="el-GR" sz="2300" i="1"/>
                        <m:t>  </m:t>
                      </m:r>
                      <m:r>
                        <a:rPr lang="el-GR" sz="2300" i="1">
                          <a:latin typeface="Cambria Math" panose="02040503050406030204" pitchFamily="18" charset="0"/>
                        </a:rPr>
                        <m:t>𝑘</m:t>
                      </m:r>
                      <m:r>
                        <m:rPr>
                          <m:sty m:val="p"/>
                        </m:rPr>
                        <a:rPr lang="el-GR" sz="2300">
                          <a:latin typeface="Cambria Math" panose="02040503050406030204" pitchFamily="18" charset="0"/>
                        </a:rPr>
                        <m:t>Ω</m:t>
                      </m:r>
                    </m:oMath>
                  </m:oMathPara>
                </a14:m>
                <a:endParaRPr lang="en-US" sz="2300"/>
              </a:p>
              <a:p>
                <a:pPr marL="0" indent="0">
                  <a:buNone/>
                </a:pPr>
                <a:endParaRPr lang="el-GR" sz="2300"/>
              </a:p>
              <a:p>
                <a:pPr marL="0" indent="0">
                  <a:buNone/>
                </a:pPr>
                <a14:m>
                  <m:oMathPara xmlns:m="http://schemas.openxmlformats.org/officeDocument/2006/math">
                    <m:oMathParaPr>
                      <m:jc m:val="centerGroup"/>
                    </m:oMathParaPr>
                    <m:oMath xmlns:m="http://schemas.openxmlformats.org/officeDocument/2006/math">
                      <m:sSub>
                        <m:sSubPr>
                          <m:ctrlPr>
                            <a:rPr lang="ar-AE" sz="2300" i="1">
                              <a:latin typeface="Cambria Math" panose="02040503050406030204" pitchFamily="18" charset="0"/>
                            </a:rPr>
                          </m:ctrlPr>
                        </m:sSubPr>
                        <m:e>
                          <m:r>
                            <a:rPr lang="ar-AE" sz="2300" i="1">
                              <a:latin typeface="Cambria Math" panose="02040503050406030204" pitchFamily="18" charset="0"/>
                            </a:rPr>
                            <m:t>𝑉</m:t>
                          </m:r>
                        </m:e>
                        <m:sub>
                          <m:r>
                            <a:rPr lang="ar-AE" sz="2300" i="1">
                              <a:latin typeface="Cambria Math" panose="02040503050406030204" pitchFamily="18" charset="0"/>
                            </a:rPr>
                            <m:t>𝑜𝑢𝑡</m:t>
                          </m:r>
                        </m:sub>
                      </m:sSub>
                      <m:r>
                        <a:rPr lang="ar-AE" sz="2300">
                          <a:latin typeface="Cambria Math" panose="02040503050406030204" pitchFamily="18" charset="0"/>
                        </a:rPr>
                        <m:t>=</m:t>
                      </m:r>
                      <m:r>
                        <a:rPr lang="ar-AE" sz="2300">
                          <a:latin typeface="Cambria Math" panose="02040503050406030204" pitchFamily="18" charset="0"/>
                        </a:rPr>
                        <m:t>12</m:t>
                      </m:r>
                      <m:r>
                        <a:rPr lang="ar-AE" sz="2300">
                          <a:latin typeface="Cambria Math" panose="02040503050406030204" pitchFamily="18" charset="0"/>
                        </a:rPr>
                        <m:t>⋅</m:t>
                      </m:r>
                      <m:f>
                        <m:fPr>
                          <m:ctrlPr>
                            <a:rPr lang="ar-AE" sz="2300" i="1">
                              <a:latin typeface="Cambria Math" panose="02040503050406030204" pitchFamily="18" charset="0"/>
                            </a:rPr>
                          </m:ctrlPr>
                        </m:fPr>
                        <m:num>
                          <m:r>
                            <a:rPr lang="ar-AE" sz="2300">
                              <a:latin typeface="Cambria Math" panose="02040503050406030204" pitchFamily="18" charset="0"/>
                            </a:rPr>
                            <m:t>4</m:t>
                          </m:r>
                        </m:num>
                        <m:den>
                          <m:r>
                            <a:rPr lang="ar-AE" sz="2300">
                              <a:latin typeface="Cambria Math" panose="02040503050406030204" pitchFamily="18" charset="0"/>
                            </a:rPr>
                            <m:t>8</m:t>
                          </m:r>
                          <m:r>
                            <a:rPr lang="ar-AE" sz="2300">
                              <a:latin typeface="Cambria Math" panose="02040503050406030204" pitchFamily="18" charset="0"/>
                            </a:rPr>
                            <m:t>+</m:t>
                          </m:r>
                          <m:r>
                            <a:rPr lang="ar-AE" sz="2300">
                              <a:latin typeface="Cambria Math" panose="02040503050406030204" pitchFamily="18" charset="0"/>
                            </a:rPr>
                            <m:t>4</m:t>
                          </m:r>
                        </m:den>
                      </m:f>
                      <m:r>
                        <a:rPr lang="ar-AE" sz="2300">
                          <a:latin typeface="Cambria Math" panose="02040503050406030204" pitchFamily="18" charset="0"/>
                        </a:rPr>
                        <m:t>=</m:t>
                      </m:r>
                      <m:r>
                        <a:rPr lang="ar-AE" sz="2300">
                          <a:latin typeface="Cambria Math" panose="02040503050406030204" pitchFamily="18" charset="0"/>
                        </a:rPr>
                        <m:t>12</m:t>
                      </m:r>
                      <m:r>
                        <a:rPr lang="ar-AE" sz="2300">
                          <a:latin typeface="Cambria Math" panose="02040503050406030204" pitchFamily="18" charset="0"/>
                        </a:rPr>
                        <m:t>⋅</m:t>
                      </m:r>
                      <m:f>
                        <m:fPr>
                          <m:ctrlPr>
                            <a:rPr lang="ar-AE" sz="2300" i="1">
                              <a:latin typeface="Cambria Math" panose="02040503050406030204" pitchFamily="18" charset="0"/>
                            </a:rPr>
                          </m:ctrlPr>
                        </m:fPr>
                        <m:num>
                          <m:r>
                            <a:rPr lang="ar-AE" sz="2300">
                              <a:latin typeface="Cambria Math" panose="02040503050406030204" pitchFamily="18" charset="0"/>
                            </a:rPr>
                            <m:t>4</m:t>
                          </m:r>
                        </m:num>
                        <m:den>
                          <m:r>
                            <a:rPr lang="ar-AE" sz="2300">
                              <a:latin typeface="Cambria Math" panose="02040503050406030204" pitchFamily="18" charset="0"/>
                            </a:rPr>
                            <m:t>12</m:t>
                          </m:r>
                        </m:den>
                      </m:f>
                      <m:r>
                        <a:rPr lang="ar-AE" sz="2300">
                          <a:latin typeface="Cambria Math" panose="02040503050406030204" pitchFamily="18" charset="0"/>
                        </a:rPr>
                        <m:t>=</m:t>
                      </m:r>
                      <m:r>
                        <a:rPr lang="ar-AE" sz="2300">
                          <a:latin typeface="Cambria Math" panose="02040503050406030204" pitchFamily="18" charset="0"/>
                        </a:rPr>
                        <m:t>4</m:t>
                      </m:r>
                      <m:r>
                        <m:rPr>
                          <m:nor/>
                        </m:rPr>
                        <a:rPr lang="ar-AE" sz="2300" i="1"/>
                        <m:t>  </m:t>
                      </m:r>
                      <m:r>
                        <a:rPr lang="ar-AE" sz="2300" i="1">
                          <a:latin typeface="Cambria Math" panose="02040503050406030204" pitchFamily="18" charset="0"/>
                        </a:rPr>
                        <m:t>𝑉</m:t>
                      </m:r>
                    </m:oMath>
                  </m:oMathPara>
                </a14:m>
                <a:endParaRPr lang="ar-AE" sz="2300" b="0"/>
              </a:p>
              <a:p>
                <a:pPr marL="0" indent="0">
                  <a:buNone/>
                </a:pPr>
                <a:endParaRPr lang="en-US" sz="2300">
                  <a:sym typeface="Wingdings" panose="05000000000000000000" pitchFamily="2" charset="2"/>
                </a:endParaRPr>
              </a:p>
              <a:p>
                <a:pPr marL="0" indent="0">
                  <a:buNone/>
                </a:pPr>
                <a:r>
                  <a:rPr lang="en-US" sz="2300">
                    <a:sym typeface="Wingdings" panose="05000000000000000000" pitchFamily="2" charset="2"/>
                  </a:rPr>
                  <a:t></a:t>
                </a:r>
                <a:r>
                  <a:rPr lang="en-US" sz="2300"/>
                  <a:t>So the divider turns </a:t>
                </a:r>
                <a:r>
                  <a:rPr lang="en-US" sz="2300" b="1"/>
                  <a:t>12 V into 4 V</a:t>
                </a:r>
                <a:r>
                  <a:rPr lang="en-US" sz="2300"/>
                  <a:t>.</a:t>
                </a:r>
              </a:p>
            </p:txBody>
          </p:sp>
        </mc:Choice>
        <mc:Fallback xmlns="">
          <p:sp>
            <p:nvSpPr>
              <p:cNvPr id="3" name="Content Placeholder 2">
                <a:extLst>
                  <a:ext uri="{FF2B5EF4-FFF2-40B4-BE49-F238E27FC236}">
                    <a16:creationId xmlns:a16="http://schemas.microsoft.com/office/drawing/2014/main" id="{BAC3A3DB-DFD7-2388-E525-4717772FBD81}"/>
                  </a:ext>
                </a:extLst>
              </p:cNvPr>
              <p:cNvSpPr>
                <a:spLocks noGrp="1" noRot="1" noChangeAspect="1" noMove="1" noResize="1" noEditPoints="1" noAdjustHandles="1" noChangeArrowheads="1" noChangeShapeType="1" noTextEdit="1"/>
              </p:cNvSpPr>
              <p:nvPr>
                <p:ph idx="1"/>
              </p:nvPr>
            </p:nvSpPr>
            <p:spPr>
              <a:xfrm>
                <a:off x="1106339" y="1002506"/>
                <a:ext cx="4410541" cy="5591334"/>
              </a:xfrm>
              <a:blipFill>
                <a:blip r:embed="rId2"/>
                <a:stretch>
                  <a:fillRect l="-1105" t="-185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7B957F5-BD10-50DA-B3C9-919D365DEB50}"/>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4FC79469-9989-71FD-999E-BDA1B7B82FB5}"/>
              </a:ext>
            </a:extLst>
          </p:cNvPr>
          <p:cNvSpPr>
            <a:spLocks noGrp="1"/>
          </p:cNvSpPr>
          <p:nvPr>
            <p:ph type="sldNum" sz="quarter" idx="12"/>
          </p:nvPr>
        </p:nvSpPr>
        <p:spPr/>
        <p:txBody>
          <a:bodyPr/>
          <a:lstStyle/>
          <a:p>
            <a:fld id="{9A3029B7-FE6B-4680-9049-80E8298A0825}" type="slidenum">
              <a:rPr lang="en-US" smtClean="0"/>
              <a:t>7</a:t>
            </a:fld>
            <a:endParaRPr lang="en-US"/>
          </a:p>
        </p:txBody>
      </p:sp>
      <p:pic>
        <p:nvPicPr>
          <p:cNvPr id="2050" name="Picture 2">
            <a:extLst>
              <a:ext uri="{FF2B5EF4-FFF2-40B4-BE49-F238E27FC236}">
                <a16:creationId xmlns:a16="http://schemas.microsoft.com/office/drawing/2014/main" id="{C144189C-2544-8ABA-E37B-00999E02EC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9833" y="1026157"/>
            <a:ext cx="3154541" cy="370603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B68677DC-C00C-8CC4-325F-1C8B04CFEC6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2053594" y="1843423"/>
            <a:ext cx="2181529" cy="990738"/>
          </a:xfrm>
          <a:prstGeom prst="rect">
            <a:avLst/>
          </a:prstGeom>
        </p:spPr>
      </p:pic>
      <p:pic>
        <p:nvPicPr>
          <p:cNvPr id="9" name="Picture 8">
            <a:extLst>
              <a:ext uri="{FF2B5EF4-FFF2-40B4-BE49-F238E27FC236}">
                <a16:creationId xmlns:a16="http://schemas.microsoft.com/office/drawing/2014/main" id="{616E9A89-B7FC-B08B-F48B-EC9EE1D4E523}"/>
              </a:ext>
            </a:extLst>
          </p:cNvPr>
          <p:cNvPicPr>
            <a:picLocks noChangeAspect="1"/>
          </p:cNvPicPr>
          <p:nvPr/>
        </p:nvPicPr>
        <p:blipFill>
          <a:blip r:embed="rId5"/>
          <a:stretch>
            <a:fillRect/>
          </a:stretch>
        </p:blipFill>
        <p:spPr>
          <a:xfrm>
            <a:off x="1182400" y="2666894"/>
            <a:ext cx="4334480" cy="762106"/>
          </a:xfrm>
          <a:prstGeom prst="rect">
            <a:avLst/>
          </a:prstGeom>
        </p:spPr>
      </p:pic>
      <p:sp>
        <p:nvSpPr>
          <p:cNvPr id="10" name="TextBox 9">
            <a:extLst>
              <a:ext uri="{FF2B5EF4-FFF2-40B4-BE49-F238E27FC236}">
                <a16:creationId xmlns:a16="http://schemas.microsoft.com/office/drawing/2014/main" id="{AF074AD1-E3D4-6F42-BE17-F2823FF1BC41}"/>
              </a:ext>
            </a:extLst>
          </p:cNvPr>
          <p:cNvSpPr txBox="1"/>
          <p:nvPr/>
        </p:nvSpPr>
        <p:spPr>
          <a:xfrm>
            <a:off x="5257526" y="4876033"/>
            <a:ext cx="3696165" cy="1384995"/>
          </a:xfrm>
          <a:prstGeom prst="rect">
            <a:avLst/>
          </a:prstGeom>
          <a:noFill/>
          <a:ln>
            <a:solidFill>
              <a:srgbClr val="FF0000"/>
            </a:solidFill>
          </a:ln>
        </p:spPr>
        <p:txBody>
          <a:bodyPr wrap="square" rtlCol="0">
            <a:spAutoFit/>
          </a:bodyPr>
          <a:lstStyle/>
          <a:p>
            <a:pPr algn="ctr"/>
            <a:r>
              <a:rPr lang="en-US" sz="1400" b="1" u="sng">
                <a:solidFill>
                  <a:srgbClr val="FF0000"/>
                </a:solidFill>
              </a:rPr>
              <a:t>Warning</a:t>
            </a:r>
            <a:endParaRPr lang="en-US" b="1" u="sng">
              <a:solidFill>
                <a:srgbClr val="FF0000"/>
              </a:solidFill>
            </a:endParaRPr>
          </a:p>
          <a:p>
            <a:pPr algn="ctr"/>
            <a:r>
              <a:rPr lang="en-US" sz="1400">
                <a:solidFill>
                  <a:srgbClr val="FF0000"/>
                </a:solidFill>
              </a:rPr>
              <a:t>Voltage dividers are </a:t>
            </a:r>
            <a:r>
              <a:rPr lang="en-US" sz="1400" b="1">
                <a:solidFill>
                  <a:srgbClr val="FF0000"/>
                </a:solidFill>
              </a:rPr>
              <a:t>not good for powering loads</a:t>
            </a:r>
            <a:r>
              <a:rPr lang="en-US" sz="1400">
                <a:solidFill>
                  <a:srgbClr val="FF0000"/>
                </a:solidFill>
              </a:rPr>
              <a:t> because any current drawn from </a:t>
            </a:r>
            <a:r>
              <a:rPr lang="en-US" sz="1400" err="1">
                <a:solidFill>
                  <a:srgbClr val="FF0000"/>
                </a:solidFill>
              </a:rPr>
              <a:t>V</a:t>
            </a:r>
            <a:r>
              <a:rPr lang="en-US" sz="1400" baseline="-25000" err="1">
                <a:solidFill>
                  <a:srgbClr val="FF0000"/>
                </a:solidFill>
              </a:rPr>
              <a:t>out</a:t>
            </a:r>
            <a:r>
              <a:rPr lang="en-US" sz="1400">
                <a:solidFill>
                  <a:srgbClr val="FF0000"/>
                </a:solidFill>
              </a:rPr>
              <a:t> changes the resistor ratios (and the voltage drops). They’re best used for </a:t>
            </a:r>
            <a:r>
              <a:rPr lang="en-US" sz="1400" b="1">
                <a:solidFill>
                  <a:srgbClr val="FF0000"/>
                </a:solidFill>
              </a:rPr>
              <a:t>signal-level applications</a:t>
            </a:r>
            <a:r>
              <a:rPr lang="en-US" sz="1400">
                <a:solidFill>
                  <a:srgbClr val="FF0000"/>
                </a:solidFill>
              </a:rPr>
              <a:t>, not as actual power supplies.</a:t>
            </a:r>
          </a:p>
        </p:txBody>
      </p:sp>
      <p:sp>
        <p:nvSpPr>
          <p:cNvPr id="6" name="Content Placeholder 5">
            <a:extLst>
              <a:ext uri="{FF2B5EF4-FFF2-40B4-BE49-F238E27FC236}">
                <a16:creationId xmlns:a16="http://schemas.microsoft.com/office/drawing/2014/main" id="{B0737D59-2F9C-05CD-5A9B-704AA6AE77FB}"/>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966145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2BC98-FE3D-76A3-0512-14650AA23AF9}"/>
              </a:ext>
            </a:extLst>
          </p:cNvPr>
          <p:cNvSpPr>
            <a:spLocks noGrp="1"/>
          </p:cNvSpPr>
          <p:nvPr>
            <p:ph type="title"/>
          </p:nvPr>
        </p:nvSpPr>
        <p:spPr/>
        <p:txBody>
          <a:bodyPr/>
          <a:lstStyle/>
          <a:p>
            <a:r>
              <a:rPr lang="en-US" b="1"/>
              <a:t>Reference – Potentiometer </a:t>
            </a:r>
          </a:p>
        </p:txBody>
      </p:sp>
      <p:sp>
        <p:nvSpPr>
          <p:cNvPr id="3" name="Content Placeholder 2">
            <a:extLst>
              <a:ext uri="{FF2B5EF4-FFF2-40B4-BE49-F238E27FC236}">
                <a16:creationId xmlns:a16="http://schemas.microsoft.com/office/drawing/2014/main" id="{48A795D8-9704-F020-7D73-F48CF8EDDFCD}"/>
              </a:ext>
            </a:extLst>
          </p:cNvPr>
          <p:cNvSpPr>
            <a:spLocks noGrp="1"/>
          </p:cNvSpPr>
          <p:nvPr>
            <p:ph idx="1"/>
          </p:nvPr>
        </p:nvSpPr>
        <p:spPr>
          <a:xfrm>
            <a:off x="1106340" y="1002506"/>
            <a:ext cx="5213180" cy="5462599"/>
          </a:xfrm>
        </p:spPr>
        <p:txBody>
          <a:bodyPr>
            <a:normAutofit fontScale="92500" lnSpcReduction="10000"/>
          </a:bodyPr>
          <a:lstStyle/>
          <a:p>
            <a:pPr marL="0" indent="0">
              <a:buNone/>
            </a:pPr>
            <a:r>
              <a:rPr lang="en-US" sz="1800"/>
              <a:t>A </a:t>
            </a:r>
            <a:r>
              <a:rPr lang="en-US" sz="1800" b="1"/>
              <a:t>potentiometer</a:t>
            </a:r>
            <a:r>
              <a:rPr lang="en-US" sz="1800"/>
              <a:t> (often called a </a:t>
            </a:r>
            <a:r>
              <a:rPr lang="en-US" sz="1800" i="1"/>
              <a:t>pot</a:t>
            </a:r>
            <a:r>
              <a:rPr lang="en-US" sz="1800"/>
              <a:t>) is a three-terminal variable resistor that you can adjust to control voltage or resistance in a circuit. It’s basically a resistor with a sliding or rotating contact (called the </a:t>
            </a:r>
            <a:r>
              <a:rPr lang="en-US" sz="1800" i="1"/>
              <a:t>wiper</a:t>
            </a:r>
            <a:r>
              <a:rPr lang="en-US" sz="1800"/>
              <a:t>) that moves along a resistive track.</a:t>
            </a:r>
          </a:p>
          <a:p>
            <a:pPr marL="0" indent="0">
              <a:buNone/>
            </a:pPr>
            <a:endParaRPr lang="en-US" sz="1800"/>
          </a:p>
          <a:p>
            <a:pPr marL="0" indent="0">
              <a:buNone/>
            </a:pPr>
            <a:r>
              <a:rPr lang="en-US" sz="1800" b="1"/>
              <a:t>Structure</a:t>
            </a:r>
          </a:p>
          <a:p>
            <a:r>
              <a:rPr lang="en-US" sz="1800" b="1"/>
              <a:t>Two outer terminals</a:t>
            </a:r>
            <a:r>
              <a:rPr lang="en-US" sz="1800"/>
              <a:t>: connected to the ends of a resistive element.</a:t>
            </a:r>
          </a:p>
          <a:p>
            <a:r>
              <a:rPr lang="en-US" sz="1800" b="1"/>
              <a:t>One middle terminal (wiper)</a:t>
            </a:r>
            <a:r>
              <a:rPr lang="en-US" sz="1800"/>
              <a:t>: slides along the resistive track and “taps” into it at any point.</a:t>
            </a:r>
          </a:p>
          <a:p>
            <a:endParaRPr lang="en-US" sz="1800"/>
          </a:p>
          <a:p>
            <a:pPr marL="0" indent="0">
              <a:buNone/>
            </a:pPr>
            <a:r>
              <a:rPr lang="en-US" sz="1800" b="1"/>
              <a:t>How it Works</a:t>
            </a:r>
          </a:p>
          <a:p>
            <a:r>
              <a:rPr lang="en-US" sz="1800"/>
              <a:t>If you connect the </a:t>
            </a:r>
            <a:r>
              <a:rPr lang="en-US" sz="1800" b="1">
                <a:solidFill>
                  <a:srgbClr val="00B050"/>
                </a:solidFill>
              </a:rPr>
              <a:t>outer two terminals</a:t>
            </a:r>
            <a:r>
              <a:rPr lang="en-US" sz="1800">
                <a:solidFill>
                  <a:srgbClr val="00B050"/>
                </a:solidFill>
              </a:rPr>
              <a:t> </a:t>
            </a:r>
            <a:r>
              <a:rPr lang="en-US" sz="1800"/>
              <a:t>across a voltage source, the wiper outputs a variable fraction of that voltage (like a </a:t>
            </a:r>
            <a:r>
              <a:rPr lang="en-US" sz="1800" b="1">
                <a:solidFill>
                  <a:srgbClr val="00B050"/>
                </a:solidFill>
              </a:rPr>
              <a:t>voltage divider</a:t>
            </a:r>
            <a:r>
              <a:rPr lang="en-US" sz="1800"/>
              <a:t>).</a:t>
            </a:r>
          </a:p>
          <a:p>
            <a:r>
              <a:rPr lang="en-US" sz="1800"/>
              <a:t>If you use just </a:t>
            </a:r>
            <a:r>
              <a:rPr lang="en-US" sz="1800" b="1">
                <a:solidFill>
                  <a:srgbClr val="0070C0"/>
                </a:solidFill>
              </a:rPr>
              <a:t>one outer terminal and the wiper</a:t>
            </a:r>
            <a:r>
              <a:rPr lang="en-US" sz="1800"/>
              <a:t>, the potentiometer acts as a </a:t>
            </a:r>
            <a:r>
              <a:rPr lang="en-US" sz="1800" b="1">
                <a:solidFill>
                  <a:srgbClr val="0070C0"/>
                </a:solidFill>
              </a:rPr>
              <a:t>variable resistor </a:t>
            </a:r>
            <a:r>
              <a:rPr lang="en-US" sz="1800"/>
              <a:t>(</a:t>
            </a:r>
            <a:r>
              <a:rPr lang="en-US" sz="1800" i="1"/>
              <a:t>rheostat</a:t>
            </a:r>
            <a:r>
              <a:rPr lang="en-US" sz="1800"/>
              <a:t>).</a:t>
            </a:r>
          </a:p>
          <a:p>
            <a:endParaRPr lang="en-US" sz="2000"/>
          </a:p>
        </p:txBody>
      </p:sp>
      <p:sp>
        <p:nvSpPr>
          <p:cNvPr id="4" name="Footer Placeholder 3">
            <a:extLst>
              <a:ext uri="{FF2B5EF4-FFF2-40B4-BE49-F238E27FC236}">
                <a16:creationId xmlns:a16="http://schemas.microsoft.com/office/drawing/2014/main" id="{FCEBBDF7-5E20-087C-CAB2-BCBAAAF9FE82}"/>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73B2D8E2-6D72-F228-272D-D18AA5A2BFD7}"/>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1026" name="Picture 2" descr="Rotary Potentiometer - Linear (10k ohm) - SparkFun Electronics">
            <a:extLst>
              <a:ext uri="{FF2B5EF4-FFF2-40B4-BE49-F238E27FC236}">
                <a16:creationId xmlns:a16="http://schemas.microsoft.com/office/drawing/2014/main" id="{05760E8F-B9AA-6DE4-1374-14A330FA2EE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56479" y="325530"/>
            <a:ext cx="3605554" cy="36055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C940D05-F17C-9967-7A7D-6F2387BD0D6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25358" y="3824714"/>
            <a:ext cx="3018642" cy="2343887"/>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5">
            <a:extLst>
              <a:ext uri="{FF2B5EF4-FFF2-40B4-BE49-F238E27FC236}">
                <a16:creationId xmlns:a16="http://schemas.microsoft.com/office/drawing/2014/main" id="{896CD0DF-4BE7-3096-22E9-BC3EB4478572}"/>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787220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99D8-35B2-6FCA-637B-754251606DB8}"/>
              </a:ext>
            </a:extLst>
          </p:cNvPr>
          <p:cNvSpPr>
            <a:spLocks noGrp="1"/>
          </p:cNvSpPr>
          <p:nvPr>
            <p:ph type="title"/>
          </p:nvPr>
        </p:nvSpPr>
        <p:spPr/>
        <p:txBody>
          <a:bodyPr>
            <a:normAutofit/>
          </a:bodyPr>
          <a:lstStyle/>
          <a:p>
            <a:pPr>
              <a:tabLst>
                <a:tab pos="5657850" algn="l"/>
              </a:tabLst>
            </a:pPr>
            <a:r>
              <a:rPr lang="en-US" sz="2200" b="1"/>
              <a:t>Reference – I</a:t>
            </a:r>
            <a:r>
              <a:rPr lang="en-US" sz="2200" b="1" baseline="30000"/>
              <a:t>2</a:t>
            </a:r>
            <a:r>
              <a:rPr lang="en-US" sz="2200" b="1"/>
              <a:t>C Communication Bus &amp; STEMMA QT</a:t>
            </a:r>
          </a:p>
        </p:txBody>
      </p:sp>
      <p:sp>
        <p:nvSpPr>
          <p:cNvPr id="3" name="Content Placeholder 2">
            <a:extLst>
              <a:ext uri="{FF2B5EF4-FFF2-40B4-BE49-F238E27FC236}">
                <a16:creationId xmlns:a16="http://schemas.microsoft.com/office/drawing/2014/main" id="{FAE6B2A3-D5CA-DC94-B349-768002F1C3BE}"/>
              </a:ext>
            </a:extLst>
          </p:cNvPr>
          <p:cNvSpPr>
            <a:spLocks noGrp="1"/>
          </p:cNvSpPr>
          <p:nvPr>
            <p:ph idx="1"/>
          </p:nvPr>
        </p:nvSpPr>
        <p:spPr>
          <a:xfrm>
            <a:off x="1106340" y="1002506"/>
            <a:ext cx="5457020" cy="5138987"/>
          </a:xfrm>
        </p:spPr>
        <p:txBody>
          <a:bodyPr>
            <a:normAutofit fontScale="85000" lnSpcReduction="20000"/>
          </a:bodyPr>
          <a:lstStyle/>
          <a:p>
            <a:pPr marL="0" indent="0">
              <a:buNone/>
            </a:pPr>
            <a:r>
              <a:rPr lang="en-US" sz="1800" b="1"/>
              <a:t>I</a:t>
            </a:r>
            <a:r>
              <a:rPr lang="en-US" sz="1800" b="1" baseline="30000"/>
              <a:t>2</a:t>
            </a:r>
            <a:r>
              <a:rPr lang="en-US" sz="1800" b="1"/>
              <a:t>C</a:t>
            </a:r>
            <a:r>
              <a:rPr lang="en-US" sz="1800"/>
              <a:t> is a two-wire serial communication protocol designed for short-distance communication between chips on the same board.  It is used for connecting things like sensors, displays, EEPROMs, and peripherals to a microcontroller.</a:t>
            </a:r>
          </a:p>
          <a:p>
            <a:pPr marL="0" indent="0">
              <a:buNone/>
            </a:pPr>
            <a:r>
              <a:rPr lang="en-US" sz="1800" b="1"/>
              <a:t>SDA (Serial Data) </a:t>
            </a:r>
            <a:r>
              <a:rPr lang="en-US" sz="1800"/>
              <a:t>– carries the data</a:t>
            </a:r>
          </a:p>
          <a:p>
            <a:pPr marL="0" indent="0">
              <a:buNone/>
            </a:pPr>
            <a:r>
              <a:rPr lang="en-US" sz="1800" b="1"/>
              <a:t>SCL (Serial Clock) </a:t>
            </a:r>
            <a:r>
              <a:rPr lang="en-US" sz="1800"/>
              <a:t>– provides the timing for data transfer</a:t>
            </a:r>
          </a:p>
          <a:p>
            <a:pPr marL="0" indent="0">
              <a:buNone/>
            </a:pPr>
            <a:r>
              <a:rPr lang="en-US" sz="1800"/>
              <a:t>It uses a Master–Slave protocol:</a:t>
            </a:r>
          </a:p>
          <a:p>
            <a:r>
              <a:rPr lang="en-US" sz="1800"/>
              <a:t>The master (usually a microcontroller) generates the clock and starts communication.</a:t>
            </a:r>
          </a:p>
          <a:p>
            <a:r>
              <a:rPr lang="en-US" sz="1800"/>
              <a:t>Slaves (sensors, displays, etc.) each have a 7-bit or 10-bit address that identifies them on the bus.</a:t>
            </a:r>
          </a:p>
          <a:p>
            <a:r>
              <a:rPr lang="en-US" sz="1800"/>
              <a:t>Multiple devices can share the same two wires.</a:t>
            </a:r>
          </a:p>
          <a:p>
            <a:r>
              <a:rPr lang="en-US" sz="1800"/>
              <a:t>Master sends an address, and only the device with that address responds.</a:t>
            </a:r>
          </a:p>
          <a:p>
            <a:pPr marL="0" indent="0">
              <a:buNone/>
            </a:pPr>
            <a:r>
              <a:rPr lang="en-US" sz="1800"/>
              <a:t>---------------------------------------------------------------------</a:t>
            </a:r>
          </a:p>
          <a:p>
            <a:pPr marL="0" indent="0">
              <a:buNone/>
            </a:pPr>
            <a:r>
              <a:rPr lang="en-US" sz="1800" b="1"/>
              <a:t>STEMMA QT </a:t>
            </a:r>
            <a:r>
              <a:rPr lang="en-US" sz="1800"/>
              <a:t>is a plug-and-play I²C connection standard using 4-pin JST-SH connectors</a:t>
            </a:r>
          </a:p>
          <a:p>
            <a:r>
              <a:rPr lang="en-US" sz="1800" b="1"/>
              <a:t>Black</a:t>
            </a:r>
            <a:r>
              <a:rPr lang="en-US" sz="1800"/>
              <a:t> for Ground GND</a:t>
            </a:r>
          </a:p>
          <a:p>
            <a:r>
              <a:rPr lang="en-US" sz="1800" b="1">
                <a:solidFill>
                  <a:srgbClr val="FF0000"/>
                </a:solidFill>
              </a:rPr>
              <a:t>Red</a:t>
            </a:r>
            <a:r>
              <a:rPr lang="en-US" sz="1800"/>
              <a:t> for Supply voltage V+ (typically 3.3 V, sometimes 5 V)</a:t>
            </a:r>
          </a:p>
          <a:p>
            <a:r>
              <a:rPr lang="en-US" sz="1800" b="1">
                <a:solidFill>
                  <a:srgbClr val="00B0F0"/>
                </a:solidFill>
              </a:rPr>
              <a:t>Blue</a:t>
            </a:r>
            <a:r>
              <a:rPr lang="en-US" sz="1800"/>
              <a:t> for SDA (I²C data line)</a:t>
            </a:r>
          </a:p>
          <a:p>
            <a:r>
              <a:rPr lang="en-US" sz="1800" b="1">
                <a:solidFill>
                  <a:srgbClr val="FFC000"/>
                </a:solidFill>
              </a:rPr>
              <a:t>Yellow</a:t>
            </a:r>
            <a:r>
              <a:rPr lang="en-US" sz="1800"/>
              <a:t> for SCL (I²C clock line)</a:t>
            </a:r>
          </a:p>
          <a:p>
            <a:pPr marL="0" indent="0">
              <a:buNone/>
            </a:pPr>
            <a:endParaRPr lang="en-US" sz="1800"/>
          </a:p>
        </p:txBody>
      </p:sp>
      <p:sp>
        <p:nvSpPr>
          <p:cNvPr id="4" name="Footer Placeholder 3">
            <a:extLst>
              <a:ext uri="{FF2B5EF4-FFF2-40B4-BE49-F238E27FC236}">
                <a16:creationId xmlns:a16="http://schemas.microsoft.com/office/drawing/2014/main" id="{E0C5A9B1-6135-D908-73DD-F739BDBB7FF3}"/>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806C870B-A07C-F9A6-7724-20E1C7CD069F}"/>
              </a:ext>
            </a:extLst>
          </p:cNvPr>
          <p:cNvSpPr>
            <a:spLocks noGrp="1"/>
          </p:cNvSpPr>
          <p:nvPr>
            <p:ph type="sldNum" sz="quarter" idx="12"/>
          </p:nvPr>
        </p:nvSpPr>
        <p:spPr/>
        <p:txBody>
          <a:bodyPr/>
          <a:lstStyle/>
          <a:p>
            <a:fld id="{9A3029B7-FE6B-4680-9049-80E8298A0825}" type="slidenum">
              <a:rPr lang="en-US" smtClean="0"/>
              <a:t>9</a:t>
            </a:fld>
            <a:endParaRPr lang="en-US"/>
          </a:p>
        </p:txBody>
      </p:sp>
      <p:sp>
        <p:nvSpPr>
          <p:cNvPr id="7" name="TextBox 6">
            <a:extLst>
              <a:ext uri="{FF2B5EF4-FFF2-40B4-BE49-F238E27FC236}">
                <a16:creationId xmlns:a16="http://schemas.microsoft.com/office/drawing/2014/main" id="{D79E92BD-B951-374D-672F-CD365106A287}"/>
              </a:ext>
            </a:extLst>
          </p:cNvPr>
          <p:cNvSpPr txBox="1"/>
          <p:nvPr/>
        </p:nvSpPr>
        <p:spPr>
          <a:xfrm>
            <a:off x="1148441" y="6141494"/>
            <a:ext cx="4572000" cy="369332"/>
          </a:xfrm>
          <a:prstGeom prst="rect">
            <a:avLst/>
          </a:prstGeom>
          <a:noFill/>
        </p:spPr>
        <p:txBody>
          <a:bodyPr wrap="square">
            <a:spAutoFit/>
          </a:bodyPr>
          <a:lstStyle/>
          <a:p>
            <a:pPr marL="0" indent="0">
              <a:buNone/>
            </a:pPr>
            <a:r>
              <a:rPr lang="en-US">
                <a:hlinkClick r:id="rId2"/>
              </a:rPr>
              <a:t>Adafruit Tutorial</a:t>
            </a:r>
            <a:endParaRPr lang="en-US"/>
          </a:p>
        </p:txBody>
      </p:sp>
      <p:pic>
        <p:nvPicPr>
          <p:cNvPr id="11" name="Picture 10">
            <a:extLst>
              <a:ext uri="{FF2B5EF4-FFF2-40B4-BE49-F238E27FC236}">
                <a16:creationId xmlns:a16="http://schemas.microsoft.com/office/drawing/2014/main" id="{09A9EB4F-088D-F8BC-E0FF-D1736F8FD8AE}"/>
              </a:ext>
            </a:extLst>
          </p:cNvPr>
          <p:cNvPicPr>
            <a:picLocks noChangeAspect="1"/>
          </p:cNvPicPr>
          <p:nvPr/>
        </p:nvPicPr>
        <p:blipFill>
          <a:blip r:embed="rId3"/>
          <a:stretch>
            <a:fillRect/>
          </a:stretch>
        </p:blipFill>
        <p:spPr>
          <a:xfrm>
            <a:off x="6714110" y="4705227"/>
            <a:ext cx="2383526" cy="1759879"/>
          </a:xfrm>
          <a:prstGeom prst="rect">
            <a:avLst/>
          </a:prstGeom>
        </p:spPr>
      </p:pic>
      <p:sp>
        <p:nvSpPr>
          <p:cNvPr id="1039" name="TextBox 1038">
            <a:extLst>
              <a:ext uri="{FF2B5EF4-FFF2-40B4-BE49-F238E27FC236}">
                <a16:creationId xmlns:a16="http://schemas.microsoft.com/office/drawing/2014/main" id="{AA93BCC9-D093-9BA8-D35D-6FAD97F9FE2A}"/>
              </a:ext>
            </a:extLst>
          </p:cNvPr>
          <p:cNvSpPr txBox="1"/>
          <p:nvPr/>
        </p:nvSpPr>
        <p:spPr>
          <a:xfrm>
            <a:off x="6714110" y="5862839"/>
            <a:ext cx="1514560" cy="523220"/>
          </a:xfrm>
          <a:prstGeom prst="rect">
            <a:avLst/>
          </a:prstGeom>
          <a:noFill/>
        </p:spPr>
        <p:txBody>
          <a:bodyPr wrap="square">
            <a:spAutoFit/>
          </a:bodyPr>
          <a:lstStyle/>
          <a:p>
            <a:pPr algn="ctr"/>
            <a:r>
              <a:rPr lang="en-US" sz="1400" b="1">
                <a:solidFill>
                  <a:srgbClr val="92D050"/>
                </a:solidFill>
                <a:latin typeface="Segoe UI" panose="020B0502040204020203" pitchFamily="34" charset="0"/>
                <a:cs typeface="Segoe UI" panose="020B0502040204020203" pitchFamily="34" charset="0"/>
              </a:rPr>
              <a:t>STEMMA QT Connector</a:t>
            </a:r>
          </a:p>
        </p:txBody>
      </p:sp>
      <p:grpSp>
        <p:nvGrpSpPr>
          <p:cNvPr id="1084" name="Group 1083">
            <a:extLst>
              <a:ext uri="{FF2B5EF4-FFF2-40B4-BE49-F238E27FC236}">
                <a16:creationId xmlns:a16="http://schemas.microsoft.com/office/drawing/2014/main" id="{114479E3-F777-39B0-66A8-034DACF5F504}"/>
              </a:ext>
            </a:extLst>
          </p:cNvPr>
          <p:cNvGrpSpPr/>
          <p:nvPr/>
        </p:nvGrpSpPr>
        <p:grpSpPr>
          <a:xfrm>
            <a:off x="6638381" y="830520"/>
            <a:ext cx="2551533" cy="3718043"/>
            <a:chOff x="6638381" y="830520"/>
            <a:chExt cx="2551533" cy="3718043"/>
          </a:xfrm>
        </p:grpSpPr>
        <p:cxnSp>
          <p:nvCxnSpPr>
            <p:cNvPr id="1050" name="Straight Connector 1049">
              <a:extLst>
                <a:ext uri="{FF2B5EF4-FFF2-40B4-BE49-F238E27FC236}">
                  <a16:creationId xmlns:a16="http://schemas.microsoft.com/office/drawing/2014/main" id="{241BC5D1-C56E-5787-303F-D063567026FA}"/>
                </a:ext>
              </a:extLst>
            </p:cNvPr>
            <p:cNvCxnSpPr>
              <a:cxnSpLocks/>
            </p:cNvCxnSpPr>
            <p:nvPr/>
          </p:nvCxnSpPr>
          <p:spPr>
            <a:xfrm>
              <a:off x="8484924" y="1095593"/>
              <a:ext cx="0" cy="3131820"/>
            </a:xfrm>
            <a:prstGeom prst="line">
              <a:avLst/>
            </a:prstGeom>
            <a:ln>
              <a:solidFill>
                <a:srgbClr val="FF0000"/>
              </a:solidFill>
            </a:ln>
          </p:spPr>
          <p:style>
            <a:lnRef idx="2">
              <a:schemeClr val="accent4"/>
            </a:lnRef>
            <a:fillRef idx="0">
              <a:schemeClr val="accent4"/>
            </a:fillRef>
            <a:effectRef idx="1">
              <a:schemeClr val="accent4"/>
            </a:effectRef>
            <a:fontRef idx="minor">
              <a:schemeClr val="tx1"/>
            </a:fontRef>
          </p:style>
        </p:cxnSp>
        <p:cxnSp>
          <p:nvCxnSpPr>
            <p:cNvPr id="1051" name="Straight Connector 1050">
              <a:extLst>
                <a:ext uri="{FF2B5EF4-FFF2-40B4-BE49-F238E27FC236}">
                  <a16:creationId xmlns:a16="http://schemas.microsoft.com/office/drawing/2014/main" id="{E6D46FD3-3317-2F35-9D64-E2635BF72374}"/>
                </a:ext>
              </a:extLst>
            </p:cNvPr>
            <p:cNvCxnSpPr>
              <a:cxnSpLocks/>
            </p:cNvCxnSpPr>
            <p:nvPr/>
          </p:nvCxnSpPr>
          <p:spPr>
            <a:xfrm>
              <a:off x="8729003" y="1218377"/>
              <a:ext cx="0" cy="3131820"/>
            </a:xfrm>
            <a:prstGeom prst="line">
              <a:avLst/>
            </a:prstGeom>
            <a:ln>
              <a:solidFill>
                <a:schemeClr val="tx1"/>
              </a:solidFill>
            </a:ln>
          </p:spPr>
          <p:style>
            <a:lnRef idx="2">
              <a:schemeClr val="accent4"/>
            </a:lnRef>
            <a:fillRef idx="0">
              <a:schemeClr val="accent4"/>
            </a:fillRef>
            <a:effectRef idx="1">
              <a:schemeClr val="accent4"/>
            </a:effectRef>
            <a:fontRef idx="minor">
              <a:schemeClr val="tx1"/>
            </a:fontRef>
          </p:style>
        </p:cxnSp>
        <p:cxnSp>
          <p:nvCxnSpPr>
            <p:cNvPr id="1078" name="Straight Connector 1077">
              <a:extLst>
                <a:ext uri="{FF2B5EF4-FFF2-40B4-BE49-F238E27FC236}">
                  <a16:creationId xmlns:a16="http://schemas.microsoft.com/office/drawing/2014/main" id="{2E2E75E3-4238-551E-A524-35CB1A911A70}"/>
                </a:ext>
              </a:extLst>
            </p:cNvPr>
            <p:cNvCxnSpPr>
              <a:cxnSpLocks/>
            </p:cNvCxnSpPr>
            <p:nvPr/>
          </p:nvCxnSpPr>
          <p:spPr>
            <a:xfrm>
              <a:off x="7634201" y="3736100"/>
              <a:ext cx="10934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79" name="Straight Connector 1078">
              <a:extLst>
                <a:ext uri="{FF2B5EF4-FFF2-40B4-BE49-F238E27FC236}">
                  <a16:creationId xmlns:a16="http://schemas.microsoft.com/office/drawing/2014/main" id="{A90D5CB8-030C-B363-B12D-483F857D3AEB}"/>
                </a:ext>
              </a:extLst>
            </p:cNvPr>
            <p:cNvCxnSpPr>
              <a:cxnSpLocks/>
            </p:cNvCxnSpPr>
            <p:nvPr/>
          </p:nvCxnSpPr>
          <p:spPr>
            <a:xfrm>
              <a:off x="7634201" y="3643232"/>
              <a:ext cx="84940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080" name="Oval 1079">
              <a:extLst>
                <a:ext uri="{FF2B5EF4-FFF2-40B4-BE49-F238E27FC236}">
                  <a16:creationId xmlns:a16="http://schemas.microsoft.com/office/drawing/2014/main" id="{AABDB3AE-AE30-44F7-0B5B-D37DA63E03F9}"/>
                </a:ext>
              </a:extLst>
            </p:cNvPr>
            <p:cNvSpPr/>
            <p:nvPr/>
          </p:nvSpPr>
          <p:spPr>
            <a:xfrm>
              <a:off x="8463166" y="3620152"/>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81" name="Oval 1080">
              <a:extLst>
                <a:ext uri="{FF2B5EF4-FFF2-40B4-BE49-F238E27FC236}">
                  <a16:creationId xmlns:a16="http://schemas.microsoft.com/office/drawing/2014/main" id="{71297455-C34E-87F9-FC24-C9A67DFA1ED3}"/>
                </a:ext>
              </a:extLst>
            </p:cNvPr>
            <p:cNvSpPr/>
            <p:nvPr/>
          </p:nvSpPr>
          <p:spPr>
            <a:xfrm>
              <a:off x="8704822" y="3713240"/>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74" name="Straight Connector 1073">
              <a:extLst>
                <a:ext uri="{FF2B5EF4-FFF2-40B4-BE49-F238E27FC236}">
                  <a16:creationId xmlns:a16="http://schemas.microsoft.com/office/drawing/2014/main" id="{EBDB0898-9C5C-3E00-50BD-984686DA696A}"/>
                </a:ext>
              </a:extLst>
            </p:cNvPr>
            <p:cNvCxnSpPr>
              <a:cxnSpLocks/>
            </p:cNvCxnSpPr>
            <p:nvPr/>
          </p:nvCxnSpPr>
          <p:spPr>
            <a:xfrm>
              <a:off x="7638099" y="3071859"/>
              <a:ext cx="10934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75" name="Straight Connector 1074">
              <a:extLst>
                <a:ext uri="{FF2B5EF4-FFF2-40B4-BE49-F238E27FC236}">
                  <a16:creationId xmlns:a16="http://schemas.microsoft.com/office/drawing/2014/main" id="{1D60CF9A-68FD-EB57-4D92-700BC73E2BFD}"/>
                </a:ext>
              </a:extLst>
            </p:cNvPr>
            <p:cNvCxnSpPr>
              <a:cxnSpLocks/>
            </p:cNvCxnSpPr>
            <p:nvPr/>
          </p:nvCxnSpPr>
          <p:spPr>
            <a:xfrm>
              <a:off x="7638099" y="2978991"/>
              <a:ext cx="84940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076" name="Oval 1075">
              <a:extLst>
                <a:ext uri="{FF2B5EF4-FFF2-40B4-BE49-F238E27FC236}">
                  <a16:creationId xmlns:a16="http://schemas.microsoft.com/office/drawing/2014/main" id="{377ED8BD-FD3D-4E5D-D704-6ECC040F9713}"/>
                </a:ext>
              </a:extLst>
            </p:cNvPr>
            <p:cNvSpPr/>
            <p:nvPr/>
          </p:nvSpPr>
          <p:spPr>
            <a:xfrm>
              <a:off x="8467064" y="295591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77" name="Oval 1076">
              <a:extLst>
                <a:ext uri="{FF2B5EF4-FFF2-40B4-BE49-F238E27FC236}">
                  <a16:creationId xmlns:a16="http://schemas.microsoft.com/office/drawing/2014/main" id="{2D1F578D-4BC1-9C24-0F1C-BF51ED110763}"/>
                </a:ext>
              </a:extLst>
            </p:cNvPr>
            <p:cNvSpPr/>
            <p:nvPr/>
          </p:nvSpPr>
          <p:spPr>
            <a:xfrm>
              <a:off x="8708720" y="3048999"/>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66" name="Straight Connector 1065">
              <a:extLst>
                <a:ext uri="{FF2B5EF4-FFF2-40B4-BE49-F238E27FC236}">
                  <a16:creationId xmlns:a16="http://schemas.microsoft.com/office/drawing/2014/main" id="{4626ABD9-E8BF-45A2-983C-ABF032B80D6B}"/>
                </a:ext>
              </a:extLst>
            </p:cNvPr>
            <p:cNvCxnSpPr>
              <a:cxnSpLocks/>
            </p:cNvCxnSpPr>
            <p:nvPr/>
          </p:nvCxnSpPr>
          <p:spPr>
            <a:xfrm>
              <a:off x="7635523" y="1595725"/>
              <a:ext cx="10934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64" name="Straight Connector 1063">
              <a:extLst>
                <a:ext uri="{FF2B5EF4-FFF2-40B4-BE49-F238E27FC236}">
                  <a16:creationId xmlns:a16="http://schemas.microsoft.com/office/drawing/2014/main" id="{FE02F3FE-4C05-4235-FFBD-0471AABBC34F}"/>
                </a:ext>
              </a:extLst>
            </p:cNvPr>
            <p:cNvCxnSpPr>
              <a:cxnSpLocks/>
            </p:cNvCxnSpPr>
            <p:nvPr/>
          </p:nvCxnSpPr>
          <p:spPr>
            <a:xfrm>
              <a:off x="7635523" y="1502857"/>
              <a:ext cx="84940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EB616DA5-A7D0-D5E3-CE65-8C1E7ACD34BC}"/>
                </a:ext>
              </a:extLst>
            </p:cNvPr>
            <p:cNvCxnSpPr>
              <a:cxnSpLocks/>
            </p:cNvCxnSpPr>
            <p:nvPr/>
          </p:nvCxnSpPr>
          <p:spPr>
            <a:xfrm>
              <a:off x="7916203" y="1120587"/>
              <a:ext cx="0" cy="3131820"/>
            </a:xfrm>
            <a:prstGeom prst="line">
              <a:avLst/>
            </a:prstGeom>
          </p:spPr>
          <p:style>
            <a:lnRef idx="2">
              <a:schemeClr val="accent4"/>
            </a:lnRef>
            <a:fillRef idx="0">
              <a:schemeClr val="accent4"/>
            </a:fillRef>
            <a:effectRef idx="1">
              <a:schemeClr val="accent4"/>
            </a:effectRef>
            <a:fontRef idx="minor">
              <a:schemeClr val="tx1"/>
            </a:fontRef>
          </p:style>
        </p:cxnSp>
        <p:cxnSp>
          <p:nvCxnSpPr>
            <p:cNvPr id="14" name="Straight Connector 13">
              <a:extLst>
                <a:ext uri="{FF2B5EF4-FFF2-40B4-BE49-F238E27FC236}">
                  <a16:creationId xmlns:a16="http://schemas.microsoft.com/office/drawing/2014/main" id="{FFCC36CF-96E5-AF16-6DC5-3C94E1D9205F}"/>
                </a:ext>
              </a:extLst>
            </p:cNvPr>
            <p:cNvCxnSpPr>
              <a:cxnSpLocks/>
            </p:cNvCxnSpPr>
            <p:nvPr/>
          </p:nvCxnSpPr>
          <p:spPr>
            <a:xfrm>
              <a:off x="8210217" y="1341567"/>
              <a:ext cx="9525" cy="300863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6C624819-A7DA-A70F-D29E-8772562F530C}"/>
                </a:ext>
              </a:extLst>
            </p:cNvPr>
            <p:cNvSpPr txBox="1"/>
            <p:nvPr/>
          </p:nvSpPr>
          <p:spPr>
            <a:xfrm>
              <a:off x="7577442" y="830520"/>
              <a:ext cx="632775" cy="307777"/>
            </a:xfrm>
            <a:prstGeom prst="rect">
              <a:avLst/>
            </a:prstGeom>
            <a:noFill/>
          </p:spPr>
          <p:txBody>
            <a:bodyPr wrap="square">
              <a:spAutoFit/>
            </a:bodyPr>
            <a:lstStyle/>
            <a:p>
              <a:pPr algn="ctr"/>
              <a:r>
                <a:rPr lang="en-US" sz="1400" b="1">
                  <a:solidFill>
                    <a:srgbClr val="00B0F0"/>
                  </a:solidFill>
                  <a:latin typeface="Segoe UI" panose="020B0502040204020203" pitchFamily="34" charset="0"/>
                  <a:cs typeface="Segoe UI" panose="020B0502040204020203" pitchFamily="34" charset="0"/>
                </a:rPr>
                <a:t>SDA</a:t>
              </a:r>
            </a:p>
          </p:txBody>
        </p:sp>
        <p:sp>
          <p:nvSpPr>
            <p:cNvPr id="21" name="TextBox 20">
              <a:extLst>
                <a:ext uri="{FF2B5EF4-FFF2-40B4-BE49-F238E27FC236}">
                  <a16:creationId xmlns:a16="http://schemas.microsoft.com/office/drawing/2014/main" id="{624D3392-C656-6CC6-2D32-2D9F0A77DFF6}"/>
                </a:ext>
              </a:extLst>
            </p:cNvPr>
            <p:cNvSpPr txBox="1"/>
            <p:nvPr/>
          </p:nvSpPr>
          <p:spPr>
            <a:xfrm>
              <a:off x="7938577" y="1083684"/>
              <a:ext cx="632775" cy="307777"/>
            </a:xfrm>
            <a:prstGeom prst="rect">
              <a:avLst/>
            </a:prstGeom>
            <a:noFill/>
          </p:spPr>
          <p:txBody>
            <a:bodyPr wrap="square">
              <a:spAutoFit/>
            </a:bodyPr>
            <a:lstStyle/>
            <a:p>
              <a:pPr algn="ctr"/>
              <a:r>
                <a:rPr lang="en-US" sz="1400" b="1">
                  <a:solidFill>
                    <a:srgbClr val="FFC000"/>
                  </a:solidFill>
                  <a:latin typeface="Segoe UI" panose="020B0502040204020203" pitchFamily="34" charset="0"/>
                  <a:cs typeface="Segoe UI" panose="020B0502040204020203" pitchFamily="34" charset="0"/>
                </a:rPr>
                <a:t>SCL</a:t>
              </a:r>
            </a:p>
          </p:txBody>
        </p:sp>
        <p:cxnSp>
          <p:nvCxnSpPr>
            <p:cNvPr id="27" name="Straight Connector 26">
              <a:extLst>
                <a:ext uri="{FF2B5EF4-FFF2-40B4-BE49-F238E27FC236}">
                  <a16:creationId xmlns:a16="http://schemas.microsoft.com/office/drawing/2014/main" id="{FA809199-9A15-D412-F26E-E7A51466A0DF}"/>
                </a:ext>
              </a:extLst>
            </p:cNvPr>
            <p:cNvCxnSpPr>
              <a:cxnSpLocks/>
            </p:cNvCxnSpPr>
            <p:nvPr/>
          </p:nvCxnSpPr>
          <p:spPr>
            <a:xfrm>
              <a:off x="7630904" y="1698120"/>
              <a:ext cx="579313" cy="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9FD44681-8CB8-8D41-F062-09DCBD2FC7DB}"/>
                </a:ext>
              </a:extLst>
            </p:cNvPr>
            <p:cNvCxnSpPr>
              <a:cxnSpLocks/>
            </p:cNvCxnSpPr>
            <p:nvPr/>
          </p:nvCxnSpPr>
          <p:spPr>
            <a:xfrm>
              <a:off x="7630904" y="1798132"/>
              <a:ext cx="285299" cy="0"/>
            </a:xfrm>
            <a:prstGeom prst="line">
              <a:avLst/>
            </a:prstGeom>
          </p:spPr>
          <p:style>
            <a:lnRef idx="2">
              <a:schemeClr val="accent4"/>
            </a:lnRef>
            <a:fillRef idx="0">
              <a:schemeClr val="accent4"/>
            </a:fillRef>
            <a:effectRef idx="1">
              <a:schemeClr val="accent4"/>
            </a:effectRef>
            <a:fontRef idx="minor">
              <a:schemeClr val="tx1"/>
            </a:fontRef>
          </p:style>
        </p:cxnSp>
        <p:sp>
          <p:nvSpPr>
            <p:cNvPr id="1024" name="Oval 1023">
              <a:extLst>
                <a:ext uri="{FF2B5EF4-FFF2-40B4-BE49-F238E27FC236}">
                  <a16:creationId xmlns:a16="http://schemas.microsoft.com/office/drawing/2014/main" id="{2F5BB267-802A-C095-1BD3-310B7DB2D178}"/>
                </a:ext>
              </a:extLst>
            </p:cNvPr>
            <p:cNvSpPr/>
            <p:nvPr/>
          </p:nvSpPr>
          <p:spPr>
            <a:xfrm>
              <a:off x="7891771" y="177289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25" name="Oval 1024">
              <a:extLst>
                <a:ext uri="{FF2B5EF4-FFF2-40B4-BE49-F238E27FC236}">
                  <a16:creationId xmlns:a16="http://schemas.microsoft.com/office/drawing/2014/main" id="{D7AB641B-234C-A473-3824-E4350DF04152}"/>
                </a:ext>
              </a:extLst>
            </p:cNvPr>
            <p:cNvSpPr/>
            <p:nvPr/>
          </p:nvSpPr>
          <p:spPr>
            <a:xfrm>
              <a:off x="8183309" y="1671884"/>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26" name="Straight Connector 1025">
              <a:extLst>
                <a:ext uri="{FF2B5EF4-FFF2-40B4-BE49-F238E27FC236}">
                  <a16:creationId xmlns:a16="http://schemas.microsoft.com/office/drawing/2014/main" id="{E1EB3683-11B2-AD8F-09FA-AB420DA2930C}"/>
                </a:ext>
              </a:extLst>
            </p:cNvPr>
            <p:cNvCxnSpPr>
              <a:cxnSpLocks/>
            </p:cNvCxnSpPr>
            <p:nvPr/>
          </p:nvCxnSpPr>
          <p:spPr>
            <a:xfrm>
              <a:off x="7630904" y="2566800"/>
              <a:ext cx="579313" cy="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cxnSp>
          <p:nvCxnSpPr>
            <p:cNvPr id="1027" name="Straight Connector 1026">
              <a:extLst>
                <a:ext uri="{FF2B5EF4-FFF2-40B4-BE49-F238E27FC236}">
                  <a16:creationId xmlns:a16="http://schemas.microsoft.com/office/drawing/2014/main" id="{AC7F7631-C0E3-E5F2-9FAC-2DA25609ACAC}"/>
                </a:ext>
              </a:extLst>
            </p:cNvPr>
            <p:cNvCxnSpPr>
              <a:cxnSpLocks/>
            </p:cNvCxnSpPr>
            <p:nvPr/>
          </p:nvCxnSpPr>
          <p:spPr>
            <a:xfrm>
              <a:off x="7630904" y="2662049"/>
              <a:ext cx="285299"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29" name="Straight Connector 1028">
              <a:extLst>
                <a:ext uri="{FF2B5EF4-FFF2-40B4-BE49-F238E27FC236}">
                  <a16:creationId xmlns:a16="http://schemas.microsoft.com/office/drawing/2014/main" id="{C4800051-4F14-DBAF-84BF-66518B3846E6}"/>
                </a:ext>
              </a:extLst>
            </p:cNvPr>
            <p:cNvCxnSpPr>
              <a:cxnSpLocks/>
            </p:cNvCxnSpPr>
            <p:nvPr/>
          </p:nvCxnSpPr>
          <p:spPr>
            <a:xfrm>
              <a:off x="7638229" y="3162587"/>
              <a:ext cx="579313" cy="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cxnSp>
          <p:nvCxnSpPr>
            <p:cNvPr id="1030" name="Straight Connector 1029">
              <a:extLst>
                <a:ext uri="{FF2B5EF4-FFF2-40B4-BE49-F238E27FC236}">
                  <a16:creationId xmlns:a16="http://schemas.microsoft.com/office/drawing/2014/main" id="{BF443298-E70E-448F-3027-13154AC5C529}"/>
                </a:ext>
              </a:extLst>
            </p:cNvPr>
            <p:cNvCxnSpPr>
              <a:cxnSpLocks/>
            </p:cNvCxnSpPr>
            <p:nvPr/>
          </p:nvCxnSpPr>
          <p:spPr>
            <a:xfrm>
              <a:off x="7638229" y="3260219"/>
              <a:ext cx="285299"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031" name="Straight Connector 1030">
              <a:extLst>
                <a:ext uri="{FF2B5EF4-FFF2-40B4-BE49-F238E27FC236}">
                  <a16:creationId xmlns:a16="http://schemas.microsoft.com/office/drawing/2014/main" id="{1E80428D-2109-DC15-06B1-91A5F56B838E}"/>
                </a:ext>
              </a:extLst>
            </p:cNvPr>
            <p:cNvCxnSpPr>
              <a:cxnSpLocks/>
            </p:cNvCxnSpPr>
            <p:nvPr/>
          </p:nvCxnSpPr>
          <p:spPr>
            <a:xfrm>
              <a:off x="7647429" y="3798381"/>
              <a:ext cx="579313" cy="0"/>
            </a:xfrm>
            <a:prstGeom prst="line">
              <a:avLst/>
            </a:prstGeom>
            <a:ln>
              <a:solidFill>
                <a:srgbClr val="FFC000"/>
              </a:solidFill>
            </a:ln>
          </p:spPr>
          <p:style>
            <a:lnRef idx="2">
              <a:schemeClr val="dk1"/>
            </a:lnRef>
            <a:fillRef idx="0">
              <a:schemeClr val="dk1"/>
            </a:fillRef>
            <a:effectRef idx="1">
              <a:schemeClr val="dk1"/>
            </a:effectRef>
            <a:fontRef idx="minor">
              <a:schemeClr val="tx1"/>
            </a:fontRef>
          </p:style>
        </p:cxnSp>
        <p:cxnSp>
          <p:nvCxnSpPr>
            <p:cNvPr id="1032" name="Straight Connector 1031">
              <a:extLst>
                <a:ext uri="{FF2B5EF4-FFF2-40B4-BE49-F238E27FC236}">
                  <a16:creationId xmlns:a16="http://schemas.microsoft.com/office/drawing/2014/main" id="{586DE7BA-0F73-2B3C-3762-40EEC5EBDA79}"/>
                </a:ext>
              </a:extLst>
            </p:cNvPr>
            <p:cNvCxnSpPr>
              <a:cxnSpLocks/>
            </p:cNvCxnSpPr>
            <p:nvPr/>
          </p:nvCxnSpPr>
          <p:spPr>
            <a:xfrm>
              <a:off x="7647429" y="3896013"/>
              <a:ext cx="285299" cy="0"/>
            </a:xfrm>
            <a:prstGeom prst="line">
              <a:avLst/>
            </a:prstGeom>
          </p:spPr>
          <p:style>
            <a:lnRef idx="2">
              <a:schemeClr val="accent4"/>
            </a:lnRef>
            <a:fillRef idx="0">
              <a:schemeClr val="accent4"/>
            </a:fillRef>
            <a:effectRef idx="1">
              <a:schemeClr val="accent4"/>
            </a:effectRef>
            <a:fontRef idx="minor">
              <a:schemeClr val="tx1"/>
            </a:fontRef>
          </p:style>
        </p:cxnSp>
        <p:sp>
          <p:nvSpPr>
            <p:cNvPr id="1033" name="Oval 1032">
              <a:extLst>
                <a:ext uri="{FF2B5EF4-FFF2-40B4-BE49-F238E27FC236}">
                  <a16:creationId xmlns:a16="http://schemas.microsoft.com/office/drawing/2014/main" id="{C56AA588-39B2-2269-2310-E042A9A0154B}"/>
                </a:ext>
              </a:extLst>
            </p:cNvPr>
            <p:cNvSpPr/>
            <p:nvPr/>
          </p:nvSpPr>
          <p:spPr>
            <a:xfrm>
              <a:off x="7900668" y="2638644"/>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4" name="Oval 1033">
              <a:extLst>
                <a:ext uri="{FF2B5EF4-FFF2-40B4-BE49-F238E27FC236}">
                  <a16:creationId xmlns:a16="http://schemas.microsoft.com/office/drawing/2014/main" id="{0E0E15C2-1CF6-0ABB-04C2-666B53254FA0}"/>
                </a:ext>
              </a:extLst>
            </p:cNvPr>
            <p:cNvSpPr/>
            <p:nvPr/>
          </p:nvSpPr>
          <p:spPr>
            <a:xfrm>
              <a:off x="8192206" y="2542400"/>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5" name="Oval 1034">
              <a:extLst>
                <a:ext uri="{FF2B5EF4-FFF2-40B4-BE49-F238E27FC236}">
                  <a16:creationId xmlns:a16="http://schemas.microsoft.com/office/drawing/2014/main" id="{4AC4DEF4-8409-97D5-A1FE-E53C041BE8B1}"/>
                </a:ext>
              </a:extLst>
            </p:cNvPr>
            <p:cNvSpPr/>
            <p:nvPr/>
          </p:nvSpPr>
          <p:spPr>
            <a:xfrm>
              <a:off x="7895863" y="323462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6" name="Oval 1035">
              <a:extLst>
                <a:ext uri="{FF2B5EF4-FFF2-40B4-BE49-F238E27FC236}">
                  <a16:creationId xmlns:a16="http://schemas.microsoft.com/office/drawing/2014/main" id="{AB6D80DB-7370-F4F7-B601-EDF6FC21198C}"/>
                </a:ext>
              </a:extLst>
            </p:cNvPr>
            <p:cNvSpPr/>
            <p:nvPr/>
          </p:nvSpPr>
          <p:spPr>
            <a:xfrm>
              <a:off x="8187401" y="313599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7" name="Oval 1036">
              <a:extLst>
                <a:ext uri="{FF2B5EF4-FFF2-40B4-BE49-F238E27FC236}">
                  <a16:creationId xmlns:a16="http://schemas.microsoft.com/office/drawing/2014/main" id="{2DAA1314-4130-11F2-F8E7-BE295BDD1CFD}"/>
                </a:ext>
              </a:extLst>
            </p:cNvPr>
            <p:cNvSpPr/>
            <p:nvPr/>
          </p:nvSpPr>
          <p:spPr>
            <a:xfrm>
              <a:off x="7900668" y="387290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38" name="Oval 1037">
              <a:extLst>
                <a:ext uri="{FF2B5EF4-FFF2-40B4-BE49-F238E27FC236}">
                  <a16:creationId xmlns:a16="http://schemas.microsoft.com/office/drawing/2014/main" id="{C545887D-6F02-6389-4973-7FDA0FA86B92}"/>
                </a:ext>
              </a:extLst>
            </p:cNvPr>
            <p:cNvSpPr/>
            <p:nvPr/>
          </p:nvSpPr>
          <p:spPr>
            <a:xfrm>
              <a:off x="8192206" y="3774278"/>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40" name="Straight Connector 1039">
              <a:extLst>
                <a:ext uri="{FF2B5EF4-FFF2-40B4-BE49-F238E27FC236}">
                  <a16:creationId xmlns:a16="http://schemas.microsoft.com/office/drawing/2014/main" id="{4032D151-60E5-44DC-D973-F471E67ED5EA}"/>
                </a:ext>
              </a:extLst>
            </p:cNvPr>
            <p:cNvCxnSpPr>
              <a:cxnSpLocks/>
            </p:cNvCxnSpPr>
            <p:nvPr/>
          </p:nvCxnSpPr>
          <p:spPr>
            <a:xfrm>
              <a:off x="8223595" y="2299339"/>
              <a:ext cx="138725"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23" name="Rectangle 22">
              <a:extLst>
                <a:ext uri="{FF2B5EF4-FFF2-40B4-BE49-F238E27FC236}">
                  <a16:creationId xmlns:a16="http://schemas.microsoft.com/office/drawing/2014/main" id="{4690029A-A95D-02B0-1AC9-7F0E406C7867}"/>
                </a:ext>
              </a:extLst>
            </p:cNvPr>
            <p:cNvSpPr/>
            <p:nvPr/>
          </p:nvSpPr>
          <p:spPr>
            <a:xfrm>
              <a:off x="6761931" y="1457382"/>
              <a:ext cx="876298" cy="4889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Segoe UI" panose="020B0502040204020203" pitchFamily="34" charset="0"/>
                  <a:cs typeface="Segoe UI" panose="020B0502040204020203" pitchFamily="34" charset="0"/>
                </a:rPr>
                <a:t>MCU (Master)</a:t>
              </a:r>
            </a:p>
          </p:txBody>
        </p:sp>
        <p:sp>
          <p:nvSpPr>
            <p:cNvPr id="24" name="Rectangle 23">
              <a:extLst>
                <a:ext uri="{FF2B5EF4-FFF2-40B4-BE49-F238E27FC236}">
                  <a16:creationId xmlns:a16="http://schemas.microsoft.com/office/drawing/2014/main" id="{064479EE-D22B-7AA2-E0B9-97F15C630900}"/>
                </a:ext>
              </a:extLst>
            </p:cNvPr>
            <p:cNvSpPr/>
            <p:nvPr/>
          </p:nvSpPr>
          <p:spPr>
            <a:xfrm>
              <a:off x="6754606" y="2299903"/>
              <a:ext cx="876298" cy="488950"/>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Segoe UI" panose="020B0502040204020203" pitchFamily="34" charset="0"/>
                  <a:cs typeface="Segoe UI" panose="020B0502040204020203" pitchFamily="34" charset="0"/>
                </a:rPr>
                <a:t>Sensor 1 (Slave)</a:t>
              </a:r>
            </a:p>
          </p:txBody>
        </p:sp>
        <p:sp>
          <p:nvSpPr>
            <p:cNvPr id="25" name="Rectangle 24">
              <a:extLst>
                <a:ext uri="{FF2B5EF4-FFF2-40B4-BE49-F238E27FC236}">
                  <a16:creationId xmlns:a16="http://schemas.microsoft.com/office/drawing/2014/main" id="{8A05C1DD-9CFF-1A84-95B6-0266A74D4147}"/>
                </a:ext>
              </a:extLst>
            </p:cNvPr>
            <p:cNvSpPr/>
            <p:nvPr/>
          </p:nvSpPr>
          <p:spPr>
            <a:xfrm>
              <a:off x="6761931" y="2929385"/>
              <a:ext cx="876298" cy="488950"/>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Segoe UI" panose="020B0502040204020203" pitchFamily="34" charset="0"/>
                  <a:cs typeface="Segoe UI" panose="020B0502040204020203" pitchFamily="34" charset="0"/>
                </a:rPr>
                <a:t>Sensor 2 (Slave)</a:t>
              </a:r>
            </a:p>
          </p:txBody>
        </p:sp>
        <p:sp>
          <p:nvSpPr>
            <p:cNvPr id="26" name="Rectangle 25">
              <a:extLst>
                <a:ext uri="{FF2B5EF4-FFF2-40B4-BE49-F238E27FC236}">
                  <a16:creationId xmlns:a16="http://schemas.microsoft.com/office/drawing/2014/main" id="{2AEB2236-6971-F99B-FBCD-A0A961CB9D52}"/>
                </a:ext>
              </a:extLst>
            </p:cNvPr>
            <p:cNvSpPr/>
            <p:nvPr/>
          </p:nvSpPr>
          <p:spPr>
            <a:xfrm>
              <a:off x="6777562" y="3553470"/>
              <a:ext cx="876298" cy="488950"/>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Segoe UI" panose="020B0502040204020203" pitchFamily="34" charset="0"/>
                  <a:cs typeface="Segoe UI" panose="020B0502040204020203" pitchFamily="34" charset="0"/>
                </a:rPr>
                <a:t>Sensor 3 (Slave)</a:t>
              </a:r>
            </a:p>
          </p:txBody>
        </p:sp>
        <p:cxnSp>
          <p:nvCxnSpPr>
            <p:cNvPr id="1041" name="Straight Connector 1040">
              <a:extLst>
                <a:ext uri="{FF2B5EF4-FFF2-40B4-BE49-F238E27FC236}">
                  <a16:creationId xmlns:a16="http://schemas.microsoft.com/office/drawing/2014/main" id="{BE841682-70F2-3A08-C2E1-BFB0B1E3E6F5}"/>
                </a:ext>
              </a:extLst>
            </p:cNvPr>
            <p:cNvCxnSpPr>
              <a:cxnSpLocks/>
            </p:cNvCxnSpPr>
            <p:nvPr/>
          </p:nvCxnSpPr>
          <p:spPr>
            <a:xfrm flipV="1">
              <a:off x="8357018" y="2183668"/>
              <a:ext cx="0" cy="121229"/>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1045" name="Rectangle 1044">
              <a:extLst>
                <a:ext uri="{FF2B5EF4-FFF2-40B4-BE49-F238E27FC236}">
                  <a16:creationId xmlns:a16="http://schemas.microsoft.com/office/drawing/2014/main" id="{2F0574BC-8B7C-C43B-B739-4F491D94922C}"/>
                </a:ext>
              </a:extLst>
            </p:cNvPr>
            <p:cNvSpPr/>
            <p:nvPr/>
          </p:nvSpPr>
          <p:spPr>
            <a:xfrm rot="16200000">
              <a:off x="8176043" y="1975372"/>
              <a:ext cx="361950" cy="117087"/>
            </a:xfrm>
            <a:prstGeom prst="rect">
              <a:avLst/>
            </a:prstGeom>
            <a:solidFill>
              <a:schemeClr val="bg1">
                <a:lumMod val="6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Rp</a:t>
              </a:r>
            </a:p>
          </p:txBody>
        </p:sp>
        <p:sp>
          <p:nvSpPr>
            <p:cNvPr id="1047" name="Oval 1046">
              <a:extLst>
                <a:ext uri="{FF2B5EF4-FFF2-40B4-BE49-F238E27FC236}">
                  <a16:creationId xmlns:a16="http://schemas.microsoft.com/office/drawing/2014/main" id="{B1293BED-5D8F-3931-3853-E6DC0391C63F}"/>
                </a:ext>
              </a:extLst>
            </p:cNvPr>
            <p:cNvSpPr/>
            <p:nvPr/>
          </p:nvSpPr>
          <p:spPr>
            <a:xfrm>
              <a:off x="8191977" y="2278473"/>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48" name="Straight Connector 1047">
              <a:extLst>
                <a:ext uri="{FF2B5EF4-FFF2-40B4-BE49-F238E27FC236}">
                  <a16:creationId xmlns:a16="http://schemas.microsoft.com/office/drawing/2014/main" id="{FE92155A-3F26-7F31-1041-CEC81568843E}"/>
                </a:ext>
              </a:extLst>
            </p:cNvPr>
            <p:cNvCxnSpPr>
              <a:cxnSpLocks/>
            </p:cNvCxnSpPr>
            <p:nvPr/>
          </p:nvCxnSpPr>
          <p:spPr>
            <a:xfrm flipV="1">
              <a:off x="8357018" y="1735135"/>
              <a:ext cx="0" cy="121229"/>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cxnSp>
          <p:nvCxnSpPr>
            <p:cNvPr id="1049" name="Straight Connector 1048">
              <a:extLst>
                <a:ext uri="{FF2B5EF4-FFF2-40B4-BE49-F238E27FC236}">
                  <a16:creationId xmlns:a16="http://schemas.microsoft.com/office/drawing/2014/main" id="{500C615B-9308-FDAA-2EB1-DF7E58B8052D}"/>
                </a:ext>
              </a:extLst>
            </p:cNvPr>
            <p:cNvCxnSpPr>
              <a:cxnSpLocks/>
            </p:cNvCxnSpPr>
            <p:nvPr/>
          </p:nvCxnSpPr>
          <p:spPr>
            <a:xfrm>
              <a:off x="8348580" y="1737516"/>
              <a:ext cx="138725"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cxnSp>
          <p:nvCxnSpPr>
            <p:cNvPr id="1052" name="Straight Connector 1051">
              <a:extLst>
                <a:ext uri="{FF2B5EF4-FFF2-40B4-BE49-F238E27FC236}">
                  <a16:creationId xmlns:a16="http://schemas.microsoft.com/office/drawing/2014/main" id="{1E931C28-5514-E511-58AE-F5B6D80DD284}"/>
                </a:ext>
              </a:extLst>
            </p:cNvPr>
            <p:cNvCxnSpPr>
              <a:cxnSpLocks/>
            </p:cNvCxnSpPr>
            <p:nvPr/>
          </p:nvCxnSpPr>
          <p:spPr>
            <a:xfrm>
              <a:off x="7914148" y="3477478"/>
              <a:ext cx="444003" cy="4626"/>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cxnSp>
          <p:nvCxnSpPr>
            <p:cNvPr id="1053" name="Straight Connector 1052">
              <a:extLst>
                <a:ext uri="{FF2B5EF4-FFF2-40B4-BE49-F238E27FC236}">
                  <a16:creationId xmlns:a16="http://schemas.microsoft.com/office/drawing/2014/main" id="{FA723A92-3806-94BE-3EBD-BC233DE9711C}"/>
                </a:ext>
              </a:extLst>
            </p:cNvPr>
            <p:cNvCxnSpPr>
              <a:cxnSpLocks/>
            </p:cNvCxnSpPr>
            <p:nvPr/>
          </p:nvCxnSpPr>
          <p:spPr>
            <a:xfrm flipV="1">
              <a:off x="8352849" y="3364050"/>
              <a:ext cx="0" cy="121229"/>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1054" name="Rectangle 1053">
              <a:extLst>
                <a:ext uri="{FF2B5EF4-FFF2-40B4-BE49-F238E27FC236}">
                  <a16:creationId xmlns:a16="http://schemas.microsoft.com/office/drawing/2014/main" id="{28880818-F952-A66D-A7C4-F68FD2E6098D}"/>
                </a:ext>
              </a:extLst>
            </p:cNvPr>
            <p:cNvSpPr/>
            <p:nvPr/>
          </p:nvSpPr>
          <p:spPr>
            <a:xfrm rot="16200000">
              <a:off x="8171874" y="3131944"/>
              <a:ext cx="361950" cy="117087"/>
            </a:xfrm>
            <a:prstGeom prst="rect">
              <a:avLst/>
            </a:prstGeom>
            <a:solidFill>
              <a:schemeClr val="bg1">
                <a:lumMod val="65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t>Rp</a:t>
              </a:r>
            </a:p>
          </p:txBody>
        </p:sp>
        <p:sp>
          <p:nvSpPr>
            <p:cNvPr id="1055" name="Oval 1054">
              <a:extLst>
                <a:ext uri="{FF2B5EF4-FFF2-40B4-BE49-F238E27FC236}">
                  <a16:creationId xmlns:a16="http://schemas.microsoft.com/office/drawing/2014/main" id="{623CBE87-61E9-18EE-BA84-C5603A71C185}"/>
                </a:ext>
              </a:extLst>
            </p:cNvPr>
            <p:cNvSpPr/>
            <p:nvPr/>
          </p:nvSpPr>
          <p:spPr>
            <a:xfrm>
              <a:off x="7892533" y="345647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56" name="Straight Connector 1055">
              <a:extLst>
                <a:ext uri="{FF2B5EF4-FFF2-40B4-BE49-F238E27FC236}">
                  <a16:creationId xmlns:a16="http://schemas.microsoft.com/office/drawing/2014/main" id="{EE97CEF3-E6B5-DAFE-6850-04E5E392F3DC}"/>
                </a:ext>
              </a:extLst>
            </p:cNvPr>
            <p:cNvCxnSpPr>
              <a:cxnSpLocks/>
            </p:cNvCxnSpPr>
            <p:nvPr/>
          </p:nvCxnSpPr>
          <p:spPr>
            <a:xfrm flipV="1">
              <a:off x="8352849" y="2891707"/>
              <a:ext cx="0" cy="121229"/>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cxnSp>
          <p:nvCxnSpPr>
            <p:cNvPr id="1057" name="Straight Connector 1056">
              <a:extLst>
                <a:ext uri="{FF2B5EF4-FFF2-40B4-BE49-F238E27FC236}">
                  <a16:creationId xmlns:a16="http://schemas.microsoft.com/office/drawing/2014/main" id="{7CD265F4-DCDE-218A-9F61-A4F4C5F51FFC}"/>
                </a:ext>
              </a:extLst>
            </p:cNvPr>
            <p:cNvCxnSpPr>
              <a:cxnSpLocks/>
            </p:cNvCxnSpPr>
            <p:nvPr/>
          </p:nvCxnSpPr>
          <p:spPr>
            <a:xfrm>
              <a:off x="8342030" y="2891707"/>
              <a:ext cx="386973"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1060" name="Oval 1059">
              <a:extLst>
                <a:ext uri="{FF2B5EF4-FFF2-40B4-BE49-F238E27FC236}">
                  <a16:creationId xmlns:a16="http://schemas.microsoft.com/office/drawing/2014/main" id="{6B3FD0FA-5926-D526-6C90-E3AEF1616B2F}"/>
                </a:ext>
              </a:extLst>
            </p:cNvPr>
            <p:cNvSpPr/>
            <p:nvPr/>
          </p:nvSpPr>
          <p:spPr>
            <a:xfrm>
              <a:off x="8464861" y="171227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1" name="Oval 1060">
              <a:extLst>
                <a:ext uri="{FF2B5EF4-FFF2-40B4-BE49-F238E27FC236}">
                  <a16:creationId xmlns:a16="http://schemas.microsoft.com/office/drawing/2014/main" id="{4F84CC12-BB94-6DBE-BEC8-1BA71ABF2B4E}"/>
                </a:ext>
              </a:extLst>
            </p:cNvPr>
            <p:cNvSpPr/>
            <p:nvPr/>
          </p:nvSpPr>
          <p:spPr>
            <a:xfrm>
              <a:off x="8706144" y="286884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2" name="TextBox 1061">
              <a:extLst>
                <a:ext uri="{FF2B5EF4-FFF2-40B4-BE49-F238E27FC236}">
                  <a16:creationId xmlns:a16="http://schemas.microsoft.com/office/drawing/2014/main" id="{5952553B-42FF-CE18-EDBA-468157B3136D}"/>
                </a:ext>
              </a:extLst>
            </p:cNvPr>
            <p:cNvSpPr txBox="1"/>
            <p:nvPr/>
          </p:nvSpPr>
          <p:spPr>
            <a:xfrm>
              <a:off x="8156172" y="835828"/>
              <a:ext cx="632775" cy="307777"/>
            </a:xfrm>
            <a:prstGeom prst="rect">
              <a:avLst/>
            </a:prstGeom>
            <a:noFill/>
          </p:spPr>
          <p:txBody>
            <a:bodyPr wrap="square">
              <a:spAutoFit/>
            </a:bodyPr>
            <a:lstStyle/>
            <a:p>
              <a:pPr algn="ctr"/>
              <a:r>
                <a:rPr lang="en-US" sz="1400" b="1">
                  <a:solidFill>
                    <a:srgbClr val="FF0000"/>
                  </a:solidFill>
                  <a:latin typeface="Segoe UI" panose="020B0502040204020203" pitchFamily="34" charset="0"/>
                  <a:cs typeface="Segoe UI" panose="020B0502040204020203" pitchFamily="34" charset="0"/>
                </a:rPr>
                <a:t>V+</a:t>
              </a:r>
            </a:p>
          </p:txBody>
        </p:sp>
        <p:sp>
          <p:nvSpPr>
            <p:cNvPr id="1063" name="TextBox 1062">
              <a:extLst>
                <a:ext uri="{FF2B5EF4-FFF2-40B4-BE49-F238E27FC236}">
                  <a16:creationId xmlns:a16="http://schemas.microsoft.com/office/drawing/2014/main" id="{2922896D-29FE-4BD4-DBC0-590414570013}"/>
                </a:ext>
              </a:extLst>
            </p:cNvPr>
            <p:cNvSpPr txBox="1"/>
            <p:nvPr/>
          </p:nvSpPr>
          <p:spPr>
            <a:xfrm>
              <a:off x="8464861" y="990695"/>
              <a:ext cx="632775" cy="307777"/>
            </a:xfrm>
            <a:prstGeom prst="rect">
              <a:avLst/>
            </a:prstGeom>
            <a:noFill/>
          </p:spPr>
          <p:txBody>
            <a:bodyPr wrap="square">
              <a:spAutoFit/>
            </a:bodyPr>
            <a:lstStyle/>
            <a:p>
              <a:pPr algn="ctr"/>
              <a:r>
                <a:rPr lang="en-US" sz="1400" b="1">
                  <a:latin typeface="Segoe UI" panose="020B0502040204020203" pitchFamily="34" charset="0"/>
                  <a:cs typeface="Segoe UI" panose="020B0502040204020203" pitchFamily="34" charset="0"/>
                </a:rPr>
                <a:t>GND</a:t>
              </a:r>
            </a:p>
          </p:txBody>
        </p:sp>
        <p:sp>
          <p:nvSpPr>
            <p:cNvPr id="1068" name="Oval 1067">
              <a:extLst>
                <a:ext uri="{FF2B5EF4-FFF2-40B4-BE49-F238E27FC236}">
                  <a16:creationId xmlns:a16="http://schemas.microsoft.com/office/drawing/2014/main" id="{7E0C79AB-2D69-14A6-2689-9D10251E2C5F}"/>
                </a:ext>
              </a:extLst>
            </p:cNvPr>
            <p:cNvSpPr/>
            <p:nvPr/>
          </p:nvSpPr>
          <p:spPr>
            <a:xfrm>
              <a:off x="8464488" y="1479777"/>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69" name="Oval 1068">
              <a:extLst>
                <a:ext uri="{FF2B5EF4-FFF2-40B4-BE49-F238E27FC236}">
                  <a16:creationId xmlns:a16="http://schemas.microsoft.com/office/drawing/2014/main" id="{FBD0C8BC-1DC9-3BAA-1CAA-9236D6B1CBDA}"/>
                </a:ext>
              </a:extLst>
            </p:cNvPr>
            <p:cNvSpPr/>
            <p:nvPr/>
          </p:nvSpPr>
          <p:spPr>
            <a:xfrm>
              <a:off x="8706144" y="1572865"/>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070" name="Straight Connector 1069">
              <a:extLst>
                <a:ext uri="{FF2B5EF4-FFF2-40B4-BE49-F238E27FC236}">
                  <a16:creationId xmlns:a16="http://schemas.microsoft.com/office/drawing/2014/main" id="{ABDD40A4-5A54-F73D-D700-4D4909FFE7BA}"/>
                </a:ext>
              </a:extLst>
            </p:cNvPr>
            <p:cNvCxnSpPr>
              <a:cxnSpLocks/>
            </p:cNvCxnSpPr>
            <p:nvPr/>
          </p:nvCxnSpPr>
          <p:spPr>
            <a:xfrm>
              <a:off x="7630797" y="2472391"/>
              <a:ext cx="1093480" cy="0"/>
            </a:xfrm>
            <a:prstGeom prst="line">
              <a:avLst/>
            </a:prstGeom>
            <a:ln>
              <a:solidFill>
                <a:schemeClr val="tx1"/>
              </a:solidFill>
            </a:ln>
          </p:spPr>
          <p:style>
            <a:lnRef idx="2">
              <a:schemeClr val="dk1"/>
            </a:lnRef>
            <a:fillRef idx="0">
              <a:schemeClr val="dk1"/>
            </a:fillRef>
            <a:effectRef idx="1">
              <a:schemeClr val="dk1"/>
            </a:effectRef>
            <a:fontRef idx="minor">
              <a:schemeClr val="tx1"/>
            </a:fontRef>
          </p:style>
        </p:cxnSp>
        <p:cxnSp>
          <p:nvCxnSpPr>
            <p:cNvPr id="1071" name="Straight Connector 1070">
              <a:extLst>
                <a:ext uri="{FF2B5EF4-FFF2-40B4-BE49-F238E27FC236}">
                  <a16:creationId xmlns:a16="http://schemas.microsoft.com/office/drawing/2014/main" id="{93A519CA-E687-59D6-6CC9-40D3EA746A18}"/>
                </a:ext>
              </a:extLst>
            </p:cNvPr>
            <p:cNvCxnSpPr>
              <a:cxnSpLocks/>
            </p:cNvCxnSpPr>
            <p:nvPr/>
          </p:nvCxnSpPr>
          <p:spPr>
            <a:xfrm>
              <a:off x="7630797" y="2379523"/>
              <a:ext cx="84940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072" name="Oval 1071">
              <a:extLst>
                <a:ext uri="{FF2B5EF4-FFF2-40B4-BE49-F238E27FC236}">
                  <a16:creationId xmlns:a16="http://schemas.microsoft.com/office/drawing/2014/main" id="{81E48C9F-FD0B-06AC-9BA3-A908DB75BA87}"/>
                </a:ext>
              </a:extLst>
            </p:cNvPr>
            <p:cNvSpPr/>
            <p:nvPr/>
          </p:nvSpPr>
          <p:spPr>
            <a:xfrm>
              <a:off x="8459762" y="2356443"/>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073" name="Oval 1072">
              <a:extLst>
                <a:ext uri="{FF2B5EF4-FFF2-40B4-BE49-F238E27FC236}">
                  <a16:creationId xmlns:a16="http://schemas.microsoft.com/office/drawing/2014/main" id="{A155D69B-1A2A-0E5B-85D1-E9C73DE0B6DC}"/>
                </a:ext>
              </a:extLst>
            </p:cNvPr>
            <p:cNvSpPr/>
            <p:nvPr/>
          </p:nvSpPr>
          <p:spPr>
            <a:xfrm>
              <a:off x="8701418" y="244953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83" name="TextBox 1082">
                  <a:extLst>
                    <a:ext uri="{FF2B5EF4-FFF2-40B4-BE49-F238E27FC236}">
                      <a16:creationId xmlns:a16="http://schemas.microsoft.com/office/drawing/2014/main" id="{728C2135-1D1B-C9F3-339E-5E2575BF2B1F}"/>
                    </a:ext>
                  </a:extLst>
                </p:cNvPr>
                <p:cNvSpPr txBox="1"/>
                <p:nvPr/>
              </p:nvSpPr>
              <p:spPr>
                <a:xfrm>
                  <a:off x="6638381" y="4317731"/>
                  <a:ext cx="2551533" cy="230832"/>
                </a:xfrm>
                <a:prstGeom prst="rect">
                  <a:avLst/>
                </a:prstGeom>
                <a:noFill/>
              </p:spPr>
              <p:txBody>
                <a:bodyPr wrap="square">
                  <a:spAutoFit/>
                </a:bodyPr>
                <a:lstStyle/>
                <a:p>
                  <a:pPr algn="ctr"/>
                  <a:r>
                    <a:rPr lang="en-US" sz="900" b="1">
                      <a:solidFill>
                        <a:schemeClr val="tx1">
                          <a:lumMod val="65000"/>
                          <a:lumOff val="35000"/>
                        </a:schemeClr>
                      </a:solidFill>
                      <a:latin typeface="Segoe UI" panose="020B0502040204020203" pitchFamily="34" charset="0"/>
                      <a:cs typeface="Segoe UI" panose="020B0502040204020203" pitchFamily="34" charset="0"/>
                    </a:rPr>
                    <a:t>Rp = Pullup Resistor (~2.2K</a:t>
                  </a:r>
                  <a14:m>
                    <m:oMath xmlns:m="http://schemas.openxmlformats.org/officeDocument/2006/math">
                      <m:r>
                        <a:rPr lang="en-US" sz="900" b="1" i="0" smtClean="0">
                          <a:solidFill>
                            <a:schemeClr val="tx1">
                              <a:lumMod val="65000"/>
                              <a:lumOff val="35000"/>
                            </a:schemeClr>
                          </a:solidFill>
                          <a:latin typeface="Cambria Math" panose="02040503050406030204" pitchFamily="18" charset="0"/>
                          <a:cs typeface="Segoe UI" panose="020B0502040204020203" pitchFamily="34" charset="0"/>
                        </a:rPr>
                        <m:t>𝛀</m:t>
                      </m:r>
                    </m:oMath>
                  </a14:m>
                  <a:r>
                    <a:rPr lang="en-US" sz="900" b="1">
                      <a:solidFill>
                        <a:schemeClr val="tx1">
                          <a:lumMod val="65000"/>
                          <a:lumOff val="35000"/>
                        </a:schemeClr>
                      </a:solidFill>
                      <a:latin typeface="Segoe UI" panose="020B0502040204020203" pitchFamily="34" charset="0"/>
                      <a:cs typeface="Segoe UI" panose="020B0502040204020203" pitchFamily="34" charset="0"/>
                    </a:rPr>
                    <a:t> to 10K</a:t>
                  </a:r>
                  <a14:m>
                    <m:oMath xmlns:m="http://schemas.openxmlformats.org/officeDocument/2006/math">
                      <m:r>
                        <a:rPr lang="en-US" sz="900" b="1">
                          <a:solidFill>
                            <a:schemeClr val="tx1">
                              <a:lumMod val="65000"/>
                              <a:lumOff val="35000"/>
                            </a:schemeClr>
                          </a:solidFill>
                          <a:latin typeface="Cambria Math" panose="02040503050406030204" pitchFamily="18" charset="0"/>
                          <a:cs typeface="Segoe UI" panose="020B0502040204020203" pitchFamily="34" charset="0"/>
                        </a:rPr>
                        <m:t>𝛀</m:t>
                      </m:r>
                    </m:oMath>
                  </a14:m>
                  <a:r>
                    <a:rPr lang="en-US" sz="900" b="1">
                      <a:solidFill>
                        <a:schemeClr val="tx1">
                          <a:lumMod val="65000"/>
                          <a:lumOff val="35000"/>
                        </a:schemeClr>
                      </a:solidFill>
                      <a:latin typeface="Segoe UI" panose="020B0502040204020203" pitchFamily="34" charset="0"/>
                      <a:cs typeface="Segoe UI" panose="020B0502040204020203" pitchFamily="34" charset="0"/>
                    </a:rPr>
                    <a:t>) </a:t>
                  </a:r>
                </a:p>
              </p:txBody>
            </p:sp>
          </mc:Choice>
          <mc:Fallback xmlns="">
            <p:sp>
              <p:nvSpPr>
                <p:cNvPr id="1083" name="TextBox 1082">
                  <a:extLst>
                    <a:ext uri="{FF2B5EF4-FFF2-40B4-BE49-F238E27FC236}">
                      <a16:creationId xmlns:a16="http://schemas.microsoft.com/office/drawing/2014/main" id="{728C2135-1D1B-C9F3-339E-5E2575BF2B1F}"/>
                    </a:ext>
                  </a:extLst>
                </p:cNvPr>
                <p:cNvSpPr txBox="1">
                  <a:spLocks noRot="1" noChangeAspect="1" noMove="1" noResize="1" noEditPoints="1" noAdjustHandles="1" noChangeArrowheads="1" noChangeShapeType="1" noTextEdit="1"/>
                </p:cNvSpPr>
                <p:nvPr/>
              </p:nvSpPr>
              <p:spPr>
                <a:xfrm>
                  <a:off x="6638381" y="4317731"/>
                  <a:ext cx="2551533" cy="230832"/>
                </a:xfrm>
                <a:prstGeom prst="rect">
                  <a:avLst/>
                </a:prstGeom>
                <a:blipFill>
                  <a:blip r:embed="rId4"/>
                  <a:stretch>
                    <a:fillRect b="-10526"/>
                  </a:stretch>
                </a:blipFill>
              </p:spPr>
              <p:txBody>
                <a:bodyPr/>
                <a:lstStyle/>
                <a:p>
                  <a:r>
                    <a:rPr lang="en-US">
                      <a:noFill/>
                    </a:rPr>
                    <a:t> </a:t>
                  </a:r>
                </a:p>
              </p:txBody>
            </p:sp>
          </mc:Fallback>
        </mc:AlternateContent>
      </p:grpSp>
      <p:sp>
        <p:nvSpPr>
          <p:cNvPr id="6" name="Content Placeholder 5">
            <a:extLst>
              <a:ext uri="{FF2B5EF4-FFF2-40B4-BE49-F238E27FC236}">
                <a16:creationId xmlns:a16="http://schemas.microsoft.com/office/drawing/2014/main" id="{D59DD7BC-85A3-7BAC-05A2-927AB26C2588}"/>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2916955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A7954-E84B-BC4B-9BB4-70700875B3BB}"/>
              </a:ext>
            </a:extLst>
          </p:cNvPr>
          <p:cNvSpPr>
            <a:spLocks noGrp="1"/>
          </p:cNvSpPr>
          <p:nvPr>
            <p:ph type="title"/>
          </p:nvPr>
        </p:nvSpPr>
        <p:spPr/>
        <p:txBody>
          <a:bodyPr>
            <a:normAutofit/>
          </a:bodyPr>
          <a:lstStyle/>
          <a:p>
            <a:r>
              <a:rPr lang="en-US" sz="2800" b="1"/>
              <a:t>Reference – Adafruit INA238 Breakout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0AB1DF-B1B9-350C-E011-60A036C5A02E}"/>
                  </a:ext>
                </a:extLst>
              </p:cNvPr>
              <p:cNvSpPr>
                <a:spLocks noGrp="1"/>
              </p:cNvSpPr>
              <p:nvPr>
                <p:ph idx="1"/>
              </p:nvPr>
            </p:nvSpPr>
            <p:spPr>
              <a:xfrm>
                <a:off x="1106340" y="1002506"/>
                <a:ext cx="4080059" cy="5383054"/>
              </a:xfrm>
            </p:spPr>
            <p:txBody>
              <a:bodyPr>
                <a:normAutofit fontScale="92500"/>
              </a:bodyPr>
              <a:lstStyle/>
              <a:p>
                <a:pPr marL="0" indent="0">
                  <a:buNone/>
                </a:pPr>
                <a:r>
                  <a:rPr lang="en-US" sz="1600"/>
                  <a:t>The </a:t>
                </a:r>
                <a:r>
                  <a:rPr lang="en-US" sz="1600" b="1"/>
                  <a:t>Adafruit INA238 Breakout</a:t>
                </a:r>
                <a:r>
                  <a:rPr lang="en-US" sz="1600"/>
                  <a:t> is used in this lab to measure voltage and current of your solar array. </a:t>
                </a:r>
              </a:p>
              <a:p>
                <a:r>
                  <a:rPr lang="en-US" sz="1600"/>
                  <a:t>Built around the </a:t>
                </a:r>
                <a:r>
                  <a:rPr lang="en-US" sz="1600" b="1">
                    <a:hlinkClick r:id="rId2"/>
                  </a:rPr>
                  <a:t>Texas Instruments INA238</a:t>
                </a:r>
                <a:r>
                  <a:rPr lang="en-US" sz="1600">
                    <a:hlinkClick r:id="rId2"/>
                  </a:rPr>
                  <a:t> </a:t>
                </a:r>
                <a:r>
                  <a:rPr lang="en-US" sz="1600"/>
                  <a:t>chip.</a:t>
                </a:r>
              </a:p>
              <a:p>
                <a:r>
                  <a:rPr lang="en-US" sz="1600" b="1" i="1"/>
                  <a:t>Replaces two multimeters</a:t>
                </a:r>
                <a:r>
                  <a:rPr lang="en-US" sz="1600"/>
                  <a:t>: this chip measures both high (or low) side voltage and DC current draw with great precision. </a:t>
                </a:r>
              </a:p>
              <a:p>
                <a:r>
                  <a:rPr lang="en-US" sz="1600"/>
                  <a:t>Uses </a:t>
                </a:r>
                <a:r>
                  <a:rPr lang="en-US" sz="1600" b="1"/>
                  <a:t>I</a:t>
                </a:r>
                <a:r>
                  <a:rPr lang="en-US" sz="1600" b="1" baseline="30000"/>
                  <a:t>2</a:t>
                </a:r>
                <a:r>
                  <a:rPr lang="en-US" sz="1600" b="1"/>
                  <a:t>C communication </a:t>
                </a:r>
                <a:r>
                  <a:rPr lang="en-US" sz="1600"/>
                  <a:t>with host MCU.</a:t>
                </a:r>
              </a:p>
              <a:p>
                <a:r>
                  <a:rPr lang="en-US" sz="1600"/>
                  <a:t>Specs:</a:t>
                </a:r>
              </a:p>
              <a:p>
                <a:pPr lvl="1"/>
                <a:r>
                  <a:rPr lang="en-US" sz="1600"/>
                  <a:t>16-bit resolution</a:t>
                </a:r>
              </a:p>
              <a:p>
                <a:pPr lvl="1"/>
                <a:r>
                  <a:rPr lang="en-US" sz="1600"/>
                  <a:t>Up to +85V  high or low-side measurements</a:t>
                </a:r>
              </a:p>
              <a:p>
                <a:pPr lvl="1"/>
                <a:r>
                  <a:rPr lang="en-US" sz="1600"/>
                  <a:t>Up to ±10A (or 2.75A) current measurement, with ±0.15 mA (or 42 </a:t>
                </a:r>
                <a14:m>
                  <m:oMath xmlns:m="http://schemas.openxmlformats.org/officeDocument/2006/math">
                    <m:r>
                      <a:rPr lang="en-US" sz="1600" i="1">
                        <a:latin typeface="Cambria Math" panose="02040503050406030204" pitchFamily="18" charset="0"/>
                      </a:rPr>
                      <m:t>𝜇</m:t>
                    </m:r>
                  </m:oMath>
                </a14:m>
                <a:r>
                  <a:rPr lang="en-US" sz="1600"/>
                  <a:t>A) resolution</a:t>
                </a:r>
              </a:p>
              <a:p>
                <a:pPr marL="457200" lvl="1" indent="0">
                  <a:buNone/>
                </a:pPr>
                <a:endParaRPr lang="en-US" sz="1600"/>
              </a:p>
              <a:p>
                <a:pPr marL="0" indent="0">
                  <a:buNone/>
                </a:pPr>
                <a:r>
                  <a:rPr lang="en-US" sz="1600" b="1">
                    <a:hlinkClick r:id="rId3"/>
                  </a:rPr>
                  <a:t>Product page</a:t>
                </a:r>
                <a:endParaRPr lang="en-US" sz="1600" b="1"/>
              </a:p>
              <a:p>
                <a:pPr marL="0" indent="0">
                  <a:buNone/>
                </a:pPr>
                <a:endParaRPr lang="en-US" sz="1600" b="1"/>
              </a:p>
              <a:p>
                <a:pPr marL="0" indent="0">
                  <a:buNone/>
                </a:pPr>
                <a:r>
                  <a:rPr lang="en-US" sz="1600" b="1">
                    <a:hlinkClick r:id="rId4"/>
                  </a:rPr>
                  <a:t>Adafruit Tutorial</a:t>
                </a:r>
                <a:endParaRPr lang="en-US" sz="1600" b="1"/>
              </a:p>
            </p:txBody>
          </p:sp>
        </mc:Choice>
        <mc:Fallback xmlns="">
          <p:sp>
            <p:nvSpPr>
              <p:cNvPr id="3" name="Content Placeholder 2">
                <a:extLst>
                  <a:ext uri="{FF2B5EF4-FFF2-40B4-BE49-F238E27FC236}">
                    <a16:creationId xmlns:a16="http://schemas.microsoft.com/office/drawing/2014/main" id="{5A0AB1DF-B1B9-350C-E011-60A036C5A02E}"/>
                  </a:ext>
                </a:extLst>
              </p:cNvPr>
              <p:cNvSpPr>
                <a:spLocks noGrp="1" noRot="1" noChangeAspect="1" noMove="1" noResize="1" noEditPoints="1" noAdjustHandles="1" noChangeArrowheads="1" noChangeShapeType="1" noTextEdit="1"/>
              </p:cNvSpPr>
              <p:nvPr>
                <p:ph idx="1"/>
              </p:nvPr>
            </p:nvSpPr>
            <p:spPr>
              <a:xfrm>
                <a:off x="1106340" y="1002506"/>
                <a:ext cx="4080059" cy="5383054"/>
              </a:xfrm>
              <a:blipFill>
                <a:blip r:embed="rId5"/>
                <a:stretch>
                  <a:fillRect l="-597" t="-566" r="-1642" b="-56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DFB834F-C210-5B49-09F0-9953F0A2E21A}"/>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E8F6AF86-F73D-EBA4-B3B3-D8D6100B82B7}"/>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10" name="Picture 9">
            <a:extLst>
              <a:ext uri="{FF2B5EF4-FFF2-40B4-BE49-F238E27FC236}">
                <a16:creationId xmlns:a16="http://schemas.microsoft.com/office/drawing/2014/main" id="{5B813BDF-08F1-1843-5E76-42F2463D3859}"/>
              </a:ext>
            </a:extLst>
          </p:cNvPr>
          <p:cNvPicPr>
            <a:picLocks noChangeAspect="1"/>
          </p:cNvPicPr>
          <p:nvPr/>
        </p:nvPicPr>
        <p:blipFill>
          <a:blip r:embed="rId6"/>
          <a:stretch>
            <a:fillRect/>
          </a:stretch>
        </p:blipFill>
        <p:spPr>
          <a:xfrm>
            <a:off x="5305629" y="999684"/>
            <a:ext cx="3667637" cy="3153215"/>
          </a:xfrm>
          <a:prstGeom prst="rect">
            <a:avLst/>
          </a:prstGeom>
        </p:spPr>
      </p:pic>
      <p:grpSp>
        <p:nvGrpSpPr>
          <p:cNvPr id="14" name="Group 13">
            <a:extLst>
              <a:ext uri="{FF2B5EF4-FFF2-40B4-BE49-F238E27FC236}">
                <a16:creationId xmlns:a16="http://schemas.microsoft.com/office/drawing/2014/main" id="{35DE8432-FA36-F82D-4F91-46A62BC51A12}"/>
              </a:ext>
            </a:extLst>
          </p:cNvPr>
          <p:cNvGrpSpPr/>
          <p:nvPr/>
        </p:nvGrpSpPr>
        <p:grpSpPr>
          <a:xfrm>
            <a:off x="5353735" y="4357868"/>
            <a:ext cx="3743899" cy="2107238"/>
            <a:chOff x="5052043" y="4269031"/>
            <a:chExt cx="3848117" cy="2153415"/>
          </a:xfrm>
        </p:grpSpPr>
        <p:pic>
          <p:nvPicPr>
            <p:cNvPr id="12" name="Picture 11">
              <a:extLst>
                <a:ext uri="{FF2B5EF4-FFF2-40B4-BE49-F238E27FC236}">
                  <a16:creationId xmlns:a16="http://schemas.microsoft.com/office/drawing/2014/main" id="{D10B5E6E-4D64-A610-27DA-850F7EB3ED77}"/>
                </a:ext>
              </a:extLst>
            </p:cNvPr>
            <p:cNvPicPr>
              <a:picLocks noChangeAspect="1"/>
            </p:cNvPicPr>
            <p:nvPr/>
          </p:nvPicPr>
          <p:blipFill>
            <a:blip r:embed="rId7"/>
            <a:stretch>
              <a:fillRect/>
            </a:stretch>
          </p:blipFill>
          <p:spPr>
            <a:xfrm>
              <a:off x="5052043" y="4400749"/>
              <a:ext cx="3848117" cy="2021697"/>
            </a:xfrm>
            <a:prstGeom prst="rect">
              <a:avLst/>
            </a:prstGeom>
          </p:spPr>
        </p:pic>
        <p:sp>
          <p:nvSpPr>
            <p:cNvPr id="13" name="TextBox 12">
              <a:extLst>
                <a:ext uri="{FF2B5EF4-FFF2-40B4-BE49-F238E27FC236}">
                  <a16:creationId xmlns:a16="http://schemas.microsoft.com/office/drawing/2014/main" id="{A8900FFD-4778-604A-FEBB-9734D149AFFA}"/>
                </a:ext>
              </a:extLst>
            </p:cNvPr>
            <p:cNvSpPr txBox="1"/>
            <p:nvPr/>
          </p:nvSpPr>
          <p:spPr>
            <a:xfrm>
              <a:off x="5367797" y="4269031"/>
              <a:ext cx="2659380" cy="307777"/>
            </a:xfrm>
            <a:prstGeom prst="rect">
              <a:avLst/>
            </a:prstGeom>
            <a:noFill/>
          </p:spPr>
          <p:txBody>
            <a:bodyPr wrap="square" rtlCol="0">
              <a:spAutoFit/>
            </a:bodyPr>
            <a:lstStyle/>
            <a:p>
              <a:r>
                <a:rPr lang="en-US" sz="1200" b="1">
                  <a:latin typeface="Segoe UI" panose="020B0502040204020203" pitchFamily="34" charset="0"/>
                  <a:cs typeface="Segoe UI" panose="020B0502040204020203" pitchFamily="34" charset="0"/>
                </a:rPr>
                <a:t>Simplified</a:t>
              </a:r>
              <a:r>
                <a:rPr lang="en-US" sz="1400" b="1"/>
                <a:t> </a:t>
              </a:r>
              <a:r>
                <a:rPr lang="en-US" sz="1200" b="1">
                  <a:latin typeface="Segoe UI" panose="020B0502040204020203" pitchFamily="34" charset="0"/>
                  <a:cs typeface="Segoe UI" panose="020B0502040204020203" pitchFamily="34" charset="0"/>
                </a:rPr>
                <a:t>Schematic</a:t>
              </a:r>
              <a:endParaRPr lang="en-US" sz="1400" b="1"/>
            </a:p>
          </p:txBody>
        </p:sp>
      </p:grpSp>
      <p:pic>
        <p:nvPicPr>
          <p:cNvPr id="18" name="Picture 17">
            <a:extLst>
              <a:ext uri="{FF2B5EF4-FFF2-40B4-BE49-F238E27FC236}">
                <a16:creationId xmlns:a16="http://schemas.microsoft.com/office/drawing/2014/main" id="{E7605DF6-22AB-3AB8-A65F-4213B522F055}"/>
              </a:ext>
            </a:extLst>
          </p:cNvPr>
          <p:cNvPicPr>
            <a:picLocks noChangeAspect="1"/>
          </p:cNvPicPr>
          <p:nvPr/>
        </p:nvPicPr>
        <p:blipFill>
          <a:blip r:embed="rId8"/>
          <a:stretch>
            <a:fillRect/>
          </a:stretch>
        </p:blipFill>
        <p:spPr>
          <a:xfrm>
            <a:off x="3420705" y="5059515"/>
            <a:ext cx="1767134" cy="1181265"/>
          </a:xfrm>
          <a:prstGeom prst="rect">
            <a:avLst/>
          </a:prstGeom>
        </p:spPr>
      </p:pic>
      <p:cxnSp>
        <p:nvCxnSpPr>
          <p:cNvPr id="21" name="Straight Arrow Connector 20">
            <a:extLst>
              <a:ext uri="{FF2B5EF4-FFF2-40B4-BE49-F238E27FC236}">
                <a16:creationId xmlns:a16="http://schemas.microsoft.com/office/drawing/2014/main" id="{C7F863EA-2AB8-9EB3-AEC2-79B82E40899B}"/>
              </a:ext>
            </a:extLst>
          </p:cNvPr>
          <p:cNvCxnSpPr/>
          <p:nvPr/>
        </p:nvCxnSpPr>
        <p:spPr>
          <a:xfrm flipV="1">
            <a:off x="4762500" y="3040380"/>
            <a:ext cx="2277736" cy="23088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Content Placeholder 5">
            <a:extLst>
              <a:ext uri="{FF2B5EF4-FFF2-40B4-BE49-F238E27FC236}">
                <a16:creationId xmlns:a16="http://schemas.microsoft.com/office/drawing/2014/main" id="{197CFD52-4D16-3F30-167E-D6437587E773}"/>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b="1" dirty="0">
                <a:solidFill>
                  <a:srgbClr val="00B0F0"/>
                </a:solidFill>
              </a:rPr>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787047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3A44A-1704-AE51-42BE-401987A50BCF}"/>
              </a:ext>
            </a:extLst>
          </p:cNvPr>
          <p:cNvSpPr>
            <a:spLocks noGrp="1"/>
          </p:cNvSpPr>
          <p:nvPr>
            <p:ph type="title"/>
          </p:nvPr>
        </p:nvSpPr>
        <p:spPr/>
        <p:txBody>
          <a:bodyPr/>
          <a:lstStyle/>
          <a:p>
            <a:r>
              <a:rPr lang="en-US" b="1"/>
              <a:t>Prelab Data Collection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BA0AAD-789C-58A7-3B43-BCA30043D76E}"/>
                  </a:ext>
                </a:extLst>
              </p:cNvPr>
              <p:cNvSpPr>
                <a:spLocks noGrp="1"/>
              </p:cNvSpPr>
              <p:nvPr>
                <p:ph idx="1"/>
              </p:nvPr>
            </p:nvSpPr>
            <p:spPr>
              <a:xfrm>
                <a:off x="1061751" y="926909"/>
                <a:ext cx="8035885" cy="4351338"/>
              </a:xfrm>
            </p:spPr>
            <p:txBody>
              <a:bodyPr>
                <a:normAutofit/>
              </a:bodyPr>
              <a:lstStyle/>
              <a:p>
                <a:pPr marL="457200" indent="-457200">
                  <a:spcBef>
                    <a:spcPts val="600"/>
                  </a:spcBef>
                  <a:buAutoNum type="arabicParenBoth"/>
                </a:pPr>
                <a:r>
                  <a:rPr lang="en-US" sz="1550"/>
                  <a:t>Using the breadboard on the back of KestrelSAT’s solar power side,  connect the four solar panels in a </a:t>
                </a:r>
                <a:r>
                  <a:rPr lang="en-US" sz="1550" b="1">
                    <a:highlight>
                      <a:srgbClr val="FFFF00"/>
                    </a:highlight>
                  </a:rPr>
                  <a:t>Series Array</a:t>
                </a:r>
                <a:r>
                  <a:rPr lang="en-US" sz="1550" b="1"/>
                  <a:t>.</a:t>
                </a:r>
              </a:p>
              <a:p>
                <a:pPr marL="457200" indent="-457200">
                  <a:spcBef>
                    <a:spcPts val="600"/>
                  </a:spcBef>
                  <a:buAutoNum type="arabicParenBoth"/>
                </a:pPr>
                <a:r>
                  <a:rPr lang="en-US" sz="1550"/>
                  <a:t>Take your array outside and record the Solar luminance in Lux.</a:t>
                </a:r>
              </a:p>
              <a:p>
                <a:pPr marL="457200" indent="-457200">
                  <a:spcBef>
                    <a:spcPts val="600"/>
                  </a:spcBef>
                  <a:buAutoNum type="arabicParenBoth"/>
                </a:pPr>
                <a:r>
                  <a:rPr lang="en-US" sz="1550"/>
                  <a:t>Measure and record the short-circuit current (max current, </a:t>
                </a:r>
                <a14:m>
                  <m:oMath xmlns:m="http://schemas.openxmlformats.org/officeDocument/2006/math">
                    <m:sSub>
                      <m:sSubPr>
                        <m:ctrlPr>
                          <a:rPr lang="en-US" sz="1550" b="0" i="1" smtClean="0">
                            <a:latin typeface="Cambria Math" panose="02040503050406030204" pitchFamily="18" charset="0"/>
                          </a:rPr>
                        </m:ctrlPr>
                      </m:sSubPr>
                      <m:e>
                        <m:r>
                          <a:rPr lang="en-US" sz="1550" b="0" i="1" smtClean="0">
                            <a:latin typeface="Cambria Math" panose="02040503050406030204" pitchFamily="18" charset="0"/>
                          </a:rPr>
                          <m:t>𝐼</m:t>
                        </m:r>
                      </m:e>
                      <m:sub>
                        <m:r>
                          <a:rPr lang="en-US" sz="1550" b="0" i="1" smtClean="0">
                            <a:latin typeface="Cambria Math" panose="02040503050406030204" pitchFamily="18" charset="0"/>
                          </a:rPr>
                          <m:t>𝑠𝑐</m:t>
                        </m:r>
                      </m:sub>
                    </m:sSub>
                  </m:oMath>
                </a14:m>
                <a:r>
                  <a:rPr lang="en-US" sz="1550"/>
                  <a:t>) of your solar array.</a:t>
                </a:r>
              </a:p>
              <a:p>
                <a:pPr marL="457200" indent="-457200">
                  <a:spcBef>
                    <a:spcPts val="600"/>
                  </a:spcBef>
                  <a:buAutoNum type="arabicParenBoth"/>
                </a:pPr>
                <a:r>
                  <a:rPr lang="en-US" sz="1550"/>
                  <a:t>Measure and record the open-circuit voltage (max voltage,</a:t>
                </a:r>
                <a14:m>
                  <m:oMath xmlns:m="http://schemas.openxmlformats.org/officeDocument/2006/math">
                    <m:sSub>
                      <m:sSubPr>
                        <m:ctrlPr>
                          <a:rPr lang="en-US" sz="1550" b="0" i="1" smtClean="0">
                            <a:latin typeface="Cambria Math" panose="02040503050406030204" pitchFamily="18" charset="0"/>
                          </a:rPr>
                        </m:ctrlPr>
                      </m:sSubPr>
                      <m:e>
                        <m:r>
                          <a:rPr lang="en-US" sz="1550" b="0" i="1" smtClean="0">
                            <a:latin typeface="Cambria Math" panose="02040503050406030204" pitchFamily="18" charset="0"/>
                          </a:rPr>
                          <m:t> </m:t>
                        </m:r>
                        <m:r>
                          <a:rPr lang="en-US" sz="1550" b="0" i="1" smtClean="0">
                            <a:latin typeface="Cambria Math" panose="02040503050406030204" pitchFamily="18" charset="0"/>
                          </a:rPr>
                          <m:t>𝑉</m:t>
                        </m:r>
                      </m:e>
                      <m:sub>
                        <m:r>
                          <a:rPr lang="en-US" sz="1550" b="0" i="1" smtClean="0">
                            <a:latin typeface="Cambria Math" panose="02040503050406030204" pitchFamily="18" charset="0"/>
                          </a:rPr>
                          <m:t>𝑜𝑐</m:t>
                        </m:r>
                      </m:sub>
                    </m:sSub>
                  </m:oMath>
                </a14:m>
                <a:r>
                  <a:rPr lang="en-US" sz="1550"/>
                  <a:t>) of your solar array.</a:t>
                </a:r>
              </a:p>
              <a:p>
                <a:pPr marL="457200" indent="-457200">
                  <a:spcBef>
                    <a:spcPts val="600"/>
                  </a:spcBef>
                  <a:buFont typeface="Arial" panose="020B0604020202020204" pitchFamily="34" charset="0"/>
                  <a:buAutoNum type="arabicParenBoth"/>
                </a:pPr>
                <a:r>
                  <a:rPr lang="en-US" sz="1550"/>
                  <a:t>Reconnect KestrelSAT’s solar panels in a </a:t>
                </a:r>
                <a:r>
                  <a:rPr lang="en-US" sz="1550" b="1">
                    <a:highlight>
                      <a:srgbClr val="FFFF00"/>
                    </a:highlight>
                  </a:rPr>
                  <a:t>Parallel Array</a:t>
                </a:r>
                <a:r>
                  <a:rPr lang="en-US" sz="1550" b="1"/>
                  <a:t>.</a:t>
                </a:r>
                <a:endParaRPr lang="en-US" sz="1550"/>
              </a:p>
              <a:p>
                <a:pPr marL="457200" indent="-457200">
                  <a:spcBef>
                    <a:spcPts val="600"/>
                  </a:spcBef>
                  <a:buFont typeface="Arial" panose="020B0604020202020204" pitchFamily="34" charset="0"/>
                  <a:buAutoNum type="arabicParenBoth"/>
                </a:pPr>
                <a:r>
                  <a:rPr lang="en-US" sz="1550"/>
                  <a:t>Repeat Steps 3-4.</a:t>
                </a:r>
              </a:p>
              <a:p>
                <a:pPr marL="0" indent="0">
                  <a:spcBef>
                    <a:spcPts val="600"/>
                  </a:spcBef>
                  <a:buNone/>
                </a:pPr>
                <a:endParaRPr lang="en-US" sz="1550"/>
              </a:p>
            </p:txBody>
          </p:sp>
        </mc:Choice>
        <mc:Fallback xmlns="">
          <p:sp>
            <p:nvSpPr>
              <p:cNvPr id="3" name="Content Placeholder 2">
                <a:extLst>
                  <a:ext uri="{FF2B5EF4-FFF2-40B4-BE49-F238E27FC236}">
                    <a16:creationId xmlns:a16="http://schemas.microsoft.com/office/drawing/2014/main" id="{0ABA0AAD-789C-58A7-3B43-BCA30043D76E}"/>
                  </a:ext>
                </a:extLst>
              </p:cNvPr>
              <p:cNvSpPr>
                <a:spLocks noGrp="1" noRot="1" noChangeAspect="1" noMove="1" noResize="1" noEditPoints="1" noAdjustHandles="1" noChangeArrowheads="1" noChangeShapeType="1" noTextEdit="1"/>
              </p:cNvSpPr>
              <p:nvPr>
                <p:ph idx="1"/>
              </p:nvPr>
            </p:nvSpPr>
            <p:spPr>
              <a:xfrm>
                <a:off x="1061751" y="926909"/>
                <a:ext cx="8035885" cy="4351338"/>
              </a:xfrm>
              <a:blipFill>
                <a:blip r:embed="rId2"/>
                <a:stretch>
                  <a:fillRect l="-531" t="-1541" r="-30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6CCACF1-260D-05AA-69E4-0002CC3C686C}"/>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3A64077E-9B0D-62AB-53C3-61BB8073134A}"/>
              </a:ext>
            </a:extLst>
          </p:cNvPr>
          <p:cNvSpPr>
            <a:spLocks noGrp="1"/>
          </p:cNvSpPr>
          <p:nvPr>
            <p:ph type="sldNum" sz="quarter" idx="12"/>
          </p:nvPr>
        </p:nvSpPr>
        <p:spPr/>
        <p:txBody>
          <a:bodyPr/>
          <a:lstStyle/>
          <a:p>
            <a:fld id="{9A3029B7-FE6B-4680-9049-80E8298A0825}" type="slidenum">
              <a:rPr lang="en-US" smtClean="0"/>
              <a:t>11</a:t>
            </a:fld>
            <a:endParaRPr lang="en-US"/>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E6630502-D843-DE78-9215-B32DDD56B23C}"/>
                  </a:ext>
                </a:extLst>
              </p:cNvPr>
              <p:cNvGraphicFramePr>
                <a:graphicFrameLocks noGrp="1"/>
              </p:cNvGraphicFramePr>
              <p:nvPr>
                <p:extLst>
                  <p:ext uri="{D42A27DB-BD31-4B8C-83A1-F6EECF244321}">
                    <p14:modId xmlns:p14="http://schemas.microsoft.com/office/powerpoint/2010/main" val="2868766417"/>
                  </p:ext>
                </p:extLst>
              </p:nvPr>
            </p:nvGraphicFramePr>
            <p:xfrm>
              <a:off x="2145263" y="3288505"/>
              <a:ext cx="5868860" cy="1112520"/>
            </p:xfrm>
            <a:graphic>
              <a:graphicData uri="http://schemas.openxmlformats.org/drawingml/2006/table">
                <a:tbl>
                  <a:tblPr firstRow="1" bandRow="1">
                    <a:tableStyleId>{5C22544A-7EE6-4342-B048-85BDC9FD1C3A}</a:tableStyleId>
                  </a:tblPr>
                  <a:tblGrid>
                    <a:gridCol w="1209040">
                      <a:extLst>
                        <a:ext uri="{9D8B030D-6E8A-4147-A177-3AD203B41FA5}">
                          <a16:colId xmlns:a16="http://schemas.microsoft.com/office/drawing/2014/main" val="3944363378"/>
                        </a:ext>
                      </a:extLst>
                    </a:gridCol>
                    <a:gridCol w="2009700">
                      <a:extLst>
                        <a:ext uri="{9D8B030D-6E8A-4147-A177-3AD203B41FA5}">
                          <a16:colId xmlns:a16="http://schemas.microsoft.com/office/drawing/2014/main" val="2999747820"/>
                        </a:ext>
                      </a:extLst>
                    </a:gridCol>
                    <a:gridCol w="2650120">
                      <a:extLst>
                        <a:ext uri="{9D8B030D-6E8A-4147-A177-3AD203B41FA5}">
                          <a16:colId xmlns:a16="http://schemas.microsoft.com/office/drawing/2014/main" val="384013590"/>
                        </a:ext>
                      </a:extLst>
                    </a:gridCol>
                  </a:tblGrid>
                  <a:tr h="370840">
                    <a:tc>
                      <a:txBody>
                        <a:bodyPr/>
                        <a:lstStyle/>
                        <a:p>
                          <a:endParaRPr lang="en-US"/>
                        </a:p>
                      </a:txBody>
                      <a:tcPr/>
                    </a:tc>
                    <a:tc>
                      <a:txBody>
                        <a:bodyPr/>
                        <a:lstStyle/>
                        <a:p>
                          <a:pPr algn="ct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 </m:t>
                                  </m:r>
                                  <m:r>
                                    <a:rPr lang="en-US" sz="1800" b="0" i="1" smtClean="0">
                                      <a:latin typeface="Cambria Math" panose="02040503050406030204" pitchFamily="18" charset="0"/>
                                    </a:rPr>
                                    <m:t>𝑉</m:t>
                                  </m:r>
                                </m:e>
                                <m:sub>
                                  <m:r>
                                    <a:rPr lang="en-US" sz="1800" b="0" i="1" smtClean="0">
                                      <a:latin typeface="Cambria Math" panose="02040503050406030204" pitchFamily="18" charset="0"/>
                                    </a:rPr>
                                    <m:t>𝑜𝑐</m:t>
                                  </m:r>
                                </m:sub>
                              </m:sSub>
                            </m:oMath>
                          </a14:m>
                          <a:r>
                            <a:rPr lang="en-US"/>
                            <a:t> (V)</a:t>
                          </a:r>
                        </a:p>
                      </a:txBody>
                      <a:tcPr/>
                    </a:tc>
                    <a:tc>
                      <a:txBody>
                        <a:bodyPr/>
                        <a:lstStyle/>
                        <a:p>
                          <a:pPr algn="ct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𝑠𝑐</m:t>
                                  </m:r>
                                </m:sub>
                              </m:sSub>
                            </m:oMath>
                          </a14:m>
                          <a:r>
                            <a:rPr lang="en-US"/>
                            <a:t> (mA)</a:t>
                          </a:r>
                        </a:p>
                      </a:txBody>
                      <a:tcPr/>
                    </a:tc>
                    <a:extLst>
                      <a:ext uri="{0D108BD9-81ED-4DB2-BD59-A6C34878D82A}">
                        <a16:rowId xmlns:a16="http://schemas.microsoft.com/office/drawing/2014/main" val="2236526664"/>
                      </a:ext>
                    </a:extLst>
                  </a:tr>
                  <a:tr h="370840">
                    <a:tc>
                      <a:txBody>
                        <a:bodyPr/>
                        <a:lstStyle/>
                        <a:p>
                          <a:pPr algn="r"/>
                          <a:r>
                            <a:rPr lang="en-US"/>
                            <a:t>Series</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624759598"/>
                      </a:ext>
                    </a:extLst>
                  </a:tr>
                  <a:tr h="370840">
                    <a:tc>
                      <a:txBody>
                        <a:bodyPr/>
                        <a:lstStyle/>
                        <a:p>
                          <a:pPr algn="r"/>
                          <a:r>
                            <a:rPr lang="en-US"/>
                            <a:t>Parallel</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985367917"/>
                      </a:ext>
                    </a:extLst>
                  </a:tr>
                </a:tbl>
              </a:graphicData>
            </a:graphic>
          </p:graphicFrame>
        </mc:Choice>
        <mc:Fallback xmlns="">
          <p:graphicFrame>
            <p:nvGraphicFramePr>
              <p:cNvPr id="10" name="Table 9">
                <a:extLst>
                  <a:ext uri="{FF2B5EF4-FFF2-40B4-BE49-F238E27FC236}">
                    <a16:creationId xmlns:a16="http://schemas.microsoft.com/office/drawing/2014/main" id="{E6630502-D843-DE78-9215-B32DDD56B23C}"/>
                  </a:ext>
                </a:extLst>
              </p:cNvPr>
              <p:cNvGraphicFramePr>
                <a:graphicFrameLocks noGrp="1"/>
              </p:cNvGraphicFramePr>
              <p:nvPr>
                <p:extLst>
                  <p:ext uri="{D42A27DB-BD31-4B8C-83A1-F6EECF244321}">
                    <p14:modId xmlns:p14="http://schemas.microsoft.com/office/powerpoint/2010/main" val="2868766417"/>
                  </p:ext>
                </p:extLst>
              </p:nvPr>
            </p:nvGraphicFramePr>
            <p:xfrm>
              <a:off x="2145263" y="3288505"/>
              <a:ext cx="5868860" cy="1112520"/>
            </p:xfrm>
            <a:graphic>
              <a:graphicData uri="http://schemas.openxmlformats.org/drawingml/2006/table">
                <a:tbl>
                  <a:tblPr firstRow="1" bandRow="1">
                    <a:tableStyleId>{5C22544A-7EE6-4342-B048-85BDC9FD1C3A}</a:tableStyleId>
                  </a:tblPr>
                  <a:tblGrid>
                    <a:gridCol w="1209040">
                      <a:extLst>
                        <a:ext uri="{9D8B030D-6E8A-4147-A177-3AD203B41FA5}">
                          <a16:colId xmlns:a16="http://schemas.microsoft.com/office/drawing/2014/main" val="3944363378"/>
                        </a:ext>
                      </a:extLst>
                    </a:gridCol>
                    <a:gridCol w="2009700">
                      <a:extLst>
                        <a:ext uri="{9D8B030D-6E8A-4147-A177-3AD203B41FA5}">
                          <a16:colId xmlns:a16="http://schemas.microsoft.com/office/drawing/2014/main" val="2999747820"/>
                        </a:ext>
                      </a:extLst>
                    </a:gridCol>
                    <a:gridCol w="2650120">
                      <a:extLst>
                        <a:ext uri="{9D8B030D-6E8A-4147-A177-3AD203B41FA5}">
                          <a16:colId xmlns:a16="http://schemas.microsoft.com/office/drawing/2014/main" val="384013590"/>
                        </a:ext>
                      </a:extLst>
                    </a:gridCol>
                  </a:tblGrid>
                  <a:tr h="370840">
                    <a:tc>
                      <a:txBody>
                        <a:bodyPr/>
                        <a:lstStyle/>
                        <a:p>
                          <a:endParaRPr lang="en-US"/>
                        </a:p>
                      </a:txBody>
                      <a:tcPr/>
                    </a:tc>
                    <a:tc>
                      <a:txBody>
                        <a:bodyPr/>
                        <a:lstStyle/>
                        <a:p>
                          <a:endParaRPr lang="en-US"/>
                        </a:p>
                      </a:txBody>
                      <a:tcPr>
                        <a:blipFill>
                          <a:blip r:embed="rId3"/>
                          <a:stretch>
                            <a:fillRect l="-60606" t="-8197" r="-133030" b="-224590"/>
                          </a:stretch>
                        </a:blipFill>
                      </a:tcPr>
                    </a:tc>
                    <a:tc>
                      <a:txBody>
                        <a:bodyPr/>
                        <a:lstStyle/>
                        <a:p>
                          <a:endParaRPr lang="en-US"/>
                        </a:p>
                      </a:txBody>
                      <a:tcPr>
                        <a:blipFill>
                          <a:blip r:embed="rId3"/>
                          <a:stretch>
                            <a:fillRect l="-121839" t="-8197" r="-920" b="-224590"/>
                          </a:stretch>
                        </a:blipFill>
                      </a:tcPr>
                    </a:tc>
                    <a:extLst>
                      <a:ext uri="{0D108BD9-81ED-4DB2-BD59-A6C34878D82A}">
                        <a16:rowId xmlns:a16="http://schemas.microsoft.com/office/drawing/2014/main" val="2236526664"/>
                      </a:ext>
                    </a:extLst>
                  </a:tr>
                  <a:tr h="370840">
                    <a:tc>
                      <a:txBody>
                        <a:bodyPr/>
                        <a:lstStyle/>
                        <a:p>
                          <a:pPr algn="r"/>
                          <a:r>
                            <a:rPr lang="en-US"/>
                            <a:t>Series</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624759598"/>
                      </a:ext>
                    </a:extLst>
                  </a:tr>
                  <a:tr h="370840">
                    <a:tc>
                      <a:txBody>
                        <a:bodyPr/>
                        <a:lstStyle/>
                        <a:p>
                          <a:pPr algn="r"/>
                          <a:r>
                            <a:rPr lang="en-US"/>
                            <a:t>Parallel</a:t>
                          </a:r>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985367917"/>
                      </a:ext>
                    </a:extLst>
                  </a:tr>
                </a:tbl>
              </a:graphicData>
            </a:graphic>
          </p:graphicFrame>
        </mc:Fallback>
      </mc:AlternateContent>
      <p:pic>
        <p:nvPicPr>
          <p:cNvPr id="12" name="Picture 11">
            <a:extLst>
              <a:ext uri="{FF2B5EF4-FFF2-40B4-BE49-F238E27FC236}">
                <a16:creationId xmlns:a16="http://schemas.microsoft.com/office/drawing/2014/main" id="{1C0A9BE1-0DFB-76EB-F307-68E90F20EB9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036488" y="4438463"/>
            <a:ext cx="4107512" cy="2053756"/>
          </a:xfrm>
          <a:prstGeom prst="rect">
            <a:avLst/>
          </a:prstGeom>
        </p:spPr>
      </p:pic>
      <p:pic>
        <p:nvPicPr>
          <p:cNvPr id="14" name="Picture 13">
            <a:extLst>
              <a:ext uri="{FF2B5EF4-FFF2-40B4-BE49-F238E27FC236}">
                <a16:creationId xmlns:a16="http://schemas.microsoft.com/office/drawing/2014/main" id="{4E303C9E-A0FE-FCFD-4C0A-046B522EE74C}"/>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61751" y="4424907"/>
            <a:ext cx="3934397" cy="2053755"/>
          </a:xfrm>
          <a:prstGeom prst="rect">
            <a:avLst/>
          </a:prstGeom>
        </p:spPr>
      </p:pic>
      <p:graphicFrame>
        <p:nvGraphicFramePr>
          <p:cNvPr id="15" name="Table 14">
            <a:extLst>
              <a:ext uri="{FF2B5EF4-FFF2-40B4-BE49-F238E27FC236}">
                <a16:creationId xmlns:a16="http://schemas.microsoft.com/office/drawing/2014/main" id="{BE5AC8AD-3418-B94D-EC96-BAD55AE102C7}"/>
              </a:ext>
            </a:extLst>
          </p:cNvPr>
          <p:cNvGraphicFramePr>
            <a:graphicFrameLocks noGrp="1"/>
          </p:cNvGraphicFramePr>
          <p:nvPr/>
        </p:nvGraphicFramePr>
        <p:xfrm>
          <a:off x="2145263" y="2891302"/>
          <a:ext cx="5868860" cy="370840"/>
        </p:xfrm>
        <a:graphic>
          <a:graphicData uri="http://schemas.openxmlformats.org/drawingml/2006/table">
            <a:tbl>
              <a:tblPr firstRow="1" bandRow="1">
                <a:tableStyleId>{5C22544A-7EE6-4342-B048-85BDC9FD1C3A}</a:tableStyleId>
              </a:tblPr>
              <a:tblGrid>
                <a:gridCol w="2934430">
                  <a:extLst>
                    <a:ext uri="{9D8B030D-6E8A-4147-A177-3AD203B41FA5}">
                      <a16:colId xmlns:a16="http://schemas.microsoft.com/office/drawing/2014/main" val="439201660"/>
                    </a:ext>
                  </a:extLst>
                </a:gridCol>
                <a:gridCol w="2934430">
                  <a:extLst>
                    <a:ext uri="{9D8B030D-6E8A-4147-A177-3AD203B41FA5}">
                      <a16:colId xmlns:a16="http://schemas.microsoft.com/office/drawing/2014/main" val="2130987810"/>
                    </a:ext>
                  </a:extLst>
                </a:gridCol>
              </a:tblGrid>
              <a:tr h="370840">
                <a:tc>
                  <a:txBody>
                    <a:bodyPr/>
                    <a:lstStyle/>
                    <a:p>
                      <a:pPr algn="r"/>
                      <a:r>
                        <a:rPr lang="en-US"/>
                        <a:t>Solar Luminance (Lux)</a:t>
                      </a:r>
                    </a:p>
                  </a:txBody>
                  <a:tcPr/>
                </a:tc>
                <a:tc>
                  <a:txBody>
                    <a:bodyPr/>
                    <a:lstStyle/>
                    <a:p>
                      <a:endParaRPr lang="en-US"/>
                    </a:p>
                  </a:txBody>
                  <a:tcPr>
                    <a:solidFill>
                      <a:schemeClr val="bg1">
                        <a:lumMod val="85000"/>
                      </a:schemeClr>
                    </a:solidFill>
                  </a:tcPr>
                </a:tc>
                <a:extLst>
                  <a:ext uri="{0D108BD9-81ED-4DB2-BD59-A6C34878D82A}">
                    <a16:rowId xmlns:a16="http://schemas.microsoft.com/office/drawing/2014/main" val="212189872"/>
                  </a:ext>
                </a:extLst>
              </a:tr>
            </a:tbl>
          </a:graphicData>
        </a:graphic>
      </p:graphicFrame>
      <p:sp>
        <p:nvSpPr>
          <p:cNvPr id="8" name="Content Placeholder 5">
            <a:extLst>
              <a:ext uri="{FF2B5EF4-FFF2-40B4-BE49-F238E27FC236}">
                <a16:creationId xmlns:a16="http://schemas.microsoft.com/office/drawing/2014/main" id="{B938C92E-BAE0-2D59-352C-9A96B9D9DA18}"/>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1550499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5D7E1-852E-FB4A-2370-5A54E260EC47}"/>
              </a:ext>
            </a:extLst>
          </p:cNvPr>
          <p:cNvSpPr>
            <a:spLocks noGrp="1"/>
          </p:cNvSpPr>
          <p:nvPr>
            <p:ph type="title"/>
          </p:nvPr>
        </p:nvSpPr>
        <p:spPr/>
        <p:txBody>
          <a:bodyPr/>
          <a:lstStyle/>
          <a:p>
            <a:r>
              <a:rPr lang="en-US" b="1"/>
              <a:t>Prelab Tasks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663027-B588-8233-955A-249DF0262781}"/>
                  </a:ext>
                </a:extLst>
              </p:cNvPr>
              <p:cNvSpPr>
                <a:spLocks noGrp="1"/>
              </p:cNvSpPr>
              <p:nvPr>
                <p:ph idx="1"/>
              </p:nvPr>
            </p:nvSpPr>
            <p:spPr>
              <a:xfrm>
                <a:off x="1106340" y="1002506"/>
                <a:ext cx="7886700" cy="5578915"/>
              </a:xfrm>
            </p:spPr>
            <p:txBody>
              <a:bodyPr>
                <a:normAutofit/>
              </a:bodyPr>
              <a:lstStyle/>
              <a:p>
                <a:pPr marL="0" indent="0">
                  <a:buNone/>
                </a:pPr>
                <a:r>
                  <a:rPr lang="en-US" sz="1200" dirty="0"/>
                  <a:t>First,</a:t>
                </a:r>
                <a:r>
                  <a:rPr lang="en-US" sz="1200" b="1" dirty="0"/>
                  <a:t> read and understand the Reference slides and lab code </a:t>
                </a:r>
                <a:r>
                  <a:rPr lang="en-US" sz="1200" dirty="0"/>
                  <a:t>in these instructions. </a:t>
                </a:r>
              </a:p>
              <a:p>
                <a:pPr marL="0" indent="0">
                  <a:buNone/>
                </a:pPr>
                <a:r>
                  <a:rPr lang="en-US" sz="1200" b="1" u="sng" dirty="0"/>
                  <a:t>Prelab Turn-In Requirements:</a:t>
                </a:r>
              </a:p>
              <a:p>
                <a:pPr marL="395288" indent="-395288">
                  <a:buNone/>
                </a:pPr>
                <a:r>
                  <a:rPr lang="en-US" sz="1200" dirty="0"/>
                  <a:t>  (P1) </a:t>
                </a:r>
                <a:r>
                  <a:rPr lang="en-US" sz="1200" b="1" dirty="0"/>
                  <a:t>Create two tables </a:t>
                </a:r>
                <a:r>
                  <a:rPr lang="en-US" sz="1200" dirty="0"/>
                  <a:t>(one for Series Array and one for Parallel Array) comparing the expected performance of the solar array to the actual performance you found during the Prelab data collection. Each table should compare the expected and actual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 </m:t>
                        </m:r>
                        <m:r>
                          <a:rPr lang="en-US" sz="1200" i="1">
                            <a:latin typeface="Cambria Math" panose="02040503050406030204" pitchFamily="18" charset="0"/>
                          </a:rPr>
                          <m:t>𝑉</m:t>
                        </m:r>
                      </m:e>
                      <m:sub>
                        <m:r>
                          <a:rPr lang="en-US" sz="1200" i="1">
                            <a:latin typeface="Cambria Math" panose="02040503050406030204" pitchFamily="18" charset="0"/>
                          </a:rPr>
                          <m:t>𝑜𝑐</m:t>
                        </m:r>
                      </m:sub>
                    </m:sSub>
                  </m:oMath>
                </a14:m>
                <a:r>
                  <a:rPr lang="en-US" sz="1200" dirty="0"/>
                  <a:t> (V) and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𝐼</m:t>
                        </m:r>
                      </m:e>
                      <m:sub>
                        <m:r>
                          <a:rPr lang="en-US" sz="1200" i="1">
                            <a:latin typeface="Cambria Math" panose="02040503050406030204" pitchFamily="18" charset="0"/>
                          </a:rPr>
                          <m:t>𝑠𝑐</m:t>
                        </m:r>
                      </m:sub>
                    </m:sSub>
                  </m:oMath>
                </a14:m>
                <a:r>
                  <a:rPr lang="en-US" sz="1200" dirty="0"/>
                  <a:t> (mA) for the array. </a:t>
                </a:r>
                <a:r>
                  <a:rPr lang="en-US" sz="1200" b="1" dirty="0"/>
                  <a:t>Comment on differences between expected and actual results.</a:t>
                </a:r>
              </a:p>
              <a:p>
                <a:pPr marL="395288" indent="-395288">
                  <a:buNone/>
                </a:pPr>
                <a:r>
                  <a:rPr lang="en-US" sz="1200" dirty="0"/>
                  <a:t>  (P2)</a:t>
                </a:r>
                <a:r>
                  <a:rPr lang="en-US" sz="1200" b="1" dirty="0"/>
                  <a:t> Using your results from the prelab data collection, can you calculate the power output of the array? Why or why not? If you do calculate it, compare to expected max power (using </a:t>
                </a:r>
                <a:r>
                  <a:rPr lang="en-US" sz="1200" b="1" dirty="0" err="1"/>
                  <a:t>mpp</a:t>
                </a:r>
                <a:r>
                  <a:rPr lang="en-US" sz="1200" b="1" dirty="0"/>
                  <a:t> from datasheet), and comment on differences. </a:t>
                </a:r>
              </a:p>
              <a:p>
                <a:pPr marL="395288" indent="-395288">
                  <a:buNone/>
                </a:pPr>
                <a:r>
                  <a:rPr lang="en-US" sz="1200" dirty="0"/>
                  <a:t>  (P3) Using the mission parameters in Table 1 and solar cell datasheet, </a:t>
                </a:r>
                <a:r>
                  <a:rPr lang="en-US" sz="1200" b="1" dirty="0"/>
                  <a:t>calculate the number of cells needed to meet mission requirements. </a:t>
                </a:r>
                <a:r>
                  <a:rPr lang="en-US" sz="1200" dirty="0"/>
                  <a:t>Hints: </a:t>
                </a:r>
              </a:p>
              <a:p>
                <a:pPr marL="631825" indent="-631825">
                  <a:buNone/>
                </a:pPr>
                <a:r>
                  <a:rPr lang="en-US" sz="1200" dirty="0"/>
                  <a:t>	- Do not use the cell’s expected max power from datasheet (as this assumes terrestrial illuminance).</a:t>
                </a:r>
              </a:p>
              <a:p>
                <a:pPr marL="631825" indent="-631825">
                  <a:buNone/>
                </a:pPr>
                <a:r>
                  <a:rPr lang="en-US" sz="1200" dirty="0"/>
                  <a:t>	- Calculate the required solar array area and use the technical drawing from the solar cell data sheet to determine the area of one cell (note the area is </a:t>
                </a:r>
                <a:r>
                  <a:rPr lang="en-US" sz="1200" i="1" dirty="0"/>
                  <a:t>not</a:t>
                </a:r>
                <a:r>
                  <a:rPr lang="en-US" sz="1200" dirty="0"/>
                  <a:t> 66mm x 66mm).</a:t>
                </a:r>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a:p>
                <a:pPr marL="0" indent="0">
                  <a:buNone/>
                </a:pPr>
                <a:endParaRPr lang="en-US" sz="1200" dirty="0"/>
              </a:p>
            </p:txBody>
          </p:sp>
        </mc:Choice>
        <mc:Fallback xmlns="">
          <p:sp>
            <p:nvSpPr>
              <p:cNvPr id="3" name="Content Placeholder 2">
                <a:extLst>
                  <a:ext uri="{FF2B5EF4-FFF2-40B4-BE49-F238E27FC236}">
                    <a16:creationId xmlns:a16="http://schemas.microsoft.com/office/drawing/2014/main" id="{12663027-B588-8233-955A-249DF0262781}"/>
                  </a:ext>
                </a:extLst>
              </p:cNvPr>
              <p:cNvSpPr>
                <a:spLocks noGrp="1" noRot="1" noChangeAspect="1" noMove="1" noResize="1" noEditPoints="1" noAdjustHandles="1" noChangeArrowheads="1" noChangeShapeType="1" noTextEdit="1"/>
              </p:cNvSpPr>
              <p:nvPr>
                <p:ph idx="1"/>
              </p:nvPr>
            </p:nvSpPr>
            <p:spPr>
              <a:xfrm>
                <a:off x="1106340" y="1002506"/>
                <a:ext cx="7886700" cy="5578915"/>
              </a:xfrm>
              <a:blipFill>
                <a:blip r:embed="rId3"/>
                <a:stretch>
                  <a:fillRect t="-43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4584DD20-8E8A-C588-6666-212AEA926FED}"/>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88E402B0-4EA4-05C5-134B-2D839814ACE2}"/>
              </a:ext>
            </a:extLst>
          </p:cNvPr>
          <p:cNvSpPr>
            <a:spLocks noGrp="1"/>
          </p:cNvSpPr>
          <p:nvPr>
            <p:ph type="sldNum" sz="quarter" idx="12"/>
          </p:nvPr>
        </p:nvSpPr>
        <p:spPr/>
        <p:txBody>
          <a:bodyPr/>
          <a:lstStyle/>
          <a:p>
            <a:fld id="{9A3029B7-FE6B-4680-9049-80E8298A0825}" type="slidenum">
              <a:rPr lang="en-US" smtClean="0"/>
              <a:t>12</a:t>
            </a:fld>
            <a:endParaRPr lang="en-US"/>
          </a:p>
        </p:txBody>
      </p:sp>
      <p:sp>
        <p:nvSpPr>
          <p:cNvPr id="7" name="Content Placeholder 5">
            <a:extLst>
              <a:ext uri="{FF2B5EF4-FFF2-40B4-BE49-F238E27FC236}">
                <a16:creationId xmlns:a16="http://schemas.microsoft.com/office/drawing/2014/main" id="{0A61D0E3-5309-864E-4A7A-2512BDF93B07}"/>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b="1" dirty="0">
                <a:solidFill>
                  <a:srgbClr val="00B0F0"/>
                </a:solidFill>
              </a:rPr>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5BB1D207-CF2D-F530-2F4A-E5C6F9D49383}"/>
                  </a:ext>
                </a:extLst>
              </p:cNvPr>
              <p:cNvGraphicFramePr>
                <a:graphicFrameLocks noGrp="1"/>
              </p:cNvGraphicFramePr>
              <p:nvPr>
                <p:extLst>
                  <p:ext uri="{D42A27DB-BD31-4B8C-83A1-F6EECF244321}">
                    <p14:modId xmlns:p14="http://schemas.microsoft.com/office/powerpoint/2010/main" val="834797596"/>
                  </p:ext>
                </p:extLst>
              </p:nvPr>
            </p:nvGraphicFramePr>
            <p:xfrm>
              <a:off x="401115" y="4260559"/>
              <a:ext cx="2948002" cy="2497202"/>
            </p:xfrm>
            <a:graphic>
              <a:graphicData uri="http://schemas.openxmlformats.org/drawingml/2006/table">
                <a:tbl>
                  <a:tblPr firstRow="1" bandRow="1">
                    <a:tableStyleId>{21E4AEA4-8DFA-4A89-87EB-49C32662AFE0}</a:tableStyleId>
                  </a:tblPr>
                  <a:tblGrid>
                    <a:gridCol w="2077154">
                      <a:extLst>
                        <a:ext uri="{9D8B030D-6E8A-4147-A177-3AD203B41FA5}">
                          <a16:colId xmlns:a16="http://schemas.microsoft.com/office/drawing/2014/main" val="766308854"/>
                        </a:ext>
                      </a:extLst>
                    </a:gridCol>
                    <a:gridCol w="870848">
                      <a:extLst>
                        <a:ext uri="{9D8B030D-6E8A-4147-A177-3AD203B41FA5}">
                          <a16:colId xmlns:a16="http://schemas.microsoft.com/office/drawing/2014/main" val="842938558"/>
                        </a:ext>
                      </a:extLst>
                    </a:gridCol>
                  </a:tblGrid>
                  <a:tr h="245013">
                    <a:tc gridSpan="2">
                      <a:txBody>
                        <a:bodyPr/>
                        <a:lstStyle/>
                        <a:p>
                          <a:pPr algn="ctr"/>
                          <a:r>
                            <a:rPr lang="en-US" sz="1200"/>
                            <a:t>Table 1: Mission Parameters</a:t>
                          </a:r>
                        </a:p>
                      </a:txBody>
                      <a:tcPr/>
                    </a:tc>
                    <a:tc hMerge="1">
                      <a:txBody>
                        <a:bodyPr/>
                        <a:lstStyle/>
                        <a:p>
                          <a:endParaRPr lang="en-US"/>
                        </a:p>
                      </a:txBody>
                      <a:tcPr/>
                    </a:tc>
                    <a:extLst>
                      <a:ext uri="{0D108BD9-81ED-4DB2-BD59-A6C34878D82A}">
                        <a16:rowId xmlns:a16="http://schemas.microsoft.com/office/drawing/2014/main" val="944504700"/>
                      </a:ext>
                    </a:extLst>
                  </a:tr>
                  <a:tr h="245013">
                    <a:tc>
                      <a:txBody>
                        <a:bodyPr/>
                        <a:lstStyle/>
                        <a:p>
                          <a:pPr algn="r"/>
                          <a:r>
                            <a:rPr lang="en-US" sz="1200"/>
                            <a:t>Mission Life</a:t>
                          </a:r>
                        </a:p>
                      </a:txBody>
                      <a:tcPr/>
                    </a:tc>
                    <a:tc>
                      <a:txBody>
                        <a:bodyPr/>
                        <a:lstStyle/>
                        <a:p>
                          <a:r>
                            <a:rPr lang="en-US" sz="1200"/>
                            <a:t>3 years</a:t>
                          </a:r>
                        </a:p>
                      </a:txBody>
                      <a:tcPr/>
                    </a:tc>
                    <a:extLst>
                      <a:ext uri="{0D108BD9-81ED-4DB2-BD59-A6C34878D82A}">
                        <a16:rowId xmlns:a16="http://schemas.microsoft.com/office/drawing/2014/main" val="2294810667"/>
                      </a:ext>
                    </a:extLst>
                  </a:tr>
                  <a:tr h="245013">
                    <a:tc>
                      <a:txBody>
                        <a:bodyPr/>
                        <a:lstStyle/>
                        <a:p>
                          <a:pPr algn="r"/>
                          <a:r>
                            <a:rPr lang="en-US" sz="1200"/>
                            <a:t>Mission Altitude</a:t>
                          </a:r>
                        </a:p>
                      </a:txBody>
                      <a:tcPr/>
                    </a:tc>
                    <a:tc>
                      <a:txBody>
                        <a:bodyPr/>
                        <a:lstStyle/>
                        <a:p>
                          <a:r>
                            <a:rPr lang="en-US" sz="1200"/>
                            <a:t>500 km</a:t>
                          </a:r>
                        </a:p>
                      </a:txBody>
                      <a:tcPr/>
                    </a:tc>
                    <a:extLst>
                      <a:ext uri="{0D108BD9-81ED-4DB2-BD59-A6C34878D82A}">
                        <a16:rowId xmlns:a16="http://schemas.microsoft.com/office/drawing/2014/main" val="2282907585"/>
                      </a:ext>
                    </a:extLst>
                  </a:tr>
                  <a:tr h="259703">
                    <a:tc>
                      <a:txBody>
                        <a:bodyPr/>
                        <a:lstStyle/>
                        <a:p>
                          <a:pPr algn="r"/>
                          <a14:m>
                            <m:oMath xmlns:m="http://schemas.openxmlformats.org/officeDocument/2006/math">
                              <m:sSub>
                                <m:sSubPr>
                                  <m:ctrlPr>
                                    <a:rPr lang="en-US" sz="1200" b="0" i="1" dirty="0" smtClean="0">
                                      <a:latin typeface="Cambria Math" panose="02040503050406030204" pitchFamily="18" charset="0"/>
                                    </a:rPr>
                                  </m:ctrlPr>
                                </m:sSubPr>
                                <m:e>
                                  <m:r>
                                    <a:rPr lang="en-US" sz="1200" dirty="0" smtClean="0">
                                      <a:latin typeface="Cambria Math" panose="02040503050406030204" pitchFamily="18" charset="0"/>
                                    </a:rPr>
                                    <m:t>𝑃</m:t>
                                  </m:r>
                                </m:e>
                                <m:sub>
                                  <m:r>
                                    <a:rPr lang="en-US" sz="1200" dirty="0" smtClean="0">
                                      <a:latin typeface="Cambria Math" panose="02040503050406030204" pitchFamily="18" charset="0"/>
                                    </a:rPr>
                                    <m:t>𝑟𝑒𝑞</m:t>
                                  </m:r>
                                </m:sub>
                              </m:sSub>
                            </m:oMath>
                          </a14:m>
                          <a:r>
                            <a:rPr lang="en-US" sz="1200"/>
                            <a:t> (Eclipse)</a:t>
                          </a:r>
                        </a:p>
                      </a:txBody>
                      <a:tcPr/>
                    </a:tc>
                    <a:tc>
                      <a:txBody>
                        <a:bodyPr/>
                        <a:lstStyle/>
                        <a:p>
                          <a:r>
                            <a:rPr lang="en-US" sz="1200"/>
                            <a:t>2 W</a:t>
                          </a:r>
                        </a:p>
                      </a:txBody>
                      <a:tcPr/>
                    </a:tc>
                    <a:extLst>
                      <a:ext uri="{0D108BD9-81ED-4DB2-BD59-A6C34878D82A}">
                        <a16:rowId xmlns:a16="http://schemas.microsoft.com/office/drawing/2014/main" val="2256816791"/>
                      </a:ext>
                    </a:extLst>
                  </a:tr>
                  <a:tr h="25970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n-US" sz="1200" b="0" i="1" dirty="0" smtClean="0">
                                      <a:latin typeface="Cambria Math" panose="02040503050406030204" pitchFamily="18" charset="0"/>
                                    </a:rPr>
                                  </m:ctrlPr>
                                </m:sSubPr>
                                <m:e>
                                  <m:r>
                                    <a:rPr lang="en-US" sz="1200" dirty="0" smtClean="0">
                                      <a:latin typeface="Cambria Math" panose="02040503050406030204" pitchFamily="18" charset="0"/>
                                    </a:rPr>
                                    <m:t>𝑃</m:t>
                                  </m:r>
                                </m:e>
                                <m:sub>
                                  <m:r>
                                    <a:rPr lang="en-US" sz="1200" dirty="0" smtClean="0">
                                      <a:latin typeface="Cambria Math" panose="02040503050406030204" pitchFamily="18" charset="0"/>
                                    </a:rPr>
                                    <m:t>𝑟𝑒𝑞</m:t>
                                  </m:r>
                                </m:sub>
                              </m:sSub>
                            </m:oMath>
                          </a14:m>
                          <a:r>
                            <a:rPr lang="en-US" sz="1200"/>
                            <a:t> (Sunlight)</a:t>
                          </a:r>
                        </a:p>
                      </a:txBody>
                      <a:tcPr/>
                    </a:tc>
                    <a:tc>
                      <a:txBody>
                        <a:bodyPr/>
                        <a:lstStyle/>
                        <a:p>
                          <a:r>
                            <a:rPr lang="en-US" sz="1200"/>
                            <a:t>4 W</a:t>
                          </a:r>
                        </a:p>
                      </a:txBody>
                      <a:tcPr/>
                    </a:tc>
                    <a:extLst>
                      <a:ext uri="{0D108BD9-81ED-4DB2-BD59-A6C34878D82A}">
                        <a16:rowId xmlns:a16="http://schemas.microsoft.com/office/drawing/2014/main" val="4036314075"/>
                      </a:ext>
                    </a:extLst>
                  </a:tr>
                  <a:tr h="245013">
                    <a:tc>
                      <a:txBody>
                        <a:bodyPr/>
                        <a:lstStyle/>
                        <a:p>
                          <a:pPr algn="r"/>
                          <a:r>
                            <a:rPr lang="en-US" sz="1200"/>
                            <a:t>efficiency in eclipse</a:t>
                          </a:r>
                        </a:p>
                      </a:txBody>
                      <a:tcPr/>
                    </a:tc>
                    <a:tc>
                      <a:txBody>
                        <a:bodyPr/>
                        <a:lstStyle/>
                        <a:p>
                          <a:r>
                            <a:rPr lang="en-US" sz="1200"/>
                            <a:t>65%</a:t>
                          </a:r>
                        </a:p>
                      </a:txBody>
                      <a:tcPr/>
                    </a:tc>
                    <a:extLst>
                      <a:ext uri="{0D108BD9-81ED-4DB2-BD59-A6C34878D82A}">
                        <a16:rowId xmlns:a16="http://schemas.microsoft.com/office/drawing/2014/main" val="1274647220"/>
                      </a:ext>
                    </a:extLst>
                  </a:tr>
                  <a:tr h="245013">
                    <a:tc>
                      <a:txBody>
                        <a:bodyPr/>
                        <a:lstStyle/>
                        <a:p>
                          <a:pPr algn="r"/>
                          <a:r>
                            <a:rPr lang="en-US" sz="1200"/>
                            <a:t>efficiency in sunlight</a:t>
                          </a:r>
                        </a:p>
                      </a:txBody>
                      <a:tcPr/>
                    </a:tc>
                    <a:tc>
                      <a:txBody>
                        <a:bodyPr/>
                        <a:lstStyle/>
                        <a:p>
                          <a:r>
                            <a:rPr lang="en-US" sz="1200"/>
                            <a:t>80%</a:t>
                          </a:r>
                        </a:p>
                      </a:txBody>
                      <a:tcPr/>
                    </a:tc>
                    <a:extLst>
                      <a:ext uri="{0D108BD9-81ED-4DB2-BD59-A6C34878D82A}">
                        <a16:rowId xmlns:a16="http://schemas.microsoft.com/office/drawing/2014/main" val="388400552"/>
                      </a:ext>
                    </a:extLst>
                  </a:tr>
                  <a:tr h="245013">
                    <a:tc>
                      <a:txBody>
                        <a:bodyPr/>
                        <a:lstStyle/>
                        <a:p>
                          <a:pPr algn="r"/>
                          <a:r>
                            <a:rPr lang="en-US" sz="1200"/>
                            <a:t>Worst sun incidence angle</a:t>
                          </a:r>
                        </a:p>
                      </a:txBody>
                      <a:tcPr/>
                    </a:tc>
                    <a:tc>
                      <a:txBody>
                        <a:bodyPr/>
                        <a:lstStyle/>
                        <a:p>
                          <a:r>
                            <a:rPr lang="en-US" sz="1200"/>
                            <a:t>25</a:t>
                          </a:r>
                          <a14:m>
                            <m:oMath xmlns:m="http://schemas.openxmlformats.org/officeDocument/2006/math">
                              <m:r>
                                <a:rPr lang="en-US" sz="1200" b="0" smtClean="0">
                                  <a:latin typeface="Cambria Math" panose="02040503050406030204" pitchFamily="18" charset="0"/>
                                </a:rPr>
                                <m:t>°</m:t>
                              </m:r>
                            </m:oMath>
                          </a14:m>
                          <a:endParaRPr lang="en-US" sz="1200"/>
                        </a:p>
                      </a:txBody>
                      <a:tcPr/>
                    </a:tc>
                    <a:extLst>
                      <a:ext uri="{0D108BD9-81ED-4DB2-BD59-A6C34878D82A}">
                        <a16:rowId xmlns:a16="http://schemas.microsoft.com/office/drawing/2014/main" val="3154452156"/>
                      </a:ext>
                    </a:extLst>
                  </a:tr>
                  <a:tr h="245013">
                    <a:tc>
                      <a:txBody>
                        <a:bodyPr/>
                        <a:lstStyle/>
                        <a:p>
                          <a:pPr algn="r"/>
                          <a:r>
                            <a:rPr lang="en-US" sz="1200"/>
                            <a:t>Annual degradation of array </a:t>
                          </a:r>
                        </a:p>
                      </a:txBody>
                      <a:tcPr/>
                    </a:tc>
                    <a:tc>
                      <a:txBody>
                        <a:bodyPr/>
                        <a:lstStyle/>
                        <a:p>
                          <a:r>
                            <a:rPr lang="en-US" sz="1200"/>
                            <a:t>5%</a:t>
                          </a:r>
                        </a:p>
                      </a:txBody>
                      <a:tcPr/>
                    </a:tc>
                    <a:extLst>
                      <a:ext uri="{0D108BD9-81ED-4DB2-BD59-A6C34878D82A}">
                        <a16:rowId xmlns:a16="http://schemas.microsoft.com/office/drawing/2014/main" val="3526712634"/>
                      </a:ext>
                    </a:extLst>
                  </a:tr>
                </a:tbl>
              </a:graphicData>
            </a:graphic>
          </p:graphicFrame>
        </mc:Choice>
        <mc:Fallback xmlns="">
          <p:graphicFrame>
            <p:nvGraphicFramePr>
              <p:cNvPr id="10" name="Table 9">
                <a:extLst>
                  <a:ext uri="{FF2B5EF4-FFF2-40B4-BE49-F238E27FC236}">
                    <a16:creationId xmlns:a16="http://schemas.microsoft.com/office/drawing/2014/main" id="{5BB1D207-CF2D-F530-2F4A-E5C6F9D49383}"/>
                  </a:ext>
                </a:extLst>
              </p:cNvPr>
              <p:cNvGraphicFramePr>
                <a:graphicFrameLocks noGrp="1"/>
              </p:cNvGraphicFramePr>
              <p:nvPr>
                <p:extLst>
                  <p:ext uri="{D42A27DB-BD31-4B8C-83A1-F6EECF244321}">
                    <p14:modId xmlns:p14="http://schemas.microsoft.com/office/powerpoint/2010/main" val="834797596"/>
                  </p:ext>
                </p:extLst>
              </p:nvPr>
            </p:nvGraphicFramePr>
            <p:xfrm>
              <a:off x="401115" y="4260559"/>
              <a:ext cx="2948002" cy="2497202"/>
            </p:xfrm>
            <a:graphic>
              <a:graphicData uri="http://schemas.openxmlformats.org/drawingml/2006/table">
                <a:tbl>
                  <a:tblPr firstRow="1" bandRow="1">
                    <a:tableStyleId>{21E4AEA4-8DFA-4A89-87EB-49C32662AFE0}</a:tableStyleId>
                  </a:tblPr>
                  <a:tblGrid>
                    <a:gridCol w="2077154">
                      <a:extLst>
                        <a:ext uri="{9D8B030D-6E8A-4147-A177-3AD203B41FA5}">
                          <a16:colId xmlns:a16="http://schemas.microsoft.com/office/drawing/2014/main" val="766308854"/>
                        </a:ext>
                      </a:extLst>
                    </a:gridCol>
                    <a:gridCol w="870848">
                      <a:extLst>
                        <a:ext uri="{9D8B030D-6E8A-4147-A177-3AD203B41FA5}">
                          <a16:colId xmlns:a16="http://schemas.microsoft.com/office/drawing/2014/main" val="842938558"/>
                        </a:ext>
                      </a:extLst>
                    </a:gridCol>
                  </a:tblGrid>
                  <a:tr h="274320">
                    <a:tc gridSpan="2">
                      <a:txBody>
                        <a:bodyPr/>
                        <a:lstStyle/>
                        <a:p>
                          <a:pPr algn="ctr"/>
                          <a:r>
                            <a:rPr lang="en-US" sz="1200"/>
                            <a:t>Table 1: Mission Parameters</a:t>
                          </a:r>
                        </a:p>
                      </a:txBody>
                      <a:tcPr/>
                    </a:tc>
                    <a:tc hMerge="1">
                      <a:txBody>
                        <a:bodyPr/>
                        <a:lstStyle/>
                        <a:p>
                          <a:endParaRPr lang="en-US"/>
                        </a:p>
                      </a:txBody>
                      <a:tcPr/>
                    </a:tc>
                    <a:extLst>
                      <a:ext uri="{0D108BD9-81ED-4DB2-BD59-A6C34878D82A}">
                        <a16:rowId xmlns:a16="http://schemas.microsoft.com/office/drawing/2014/main" val="944504700"/>
                      </a:ext>
                    </a:extLst>
                  </a:tr>
                  <a:tr h="274320">
                    <a:tc>
                      <a:txBody>
                        <a:bodyPr/>
                        <a:lstStyle/>
                        <a:p>
                          <a:pPr algn="r"/>
                          <a:r>
                            <a:rPr lang="en-US" sz="1200"/>
                            <a:t>Mission Life</a:t>
                          </a:r>
                        </a:p>
                      </a:txBody>
                      <a:tcPr/>
                    </a:tc>
                    <a:tc>
                      <a:txBody>
                        <a:bodyPr/>
                        <a:lstStyle/>
                        <a:p>
                          <a:r>
                            <a:rPr lang="en-US" sz="1200"/>
                            <a:t>3 years</a:t>
                          </a:r>
                        </a:p>
                      </a:txBody>
                      <a:tcPr/>
                    </a:tc>
                    <a:extLst>
                      <a:ext uri="{0D108BD9-81ED-4DB2-BD59-A6C34878D82A}">
                        <a16:rowId xmlns:a16="http://schemas.microsoft.com/office/drawing/2014/main" val="2294810667"/>
                      </a:ext>
                    </a:extLst>
                  </a:tr>
                  <a:tr h="274320">
                    <a:tc>
                      <a:txBody>
                        <a:bodyPr/>
                        <a:lstStyle/>
                        <a:p>
                          <a:pPr algn="r"/>
                          <a:r>
                            <a:rPr lang="en-US" sz="1200"/>
                            <a:t>Mission Altitude</a:t>
                          </a:r>
                        </a:p>
                      </a:txBody>
                      <a:tcPr/>
                    </a:tc>
                    <a:tc>
                      <a:txBody>
                        <a:bodyPr/>
                        <a:lstStyle/>
                        <a:p>
                          <a:r>
                            <a:rPr lang="en-US" sz="1200"/>
                            <a:t>500 km</a:t>
                          </a:r>
                        </a:p>
                      </a:txBody>
                      <a:tcPr/>
                    </a:tc>
                    <a:extLst>
                      <a:ext uri="{0D108BD9-81ED-4DB2-BD59-A6C34878D82A}">
                        <a16:rowId xmlns:a16="http://schemas.microsoft.com/office/drawing/2014/main" val="2282907585"/>
                      </a:ext>
                    </a:extLst>
                  </a:tr>
                  <a:tr h="288481">
                    <a:tc>
                      <a:txBody>
                        <a:bodyPr/>
                        <a:lstStyle/>
                        <a:p>
                          <a:endParaRPr lang="en-US"/>
                        </a:p>
                      </a:txBody>
                      <a:tcPr>
                        <a:blipFill>
                          <a:blip r:embed="rId4"/>
                          <a:stretch>
                            <a:fillRect l="-292" t="-283333" r="-42982" b="-491667"/>
                          </a:stretch>
                        </a:blipFill>
                      </a:tcPr>
                    </a:tc>
                    <a:tc>
                      <a:txBody>
                        <a:bodyPr/>
                        <a:lstStyle/>
                        <a:p>
                          <a:r>
                            <a:rPr lang="en-US" sz="1200"/>
                            <a:t>2 W</a:t>
                          </a:r>
                        </a:p>
                      </a:txBody>
                      <a:tcPr/>
                    </a:tc>
                    <a:extLst>
                      <a:ext uri="{0D108BD9-81ED-4DB2-BD59-A6C34878D82A}">
                        <a16:rowId xmlns:a16="http://schemas.microsoft.com/office/drawing/2014/main" val="2256816791"/>
                      </a:ext>
                    </a:extLst>
                  </a:tr>
                  <a:tr h="288481">
                    <a:tc>
                      <a:txBody>
                        <a:bodyPr/>
                        <a:lstStyle/>
                        <a:p>
                          <a:endParaRPr lang="en-US"/>
                        </a:p>
                      </a:txBody>
                      <a:tcPr>
                        <a:blipFill>
                          <a:blip r:embed="rId4"/>
                          <a:stretch>
                            <a:fillRect l="-292" t="-391489" r="-42982" b="-402128"/>
                          </a:stretch>
                        </a:blipFill>
                      </a:tcPr>
                    </a:tc>
                    <a:tc>
                      <a:txBody>
                        <a:bodyPr/>
                        <a:lstStyle/>
                        <a:p>
                          <a:r>
                            <a:rPr lang="en-US" sz="1200"/>
                            <a:t>4 W</a:t>
                          </a:r>
                        </a:p>
                      </a:txBody>
                      <a:tcPr/>
                    </a:tc>
                    <a:extLst>
                      <a:ext uri="{0D108BD9-81ED-4DB2-BD59-A6C34878D82A}">
                        <a16:rowId xmlns:a16="http://schemas.microsoft.com/office/drawing/2014/main" val="4036314075"/>
                      </a:ext>
                    </a:extLst>
                  </a:tr>
                  <a:tr h="274320">
                    <a:tc>
                      <a:txBody>
                        <a:bodyPr/>
                        <a:lstStyle/>
                        <a:p>
                          <a:pPr algn="r"/>
                          <a:r>
                            <a:rPr lang="en-US" sz="1200"/>
                            <a:t>efficiency in eclipse</a:t>
                          </a:r>
                        </a:p>
                      </a:txBody>
                      <a:tcPr/>
                    </a:tc>
                    <a:tc>
                      <a:txBody>
                        <a:bodyPr/>
                        <a:lstStyle/>
                        <a:p>
                          <a:r>
                            <a:rPr lang="en-US" sz="1200"/>
                            <a:t>65%</a:t>
                          </a:r>
                        </a:p>
                      </a:txBody>
                      <a:tcPr/>
                    </a:tc>
                    <a:extLst>
                      <a:ext uri="{0D108BD9-81ED-4DB2-BD59-A6C34878D82A}">
                        <a16:rowId xmlns:a16="http://schemas.microsoft.com/office/drawing/2014/main" val="1274647220"/>
                      </a:ext>
                    </a:extLst>
                  </a:tr>
                  <a:tr h="274320">
                    <a:tc>
                      <a:txBody>
                        <a:bodyPr/>
                        <a:lstStyle/>
                        <a:p>
                          <a:pPr algn="r"/>
                          <a:r>
                            <a:rPr lang="en-US" sz="1200"/>
                            <a:t>efficiency in sunlight</a:t>
                          </a:r>
                        </a:p>
                      </a:txBody>
                      <a:tcPr/>
                    </a:tc>
                    <a:tc>
                      <a:txBody>
                        <a:bodyPr/>
                        <a:lstStyle/>
                        <a:p>
                          <a:r>
                            <a:rPr lang="en-US" sz="1200"/>
                            <a:t>80%</a:t>
                          </a:r>
                        </a:p>
                      </a:txBody>
                      <a:tcPr/>
                    </a:tc>
                    <a:extLst>
                      <a:ext uri="{0D108BD9-81ED-4DB2-BD59-A6C34878D82A}">
                        <a16:rowId xmlns:a16="http://schemas.microsoft.com/office/drawing/2014/main" val="388400552"/>
                      </a:ext>
                    </a:extLst>
                  </a:tr>
                  <a:tr h="274320">
                    <a:tc>
                      <a:txBody>
                        <a:bodyPr/>
                        <a:lstStyle/>
                        <a:p>
                          <a:pPr algn="r"/>
                          <a:r>
                            <a:rPr lang="en-US" sz="1200"/>
                            <a:t>Worst sun incidence angle</a:t>
                          </a:r>
                        </a:p>
                      </a:txBody>
                      <a:tcPr/>
                    </a:tc>
                    <a:tc>
                      <a:txBody>
                        <a:bodyPr/>
                        <a:lstStyle/>
                        <a:p>
                          <a:endParaRPr lang="en-US"/>
                        </a:p>
                      </a:txBody>
                      <a:tcPr>
                        <a:blipFill>
                          <a:blip r:embed="rId4"/>
                          <a:stretch>
                            <a:fillRect l="-239860" t="-715556" r="-2797" b="-117778"/>
                          </a:stretch>
                        </a:blipFill>
                      </a:tcPr>
                    </a:tc>
                    <a:extLst>
                      <a:ext uri="{0D108BD9-81ED-4DB2-BD59-A6C34878D82A}">
                        <a16:rowId xmlns:a16="http://schemas.microsoft.com/office/drawing/2014/main" val="3154452156"/>
                      </a:ext>
                    </a:extLst>
                  </a:tr>
                  <a:tr h="274320">
                    <a:tc>
                      <a:txBody>
                        <a:bodyPr/>
                        <a:lstStyle/>
                        <a:p>
                          <a:pPr algn="r"/>
                          <a:r>
                            <a:rPr lang="en-US" sz="1200"/>
                            <a:t>Annual degradation of array </a:t>
                          </a:r>
                        </a:p>
                      </a:txBody>
                      <a:tcPr/>
                    </a:tc>
                    <a:tc>
                      <a:txBody>
                        <a:bodyPr/>
                        <a:lstStyle/>
                        <a:p>
                          <a:r>
                            <a:rPr lang="en-US" sz="1200"/>
                            <a:t>5%</a:t>
                          </a:r>
                        </a:p>
                      </a:txBody>
                      <a:tcPr/>
                    </a:tc>
                    <a:extLst>
                      <a:ext uri="{0D108BD9-81ED-4DB2-BD59-A6C34878D82A}">
                        <a16:rowId xmlns:a16="http://schemas.microsoft.com/office/drawing/2014/main" val="3526712634"/>
                      </a:ext>
                    </a:extLst>
                  </a:tr>
                </a:tbl>
              </a:graphicData>
            </a:graphic>
          </p:graphicFrame>
        </mc:Fallback>
      </mc:AlternateContent>
      <p:sp>
        <p:nvSpPr>
          <p:cNvPr id="11" name="Content Placeholder 7">
            <a:extLst>
              <a:ext uri="{FF2B5EF4-FFF2-40B4-BE49-F238E27FC236}">
                <a16:creationId xmlns:a16="http://schemas.microsoft.com/office/drawing/2014/main" id="{441E8ABF-C4B6-0C01-C020-1EDAD9522100}"/>
              </a:ext>
            </a:extLst>
          </p:cNvPr>
          <p:cNvSpPr txBox="1">
            <a:spLocks/>
          </p:cNvSpPr>
          <p:nvPr/>
        </p:nvSpPr>
        <p:spPr>
          <a:xfrm>
            <a:off x="3492921" y="4602206"/>
            <a:ext cx="2772413" cy="1414609"/>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Authorized Resources</a:t>
            </a:r>
            <a:endParaRPr lang="en-US" sz="1200" b="1">
              <a:solidFill>
                <a:srgbClr val="FF0000"/>
              </a:solidFill>
              <a:latin typeface="Segoe UI" panose="020B0502040204020203" pitchFamily="34" charset="0"/>
              <a:cs typeface="Segoe UI" panose="020B0502040204020203" pitchFamily="34" charset="0"/>
            </a:endParaRPr>
          </a:p>
          <a:p>
            <a:r>
              <a:rPr lang="en-US" sz="1200" b="1">
                <a:solidFill>
                  <a:srgbClr val="FF0000"/>
                </a:solidFill>
                <a:highlight>
                  <a:srgbClr val="FFFF00"/>
                </a:highlight>
                <a:latin typeface="Segoe UI" panose="020B0502040204020203" pitchFamily="34" charset="0"/>
                <a:cs typeface="Segoe UI" panose="020B0502040204020203" pitchFamily="34" charset="0"/>
              </a:rPr>
              <a:t>Prelab turn-in is individual effort</a:t>
            </a:r>
          </a:p>
          <a:p>
            <a:pPr marL="223838" indent="-223838"/>
            <a:r>
              <a:rPr lang="en-US" sz="1200" b="1">
                <a:highlight>
                  <a:srgbClr val="FFFF00"/>
                </a:highlight>
                <a:latin typeface="Segoe UI" panose="020B0502040204020203" pitchFamily="34" charset="0"/>
                <a:cs typeface="Segoe UI" panose="020B0502040204020203" pitchFamily="34" charset="0"/>
              </a:rPr>
              <a:t>Generative AI Level 0 Allowed (</a:t>
            </a:r>
            <a:r>
              <a:rPr lang="en-US" sz="1200" b="1" i="1">
                <a:solidFill>
                  <a:srgbClr val="FF0000"/>
                </a:solidFill>
                <a:highlight>
                  <a:srgbClr val="FFFF00"/>
                </a:highlight>
                <a:latin typeface="Segoe UI" panose="020B0502040204020203" pitchFamily="34" charset="0"/>
                <a:cs typeface="Segoe UI" panose="020B0502040204020203" pitchFamily="34" charset="0"/>
              </a:rPr>
              <a:t>GenAI not allowed</a:t>
            </a:r>
            <a:r>
              <a:rPr lang="en-US" sz="1200" b="1">
                <a:highlight>
                  <a:srgbClr val="FFFF00"/>
                </a:highlight>
                <a:latin typeface="Segoe UI" panose="020B0502040204020203" pitchFamily="34" charset="0"/>
                <a:cs typeface="Segoe UI" panose="020B0502040204020203" pitchFamily="34" charset="0"/>
              </a:rPr>
              <a:t>)</a:t>
            </a:r>
          </a:p>
          <a:p>
            <a:pPr marL="0" indent="-223838"/>
            <a:r>
              <a:rPr lang="en-US" sz="1200">
                <a:latin typeface="Segoe UI" panose="020B0502040204020203" pitchFamily="34" charset="0"/>
                <a:cs typeface="Segoe UI" panose="020B0502040204020203" pitchFamily="34" charset="0"/>
              </a:rPr>
              <a:t>Astro 331 course notes/instructor </a:t>
            </a:r>
          </a:p>
        </p:txBody>
      </p:sp>
      <p:sp>
        <p:nvSpPr>
          <p:cNvPr id="12" name="Content Placeholder 7">
            <a:extLst>
              <a:ext uri="{FF2B5EF4-FFF2-40B4-BE49-F238E27FC236}">
                <a16:creationId xmlns:a16="http://schemas.microsoft.com/office/drawing/2014/main" id="{C8006994-84C0-3A3E-EFC5-B85507285A2F}"/>
              </a:ext>
            </a:extLst>
          </p:cNvPr>
          <p:cNvSpPr txBox="1">
            <a:spLocks/>
          </p:cNvSpPr>
          <p:nvPr/>
        </p:nvSpPr>
        <p:spPr>
          <a:xfrm>
            <a:off x="6382529" y="4182480"/>
            <a:ext cx="2406232" cy="2501774"/>
          </a:xfrm>
          <a:prstGeom prst="rect">
            <a:avLst/>
          </a:prstGeom>
          <a:solidFill>
            <a:schemeClr val="bg2">
              <a:lumMod val="90000"/>
            </a:schemeClr>
          </a:solidFill>
          <a:ln>
            <a:solidFill>
              <a:schemeClr val="tx1"/>
            </a:solidFill>
          </a:ln>
        </p:spPr>
        <p:style>
          <a:lnRef idx="2">
            <a:schemeClr val="accent2"/>
          </a:lnRef>
          <a:fillRef idx="1">
            <a:schemeClr val="lt1"/>
          </a:fillRef>
          <a:effectRef idx="0">
            <a:schemeClr val="accent2"/>
          </a:effectRef>
          <a:fontRef idx="minor">
            <a:schemeClr val="dk1"/>
          </a:fontRef>
        </p:style>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1200" b="1" u="sng">
                <a:latin typeface="Segoe UI" panose="020B0502040204020203" pitchFamily="34" charset="0"/>
                <a:cs typeface="Segoe UI" panose="020B0502040204020203" pitchFamily="34" charset="0"/>
              </a:rPr>
              <a:t>Turn-In Format</a:t>
            </a:r>
            <a:endParaRPr lang="en-US" sz="1200" b="1">
              <a:solidFill>
                <a:srgbClr val="FF0000"/>
              </a:solidFill>
              <a:latin typeface="Segoe UI" panose="020B0502040204020203" pitchFamily="34" charset="0"/>
              <a:cs typeface="Segoe UI" panose="020B0502040204020203" pitchFamily="34" charset="0"/>
            </a:endParaRPr>
          </a:p>
          <a:p>
            <a:pPr marL="223838" indent="-223838"/>
            <a:r>
              <a:rPr lang="en-US" sz="1200">
                <a:latin typeface="Segoe UI" panose="020B0502040204020203" pitchFamily="34" charset="0"/>
                <a:cs typeface="Segoe UI" panose="020B0502040204020203" pitchFamily="34" charset="0"/>
              </a:rPr>
              <a:t>Provide answers to (P1)/(P2)/(P3) digitally using Word, PowerPoint, or LaTeX.</a:t>
            </a:r>
          </a:p>
          <a:p>
            <a:pPr marL="223838" indent="-223838"/>
            <a:r>
              <a:rPr lang="en-US" sz="1200">
                <a:latin typeface="Segoe UI" panose="020B0502040204020203" pitchFamily="34" charset="0"/>
                <a:cs typeface="Segoe UI" panose="020B0502040204020203" pitchFamily="34" charset="0"/>
              </a:rPr>
              <a:t>Math work for (P3) may be handwritten. If it is, make sure it is legible/organized and include a high-quality scan of it in your turn-in file. </a:t>
            </a:r>
          </a:p>
          <a:p>
            <a:pPr marL="223838" indent="-223838"/>
            <a:r>
              <a:rPr lang="en-US" sz="1200">
                <a:latin typeface="Segoe UI" panose="020B0502040204020203" pitchFamily="34" charset="0"/>
                <a:cs typeface="Segoe UI" panose="020B0502040204020203" pitchFamily="34" charset="0"/>
              </a:rPr>
              <a:t>Include a documentation statement.</a:t>
            </a:r>
          </a:p>
          <a:p>
            <a:pPr marL="223838" indent="-223838"/>
            <a:endParaRPr lang="en-US" sz="12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87559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79EE-BF6E-736A-598F-8100BE6D93C0}"/>
              </a:ext>
            </a:extLst>
          </p:cNvPr>
          <p:cNvSpPr>
            <a:spLocks noGrp="1"/>
          </p:cNvSpPr>
          <p:nvPr>
            <p:ph type="title"/>
          </p:nvPr>
        </p:nvSpPr>
        <p:spPr/>
        <p:txBody>
          <a:bodyPr>
            <a:normAutofit/>
          </a:bodyPr>
          <a:lstStyle/>
          <a:p>
            <a:r>
              <a:rPr lang="en-US" sz="2800" b="1"/>
              <a:t>Task 0A – Install VS Code + Platform IO</a:t>
            </a:r>
          </a:p>
        </p:txBody>
      </p:sp>
      <p:sp>
        <p:nvSpPr>
          <p:cNvPr id="4" name="Footer Placeholder 3">
            <a:extLst>
              <a:ext uri="{FF2B5EF4-FFF2-40B4-BE49-F238E27FC236}">
                <a16:creationId xmlns:a16="http://schemas.microsoft.com/office/drawing/2014/main" id="{C943ABD4-8869-4814-FD60-B504895A1CB1}"/>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B6F05A2-712A-65A1-9841-A048EFF5C4C9}"/>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8" name="Content Placeholder 2">
            <a:extLst>
              <a:ext uri="{FF2B5EF4-FFF2-40B4-BE49-F238E27FC236}">
                <a16:creationId xmlns:a16="http://schemas.microsoft.com/office/drawing/2014/main" id="{A910AD32-2B25-5837-476F-0852FC75803A}"/>
              </a:ext>
            </a:extLst>
          </p:cNvPr>
          <p:cNvSpPr txBox="1">
            <a:spLocks/>
          </p:cNvSpPr>
          <p:nvPr/>
        </p:nvSpPr>
        <p:spPr>
          <a:xfrm>
            <a:off x="1131417" y="1006891"/>
            <a:ext cx="4067838" cy="386701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AutoNum type="arabicParenBoth"/>
            </a:pPr>
            <a:r>
              <a:rPr lang="en-US" sz="1400" b="1" dirty="0">
                <a:solidFill>
                  <a:srgbClr val="00B0F0"/>
                </a:solidFill>
              </a:rPr>
              <a:t>Open Microsoft Store &amp; install Visual Studio Code.</a:t>
            </a:r>
          </a:p>
          <a:p>
            <a:pPr marL="342900" indent="-342900">
              <a:buFont typeface="Arial" panose="020B0604020202020204" pitchFamily="34" charset="0"/>
              <a:buAutoNum type="arabicParenBoth"/>
            </a:pPr>
            <a:endParaRPr lang="en-US" sz="1400" b="1" dirty="0">
              <a:solidFill>
                <a:srgbClr val="00B0F0"/>
              </a:solidFill>
            </a:endParaRPr>
          </a:p>
          <a:p>
            <a:pPr marL="0" indent="0">
              <a:buFont typeface="Arial" panose="020B0604020202020204" pitchFamily="34" charset="0"/>
              <a:buNone/>
            </a:pPr>
            <a:r>
              <a:rPr lang="en-US" sz="1400" b="1" dirty="0">
                <a:solidFill>
                  <a:schemeClr val="accent5">
                    <a:lumMod val="75000"/>
                  </a:schemeClr>
                </a:solidFill>
              </a:rPr>
              <a:t>(2) Open VS Code and Click ‘Extensions’ </a:t>
            </a:r>
            <a:r>
              <a:rPr lang="en-US" sz="1400" dirty="0">
                <a:solidFill>
                  <a:schemeClr val="accent5">
                    <a:lumMod val="75000"/>
                  </a:schemeClr>
                </a:solidFill>
              </a:rPr>
              <a:t>(shortcut: CTRL+SHIFT+X)</a:t>
            </a:r>
          </a:p>
          <a:p>
            <a:pPr marL="0" indent="0">
              <a:buFont typeface="Arial" panose="020B0604020202020204" pitchFamily="34" charset="0"/>
              <a:buNone/>
            </a:pPr>
            <a:endParaRPr lang="en-US" sz="1400" dirty="0"/>
          </a:p>
          <a:p>
            <a:pPr marL="0" indent="0">
              <a:buFont typeface="Arial" panose="020B0604020202020204" pitchFamily="34" charset="0"/>
              <a:buNone/>
            </a:pPr>
            <a:r>
              <a:rPr lang="en-US" sz="1400" b="1" dirty="0">
                <a:solidFill>
                  <a:srgbClr val="FFC000"/>
                </a:solidFill>
              </a:rPr>
              <a:t>(3) Search for and Install “</a:t>
            </a:r>
            <a:r>
              <a:rPr lang="en-US" sz="1400" b="1" dirty="0" err="1">
                <a:solidFill>
                  <a:srgbClr val="FFC000"/>
                </a:solidFill>
              </a:rPr>
              <a:t>PlatformIO</a:t>
            </a:r>
            <a:r>
              <a:rPr lang="en-US" sz="1400" b="1" dirty="0">
                <a:solidFill>
                  <a:srgbClr val="FFC000"/>
                </a:solidFill>
              </a:rPr>
              <a:t> IDE”</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b="1" dirty="0">
                <a:solidFill>
                  <a:schemeClr val="accent3">
                    <a:lumMod val="60000"/>
                    <a:lumOff val="40000"/>
                  </a:schemeClr>
                </a:solidFill>
              </a:rPr>
              <a:t>(4) </a:t>
            </a:r>
            <a:r>
              <a:rPr lang="en-US" sz="1400" b="1" dirty="0" err="1">
                <a:solidFill>
                  <a:schemeClr val="accent3">
                    <a:lumMod val="60000"/>
                    <a:lumOff val="40000"/>
                  </a:schemeClr>
                </a:solidFill>
              </a:rPr>
              <a:t>PlatformIO</a:t>
            </a:r>
            <a:r>
              <a:rPr lang="en-US" sz="1400" b="1" dirty="0">
                <a:solidFill>
                  <a:schemeClr val="accent3">
                    <a:lumMod val="60000"/>
                    <a:lumOff val="40000"/>
                  </a:schemeClr>
                </a:solidFill>
              </a:rPr>
              <a:t> can be started via the Alien symbol on the left side panel.</a:t>
            </a:r>
          </a:p>
          <a:p>
            <a:pPr marL="0" indent="0">
              <a:buFont typeface="Arial" panose="020B0604020202020204" pitchFamily="34" charset="0"/>
              <a:buNone/>
            </a:pPr>
            <a:endParaRPr lang="en-US" sz="1400" b="1" dirty="0">
              <a:solidFill>
                <a:schemeClr val="accent3">
                  <a:lumMod val="60000"/>
                  <a:lumOff val="40000"/>
                </a:schemeClr>
              </a:solidFill>
            </a:endParaRPr>
          </a:p>
          <a:p>
            <a:pPr marL="0" indent="0">
              <a:buFont typeface="Arial" panose="020B0604020202020204" pitchFamily="34" charset="0"/>
              <a:buNone/>
            </a:pPr>
            <a:r>
              <a:rPr lang="en-US" sz="1400" b="1" dirty="0">
                <a:solidFill>
                  <a:schemeClr val="accent2">
                    <a:lumMod val="75000"/>
                  </a:schemeClr>
                </a:solidFill>
              </a:rPr>
              <a:t>(5) After </a:t>
            </a:r>
            <a:r>
              <a:rPr lang="en-US" sz="1400" b="1" dirty="0" err="1">
                <a:solidFill>
                  <a:schemeClr val="accent2">
                    <a:lumMod val="75000"/>
                  </a:schemeClr>
                </a:solidFill>
              </a:rPr>
              <a:t>PlatformIO</a:t>
            </a:r>
            <a:r>
              <a:rPr lang="en-US" sz="1400" b="1" dirty="0">
                <a:solidFill>
                  <a:schemeClr val="accent2">
                    <a:lumMod val="75000"/>
                  </a:schemeClr>
                </a:solidFill>
              </a:rPr>
              <a:t> starts, there should be a home icon in lower left corner that takes you to ‘PIO Home’ tab. From that tab you can start/open projects, search for libraries, etc. </a:t>
            </a:r>
            <a:endParaRPr lang="en-US" sz="1400" dirty="0">
              <a:solidFill>
                <a:schemeClr val="accent2">
                  <a:lumMod val="75000"/>
                </a:schemeClr>
              </a:solidFill>
            </a:endParaRPr>
          </a:p>
        </p:txBody>
      </p:sp>
      <p:grpSp>
        <p:nvGrpSpPr>
          <p:cNvPr id="21" name="Group 20">
            <a:extLst>
              <a:ext uri="{FF2B5EF4-FFF2-40B4-BE49-F238E27FC236}">
                <a16:creationId xmlns:a16="http://schemas.microsoft.com/office/drawing/2014/main" id="{3E609DEA-3CA8-5281-D72C-62909E856D7E}"/>
              </a:ext>
            </a:extLst>
          </p:cNvPr>
          <p:cNvGrpSpPr/>
          <p:nvPr/>
        </p:nvGrpSpPr>
        <p:grpSpPr>
          <a:xfrm>
            <a:off x="5502177" y="2257815"/>
            <a:ext cx="2003698" cy="2657846"/>
            <a:chOff x="5036538" y="3989822"/>
            <a:chExt cx="2003698" cy="2657846"/>
          </a:xfrm>
        </p:grpSpPr>
        <p:pic>
          <p:nvPicPr>
            <p:cNvPr id="12" name="Picture 11">
              <a:extLst>
                <a:ext uri="{FF2B5EF4-FFF2-40B4-BE49-F238E27FC236}">
                  <a16:creationId xmlns:a16="http://schemas.microsoft.com/office/drawing/2014/main" id="{16D2C6B2-3866-8CBD-76CA-110BF82285D7}"/>
                </a:ext>
              </a:extLst>
            </p:cNvPr>
            <p:cNvPicPr>
              <a:picLocks noChangeAspect="1"/>
            </p:cNvPicPr>
            <p:nvPr/>
          </p:nvPicPr>
          <p:blipFill>
            <a:blip r:embed="rId2"/>
            <a:stretch>
              <a:fillRect/>
            </a:stretch>
          </p:blipFill>
          <p:spPr>
            <a:xfrm>
              <a:off x="5087338" y="3989822"/>
              <a:ext cx="1952898" cy="2657846"/>
            </a:xfrm>
            <a:prstGeom prst="rect">
              <a:avLst/>
            </a:prstGeom>
          </p:spPr>
        </p:pic>
        <p:sp>
          <p:nvSpPr>
            <p:cNvPr id="13" name="Rectangle 12">
              <a:extLst>
                <a:ext uri="{FF2B5EF4-FFF2-40B4-BE49-F238E27FC236}">
                  <a16:creationId xmlns:a16="http://schemas.microsoft.com/office/drawing/2014/main" id="{0F518CD5-998B-0A1D-FAA1-3AD8A666857B}"/>
                </a:ext>
              </a:extLst>
            </p:cNvPr>
            <p:cNvSpPr/>
            <p:nvPr/>
          </p:nvSpPr>
          <p:spPr>
            <a:xfrm>
              <a:off x="5036538" y="6096843"/>
              <a:ext cx="480342" cy="435329"/>
            </a:xfrm>
            <a:prstGeom prst="rect">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F89D63C1-DDD6-D163-3982-3B2CA6C1972E}"/>
              </a:ext>
            </a:extLst>
          </p:cNvPr>
          <p:cNvGrpSpPr/>
          <p:nvPr/>
        </p:nvGrpSpPr>
        <p:grpSpPr>
          <a:xfrm>
            <a:off x="2316710" y="4988525"/>
            <a:ext cx="2921370" cy="1476581"/>
            <a:chOff x="5887869" y="2447784"/>
            <a:chExt cx="2921370" cy="1476581"/>
          </a:xfrm>
        </p:grpSpPr>
        <p:pic>
          <p:nvPicPr>
            <p:cNvPr id="18" name="Picture 17">
              <a:extLst>
                <a:ext uri="{FF2B5EF4-FFF2-40B4-BE49-F238E27FC236}">
                  <a16:creationId xmlns:a16="http://schemas.microsoft.com/office/drawing/2014/main" id="{7664281C-B9B2-21D6-AEF1-9A6F8293AFD4}"/>
                </a:ext>
              </a:extLst>
            </p:cNvPr>
            <p:cNvPicPr>
              <a:picLocks noChangeAspect="1"/>
            </p:cNvPicPr>
            <p:nvPr/>
          </p:nvPicPr>
          <p:blipFill>
            <a:blip r:embed="rId3"/>
            <a:stretch>
              <a:fillRect/>
            </a:stretch>
          </p:blipFill>
          <p:spPr>
            <a:xfrm>
              <a:off x="5922761" y="2447784"/>
              <a:ext cx="2886478" cy="1476581"/>
            </a:xfrm>
            <a:prstGeom prst="rect">
              <a:avLst/>
            </a:prstGeom>
          </p:spPr>
        </p:pic>
        <p:sp>
          <p:nvSpPr>
            <p:cNvPr id="19" name="Rectangle 18">
              <a:extLst>
                <a:ext uri="{FF2B5EF4-FFF2-40B4-BE49-F238E27FC236}">
                  <a16:creationId xmlns:a16="http://schemas.microsoft.com/office/drawing/2014/main" id="{129474CA-558F-6176-AB32-E0F9FBF37A35}"/>
                </a:ext>
              </a:extLst>
            </p:cNvPr>
            <p:cNvSpPr/>
            <p:nvPr/>
          </p:nvSpPr>
          <p:spPr>
            <a:xfrm>
              <a:off x="5887869" y="3149779"/>
              <a:ext cx="2921370" cy="774586"/>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4DF8BCA9-D94E-DC7D-3181-CFBF7A3F088A}"/>
              </a:ext>
            </a:extLst>
          </p:cNvPr>
          <p:cNvGrpSpPr/>
          <p:nvPr/>
        </p:nvGrpSpPr>
        <p:grpSpPr>
          <a:xfrm>
            <a:off x="7980994" y="1130060"/>
            <a:ext cx="817536" cy="3743847"/>
            <a:chOff x="7988602" y="405178"/>
            <a:chExt cx="817536" cy="3743847"/>
          </a:xfrm>
        </p:grpSpPr>
        <p:pic>
          <p:nvPicPr>
            <p:cNvPr id="23" name="Picture 22">
              <a:extLst>
                <a:ext uri="{FF2B5EF4-FFF2-40B4-BE49-F238E27FC236}">
                  <a16:creationId xmlns:a16="http://schemas.microsoft.com/office/drawing/2014/main" id="{E8473E7D-269F-A0AF-92F3-D80D218FFEBD}"/>
                </a:ext>
              </a:extLst>
            </p:cNvPr>
            <p:cNvPicPr>
              <a:picLocks noChangeAspect="1"/>
            </p:cNvPicPr>
            <p:nvPr/>
          </p:nvPicPr>
          <p:blipFill>
            <a:blip r:embed="rId4"/>
            <a:stretch>
              <a:fillRect/>
            </a:stretch>
          </p:blipFill>
          <p:spPr>
            <a:xfrm>
              <a:off x="8082137" y="405178"/>
              <a:ext cx="724001" cy="3743847"/>
            </a:xfrm>
            <a:prstGeom prst="rect">
              <a:avLst/>
            </a:prstGeom>
          </p:spPr>
        </p:pic>
        <p:sp>
          <p:nvSpPr>
            <p:cNvPr id="24" name="Rectangle 23">
              <a:extLst>
                <a:ext uri="{FF2B5EF4-FFF2-40B4-BE49-F238E27FC236}">
                  <a16:creationId xmlns:a16="http://schemas.microsoft.com/office/drawing/2014/main" id="{BE6ADC99-0AF6-9F83-97E1-9D2B112AED3C}"/>
                </a:ext>
              </a:extLst>
            </p:cNvPr>
            <p:cNvSpPr/>
            <p:nvPr/>
          </p:nvSpPr>
          <p:spPr>
            <a:xfrm>
              <a:off x="7988602" y="2952123"/>
              <a:ext cx="615972" cy="563238"/>
            </a:xfrm>
            <a:prstGeom prst="rect">
              <a:avLst/>
            </a:prstGeom>
            <a:noFill/>
            <a:ln w="571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6A1791E-6D70-B95D-2958-7ECC56037B5B}"/>
              </a:ext>
            </a:extLst>
          </p:cNvPr>
          <p:cNvGrpSpPr/>
          <p:nvPr/>
        </p:nvGrpSpPr>
        <p:grpSpPr>
          <a:xfrm>
            <a:off x="6643742" y="5244048"/>
            <a:ext cx="1724266" cy="1166316"/>
            <a:chOff x="6880308" y="5626113"/>
            <a:chExt cx="1724266" cy="1166316"/>
          </a:xfrm>
        </p:grpSpPr>
        <p:pic>
          <p:nvPicPr>
            <p:cNvPr id="27" name="Picture 26">
              <a:extLst>
                <a:ext uri="{FF2B5EF4-FFF2-40B4-BE49-F238E27FC236}">
                  <a16:creationId xmlns:a16="http://schemas.microsoft.com/office/drawing/2014/main" id="{40EB984B-4A1D-3845-85F2-2C22E7C75B77}"/>
                </a:ext>
              </a:extLst>
            </p:cNvPr>
            <p:cNvPicPr>
              <a:picLocks noChangeAspect="1"/>
            </p:cNvPicPr>
            <p:nvPr/>
          </p:nvPicPr>
          <p:blipFill>
            <a:blip r:embed="rId5"/>
            <a:stretch>
              <a:fillRect/>
            </a:stretch>
          </p:blipFill>
          <p:spPr>
            <a:xfrm>
              <a:off x="6880308" y="5626113"/>
              <a:ext cx="1724266" cy="1143160"/>
            </a:xfrm>
            <a:prstGeom prst="rect">
              <a:avLst/>
            </a:prstGeom>
          </p:spPr>
        </p:pic>
        <p:sp>
          <p:nvSpPr>
            <p:cNvPr id="28" name="Rectangle 27">
              <a:extLst>
                <a:ext uri="{FF2B5EF4-FFF2-40B4-BE49-F238E27FC236}">
                  <a16:creationId xmlns:a16="http://schemas.microsoft.com/office/drawing/2014/main" id="{4833242E-04E2-E7BD-EDE8-0147E8624EB7}"/>
                </a:ext>
              </a:extLst>
            </p:cNvPr>
            <p:cNvSpPr/>
            <p:nvPr/>
          </p:nvSpPr>
          <p:spPr>
            <a:xfrm>
              <a:off x="7805349" y="6427303"/>
              <a:ext cx="399082" cy="365126"/>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Content Placeholder 5">
            <a:extLst>
              <a:ext uri="{FF2B5EF4-FFF2-40B4-BE49-F238E27FC236}">
                <a16:creationId xmlns:a16="http://schemas.microsoft.com/office/drawing/2014/main" id="{67603A38-2CB7-3B6A-17E7-A53A544468B3}"/>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b="1" dirty="0">
                <a:solidFill>
                  <a:srgbClr val="00B0F0"/>
                </a:solidFill>
              </a:rPr>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pic>
        <p:nvPicPr>
          <p:cNvPr id="6" name="Picture 5">
            <a:extLst>
              <a:ext uri="{FF2B5EF4-FFF2-40B4-BE49-F238E27FC236}">
                <a16:creationId xmlns:a16="http://schemas.microsoft.com/office/drawing/2014/main" id="{F77CA697-D011-D0C1-548D-E38E8FF78E1E}"/>
              </a:ext>
            </a:extLst>
          </p:cNvPr>
          <p:cNvPicPr>
            <a:picLocks noChangeAspect="1"/>
          </p:cNvPicPr>
          <p:nvPr/>
        </p:nvPicPr>
        <p:blipFill>
          <a:blip r:embed="rId6"/>
          <a:srcRect l="2669" t="73601"/>
          <a:stretch>
            <a:fillRect/>
          </a:stretch>
        </p:blipFill>
        <p:spPr>
          <a:xfrm>
            <a:off x="5199255" y="974408"/>
            <a:ext cx="2085287" cy="460815"/>
          </a:xfrm>
          <a:prstGeom prst="rect">
            <a:avLst/>
          </a:prstGeom>
        </p:spPr>
      </p:pic>
      <p:sp>
        <p:nvSpPr>
          <p:cNvPr id="11" name="Rectangle 10">
            <a:extLst>
              <a:ext uri="{FF2B5EF4-FFF2-40B4-BE49-F238E27FC236}">
                <a16:creationId xmlns:a16="http://schemas.microsoft.com/office/drawing/2014/main" id="{0E155E65-3B38-0664-4D28-E690757D1648}"/>
              </a:ext>
            </a:extLst>
          </p:cNvPr>
          <p:cNvSpPr/>
          <p:nvPr/>
        </p:nvSpPr>
        <p:spPr>
          <a:xfrm>
            <a:off x="5134827" y="881582"/>
            <a:ext cx="2795367" cy="872827"/>
          </a:xfrm>
          <a:prstGeom prst="rect">
            <a:avLst/>
          </a:prstGeom>
          <a:noFill/>
          <a:ln w="571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7A942DA4-01B5-79FE-25EB-5C67A773C6F7}"/>
              </a:ext>
            </a:extLst>
          </p:cNvPr>
          <p:cNvPicPr>
            <a:picLocks noChangeAspect="1"/>
          </p:cNvPicPr>
          <p:nvPr/>
        </p:nvPicPr>
        <p:blipFill>
          <a:blip r:embed="rId7"/>
          <a:stretch>
            <a:fillRect/>
          </a:stretch>
        </p:blipFill>
        <p:spPr>
          <a:xfrm>
            <a:off x="5944293" y="1215692"/>
            <a:ext cx="1910427" cy="483975"/>
          </a:xfrm>
          <a:prstGeom prst="rect">
            <a:avLst/>
          </a:prstGeom>
        </p:spPr>
      </p:pic>
    </p:spTree>
    <p:extLst>
      <p:ext uri="{BB962C8B-B14F-4D97-AF65-F5344CB8AC3E}">
        <p14:creationId xmlns:p14="http://schemas.microsoft.com/office/powerpoint/2010/main" val="503228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ABD96-E6CE-0CDA-C025-E5AF43F80BDC}"/>
              </a:ext>
            </a:extLst>
          </p:cNvPr>
          <p:cNvSpPr>
            <a:spLocks noGrp="1"/>
          </p:cNvSpPr>
          <p:nvPr>
            <p:ph type="title"/>
          </p:nvPr>
        </p:nvSpPr>
        <p:spPr/>
        <p:txBody>
          <a:bodyPr/>
          <a:lstStyle/>
          <a:p>
            <a:r>
              <a:rPr lang="en-US" b="1"/>
              <a:t>Task 0B – Setup</a:t>
            </a:r>
          </a:p>
        </p:txBody>
      </p:sp>
      <p:sp>
        <p:nvSpPr>
          <p:cNvPr id="3" name="Content Placeholder 2">
            <a:extLst>
              <a:ext uri="{FF2B5EF4-FFF2-40B4-BE49-F238E27FC236}">
                <a16:creationId xmlns:a16="http://schemas.microsoft.com/office/drawing/2014/main" id="{4DA61448-6E43-85F8-7E12-36A77D55B371}"/>
              </a:ext>
            </a:extLst>
          </p:cNvPr>
          <p:cNvSpPr>
            <a:spLocks noGrp="1"/>
          </p:cNvSpPr>
          <p:nvPr>
            <p:ph idx="1"/>
          </p:nvPr>
        </p:nvSpPr>
        <p:spPr>
          <a:xfrm>
            <a:off x="1131772" y="921863"/>
            <a:ext cx="7697268" cy="3620292"/>
          </a:xfrm>
        </p:spPr>
        <p:txBody>
          <a:bodyPr>
            <a:normAutofit/>
          </a:bodyPr>
          <a:lstStyle/>
          <a:p>
            <a:pPr marL="342900" indent="-342900">
              <a:buAutoNum type="arabicParenBoth"/>
            </a:pPr>
            <a:r>
              <a:rPr lang="en-US" sz="1800" b="1" dirty="0"/>
              <a:t>Download </a:t>
            </a:r>
            <a:r>
              <a:rPr lang="en-US" sz="1800" b="1" dirty="0">
                <a:solidFill>
                  <a:srgbClr val="00B0F0"/>
                </a:solidFill>
              </a:rPr>
              <a:t>Astro331_Lab3_Code </a:t>
            </a:r>
            <a:r>
              <a:rPr lang="en-US" sz="1800" b="1" dirty="0"/>
              <a:t>folder from Teams or Instructor USB drive.</a:t>
            </a:r>
          </a:p>
          <a:p>
            <a:pPr marL="0" indent="0">
              <a:buNone/>
            </a:pPr>
            <a:r>
              <a:rPr lang="en-US" sz="1800" b="1" dirty="0"/>
              <a:t>(2) Open the code in </a:t>
            </a:r>
            <a:r>
              <a:rPr lang="en-US" sz="1800" b="1" dirty="0" err="1"/>
              <a:t>PlatformIO</a:t>
            </a:r>
            <a:endParaRPr lang="en-US" sz="1800" b="1" dirty="0">
              <a:solidFill>
                <a:schemeClr val="accent5">
                  <a:lumMod val="75000"/>
                </a:schemeClr>
              </a:solidFill>
            </a:endParaRPr>
          </a:p>
          <a:p>
            <a:pPr marL="0" indent="0">
              <a:buNone/>
            </a:pPr>
            <a:r>
              <a:rPr lang="en-US" sz="1800" b="1" dirty="0">
                <a:solidFill>
                  <a:srgbClr val="FF0000"/>
                </a:solidFill>
              </a:rPr>
              <a:t>(3) Connect your computer to the </a:t>
            </a:r>
            <a:r>
              <a:rPr lang="en-US" sz="1800" b="1" dirty="0" err="1">
                <a:solidFill>
                  <a:srgbClr val="FF0000"/>
                </a:solidFill>
              </a:rPr>
              <a:t>KestelSAT</a:t>
            </a:r>
            <a:r>
              <a:rPr lang="en-US" sz="1800" b="1" dirty="0">
                <a:solidFill>
                  <a:srgbClr val="FF0000"/>
                </a:solidFill>
              </a:rPr>
              <a:t> MCU via a USB-C cable and upload the code to KestrelSAT. </a:t>
            </a:r>
            <a:endParaRPr lang="en-US" sz="1800" b="1" dirty="0"/>
          </a:p>
          <a:p>
            <a:pPr marL="0" indent="0">
              <a:buNone/>
            </a:pPr>
            <a:r>
              <a:rPr lang="en-US" sz="1800" b="1" dirty="0">
                <a:solidFill>
                  <a:schemeClr val="accent3">
                    <a:lumMod val="60000"/>
                    <a:lumOff val="40000"/>
                  </a:schemeClr>
                </a:solidFill>
              </a:rPr>
              <a:t>(3) Format SD Card and install the card in KestrelSAT</a:t>
            </a:r>
          </a:p>
          <a:p>
            <a:pPr lvl="1"/>
            <a:r>
              <a:rPr lang="en-US" sz="1800" dirty="0"/>
              <a:t>Insert SD card and navigate to “This PC”</a:t>
            </a:r>
          </a:p>
          <a:p>
            <a:pPr lvl="1"/>
            <a:r>
              <a:rPr lang="en-US" sz="1800" dirty="0"/>
              <a:t>Right-click SD drive and select “Format…”</a:t>
            </a:r>
          </a:p>
          <a:p>
            <a:pPr lvl="1"/>
            <a:r>
              <a:rPr lang="en-US" sz="1800" dirty="0"/>
              <a:t>Use default options to format</a:t>
            </a:r>
          </a:p>
        </p:txBody>
      </p:sp>
      <p:sp>
        <p:nvSpPr>
          <p:cNvPr id="4" name="Footer Placeholder 3">
            <a:extLst>
              <a:ext uri="{FF2B5EF4-FFF2-40B4-BE49-F238E27FC236}">
                <a16:creationId xmlns:a16="http://schemas.microsoft.com/office/drawing/2014/main" id="{AA85E438-7B8C-9540-66ED-7F8FFE038011}"/>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1EF43D3D-131B-0317-A49B-A1649B31099E}"/>
              </a:ext>
            </a:extLst>
          </p:cNvPr>
          <p:cNvSpPr>
            <a:spLocks noGrp="1"/>
          </p:cNvSpPr>
          <p:nvPr>
            <p:ph type="sldNum" sz="quarter" idx="12"/>
          </p:nvPr>
        </p:nvSpPr>
        <p:spPr/>
        <p:txBody>
          <a:bodyPr/>
          <a:lstStyle/>
          <a:p>
            <a:fld id="{9A3029B7-FE6B-4680-9049-80E8298A0825}" type="slidenum">
              <a:rPr lang="en-US" smtClean="0"/>
              <a:t>14</a:t>
            </a:fld>
            <a:endParaRPr lang="en-US"/>
          </a:p>
        </p:txBody>
      </p:sp>
      <p:sp>
        <p:nvSpPr>
          <p:cNvPr id="11" name="Content Placeholder 5">
            <a:extLst>
              <a:ext uri="{FF2B5EF4-FFF2-40B4-BE49-F238E27FC236}">
                <a16:creationId xmlns:a16="http://schemas.microsoft.com/office/drawing/2014/main" id="{BE99F954-091C-E41B-56D3-C0884AF43E08}"/>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b="1" dirty="0">
                <a:solidFill>
                  <a:srgbClr val="00B0F0"/>
                </a:solidFill>
              </a:rPr>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grpSp>
        <p:nvGrpSpPr>
          <p:cNvPr id="7" name="Group 6">
            <a:extLst>
              <a:ext uri="{FF2B5EF4-FFF2-40B4-BE49-F238E27FC236}">
                <a16:creationId xmlns:a16="http://schemas.microsoft.com/office/drawing/2014/main" id="{7163C7F2-4B0A-DD7C-C936-12F33CCC4BDB}"/>
              </a:ext>
            </a:extLst>
          </p:cNvPr>
          <p:cNvGrpSpPr/>
          <p:nvPr/>
        </p:nvGrpSpPr>
        <p:grpSpPr>
          <a:xfrm>
            <a:off x="6434021" y="4359448"/>
            <a:ext cx="2395019" cy="1753260"/>
            <a:chOff x="1160731" y="4818120"/>
            <a:chExt cx="2395019" cy="1753260"/>
          </a:xfrm>
        </p:grpSpPr>
        <p:pic>
          <p:nvPicPr>
            <p:cNvPr id="9" name="Picture 8">
              <a:extLst>
                <a:ext uri="{FF2B5EF4-FFF2-40B4-BE49-F238E27FC236}">
                  <a16:creationId xmlns:a16="http://schemas.microsoft.com/office/drawing/2014/main" id="{DF8211D8-7E10-F76D-05B2-5516B7A2148D}"/>
                </a:ext>
              </a:extLst>
            </p:cNvPr>
            <p:cNvPicPr>
              <a:picLocks noChangeAspect="1"/>
            </p:cNvPicPr>
            <p:nvPr/>
          </p:nvPicPr>
          <p:blipFill>
            <a:blip r:embed="rId3"/>
            <a:stretch>
              <a:fillRect/>
            </a:stretch>
          </p:blipFill>
          <p:spPr>
            <a:xfrm>
              <a:off x="1160731" y="4818120"/>
              <a:ext cx="2395019" cy="1753260"/>
            </a:xfrm>
            <a:prstGeom prst="rect">
              <a:avLst/>
            </a:prstGeom>
          </p:spPr>
        </p:pic>
        <p:sp>
          <p:nvSpPr>
            <p:cNvPr id="6" name="Rectangle 5">
              <a:extLst>
                <a:ext uri="{FF2B5EF4-FFF2-40B4-BE49-F238E27FC236}">
                  <a16:creationId xmlns:a16="http://schemas.microsoft.com/office/drawing/2014/main" id="{9CF1FCFD-675A-9848-FDA4-36B51AE81B0A}"/>
                </a:ext>
              </a:extLst>
            </p:cNvPr>
            <p:cNvSpPr/>
            <p:nvPr/>
          </p:nvSpPr>
          <p:spPr>
            <a:xfrm>
              <a:off x="1445371" y="6091106"/>
              <a:ext cx="1583579" cy="269241"/>
            </a:xfrm>
            <a:prstGeom prst="rect">
              <a:avLst/>
            </a:prstGeom>
            <a:noFill/>
            <a:ln w="381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12D271A4-BB16-CD73-7762-C7F240360624}"/>
              </a:ext>
            </a:extLst>
          </p:cNvPr>
          <p:cNvGrpSpPr/>
          <p:nvPr/>
        </p:nvGrpSpPr>
        <p:grpSpPr>
          <a:xfrm>
            <a:off x="1131772" y="3842394"/>
            <a:ext cx="5114697" cy="2659298"/>
            <a:chOff x="1319324" y="4024956"/>
            <a:chExt cx="5114697" cy="2659298"/>
          </a:xfrm>
        </p:grpSpPr>
        <p:pic>
          <p:nvPicPr>
            <p:cNvPr id="10" name="Picture 9">
              <a:extLst>
                <a:ext uri="{FF2B5EF4-FFF2-40B4-BE49-F238E27FC236}">
                  <a16:creationId xmlns:a16="http://schemas.microsoft.com/office/drawing/2014/main" id="{CF5CB6C3-538C-FEA4-1399-C5BB51035B03}"/>
                </a:ext>
              </a:extLst>
            </p:cNvPr>
            <p:cNvPicPr>
              <a:picLocks noChangeAspect="1"/>
            </p:cNvPicPr>
            <p:nvPr/>
          </p:nvPicPr>
          <p:blipFill>
            <a:blip r:embed="rId4"/>
            <a:stretch>
              <a:fillRect/>
            </a:stretch>
          </p:blipFill>
          <p:spPr>
            <a:xfrm>
              <a:off x="1319324" y="4024956"/>
              <a:ext cx="5114697" cy="2622712"/>
            </a:xfrm>
            <a:prstGeom prst="rect">
              <a:avLst/>
            </a:prstGeom>
          </p:spPr>
        </p:pic>
        <p:sp>
          <p:nvSpPr>
            <p:cNvPr id="12" name="Rectangle 11">
              <a:extLst>
                <a:ext uri="{FF2B5EF4-FFF2-40B4-BE49-F238E27FC236}">
                  <a16:creationId xmlns:a16="http://schemas.microsoft.com/office/drawing/2014/main" id="{36843ADC-7D0F-9D89-D5C2-6AA03AF53EAF}"/>
                </a:ext>
              </a:extLst>
            </p:cNvPr>
            <p:cNvSpPr/>
            <p:nvPr/>
          </p:nvSpPr>
          <p:spPr>
            <a:xfrm>
              <a:off x="2610637" y="6415013"/>
              <a:ext cx="335764" cy="26924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p:grpSp>
      <p:sp>
        <p:nvSpPr>
          <p:cNvPr id="14" name="TextBox 13">
            <a:extLst>
              <a:ext uri="{FF2B5EF4-FFF2-40B4-BE49-F238E27FC236}">
                <a16:creationId xmlns:a16="http://schemas.microsoft.com/office/drawing/2014/main" id="{E943800B-DEDF-A69B-57D9-A5D317417C0E}"/>
              </a:ext>
            </a:extLst>
          </p:cNvPr>
          <p:cNvSpPr txBox="1"/>
          <p:nvPr/>
        </p:nvSpPr>
        <p:spPr>
          <a:xfrm>
            <a:off x="6509774" y="3072953"/>
            <a:ext cx="2319266" cy="769441"/>
          </a:xfrm>
          <a:prstGeom prst="rect">
            <a:avLst/>
          </a:prstGeom>
          <a:noFill/>
          <a:ln w="38100">
            <a:solidFill>
              <a:srgbClr val="FF0000"/>
            </a:solidFill>
          </a:ln>
        </p:spPr>
        <p:txBody>
          <a:bodyPr wrap="square" rtlCol="0">
            <a:spAutoFit/>
          </a:bodyPr>
          <a:lstStyle/>
          <a:p>
            <a:pPr algn="ctr"/>
            <a:r>
              <a:rPr lang="en-US" sz="1100" b="1" dirty="0">
                <a:solidFill>
                  <a:srgbClr val="FF0000"/>
                </a:solidFill>
                <a:latin typeface="Segoe UI" panose="020B0502040204020203" pitchFamily="34" charset="0"/>
                <a:cs typeface="Segoe UI" panose="020B0502040204020203" pitchFamily="34" charset="0"/>
              </a:rPr>
              <a:t>Error 2 during upload of code to your MCU?</a:t>
            </a:r>
          </a:p>
          <a:p>
            <a:pPr algn="ctr"/>
            <a:r>
              <a:rPr lang="en-US" sz="1100" dirty="0">
                <a:solidFill>
                  <a:srgbClr val="FF0000"/>
                </a:solidFill>
                <a:latin typeface="Segoe UI" panose="020B0502040204020203" pitchFamily="34" charset="0"/>
                <a:cs typeface="Segoe UI" panose="020B0502040204020203" pitchFamily="34" charset="0"/>
              </a:rPr>
              <a:t>Try holding down the boot button on the MCU and re-uploading.</a:t>
            </a:r>
          </a:p>
        </p:txBody>
      </p:sp>
    </p:spTree>
    <p:extLst>
      <p:ext uri="{BB962C8B-B14F-4D97-AF65-F5344CB8AC3E}">
        <p14:creationId xmlns:p14="http://schemas.microsoft.com/office/powerpoint/2010/main" val="77318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D0C1B49A-6D76-72CF-D2C0-CB9B7D3703F3}"/>
              </a:ext>
            </a:extLst>
          </p:cNvPr>
          <p:cNvGrpSpPr/>
          <p:nvPr/>
        </p:nvGrpSpPr>
        <p:grpSpPr>
          <a:xfrm>
            <a:off x="1348252" y="2655609"/>
            <a:ext cx="3967112" cy="2063166"/>
            <a:chOff x="1168012" y="2059349"/>
            <a:chExt cx="3967112" cy="2063166"/>
          </a:xfrm>
        </p:grpSpPr>
        <p:cxnSp>
          <p:nvCxnSpPr>
            <p:cNvPr id="9" name="Straight Connector 8">
              <a:extLst>
                <a:ext uri="{FF2B5EF4-FFF2-40B4-BE49-F238E27FC236}">
                  <a16:creationId xmlns:a16="http://schemas.microsoft.com/office/drawing/2014/main" id="{7F31050F-69B9-334E-EABC-774059D2DCF2}"/>
                </a:ext>
              </a:extLst>
            </p:cNvPr>
            <p:cNvCxnSpPr>
              <a:cxnSpLocks/>
            </p:cNvCxnSpPr>
            <p:nvPr/>
          </p:nvCxnSpPr>
          <p:spPr>
            <a:xfrm flipH="1">
              <a:off x="1653788" y="2985123"/>
              <a:ext cx="895350"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DAD1552-F3C4-71BE-269D-969730D2D111}"/>
                </a:ext>
              </a:extLst>
            </p:cNvPr>
            <p:cNvCxnSpPr>
              <a:cxnSpLocks/>
            </p:cNvCxnSpPr>
            <p:nvPr/>
          </p:nvCxnSpPr>
          <p:spPr>
            <a:xfrm flipH="1">
              <a:off x="1653788" y="3144666"/>
              <a:ext cx="895350" cy="0"/>
            </a:xfrm>
            <a:prstGeom prst="line">
              <a:avLst/>
            </a:prstGeom>
            <a:ln w="762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8857B80-27C6-1588-8C80-BE531B4BA873}"/>
                </a:ext>
              </a:extLst>
            </p:cNvPr>
            <p:cNvCxnSpPr>
              <a:cxnSpLocks/>
            </p:cNvCxnSpPr>
            <p:nvPr/>
          </p:nvCxnSpPr>
          <p:spPr>
            <a:xfrm flipH="1">
              <a:off x="1653788" y="3301829"/>
              <a:ext cx="895350" cy="0"/>
            </a:xfrm>
            <a:prstGeom prst="line">
              <a:avLst/>
            </a:prstGeom>
            <a:ln w="762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9666B88-B7FF-E17A-784A-48827B95D451}"/>
                </a:ext>
              </a:extLst>
            </p:cNvPr>
            <p:cNvCxnSpPr>
              <a:cxnSpLocks/>
            </p:cNvCxnSpPr>
            <p:nvPr/>
          </p:nvCxnSpPr>
          <p:spPr>
            <a:xfrm flipH="1">
              <a:off x="1653788" y="3466136"/>
              <a:ext cx="895350" cy="0"/>
            </a:xfrm>
            <a:prstGeom prst="line">
              <a:avLst/>
            </a:prstGeom>
            <a:ln w="76200">
              <a:solidFill>
                <a:srgbClr val="FFFF00"/>
              </a:solidFill>
            </a:ln>
          </p:spPr>
          <p:style>
            <a:lnRef idx="2">
              <a:schemeClr val="accent1"/>
            </a:lnRef>
            <a:fillRef idx="0">
              <a:schemeClr val="accent1"/>
            </a:fillRef>
            <a:effectRef idx="1">
              <a:schemeClr val="accent1"/>
            </a:effectRef>
            <a:fontRef idx="minor">
              <a:schemeClr val="tx1"/>
            </a:fontRef>
          </p:style>
        </p:cxnSp>
        <p:sp>
          <p:nvSpPr>
            <p:cNvPr id="14" name="Arrow: Left 13">
              <a:extLst>
                <a:ext uri="{FF2B5EF4-FFF2-40B4-BE49-F238E27FC236}">
                  <a16:creationId xmlns:a16="http://schemas.microsoft.com/office/drawing/2014/main" id="{4DED6AB4-B701-BA7B-7B94-74A0CADE1EBC}"/>
                </a:ext>
              </a:extLst>
            </p:cNvPr>
            <p:cNvSpPr/>
            <p:nvPr/>
          </p:nvSpPr>
          <p:spPr>
            <a:xfrm>
              <a:off x="1168012" y="2958644"/>
              <a:ext cx="391828" cy="484632"/>
            </a:xfrm>
            <a:prstGeom prst="leftArrow">
              <a:avLst>
                <a:gd name="adj1" fmla="val 70964"/>
                <a:gd name="adj2" fmla="val 50000"/>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718F962-19F3-8DA1-DD88-95F7E97C70A1}"/>
                </a:ext>
              </a:extLst>
            </p:cNvPr>
            <p:cNvSpPr txBox="1"/>
            <p:nvPr/>
          </p:nvSpPr>
          <p:spPr>
            <a:xfrm>
              <a:off x="1168012" y="3508805"/>
              <a:ext cx="1670050" cy="461665"/>
            </a:xfrm>
            <a:prstGeom prst="rect">
              <a:avLst/>
            </a:prstGeom>
            <a:noFill/>
          </p:spPr>
          <p:txBody>
            <a:bodyPr wrap="square">
              <a:spAutoFit/>
            </a:bodyPr>
            <a:lstStyle/>
            <a:p>
              <a:r>
                <a:rPr lang="en-US" sz="1200">
                  <a:latin typeface="Segoe UI" panose="020B0502040204020203" pitchFamily="34" charset="0"/>
                  <a:cs typeface="Segoe UI" panose="020B0502040204020203" pitchFamily="34" charset="0"/>
                </a:rPr>
                <a:t>I2C STEMMA QT Connector to MCU </a:t>
              </a:r>
            </a:p>
          </p:txBody>
        </p:sp>
        <p:pic>
          <p:nvPicPr>
            <p:cNvPr id="24" name="Picture 23">
              <a:extLst>
                <a:ext uri="{FF2B5EF4-FFF2-40B4-BE49-F238E27FC236}">
                  <a16:creationId xmlns:a16="http://schemas.microsoft.com/office/drawing/2014/main" id="{1DC18DBE-8564-40CB-E83E-EAB7E351650F}"/>
                </a:ext>
              </a:extLst>
            </p:cNvPr>
            <p:cNvPicPr>
              <a:picLocks noChangeAspect="1"/>
            </p:cNvPicPr>
            <p:nvPr/>
          </p:nvPicPr>
          <p:blipFill>
            <a:blip r:embed="rId2"/>
            <a:stretch>
              <a:fillRect/>
            </a:stretch>
          </p:blipFill>
          <p:spPr>
            <a:xfrm>
              <a:off x="2533741" y="2059349"/>
              <a:ext cx="2601383" cy="2063166"/>
            </a:xfrm>
            <a:prstGeom prst="rect">
              <a:avLst/>
            </a:prstGeom>
          </p:spPr>
        </p:pic>
      </p:grpSp>
      <p:sp>
        <p:nvSpPr>
          <p:cNvPr id="2" name="Title 1">
            <a:extLst>
              <a:ext uri="{FF2B5EF4-FFF2-40B4-BE49-F238E27FC236}">
                <a16:creationId xmlns:a16="http://schemas.microsoft.com/office/drawing/2014/main" id="{392D67FD-26CD-95AA-FDF3-766AEACFFADE}"/>
              </a:ext>
            </a:extLst>
          </p:cNvPr>
          <p:cNvSpPr>
            <a:spLocks noGrp="1"/>
          </p:cNvSpPr>
          <p:nvPr>
            <p:ph type="title"/>
          </p:nvPr>
        </p:nvSpPr>
        <p:spPr/>
        <p:txBody>
          <a:bodyPr>
            <a:normAutofit/>
          </a:bodyPr>
          <a:lstStyle/>
          <a:p>
            <a:r>
              <a:rPr lang="en-US" sz="2800" b="1"/>
              <a:t>Task 1— Connect the INA238 Breakout</a:t>
            </a:r>
          </a:p>
        </p:txBody>
      </p:sp>
      <p:sp>
        <p:nvSpPr>
          <p:cNvPr id="3" name="Content Placeholder 2">
            <a:extLst>
              <a:ext uri="{FF2B5EF4-FFF2-40B4-BE49-F238E27FC236}">
                <a16:creationId xmlns:a16="http://schemas.microsoft.com/office/drawing/2014/main" id="{30FABF8F-AAAB-9BB1-6E70-BBF704B22361}"/>
              </a:ext>
            </a:extLst>
          </p:cNvPr>
          <p:cNvSpPr>
            <a:spLocks noGrp="1"/>
          </p:cNvSpPr>
          <p:nvPr>
            <p:ph idx="1"/>
          </p:nvPr>
        </p:nvSpPr>
        <p:spPr>
          <a:xfrm>
            <a:off x="1113083" y="5056872"/>
            <a:ext cx="7886700" cy="1523356"/>
          </a:xfrm>
        </p:spPr>
        <p:txBody>
          <a:bodyPr>
            <a:normAutofit fontScale="85000" lnSpcReduction="20000"/>
          </a:bodyPr>
          <a:lstStyle/>
          <a:p>
            <a:pPr marL="0" indent="0">
              <a:buNone/>
            </a:pPr>
            <a:r>
              <a:rPr lang="en-US" sz="1400" b="1"/>
              <a:t>Connections</a:t>
            </a:r>
            <a:r>
              <a:rPr lang="en-US" sz="1400"/>
              <a:t>:</a:t>
            </a:r>
          </a:p>
          <a:p>
            <a:pPr marL="342900" indent="-342900">
              <a:buAutoNum type="arabicParenBoth"/>
            </a:pPr>
            <a:r>
              <a:rPr lang="en-US" sz="1400"/>
              <a:t>Solar Array + </a:t>
            </a:r>
            <a:r>
              <a:rPr lang="en-US" sz="1400">
                <a:sym typeface="Wingdings" panose="05000000000000000000" pitchFamily="2" charset="2"/>
              </a:rPr>
              <a:t></a:t>
            </a:r>
            <a:r>
              <a:rPr lang="en-US" sz="1400"/>
              <a:t> VIN+ on INA238 breakout</a:t>
            </a:r>
          </a:p>
          <a:p>
            <a:pPr marL="342900" indent="-342900">
              <a:buAutoNum type="arabicParenBoth"/>
            </a:pPr>
            <a:r>
              <a:rPr lang="en-US" sz="1400"/>
              <a:t>Load (potentiometer left or right pin) </a:t>
            </a:r>
            <a:r>
              <a:rPr lang="en-US" sz="1400">
                <a:sym typeface="Wingdings" panose="05000000000000000000" pitchFamily="2" charset="2"/>
              </a:rPr>
              <a:t></a:t>
            </a:r>
            <a:r>
              <a:rPr lang="en-US" sz="1400"/>
              <a:t> VIN- on INA238 breakout.</a:t>
            </a:r>
          </a:p>
          <a:p>
            <a:pPr marL="342900" indent="-342900">
              <a:buAutoNum type="arabicParenBoth"/>
            </a:pPr>
            <a:r>
              <a:rPr lang="en-US" sz="1400"/>
              <a:t>Ground of Solar Array to wiper of potentiometer.</a:t>
            </a:r>
          </a:p>
          <a:p>
            <a:pPr marL="342900" indent="-342900">
              <a:buFont typeface="Arial" panose="020B0604020202020204" pitchFamily="34" charset="0"/>
              <a:buAutoNum type="arabicParenBoth"/>
            </a:pPr>
            <a:r>
              <a:rPr lang="en-US" sz="1400"/>
              <a:t>Ground of Solar Array to common ground of MCU.</a:t>
            </a:r>
          </a:p>
          <a:p>
            <a:pPr marL="0" indent="0">
              <a:buNone/>
            </a:pPr>
            <a:r>
              <a:rPr lang="en-US" sz="1400"/>
              <a:t>This setup ensures the current flows through the onboard shunt resistor so the INA238 can measure it.</a:t>
            </a:r>
          </a:p>
        </p:txBody>
      </p:sp>
      <p:sp>
        <p:nvSpPr>
          <p:cNvPr id="4" name="Footer Placeholder 3">
            <a:extLst>
              <a:ext uri="{FF2B5EF4-FFF2-40B4-BE49-F238E27FC236}">
                <a16:creationId xmlns:a16="http://schemas.microsoft.com/office/drawing/2014/main" id="{081A160B-E5F6-E55C-0386-A0AB2AA9377F}"/>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33783E15-EE6D-6CA9-70EB-F3EF2514F0D8}"/>
              </a:ext>
            </a:extLst>
          </p:cNvPr>
          <p:cNvSpPr>
            <a:spLocks noGrp="1"/>
          </p:cNvSpPr>
          <p:nvPr>
            <p:ph type="sldNum" sz="quarter" idx="12"/>
          </p:nvPr>
        </p:nvSpPr>
        <p:spPr/>
        <p:txBody>
          <a:bodyPr/>
          <a:lstStyle/>
          <a:p>
            <a:fld id="{9A3029B7-FE6B-4680-9049-80E8298A0825}" type="slidenum">
              <a:rPr lang="en-US" smtClean="0"/>
              <a:t>15</a:t>
            </a:fld>
            <a:endParaRPr lang="en-US"/>
          </a:p>
        </p:txBody>
      </p:sp>
      <p:pic>
        <p:nvPicPr>
          <p:cNvPr id="19" name="Picture 18">
            <a:extLst>
              <a:ext uri="{FF2B5EF4-FFF2-40B4-BE49-F238E27FC236}">
                <a16:creationId xmlns:a16="http://schemas.microsoft.com/office/drawing/2014/main" id="{1714C0E4-820F-D6AB-17CC-E84922396E36}"/>
              </a:ext>
            </a:extLst>
          </p:cNvPr>
          <p:cNvPicPr>
            <a:picLocks noChangeAspect="1"/>
          </p:cNvPicPr>
          <p:nvPr/>
        </p:nvPicPr>
        <p:blipFill>
          <a:blip r:embed="rId3"/>
          <a:stretch>
            <a:fillRect/>
          </a:stretch>
        </p:blipFill>
        <p:spPr>
          <a:xfrm>
            <a:off x="5526397" y="2317512"/>
            <a:ext cx="1094234" cy="1945304"/>
          </a:xfrm>
          <a:prstGeom prst="rect">
            <a:avLst/>
          </a:prstGeom>
        </p:spPr>
      </p:pic>
      <p:sp>
        <p:nvSpPr>
          <p:cNvPr id="20" name="TextBox 19">
            <a:extLst>
              <a:ext uri="{FF2B5EF4-FFF2-40B4-BE49-F238E27FC236}">
                <a16:creationId xmlns:a16="http://schemas.microsoft.com/office/drawing/2014/main" id="{BA300EDA-5B39-9539-C59F-775724982FF1}"/>
              </a:ext>
            </a:extLst>
          </p:cNvPr>
          <p:cNvSpPr txBox="1"/>
          <p:nvPr/>
        </p:nvSpPr>
        <p:spPr>
          <a:xfrm>
            <a:off x="5238489" y="2040513"/>
            <a:ext cx="1670050" cy="276999"/>
          </a:xfrm>
          <a:prstGeom prst="rect">
            <a:avLst/>
          </a:prstGeom>
          <a:noFill/>
        </p:spPr>
        <p:txBody>
          <a:bodyPr wrap="square">
            <a:spAutoFit/>
          </a:bodyPr>
          <a:lstStyle/>
          <a:p>
            <a:pPr algn="ctr"/>
            <a:r>
              <a:rPr lang="en-US" sz="1200">
                <a:latin typeface="Segoe UI" panose="020B0502040204020203" pitchFamily="34" charset="0"/>
                <a:cs typeface="Segoe UI" panose="020B0502040204020203" pitchFamily="34" charset="0"/>
              </a:rPr>
              <a:t>Potentiometer</a:t>
            </a:r>
          </a:p>
        </p:txBody>
      </p:sp>
      <p:sp>
        <p:nvSpPr>
          <p:cNvPr id="23" name="TextBox 22">
            <a:extLst>
              <a:ext uri="{FF2B5EF4-FFF2-40B4-BE49-F238E27FC236}">
                <a16:creationId xmlns:a16="http://schemas.microsoft.com/office/drawing/2014/main" id="{00F38186-9CD8-C646-7DC3-BB36BADD74B8}"/>
              </a:ext>
            </a:extLst>
          </p:cNvPr>
          <p:cNvSpPr txBox="1"/>
          <p:nvPr/>
        </p:nvSpPr>
        <p:spPr>
          <a:xfrm>
            <a:off x="1113083" y="884558"/>
            <a:ext cx="7840607" cy="1200329"/>
          </a:xfrm>
          <a:prstGeom prst="rect">
            <a:avLst/>
          </a:prstGeom>
          <a:noFill/>
        </p:spPr>
        <p:txBody>
          <a:bodyPr wrap="square">
            <a:spAutoFit/>
          </a:bodyPr>
          <a:lstStyle/>
          <a:p>
            <a:r>
              <a:rPr lang="en-US" sz="1800" b="1"/>
              <a:t>In this lab, a 10 Kohm potentiometer will be used to simulate a variable load resistance. </a:t>
            </a:r>
            <a:r>
              <a:rPr lang="en-US" b="1"/>
              <a:t>When the potentiometer’s wiper is set to one extreme, we simulate a short circuit, and the other extreme an open circuit. This facilitates construction of an IV curve for the array. </a:t>
            </a:r>
          </a:p>
        </p:txBody>
      </p:sp>
      <p:cxnSp>
        <p:nvCxnSpPr>
          <p:cNvPr id="26" name="Straight Connector 25">
            <a:extLst>
              <a:ext uri="{FF2B5EF4-FFF2-40B4-BE49-F238E27FC236}">
                <a16:creationId xmlns:a16="http://schemas.microsoft.com/office/drawing/2014/main" id="{4A1DEA87-B7E4-08B2-A528-EE24AB47019D}"/>
              </a:ext>
            </a:extLst>
          </p:cNvPr>
          <p:cNvCxnSpPr>
            <a:cxnSpLocks/>
          </p:cNvCxnSpPr>
          <p:nvPr/>
        </p:nvCxnSpPr>
        <p:spPr>
          <a:xfrm flipV="1">
            <a:off x="5490307" y="2422143"/>
            <a:ext cx="0" cy="2177332"/>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FE8AF72-DB60-4132-AB1D-A476B5F3C712}"/>
              </a:ext>
            </a:extLst>
          </p:cNvPr>
          <p:cNvCxnSpPr>
            <a:cxnSpLocks/>
          </p:cNvCxnSpPr>
          <p:nvPr/>
        </p:nvCxnSpPr>
        <p:spPr>
          <a:xfrm flipH="1">
            <a:off x="5490307" y="4581910"/>
            <a:ext cx="959601" cy="0"/>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298DED0D-F486-726F-0E87-3CD443770DB7}"/>
              </a:ext>
            </a:extLst>
          </p:cNvPr>
          <p:cNvCxnSpPr>
            <a:cxnSpLocks/>
          </p:cNvCxnSpPr>
          <p:nvPr/>
        </p:nvCxnSpPr>
        <p:spPr>
          <a:xfrm flipV="1">
            <a:off x="6425306" y="4208699"/>
            <a:ext cx="0" cy="370823"/>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385FACC-3FCC-1C04-7BC1-533AD0A140ED}"/>
              </a:ext>
            </a:extLst>
          </p:cNvPr>
          <p:cNvCxnSpPr>
            <a:cxnSpLocks/>
          </p:cNvCxnSpPr>
          <p:nvPr/>
        </p:nvCxnSpPr>
        <p:spPr>
          <a:xfrm flipV="1">
            <a:off x="6096690" y="4344569"/>
            <a:ext cx="0" cy="899747"/>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67F3CC9-E8D7-C8BD-5CDC-E7276F621A4E}"/>
              </a:ext>
            </a:extLst>
          </p:cNvPr>
          <p:cNvCxnSpPr>
            <a:cxnSpLocks/>
          </p:cNvCxnSpPr>
          <p:nvPr/>
        </p:nvCxnSpPr>
        <p:spPr>
          <a:xfrm flipV="1">
            <a:off x="6096690" y="4213462"/>
            <a:ext cx="0" cy="180257"/>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EC599B46-8DC6-06F7-3AED-A68E1A44162D}"/>
              </a:ext>
            </a:extLst>
          </p:cNvPr>
          <p:cNvCxnSpPr>
            <a:cxnSpLocks/>
          </p:cNvCxnSpPr>
          <p:nvPr/>
        </p:nvCxnSpPr>
        <p:spPr>
          <a:xfrm flipH="1">
            <a:off x="6103438" y="4966385"/>
            <a:ext cx="633118" cy="4986"/>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E84B8BBF-9C06-8E6A-606A-DB9C8204A5A7}"/>
              </a:ext>
            </a:extLst>
          </p:cNvPr>
          <p:cNvSpPr txBox="1"/>
          <p:nvPr/>
        </p:nvSpPr>
        <p:spPr>
          <a:xfrm>
            <a:off x="3380942" y="2007967"/>
            <a:ext cx="1267460" cy="276999"/>
          </a:xfrm>
          <a:prstGeom prst="rect">
            <a:avLst/>
          </a:prstGeom>
          <a:noFill/>
        </p:spPr>
        <p:txBody>
          <a:bodyPr wrap="square">
            <a:spAutoFit/>
          </a:bodyPr>
          <a:lstStyle/>
          <a:p>
            <a:pPr algn="ctr"/>
            <a:r>
              <a:rPr lang="en-US" sz="1200" b="1">
                <a:solidFill>
                  <a:srgbClr val="FF0000"/>
                </a:solidFill>
                <a:latin typeface="Segoe UI" panose="020B0502040204020203" pitchFamily="34" charset="0"/>
                <a:cs typeface="Segoe UI" panose="020B0502040204020203" pitchFamily="34" charset="0"/>
              </a:rPr>
              <a:t>Solar Array +</a:t>
            </a:r>
          </a:p>
        </p:txBody>
      </p:sp>
      <p:sp>
        <p:nvSpPr>
          <p:cNvPr id="51" name="TextBox 50">
            <a:extLst>
              <a:ext uri="{FF2B5EF4-FFF2-40B4-BE49-F238E27FC236}">
                <a16:creationId xmlns:a16="http://schemas.microsoft.com/office/drawing/2014/main" id="{59BD3D06-99F4-1E10-1F07-2CAB93818CDC}"/>
              </a:ext>
            </a:extLst>
          </p:cNvPr>
          <p:cNvSpPr txBox="1"/>
          <p:nvPr/>
        </p:nvSpPr>
        <p:spPr>
          <a:xfrm>
            <a:off x="6620631" y="4824247"/>
            <a:ext cx="1267460" cy="307777"/>
          </a:xfrm>
          <a:prstGeom prst="rect">
            <a:avLst/>
          </a:prstGeom>
          <a:noFill/>
        </p:spPr>
        <p:txBody>
          <a:bodyPr wrap="square">
            <a:spAutoFit/>
          </a:bodyPr>
          <a:lstStyle/>
          <a:p>
            <a:pPr algn="ctr"/>
            <a:r>
              <a:rPr lang="en-US" sz="1200" b="1">
                <a:latin typeface="Segoe UI" panose="020B0502040204020203" pitchFamily="34" charset="0"/>
                <a:cs typeface="Segoe UI" panose="020B0502040204020203" pitchFamily="34" charset="0"/>
              </a:rPr>
              <a:t>Solar Array </a:t>
            </a:r>
            <a:r>
              <a:rPr lang="en-US" sz="1400" b="1">
                <a:latin typeface="Segoe UI" panose="020B0502040204020203" pitchFamily="34" charset="0"/>
                <a:cs typeface="Segoe UI" panose="020B0502040204020203" pitchFamily="34" charset="0"/>
              </a:rPr>
              <a:t>-</a:t>
            </a:r>
            <a:endParaRPr lang="en-US" sz="1200" b="1">
              <a:latin typeface="Segoe UI" panose="020B0502040204020203" pitchFamily="34" charset="0"/>
              <a:cs typeface="Segoe UI" panose="020B0502040204020203" pitchFamily="34" charset="0"/>
            </a:endParaRPr>
          </a:p>
        </p:txBody>
      </p:sp>
      <p:grpSp>
        <p:nvGrpSpPr>
          <p:cNvPr id="30" name="Group 29">
            <a:extLst>
              <a:ext uri="{FF2B5EF4-FFF2-40B4-BE49-F238E27FC236}">
                <a16:creationId xmlns:a16="http://schemas.microsoft.com/office/drawing/2014/main" id="{9862AA56-8999-BAFB-D2B4-667A527B368D}"/>
              </a:ext>
            </a:extLst>
          </p:cNvPr>
          <p:cNvGrpSpPr/>
          <p:nvPr/>
        </p:nvGrpSpPr>
        <p:grpSpPr>
          <a:xfrm>
            <a:off x="5902538" y="5244316"/>
            <a:ext cx="393703" cy="179388"/>
            <a:chOff x="7401714" y="5195119"/>
            <a:chExt cx="393703" cy="179388"/>
          </a:xfrm>
        </p:grpSpPr>
        <p:cxnSp>
          <p:nvCxnSpPr>
            <p:cNvPr id="15" name="Straight Connector 14">
              <a:extLst>
                <a:ext uri="{FF2B5EF4-FFF2-40B4-BE49-F238E27FC236}">
                  <a16:creationId xmlns:a16="http://schemas.microsoft.com/office/drawing/2014/main" id="{3AE7ACC9-2278-2D2F-6A93-43AEDBA99556}"/>
                </a:ext>
              </a:extLst>
            </p:cNvPr>
            <p:cNvCxnSpPr>
              <a:cxnSpLocks/>
            </p:cNvCxnSpPr>
            <p:nvPr/>
          </p:nvCxnSpPr>
          <p:spPr>
            <a:xfrm flipH="1">
              <a:off x="7401714" y="5195119"/>
              <a:ext cx="393703"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DAE68AD-2C88-B771-F29B-9919D6C4A84C}"/>
                </a:ext>
              </a:extLst>
            </p:cNvPr>
            <p:cNvCxnSpPr>
              <a:cxnSpLocks/>
            </p:cNvCxnSpPr>
            <p:nvPr/>
          </p:nvCxnSpPr>
          <p:spPr>
            <a:xfrm flipH="1">
              <a:off x="7465691" y="5284019"/>
              <a:ext cx="2786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5398D10-BD59-DE4C-A3D2-A33BB8D5A4D8}"/>
                </a:ext>
              </a:extLst>
            </p:cNvPr>
            <p:cNvCxnSpPr>
              <a:cxnSpLocks/>
            </p:cNvCxnSpPr>
            <p:nvPr/>
          </p:nvCxnSpPr>
          <p:spPr>
            <a:xfrm flipH="1">
              <a:off x="7520461" y="5374507"/>
              <a:ext cx="164306" cy="0"/>
            </a:xfrm>
            <a:prstGeom prst="line">
              <a:avLst/>
            </a:prstGeom>
            <a:ln w="57150">
              <a:solidFill>
                <a:schemeClr val="tx1">
                  <a:alpha val="80000"/>
                </a:schemeClr>
              </a:solidFill>
            </a:ln>
          </p:spPr>
          <p:style>
            <a:lnRef idx="2">
              <a:schemeClr val="accent1"/>
            </a:lnRef>
            <a:fillRef idx="0">
              <a:schemeClr val="accent1"/>
            </a:fillRef>
            <a:effectRef idx="1">
              <a:schemeClr val="accent1"/>
            </a:effectRef>
            <a:fontRef idx="minor">
              <a:schemeClr val="tx1"/>
            </a:fontRef>
          </p:style>
        </p:cxnSp>
      </p:grpSp>
      <p:sp>
        <p:nvSpPr>
          <p:cNvPr id="38" name="TextBox 37">
            <a:extLst>
              <a:ext uri="{FF2B5EF4-FFF2-40B4-BE49-F238E27FC236}">
                <a16:creationId xmlns:a16="http://schemas.microsoft.com/office/drawing/2014/main" id="{5180CC61-1845-6703-3101-17EC719A45F1}"/>
              </a:ext>
            </a:extLst>
          </p:cNvPr>
          <p:cNvSpPr txBox="1"/>
          <p:nvPr/>
        </p:nvSpPr>
        <p:spPr>
          <a:xfrm>
            <a:off x="6845883" y="1877183"/>
            <a:ext cx="2125851" cy="2893100"/>
          </a:xfrm>
          <a:prstGeom prst="rect">
            <a:avLst/>
          </a:prstGeom>
          <a:noFill/>
          <a:ln>
            <a:solidFill>
              <a:srgbClr val="FF0000"/>
            </a:solidFill>
          </a:ln>
        </p:spPr>
        <p:txBody>
          <a:bodyPr wrap="square" rtlCol="0">
            <a:spAutoFit/>
          </a:bodyPr>
          <a:lstStyle/>
          <a:p>
            <a:pPr algn="ctr"/>
            <a:r>
              <a:rPr lang="en-US" sz="1400" b="1" u="sng">
                <a:solidFill>
                  <a:srgbClr val="FF0000"/>
                </a:solidFill>
              </a:rPr>
              <a:t>Warning</a:t>
            </a:r>
            <a:endParaRPr lang="en-US" b="1" u="sng">
              <a:solidFill>
                <a:srgbClr val="FF0000"/>
              </a:solidFill>
            </a:endParaRPr>
          </a:p>
          <a:p>
            <a:pPr algn="ctr"/>
            <a:endParaRPr lang="en-US" sz="1200">
              <a:solidFill>
                <a:srgbClr val="FF0000"/>
              </a:solidFill>
            </a:endParaRPr>
          </a:p>
          <a:p>
            <a:pPr algn="ctr"/>
            <a:r>
              <a:rPr lang="en-US" sz="1200" b="1">
                <a:solidFill>
                  <a:srgbClr val="FF0000"/>
                </a:solidFill>
              </a:rPr>
              <a:t>Always make sure to connect grounds for all devices!  </a:t>
            </a:r>
          </a:p>
          <a:p>
            <a:pPr algn="ctr"/>
            <a:endParaRPr lang="en-US" sz="1200">
              <a:solidFill>
                <a:srgbClr val="FF0000"/>
              </a:solidFill>
            </a:endParaRPr>
          </a:p>
          <a:p>
            <a:pPr algn="ctr"/>
            <a:r>
              <a:rPr lang="en-US" sz="1200">
                <a:solidFill>
                  <a:srgbClr val="FF0000"/>
                </a:solidFill>
              </a:rPr>
              <a:t>In addition to wiper of the potentiometer, </a:t>
            </a:r>
            <a:r>
              <a:rPr lang="en-US" sz="1200" b="1">
                <a:solidFill>
                  <a:srgbClr val="FF0000"/>
                </a:solidFill>
              </a:rPr>
              <a:t>the ground of the solar array must be connected to the common ground of the MCU/INA219.</a:t>
            </a:r>
          </a:p>
          <a:p>
            <a:pPr algn="ctr"/>
            <a:endParaRPr lang="en-US" sz="1200">
              <a:solidFill>
                <a:srgbClr val="FF0000"/>
              </a:solidFill>
            </a:endParaRPr>
          </a:p>
          <a:p>
            <a:pPr algn="ctr"/>
            <a:r>
              <a:rPr lang="en-US" sz="1200">
                <a:solidFill>
                  <a:srgbClr val="FF0000"/>
                </a:solidFill>
              </a:rPr>
              <a:t>Note: the ground of the INA219 is connected to the MCU via the STEMMA cable. </a:t>
            </a:r>
          </a:p>
        </p:txBody>
      </p:sp>
      <p:sp>
        <p:nvSpPr>
          <p:cNvPr id="48" name="TextBox 47">
            <a:extLst>
              <a:ext uri="{FF2B5EF4-FFF2-40B4-BE49-F238E27FC236}">
                <a16:creationId xmlns:a16="http://schemas.microsoft.com/office/drawing/2014/main" id="{BF083D8A-1336-819A-0692-4ABF6B56EFFA}"/>
              </a:ext>
            </a:extLst>
          </p:cNvPr>
          <p:cNvSpPr txBox="1"/>
          <p:nvPr/>
        </p:nvSpPr>
        <p:spPr>
          <a:xfrm>
            <a:off x="6802839" y="5541551"/>
            <a:ext cx="1636551" cy="276999"/>
          </a:xfrm>
          <a:prstGeom prst="rect">
            <a:avLst/>
          </a:prstGeom>
          <a:noFill/>
        </p:spPr>
        <p:txBody>
          <a:bodyPr wrap="square">
            <a:spAutoFit/>
          </a:bodyPr>
          <a:lstStyle/>
          <a:p>
            <a:pPr algn="ctr"/>
            <a:r>
              <a:rPr lang="en-US" sz="1200" b="1">
                <a:solidFill>
                  <a:srgbClr val="00B0F0"/>
                </a:solidFill>
                <a:latin typeface="Segoe UI" panose="020B0502040204020203" pitchFamily="34" charset="0"/>
                <a:cs typeface="Segoe UI" panose="020B0502040204020203" pitchFamily="34" charset="0"/>
              </a:rPr>
              <a:t>Ground symbol</a:t>
            </a:r>
          </a:p>
        </p:txBody>
      </p:sp>
      <p:cxnSp>
        <p:nvCxnSpPr>
          <p:cNvPr id="49" name="Straight Connector 48">
            <a:extLst>
              <a:ext uri="{FF2B5EF4-FFF2-40B4-BE49-F238E27FC236}">
                <a16:creationId xmlns:a16="http://schemas.microsoft.com/office/drawing/2014/main" id="{8B1FDEB9-7567-DBA0-214F-54DE436C9681}"/>
              </a:ext>
            </a:extLst>
          </p:cNvPr>
          <p:cNvCxnSpPr>
            <a:cxnSpLocks/>
          </p:cNvCxnSpPr>
          <p:nvPr/>
        </p:nvCxnSpPr>
        <p:spPr>
          <a:xfrm flipH="1" flipV="1">
            <a:off x="6334672" y="5405174"/>
            <a:ext cx="694189" cy="260750"/>
          </a:xfrm>
          <a:prstGeom prst="line">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8" name="Content Placeholder 5">
            <a:extLst>
              <a:ext uri="{FF2B5EF4-FFF2-40B4-BE49-F238E27FC236}">
                <a16:creationId xmlns:a16="http://schemas.microsoft.com/office/drawing/2014/main" id="{F891C764-FBD4-E536-B830-E7D43FBA4A25}"/>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b="1" dirty="0">
                <a:solidFill>
                  <a:srgbClr val="00B0F0"/>
                </a:solidFill>
              </a:rPr>
              <a:t>Task 1</a:t>
            </a:r>
          </a:p>
          <a:p>
            <a:pPr marL="0" indent="0">
              <a:buNone/>
            </a:pPr>
            <a:r>
              <a:rPr lang="en-US" sz="1200" dirty="0"/>
              <a:t>Task 2</a:t>
            </a:r>
          </a:p>
          <a:p>
            <a:pPr marL="0" indent="0">
              <a:buNone/>
            </a:pPr>
            <a:r>
              <a:rPr lang="en-US" sz="1200" dirty="0"/>
              <a:t>Task 3</a:t>
            </a:r>
          </a:p>
          <a:p>
            <a:pPr marL="0" indent="0">
              <a:buNone/>
            </a:pPr>
            <a:r>
              <a:rPr lang="en-US" sz="1200" dirty="0"/>
              <a:t>Turn-in </a:t>
            </a:r>
            <a:r>
              <a:rPr lang="en-US" sz="1200" dirty="0" err="1"/>
              <a:t>Reqt’s</a:t>
            </a:r>
            <a:endParaRPr lang="en-US" sz="1200" dirty="0"/>
          </a:p>
          <a:p>
            <a:pPr marL="0" indent="0">
              <a:buNone/>
            </a:pPr>
            <a:endParaRPr lang="en-US" sz="1200" dirty="0"/>
          </a:p>
        </p:txBody>
      </p:sp>
      <p:cxnSp>
        <p:nvCxnSpPr>
          <p:cNvPr id="46" name="Straight Connector 45">
            <a:extLst>
              <a:ext uri="{FF2B5EF4-FFF2-40B4-BE49-F238E27FC236}">
                <a16:creationId xmlns:a16="http://schemas.microsoft.com/office/drawing/2014/main" id="{5C9A8358-D817-0E5D-3295-7D5E71786CB0}"/>
              </a:ext>
            </a:extLst>
          </p:cNvPr>
          <p:cNvCxnSpPr>
            <a:cxnSpLocks/>
          </p:cNvCxnSpPr>
          <p:nvPr/>
        </p:nvCxnSpPr>
        <p:spPr>
          <a:xfrm flipV="1">
            <a:off x="4385801" y="2233540"/>
            <a:ext cx="0" cy="507936"/>
          </a:xfrm>
          <a:prstGeom prst="line">
            <a:avLst/>
          </a:prstGeom>
          <a:ln w="57150">
            <a:solidFill>
              <a:srgbClr val="FF0000">
                <a:alpha val="80000"/>
              </a:srgbClr>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471C6869-59DA-0D57-967D-997DF26391A3}"/>
              </a:ext>
            </a:extLst>
          </p:cNvPr>
          <p:cNvCxnSpPr>
            <a:cxnSpLocks/>
          </p:cNvCxnSpPr>
          <p:nvPr/>
        </p:nvCxnSpPr>
        <p:spPr>
          <a:xfrm>
            <a:off x="3653694" y="2422143"/>
            <a:ext cx="1872703" cy="0"/>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AB52BA96-0C9C-2839-CD3E-E1EB6C92D02B}"/>
              </a:ext>
            </a:extLst>
          </p:cNvPr>
          <p:cNvCxnSpPr>
            <a:cxnSpLocks/>
          </p:cNvCxnSpPr>
          <p:nvPr/>
        </p:nvCxnSpPr>
        <p:spPr>
          <a:xfrm flipV="1">
            <a:off x="3657601" y="2389398"/>
            <a:ext cx="0" cy="352078"/>
          </a:xfrm>
          <a:prstGeom prst="line">
            <a:avLst/>
          </a:prstGeom>
          <a:ln w="57150">
            <a:solidFill>
              <a:schemeClr val="accent2">
                <a:alpha val="8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8668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DAAFBA-9678-0406-3E30-AE50453C0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B7C85-BFFF-267E-E83B-B86AB6F011EF}"/>
              </a:ext>
            </a:extLst>
          </p:cNvPr>
          <p:cNvSpPr>
            <a:spLocks noGrp="1"/>
          </p:cNvSpPr>
          <p:nvPr>
            <p:ph type="title"/>
          </p:nvPr>
        </p:nvSpPr>
        <p:spPr/>
        <p:txBody>
          <a:bodyPr>
            <a:normAutofit/>
          </a:bodyPr>
          <a:lstStyle/>
          <a:p>
            <a:r>
              <a:rPr lang="en-US" sz="2800" b="1" dirty="0"/>
              <a:t>Task 2 – Collect IV Data with INA238</a:t>
            </a:r>
          </a:p>
        </p:txBody>
      </p:sp>
      <p:sp>
        <p:nvSpPr>
          <p:cNvPr id="4" name="Footer Placeholder 3">
            <a:extLst>
              <a:ext uri="{FF2B5EF4-FFF2-40B4-BE49-F238E27FC236}">
                <a16:creationId xmlns:a16="http://schemas.microsoft.com/office/drawing/2014/main" id="{0FC635D3-0C4F-794D-8F69-ADCFD1AE1CDB}"/>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93DCE63C-B148-8B89-B560-7FE1C06C0055}"/>
              </a:ext>
            </a:extLst>
          </p:cNvPr>
          <p:cNvSpPr>
            <a:spLocks noGrp="1"/>
          </p:cNvSpPr>
          <p:nvPr>
            <p:ph type="sldNum" sz="quarter" idx="12"/>
          </p:nvPr>
        </p:nvSpPr>
        <p:spPr/>
        <p:txBody>
          <a:bodyPr/>
          <a:lstStyle/>
          <a:p>
            <a:fld id="{9A3029B7-FE6B-4680-9049-80E8298A0825}" type="slidenum">
              <a:rPr lang="en-US" smtClean="0"/>
              <a:t>16</a:t>
            </a:fld>
            <a:endParaRPr lang="en-US"/>
          </a:p>
        </p:txBody>
      </p:sp>
      <p:sp>
        <p:nvSpPr>
          <p:cNvPr id="8" name="Content Placeholder 2">
            <a:extLst>
              <a:ext uri="{FF2B5EF4-FFF2-40B4-BE49-F238E27FC236}">
                <a16:creationId xmlns:a16="http://schemas.microsoft.com/office/drawing/2014/main" id="{9FDBA21B-B757-D082-AD93-5382F16F6714}"/>
              </a:ext>
            </a:extLst>
          </p:cNvPr>
          <p:cNvSpPr txBox="1">
            <a:spLocks/>
          </p:cNvSpPr>
          <p:nvPr/>
        </p:nvSpPr>
        <p:spPr>
          <a:xfrm>
            <a:off x="1061751" y="1626727"/>
            <a:ext cx="8035885" cy="48383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600"/>
              </a:spcBef>
              <a:buFont typeface="Arial" panose="020B0604020202020204" pitchFamily="34" charset="0"/>
              <a:buAutoNum type="arabicParenBoth"/>
            </a:pPr>
            <a:r>
              <a:rPr lang="en-US" sz="1600"/>
              <a:t>Using the breadboard on the back of </a:t>
            </a:r>
            <a:r>
              <a:rPr lang="en-US" sz="1600" err="1"/>
              <a:t>KestrelSAT’s</a:t>
            </a:r>
            <a:r>
              <a:rPr lang="en-US" sz="1600"/>
              <a:t> solar power side,  connect the four solar panels in a </a:t>
            </a:r>
            <a:r>
              <a:rPr lang="en-US" sz="1600" b="1"/>
              <a:t>parallel array. </a:t>
            </a:r>
            <a:r>
              <a:rPr lang="en-US" sz="1600"/>
              <a:t>Connect this array to the INA238 as in Task 1.</a:t>
            </a:r>
          </a:p>
          <a:p>
            <a:pPr marL="457200" indent="-457200">
              <a:spcBef>
                <a:spcPts val="600"/>
              </a:spcBef>
              <a:buFont typeface="Arial" panose="020B0604020202020204" pitchFamily="34" charset="0"/>
              <a:buAutoNum type="arabicParenBoth"/>
            </a:pPr>
            <a:endParaRPr lang="en-US" sz="1600" b="1"/>
          </a:p>
          <a:p>
            <a:pPr marL="457200" indent="-457200">
              <a:spcBef>
                <a:spcPts val="600"/>
              </a:spcBef>
              <a:buFont typeface="Arial" panose="020B0604020202020204" pitchFamily="34" charset="0"/>
              <a:buAutoNum type="arabicParenBoth"/>
            </a:pPr>
            <a:r>
              <a:rPr lang="en-US" sz="1600"/>
              <a:t>Take your KestrelSAT and laptop outside and record the Solar luminance in Lux.</a:t>
            </a:r>
          </a:p>
          <a:p>
            <a:pPr marL="457200" lvl="1" indent="0">
              <a:spcBef>
                <a:spcPts val="600"/>
              </a:spcBef>
              <a:buNone/>
            </a:pPr>
            <a:r>
              <a:rPr lang="en-US" sz="1200">
                <a:sym typeface="Wingdings" panose="05000000000000000000" pitchFamily="2" charset="2"/>
              </a:rPr>
              <a:t>	</a:t>
            </a:r>
            <a:r>
              <a:rPr lang="en-US" sz="1200"/>
              <a:t>The measured value may jump around, try to take an average value.</a:t>
            </a:r>
          </a:p>
          <a:p>
            <a:pPr marL="457200" lvl="1" indent="0">
              <a:spcBef>
                <a:spcPts val="600"/>
              </a:spcBef>
              <a:buNone/>
            </a:pPr>
            <a:endParaRPr lang="en-US" sz="1200"/>
          </a:p>
          <a:p>
            <a:pPr marL="457200" indent="-457200">
              <a:spcBef>
                <a:spcPts val="600"/>
              </a:spcBef>
              <a:buFont typeface="Arial" panose="020B0604020202020204" pitchFamily="34" charset="0"/>
              <a:buAutoNum type="arabicParenBoth"/>
            </a:pPr>
            <a:r>
              <a:rPr lang="en-US" sz="1600"/>
              <a:t>Conduct a test run to gather IV data:</a:t>
            </a:r>
          </a:p>
          <a:p>
            <a:pPr marL="457200" lvl="1" indent="0">
              <a:spcBef>
                <a:spcPts val="600"/>
              </a:spcBef>
              <a:buNone/>
            </a:pPr>
            <a:r>
              <a:rPr lang="en-US" sz="1600"/>
              <a:t>(3.1) During the run, slowly turn the potentiometer end-to-end. </a:t>
            </a:r>
          </a:p>
          <a:p>
            <a:pPr marL="457200" lvl="1" indent="0">
              <a:spcBef>
                <a:spcPts val="600"/>
              </a:spcBef>
              <a:buNone/>
            </a:pPr>
            <a:endParaRPr lang="en-US" sz="1600"/>
          </a:p>
          <a:p>
            <a:pPr marL="457200" indent="-457200">
              <a:spcBef>
                <a:spcPts val="600"/>
              </a:spcBef>
              <a:buFont typeface="Arial" panose="020B0604020202020204" pitchFamily="34" charset="0"/>
              <a:buAutoNum type="arabicParenBoth"/>
            </a:pPr>
            <a:r>
              <a:rPr lang="en-US" sz="1600"/>
              <a:t>See next slide for options to save your data.</a:t>
            </a:r>
          </a:p>
          <a:p>
            <a:pPr marL="457200" indent="-457200">
              <a:spcBef>
                <a:spcPts val="600"/>
              </a:spcBef>
              <a:buFont typeface="Arial" panose="020B0604020202020204" pitchFamily="34" charset="0"/>
              <a:buAutoNum type="arabicParenBoth"/>
            </a:pPr>
            <a:endParaRPr lang="en-US" sz="1600"/>
          </a:p>
          <a:p>
            <a:pPr marL="457200" indent="-457200">
              <a:spcBef>
                <a:spcPts val="600"/>
              </a:spcBef>
              <a:buFont typeface="Arial" panose="020B0604020202020204" pitchFamily="34" charset="0"/>
              <a:buAutoNum type="arabicParenBoth"/>
            </a:pPr>
            <a:r>
              <a:rPr lang="en-US" sz="1600"/>
              <a:t>Disconnect power from the MCU.</a:t>
            </a:r>
          </a:p>
          <a:p>
            <a:pPr marL="457200" indent="-457200">
              <a:spcBef>
                <a:spcPts val="600"/>
              </a:spcBef>
              <a:buFont typeface="Arial" panose="020B0604020202020204" pitchFamily="34" charset="0"/>
              <a:buAutoNum type="arabicParenBoth"/>
            </a:pPr>
            <a:endParaRPr lang="en-US" sz="1600"/>
          </a:p>
          <a:p>
            <a:pPr marL="457200" indent="-457200">
              <a:spcBef>
                <a:spcPts val="600"/>
              </a:spcBef>
              <a:buFont typeface="Arial" panose="020B0604020202020204" pitchFamily="34" charset="0"/>
              <a:buAutoNum type="arabicParenBoth"/>
            </a:pPr>
            <a:r>
              <a:rPr lang="en-US" sz="1600"/>
              <a:t>Reconnect </a:t>
            </a:r>
            <a:r>
              <a:rPr lang="en-US" sz="1600" err="1"/>
              <a:t>KestrelSAT’s</a:t>
            </a:r>
            <a:r>
              <a:rPr lang="en-US" sz="1600"/>
              <a:t> solar panels in a </a:t>
            </a:r>
            <a:r>
              <a:rPr lang="en-US" sz="1600" b="1"/>
              <a:t>series array.</a:t>
            </a:r>
          </a:p>
          <a:p>
            <a:pPr marL="457200" indent="-457200">
              <a:spcBef>
                <a:spcPts val="600"/>
              </a:spcBef>
              <a:buFont typeface="Arial" panose="020B0604020202020204" pitchFamily="34" charset="0"/>
              <a:buAutoNum type="arabicParenBoth"/>
            </a:pPr>
            <a:endParaRPr lang="en-US" sz="1600"/>
          </a:p>
          <a:p>
            <a:pPr marL="457200" indent="-457200">
              <a:spcBef>
                <a:spcPts val="600"/>
              </a:spcBef>
              <a:buFont typeface="Arial" panose="020B0604020202020204" pitchFamily="34" charset="0"/>
              <a:buAutoNum type="arabicParenBoth"/>
            </a:pPr>
            <a:r>
              <a:rPr lang="en-US" sz="1600"/>
              <a:t>Repeat Steps 2-4.</a:t>
            </a:r>
          </a:p>
          <a:p>
            <a:pPr marL="457200" indent="-457200">
              <a:spcBef>
                <a:spcPts val="600"/>
              </a:spcBef>
              <a:buFont typeface="Arial" panose="020B0604020202020204" pitchFamily="34" charset="0"/>
              <a:buAutoNum type="arabicParenBoth"/>
            </a:pPr>
            <a:endParaRPr lang="en-US" sz="1600"/>
          </a:p>
          <a:p>
            <a:pPr marL="0" indent="0">
              <a:spcBef>
                <a:spcPts val="600"/>
              </a:spcBef>
              <a:buFont typeface="Arial" panose="020B0604020202020204" pitchFamily="34" charset="0"/>
              <a:buNone/>
            </a:pPr>
            <a:endParaRPr lang="en-US" sz="1600"/>
          </a:p>
        </p:txBody>
      </p:sp>
      <p:sp>
        <p:nvSpPr>
          <p:cNvPr id="3" name="TextBox 2">
            <a:extLst>
              <a:ext uri="{FF2B5EF4-FFF2-40B4-BE49-F238E27FC236}">
                <a16:creationId xmlns:a16="http://schemas.microsoft.com/office/drawing/2014/main" id="{00D88281-858E-C56B-1AC4-5E8647C0D993}"/>
              </a:ext>
            </a:extLst>
          </p:cNvPr>
          <p:cNvSpPr txBox="1"/>
          <p:nvPr/>
        </p:nvSpPr>
        <p:spPr>
          <a:xfrm>
            <a:off x="1113083" y="884558"/>
            <a:ext cx="7840607" cy="646331"/>
          </a:xfrm>
          <a:prstGeom prst="rect">
            <a:avLst/>
          </a:prstGeom>
          <a:noFill/>
        </p:spPr>
        <p:txBody>
          <a:bodyPr wrap="square">
            <a:spAutoFit/>
          </a:bodyPr>
          <a:lstStyle/>
          <a:p>
            <a:r>
              <a:rPr lang="en-US" sz="1800" b="1"/>
              <a:t>In this task, you’ll collect IV data for your solar array in sunlight for both parallel and series configurations.</a:t>
            </a:r>
            <a:endParaRPr lang="en-US" b="1"/>
          </a:p>
        </p:txBody>
      </p:sp>
      <p:sp>
        <p:nvSpPr>
          <p:cNvPr id="7" name="Content Placeholder 5">
            <a:extLst>
              <a:ext uri="{FF2B5EF4-FFF2-40B4-BE49-F238E27FC236}">
                <a16:creationId xmlns:a16="http://schemas.microsoft.com/office/drawing/2014/main" id="{B5961EBD-2954-A5BD-B646-5B5771D01F9D}"/>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b="1" dirty="0">
                <a:solidFill>
                  <a:srgbClr val="00B0F0"/>
                </a:solidFill>
              </a:rPr>
              <a:t>Task 2</a:t>
            </a:r>
            <a:endParaRPr lang="en-US" sz="1200" dirty="0"/>
          </a:p>
          <a:p>
            <a:pPr marL="0" indent="0">
              <a:buNone/>
            </a:pPr>
            <a:r>
              <a:rPr lang="en-US" sz="1200" dirty="0"/>
              <a:t>Task 3</a:t>
            </a:r>
            <a:endParaRPr lang="en-US" sz="1200" b="1" dirty="0">
              <a:solidFill>
                <a:srgbClr val="00B0F0"/>
              </a:solidFill>
            </a:endParaRP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721727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A6A800-B0EE-B9F6-F9B8-C8FE477855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529A4-208E-C64D-058F-6D6B9467DB4C}"/>
              </a:ext>
            </a:extLst>
          </p:cNvPr>
          <p:cNvSpPr>
            <a:spLocks noGrp="1"/>
          </p:cNvSpPr>
          <p:nvPr>
            <p:ph type="title"/>
          </p:nvPr>
        </p:nvSpPr>
        <p:spPr/>
        <p:txBody>
          <a:bodyPr>
            <a:normAutofit/>
          </a:bodyPr>
          <a:lstStyle/>
          <a:p>
            <a:r>
              <a:rPr lang="en-US" sz="2800" b="1" dirty="0"/>
              <a:t>Task 2 (</a:t>
            </a:r>
            <a:r>
              <a:rPr lang="en-US" sz="2800" b="1" dirty="0" err="1"/>
              <a:t>cont</a:t>
            </a:r>
            <a:r>
              <a:rPr lang="en-US" sz="2800" b="1" dirty="0"/>
              <a:t>) – Saving IV Data</a:t>
            </a:r>
          </a:p>
        </p:txBody>
      </p:sp>
      <p:sp>
        <p:nvSpPr>
          <p:cNvPr id="4" name="Footer Placeholder 3">
            <a:extLst>
              <a:ext uri="{FF2B5EF4-FFF2-40B4-BE49-F238E27FC236}">
                <a16:creationId xmlns:a16="http://schemas.microsoft.com/office/drawing/2014/main" id="{47110B76-2FBF-254A-0DC6-5FD716F53C2A}"/>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D546CCEC-63E5-9CCA-C1BC-B5BBE341DCD9}"/>
              </a:ext>
            </a:extLst>
          </p:cNvPr>
          <p:cNvSpPr>
            <a:spLocks noGrp="1"/>
          </p:cNvSpPr>
          <p:nvPr>
            <p:ph type="sldNum" sz="quarter" idx="12"/>
          </p:nvPr>
        </p:nvSpPr>
        <p:spPr/>
        <p:txBody>
          <a:bodyPr/>
          <a:lstStyle/>
          <a:p>
            <a:fld id="{9A3029B7-FE6B-4680-9049-80E8298A0825}" type="slidenum">
              <a:rPr lang="en-US" smtClean="0"/>
              <a:t>17</a:t>
            </a:fld>
            <a:endParaRPr lang="en-US"/>
          </a:p>
        </p:txBody>
      </p:sp>
      <p:sp>
        <p:nvSpPr>
          <p:cNvPr id="8" name="Content Placeholder 2">
            <a:extLst>
              <a:ext uri="{FF2B5EF4-FFF2-40B4-BE49-F238E27FC236}">
                <a16:creationId xmlns:a16="http://schemas.microsoft.com/office/drawing/2014/main" id="{C0954DF6-18E5-E421-14A3-789FE223B0D7}"/>
              </a:ext>
            </a:extLst>
          </p:cNvPr>
          <p:cNvSpPr txBox="1">
            <a:spLocks/>
          </p:cNvSpPr>
          <p:nvPr/>
        </p:nvSpPr>
        <p:spPr>
          <a:xfrm>
            <a:off x="1061751" y="1626727"/>
            <a:ext cx="8035885" cy="48383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600"/>
              </a:spcBef>
              <a:buFont typeface="Arial" panose="020B0604020202020204" pitchFamily="34" charset="0"/>
              <a:buAutoNum type="arabicParenBoth"/>
            </a:pPr>
            <a:r>
              <a:rPr lang="en-US" sz="1600"/>
              <a:t>Via the </a:t>
            </a:r>
            <a:r>
              <a:rPr lang="en-US" sz="1600" b="1"/>
              <a:t>KestrelSAT Ground Control Station Software</a:t>
            </a:r>
            <a:r>
              <a:rPr lang="en-US" sz="1600"/>
              <a:t>:</a:t>
            </a:r>
          </a:p>
          <a:p>
            <a:pPr lvl="1">
              <a:spcBef>
                <a:spcPts val="600"/>
              </a:spcBef>
              <a:buAutoNum type="alphaLcParenBoth"/>
            </a:pPr>
            <a:r>
              <a:rPr lang="en-US" sz="1400"/>
              <a:t>Data from the Serial Monitor can be logged continuously (real time) using the “Start Logging Button” (top right). </a:t>
            </a:r>
            <a:r>
              <a:rPr lang="en-US" sz="1600" b="1">
                <a:solidFill>
                  <a:srgbClr val="FF0000"/>
                </a:solidFill>
                <a:sym typeface="Wingdings" panose="05000000000000000000" pitchFamily="2" charset="2"/>
              </a:rPr>
              <a:t> Saves everything in Serial Monitor from time recording starts to stops</a:t>
            </a:r>
          </a:p>
          <a:p>
            <a:pPr lvl="1">
              <a:spcBef>
                <a:spcPts val="600"/>
              </a:spcBef>
              <a:buAutoNum type="alphaLcParenBoth"/>
            </a:pPr>
            <a:endParaRPr lang="en-US" sz="1400" b="1">
              <a:solidFill>
                <a:srgbClr val="FF0000"/>
              </a:solidFill>
            </a:endParaRPr>
          </a:p>
          <a:p>
            <a:pPr lvl="1">
              <a:spcBef>
                <a:spcPts val="600"/>
              </a:spcBef>
              <a:buAutoNum type="alphaLcParenBoth"/>
            </a:pPr>
            <a:r>
              <a:rPr lang="en-US" sz="1400"/>
              <a:t>A log of everything in the Serial Monitor can be saved using the “Save Log” button (bottom left of “Connection” tab). </a:t>
            </a:r>
            <a:r>
              <a:rPr lang="en-US" sz="1600" b="1">
                <a:solidFill>
                  <a:srgbClr val="FF0000"/>
                </a:solidFill>
                <a:sym typeface="Wingdings" panose="05000000000000000000" pitchFamily="2" charset="2"/>
              </a:rPr>
              <a:t> Saves everything in Serial Monitor</a:t>
            </a:r>
          </a:p>
          <a:p>
            <a:pPr lvl="1">
              <a:spcBef>
                <a:spcPts val="600"/>
              </a:spcBef>
              <a:buAutoNum type="alphaLcParenBoth"/>
            </a:pPr>
            <a:endParaRPr lang="en-US" sz="1400" b="1">
              <a:solidFill>
                <a:srgbClr val="FF0000"/>
              </a:solidFill>
            </a:endParaRPr>
          </a:p>
          <a:p>
            <a:pPr lvl="1">
              <a:spcBef>
                <a:spcPts val="600"/>
              </a:spcBef>
              <a:buAutoNum type="alphaLcParenBoth"/>
            </a:pPr>
            <a:r>
              <a:rPr lang="en-US" sz="1400"/>
              <a:t>Via the Plot: right-click on the plot and select “Export..”. “Select CSV of Original Plot Data” (note there are other options to export pictures of the plot as well). </a:t>
            </a:r>
            <a:r>
              <a:rPr lang="en-US" sz="1600" b="1">
                <a:solidFill>
                  <a:srgbClr val="FF0000"/>
                </a:solidFill>
                <a:sym typeface="Wingdings" panose="05000000000000000000" pitchFamily="2" charset="2"/>
              </a:rPr>
              <a:t> Only saves data points currently display on Plot</a:t>
            </a:r>
          </a:p>
          <a:p>
            <a:pPr lvl="1">
              <a:spcBef>
                <a:spcPts val="600"/>
              </a:spcBef>
              <a:buAutoNum type="alphaLcParenBoth"/>
            </a:pPr>
            <a:endParaRPr lang="en-US" sz="1200"/>
          </a:p>
          <a:p>
            <a:pPr marL="457200" indent="-457200">
              <a:spcBef>
                <a:spcPts val="600"/>
              </a:spcBef>
              <a:buFont typeface="Arial" panose="020B0604020202020204" pitchFamily="34" charset="0"/>
              <a:buAutoNum type="arabicParenBoth"/>
            </a:pPr>
            <a:r>
              <a:rPr lang="en-US" sz="1600"/>
              <a:t>Via the </a:t>
            </a:r>
            <a:r>
              <a:rPr lang="en-US" sz="1600" b="1"/>
              <a:t>SD card onboard the KestrelSAT MCU</a:t>
            </a:r>
            <a:r>
              <a:rPr lang="en-US" sz="1600"/>
              <a:t>: KestrelSAT records a new .csv file of data every time a test is run. Carefully remove the SD card and retrieve the .csv file from it for the desired test run.</a:t>
            </a:r>
          </a:p>
          <a:p>
            <a:pPr marL="0" indent="0">
              <a:spcBef>
                <a:spcPts val="600"/>
              </a:spcBef>
              <a:buFont typeface="Arial" panose="020B0604020202020204" pitchFamily="34" charset="0"/>
              <a:buNone/>
            </a:pPr>
            <a:endParaRPr lang="en-US" sz="1600"/>
          </a:p>
        </p:txBody>
      </p:sp>
      <p:sp>
        <p:nvSpPr>
          <p:cNvPr id="3" name="TextBox 2">
            <a:extLst>
              <a:ext uri="{FF2B5EF4-FFF2-40B4-BE49-F238E27FC236}">
                <a16:creationId xmlns:a16="http://schemas.microsoft.com/office/drawing/2014/main" id="{CFD5B20B-4590-0969-829E-E6281CE0B862}"/>
              </a:ext>
            </a:extLst>
          </p:cNvPr>
          <p:cNvSpPr txBox="1"/>
          <p:nvPr/>
        </p:nvSpPr>
        <p:spPr>
          <a:xfrm>
            <a:off x="1113083" y="884558"/>
            <a:ext cx="7840607" cy="646331"/>
          </a:xfrm>
          <a:prstGeom prst="rect">
            <a:avLst/>
          </a:prstGeom>
          <a:noFill/>
        </p:spPr>
        <p:txBody>
          <a:bodyPr wrap="square">
            <a:spAutoFit/>
          </a:bodyPr>
          <a:lstStyle/>
          <a:p>
            <a:r>
              <a:rPr lang="en-US" sz="1800" b="1"/>
              <a:t>There are several options to save the IV data from KestrelSAT that you will use for your lab report:</a:t>
            </a:r>
            <a:endParaRPr lang="en-US" b="1"/>
          </a:p>
        </p:txBody>
      </p:sp>
      <p:sp>
        <p:nvSpPr>
          <p:cNvPr id="7" name="Content Placeholder 5">
            <a:extLst>
              <a:ext uri="{FF2B5EF4-FFF2-40B4-BE49-F238E27FC236}">
                <a16:creationId xmlns:a16="http://schemas.microsoft.com/office/drawing/2014/main" id="{FD611763-4E8E-2C1A-2B65-40192F601D64}"/>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b="1" dirty="0">
                <a:solidFill>
                  <a:srgbClr val="00B0F0"/>
                </a:solidFill>
              </a:rPr>
              <a:t>Task 2</a:t>
            </a:r>
          </a:p>
          <a:p>
            <a:pPr marL="0" indent="0">
              <a:buNone/>
            </a:pPr>
            <a:r>
              <a:rPr lang="en-US" sz="1200" dirty="0"/>
              <a:t>Task 3</a:t>
            </a:r>
            <a:endParaRPr lang="en-US" sz="1200" b="1" dirty="0">
              <a:solidFill>
                <a:srgbClr val="00B0F0"/>
              </a:solidFill>
            </a:endParaRPr>
          </a:p>
          <a:p>
            <a:pPr marL="0" indent="0">
              <a:buNone/>
            </a:pPr>
            <a:r>
              <a:rPr lang="en-US" sz="1200" dirty="0"/>
              <a:t>Turn-in </a:t>
            </a:r>
            <a:r>
              <a:rPr lang="en-US" sz="1200" dirty="0" err="1"/>
              <a:t>Reqt’s</a:t>
            </a:r>
            <a:endParaRPr lang="en-US" sz="1200" dirty="0"/>
          </a:p>
          <a:p>
            <a:pPr marL="0" indent="0">
              <a:buNone/>
            </a:pPr>
            <a:endParaRPr lang="en-US" sz="1200" dirty="0"/>
          </a:p>
        </p:txBody>
      </p:sp>
    </p:spTree>
    <p:extLst>
      <p:ext uri="{BB962C8B-B14F-4D97-AF65-F5344CB8AC3E}">
        <p14:creationId xmlns:p14="http://schemas.microsoft.com/office/powerpoint/2010/main" val="3118547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7DA04-4B9F-16CA-0C25-73762E003116}"/>
              </a:ext>
            </a:extLst>
          </p:cNvPr>
          <p:cNvSpPr>
            <a:spLocks noGrp="1"/>
          </p:cNvSpPr>
          <p:nvPr>
            <p:ph type="title"/>
          </p:nvPr>
        </p:nvSpPr>
        <p:spPr/>
        <p:txBody>
          <a:bodyPr>
            <a:normAutofit/>
          </a:bodyPr>
          <a:lstStyle/>
          <a:p>
            <a:r>
              <a:rPr lang="en-US" sz="2400" b="1" dirty="0"/>
              <a:t>Task 3 – Finish Setting Up </a:t>
            </a:r>
            <a:r>
              <a:rPr lang="en-US" sz="2400" b="1" dirty="0" err="1"/>
              <a:t>KestrelSAT</a:t>
            </a:r>
            <a:r>
              <a:rPr lang="en-US" sz="2400" b="1" dirty="0"/>
              <a:t> EPS</a:t>
            </a:r>
          </a:p>
        </p:txBody>
      </p:sp>
      <p:sp>
        <p:nvSpPr>
          <p:cNvPr id="3" name="Content Placeholder 2">
            <a:extLst>
              <a:ext uri="{FF2B5EF4-FFF2-40B4-BE49-F238E27FC236}">
                <a16:creationId xmlns:a16="http://schemas.microsoft.com/office/drawing/2014/main" id="{D028BCD5-A9DB-0358-4037-7B6E4E3AEF89}"/>
              </a:ext>
            </a:extLst>
          </p:cNvPr>
          <p:cNvSpPr>
            <a:spLocks noGrp="1"/>
          </p:cNvSpPr>
          <p:nvPr>
            <p:ph idx="1"/>
          </p:nvPr>
        </p:nvSpPr>
        <p:spPr>
          <a:xfrm>
            <a:off x="1066990" y="897624"/>
            <a:ext cx="4645712" cy="5896748"/>
          </a:xfrm>
        </p:spPr>
        <p:txBody>
          <a:bodyPr>
            <a:normAutofit/>
          </a:bodyPr>
          <a:lstStyle/>
          <a:p>
            <a:pPr marL="0" indent="0">
              <a:buNone/>
            </a:pPr>
            <a:r>
              <a:rPr lang="en-US" sz="1400" b="1" dirty="0"/>
              <a:t>In this task you will prepare for future labs by completing setup of the electrical power system for your KestrelSAT. </a:t>
            </a:r>
          </a:p>
          <a:p>
            <a:pPr marL="514350" indent="-514350">
              <a:buAutoNum type="arabicParenBoth"/>
            </a:pPr>
            <a:r>
              <a:rPr lang="en-US" sz="1400" dirty="0"/>
              <a:t>Using a multimeter, measure the voltage of your KestrelSAT battery. Discuss with your instructor how </a:t>
            </a:r>
            <a:r>
              <a:rPr lang="en-US" sz="1400"/>
              <a:t>to estimate </a:t>
            </a:r>
            <a:r>
              <a:rPr lang="en-US" sz="1400" dirty="0"/>
              <a:t>the state of charge of the battery. </a:t>
            </a:r>
          </a:p>
          <a:p>
            <a:pPr marL="514350" indent="-514350">
              <a:buAutoNum type="arabicParenBoth"/>
            </a:pPr>
            <a:r>
              <a:rPr lang="en-US" sz="1400" dirty="0"/>
              <a:t>Install the battery and connect it to the female end of the power switch. Connect the male end of the power switch to the battery connector on your MCU. Confirm you can power on your KestrelSAT with the power switch. </a:t>
            </a:r>
          </a:p>
          <a:p>
            <a:pPr marL="514350" indent="-514350">
              <a:buAutoNum type="arabicParenBoth"/>
            </a:pPr>
            <a:r>
              <a:rPr lang="en-US" sz="1400" dirty="0">
                <a:solidFill>
                  <a:srgbClr val="7030A0"/>
                </a:solidFill>
              </a:rPr>
              <a:t>Link all power rails on your breadboard together using red and black jumper wires (red for </a:t>
            </a:r>
            <a:r>
              <a:rPr lang="en-US" sz="1400" b="1" dirty="0">
                <a:solidFill>
                  <a:srgbClr val="7030A0"/>
                </a:solidFill>
              </a:rPr>
              <a:t>+</a:t>
            </a:r>
            <a:r>
              <a:rPr lang="en-US" sz="1400" dirty="0">
                <a:solidFill>
                  <a:srgbClr val="7030A0"/>
                </a:solidFill>
              </a:rPr>
              <a:t> and black for </a:t>
            </a:r>
            <a:r>
              <a:rPr lang="en-US" sz="1400" b="1" dirty="0">
                <a:solidFill>
                  <a:srgbClr val="7030A0"/>
                </a:solidFill>
              </a:rPr>
              <a:t>-</a:t>
            </a:r>
            <a:r>
              <a:rPr lang="en-US" sz="1400" dirty="0">
                <a:solidFill>
                  <a:srgbClr val="7030A0"/>
                </a:solidFill>
              </a:rPr>
              <a:t>). </a:t>
            </a:r>
            <a:endParaRPr lang="en-US" sz="1400" b="1" dirty="0">
              <a:solidFill>
                <a:srgbClr val="7030A0"/>
              </a:solidFill>
            </a:endParaRPr>
          </a:p>
          <a:p>
            <a:pPr marL="514350" indent="-514350">
              <a:buAutoNum type="arabicParenBoth"/>
            </a:pPr>
            <a:r>
              <a:rPr lang="en-US" sz="1400" dirty="0">
                <a:solidFill>
                  <a:srgbClr val="0070C0"/>
                </a:solidFill>
              </a:rPr>
              <a:t>Connect a black wire from MCU ground pin to the ground rail. </a:t>
            </a:r>
          </a:p>
          <a:p>
            <a:pPr marL="514350" indent="-514350">
              <a:buAutoNum type="arabicParenBoth"/>
            </a:pPr>
            <a:r>
              <a:rPr lang="en-US" sz="1400" dirty="0">
                <a:solidFill>
                  <a:srgbClr val="FF0000"/>
                </a:solidFill>
              </a:rPr>
              <a:t>Connect the VBAT to the VIN terminal of the 5V Step-Up Regulator. Connect a black or brown wire from the ground rail to ground of the regulator. </a:t>
            </a:r>
          </a:p>
          <a:p>
            <a:pPr marL="514350" indent="-514350">
              <a:buAutoNum type="arabicParenBoth"/>
            </a:pPr>
            <a:r>
              <a:rPr lang="en-US" sz="1400" dirty="0"/>
              <a:t>With KestrelSAT powered on, confirm the regulator provides 5V on the VOUT pin. Connect VOUT to the </a:t>
            </a:r>
            <a:r>
              <a:rPr lang="en-US" sz="1400" b="1" dirty="0"/>
              <a:t>+</a:t>
            </a:r>
            <a:r>
              <a:rPr lang="en-US" sz="1400" dirty="0"/>
              <a:t> power rail. </a:t>
            </a:r>
            <a:r>
              <a:rPr lang="en-US" sz="1400" b="1" dirty="0"/>
              <a:t>All power rails on the breadboard are now 5V potential. </a:t>
            </a:r>
          </a:p>
        </p:txBody>
      </p:sp>
      <p:sp>
        <p:nvSpPr>
          <p:cNvPr id="4" name="Footer Placeholder 3">
            <a:extLst>
              <a:ext uri="{FF2B5EF4-FFF2-40B4-BE49-F238E27FC236}">
                <a16:creationId xmlns:a16="http://schemas.microsoft.com/office/drawing/2014/main" id="{26317C00-BF1C-E372-A5F5-25CD37724E45}"/>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88A8ECE1-2E41-D943-C1B2-C14DF8159793}"/>
              </a:ext>
            </a:extLst>
          </p:cNvPr>
          <p:cNvSpPr>
            <a:spLocks noGrp="1"/>
          </p:cNvSpPr>
          <p:nvPr>
            <p:ph type="sldNum" sz="quarter" idx="12"/>
          </p:nvPr>
        </p:nvSpPr>
        <p:spPr/>
        <p:txBody>
          <a:bodyPr/>
          <a:lstStyle/>
          <a:p>
            <a:fld id="{9A3029B7-FE6B-4680-9049-80E8298A0825}" type="slidenum">
              <a:rPr lang="en-US" smtClean="0"/>
              <a:t>18</a:t>
            </a:fld>
            <a:endParaRPr lang="en-US"/>
          </a:p>
        </p:txBody>
      </p:sp>
      <p:sp>
        <p:nvSpPr>
          <p:cNvPr id="6" name="Content Placeholder 5">
            <a:extLst>
              <a:ext uri="{FF2B5EF4-FFF2-40B4-BE49-F238E27FC236}">
                <a16:creationId xmlns:a16="http://schemas.microsoft.com/office/drawing/2014/main" id="{FAB2A503-E4C4-E1B2-FB62-FDD2B9AB2E26}"/>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b="1" dirty="0">
                <a:solidFill>
                  <a:srgbClr val="00B0F0"/>
                </a:solidFill>
              </a:rPr>
              <a:t>Task 3</a:t>
            </a:r>
          </a:p>
          <a:p>
            <a:pPr marL="0" indent="0">
              <a:buNone/>
            </a:pPr>
            <a:r>
              <a:rPr lang="en-US" sz="1200" dirty="0"/>
              <a:t>Turn-in </a:t>
            </a:r>
            <a:r>
              <a:rPr lang="en-US" sz="1200" dirty="0" err="1"/>
              <a:t>Reqt’s</a:t>
            </a:r>
            <a:endParaRPr lang="en-US" sz="1200" dirty="0"/>
          </a:p>
          <a:p>
            <a:pPr marL="0" indent="0">
              <a:buNone/>
            </a:pPr>
            <a:endParaRPr lang="en-US" sz="1200" dirty="0"/>
          </a:p>
        </p:txBody>
      </p:sp>
      <p:grpSp>
        <p:nvGrpSpPr>
          <p:cNvPr id="11" name="Group 10">
            <a:extLst>
              <a:ext uri="{FF2B5EF4-FFF2-40B4-BE49-F238E27FC236}">
                <a16:creationId xmlns:a16="http://schemas.microsoft.com/office/drawing/2014/main" id="{01298734-399A-9077-71F3-8613C452041A}"/>
              </a:ext>
            </a:extLst>
          </p:cNvPr>
          <p:cNvGrpSpPr/>
          <p:nvPr/>
        </p:nvGrpSpPr>
        <p:grpSpPr>
          <a:xfrm>
            <a:off x="5705434" y="2379146"/>
            <a:ext cx="3358390" cy="1264427"/>
            <a:chOff x="1010562" y="4600076"/>
            <a:chExt cx="4913560" cy="1849947"/>
          </a:xfrm>
        </p:grpSpPr>
        <p:pic>
          <p:nvPicPr>
            <p:cNvPr id="8" name="Picture 7">
              <a:extLst>
                <a:ext uri="{FF2B5EF4-FFF2-40B4-BE49-F238E27FC236}">
                  <a16:creationId xmlns:a16="http://schemas.microsoft.com/office/drawing/2014/main" id="{2061E369-A719-61F8-1DF8-2986384D15D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10562" y="4855105"/>
              <a:ext cx="4913560" cy="1594918"/>
            </a:xfrm>
            <a:prstGeom prst="rect">
              <a:avLst/>
            </a:prstGeom>
          </p:spPr>
        </p:pic>
        <p:sp>
          <p:nvSpPr>
            <p:cNvPr id="10" name="TextBox 9">
              <a:extLst>
                <a:ext uri="{FF2B5EF4-FFF2-40B4-BE49-F238E27FC236}">
                  <a16:creationId xmlns:a16="http://schemas.microsoft.com/office/drawing/2014/main" id="{87876ADA-DDC3-9749-044A-6F3F15F5DEA9}"/>
                </a:ext>
              </a:extLst>
            </p:cNvPr>
            <p:cNvSpPr txBox="1"/>
            <p:nvPr/>
          </p:nvSpPr>
          <p:spPr>
            <a:xfrm>
              <a:off x="1181343" y="4600076"/>
              <a:ext cx="4571998" cy="510059"/>
            </a:xfrm>
            <a:prstGeom prst="rect">
              <a:avLst/>
            </a:prstGeom>
            <a:noFill/>
          </p:spPr>
          <p:txBody>
            <a:bodyPr wrap="square">
              <a:spAutoFit/>
            </a:bodyPr>
            <a:lstStyle/>
            <a:p>
              <a:pPr algn="l">
                <a:lnSpc>
                  <a:spcPts val="2340"/>
                </a:lnSpc>
                <a:buNone/>
              </a:pPr>
              <a:r>
                <a:rPr lang="en-US" sz="1200" b="1" i="0">
                  <a:solidFill>
                    <a:srgbClr val="333333"/>
                  </a:solidFill>
                  <a:effectLst/>
                  <a:latin typeface="Arial" panose="020B0604020202020204" pitchFamily="34" charset="0"/>
                </a:rPr>
                <a:t>5V Step-Up Voltage Regulator U3V70F5</a:t>
              </a:r>
            </a:p>
          </p:txBody>
        </p:sp>
      </p:grpSp>
      <p:grpSp>
        <p:nvGrpSpPr>
          <p:cNvPr id="20" name="Group 19">
            <a:extLst>
              <a:ext uri="{FF2B5EF4-FFF2-40B4-BE49-F238E27FC236}">
                <a16:creationId xmlns:a16="http://schemas.microsoft.com/office/drawing/2014/main" id="{65F3E9DA-6542-50AC-4A74-BFE53693664A}"/>
              </a:ext>
            </a:extLst>
          </p:cNvPr>
          <p:cNvGrpSpPr/>
          <p:nvPr/>
        </p:nvGrpSpPr>
        <p:grpSpPr>
          <a:xfrm>
            <a:off x="5825764" y="3588252"/>
            <a:ext cx="3269986" cy="3206119"/>
            <a:chOff x="5825764" y="3588252"/>
            <a:chExt cx="3269986" cy="3206119"/>
          </a:xfrm>
        </p:grpSpPr>
        <p:pic>
          <p:nvPicPr>
            <p:cNvPr id="13" name="Picture 12">
              <a:extLst>
                <a:ext uri="{FF2B5EF4-FFF2-40B4-BE49-F238E27FC236}">
                  <a16:creationId xmlns:a16="http://schemas.microsoft.com/office/drawing/2014/main" id="{50D31578-A5E6-D4A7-304E-B30DA3AB0E83}"/>
                </a:ext>
              </a:extLst>
            </p:cNvPr>
            <p:cNvPicPr>
              <a:picLocks noChangeAspect="1"/>
            </p:cNvPicPr>
            <p:nvPr/>
          </p:nvPicPr>
          <p:blipFill>
            <a:blip r:embed="rId3"/>
            <a:stretch>
              <a:fillRect/>
            </a:stretch>
          </p:blipFill>
          <p:spPr>
            <a:xfrm rot="16200000">
              <a:off x="5857697" y="3556319"/>
              <a:ext cx="3206119" cy="3269986"/>
            </a:xfrm>
            <a:prstGeom prst="rect">
              <a:avLst/>
            </a:prstGeom>
          </p:spPr>
        </p:pic>
        <p:sp>
          <p:nvSpPr>
            <p:cNvPr id="15" name="TextBox 14">
              <a:extLst>
                <a:ext uri="{FF2B5EF4-FFF2-40B4-BE49-F238E27FC236}">
                  <a16:creationId xmlns:a16="http://schemas.microsoft.com/office/drawing/2014/main" id="{4129B2BB-6A71-20EC-1EC7-C7A39D8BA7AF}"/>
                </a:ext>
              </a:extLst>
            </p:cNvPr>
            <p:cNvSpPr txBox="1"/>
            <p:nvPr/>
          </p:nvSpPr>
          <p:spPr>
            <a:xfrm>
              <a:off x="6115048" y="4571860"/>
              <a:ext cx="539750" cy="369332"/>
            </a:xfrm>
            <a:prstGeom prst="rect">
              <a:avLst/>
            </a:prstGeom>
            <a:noFill/>
          </p:spPr>
          <p:txBody>
            <a:bodyPr wrap="square">
              <a:spAutoFit/>
            </a:bodyPr>
            <a:lstStyle/>
            <a:p>
              <a:r>
                <a:rPr lang="en-US" sz="1800" b="1">
                  <a:solidFill>
                    <a:srgbClr val="7030A0"/>
                  </a:solidFill>
                </a:rPr>
                <a:t>(3)</a:t>
              </a:r>
              <a:endParaRPr lang="en-US">
                <a:solidFill>
                  <a:srgbClr val="7030A0"/>
                </a:solidFill>
              </a:endParaRPr>
            </a:p>
          </p:txBody>
        </p:sp>
        <p:sp>
          <p:nvSpPr>
            <p:cNvPr id="16" name="TextBox 15">
              <a:extLst>
                <a:ext uri="{FF2B5EF4-FFF2-40B4-BE49-F238E27FC236}">
                  <a16:creationId xmlns:a16="http://schemas.microsoft.com/office/drawing/2014/main" id="{87C49519-DD46-FAD5-8209-B6BEA525D209}"/>
                </a:ext>
              </a:extLst>
            </p:cNvPr>
            <p:cNvSpPr txBox="1"/>
            <p:nvPr/>
          </p:nvSpPr>
          <p:spPr>
            <a:xfrm>
              <a:off x="8157208" y="5006646"/>
              <a:ext cx="539750" cy="369332"/>
            </a:xfrm>
            <a:prstGeom prst="rect">
              <a:avLst/>
            </a:prstGeom>
            <a:noFill/>
          </p:spPr>
          <p:txBody>
            <a:bodyPr wrap="square">
              <a:spAutoFit/>
            </a:bodyPr>
            <a:lstStyle/>
            <a:p>
              <a:r>
                <a:rPr lang="en-US" sz="1800" b="1">
                  <a:solidFill>
                    <a:srgbClr val="0070C0"/>
                  </a:solidFill>
                </a:rPr>
                <a:t>(4)</a:t>
              </a:r>
              <a:endParaRPr lang="en-US">
                <a:solidFill>
                  <a:srgbClr val="0070C0"/>
                </a:solidFill>
              </a:endParaRPr>
            </a:p>
          </p:txBody>
        </p:sp>
        <p:sp>
          <p:nvSpPr>
            <p:cNvPr id="17" name="TextBox 16">
              <a:extLst>
                <a:ext uri="{FF2B5EF4-FFF2-40B4-BE49-F238E27FC236}">
                  <a16:creationId xmlns:a16="http://schemas.microsoft.com/office/drawing/2014/main" id="{35858A68-1B9C-4DB1-9C94-C5319AD1F99F}"/>
                </a:ext>
              </a:extLst>
            </p:cNvPr>
            <p:cNvSpPr txBox="1"/>
            <p:nvPr/>
          </p:nvSpPr>
          <p:spPr>
            <a:xfrm>
              <a:off x="7324088" y="5595926"/>
              <a:ext cx="539750" cy="369332"/>
            </a:xfrm>
            <a:prstGeom prst="rect">
              <a:avLst/>
            </a:prstGeom>
            <a:noFill/>
          </p:spPr>
          <p:txBody>
            <a:bodyPr wrap="square">
              <a:spAutoFit/>
            </a:bodyPr>
            <a:lstStyle/>
            <a:p>
              <a:r>
                <a:rPr lang="en-US" sz="1800" b="1">
                  <a:solidFill>
                    <a:srgbClr val="FF0000"/>
                  </a:solidFill>
                </a:rPr>
                <a:t>(</a:t>
              </a:r>
              <a:r>
                <a:rPr lang="en-US" b="1">
                  <a:solidFill>
                    <a:srgbClr val="FF0000"/>
                  </a:solidFill>
                </a:rPr>
                <a:t>5</a:t>
              </a:r>
              <a:r>
                <a:rPr lang="en-US" sz="1800" b="1">
                  <a:solidFill>
                    <a:srgbClr val="FF0000"/>
                  </a:solidFill>
                </a:rPr>
                <a:t>)</a:t>
              </a:r>
              <a:endParaRPr lang="en-US">
                <a:solidFill>
                  <a:srgbClr val="FF0000"/>
                </a:solidFill>
              </a:endParaRPr>
            </a:p>
          </p:txBody>
        </p:sp>
      </p:grpSp>
      <p:sp>
        <p:nvSpPr>
          <p:cNvPr id="19" name="TextBox 18">
            <a:extLst>
              <a:ext uri="{FF2B5EF4-FFF2-40B4-BE49-F238E27FC236}">
                <a16:creationId xmlns:a16="http://schemas.microsoft.com/office/drawing/2014/main" id="{348CBE01-E0BE-5710-25FB-DD956BED99B1}"/>
              </a:ext>
            </a:extLst>
          </p:cNvPr>
          <p:cNvSpPr txBox="1"/>
          <p:nvPr/>
        </p:nvSpPr>
        <p:spPr>
          <a:xfrm>
            <a:off x="6500486" y="5743376"/>
            <a:ext cx="539750" cy="369332"/>
          </a:xfrm>
          <a:prstGeom prst="rect">
            <a:avLst/>
          </a:prstGeom>
          <a:noFill/>
        </p:spPr>
        <p:txBody>
          <a:bodyPr wrap="square">
            <a:spAutoFit/>
          </a:bodyPr>
          <a:lstStyle/>
          <a:p>
            <a:r>
              <a:rPr lang="en-US" sz="1800" b="1"/>
              <a:t>(</a:t>
            </a:r>
            <a:r>
              <a:rPr lang="en-US" b="1"/>
              <a:t>2</a:t>
            </a:r>
            <a:r>
              <a:rPr lang="en-US" sz="1800" b="1"/>
              <a:t>)</a:t>
            </a:r>
            <a:endParaRPr lang="en-US"/>
          </a:p>
        </p:txBody>
      </p:sp>
      <p:pic>
        <p:nvPicPr>
          <p:cNvPr id="1026" name="Picture 2" descr="Li-ion Voltage Analysis">
            <a:extLst>
              <a:ext uri="{FF2B5EF4-FFF2-40B4-BE49-F238E27FC236}">
                <a16:creationId xmlns:a16="http://schemas.microsoft.com/office/drawing/2014/main" id="{815B7CC9-7D41-E5F0-03D8-2F29FF0812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69" y="583186"/>
            <a:ext cx="2665973" cy="1870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777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9EADA-02F8-5847-F017-37991CF47047}"/>
              </a:ext>
            </a:extLst>
          </p:cNvPr>
          <p:cNvSpPr>
            <a:spLocks noGrp="1"/>
          </p:cNvSpPr>
          <p:nvPr>
            <p:ph type="title"/>
          </p:nvPr>
        </p:nvSpPr>
        <p:spPr/>
        <p:txBody>
          <a:bodyPr/>
          <a:lstStyle/>
          <a:p>
            <a:r>
              <a:rPr lang="en-US" b="1"/>
              <a:t>Lab Report #1 Guidance</a:t>
            </a:r>
          </a:p>
        </p:txBody>
      </p:sp>
      <p:sp>
        <p:nvSpPr>
          <p:cNvPr id="3" name="Content Placeholder 2">
            <a:extLst>
              <a:ext uri="{FF2B5EF4-FFF2-40B4-BE49-F238E27FC236}">
                <a16:creationId xmlns:a16="http://schemas.microsoft.com/office/drawing/2014/main" id="{D89B9D66-E144-AAC5-D572-975EA3A728F9}"/>
              </a:ext>
            </a:extLst>
          </p:cNvPr>
          <p:cNvSpPr>
            <a:spLocks noGrp="1"/>
          </p:cNvSpPr>
          <p:nvPr>
            <p:ph idx="1"/>
          </p:nvPr>
        </p:nvSpPr>
        <p:spPr>
          <a:xfrm>
            <a:off x="1066990" y="894080"/>
            <a:ext cx="7886700" cy="5394959"/>
          </a:xfrm>
        </p:spPr>
        <p:txBody>
          <a:bodyPr>
            <a:normAutofit fontScale="92500" lnSpcReduction="10000"/>
          </a:bodyPr>
          <a:lstStyle/>
          <a:p>
            <a:pPr marL="0" indent="0">
              <a:buNone/>
            </a:pPr>
            <a:r>
              <a:rPr lang="en-US" sz="2000" dirty="0"/>
              <a:t>The turn-in for this lab is a formal lab report. Reference the DFAS Writing Guide of Teams and the Astro 331 Lab Template here:</a:t>
            </a:r>
          </a:p>
          <a:p>
            <a:pPr marL="0" indent="0">
              <a:buNone/>
            </a:pPr>
            <a:endParaRPr lang="en-US" sz="2000" dirty="0"/>
          </a:p>
          <a:p>
            <a:pPr marL="0" indent="0" algn="ctr">
              <a:buNone/>
            </a:pPr>
            <a:r>
              <a:rPr lang="en-US" sz="2000" dirty="0">
                <a:hlinkClick r:id="rId2"/>
              </a:rPr>
              <a:t>https://www.overleaf.com/read/dpkvjmphdmwt#dfdc56</a:t>
            </a:r>
            <a:r>
              <a:rPr lang="en-US" sz="2000" dirty="0"/>
              <a:t> </a:t>
            </a:r>
          </a:p>
          <a:p>
            <a:pPr marL="0" indent="0" algn="ctr">
              <a:buNone/>
            </a:pPr>
            <a:endParaRPr lang="en-US" sz="2000" dirty="0"/>
          </a:p>
          <a:p>
            <a:r>
              <a:rPr lang="en-US" sz="2000" dirty="0"/>
              <a:t>For the Theory and Theoretical Predictions sections, use your Prelab content. </a:t>
            </a:r>
          </a:p>
          <a:p>
            <a:r>
              <a:rPr lang="en-US" sz="2000" dirty="0"/>
              <a:t>Be sure to include the following in your Experimental Results and Discussion sections:</a:t>
            </a:r>
          </a:p>
          <a:p>
            <a:pPr marL="457200" indent="-457200">
              <a:buAutoNum type="arabicParenBoth"/>
            </a:pPr>
            <a:r>
              <a:rPr lang="en-US" sz="2000" dirty="0"/>
              <a:t>Clean plots of IV data for Serial and Parallel. Discussion of data. Compare to expected from datasheet. Identify the open-circuit voltage, short-circuit current, and peak power point on your plot. Make sure that you have title and axis labels with units.</a:t>
            </a:r>
          </a:p>
          <a:p>
            <a:pPr marL="457200" indent="-457200">
              <a:buAutoNum type="arabicParenBoth"/>
            </a:pPr>
            <a:r>
              <a:rPr lang="en-US" sz="2000" dirty="0"/>
              <a:t>Plot of power (recall 𝑃 = 𝐼𝑉) for both serial and parallel. Analyze and discuss differences.</a:t>
            </a:r>
          </a:p>
          <a:p>
            <a:pPr marL="457200" indent="-457200">
              <a:buAutoNum type="arabicParenBoth"/>
            </a:pPr>
            <a:r>
              <a:rPr lang="en-US" sz="2000" dirty="0"/>
              <a:t>Using your measured peak power and measured incident illuminance collected with the luxmeter, calculate the measured efficiency of your solar array. </a:t>
            </a:r>
          </a:p>
        </p:txBody>
      </p:sp>
      <p:sp>
        <p:nvSpPr>
          <p:cNvPr id="4" name="Footer Placeholder 3">
            <a:extLst>
              <a:ext uri="{FF2B5EF4-FFF2-40B4-BE49-F238E27FC236}">
                <a16:creationId xmlns:a16="http://schemas.microsoft.com/office/drawing/2014/main" id="{6E7BCA3C-78A2-5C2F-8D54-248BFDD024B2}"/>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C2850670-004D-10B9-EBA0-0B0B2367E5DC}"/>
              </a:ext>
            </a:extLst>
          </p:cNvPr>
          <p:cNvSpPr>
            <a:spLocks noGrp="1"/>
          </p:cNvSpPr>
          <p:nvPr>
            <p:ph type="sldNum" sz="quarter" idx="12"/>
          </p:nvPr>
        </p:nvSpPr>
        <p:spPr/>
        <p:txBody>
          <a:bodyPr/>
          <a:lstStyle/>
          <a:p>
            <a:fld id="{9A3029B7-FE6B-4680-9049-80E8298A0825}" type="slidenum">
              <a:rPr lang="en-US" smtClean="0"/>
              <a:t>19</a:t>
            </a:fld>
            <a:endParaRPr lang="en-US"/>
          </a:p>
        </p:txBody>
      </p:sp>
      <p:sp>
        <p:nvSpPr>
          <p:cNvPr id="7" name="Content Placeholder 5">
            <a:extLst>
              <a:ext uri="{FF2B5EF4-FFF2-40B4-BE49-F238E27FC236}">
                <a16:creationId xmlns:a16="http://schemas.microsoft.com/office/drawing/2014/main" id="{E9806D2B-45C9-2A03-4E00-17D4CE12C221}"/>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dirty="0">
              <a:solidFill>
                <a:srgbClr val="0070C0"/>
              </a:solidFill>
            </a:endParaRPr>
          </a:p>
          <a:p>
            <a:pPr marL="0" indent="0">
              <a:buNone/>
            </a:pPr>
            <a:r>
              <a:rPr lang="en-US" sz="1200" dirty="0"/>
              <a:t>Intro</a:t>
            </a:r>
          </a:p>
          <a:p>
            <a:pPr marL="0" indent="0">
              <a:buNone/>
            </a:pPr>
            <a:r>
              <a:rPr lang="en-US" sz="1200" dirty="0"/>
              <a:t>Reference</a:t>
            </a:r>
          </a:p>
          <a:p>
            <a:pPr marL="0" indent="0">
              <a:buNone/>
            </a:pPr>
            <a:r>
              <a:rPr lang="en-US" sz="1200" dirty="0"/>
              <a:t>Prelab</a:t>
            </a:r>
          </a:p>
          <a:p>
            <a:pPr marL="0" indent="0">
              <a:buNone/>
            </a:pPr>
            <a:r>
              <a:rPr lang="en-US" sz="1200" dirty="0"/>
              <a:t>Task 0</a:t>
            </a:r>
          </a:p>
          <a:p>
            <a:pPr marL="0" indent="0">
              <a:buNone/>
            </a:pPr>
            <a:r>
              <a:rPr lang="en-US" sz="1200" dirty="0"/>
              <a:t>Task 1</a:t>
            </a:r>
          </a:p>
          <a:p>
            <a:pPr marL="0" indent="0">
              <a:buNone/>
            </a:pPr>
            <a:r>
              <a:rPr lang="en-US" sz="1200" dirty="0"/>
              <a:t>Task 2</a:t>
            </a:r>
          </a:p>
          <a:p>
            <a:pPr marL="0" indent="0">
              <a:buNone/>
            </a:pPr>
            <a:r>
              <a:rPr lang="en-US" sz="1200" dirty="0"/>
              <a:t>Task 3</a:t>
            </a:r>
          </a:p>
          <a:p>
            <a:pPr marL="0" indent="0">
              <a:buNone/>
            </a:pPr>
            <a:r>
              <a:rPr lang="en-US" sz="1200" b="1" dirty="0">
                <a:solidFill>
                  <a:srgbClr val="00B0F0"/>
                </a:solidFill>
              </a:rPr>
              <a:t>Turn-in </a:t>
            </a:r>
            <a:r>
              <a:rPr lang="en-US" sz="1200" b="1" dirty="0" err="1">
                <a:solidFill>
                  <a:srgbClr val="00B0F0"/>
                </a:solidFill>
              </a:rPr>
              <a:t>Reqt’s</a:t>
            </a:r>
            <a:endParaRPr lang="en-US" sz="1200" b="1" dirty="0">
              <a:solidFill>
                <a:srgbClr val="00B0F0"/>
              </a:solidFill>
            </a:endParaRPr>
          </a:p>
          <a:p>
            <a:pPr marL="0" indent="0">
              <a:buNone/>
            </a:pPr>
            <a:endParaRPr lang="en-US" sz="1200" dirty="0"/>
          </a:p>
        </p:txBody>
      </p:sp>
    </p:spTree>
    <p:extLst>
      <p:ext uri="{BB962C8B-B14F-4D97-AF65-F5344CB8AC3E}">
        <p14:creationId xmlns:p14="http://schemas.microsoft.com/office/powerpoint/2010/main" val="2741946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2">
            <a:lumMod val="90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FCD32B-F40F-D669-E6FA-99C67FB64AF9}"/>
              </a:ext>
            </a:extLst>
          </p:cNvPr>
          <p:cNvSpPr>
            <a:spLocks noGrp="1"/>
          </p:cNvSpPr>
          <p:nvPr>
            <p:ph type="title"/>
          </p:nvPr>
        </p:nvSpPr>
        <p:spPr>
          <a:xfrm>
            <a:off x="1157592" y="1530706"/>
            <a:ext cx="7352996" cy="2852737"/>
          </a:xfrm>
        </p:spPr>
        <p:txBody>
          <a:bodyPr/>
          <a:lstStyle/>
          <a:p>
            <a:r>
              <a:rPr lang="en-US" b="1"/>
              <a:t>Deprecated Slides</a:t>
            </a:r>
          </a:p>
        </p:txBody>
      </p:sp>
      <p:sp>
        <p:nvSpPr>
          <p:cNvPr id="7" name="Text Placeholder 6">
            <a:extLst>
              <a:ext uri="{FF2B5EF4-FFF2-40B4-BE49-F238E27FC236}">
                <a16:creationId xmlns:a16="http://schemas.microsoft.com/office/drawing/2014/main" id="{2D9C9206-B79B-6705-1136-85BFAF6778B9}"/>
              </a:ext>
            </a:extLst>
          </p:cNvPr>
          <p:cNvSpPr>
            <a:spLocks noGrp="1"/>
          </p:cNvSpPr>
          <p:nvPr>
            <p:ph type="body" idx="1"/>
          </p:nvPr>
        </p:nvSpPr>
        <p:spPr>
          <a:xfrm>
            <a:off x="1157590" y="4589464"/>
            <a:ext cx="7352997" cy="1500187"/>
          </a:xfrm>
        </p:spPr>
        <p:txBody>
          <a:bodyPr/>
          <a:lstStyle/>
          <a:p>
            <a:r>
              <a:rPr lang="en-US"/>
              <a:t>(For reference only)</a:t>
            </a:r>
          </a:p>
        </p:txBody>
      </p:sp>
      <p:sp>
        <p:nvSpPr>
          <p:cNvPr id="4" name="Footer Placeholder 3">
            <a:extLst>
              <a:ext uri="{FF2B5EF4-FFF2-40B4-BE49-F238E27FC236}">
                <a16:creationId xmlns:a16="http://schemas.microsoft.com/office/drawing/2014/main" id="{68C3D788-1464-B52F-DABB-83FD56F0ADBA}"/>
              </a:ext>
            </a:extLst>
          </p:cNvPr>
          <p:cNvSpPr>
            <a:spLocks noGrp="1"/>
          </p:cNvSpPr>
          <p:nvPr>
            <p:ph type="ftr" sz="quarter" idx="11"/>
          </p:nvPr>
        </p:nvSpPr>
        <p:spPr/>
        <p:txBody>
          <a:bodyPr/>
          <a:lstStyle/>
          <a:p>
            <a:r>
              <a:rPr lang="en-US"/>
              <a:t>Astro 331 Lab #2</a:t>
            </a:r>
          </a:p>
        </p:txBody>
      </p:sp>
      <p:sp>
        <p:nvSpPr>
          <p:cNvPr id="5" name="Slide Number Placeholder 4">
            <a:extLst>
              <a:ext uri="{FF2B5EF4-FFF2-40B4-BE49-F238E27FC236}">
                <a16:creationId xmlns:a16="http://schemas.microsoft.com/office/drawing/2014/main" id="{A1513149-A162-6147-E666-AB5183AB9B79}"/>
              </a:ext>
            </a:extLst>
          </p:cNvPr>
          <p:cNvSpPr>
            <a:spLocks noGrp="1"/>
          </p:cNvSpPr>
          <p:nvPr>
            <p:ph type="sldNum" sz="quarter" idx="12"/>
          </p:nvPr>
        </p:nvSpPr>
        <p:spPr/>
        <p:txBody>
          <a:bodyPr/>
          <a:lstStyle/>
          <a:p>
            <a:fld id="{9A3029B7-FE6B-4680-9049-80E8298A0825}" type="slidenum">
              <a:rPr lang="en-US" smtClean="0"/>
              <a:t>20</a:t>
            </a:fld>
            <a:endParaRPr lang="en-US"/>
          </a:p>
        </p:txBody>
      </p:sp>
    </p:spTree>
    <p:extLst>
      <p:ext uri="{BB962C8B-B14F-4D97-AF65-F5344CB8AC3E}">
        <p14:creationId xmlns:p14="http://schemas.microsoft.com/office/powerpoint/2010/main" val="3879203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2">
            <a:lumMod val="90000"/>
          </a:schemeClr>
        </a:solidFill>
        <a:effectLst/>
      </p:bgPr>
    </p:bg>
    <p:spTree>
      <p:nvGrpSpPr>
        <p:cNvPr id="1" name="">
          <a:extLst>
            <a:ext uri="{FF2B5EF4-FFF2-40B4-BE49-F238E27FC236}">
              <a16:creationId xmlns:a16="http://schemas.microsoft.com/office/drawing/2014/main" id="{94CDB2B8-B9D3-8D3E-1E1D-C31975B22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A92C5-77E5-37C8-D940-D96317C82640}"/>
              </a:ext>
            </a:extLst>
          </p:cNvPr>
          <p:cNvSpPr>
            <a:spLocks noGrp="1"/>
          </p:cNvSpPr>
          <p:nvPr>
            <p:ph type="title"/>
          </p:nvPr>
        </p:nvSpPr>
        <p:spPr/>
        <p:txBody>
          <a:bodyPr>
            <a:normAutofit/>
          </a:bodyPr>
          <a:lstStyle/>
          <a:p>
            <a:r>
              <a:rPr lang="en-US" sz="2800" b="1"/>
              <a:t>Reference – Adafruit INA219 Breakout</a:t>
            </a:r>
          </a:p>
        </p:txBody>
      </p:sp>
      <p:sp>
        <p:nvSpPr>
          <p:cNvPr id="3" name="Content Placeholder 2">
            <a:extLst>
              <a:ext uri="{FF2B5EF4-FFF2-40B4-BE49-F238E27FC236}">
                <a16:creationId xmlns:a16="http://schemas.microsoft.com/office/drawing/2014/main" id="{221DD99F-80A7-8BAF-5754-4B73670658BC}"/>
              </a:ext>
            </a:extLst>
          </p:cNvPr>
          <p:cNvSpPr>
            <a:spLocks noGrp="1"/>
          </p:cNvSpPr>
          <p:nvPr>
            <p:ph idx="1"/>
          </p:nvPr>
        </p:nvSpPr>
        <p:spPr>
          <a:xfrm>
            <a:off x="1106340" y="1002506"/>
            <a:ext cx="4080059" cy="4872777"/>
          </a:xfrm>
        </p:spPr>
        <p:txBody>
          <a:bodyPr>
            <a:normAutofit/>
          </a:bodyPr>
          <a:lstStyle/>
          <a:p>
            <a:pPr marL="0" indent="0">
              <a:buNone/>
            </a:pPr>
            <a:r>
              <a:rPr lang="en-US" sz="1600"/>
              <a:t>The </a:t>
            </a:r>
            <a:r>
              <a:rPr lang="en-US" sz="1600" b="1"/>
              <a:t>Adafruit INA219 Breakout</a:t>
            </a:r>
            <a:r>
              <a:rPr lang="en-US" sz="1600"/>
              <a:t> is used in this lab to measure voltage and current of your solar array. </a:t>
            </a:r>
          </a:p>
          <a:p>
            <a:r>
              <a:rPr lang="en-US" sz="1600"/>
              <a:t>Built around the </a:t>
            </a:r>
            <a:r>
              <a:rPr lang="en-US" sz="1600" b="1">
                <a:hlinkClick r:id="rId2"/>
              </a:rPr>
              <a:t>Texas Instruments INA219</a:t>
            </a:r>
            <a:r>
              <a:rPr lang="en-US" sz="1600">
                <a:hlinkClick r:id="rId2"/>
              </a:rPr>
              <a:t> </a:t>
            </a:r>
            <a:r>
              <a:rPr lang="en-US" sz="1600"/>
              <a:t>chip.</a:t>
            </a:r>
          </a:p>
          <a:p>
            <a:r>
              <a:rPr lang="en-US" sz="1600"/>
              <a:t>Replaces two multimeters: this chip measures both high side voltage and DC current draw with 1% precision. </a:t>
            </a:r>
          </a:p>
          <a:p>
            <a:r>
              <a:rPr lang="en-US" sz="1600"/>
              <a:t>Uses </a:t>
            </a:r>
            <a:r>
              <a:rPr lang="en-US" sz="1600" b="1"/>
              <a:t>I</a:t>
            </a:r>
            <a:r>
              <a:rPr lang="en-US" sz="1600" b="1" baseline="30000"/>
              <a:t>2</a:t>
            </a:r>
            <a:r>
              <a:rPr lang="en-US" sz="1600" b="1"/>
              <a:t>C communication </a:t>
            </a:r>
            <a:r>
              <a:rPr lang="en-US" sz="1600"/>
              <a:t>with host MCU.</a:t>
            </a:r>
          </a:p>
          <a:p>
            <a:r>
              <a:rPr lang="en-US" sz="1600"/>
              <a:t>Specs:</a:t>
            </a:r>
          </a:p>
          <a:p>
            <a:pPr lvl="1"/>
            <a:r>
              <a:rPr lang="en-US" sz="1600"/>
              <a:t>Up to +26V target voltage</a:t>
            </a:r>
          </a:p>
          <a:p>
            <a:pPr lvl="1"/>
            <a:r>
              <a:rPr lang="en-US" sz="1600"/>
              <a:t>Up to ±3.2A current measurement, with ±0.8mA resolution</a:t>
            </a:r>
          </a:p>
          <a:p>
            <a:pPr marL="457200" lvl="1" indent="0">
              <a:buNone/>
            </a:pPr>
            <a:endParaRPr lang="en-US" sz="1600"/>
          </a:p>
          <a:p>
            <a:r>
              <a:rPr lang="en-US" sz="1600" b="1">
                <a:hlinkClick r:id="rId3"/>
              </a:rPr>
              <a:t>Product page</a:t>
            </a:r>
            <a:endParaRPr lang="en-US" sz="1600" b="1"/>
          </a:p>
          <a:p>
            <a:r>
              <a:rPr lang="en-US" sz="1600" b="1">
                <a:hlinkClick r:id="rId4"/>
              </a:rPr>
              <a:t>Adafruit Tutorial</a:t>
            </a:r>
            <a:endParaRPr lang="en-US" sz="1600" b="1"/>
          </a:p>
        </p:txBody>
      </p:sp>
      <p:sp>
        <p:nvSpPr>
          <p:cNvPr id="4" name="Footer Placeholder 3">
            <a:extLst>
              <a:ext uri="{FF2B5EF4-FFF2-40B4-BE49-F238E27FC236}">
                <a16:creationId xmlns:a16="http://schemas.microsoft.com/office/drawing/2014/main" id="{FB1F4D11-6F1E-BE41-6BE4-20327A661192}"/>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A4069DDB-8888-4728-5719-8E7A58D555DF}"/>
              </a:ext>
            </a:extLst>
          </p:cNvPr>
          <p:cNvSpPr>
            <a:spLocks noGrp="1"/>
          </p:cNvSpPr>
          <p:nvPr>
            <p:ph type="sldNum" sz="quarter" idx="12"/>
          </p:nvPr>
        </p:nvSpPr>
        <p:spPr/>
        <p:txBody>
          <a:bodyPr/>
          <a:lstStyle/>
          <a:p>
            <a:fld id="{9A3029B7-FE6B-4680-9049-80E8298A0825}" type="slidenum">
              <a:rPr lang="en-US" smtClean="0"/>
              <a:t>21</a:t>
            </a:fld>
            <a:endParaRPr lang="en-US"/>
          </a:p>
        </p:txBody>
      </p:sp>
      <p:pic>
        <p:nvPicPr>
          <p:cNvPr id="7" name="Picture 6">
            <a:extLst>
              <a:ext uri="{FF2B5EF4-FFF2-40B4-BE49-F238E27FC236}">
                <a16:creationId xmlns:a16="http://schemas.microsoft.com/office/drawing/2014/main" id="{D8CA4644-ADC3-421B-30DB-8BCDF4BA7749}"/>
              </a:ext>
            </a:extLst>
          </p:cNvPr>
          <p:cNvPicPr>
            <a:picLocks noChangeAspect="1"/>
          </p:cNvPicPr>
          <p:nvPr/>
        </p:nvPicPr>
        <p:blipFill>
          <a:blip r:embed="rId5"/>
          <a:stretch>
            <a:fillRect/>
          </a:stretch>
        </p:blipFill>
        <p:spPr>
          <a:xfrm>
            <a:off x="5246017" y="1002506"/>
            <a:ext cx="3707674" cy="3073719"/>
          </a:xfrm>
          <a:prstGeom prst="rect">
            <a:avLst/>
          </a:prstGeom>
        </p:spPr>
      </p:pic>
      <p:pic>
        <p:nvPicPr>
          <p:cNvPr id="8" name="Picture 7">
            <a:extLst>
              <a:ext uri="{FF2B5EF4-FFF2-40B4-BE49-F238E27FC236}">
                <a16:creationId xmlns:a16="http://schemas.microsoft.com/office/drawing/2014/main" id="{9501DCE5-40ED-BBB1-6AA8-14CA19D13F0C}"/>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4377808" y="4340772"/>
            <a:ext cx="4714689" cy="2124334"/>
          </a:xfrm>
          <a:prstGeom prst="rect">
            <a:avLst/>
          </a:prstGeom>
        </p:spPr>
      </p:pic>
      <p:sp>
        <p:nvSpPr>
          <p:cNvPr id="6" name="Content Placeholder 5">
            <a:extLst>
              <a:ext uri="{FF2B5EF4-FFF2-40B4-BE49-F238E27FC236}">
                <a16:creationId xmlns:a16="http://schemas.microsoft.com/office/drawing/2014/main" id="{03278376-1C58-A335-3545-E0578D291CE7}"/>
              </a:ext>
            </a:extLst>
          </p:cNvPr>
          <p:cNvSpPr txBox="1">
            <a:spLocks/>
          </p:cNvSpPr>
          <p:nvPr/>
        </p:nvSpPr>
        <p:spPr>
          <a:xfrm>
            <a:off x="46366" y="1130060"/>
            <a:ext cx="917636"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KestrelSAT</a:t>
            </a:r>
          </a:p>
          <a:p>
            <a:pPr marL="0" indent="0">
              <a:buNone/>
            </a:pPr>
            <a:r>
              <a:rPr lang="en-US" sz="1200"/>
              <a:t>Prelab</a:t>
            </a:r>
          </a:p>
          <a:p>
            <a:pPr marL="0" indent="0">
              <a:buNone/>
            </a:pPr>
            <a:r>
              <a:rPr lang="en-US" sz="1200" b="1">
                <a:solidFill>
                  <a:srgbClr val="00B0F0"/>
                </a:solidFill>
              </a:rPr>
              <a:t>Reference</a:t>
            </a:r>
          </a:p>
          <a:p>
            <a:pPr marL="0" indent="0">
              <a:buNone/>
            </a:pPr>
            <a:r>
              <a:rPr lang="en-US" sz="1200"/>
              <a:t>Task 0</a:t>
            </a:r>
          </a:p>
          <a:p>
            <a:pPr marL="0" indent="0">
              <a:buNone/>
            </a:pPr>
            <a:r>
              <a:rPr lang="en-US" sz="1200"/>
              <a:t>Task 1</a:t>
            </a:r>
          </a:p>
          <a:p>
            <a:pPr marL="0" indent="0">
              <a:buNone/>
            </a:pPr>
            <a:r>
              <a:rPr lang="en-US" sz="1200"/>
              <a:t>Task 2</a:t>
            </a:r>
          </a:p>
          <a:p>
            <a:pPr marL="0" indent="0">
              <a:buNone/>
            </a:pPr>
            <a:r>
              <a:rPr lang="en-US" sz="1200"/>
              <a:t>Task 3</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851412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29EF-FFCD-2D2B-A0A8-627F861A5992}"/>
              </a:ext>
            </a:extLst>
          </p:cNvPr>
          <p:cNvSpPr>
            <a:spLocks noGrp="1"/>
          </p:cNvSpPr>
          <p:nvPr>
            <p:ph type="title"/>
          </p:nvPr>
        </p:nvSpPr>
        <p:spPr/>
        <p:txBody>
          <a:bodyPr/>
          <a:lstStyle/>
          <a:p>
            <a:r>
              <a:rPr lang="en-US" b="1"/>
              <a:t>Task 2 – Upload and Test Code</a:t>
            </a:r>
          </a:p>
        </p:txBody>
      </p:sp>
      <p:sp>
        <p:nvSpPr>
          <p:cNvPr id="3" name="Content Placeholder 2">
            <a:extLst>
              <a:ext uri="{FF2B5EF4-FFF2-40B4-BE49-F238E27FC236}">
                <a16:creationId xmlns:a16="http://schemas.microsoft.com/office/drawing/2014/main" id="{6D7FA812-D4C1-CA11-891A-196AC60EBFB6}"/>
              </a:ext>
            </a:extLst>
          </p:cNvPr>
          <p:cNvSpPr>
            <a:spLocks noGrp="1"/>
          </p:cNvSpPr>
          <p:nvPr>
            <p:ph idx="1"/>
          </p:nvPr>
        </p:nvSpPr>
        <p:spPr>
          <a:xfrm>
            <a:off x="1106340" y="1002506"/>
            <a:ext cx="7886700" cy="3340893"/>
          </a:xfrm>
        </p:spPr>
        <p:txBody>
          <a:bodyPr>
            <a:normAutofit fontScale="77500" lnSpcReduction="20000"/>
          </a:bodyPr>
          <a:lstStyle/>
          <a:p>
            <a:pPr marL="457200" indent="-457200">
              <a:buAutoNum type="arabicParenBoth"/>
            </a:pPr>
            <a:r>
              <a:rPr lang="en-US" sz="2000"/>
              <a:t>Open </a:t>
            </a:r>
            <a:r>
              <a:rPr lang="en-US" sz="2000" b="1">
                <a:solidFill>
                  <a:srgbClr val="00B0F0"/>
                </a:solidFill>
              </a:rPr>
              <a:t>Astro331_Lab3_Code.ino</a:t>
            </a:r>
            <a:r>
              <a:rPr lang="en-US" sz="2000"/>
              <a:t> in the Arduino IDE. </a:t>
            </a:r>
          </a:p>
          <a:p>
            <a:pPr marL="457200" indent="-457200">
              <a:buAutoNum type="arabicParenBoth"/>
            </a:pPr>
            <a:r>
              <a:rPr lang="en-US" sz="2000"/>
              <a:t>Connect </a:t>
            </a:r>
            <a:r>
              <a:rPr lang="en-US" sz="2000" err="1"/>
              <a:t>KestrelSAT’s</a:t>
            </a:r>
            <a:r>
              <a:rPr lang="en-US" sz="2000"/>
              <a:t> Raspberry Pi Pico to your computer via USB. </a:t>
            </a:r>
          </a:p>
          <a:p>
            <a:pPr marL="457200" indent="-457200">
              <a:buAutoNum type="arabicParenBoth"/>
            </a:pPr>
            <a:r>
              <a:rPr lang="en-US" sz="2000"/>
              <a:t>Select the correct board (Raspberry Pi Pico) and port. </a:t>
            </a:r>
          </a:p>
          <a:p>
            <a:pPr marL="457200" indent="-457200">
              <a:buAutoNum type="arabicParenBoth"/>
            </a:pPr>
            <a:r>
              <a:rPr lang="en-US" sz="2000"/>
              <a:t>Upload your code. </a:t>
            </a:r>
          </a:p>
          <a:p>
            <a:pPr marL="457200" indent="-457200">
              <a:buAutoNum type="arabicParenBoth"/>
            </a:pPr>
            <a:r>
              <a:rPr lang="en-US" sz="2000"/>
              <a:t>Open serial monitor.</a:t>
            </a:r>
          </a:p>
          <a:p>
            <a:pPr marL="457200" indent="-457200">
              <a:buAutoNum type="arabicParenBoth"/>
            </a:pPr>
            <a:r>
              <a:rPr lang="en-US" sz="2000"/>
              <a:t>Send ‘S’ to start a test run.</a:t>
            </a:r>
          </a:p>
          <a:p>
            <a:pPr marL="457200" indent="-457200">
              <a:buAutoNum type="arabicParenBoth"/>
            </a:pPr>
            <a:r>
              <a:rPr lang="en-US" sz="2000"/>
              <a:t>Use the Serial Plotter to observe the INA219 current and voltage data from your solar array.</a:t>
            </a:r>
          </a:p>
          <a:p>
            <a:pPr marL="457200" indent="-457200">
              <a:buAutoNum type="arabicParenBoth"/>
            </a:pPr>
            <a:r>
              <a:rPr lang="en-US" sz="2000"/>
              <a:t>Confirm the data changes as you rotate the potentiometer.</a:t>
            </a:r>
          </a:p>
          <a:p>
            <a:pPr marL="457200" indent="-457200">
              <a:buAutoNum type="arabicParenBoth"/>
            </a:pPr>
            <a:r>
              <a:rPr lang="en-US" sz="2000"/>
              <a:t>Stop the test by sending ‘X’ in the Serial monitor. </a:t>
            </a:r>
          </a:p>
          <a:p>
            <a:pPr marL="457200" indent="-457200">
              <a:buAutoNum type="arabicParenBoth"/>
            </a:pPr>
            <a:r>
              <a:rPr lang="en-US" sz="2000"/>
              <a:t>Send ‘P’ and select the file for the test you just ran. Confirm the .csv data looks good.</a:t>
            </a:r>
          </a:p>
          <a:p>
            <a:pPr marL="457200" indent="-457200">
              <a:buAutoNum type="arabicParenBoth"/>
            </a:pPr>
            <a:endParaRPr lang="en-US" sz="2000"/>
          </a:p>
        </p:txBody>
      </p:sp>
      <p:sp>
        <p:nvSpPr>
          <p:cNvPr id="4" name="Footer Placeholder 3">
            <a:extLst>
              <a:ext uri="{FF2B5EF4-FFF2-40B4-BE49-F238E27FC236}">
                <a16:creationId xmlns:a16="http://schemas.microsoft.com/office/drawing/2014/main" id="{F10B96B6-6909-F649-8BA4-D705FF50FC79}"/>
              </a:ext>
            </a:extLst>
          </p:cNvPr>
          <p:cNvSpPr>
            <a:spLocks noGrp="1"/>
          </p:cNvSpPr>
          <p:nvPr>
            <p:ph type="ftr" sz="quarter" idx="11"/>
          </p:nvPr>
        </p:nvSpPr>
        <p:spPr/>
        <p:txBody>
          <a:bodyPr/>
          <a:lstStyle/>
          <a:p>
            <a:r>
              <a:rPr lang="en-US"/>
              <a:t>Astro 331 Lab #3</a:t>
            </a:r>
          </a:p>
        </p:txBody>
      </p:sp>
      <p:sp>
        <p:nvSpPr>
          <p:cNvPr id="5" name="Slide Number Placeholder 4">
            <a:extLst>
              <a:ext uri="{FF2B5EF4-FFF2-40B4-BE49-F238E27FC236}">
                <a16:creationId xmlns:a16="http://schemas.microsoft.com/office/drawing/2014/main" id="{6D8FC424-8B3B-6C09-E723-C4A6FB85B227}"/>
              </a:ext>
            </a:extLst>
          </p:cNvPr>
          <p:cNvSpPr>
            <a:spLocks noGrp="1"/>
          </p:cNvSpPr>
          <p:nvPr>
            <p:ph type="sldNum" sz="quarter" idx="12"/>
          </p:nvPr>
        </p:nvSpPr>
        <p:spPr/>
        <p:txBody>
          <a:bodyPr/>
          <a:lstStyle/>
          <a:p>
            <a:fld id="{9A3029B7-FE6B-4680-9049-80E8298A0825}" type="slidenum">
              <a:rPr lang="en-US" smtClean="0"/>
              <a:t>22</a:t>
            </a:fld>
            <a:endParaRPr lang="en-US"/>
          </a:p>
        </p:txBody>
      </p:sp>
      <p:pic>
        <p:nvPicPr>
          <p:cNvPr id="7" name="Picture 6">
            <a:extLst>
              <a:ext uri="{FF2B5EF4-FFF2-40B4-BE49-F238E27FC236}">
                <a16:creationId xmlns:a16="http://schemas.microsoft.com/office/drawing/2014/main" id="{B0EB852D-88E8-B8BF-63B0-BC3F156F0095}"/>
              </a:ext>
            </a:extLst>
          </p:cNvPr>
          <p:cNvPicPr>
            <a:picLocks noChangeAspect="1"/>
          </p:cNvPicPr>
          <p:nvPr/>
        </p:nvPicPr>
        <p:blipFill>
          <a:blip r:embed="rId3"/>
          <a:stretch>
            <a:fillRect/>
          </a:stretch>
        </p:blipFill>
        <p:spPr>
          <a:xfrm>
            <a:off x="2719125" y="4250122"/>
            <a:ext cx="3705749" cy="2214984"/>
          </a:xfrm>
          <a:prstGeom prst="rect">
            <a:avLst/>
          </a:prstGeom>
        </p:spPr>
      </p:pic>
      <p:sp>
        <p:nvSpPr>
          <p:cNvPr id="8" name="Content Placeholder 5">
            <a:extLst>
              <a:ext uri="{FF2B5EF4-FFF2-40B4-BE49-F238E27FC236}">
                <a16:creationId xmlns:a16="http://schemas.microsoft.com/office/drawing/2014/main" id="{EB3BD51A-B8D5-4D09-D2ED-03CDE0A49D29}"/>
              </a:ext>
            </a:extLst>
          </p:cNvPr>
          <p:cNvSpPr txBox="1">
            <a:spLocks/>
          </p:cNvSpPr>
          <p:nvPr/>
        </p:nvSpPr>
        <p:spPr>
          <a:xfrm>
            <a:off x="46365" y="1130060"/>
            <a:ext cx="1020625" cy="49826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200" b="1">
              <a:solidFill>
                <a:srgbClr val="0070C0"/>
              </a:solidFill>
            </a:endParaRPr>
          </a:p>
          <a:p>
            <a:pPr marL="0" indent="0">
              <a:buNone/>
            </a:pPr>
            <a:r>
              <a:rPr lang="en-US" sz="1200"/>
              <a:t>Intro</a:t>
            </a:r>
          </a:p>
          <a:p>
            <a:pPr marL="0" indent="0">
              <a:buNone/>
            </a:pPr>
            <a:r>
              <a:rPr lang="en-US" sz="1200"/>
              <a:t>Reference</a:t>
            </a:r>
          </a:p>
          <a:p>
            <a:pPr marL="0" indent="0">
              <a:buNone/>
            </a:pPr>
            <a:r>
              <a:rPr lang="en-US" sz="1200"/>
              <a:t>Prelab</a:t>
            </a:r>
          </a:p>
          <a:p>
            <a:pPr marL="0" indent="0">
              <a:buNone/>
            </a:pPr>
            <a:r>
              <a:rPr lang="en-US" sz="1200"/>
              <a:t>Task 0</a:t>
            </a:r>
          </a:p>
          <a:p>
            <a:pPr marL="0" indent="0">
              <a:buNone/>
            </a:pPr>
            <a:r>
              <a:rPr lang="en-US" sz="1200"/>
              <a:t>Task 1</a:t>
            </a:r>
          </a:p>
          <a:p>
            <a:pPr marL="0" indent="0">
              <a:buNone/>
            </a:pPr>
            <a:r>
              <a:rPr lang="en-US" sz="1200" b="1">
                <a:solidFill>
                  <a:srgbClr val="00B0F0"/>
                </a:solidFill>
              </a:rPr>
              <a:t>Task 2</a:t>
            </a:r>
          </a:p>
          <a:p>
            <a:pPr marL="0" indent="0">
              <a:buNone/>
            </a:pPr>
            <a:r>
              <a:rPr lang="en-US" sz="1200"/>
              <a:t>Task 3</a:t>
            </a:r>
          </a:p>
          <a:p>
            <a:pPr marL="0" indent="0">
              <a:buNone/>
            </a:pPr>
            <a:r>
              <a:rPr lang="en-US" sz="1200"/>
              <a:t>Turn-in </a:t>
            </a:r>
            <a:r>
              <a:rPr lang="en-US" sz="1200" err="1"/>
              <a:t>Reqt’s</a:t>
            </a:r>
            <a:endParaRPr lang="en-US" sz="1200"/>
          </a:p>
          <a:p>
            <a:pPr marL="0" indent="0">
              <a:buNone/>
            </a:pPr>
            <a:endParaRPr lang="en-US" sz="1200"/>
          </a:p>
        </p:txBody>
      </p:sp>
    </p:spTree>
    <p:extLst>
      <p:ext uri="{BB962C8B-B14F-4D97-AF65-F5344CB8AC3E}">
        <p14:creationId xmlns:p14="http://schemas.microsoft.com/office/powerpoint/2010/main" val="17498030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6C5F8C-A04D-4909-A5FB-48829468ED22}">
  <ds:schemaRefs>
    <ds:schemaRef ds:uri="http://schemas.microsoft.com/sharepoint/v3/contenttype/forms"/>
  </ds:schemaRefs>
</ds:datastoreItem>
</file>

<file path=customXml/itemProps2.xml><?xml version="1.0" encoding="utf-8"?>
<ds:datastoreItem xmlns:ds="http://schemas.openxmlformats.org/officeDocument/2006/customXml" ds:itemID="{EC0B399D-FD0F-4979-9F35-94C66C16A1CA}">
  <ds:schemaRef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http://purl.org/dc/terms/"/>
    <ds:schemaRef ds:uri="http://purl.org/dc/elements/1.1/"/>
    <ds:schemaRef ds:uri="http://schemas.microsoft.com/office/infopath/2007/PartnerControls"/>
    <ds:schemaRef ds:uri="723aa48c-73f2-40da-86b1-f1ae286477fe"/>
    <ds:schemaRef ds:uri="7584c457-6b5a-4caa-be47-be979cbe6555"/>
    <ds:schemaRef ds:uri="http://schemas.microsoft.com/sharepoint/v3"/>
    <ds:schemaRef ds:uri="http://www.w3.org/XML/1998/namespace"/>
  </ds:schemaRefs>
</ds:datastoreItem>
</file>

<file path=customXml/itemProps3.xml><?xml version="1.0" encoding="utf-8"?>
<ds:datastoreItem xmlns:ds="http://schemas.openxmlformats.org/officeDocument/2006/customXml" ds:itemID="{F20662B0-3D26-47EC-AACD-F8CB191D4270}">
  <ds:schemaRefs>
    <ds:schemaRef ds:uri="723aa48c-73f2-40da-86b1-f1ae286477fe"/>
    <ds:schemaRef ds:uri="7584c457-6b5a-4caa-be47-be979cbe65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36</TotalTime>
  <Words>3589</Words>
  <Application>Microsoft Office PowerPoint</Application>
  <PresentationFormat>Letter Paper (8.5x11 in)</PresentationFormat>
  <Paragraphs>563</Paragraphs>
  <Slides>22</Slides>
  <Notes>7</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Cambria Math</vt:lpstr>
      <vt:lpstr>Open Sans</vt:lpstr>
      <vt:lpstr>Segoe UI</vt:lpstr>
      <vt:lpstr>Wingdings</vt:lpstr>
      <vt:lpstr>Office Theme</vt:lpstr>
      <vt:lpstr>Lab #3</vt:lpstr>
      <vt:lpstr>Intro</vt:lpstr>
      <vt:lpstr>KestrelSAT Overview</vt:lpstr>
      <vt:lpstr>KestrelSAT MCU: ESP32 WROOM </vt:lpstr>
      <vt:lpstr>ESP32 Thing Plus Pinout Diagram</vt:lpstr>
      <vt:lpstr>KestrelSAT Solar Panel Reference</vt:lpstr>
      <vt:lpstr>Reference – Voltage Divider</vt:lpstr>
      <vt:lpstr>Reference – Potentiometer </vt:lpstr>
      <vt:lpstr>Reference – I2C Communication Bus &amp; STEMMA QT</vt:lpstr>
      <vt:lpstr>Reference – Adafruit INA238 Breakout</vt:lpstr>
      <vt:lpstr>Prelab Data Collection</vt:lpstr>
      <vt:lpstr>Prelab Tasks</vt:lpstr>
      <vt:lpstr>Task 0A – Install VS Code + Platform IO</vt:lpstr>
      <vt:lpstr>Task 0B – Setup</vt:lpstr>
      <vt:lpstr>Task 1— Connect the INA238 Breakout</vt:lpstr>
      <vt:lpstr>Task 2 – Collect IV Data with INA238</vt:lpstr>
      <vt:lpstr>Task 2 (cont) – Saving IV Data</vt:lpstr>
      <vt:lpstr>Task 3 – Finish Setting Up KestrelSAT EPS</vt:lpstr>
      <vt:lpstr>Lab Report #1 Guidance</vt:lpstr>
      <vt:lpstr>Deprecated Slides</vt:lpstr>
      <vt:lpstr>Reference – Adafruit INA219 Breakout</vt:lpstr>
      <vt:lpstr>Task 2 – Upload and Test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Firth, Jordan A Lt Col USAF USAFA DF/DFAS</cp:lastModifiedBy>
  <cp:revision>3</cp:revision>
  <cp:lastPrinted>2026-04-28T18:08:20Z</cp:lastPrinted>
  <dcterms:created xsi:type="dcterms:W3CDTF">2025-07-17T17:53:42Z</dcterms:created>
  <dcterms:modified xsi:type="dcterms:W3CDTF">2026-04-28T18:14:42Z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