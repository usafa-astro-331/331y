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62" r:id="rId7"/>
    <p:sldId id="258" r:id="rId8"/>
    <p:sldId id="260" r:id="rId9"/>
    <p:sldId id="263" r:id="rId10"/>
    <p:sldId id="259" r:id="rId11"/>
    <p:sldId id="261" r:id="rId12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524F7B-65E7-4F37-ADAF-A7CFE579C7F1}" v="4" dt="2026-01-15T20:12:39.9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005" autoAdjust="0"/>
  </p:normalViewPr>
  <p:slideViewPr>
    <p:cSldViewPr snapToGrid="0">
      <p:cViewPr varScale="1">
        <p:scale>
          <a:sx n="98" d="100"/>
          <a:sy n="98" d="100"/>
        </p:scale>
        <p:origin x="12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is, Wyatt J Lt Col USAF USAFA DF/DFAS" userId="768bfb95-c272-4014-8fa2-010c15306053" providerId="ADAL" clId="{E18DAD13-4A53-44B8-9F3F-46E167733190}"/>
    <pc:docChg chg="undo custSel addSld modSld sldOrd modMainMaster">
      <pc:chgData name="Harris, Wyatt J Lt Col USAF USAFA DF/DFAS" userId="768bfb95-c272-4014-8fa2-010c15306053" providerId="ADAL" clId="{E18DAD13-4A53-44B8-9F3F-46E167733190}" dt="2026-01-15T20:12:39.925" v="108"/>
      <pc:docMkLst>
        <pc:docMk/>
      </pc:docMkLst>
      <pc:sldChg chg="modSp mod ord setBg">
        <pc:chgData name="Harris, Wyatt J Lt Col USAF USAFA DF/DFAS" userId="768bfb95-c272-4014-8fa2-010c15306053" providerId="ADAL" clId="{E18DAD13-4A53-44B8-9F3F-46E167733190}" dt="2026-01-15T20:12:22.906" v="106"/>
        <pc:sldMkLst>
          <pc:docMk/>
          <pc:sldMk cId="3381182170" sldId="259"/>
        </pc:sldMkLst>
        <pc:picChg chg="mod">
          <ac:chgData name="Harris, Wyatt J Lt Col USAF USAFA DF/DFAS" userId="768bfb95-c272-4014-8fa2-010c15306053" providerId="ADAL" clId="{E18DAD13-4A53-44B8-9F3F-46E167733190}" dt="2026-01-15T20:12:22.906" v="106"/>
          <ac:picMkLst>
            <pc:docMk/>
            <pc:sldMk cId="3381182170" sldId="259"/>
            <ac:picMk id="11" creationId="{3D90D960-B677-EDB6-7929-F793427DF17A}"/>
          </ac:picMkLst>
        </pc:picChg>
      </pc:sldChg>
      <pc:sldChg chg="modSp mod">
        <pc:chgData name="Harris, Wyatt J Lt Col USAF USAFA DF/DFAS" userId="768bfb95-c272-4014-8fa2-010c15306053" providerId="ADAL" clId="{E18DAD13-4A53-44B8-9F3F-46E167733190}" dt="2026-01-15T20:10:03.788" v="87" actId="20577"/>
        <pc:sldMkLst>
          <pc:docMk/>
          <pc:sldMk cId="2741946930" sldId="260"/>
        </pc:sldMkLst>
        <pc:spChg chg="mod">
          <ac:chgData name="Harris, Wyatt J Lt Col USAF USAFA DF/DFAS" userId="768bfb95-c272-4014-8fa2-010c15306053" providerId="ADAL" clId="{E18DAD13-4A53-44B8-9F3F-46E167733190}" dt="2026-01-15T20:10:03.788" v="87" actId="20577"/>
          <ac:spMkLst>
            <pc:docMk/>
            <pc:sldMk cId="2741946930" sldId="260"/>
            <ac:spMk id="3" creationId="{D89B9D66-E144-AAC5-D572-975EA3A728F9}"/>
          </ac:spMkLst>
        </pc:spChg>
      </pc:sldChg>
      <pc:sldChg chg="ord setBg">
        <pc:chgData name="Harris, Wyatt J Lt Col USAF USAFA DF/DFAS" userId="768bfb95-c272-4014-8fa2-010c15306053" providerId="ADAL" clId="{E18DAD13-4A53-44B8-9F3F-46E167733190}" dt="2026-01-15T20:12:32.188" v="107"/>
        <pc:sldMkLst>
          <pc:docMk/>
          <pc:sldMk cId="3406567706" sldId="261"/>
        </pc:sldMkLst>
      </pc:sldChg>
      <pc:sldChg chg="addSp delSp modSp new mod setBg modClrScheme chgLayout">
        <pc:chgData name="Harris, Wyatt J Lt Col USAF USAFA DF/DFAS" userId="768bfb95-c272-4014-8fa2-010c15306053" providerId="ADAL" clId="{E18DAD13-4A53-44B8-9F3F-46E167733190}" dt="2026-01-15T20:12:39.925" v="108"/>
        <pc:sldMkLst>
          <pc:docMk/>
          <pc:sldMk cId="3879203649" sldId="263"/>
        </pc:sldMkLst>
        <pc:spChg chg="del mod ord">
          <ac:chgData name="Harris, Wyatt J Lt Col USAF USAFA DF/DFAS" userId="768bfb95-c272-4014-8fa2-010c15306053" providerId="ADAL" clId="{E18DAD13-4A53-44B8-9F3F-46E167733190}" dt="2026-01-15T19:58:02.280" v="3" actId="700"/>
          <ac:spMkLst>
            <pc:docMk/>
            <pc:sldMk cId="3879203649" sldId="263"/>
            <ac:spMk id="2" creationId="{DC523F15-3F09-E1FB-67AC-01DCFD68469A}"/>
          </ac:spMkLst>
        </pc:spChg>
        <pc:spChg chg="del mod ord">
          <ac:chgData name="Harris, Wyatt J Lt Col USAF USAFA DF/DFAS" userId="768bfb95-c272-4014-8fa2-010c15306053" providerId="ADAL" clId="{E18DAD13-4A53-44B8-9F3F-46E167733190}" dt="2026-01-15T19:58:02.280" v="3" actId="700"/>
          <ac:spMkLst>
            <pc:docMk/>
            <pc:sldMk cId="3879203649" sldId="263"/>
            <ac:spMk id="3" creationId="{C6AB74C8-C409-BC39-30ED-7171B1365B7B}"/>
          </ac:spMkLst>
        </pc:spChg>
        <pc:spChg chg="mod ord">
          <ac:chgData name="Harris, Wyatt J Lt Col USAF USAFA DF/DFAS" userId="768bfb95-c272-4014-8fa2-010c15306053" providerId="ADAL" clId="{E18DAD13-4A53-44B8-9F3F-46E167733190}" dt="2026-01-15T19:58:02.280" v="3" actId="700"/>
          <ac:spMkLst>
            <pc:docMk/>
            <pc:sldMk cId="3879203649" sldId="263"/>
            <ac:spMk id="4" creationId="{68C3D788-1464-B52F-DABB-83FD56F0ADBA}"/>
          </ac:spMkLst>
        </pc:spChg>
        <pc:spChg chg="mod ord">
          <ac:chgData name="Harris, Wyatt J Lt Col USAF USAFA DF/DFAS" userId="768bfb95-c272-4014-8fa2-010c15306053" providerId="ADAL" clId="{E18DAD13-4A53-44B8-9F3F-46E167733190}" dt="2026-01-15T19:58:02.280" v="3" actId="700"/>
          <ac:spMkLst>
            <pc:docMk/>
            <pc:sldMk cId="3879203649" sldId="263"/>
            <ac:spMk id="5" creationId="{A1513149-A162-6147-E666-AB5183AB9B79}"/>
          </ac:spMkLst>
        </pc:spChg>
        <pc:spChg chg="add mod ord">
          <ac:chgData name="Harris, Wyatt J Lt Col USAF USAFA DF/DFAS" userId="768bfb95-c272-4014-8fa2-010c15306053" providerId="ADAL" clId="{E18DAD13-4A53-44B8-9F3F-46E167733190}" dt="2026-01-15T19:58:27.470" v="46" actId="113"/>
          <ac:spMkLst>
            <pc:docMk/>
            <pc:sldMk cId="3879203649" sldId="263"/>
            <ac:spMk id="6" creationId="{61FCD32B-F40F-D669-E6FA-99C67FB64AF9}"/>
          </ac:spMkLst>
        </pc:spChg>
        <pc:spChg chg="add mod ord">
          <ac:chgData name="Harris, Wyatt J Lt Col USAF USAFA DF/DFAS" userId="768bfb95-c272-4014-8fa2-010c15306053" providerId="ADAL" clId="{E18DAD13-4A53-44B8-9F3F-46E167733190}" dt="2026-01-15T19:58:22.581" v="45" actId="20577"/>
          <ac:spMkLst>
            <pc:docMk/>
            <pc:sldMk cId="3879203649" sldId="263"/>
            <ac:spMk id="7" creationId="{2D9C9206-B79B-6705-1136-85BFAF6778B9}"/>
          </ac:spMkLst>
        </pc:spChg>
      </pc:sldChg>
      <pc:sldMasterChg chg="modSp mod">
        <pc:chgData name="Harris, Wyatt J Lt Col USAF USAFA DF/DFAS" userId="768bfb95-c272-4014-8fa2-010c15306053" providerId="ADAL" clId="{E18DAD13-4A53-44B8-9F3F-46E167733190}" dt="2026-01-15T20:10:37.374" v="102" actId="313"/>
        <pc:sldMasterMkLst>
          <pc:docMk/>
          <pc:sldMasterMk cId="85601226" sldId="2147483660"/>
        </pc:sldMasterMkLst>
        <pc:spChg chg="mod">
          <ac:chgData name="Harris, Wyatt J Lt Col USAF USAFA DF/DFAS" userId="768bfb95-c272-4014-8fa2-010c15306053" providerId="ADAL" clId="{E18DAD13-4A53-44B8-9F3F-46E167733190}" dt="2026-01-15T20:10:37.374" v="102" actId="313"/>
          <ac:spMkLst>
            <pc:docMk/>
            <pc:sldMasterMk cId="85601226" sldId="2147483660"/>
            <ac:spMk id="8" creationId="{1B2918AF-A31D-A49D-520C-D6A347912BFA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61B999-8C79-A73D-BA6C-02E0B9B850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28CA79-4085-A524-0AE5-44E2EC8C7E4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9F729-5551-4C15-AB72-20C58B6935F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C55D73-434D-7D50-38BE-0D025E1835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0E1D0-C235-76EF-7085-AB88C135C1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F1CDB4-F3EC-47B1-92C5-EAF846040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1264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94D2EC29-5E9A-49E8-BC12-73FDF630574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9EB4C982-825B-414E-ABB9-79AB25139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21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5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4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31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89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47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04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63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68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https://www.sparkfun.com/sparkfun-breadboard-power-supply-5v-3-3v.html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265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5350" y="1144002"/>
            <a:ext cx="678899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781865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E600E-A67F-4D2A-8A36-552C1EFBE963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Astro 331 Lab #2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F1DE720-C36A-2EFC-0954-335249276F1A}"/>
              </a:ext>
            </a:extLst>
          </p:cNvPr>
          <p:cNvSpPr txBox="1">
            <a:spLocks/>
          </p:cNvSpPr>
          <p:nvPr userDrawn="1"/>
        </p:nvSpPr>
        <p:spPr>
          <a:xfrm>
            <a:off x="1028701" y="111639"/>
            <a:ext cx="7226780" cy="696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sz="4400" dirty="0"/>
              <a:t>USAFA ASTRO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FD864A1-DC7B-C6C8-87CB-D0D681030469}"/>
              </a:ext>
            </a:extLst>
          </p:cNvPr>
          <p:cNvSpPr txBox="1">
            <a:spLocks/>
          </p:cNvSpPr>
          <p:nvPr userDrawn="1"/>
        </p:nvSpPr>
        <p:spPr>
          <a:xfrm>
            <a:off x="1143000" y="6288282"/>
            <a:ext cx="6858000" cy="5012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i="1" dirty="0"/>
              <a:t>ASTRO 331 – Space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652688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D194C-E731-4CF3-8F14-16F2CEB9B5CF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Astro 331 Lab #2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0626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C6FCA-E440-4A17-8C6B-54B65BC400EF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0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F287-72CA-49D4-A601-3B9D2E83EA05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6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B2832-1105-4FA1-AD49-3D1761459FB9}" type="datetime1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7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F9A-2345-4D36-85FA-49730D271487}" type="datetime1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79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4DED-4E37-473F-AD62-970655F2D578}" type="datetime1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856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4D36-2BA6-4632-B283-5D3E851C5410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6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9CD72-2059-40BB-BF30-AF971560729B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3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0F733-755F-4A68-A044-3BB7487EA333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21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81D12-59AE-465C-A617-7D2534E388B9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29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991" y="136523"/>
            <a:ext cx="7886700" cy="652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40" y="1002507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634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D194C-E731-4CF3-8F14-16F2CEB9B5CF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50169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Astro 331 Lab #2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E8A6C5-C92C-8448-0311-8A5C323071D8}"/>
              </a:ext>
            </a:extLst>
          </p:cNvPr>
          <p:cNvSpPr/>
          <p:nvPr userDrawn="1"/>
        </p:nvSpPr>
        <p:spPr>
          <a:xfrm>
            <a:off x="0" y="0"/>
            <a:ext cx="1028700" cy="6858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2918AF-A31D-A49D-520C-D6A347912BFA}"/>
              </a:ext>
            </a:extLst>
          </p:cNvPr>
          <p:cNvSpPr txBox="1"/>
          <p:nvPr userDrawn="1"/>
        </p:nvSpPr>
        <p:spPr>
          <a:xfrm>
            <a:off x="7824158" y="72097"/>
            <a:ext cx="1261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2026 Spring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CFB5F7-9C45-8CB0-F5C4-6BF493EF4BCD}"/>
              </a:ext>
            </a:extLst>
          </p:cNvPr>
          <p:cNvSpPr/>
          <p:nvPr userDrawn="1"/>
        </p:nvSpPr>
        <p:spPr>
          <a:xfrm>
            <a:off x="1106340" y="815389"/>
            <a:ext cx="7991296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49DA28-CF7C-1CE3-C307-FC252DA9EBC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364" y="18574"/>
            <a:ext cx="864115" cy="97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-qk-ulz05J8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eHu_fGAyNY4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learn.sparkfun.com/tutorials/flashlight-ki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parkfun.com/sparkfun-breadboard-power-supply-5v-3-3v.html" TargetMode="Externa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0E2C4-BC94-2EEF-55E0-A1575A57F5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Lab #2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63E707-3906-1580-6A39-D3696F1203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Soldering</a:t>
            </a:r>
          </a:p>
        </p:txBody>
      </p:sp>
    </p:spTree>
    <p:extLst>
      <p:ext uri="{BB962C8B-B14F-4D97-AF65-F5344CB8AC3E}">
        <p14:creationId xmlns:p14="http://schemas.microsoft.com/office/powerpoint/2010/main" val="318806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00B00-F676-7D41-D135-43A31E9C8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387E7-B2E1-2B8C-98B1-1309384FF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991" y="2014258"/>
            <a:ext cx="5501690" cy="470721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Spacecraft and satellite electronics require exceptionally reliable solder joints that can withstand extreme vibration, temperature swings, and vacuum conditions.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By learning proper soldering techniques, you’ll gain a practical understanding of how flight-worthy digital system hardware is produced and appreciate how small workmanship errors can compromise mission success.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34D110-6516-62C2-236F-FFCF3596F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Astro 331 Lab #2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AF9775-06E9-3893-A4A5-93BC8E478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653B1A-2758-6290-C2D9-FE631F895090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Intro</a:t>
            </a:r>
            <a:endParaRPr lang="en-US" sz="12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1200" dirty="0"/>
              <a:t>Reference</a:t>
            </a:r>
          </a:p>
          <a:p>
            <a:pPr marL="0" indent="0">
              <a:buNone/>
            </a:pPr>
            <a:r>
              <a:rPr lang="en-US" sz="1200" dirty="0"/>
              <a:t>Task 1</a:t>
            </a:r>
          </a:p>
          <a:p>
            <a:pPr marL="0" indent="0">
              <a:buNone/>
            </a:pPr>
            <a:r>
              <a:rPr lang="en-US" sz="1200" dirty="0"/>
              <a:t>Task 2</a:t>
            </a:r>
          </a:p>
          <a:p>
            <a:pPr marL="0" indent="0">
              <a:buNone/>
            </a:pPr>
            <a:r>
              <a:rPr lang="en-US" sz="1200" dirty="0"/>
              <a:t>Turn-in </a:t>
            </a:r>
            <a:r>
              <a:rPr lang="en-US" sz="1200" dirty="0" err="1"/>
              <a:t>Reqt’s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3033449D-4FED-2CC0-A422-94359CE9F8EF}"/>
              </a:ext>
            </a:extLst>
          </p:cNvPr>
          <p:cNvSpPr txBox="1">
            <a:spLocks/>
          </p:cNvSpPr>
          <p:nvPr/>
        </p:nvSpPr>
        <p:spPr>
          <a:xfrm>
            <a:off x="6712622" y="1712050"/>
            <a:ext cx="2241069" cy="25092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200" b="1" u="sng" dirty="0"/>
              <a:t>Authorized Resources</a:t>
            </a:r>
          </a:p>
          <a:p>
            <a:r>
              <a:rPr lang="en-US" sz="1200" b="1" dirty="0">
                <a:solidFill>
                  <a:srgbClr val="FF0000"/>
                </a:solidFill>
              </a:rPr>
              <a:t>This is a team effort lab</a:t>
            </a:r>
          </a:p>
          <a:p>
            <a:r>
              <a:rPr lang="en-US" sz="1200" dirty="0"/>
              <a:t>External resources should not be necessary, but you may use:</a:t>
            </a:r>
          </a:p>
          <a:p>
            <a:pPr lvl="1"/>
            <a:r>
              <a:rPr lang="en-US" sz="1200" dirty="0"/>
              <a:t>Any non-human resource</a:t>
            </a:r>
          </a:p>
          <a:p>
            <a:pPr lvl="2"/>
            <a:r>
              <a:rPr lang="en-US" sz="1200" b="1" dirty="0">
                <a:highlight>
                  <a:srgbClr val="FFFF00"/>
                </a:highlight>
              </a:rPr>
              <a:t>Generative AI Level 4 Allowed</a:t>
            </a:r>
          </a:p>
          <a:p>
            <a:pPr lvl="1"/>
            <a:r>
              <a:rPr lang="en-US" sz="1200" dirty="0"/>
              <a:t>Astro 331 course instructor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8F642A-11BE-64B8-3677-78DCDCE774E8}"/>
              </a:ext>
            </a:extLst>
          </p:cNvPr>
          <p:cNvSpPr txBox="1"/>
          <p:nvPr/>
        </p:nvSpPr>
        <p:spPr>
          <a:xfrm>
            <a:off x="1066990" y="939824"/>
            <a:ext cx="80306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/>
              <a:t>In this lab you’ll develop the skills needed to create and inspect reliable through-hole solder joints for electronic components, while applying proper tool handling and safety practices.</a:t>
            </a:r>
            <a:endParaRPr lang="en-US" sz="2000" b="1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36E7FF56-53AE-427A-37D2-A0E2F2CFEDD0}"/>
              </a:ext>
            </a:extLst>
          </p:cNvPr>
          <p:cNvSpPr txBox="1">
            <a:spLocks/>
          </p:cNvSpPr>
          <p:nvPr/>
        </p:nvSpPr>
        <p:spPr>
          <a:xfrm>
            <a:off x="1155088" y="4312837"/>
            <a:ext cx="7917493" cy="22288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Objectives: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514350" indent="-514350">
              <a:spcBef>
                <a:spcPts val="0"/>
              </a:spcBef>
              <a:buAutoNum type="arabicParenBoth"/>
            </a:pPr>
            <a:r>
              <a:rPr lang="en-US" dirty="0"/>
              <a:t>Identify the tools, materials, and safety equipment required for through-hole soldering.</a:t>
            </a:r>
          </a:p>
          <a:p>
            <a:pPr marL="514350" indent="-514350">
              <a:spcBef>
                <a:spcPts val="0"/>
              </a:spcBef>
              <a:buAutoNum type="arabicParenBoth"/>
            </a:pPr>
            <a:r>
              <a:rPr lang="en-US" dirty="0"/>
              <a:t>Demonstrate proper soldering iron handling techniques, including tip cleaning and temperature control.</a:t>
            </a:r>
          </a:p>
          <a:p>
            <a:pPr marL="514350" indent="-514350">
              <a:spcBef>
                <a:spcPts val="0"/>
              </a:spcBef>
              <a:buAutoNum type="arabicParenBoth"/>
            </a:pPr>
            <a:r>
              <a:rPr lang="en-US" dirty="0"/>
              <a:t>Prepare component leads and PCB pads for soldering by cleaning, tinning, and positioning.</a:t>
            </a:r>
          </a:p>
          <a:p>
            <a:pPr marL="514350" indent="-514350">
              <a:spcBef>
                <a:spcPts val="0"/>
              </a:spcBef>
              <a:buAutoNum type="arabicParenBoth"/>
            </a:pPr>
            <a:r>
              <a:rPr lang="en-US" dirty="0"/>
              <a:t>Produce reliable solder joints for both through-hole and surface-mount components according to IPC standards.</a:t>
            </a:r>
          </a:p>
          <a:p>
            <a:pPr marL="514350" indent="-514350">
              <a:spcBef>
                <a:spcPts val="0"/>
              </a:spcBef>
              <a:buAutoNum type="arabicParenBoth"/>
            </a:pPr>
            <a:r>
              <a:rPr lang="en-US" dirty="0"/>
              <a:t>Inspect solder joints using visual inspection to detect common defects (e.g., cold joints, bridges, insufficient wetting).</a:t>
            </a:r>
          </a:p>
          <a:p>
            <a:pPr marL="514350" indent="-514350">
              <a:spcBef>
                <a:spcPts val="0"/>
              </a:spcBef>
              <a:buAutoNum type="arabicParenBoth"/>
            </a:pPr>
            <a:r>
              <a:rPr lang="en-US" dirty="0"/>
              <a:t>Apply safe work practices to prevent injury, equipment damage, or PCB overheating.</a:t>
            </a:r>
          </a:p>
        </p:txBody>
      </p:sp>
    </p:spTree>
    <p:extLst>
      <p:ext uri="{BB962C8B-B14F-4D97-AF65-F5344CB8AC3E}">
        <p14:creationId xmlns:p14="http://schemas.microsoft.com/office/powerpoint/2010/main" val="2953783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80085-BC42-5DB6-8F2E-DCD18C89B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Soldering Reference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D462B-6340-2B7B-F22A-33B681028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EA6071-706A-C61A-9351-F2F4E94D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7B570C-767F-2085-4662-0F94315E58A9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dirty="0"/>
              <a:t>Intro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Reference</a:t>
            </a:r>
          </a:p>
          <a:p>
            <a:pPr marL="0" indent="0">
              <a:buNone/>
            </a:pPr>
            <a:r>
              <a:rPr lang="en-US" sz="1200" dirty="0"/>
              <a:t>Task 1</a:t>
            </a:r>
          </a:p>
          <a:p>
            <a:pPr marL="0" indent="0">
              <a:buNone/>
            </a:pPr>
            <a:r>
              <a:rPr lang="en-US" sz="1200" dirty="0"/>
              <a:t>Task 2</a:t>
            </a:r>
          </a:p>
          <a:p>
            <a:pPr marL="0" indent="0">
              <a:buNone/>
            </a:pPr>
            <a:r>
              <a:rPr lang="en-US" sz="1200" dirty="0"/>
              <a:t>Turn-in </a:t>
            </a:r>
            <a:r>
              <a:rPr lang="en-US" sz="1200" dirty="0" err="1"/>
              <a:t>Reqt’s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C4811D3-699A-FB28-BFE1-15128D387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655" y="1718388"/>
            <a:ext cx="7989371" cy="4498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755EB5-6E53-A740-FD09-EBB5FA85C5AD}"/>
              </a:ext>
            </a:extLst>
          </p:cNvPr>
          <p:cNvSpPr txBox="1"/>
          <p:nvPr/>
        </p:nvSpPr>
        <p:spPr>
          <a:xfrm>
            <a:off x="1066990" y="929496"/>
            <a:ext cx="91234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u="sng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  <a:hlinkClick r:id="rId3"/>
              </a:rPr>
              <a:t>Soldering Basics | Soldering for Beginners (https://youtu.be/-qk-ulz05J8</a:t>
            </a:r>
            <a:r>
              <a:rPr lang="en-US" sz="1800" u="sng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)</a:t>
            </a:r>
            <a:endParaRPr lang="en-US" sz="2800" dirty="0">
              <a:solidFill>
                <a:srgbClr val="000000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buNone/>
            </a:pPr>
            <a:r>
              <a:rPr lang="en-US" sz="1800" u="sng" kern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  <a:hlinkClick r:id="rId4"/>
              </a:rPr>
              <a:t>Soldering Through Hole Components (https</a:t>
            </a:r>
            <a:r>
              <a:rPr lang="en-US" sz="1800" u="sng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  <a:hlinkClick r:id="rId4"/>
              </a:rPr>
              <a:t>://youtu.be/eHu</a:t>
            </a:r>
            <a:r>
              <a:rPr lang="en-US" sz="1800" u="sng" kern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  <a:hlinkClick r:id="rId4"/>
              </a:rPr>
              <a:t>_fGAyNY4</a:t>
            </a:r>
            <a:r>
              <a:rPr lang="en-US" u="sng" kern="0">
                <a:solidFill>
                  <a:srgbClr val="00000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255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918B3-43EC-9DC8-4E7C-95D1A43EC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1 – LED Flashlight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00E6A-E511-2D66-1C5B-A94F69D5A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340" y="1002507"/>
            <a:ext cx="7886700" cy="495650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/>
              <a:t>In this task, each team member will assemble their own </a:t>
            </a:r>
            <a:r>
              <a:rPr lang="en-US" sz="2000" b="1" dirty="0" err="1"/>
              <a:t>Sparkfun</a:t>
            </a:r>
            <a:r>
              <a:rPr lang="en-US" sz="2000" b="1" dirty="0"/>
              <a:t> LED flashlight.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Instructions: </a:t>
            </a:r>
            <a:r>
              <a:rPr lang="en-US" sz="2000" b="1" dirty="0">
                <a:hlinkClick r:id="rId2"/>
              </a:rPr>
              <a:t>https://learn.sparkfun.com/tutorials/flashlight-kit</a:t>
            </a:r>
            <a:endParaRPr lang="en-US" sz="2000" b="1" dirty="0"/>
          </a:p>
          <a:p>
            <a:pPr marL="0" indent="0">
              <a:buNone/>
            </a:pPr>
            <a:r>
              <a:rPr lang="en-US" sz="2000" dirty="0"/>
              <a:t>(PDF also available in Lab 2 folder)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22D58-4D1D-85A4-E291-3663E9F98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Astro 331 Lab #2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08BD1A-7268-9519-7149-A307B2EEA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4</a:t>
            </a:fld>
            <a:endParaRPr lang="en-US"/>
          </a:p>
        </p:txBody>
      </p:sp>
      <p:pic>
        <p:nvPicPr>
          <p:cNvPr id="1026" name="Picture 2" descr="SparkFun Basic Flashlight Soldering Kit">
            <a:extLst>
              <a:ext uri="{FF2B5EF4-FFF2-40B4-BE49-F238E27FC236}">
                <a16:creationId xmlns:a16="http://schemas.microsoft.com/office/drawing/2014/main" id="{6F8826F0-3AAB-B683-F763-E7B7FA082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396" y="1331401"/>
            <a:ext cx="3888784" cy="3888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7C7399-008E-0080-D353-CA942C99823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78241" y="1984108"/>
            <a:ext cx="5017129" cy="2271768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8CE1715D-C13D-986A-8487-ED7CC56EA3B5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dirty="0"/>
              <a:t>Intro</a:t>
            </a:r>
          </a:p>
          <a:p>
            <a:pPr marL="0" indent="0">
              <a:buNone/>
            </a:pPr>
            <a:r>
              <a:rPr lang="en-US" sz="1200" dirty="0"/>
              <a:t>Reference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Task 1</a:t>
            </a:r>
          </a:p>
          <a:p>
            <a:pPr marL="0" indent="0">
              <a:buNone/>
            </a:pPr>
            <a:r>
              <a:rPr lang="en-US" sz="1200" dirty="0"/>
              <a:t>Task 2</a:t>
            </a:r>
          </a:p>
          <a:p>
            <a:pPr marL="0" indent="0">
              <a:buNone/>
            </a:pPr>
            <a:r>
              <a:rPr lang="en-US" sz="1200" dirty="0"/>
              <a:t>Turn-in </a:t>
            </a:r>
            <a:r>
              <a:rPr lang="en-US" sz="1200" dirty="0" err="1"/>
              <a:t>Reqt’s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37436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9EADA-02F8-5847-F017-37991CF4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Turn-In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B9D66-E144-AAC5-D572-975EA3A72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340" y="1376737"/>
            <a:ext cx="7886700" cy="39771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Demonstrate to your instructor that:</a:t>
            </a:r>
          </a:p>
          <a:p>
            <a:pPr marL="0" indent="0">
              <a:buNone/>
            </a:pPr>
            <a:endParaRPr lang="en-US" sz="2000" b="1" dirty="0"/>
          </a:p>
          <a:p>
            <a:pPr marL="914400" lvl="1" indent="-457200">
              <a:buAutoNum type="arabicParenBoth"/>
            </a:pPr>
            <a:r>
              <a:rPr lang="en-US" sz="2000" b="1" dirty="0"/>
              <a:t>Each team member’s flashlight has good solder joints and is functional</a:t>
            </a:r>
          </a:p>
          <a:p>
            <a:pPr marL="457200" lvl="1" indent="0">
              <a:buNone/>
            </a:pPr>
            <a:endParaRPr lang="en-US" sz="20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BCA3C-78A2-5C2F-8D54-248BFDD02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850670-004D-10B9-EBA0-0B0B2367E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F09925-AF13-5493-9C5E-24993D3831C5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dirty="0"/>
              <a:t>Intro</a:t>
            </a:r>
          </a:p>
          <a:p>
            <a:pPr marL="0" indent="0">
              <a:buNone/>
            </a:pPr>
            <a:r>
              <a:rPr lang="en-US" sz="1200" dirty="0"/>
              <a:t>Reference</a:t>
            </a:r>
          </a:p>
          <a:p>
            <a:pPr marL="0" indent="0">
              <a:buNone/>
            </a:pPr>
            <a:r>
              <a:rPr lang="en-US" sz="1200" dirty="0"/>
              <a:t>Task 1</a:t>
            </a:r>
          </a:p>
          <a:p>
            <a:pPr marL="0" indent="0">
              <a:buNone/>
            </a:pPr>
            <a:r>
              <a:rPr lang="en-US" sz="1200" dirty="0"/>
              <a:t>Task 2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Turn-in </a:t>
            </a:r>
            <a:r>
              <a:rPr lang="en-US" sz="1200" b="1" dirty="0" err="1">
                <a:solidFill>
                  <a:srgbClr val="00B0F0"/>
                </a:solidFill>
              </a:rPr>
              <a:t>Reqt’s</a:t>
            </a:r>
            <a:endParaRPr lang="en-US" sz="12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41946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1FCD32B-F40F-D669-E6FA-99C67FB64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592" y="1530706"/>
            <a:ext cx="7352996" cy="2852737"/>
          </a:xfrm>
        </p:spPr>
        <p:txBody>
          <a:bodyPr/>
          <a:lstStyle/>
          <a:p>
            <a:r>
              <a:rPr lang="en-US" b="1" dirty="0"/>
              <a:t>Deprecated Slides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D9C9206-B79B-6705-1136-85BFAF677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7590" y="4589464"/>
            <a:ext cx="7352997" cy="1500187"/>
          </a:xfrm>
        </p:spPr>
        <p:txBody>
          <a:bodyPr/>
          <a:lstStyle/>
          <a:p>
            <a:r>
              <a:rPr lang="en-US" dirty="0"/>
              <a:t>(For reference only)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C3D788-1464-B52F-DABB-83FD56F0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513149-A162-6147-E666-AB5183AB9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203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596EDF-1B26-7270-FCDF-E9EC559BD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D3D1A-A4B7-D0DF-8498-9A3C0BDAC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2 – </a:t>
            </a:r>
            <a:r>
              <a:rPr lang="en-US" b="1" dirty="0" err="1"/>
              <a:t>KestrelSAT</a:t>
            </a:r>
            <a:r>
              <a:rPr lang="en-US" b="1" dirty="0"/>
              <a:t> 5V Regulator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A0CF4-B48D-4D89-BD72-4BB354EA3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1023" y="1618942"/>
            <a:ext cx="5222125" cy="33319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 err="1"/>
              <a:t>KestrelSAT</a:t>
            </a:r>
            <a:r>
              <a:rPr lang="en-US" sz="1400" dirty="0"/>
              <a:t> uses a Low Dropout Regulator (LDO) to step-down voltage from the 12V provided by the main battery to 5V needed to power the MCU and other devices.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E1CF12-DACA-F7E8-F19C-6A04E0B2D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Astro 331 Lab #2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58DAB0-5BF9-1DB9-B09C-014AECDA7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7</a:t>
            </a:fld>
            <a:endParaRPr lang="en-US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E79A0984-4345-5336-6BCC-63F8E9CDF2D0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dirty="0"/>
              <a:t>Intro</a:t>
            </a:r>
          </a:p>
          <a:p>
            <a:pPr marL="0" indent="0">
              <a:buNone/>
            </a:pPr>
            <a:r>
              <a:rPr lang="en-US" sz="1200" dirty="0"/>
              <a:t>Reference</a:t>
            </a:r>
          </a:p>
          <a:p>
            <a:pPr marL="0" indent="0">
              <a:buNone/>
            </a:pPr>
            <a:r>
              <a:rPr lang="en-US" sz="1200" dirty="0"/>
              <a:t>Task 1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Task 2</a:t>
            </a:r>
          </a:p>
          <a:p>
            <a:pPr marL="0" indent="0">
              <a:buNone/>
            </a:pPr>
            <a:r>
              <a:rPr lang="en-US" sz="1200" dirty="0"/>
              <a:t>Turn-in </a:t>
            </a:r>
            <a:r>
              <a:rPr lang="en-US" sz="1200" dirty="0" err="1"/>
              <a:t>Reqt’s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8459BFE1-C557-D3F5-930E-10C764DB3282}"/>
              </a:ext>
            </a:extLst>
          </p:cNvPr>
          <p:cNvSpPr txBox="1">
            <a:spLocks/>
          </p:cNvSpPr>
          <p:nvPr/>
        </p:nvSpPr>
        <p:spPr>
          <a:xfrm>
            <a:off x="6321718" y="3943504"/>
            <a:ext cx="2429066" cy="255818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sz="1200" u="sng" dirty="0"/>
              <a:t>Note</a:t>
            </a:r>
          </a:p>
          <a:p>
            <a:r>
              <a:rPr lang="en-US" sz="1100" dirty="0"/>
              <a:t>A </a:t>
            </a:r>
            <a:r>
              <a:rPr lang="en-US" sz="1100" b="1" dirty="0"/>
              <a:t>Low Dropout Regulator (LDO)</a:t>
            </a:r>
            <a:r>
              <a:rPr lang="en-US" sz="1100" dirty="0"/>
              <a:t> is a voltage regulator that can maintain a stable output voltage even when the input voltage is only slightly higher than the output. It is commonly used in embedded systems to provide clean, low-noise power to sensitive electronics.</a:t>
            </a:r>
          </a:p>
          <a:p>
            <a:r>
              <a:rPr lang="en-US" sz="1100" dirty="0"/>
              <a:t>Note that LDO’s have lower efficiency when the input voltage is significantly higher than the output, as excess voltage is dissipated as heat. This can lead to thermal </a:t>
            </a:r>
            <a:r>
              <a:rPr lang="en-US" sz="1100" dirty="0" err="1"/>
              <a:t>issues,and</a:t>
            </a:r>
            <a:r>
              <a:rPr lang="en-US" sz="1100" dirty="0"/>
              <a:t> reduced battery life in portable systems.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62D32F-370D-04BB-7558-910336927167}"/>
              </a:ext>
            </a:extLst>
          </p:cNvPr>
          <p:cNvSpPr txBox="1"/>
          <p:nvPr/>
        </p:nvSpPr>
        <p:spPr>
          <a:xfrm>
            <a:off x="1066991" y="943630"/>
            <a:ext cx="7886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/>
              <a:t>In this task, each team will assemble a 5V power regulator. This regulator will be used on the team’s </a:t>
            </a:r>
            <a:r>
              <a:rPr lang="en-US" sz="1800" b="1" dirty="0" err="1"/>
              <a:t>KestrelSAT</a:t>
            </a:r>
            <a:r>
              <a:rPr lang="en-US" sz="1800" b="1" dirty="0"/>
              <a:t> during future labs.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6B7D315-F25E-90CF-EA8B-61916D5CC83B}"/>
              </a:ext>
            </a:extLst>
          </p:cNvPr>
          <p:cNvGrpSpPr/>
          <p:nvPr/>
        </p:nvGrpSpPr>
        <p:grpSpPr>
          <a:xfrm>
            <a:off x="781020" y="2293738"/>
            <a:ext cx="5191710" cy="4104909"/>
            <a:chOff x="1170623" y="2465363"/>
            <a:chExt cx="5191710" cy="4104909"/>
          </a:xfrm>
        </p:grpSpPr>
        <p:pic>
          <p:nvPicPr>
            <p:cNvPr id="11" name="Content Placeholder 6">
              <a:extLst>
                <a:ext uri="{FF2B5EF4-FFF2-40B4-BE49-F238E27FC236}">
                  <a16:creationId xmlns:a16="http://schemas.microsoft.com/office/drawing/2014/main" id="{3D90D960-B677-EDB6-7929-F793427DF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494622" y="2962387"/>
              <a:ext cx="4767272" cy="3607885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A592243-D417-A58C-FFE2-4E74BF8873A5}"/>
                </a:ext>
              </a:extLst>
            </p:cNvPr>
            <p:cNvSpPr txBox="1"/>
            <p:nvPr/>
          </p:nvSpPr>
          <p:spPr>
            <a:xfrm>
              <a:off x="4976026" y="5243039"/>
              <a:ext cx="138630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Schematic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641DDC4-9E32-F824-55E8-14398AE35689}"/>
                </a:ext>
              </a:extLst>
            </p:cNvPr>
            <p:cNvSpPr txBox="1"/>
            <p:nvPr/>
          </p:nvSpPr>
          <p:spPr>
            <a:xfrm>
              <a:off x="4404706" y="2690928"/>
              <a:ext cx="188885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Power LED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12E12EA-0AA6-B692-CA32-63ED5C99A3BE}"/>
                </a:ext>
              </a:extLst>
            </p:cNvPr>
            <p:cNvSpPr txBox="1"/>
            <p:nvPr/>
          </p:nvSpPr>
          <p:spPr>
            <a:xfrm>
              <a:off x="2293173" y="4265012"/>
              <a:ext cx="188885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Noise Filtering Capacitors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510B010-3E07-E9CB-EA3C-67C32173BA2B}"/>
                </a:ext>
              </a:extLst>
            </p:cNvPr>
            <p:cNvSpPr txBox="1"/>
            <p:nvPr/>
          </p:nvSpPr>
          <p:spPr>
            <a:xfrm>
              <a:off x="2293173" y="4902358"/>
              <a:ext cx="188885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Voltage Selector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8966BA3-93B0-3F1A-9460-189A4A998316}"/>
                </a:ext>
              </a:extLst>
            </p:cNvPr>
            <p:cNvSpPr txBox="1"/>
            <p:nvPr/>
          </p:nvSpPr>
          <p:spPr>
            <a:xfrm>
              <a:off x="2293173" y="2545344"/>
              <a:ext cx="1888852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Reverse polarity protection diode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39C3BFB-980D-4168-0A88-BD14F7795FBA}"/>
                </a:ext>
              </a:extLst>
            </p:cNvPr>
            <p:cNvSpPr txBox="1"/>
            <p:nvPr/>
          </p:nvSpPr>
          <p:spPr>
            <a:xfrm>
              <a:off x="1170623" y="4371639"/>
              <a:ext cx="159505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Voltage Input Connector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868A05B-1ED6-9DDF-39AE-FAA4E9817E10}"/>
                </a:ext>
              </a:extLst>
            </p:cNvPr>
            <p:cNvCxnSpPr>
              <a:cxnSpLocks/>
            </p:cNvCxnSpPr>
            <p:nvPr/>
          </p:nvCxnSpPr>
          <p:spPr>
            <a:xfrm>
              <a:off x="5476143" y="2962387"/>
              <a:ext cx="386075" cy="1136077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06523AC-DCC8-F68B-8872-E08C7942EC60}"/>
                </a:ext>
              </a:extLst>
            </p:cNvPr>
            <p:cNvCxnSpPr>
              <a:cxnSpLocks/>
            </p:cNvCxnSpPr>
            <p:nvPr/>
          </p:nvCxnSpPr>
          <p:spPr>
            <a:xfrm>
              <a:off x="4436370" y="2951406"/>
              <a:ext cx="44410" cy="379282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7CCE1D7-28F2-4A7A-CA4C-40EE2089FB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6377" y="3825289"/>
              <a:ext cx="590828" cy="54635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1FF75FD-A218-A2A3-3BB5-8A745BDF13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63610" y="3749210"/>
              <a:ext cx="590828" cy="54635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56D367C-AD70-E609-8B64-3F5F5443FF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72738" y="3854355"/>
              <a:ext cx="1250967" cy="558471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CC56DBE-FC15-1DA0-696C-296ED82DEE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7766" y="3902616"/>
              <a:ext cx="1620358" cy="552602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0169232-4BFB-461B-4653-978C4B067D0C}"/>
                </a:ext>
              </a:extLst>
            </p:cNvPr>
            <p:cNvSpPr txBox="1"/>
            <p:nvPr/>
          </p:nvSpPr>
          <p:spPr>
            <a:xfrm>
              <a:off x="3491944" y="2698243"/>
              <a:ext cx="188885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LDO*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879E89B-D776-00D0-D3CF-FD1226551D53}"/>
                </a:ext>
              </a:extLst>
            </p:cNvPr>
            <p:cNvCxnSpPr>
              <a:cxnSpLocks/>
            </p:cNvCxnSpPr>
            <p:nvPr/>
          </p:nvCxnSpPr>
          <p:spPr>
            <a:xfrm>
              <a:off x="3311616" y="2969807"/>
              <a:ext cx="44410" cy="379282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7260F1E-8AAC-882D-4CA9-4C616121DA0F}"/>
                </a:ext>
              </a:extLst>
            </p:cNvPr>
            <p:cNvSpPr txBox="1"/>
            <p:nvPr/>
          </p:nvSpPr>
          <p:spPr>
            <a:xfrm>
              <a:off x="3092268" y="2465363"/>
              <a:ext cx="188885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Fuse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CF8419A-410E-42F8-AEAE-8FE829DE34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6418" y="2751943"/>
              <a:ext cx="170276" cy="621504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EF28FA41-D95E-C843-3DB1-558F3E63E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7456" y="4683055"/>
              <a:ext cx="865189" cy="348591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FDA03B4-E87E-3567-8750-F54FEC991103}"/>
                </a:ext>
              </a:extLst>
            </p:cNvPr>
            <p:cNvSpPr txBox="1"/>
            <p:nvPr/>
          </p:nvSpPr>
          <p:spPr>
            <a:xfrm>
              <a:off x="2509369" y="5420355"/>
              <a:ext cx="188885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Voltage Output Pins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E37FBE34-BE0C-512F-2E07-F5E5059035CE}"/>
                </a:ext>
              </a:extLst>
            </p:cNvPr>
            <p:cNvCxnSpPr>
              <a:cxnSpLocks/>
            </p:cNvCxnSpPr>
            <p:nvPr/>
          </p:nvCxnSpPr>
          <p:spPr>
            <a:xfrm>
              <a:off x="4196985" y="5558854"/>
              <a:ext cx="405640" cy="238482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76" name="Picture 4" descr="SparkFun Breadboard Power Supply 5V/3.3V">
            <a:extLst>
              <a:ext uri="{FF2B5EF4-FFF2-40B4-BE49-F238E27FC236}">
                <a16:creationId xmlns:a16="http://schemas.microsoft.com/office/drawing/2014/main" id="{E5CA6DA3-C56F-156B-5F9E-7C57100D2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3631" y="1246259"/>
            <a:ext cx="2428152" cy="242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C29BDE24-1B6D-D1DB-518A-7F9B46B8096F}"/>
              </a:ext>
            </a:extLst>
          </p:cNvPr>
          <p:cNvSpPr txBox="1"/>
          <p:nvPr/>
        </p:nvSpPr>
        <p:spPr>
          <a:xfrm>
            <a:off x="6573281" y="3457636"/>
            <a:ext cx="18888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5"/>
              </a:rPr>
              <a:t>Product Page</a:t>
            </a:r>
            <a:endParaRPr lang="en-US" sz="16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FD48E5-795C-37BA-4739-294F33194B7B}"/>
              </a:ext>
            </a:extLst>
          </p:cNvPr>
          <p:cNvSpPr txBox="1"/>
          <p:nvPr/>
        </p:nvSpPr>
        <p:spPr>
          <a:xfrm>
            <a:off x="5472615" y="6540179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*LM317 Datasheet available in lab folder</a:t>
            </a:r>
          </a:p>
        </p:txBody>
      </p:sp>
    </p:spTree>
    <p:extLst>
      <p:ext uri="{BB962C8B-B14F-4D97-AF65-F5344CB8AC3E}">
        <p14:creationId xmlns:p14="http://schemas.microsoft.com/office/powerpoint/2010/main" val="3381182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18148-A979-1756-D72C-A57CAE5B1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2 (2) – </a:t>
            </a:r>
            <a:r>
              <a:rPr lang="en-US" b="1" dirty="0" err="1"/>
              <a:t>KestrelSAT</a:t>
            </a:r>
            <a:r>
              <a:rPr lang="en-US" b="1" dirty="0"/>
              <a:t> 5V Regulator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769AB2-E657-42FC-FFD8-80C182A2E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F05CB6-FECF-6BC5-BA9C-CF95EA5F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8</a:t>
            </a:fld>
            <a:endParaRPr lang="en-US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90492952-91BD-D2EC-AB97-B12147A43934}"/>
              </a:ext>
            </a:extLst>
          </p:cNvPr>
          <p:cNvSpPr txBox="1">
            <a:spLocks/>
          </p:cNvSpPr>
          <p:nvPr/>
        </p:nvSpPr>
        <p:spPr>
          <a:xfrm>
            <a:off x="46366" y="1130060"/>
            <a:ext cx="917636" cy="4982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200" dirty="0"/>
              <a:t>Intro</a:t>
            </a:r>
          </a:p>
          <a:p>
            <a:pPr marL="0" indent="0">
              <a:buNone/>
            </a:pPr>
            <a:r>
              <a:rPr lang="en-US" sz="1200" dirty="0"/>
              <a:t>Reference</a:t>
            </a:r>
          </a:p>
          <a:p>
            <a:pPr marL="0" indent="0">
              <a:buNone/>
            </a:pPr>
            <a:r>
              <a:rPr lang="en-US" sz="1200" dirty="0"/>
              <a:t>Task 1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</a:rPr>
              <a:t>Task 2</a:t>
            </a:r>
          </a:p>
          <a:p>
            <a:pPr marL="0" indent="0">
              <a:buNone/>
            </a:pPr>
            <a:r>
              <a:rPr lang="en-US" sz="1200" dirty="0"/>
              <a:t>Turn-in </a:t>
            </a:r>
            <a:r>
              <a:rPr lang="en-US" sz="1200" dirty="0" err="1"/>
              <a:t>Reqt’s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E0A9653-E737-260A-E061-54670905B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991" y="850826"/>
            <a:ext cx="8164691" cy="435133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(1) Assemble your team’s 5V regulator as shown in the picture below.</a:t>
            </a:r>
          </a:p>
          <a:p>
            <a:pPr marL="0" indent="0">
              <a:spcBef>
                <a:spcPts val="0"/>
              </a:spcBef>
              <a:buNone/>
            </a:pPr>
            <a:endParaRPr lang="en-US" sz="1400" b="1" dirty="0">
              <a:solidFill>
                <a:srgbClr val="FFC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solidFill>
                  <a:srgbClr val="FFC000"/>
                </a:solidFill>
              </a:rPr>
              <a:t>**There are some modifications as compared to the version shown on the </a:t>
            </a:r>
            <a:r>
              <a:rPr lang="en-US" sz="1400" b="1" dirty="0" err="1">
                <a:solidFill>
                  <a:srgbClr val="FFC000"/>
                </a:solidFill>
              </a:rPr>
              <a:t>Sparkfun</a:t>
            </a:r>
            <a:r>
              <a:rPr lang="en-US" sz="1400" b="1" dirty="0">
                <a:solidFill>
                  <a:srgbClr val="FFC000"/>
                </a:solidFill>
              </a:rPr>
              <a:t> product page. You will have some parts left over.**</a:t>
            </a:r>
            <a:endParaRPr lang="en-US" sz="1400" b="1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400" b="1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solidFill>
                  <a:srgbClr val="FF0000"/>
                </a:solidFill>
              </a:rPr>
              <a:t>**Make sure to populate the board with correct resistors: use a multimeter to confirm that the resistance of a resistor corresponds to the number shown for that part on the PCB**</a:t>
            </a: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(2) Connect the input wires of your assembled regulator to your lab station’s power supply set to 12V.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(3) Turn on your regular via the power switch and verify the board power LED illuminates.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(4) Use a multimeter to verify that your regulator outputs 5V +/- 0.1V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F0E62F2-539A-28E4-3F14-2712CFC5718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29944" y="3073894"/>
            <a:ext cx="3867690" cy="36676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E600C68-1225-694D-EBE0-D7C9A4072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462715" y="3132353"/>
            <a:ext cx="3767227" cy="365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567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aab13084cbfb645f826f7dc6731109d6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2636cc15ff2f3d2629ecec77a65aea39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607181-CECF-4744-89B4-04EE492AC2F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23aa48c-73f2-40da-86b1-f1ae286477fe"/>
    <ds:schemaRef ds:uri="7584c457-6b5a-4caa-be47-be979cbe6555"/>
  </ds:schemaRefs>
</ds:datastoreItem>
</file>

<file path=customXml/itemProps2.xml><?xml version="1.0" encoding="utf-8"?>
<ds:datastoreItem xmlns:ds="http://schemas.openxmlformats.org/officeDocument/2006/customXml" ds:itemID="{110833DE-2A72-47B9-8243-52EC226ACA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1771AE-CB5E-4555-9372-FF977EDBB7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584c457-6b5a-4caa-be47-be979cbe6555"/>
    <ds:schemaRef ds:uri="723aa48c-73f2-40da-86b1-f1ae286477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8353</TotalTime>
  <Words>740</Words>
  <Application>Microsoft Office PowerPoint</Application>
  <PresentationFormat>Letter Paper (8.5x11 in)</PresentationFormat>
  <Paragraphs>124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Segoe UI</vt:lpstr>
      <vt:lpstr>Office Theme</vt:lpstr>
      <vt:lpstr>Lab #2</vt:lpstr>
      <vt:lpstr>Intro</vt:lpstr>
      <vt:lpstr>Soldering Reference</vt:lpstr>
      <vt:lpstr>Task 1 – LED Flashlight</vt:lpstr>
      <vt:lpstr>Turn-In Requirements</vt:lpstr>
      <vt:lpstr>Deprecated Slides</vt:lpstr>
      <vt:lpstr>Task 2 – KestrelSAT 5V Regulator</vt:lpstr>
      <vt:lpstr>Task 2 (2) – KestrelSAT 5V Regulator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Harris, Wyatt J Lt Col USAF USAFA DF/DFAS</dc:creator>
  <cp:lastModifiedBy>Harris, Wyatt J Lt Col USAF USAFA DF/DFAS</cp:lastModifiedBy>
  <cp:revision>2</cp:revision>
  <cp:lastPrinted>2025-08-01T16:37:26Z</cp:lastPrinted>
  <dcterms:created xsi:type="dcterms:W3CDTF">2025-07-17T17:53:42Z</dcterms:created>
  <dcterms:modified xsi:type="dcterms:W3CDTF">2026-01-15T20:12:41Z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