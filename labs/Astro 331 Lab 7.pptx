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3"/>
  </p:notesMasterIdLst>
  <p:sldIdLst>
    <p:sldId id="256" r:id="rId5"/>
    <p:sldId id="257" r:id="rId6"/>
    <p:sldId id="261" r:id="rId7"/>
    <p:sldId id="282" r:id="rId8"/>
    <p:sldId id="295" r:id="rId9"/>
    <p:sldId id="289" r:id="rId10"/>
    <p:sldId id="288" r:id="rId11"/>
    <p:sldId id="264" r:id="rId12"/>
    <p:sldId id="296" r:id="rId13"/>
    <p:sldId id="299" r:id="rId14"/>
    <p:sldId id="290" r:id="rId15"/>
    <p:sldId id="291" r:id="rId16"/>
    <p:sldId id="297" r:id="rId17"/>
    <p:sldId id="292" r:id="rId18"/>
    <p:sldId id="298" r:id="rId19"/>
    <p:sldId id="293" r:id="rId20"/>
    <p:sldId id="294" r:id="rId21"/>
    <p:sldId id="287" r:id="rId22"/>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737"/>
    <a:srgbClr val="965D10"/>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39" autoAdjust="0"/>
  </p:normalViewPr>
  <p:slideViewPr>
    <p:cSldViewPr snapToGrid="0">
      <p:cViewPr>
        <p:scale>
          <a:sx n="142" d="100"/>
          <a:sy n="142" d="100"/>
        </p:scale>
        <p:origin x="636"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modSld sldOrd">
      <pc:chgData name="Harris, Wyatt J Lt Col USAF USAFA DF/DFAS" userId="768bfb95-c272-4014-8fa2-010c15306053" providerId="ADAL" clId="{E18DAD13-4A53-44B8-9F3F-46E167733190}" dt="2026-03-04T16:21:03.094" v="865" actId="5793"/>
      <pc:docMkLst>
        <pc:docMk/>
      </pc:docMkLst>
      <pc:sldChg chg="modSp mod">
        <pc:chgData name="Harris, Wyatt J Lt Col USAF USAFA DF/DFAS" userId="768bfb95-c272-4014-8fa2-010c15306053" providerId="ADAL" clId="{E18DAD13-4A53-44B8-9F3F-46E167733190}" dt="2026-02-26T17:33:12.523" v="260" actId="20577"/>
        <pc:sldMkLst>
          <pc:docMk/>
          <pc:sldMk cId="2721645309" sldId="287"/>
        </pc:sldMkLst>
        <pc:spChg chg="mod">
          <ac:chgData name="Harris, Wyatt J Lt Col USAF USAFA DF/DFAS" userId="768bfb95-c272-4014-8fa2-010c15306053" providerId="ADAL" clId="{E18DAD13-4A53-44B8-9F3F-46E167733190}" dt="2026-02-26T17:33:12.523" v="260" actId="20577"/>
          <ac:spMkLst>
            <pc:docMk/>
            <pc:sldMk cId="2721645309" sldId="287"/>
            <ac:spMk id="3" creationId="{9AD8DC51-930D-0124-E2FD-A58951FD2B5A}"/>
          </ac:spMkLst>
        </pc:spChg>
      </pc:sldChg>
      <pc:sldChg chg="modSp mod">
        <pc:chgData name="Harris, Wyatt J Lt Col USAF USAFA DF/DFAS" userId="768bfb95-c272-4014-8fa2-010c15306053" providerId="ADAL" clId="{E18DAD13-4A53-44B8-9F3F-46E167733190}" dt="2026-02-25T22:52:54.781" v="29" actId="20577"/>
        <pc:sldMkLst>
          <pc:docMk/>
          <pc:sldMk cId="977904636" sldId="290"/>
        </pc:sldMkLst>
        <pc:spChg chg="mod">
          <ac:chgData name="Harris, Wyatt J Lt Col USAF USAFA DF/DFAS" userId="768bfb95-c272-4014-8fa2-010c15306053" providerId="ADAL" clId="{E18DAD13-4A53-44B8-9F3F-46E167733190}" dt="2026-02-25T22:52:54.781" v="29" actId="20577"/>
          <ac:spMkLst>
            <pc:docMk/>
            <pc:sldMk cId="977904636" sldId="290"/>
            <ac:spMk id="3" creationId="{C1C192FD-F8DF-5B1B-5459-0E32EFF9BFF2}"/>
          </ac:spMkLst>
        </pc:spChg>
      </pc:sldChg>
      <pc:sldChg chg="modSp mod">
        <pc:chgData name="Harris, Wyatt J Lt Col USAF USAFA DF/DFAS" userId="768bfb95-c272-4014-8fa2-010c15306053" providerId="ADAL" clId="{E18DAD13-4A53-44B8-9F3F-46E167733190}" dt="2026-02-25T22:54:09.243" v="36" actId="1036"/>
        <pc:sldMkLst>
          <pc:docMk/>
          <pc:sldMk cId="2377937761" sldId="291"/>
        </pc:sldMkLst>
        <pc:spChg chg="mod">
          <ac:chgData name="Harris, Wyatt J Lt Col USAF USAFA DF/DFAS" userId="768bfb95-c272-4014-8fa2-010c15306053" providerId="ADAL" clId="{E18DAD13-4A53-44B8-9F3F-46E167733190}" dt="2026-02-25T22:26:24.050" v="0" actId="1076"/>
          <ac:spMkLst>
            <pc:docMk/>
            <pc:sldMk cId="2377937761" sldId="291"/>
            <ac:spMk id="6" creationId="{C6E73A1A-6FB4-00CE-13D9-3FB53D90FB0C}"/>
          </ac:spMkLst>
        </pc:spChg>
        <pc:spChg chg="mod">
          <ac:chgData name="Harris, Wyatt J Lt Col USAF USAFA DF/DFAS" userId="768bfb95-c272-4014-8fa2-010c15306053" providerId="ADAL" clId="{E18DAD13-4A53-44B8-9F3F-46E167733190}" dt="2026-02-25T22:54:09.243" v="36" actId="1036"/>
          <ac:spMkLst>
            <pc:docMk/>
            <pc:sldMk cId="2377937761" sldId="291"/>
            <ac:spMk id="12" creationId="{B6966122-E623-D4C9-F9E9-72C31B7E56C9}"/>
          </ac:spMkLst>
        </pc:spChg>
      </pc:sldChg>
      <pc:sldChg chg="modSp mod">
        <pc:chgData name="Harris, Wyatt J Lt Col USAF USAFA DF/DFAS" userId="768bfb95-c272-4014-8fa2-010c15306053" providerId="ADAL" clId="{E18DAD13-4A53-44B8-9F3F-46E167733190}" dt="2026-02-25T22:55:33.489" v="41" actId="20577"/>
        <pc:sldMkLst>
          <pc:docMk/>
          <pc:sldMk cId="1125936856" sldId="292"/>
        </pc:sldMkLst>
        <pc:spChg chg="mod">
          <ac:chgData name="Harris, Wyatt J Lt Col USAF USAFA DF/DFAS" userId="768bfb95-c272-4014-8fa2-010c15306053" providerId="ADAL" clId="{E18DAD13-4A53-44B8-9F3F-46E167733190}" dt="2026-02-25T22:55:33.489" v="41" actId="20577"/>
          <ac:spMkLst>
            <pc:docMk/>
            <pc:sldMk cId="1125936856" sldId="292"/>
            <ac:spMk id="10" creationId="{FBEA4362-B1B5-13D6-F253-38761097149A}"/>
          </ac:spMkLst>
        </pc:spChg>
      </pc:sldChg>
      <pc:sldChg chg="addSp modSp new mod ord">
        <pc:chgData name="Harris, Wyatt J Lt Col USAF USAFA DF/DFAS" userId="768bfb95-c272-4014-8fa2-010c15306053" providerId="ADAL" clId="{E18DAD13-4A53-44B8-9F3F-46E167733190}" dt="2026-02-27T22:48:50.582" v="739" actId="27636"/>
        <pc:sldMkLst>
          <pc:docMk/>
          <pc:sldMk cId="2476879520" sldId="298"/>
        </pc:sldMkLst>
        <pc:spChg chg="mod">
          <ac:chgData name="Harris, Wyatt J Lt Col USAF USAFA DF/DFAS" userId="768bfb95-c272-4014-8fa2-010c15306053" providerId="ADAL" clId="{E18DAD13-4A53-44B8-9F3F-46E167733190}" dt="2026-02-27T22:44:06.565" v="306" actId="20577"/>
          <ac:spMkLst>
            <pc:docMk/>
            <pc:sldMk cId="2476879520" sldId="298"/>
            <ac:spMk id="2" creationId="{410DF3BA-D880-F55C-E765-D7EE1FD7CD9D}"/>
          </ac:spMkLst>
        </pc:spChg>
        <pc:spChg chg="mod">
          <ac:chgData name="Harris, Wyatt J Lt Col USAF USAFA DF/DFAS" userId="768bfb95-c272-4014-8fa2-010c15306053" providerId="ADAL" clId="{E18DAD13-4A53-44B8-9F3F-46E167733190}" dt="2026-02-27T22:48:50.582" v="739" actId="27636"/>
          <ac:spMkLst>
            <pc:docMk/>
            <pc:sldMk cId="2476879520" sldId="298"/>
            <ac:spMk id="3" creationId="{B3636DA0-DC81-AA62-F09A-37A3F0C2B839}"/>
          </ac:spMkLst>
        </pc:spChg>
        <pc:spChg chg="add mod">
          <ac:chgData name="Harris, Wyatt J Lt Col USAF USAFA DF/DFAS" userId="768bfb95-c272-4014-8fa2-010c15306053" providerId="ADAL" clId="{E18DAD13-4A53-44B8-9F3F-46E167733190}" dt="2026-02-27T22:44:21.659" v="310" actId="207"/>
          <ac:spMkLst>
            <pc:docMk/>
            <pc:sldMk cId="2476879520" sldId="298"/>
            <ac:spMk id="6" creationId="{5CAD8DF7-F54D-01EF-3959-0782B76C7ADD}"/>
          </ac:spMkLst>
        </pc:spChg>
      </pc:sldChg>
      <pc:sldChg chg="modSp new mod">
        <pc:chgData name="Harris, Wyatt J Lt Col USAF USAFA DF/DFAS" userId="768bfb95-c272-4014-8fa2-010c15306053" providerId="ADAL" clId="{E18DAD13-4A53-44B8-9F3F-46E167733190}" dt="2026-03-04T16:21:03.094" v="865" actId="5793"/>
        <pc:sldMkLst>
          <pc:docMk/>
          <pc:sldMk cId="2304039052" sldId="299"/>
        </pc:sldMkLst>
        <pc:spChg chg="mod">
          <ac:chgData name="Harris, Wyatt J Lt Col USAF USAFA DF/DFAS" userId="768bfb95-c272-4014-8fa2-010c15306053" providerId="ADAL" clId="{E18DAD13-4A53-44B8-9F3F-46E167733190}" dt="2026-03-04T16:20:36.958" v="778" actId="20577"/>
          <ac:spMkLst>
            <pc:docMk/>
            <pc:sldMk cId="2304039052" sldId="299"/>
            <ac:spMk id="2" creationId="{0BF87EE0-ED26-4554-658F-08DBC8A39096}"/>
          </ac:spMkLst>
        </pc:spChg>
        <pc:spChg chg="mod">
          <ac:chgData name="Harris, Wyatt J Lt Col USAF USAFA DF/DFAS" userId="768bfb95-c272-4014-8fa2-010c15306053" providerId="ADAL" clId="{E18DAD13-4A53-44B8-9F3F-46E167733190}" dt="2026-03-04T16:21:03.094" v="865" actId="5793"/>
          <ac:spMkLst>
            <pc:docMk/>
            <pc:sldMk cId="2304039052" sldId="299"/>
            <ac:spMk id="3" creationId="{4639B664-FCF5-AD3C-5CAA-E137A44BC6E5}"/>
          </ac:spMkLst>
        </pc:spChg>
      </pc:sldChg>
    </pc:docChg>
  </pc:docChgLst>
  <pc:docChgLst>
    <pc:chgData name="Harris, Wyatt J Lt Col USAF USAFA DF/DFAS" userId="768bfb95-c272-4014-8fa2-010c15306053" providerId="ADAL" clId="{95571437-1CDD-49A9-9F44-9267EE8F1204}"/>
    <pc:docChg chg="undo redo custSel addSld delSld modSld sldOrd modMainMaster">
      <pc:chgData name="Harris, Wyatt J Lt Col USAF USAFA DF/DFAS" userId="768bfb95-c272-4014-8fa2-010c15306053" providerId="ADAL" clId="{95571437-1CDD-49A9-9F44-9267EE8F1204}" dt="2026-02-25T05:23:02.103" v="17202" actId="1076"/>
      <pc:docMkLst>
        <pc:docMk/>
      </pc:docMkLst>
      <pc:sldChg chg="addSp delSp modSp mod">
        <pc:chgData name="Harris, Wyatt J Lt Col USAF USAFA DF/DFAS" userId="768bfb95-c272-4014-8fa2-010c15306053" providerId="ADAL" clId="{95571437-1CDD-49A9-9F44-9267EE8F1204}" dt="2026-02-25T04:55:28.069" v="16701" actId="20577"/>
        <pc:sldMkLst>
          <pc:docMk/>
          <pc:sldMk cId="2953783623" sldId="257"/>
        </pc:sldMkLst>
        <pc:spChg chg="mod">
          <ac:chgData name="Harris, Wyatt J Lt Col USAF USAFA DF/DFAS" userId="768bfb95-c272-4014-8fa2-010c15306053" providerId="ADAL" clId="{95571437-1CDD-49A9-9F44-9267EE8F1204}" dt="2026-02-25T04:54:10.618" v="16689" actId="14100"/>
          <ac:spMkLst>
            <pc:docMk/>
            <pc:sldMk cId="2953783623" sldId="257"/>
            <ac:spMk id="3" creationId="{A72387E7-B2E1-2B8C-98B1-1309384FFED1}"/>
          </ac:spMkLst>
        </pc:spChg>
        <pc:spChg chg="mod">
          <ac:chgData name="Harris, Wyatt J Lt Col USAF USAFA DF/DFAS" userId="768bfb95-c272-4014-8fa2-010c15306053" providerId="ADAL" clId="{95571437-1CDD-49A9-9F44-9267EE8F1204}" dt="2026-02-25T04:55:28.069" v="16701" actId="20577"/>
          <ac:spMkLst>
            <pc:docMk/>
            <pc:sldMk cId="2953783623" sldId="257"/>
            <ac:spMk id="4" creationId="{5634D110-6516-62C2-236F-FFCF3596F79E}"/>
          </ac:spMkLst>
        </pc:spChg>
        <pc:spChg chg="add mod">
          <ac:chgData name="Harris, Wyatt J Lt Col USAF USAFA DF/DFAS" userId="768bfb95-c272-4014-8fa2-010c15306053" providerId="ADAL" clId="{95571437-1CDD-49A9-9F44-9267EE8F1204}" dt="2026-02-25T04:54:07.636" v="16688"/>
          <ac:spMkLst>
            <pc:docMk/>
            <pc:sldMk cId="2953783623" sldId="257"/>
            <ac:spMk id="8" creationId="{B56A8CC7-EF87-1CB6-7F8F-06F04A91C7A3}"/>
          </ac:spMkLst>
        </pc:spChg>
        <pc:spChg chg="add mod">
          <ac:chgData name="Harris, Wyatt J Lt Col USAF USAFA DF/DFAS" userId="768bfb95-c272-4014-8fa2-010c15306053" providerId="ADAL" clId="{95571437-1CDD-49A9-9F44-9267EE8F1204}" dt="2026-02-25T04:54:07.636" v="16688"/>
          <ac:spMkLst>
            <pc:docMk/>
            <pc:sldMk cId="2953783623" sldId="257"/>
            <ac:spMk id="9" creationId="{3FB0988B-8EB6-599A-F714-B8BEE4DD4043}"/>
          </ac:spMkLst>
        </pc:spChg>
        <pc:spChg chg="mod">
          <ac:chgData name="Harris, Wyatt J Lt Col USAF USAFA DF/DFAS" userId="768bfb95-c272-4014-8fa2-010c15306053" providerId="ADAL" clId="{95571437-1CDD-49A9-9F44-9267EE8F1204}" dt="2026-02-25T04:55:25.025" v="16699" actId="20577"/>
          <ac:spMkLst>
            <pc:docMk/>
            <pc:sldMk cId="2953783623" sldId="257"/>
            <ac:spMk id="10" creationId="{36E7FF56-53AE-427A-37D2-A0E2F2CFEDD0}"/>
          </ac:spMkLst>
        </pc:spChg>
      </pc:sldChg>
      <pc:sldChg chg="addSp delSp modSp add mod setBg">
        <pc:chgData name="Harris, Wyatt J Lt Col USAF USAFA DF/DFAS" userId="768bfb95-c272-4014-8fa2-010c15306053" providerId="ADAL" clId="{95571437-1CDD-49A9-9F44-9267EE8F1204}" dt="2026-02-25T04:55:08.564" v="16695" actId="20577"/>
        <pc:sldMkLst>
          <pc:docMk/>
          <pc:sldMk cId="1587559954" sldId="264"/>
        </pc:sldMkLst>
        <pc:spChg chg="mod">
          <ac:chgData name="Harris, Wyatt J Lt Col USAF USAFA DF/DFAS" userId="768bfb95-c272-4014-8fa2-010c15306053" providerId="ADAL" clId="{95571437-1CDD-49A9-9F44-9267EE8F1204}" dt="2026-02-24T03:55:24.715" v="15664" actId="1076"/>
          <ac:spMkLst>
            <pc:docMk/>
            <pc:sldMk cId="1587559954" sldId="264"/>
            <ac:spMk id="2" creationId="{0D45D7E1-852E-FB4A-2370-5A54E260EC47}"/>
          </ac:spMkLst>
        </pc:spChg>
        <pc:spChg chg="mod">
          <ac:chgData name="Harris, Wyatt J Lt Col USAF USAFA DF/DFAS" userId="768bfb95-c272-4014-8fa2-010c15306053" providerId="ADAL" clId="{95571437-1CDD-49A9-9F44-9267EE8F1204}" dt="2026-02-24T03:16:33.963" v="13885" actId="6549"/>
          <ac:spMkLst>
            <pc:docMk/>
            <pc:sldMk cId="1587559954" sldId="264"/>
            <ac:spMk id="3" creationId="{12663027-B588-8233-955A-249DF0262781}"/>
          </ac:spMkLst>
        </pc:spChg>
        <pc:spChg chg="mod">
          <ac:chgData name="Harris, Wyatt J Lt Col USAF USAFA DF/DFAS" userId="768bfb95-c272-4014-8fa2-010c15306053" providerId="ADAL" clId="{95571437-1CDD-49A9-9F44-9267EE8F1204}" dt="2026-02-25T04:55:08.564" v="16695" actId="20577"/>
          <ac:spMkLst>
            <pc:docMk/>
            <pc:sldMk cId="1587559954" sldId="264"/>
            <ac:spMk id="4" creationId="{4584DD20-8E8A-C588-6666-212AEA926FED}"/>
          </ac:spMkLst>
        </pc:spChg>
        <pc:spChg chg="add mod ord">
          <ac:chgData name="Harris, Wyatt J Lt Col USAF USAFA DF/DFAS" userId="768bfb95-c272-4014-8fa2-010c15306053" providerId="ADAL" clId="{95571437-1CDD-49A9-9F44-9267EE8F1204}" dt="2026-02-25T04:55:06.373" v="16694" actId="167"/>
          <ac:spMkLst>
            <pc:docMk/>
            <pc:sldMk cId="1587559954" sldId="264"/>
            <ac:spMk id="6" creationId="{0A2F508F-74C2-8C0C-BC60-0FE58E3477AB}"/>
          </ac:spMkLst>
        </pc:spChg>
        <pc:spChg chg="mod">
          <ac:chgData name="Harris, Wyatt J Lt Col USAF USAFA DF/DFAS" userId="768bfb95-c272-4014-8fa2-010c15306053" providerId="ADAL" clId="{95571437-1CDD-49A9-9F44-9267EE8F1204}" dt="2026-02-24T03:18:07.789" v="13914" actId="20577"/>
          <ac:spMkLst>
            <pc:docMk/>
            <pc:sldMk cId="1587559954" sldId="264"/>
            <ac:spMk id="7" creationId="{0A61D0E3-5309-864E-4A7A-2512BDF93B07}"/>
          </ac:spMkLst>
        </pc:spChg>
        <pc:spChg chg="mod">
          <ac:chgData name="Harris, Wyatt J Lt Col USAF USAFA DF/DFAS" userId="768bfb95-c272-4014-8fa2-010c15306053" providerId="ADAL" clId="{95571437-1CDD-49A9-9F44-9267EE8F1204}" dt="2026-02-24T03:55:42.648" v="15668" actId="1076"/>
          <ac:spMkLst>
            <pc:docMk/>
            <pc:sldMk cId="1587559954" sldId="264"/>
            <ac:spMk id="11" creationId="{441E8ABF-C4B6-0C01-C020-1EDAD9522100}"/>
          </ac:spMkLst>
        </pc:spChg>
        <pc:spChg chg="mod">
          <ac:chgData name="Harris, Wyatt J Lt Col USAF USAFA DF/DFAS" userId="768bfb95-c272-4014-8fa2-010c15306053" providerId="ADAL" clId="{95571437-1CDD-49A9-9F44-9267EE8F1204}" dt="2026-02-24T03:55:47.384" v="15669" actId="1076"/>
          <ac:spMkLst>
            <pc:docMk/>
            <pc:sldMk cId="1587559954" sldId="264"/>
            <ac:spMk id="12" creationId="{C8006994-84C0-3A3E-EFC5-B85507285A2F}"/>
          </ac:spMkLst>
        </pc:spChg>
      </pc:sldChg>
      <pc:sldChg chg="addSp delSp modSp add mod">
        <pc:chgData name="Harris, Wyatt J Lt Col USAF USAFA DF/DFAS" userId="768bfb95-c272-4014-8fa2-010c15306053" providerId="ADAL" clId="{95571437-1CDD-49A9-9F44-9267EE8F1204}" dt="2026-02-24T03:13:16.837" v="13867"/>
        <pc:sldMkLst>
          <pc:docMk/>
          <pc:sldMk cId="1168505971" sldId="282"/>
        </pc:sldMkLst>
        <pc:spChg chg="add mod">
          <ac:chgData name="Harris, Wyatt J Lt Col USAF USAFA DF/DFAS" userId="768bfb95-c272-4014-8fa2-010c15306053" providerId="ADAL" clId="{95571437-1CDD-49A9-9F44-9267EE8F1204}" dt="2026-02-24T03:13:16.837" v="13867"/>
          <ac:spMkLst>
            <pc:docMk/>
            <pc:sldMk cId="1168505971" sldId="282"/>
            <ac:spMk id="6" creationId="{76B72498-F345-5D04-E58F-EAF2E8A08053}"/>
          </ac:spMkLst>
        </pc:spChg>
        <pc:spChg chg="add mod">
          <ac:chgData name="Harris, Wyatt J Lt Col USAF USAFA DF/DFAS" userId="768bfb95-c272-4014-8fa2-010c15306053" providerId="ADAL" clId="{95571437-1CDD-49A9-9F44-9267EE8F1204}" dt="2026-02-24T03:13:16.837" v="13867"/>
          <ac:spMkLst>
            <pc:docMk/>
            <pc:sldMk cId="1168505971" sldId="282"/>
            <ac:spMk id="9" creationId="{95B563B6-263E-0142-F0E4-A0FEBB20959F}"/>
          </ac:spMkLst>
        </pc:spChg>
        <pc:spChg chg="add mod">
          <ac:chgData name="Harris, Wyatt J Lt Col USAF USAFA DF/DFAS" userId="768bfb95-c272-4014-8fa2-010c15306053" providerId="ADAL" clId="{95571437-1CDD-49A9-9F44-9267EE8F1204}" dt="2026-02-24T03:13:16.837" v="13867"/>
          <ac:spMkLst>
            <pc:docMk/>
            <pc:sldMk cId="1168505971" sldId="282"/>
            <ac:spMk id="11" creationId="{613283EA-C6DF-3872-A9D0-CA14A296B5A0}"/>
          </ac:spMkLst>
        </pc:spChg>
        <pc:spChg chg="mod">
          <ac:chgData name="Harris, Wyatt J Lt Col USAF USAFA DF/DFAS" userId="768bfb95-c272-4014-8fa2-010c15306053" providerId="ADAL" clId="{95571437-1CDD-49A9-9F44-9267EE8F1204}" dt="2026-02-24T03:13:16.837" v="13867"/>
          <ac:spMkLst>
            <pc:docMk/>
            <pc:sldMk cId="1168505971" sldId="282"/>
            <ac:spMk id="18" creationId="{7A3F6E4E-6C1B-9CDD-95E3-A72F31801A2A}"/>
          </ac:spMkLst>
        </pc:spChg>
        <pc:spChg chg="mod">
          <ac:chgData name="Harris, Wyatt J Lt Col USAF USAFA DF/DFAS" userId="768bfb95-c272-4014-8fa2-010c15306053" providerId="ADAL" clId="{95571437-1CDD-49A9-9F44-9267EE8F1204}" dt="2026-02-24T03:13:16.837" v="13867"/>
          <ac:spMkLst>
            <pc:docMk/>
            <pc:sldMk cId="1168505971" sldId="282"/>
            <ac:spMk id="19" creationId="{0BFFC258-81F9-2401-300B-37E7E2946516}"/>
          </ac:spMkLst>
        </pc:spChg>
        <pc:spChg chg="mod">
          <ac:chgData name="Harris, Wyatt J Lt Col USAF USAFA DF/DFAS" userId="768bfb95-c272-4014-8fa2-010c15306053" providerId="ADAL" clId="{95571437-1CDD-49A9-9F44-9267EE8F1204}" dt="2026-02-24T03:13:16.837" v="13867"/>
          <ac:spMkLst>
            <pc:docMk/>
            <pc:sldMk cId="1168505971" sldId="282"/>
            <ac:spMk id="24" creationId="{93CB1F2C-15DF-BA98-B207-E313409CBAEA}"/>
          </ac:spMkLst>
        </pc:spChg>
        <pc:spChg chg="mod">
          <ac:chgData name="Harris, Wyatt J Lt Col USAF USAFA DF/DFAS" userId="768bfb95-c272-4014-8fa2-010c15306053" providerId="ADAL" clId="{95571437-1CDD-49A9-9F44-9267EE8F1204}" dt="2026-02-24T03:13:16.837" v="13867"/>
          <ac:spMkLst>
            <pc:docMk/>
            <pc:sldMk cId="1168505971" sldId="282"/>
            <ac:spMk id="27" creationId="{7A5ADCC0-22CC-D3FE-9731-EB98EFB5EEB2}"/>
          </ac:spMkLst>
        </pc:spChg>
        <pc:spChg chg="mod">
          <ac:chgData name="Harris, Wyatt J Lt Col USAF USAFA DF/DFAS" userId="768bfb95-c272-4014-8fa2-010c15306053" providerId="ADAL" clId="{95571437-1CDD-49A9-9F44-9267EE8F1204}" dt="2026-02-24T03:13:16.837" v="13867"/>
          <ac:spMkLst>
            <pc:docMk/>
            <pc:sldMk cId="1168505971" sldId="282"/>
            <ac:spMk id="33" creationId="{35E9B030-AC3D-F424-BCD6-0ADFB8392F3C}"/>
          </ac:spMkLst>
        </pc:spChg>
        <pc:spChg chg="mod">
          <ac:chgData name="Harris, Wyatt J Lt Col USAF USAFA DF/DFAS" userId="768bfb95-c272-4014-8fa2-010c15306053" providerId="ADAL" clId="{95571437-1CDD-49A9-9F44-9267EE8F1204}" dt="2026-02-24T03:13:16.837" v="13867"/>
          <ac:spMkLst>
            <pc:docMk/>
            <pc:sldMk cId="1168505971" sldId="282"/>
            <ac:spMk id="34" creationId="{8496D128-CB4F-3F0D-4E31-0484BD31C731}"/>
          </ac:spMkLst>
        </pc:spChg>
        <pc:spChg chg="mod">
          <ac:chgData name="Harris, Wyatt J Lt Col USAF USAFA DF/DFAS" userId="768bfb95-c272-4014-8fa2-010c15306053" providerId="ADAL" clId="{95571437-1CDD-49A9-9F44-9267EE8F1204}" dt="2026-02-24T03:13:16.837" v="13867"/>
          <ac:spMkLst>
            <pc:docMk/>
            <pc:sldMk cId="1168505971" sldId="282"/>
            <ac:spMk id="35" creationId="{BED81A61-1F31-BAB7-9769-D64CB07D0D7E}"/>
          </ac:spMkLst>
        </pc:spChg>
      </pc:sldChg>
      <pc:sldChg chg="addSp modSp mod setBg modShow">
        <pc:chgData name="Harris, Wyatt J Lt Col USAF USAFA DF/DFAS" userId="768bfb95-c272-4014-8fa2-010c15306053" providerId="ADAL" clId="{95571437-1CDD-49A9-9F44-9267EE8F1204}" dt="2026-02-25T05:07:28.981" v="17078" actId="313"/>
        <pc:sldMkLst>
          <pc:docMk/>
          <pc:sldMk cId="2721645309" sldId="287"/>
        </pc:sldMkLst>
        <pc:spChg chg="mod">
          <ac:chgData name="Harris, Wyatt J Lt Col USAF USAFA DF/DFAS" userId="768bfb95-c272-4014-8fa2-010c15306053" providerId="ADAL" clId="{95571437-1CDD-49A9-9F44-9267EE8F1204}" dt="2026-02-25T03:15:08.039" v="16420"/>
          <ac:spMkLst>
            <pc:docMk/>
            <pc:sldMk cId="2721645309" sldId="287"/>
            <ac:spMk id="2" creationId="{3386E74E-AD7F-9E4A-FE28-9795A69310A9}"/>
          </ac:spMkLst>
        </pc:spChg>
        <pc:spChg chg="mod">
          <ac:chgData name="Harris, Wyatt J Lt Col USAF USAFA DF/DFAS" userId="768bfb95-c272-4014-8fa2-010c15306053" providerId="ADAL" clId="{95571437-1CDD-49A9-9F44-9267EE8F1204}" dt="2026-02-25T05:07:28.981" v="17078" actId="313"/>
          <ac:spMkLst>
            <pc:docMk/>
            <pc:sldMk cId="2721645309" sldId="287"/>
            <ac:spMk id="3" creationId="{9AD8DC51-930D-0124-E2FD-A58951FD2B5A}"/>
          </ac:spMkLst>
        </pc:spChg>
        <pc:spChg chg="add mod">
          <ac:chgData name="Harris, Wyatt J Lt Col USAF USAFA DF/DFAS" userId="768bfb95-c272-4014-8fa2-010c15306053" providerId="ADAL" clId="{95571437-1CDD-49A9-9F44-9267EE8F1204}" dt="2026-02-25T03:15:46.943" v="16421"/>
          <ac:spMkLst>
            <pc:docMk/>
            <pc:sldMk cId="2721645309" sldId="287"/>
            <ac:spMk id="7" creationId="{A97AA505-0773-35C4-6581-B2E32571A569}"/>
          </ac:spMkLst>
        </pc:spChg>
      </pc:sldChg>
      <pc:sldChg chg="addSp modSp mod">
        <pc:chgData name="Harris, Wyatt J Lt Col USAF USAFA DF/DFAS" userId="768bfb95-c272-4014-8fa2-010c15306053" providerId="ADAL" clId="{95571437-1CDD-49A9-9F44-9267EE8F1204}" dt="2026-02-25T04:58:14.135" v="16900" actId="208"/>
        <pc:sldMkLst>
          <pc:docMk/>
          <pc:sldMk cId="850206098" sldId="289"/>
        </pc:sldMkLst>
        <pc:spChg chg="mod">
          <ac:chgData name="Harris, Wyatt J Lt Col USAF USAFA DF/DFAS" userId="768bfb95-c272-4014-8fa2-010c15306053" providerId="ADAL" clId="{95571437-1CDD-49A9-9F44-9267EE8F1204}" dt="2026-02-25T04:56:24.209" v="16709" actId="14100"/>
          <ac:spMkLst>
            <pc:docMk/>
            <pc:sldMk cId="850206098" sldId="289"/>
            <ac:spMk id="3" creationId="{EC3A5CBC-C35B-0633-457F-C50346167A5A}"/>
          </ac:spMkLst>
        </pc:spChg>
        <pc:spChg chg="mod">
          <ac:chgData name="Harris, Wyatt J Lt Col USAF USAFA DF/DFAS" userId="768bfb95-c272-4014-8fa2-010c15306053" providerId="ADAL" clId="{95571437-1CDD-49A9-9F44-9267EE8F1204}" dt="2026-02-25T04:56:10.527" v="16706" actId="1076"/>
          <ac:spMkLst>
            <pc:docMk/>
            <pc:sldMk cId="850206098" sldId="289"/>
            <ac:spMk id="4" creationId="{D61BF715-35E7-5C7F-34F5-A0BB186D1561}"/>
          </ac:spMkLst>
        </pc:spChg>
        <pc:spChg chg="add mod">
          <ac:chgData name="Harris, Wyatt J Lt Col USAF USAFA DF/DFAS" userId="768bfb95-c272-4014-8fa2-010c15306053" providerId="ADAL" clId="{95571437-1CDD-49A9-9F44-9267EE8F1204}" dt="2026-02-25T04:58:14.135" v="16900" actId="208"/>
          <ac:spMkLst>
            <pc:docMk/>
            <pc:sldMk cId="850206098" sldId="289"/>
            <ac:spMk id="7" creationId="{D5ADDC31-BB4C-752A-01A1-9A4F876EC1FE}"/>
          </ac:spMkLst>
        </pc:spChg>
        <pc:picChg chg="mod">
          <ac:chgData name="Harris, Wyatt J Lt Col USAF USAFA DF/DFAS" userId="768bfb95-c272-4014-8fa2-010c15306053" providerId="ADAL" clId="{95571437-1CDD-49A9-9F44-9267EE8F1204}" dt="2026-02-25T04:56:15.753" v="16708" actId="1076"/>
          <ac:picMkLst>
            <pc:docMk/>
            <pc:sldMk cId="850206098" sldId="289"/>
            <ac:picMk id="11" creationId="{B0E07849-E34D-93B5-EDB5-D6D7119D8E13}"/>
          </ac:picMkLst>
        </pc:picChg>
        <pc:picChg chg="mod">
          <ac:chgData name="Harris, Wyatt J Lt Col USAF USAFA DF/DFAS" userId="768bfb95-c272-4014-8fa2-010c15306053" providerId="ADAL" clId="{95571437-1CDD-49A9-9F44-9267EE8F1204}" dt="2026-02-25T04:56:14.105" v="16707" actId="1076"/>
          <ac:picMkLst>
            <pc:docMk/>
            <pc:sldMk cId="850206098" sldId="289"/>
            <ac:picMk id="15" creationId="{5BCD6C2C-FD75-CD14-A6EA-48BEFC4E6FE5}"/>
          </ac:picMkLst>
        </pc:picChg>
      </pc:sldChg>
      <pc:sldChg chg="addSp delSp modSp mod modShow">
        <pc:chgData name="Harris, Wyatt J Lt Col USAF USAFA DF/DFAS" userId="768bfb95-c272-4014-8fa2-010c15306053" providerId="ADAL" clId="{95571437-1CDD-49A9-9F44-9267EE8F1204}" dt="2026-02-25T03:13:21.949" v="16419" actId="729"/>
        <pc:sldMkLst>
          <pc:docMk/>
          <pc:sldMk cId="977904636" sldId="290"/>
        </pc:sldMkLst>
        <pc:spChg chg="mod">
          <ac:chgData name="Harris, Wyatt J Lt Col USAF USAFA DF/DFAS" userId="768bfb95-c272-4014-8fa2-010c15306053" providerId="ADAL" clId="{95571437-1CDD-49A9-9F44-9267EE8F1204}" dt="2026-02-24T04:09:50.945" v="16360" actId="27636"/>
          <ac:spMkLst>
            <pc:docMk/>
            <pc:sldMk cId="977904636" sldId="290"/>
            <ac:spMk id="3" creationId="{C1C192FD-F8DF-5B1B-5459-0E32EFF9BFF2}"/>
          </ac:spMkLst>
        </pc:spChg>
        <pc:picChg chg="add mod">
          <ac:chgData name="Harris, Wyatt J Lt Col USAF USAFA DF/DFAS" userId="768bfb95-c272-4014-8fa2-010c15306053" providerId="ADAL" clId="{95571437-1CDD-49A9-9F44-9267EE8F1204}" dt="2026-02-24T04:09:37.646" v="16355" actId="1076"/>
          <ac:picMkLst>
            <pc:docMk/>
            <pc:sldMk cId="977904636" sldId="290"/>
            <ac:picMk id="7" creationId="{B3C7DB4F-3048-8BF8-1E27-7423118EADF1}"/>
          </ac:picMkLst>
        </pc:picChg>
        <pc:picChg chg="add mod">
          <ac:chgData name="Harris, Wyatt J Lt Col USAF USAFA DF/DFAS" userId="768bfb95-c272-4014-8fa2-010c15306053" providerId="ADAL" clId="{95571437-1CDD-49A9-9F44-9267EE8F1204}" dt="2026-02-24T04:09:42.839" v="16358" actId="1076"/>
          <ac:picMkLst>
            <pc:docMk/>
            <pc:sldMk cId="977904636" sldId="290"/>
            <ac:picMk id="1026" creationId="{D9ABB9AB-70D8-0540-C83A-8B53149790FD}"/>
          </ac:picMkLst>
        </pc:picChg>
      </pc:sldChg>
      <pc:sldChg chg="addSp delSp modSp mod modShow">
        <pc:chgData name="Harris, Wyatt J Lt Col USAF USAFA DF/DFAS" userId="768bfb95-c272-4014-8fa2-010c15306053" providerId="ADAL" clId="{95571437-1CDD-49A9-9F44-9267EE8F1204}" dt="2026-02-25T05:17:09.687" v="17142" actId="1076"/>
        <pc:sldMkLst>
          <pc:docMk/>
          <pc:sldMk cId="2377937761" sldId="291"/>
        </pc:sldMkLst>
        <pc:spChg chg="mod">
          <ac:chgData name="Harris, Wyatt J Lt Col USAF USAFA DF/DFAS" userId="768bfb95-c272-4014-8fa2-010c15306053" providerId="ADAL" clId="{95571437-1CDD-49A9-9F44-9267EE8F1204}" dt="2026-02-25T05:16:46.801" v="17138" actId="207"/>
          <ac:spMkLst>
            <pc:docMk/>
            <pc:sldMk cId="2377937761" sldId="291"/>
            <ac:spMk id="3" creationId="{58A15115-0C55-373E-DAF5-DD0370CB4465}"/>
          </ac:spMkLst>
        </pc:spChg>
        <pc:spChg chg="add mod">
          <ac:chgData name="Harris, Wyatt J Lt Col USAF USAFA DF/DFAS" userId="768bfb95-c272-4014-8fa2-010c15306053" providerId="ADAL" clId="{95571437-1CDD-49A9-9F44-9267EE8F1204}" dt="2026-02-25T05:16:29.839" v="17136" actId="1076"/>
          <ac:spMkLst>
            <pc:docMk/>
            <pc:sldMk cId="2377937761" sldId="291"/>
            <ac:spMk id="6" creationId="{C6E73A1A-6FB4-00CE-13D9-3FB53D90FB0C}"/>
          </ac:spMkLst>
        </pc:spChg>
        <pc:spChg chg="mod">
          <ac:chgData name="Harris, Wyatt J Lt Col USAF USAFA DF/DFAS" userId="768bfb95-c272-4014-8fa2-010c15306053" providerId="ADAL" clId="{95571437-1CDD-49A9-9F44-9267EE8F1204}" dt="2026-02-25T05:16:51.208" v="17139" actId="1076"/>
          <ac:spMkLst>
            <pc:docMk/>
            <pc:sldMk cId="2377937761" sldId="291"/>
            <ac:spMk id="12" creationId="{B6966122-E623-D4C9-F9E9-72C31B7E56C9}"/>
          </ac:spMkLst>
        </pc:spChg>
        <pc:picChg chg="mod">
          <ac:chgData name="Harris, Wyatt J Lt Col USAF USAFA DF/DFAS" userId="768bfb95-c272-4014-8fa2-010c15306053" providerId="ADAL" clId="{95571437-1CDD-49A9-9F44-9267EE8F1204}" dt="2026-02-25T05:17:09.687" v="17142" actId="1076"/>
          <ac:picMkLst>
            <pc:docMk/>
            <pc:sldMk cId="2377937761" sldId="291"/>
            <ac:picMk id="9" creationId="{3803205B-2F8B-7B0E-2E53-4F6A9BF12791}"/>
          </ac:picMkLst>
        </pc:picChg>
      </pc:sldChg>
      <pc:sldChg chg="addSp delSp modSp mod modShow">
        <pc:chgData name="Harris, Wyatt J Lt Col USAF USAFA DF/DFAS" userId="768bfb95-c272-4014-8fa2-010c15306053" providerId="ADAL" clId="{95571437-1CDD-49A9-9F44-9267EE8F1204}" dt="2026-02-25T05:03:48.313" v="16952" actId="20577"/>
        <pc:sldMkLst>
          <pc:docMk/>
          <pc:sldMk cId="1125936856" sldId="292"/>
        </pc:sldMkLst>
        <pc:spChg chg="add mod">
          <ac:chgData name="Harris, Wyatt J Lt Col USAF USAFA DF/DFAS" userId="768bfb95-c272-4014-8fa2-010c15306053" providerId="ADAL" clId="{95571437-1CDD-49A9-9F44-9267EE8F1204}" dt="2026-02-25T05:03:48.313" v="16952" actId="20577"/>
          <ac:spMkLst>
            <pc:docMk/>
            <pc:sldMk cId="1125936856" sldId="292"/>
            <ac:spMk id="10" creationId="{FBEA4362-B1B5-13D6-F253-38761097149A}"/>
          </ac:spMkLst>
        </pc:spChg>
      </pc:sldChg>
      <pc:sldChg chg="mod modShow">
        <pc:chgData name="Harris, Wyatt J Lt Col USAF USAFA DF/DFAS" userId="768bfb95-c272-4014-8fa2-010c15306053" providerId="ADAL" clId="{95571437-1CDD-49A9-9F44-9267EE8F1204}" dt="2026-02-25T03:13:21.949" v="16419" actId="729"/>
        <pc:sldMkLst>
          <pc:docMk/>
          <pc:sldMk cId="845961559" sldId="293"/>
        </pc:sldMkLst>
      </pc:sldChg>
      <pc:sldChg chg="modSp mod modShow">
        <pc:chgData name="Harris, Wyatt J Lt Col USAF USAFA DF/DFAS" userId="768bfb95-c272-4014-8fa2-010c15306053" providerId="ADAL" clId="{95571437-1CDD-49A9-9F44-9267EE8F1204}" dt="2026-02-25T05:05:28.526" v="16974" actId="20577"/>
        <pc:sldMkLst>
          <pc:docMk/>
          <pc:sldMk cId="4100502419" sldId="294"/>
        </pc:sldMkLst>
        <pc:spChg chg="mod">
          <ac:chgData name="Harris, Wyatt J Lt Col USAF USAFA DF/DFAS" userId="768bfb95-c272-4014-8fa2-010c15306053" providerId="ADAL" clId="{95571437-1CDD-49A9-9F44-9267EE8F1204}" dt="2026-02-25T05:05:28.526" v="16974" actId="20577"/>
          <ac:spMkLst>
            <pc:docMk/>
            <pc:sldMk cId="4100502419" sldId="294"/>
            <ac:spMk id="3" creationId="{37DE4823-B28E-D505-671C-D3DC4015DBE2}"/>
          </ac:spMkLst>
        </pc:spChg>
      </pc:sldChg>
      <pc:sldChg chg="modSp add mod">
        <pc:chgData name="Harris, Wyatt J Lt Col USAF USAFA DF/DFAS" userId="768bfb95-c272-4014-8fa2-010c15306053" providerId="ADAL" clId="{95571437-1CDD-49A9-9F44-9267EE8F1204}" dt="2026-02-24T03:14:58.679" v="13878" actId="20577"/>
        <pc:sldMkLst>
          <pc:docMk/>
          <pc:sldMk cId="1039443456" sldId="295"/>
        </pc:sldMkLst>
        <pc:spChg chg="mod">
          <ac:chgData name="Harris, Wyatt J Lt Col USAF USAFA DF/DFAS" userId="768bfb95-c272-4014-8fa2-010c15306053" providerId="ADAL" clId="{95571437-1CDD-49A9-9F44-9267EE8F1204}" dt="2026-02-24T03:14:58.679" v="13878" actId="20577"/>
          <ac:spMkLst>
            <pc:docMk/>
            <pc:sldMk cId="1039443456" sldId="295"/>
            <ac:spMk id="14" creationId="{7EAA4AF2-A593-111D-63D1-B05A1CE9B2A1}"/>
          </ac:spMkLst>
        </pc:spChg>
      </pc:sldChg>
      <pc:sldChg chg="addSp delSp modSp add mod">
        <pc:chgData name="Harris, Wyatt J Lt Col USAF USAFA DF/DFAS" userId="768bfb95-c272-4014-8fa2-010c15306053" providerId="ADAL" clId="{95571437-1CDD-49A9-9F44-9267EE8F1204}" dt="2026-02-25T04:54:52.399" v="16693" actId="20577"/>
        <pc:sldMkLst>
          <pc:docMk/>
          <pc:sldMk cId="3322682774" sldId="296"/>
        </pc:sldMkLst>
        <pc:spChg chg="mod">
          <ac:chgData name="Harris, Wyatt J Lt Col USAF USAFA DF/DFAS" userId="768bfb95-c272-4014-8fa2-010c15306053" providerId="ADAL" clId="{95571437-1CDD-49A9-9F44-9267EE8F1204}" dt="2026-02-25T04:54:52.399" v="16693" actId="20577"/>
          <ac:spMkLst>
            <pc:docMk/>
            <pc:sldMk cId="3322682774" sldId="296"/>
            <ac:spMk id="4" creationId="{8DF288B1-DF9D-003A-A04A-D7529E73154E}"/>
          </ac:spMkLst>
        </pc:spChg>
        <pc:graphicFrameChg chg="add mod modGraphic">
          <ac:chgData name="Harris, Wyatt J Lt Col USAF USAFA DF/DFAS" userId="768bfb95-c272-4014-8fa2-010c15306053" providerId="ADAL" clId="{95571437-1CDD-49A9-9F44-9267EE8F1204}" dt="2026-02-24T03:59:43.808" v="15927" actId="1076"/>
          <ac:graphicFrameMkLst>
            <pc:docMk/>
            <pc:sldMk cId="3322682774" sldId="296"/>
            <ac:graphicFrameMk id="8" creationId="{AD4F1FE2-8A0F-43B4-D37F-05DFEF77941E}"/>
          </ac:graphicFrameMkLst>
        </pc:graphicFrameChg>
        <pc:graphicFrameChg chg="mod modGraphic">
          <ac:chgData name="Harris, Wyatt J Lt Col USAF USAFA DF/DFAS" userId="768bfb95-c272-4014-8fa2-010c15306053" providerId="ADAL" clId="{95571437-1CDD-49A9-9F44-9267EE8F1204}" dt="2026-02-24T03:59:39.335" v="15925" actId="1076"/>
          <ac:graphicFrameMkLst>
            <pc:docMk/>
            <pc:sldMk cId="3322682774" sldId="296"/>
            <ac:graphicFrameMk id="10" creationId="{E78C6A79-0958-B265-0B09-1C4C17D13A10}"/>
          </ac:graphicFrameMkLst>
        </pc:graphicFrameChg>
      </pc:sldChg>
      <pc:sldChg chg="addSp delSp modSp new mod">
        <pc:chgData name="Harris, Wyatt J Lt Col USAF USAFA DF/DFAS" userId="768bfb95-c272-4014-8fa2-010c15306053" providerId="ADAL" clId="{95571437-1CDD-49A9-9F44-9267EE8F1204}" dt="2026-02-25T05:23:02.103" v="17202" actId="1076"/>
        <pc:sldMkLst>
          <pc:docMk/>
          <pc:sldMk cId="3855013839" sldId="297"/>
        </pc:sldMkLst>
        <pc:spChg chg="mod">
          <ac:chgData name="Harris, Wyatt J Lt Col USAF USAFA DF/DFAS" userId="768bfb95-c272-4014-8fa2-010c15306053" providerId="ADAL" clId="{95571437-1CDD-49A9-9F44-9267EE8F1204}" dt="2026-02-25T05:19:19.225" v="17170" actId="20577"/>
          <ac:spMkLst>
            <pc:docMk/>
            <pc:sldMk cId="3855013839" sldId="297"/>
            <ac:spMk id="2" creationId="{664CFE19-5D5C-A093-CC34-659177EAE8AE}"/>
          </ac:spMkLst>
        </pc:spChg>
        <pc:spChg chg="add mod">
          <ac:chgData name="Harris, Wyatt J Lt Col USAF USAFA DF/DFAS" userId="768bfb95-c272-4014-8fa2-010c15306053" providerId="ADAL" clId="{95571437-1CDD-49A9-9F44-9267EE8F1204}" dt="2026-02-25T05:19:24.935" v="17172"/>
          <ac:spMkLst>
            <pc:docMk/>
            <pc:sldMk cId="3855013839" sldId="297"/>
            <ac:spMk id="6" creationId="{8151CCD2-2538-7236-F369-3723549AF040}"/>
          </ac:spMkLst>
        </pc:spChg>
        <pc:picChg chg="add mod">
          <ac:chgData name="Harris, Wyatt J Lt Col USAF USAFA DF/DFAS" userId="768bfb95-c272-4014-8fa2-010c15306053" providerId="ADAL" clId="{95571437-1CDD-49A9-9F44-9267EE8F1204}" dt="2026-02-25T05:21:47.504" v="17180" actId="1076"/>
          <ac:picMkLst>
            <pc:docMk/>
            <pc:sldMk cId="3855013839" sldId="297"/>
            <ac:picMk id="8" creationId="{ECBE7E78-C771-81F4-0F7E-F8F5A25B6EB3}"/>
          </ac:picMkLst>
        </pc:picChg>
        <pc:picChg chg="add mod">
          <ac:chgData name="Harris, Wyatt J Lt Col USAF USAFA DF/DFAS" userId="768bfb95-c272-4014-8fa2-010c15306053" providerId="ADAL" clId="{95571437-1CDD-49A9-9F44-9267EE8F1204}" dt="2026-02-25T05:23:02.103" v="17202" actId="1076"/>
          <ac:picMkLst>
            <pc:docMk/>
            <pc:sldMk cId="3855013839" sldId="297"/>
            <ac:picMk id="10" creationId="{88FA1F90-4BFA-A442-382D-35CCD132DBBE}"/>
          </ac:picMkLst>
        </pc:picChg>
        <pc:picChg chg="add mod">
          <ac:chgData name="Harris, Wyatt J Lt Col USAF USAFA DF/DFAS" userId="768bfb95-c272-4014-8fa2-010c15306053" providerId="ADAL" clId="{95571437-1CDD-49A9-9F44-9267EE8F1204}" dt="2026-02-25T05:22:43.054" v="17197" actId="1076"/>
          <ac:picMkLst>
            <pc:docMk/>
            <pc:sldMk cId="3855013839" sldId="297"/>
            <ac:picMk id="12" creationId="{8930E4BA-A55F-C869-9667-CFF8BC590FF7}"/>
          </ac:picMkLst>
        </pc:picChg>
        <pc:picChg chg="add mod">
          <ac:chgData name="Harris, Wyatt J Lt Col USAF USAFA DF/DFAS" userId="768bfb95-c272-4014-8fa2-010c15306053" providerId="ADAL" clId="{95571437-1CDD-49A9-9F44-9267EE8F1204}" dt="2026-02-25T05:23:00.263" v="17201" actId="1076"/>
          <ac:picMkLst>
            <pc:docMk/>
            <pc:sldMk cId="3855013839" sldId="297"/>
            <ac:picMk id="14" creationId="{930552A1-D033-312A-28E3-E27B2993D1D8}"/>
          </ac:picMkLst>
        </pc:picChg>
      </pc:sldChg>
      <pc:sldMasterChg chg="modSp mod">
        <pc:chgData name="Harris, Wyatt J Lt Col USAF USAFA DF/DFAS" userId="768bfb95-c272-4014-8fa2-010c15306053" providerId="ADAL" clId="{95571437-1CDD-49A9-9F44-9267EE8F1204}" dt="2026-02-25T04:54:38.615" v="16692" actId="20577"/>
        <pc:sldMasterMkLst>
          <pc:docMk/>
          <pc:sldMasterMk cId="85601226" sldId="2147483660"/>
        </pc:sldMasterMkLst>
        <pc:spChg chg="mod">
          <ac:chgData name="Harris, Wyatt J Lt Col USAF USAFA DF/DFAS" userId="768bfb95-c272-4014-8fa2-010c15306053" providerId="ADAL" clId="{95571437-1CDD-49A9-9F44-9267EE8F1204}" dt="2026-02-25T04:54:38.615" v="16692" actId="20577"/>
          <ac:spMkLst>
            <pc:docMk/>
            <pc:sldMasterMk cId="85601226" sldId="2147483660"/>
            <ac:spMk id="5" creationId="{00000000-0000-0000-0000-000000000000}"/>
          </ac:spMkLst>
        </pc:spChg>
        <pc:spChg chg="mod">
          <ac:chgData name="Harris, Wyatt J Lt Col USAF USAFA DF/DFAS" userId="768bfb95-c272-4014-8fa2-010c15306053" providerId="ADAL" clId="{95571437-1CDD-49A9-9F44-9267EE8F1204}" dt="2026-02-24T03:13:34.756" v="13875"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3/2/2026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1967807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65F63-E129-F5CA-73D3-E68801F81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44307-7954-C51F-9060-E497023C6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71BC9-0C60-6C68-ECDA-614A46420C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04DDDE-9CE3-3119-1A38-F85683E2B066}"/>
              </a:ext>
            </a:extLst>
          </p:cNvPr>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787386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#7</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3/2/2026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3/2/2026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3/2/2026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3/2/2026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3/2/2026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3/2/2026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Astro 331 Lab #7</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670307" y="72097"/>
            <a:ext cx="1415466"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hyperlink" Target="https://www.pololu.com/category/271/12v-37d-metal-gearmotors"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pololu.com/product/2997"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#7</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Attitude Control</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89" y="1003300"/>
            <a:ext cx="5281493" cy="4761819"/>
          </a:xfrm>
        </p:spPr>
        <p:txBody>
          <a:bodyPr>
            <a:normAutofit/>
          </a:bodyPr>
          <a:lstStyle/>
          <a:p>
            <a:pPr marL="0" indent="0">
              <a:buNone/>
            </a:pPr>
            <a:r>
              <a:rPr lang="en-US" sz="1600" b="1" dirty="0"/>
              <a:t>In this lab you will integrate and test KestrelSAT’s attitude control system. </a:t>
            </a:r>
          </a:p>
          <a:p>
            <a:pPr marL="0" indent="0">
              <a:buNone/>
            </a:pPr>
            <a:r>
              <a:rPr lang="en-US" sz="1600" dirty="0"/>
              <a:t>You will connect the reaction wheel to a motor controller, and the motor controller to KestrelSAT’s MCU. Additionally, you’ll connect an encoder on the motor to the MCU, which will allow KestrelSAT to measure wheel speed.</a:t>
            </a:r>
          </a:p>
          <a:p>
            <a:pPr marL="0" indent="0">
              <a:buNone/>
            </a:pPr>
            <a:r>
              <a:rPr lang="en-US" sz="1600" dirty="0"/>
              <a:t>You will suspend KestrelSAT from a string and change its orientation about it’s Z axis by varying the speed of the reaction wheel. </a:t>
            </a:r>
          </a:p>
          <a:p>
            <a:pPr marL="0" indent="0">
              <a:buNone/>
            </a:pPr>
            <a:r>
              <a:rPr lang="en-US" sz="1600" dirty="0"/>
              <a:t>You will measure system performance to ensure that KestrelSAT can meet orbital torque and momentum requirements. </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dirty="0"/>
              <a:t>Astro 331 Lab #7</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336074" y="4622786"/>
            <a:ext cx="7348533" cy="1842320"/>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dirty="0"/>
              <a:t>Objectives:</a:t>
            </a:r>
            <a:endParaRPr lang="en-US" sz="1400" dirty="0"/>
          </a:p>
          <a:p>
            <a:pPr marL="514350" indent="-514350">
              <a:spcBef>
                <a:spcPts val="600"/>
              </a:spcBef>
              <a:buAutoNum type="arabicParenBoth"/>
            </a:pPr>
            <a:r>
              <a:rPr lang="en-US" sz="1400" dirty="0"/>
              <a:t>Understand fundamentals of attitude control via practical experimentation.</a:t>
            </a:r>
          </a:p>
          <a:p>
            <a:pPr marL="514350" indent="-514350">
              <a:spcBef>
                <a:spcPts val="600"/>
              </a:spcBef>
              <a:buAutoNum type="arabicParenBoth"/>
            </a:pPr>
            <a:r>
              <a:rPr lang="en-US" sz="1400" dirty="0"/>
              <a:t>Interpret wheel command and speed measurements.</a:t>
            </a:r>
          </a:p>
          <a:p>
            <a:pPr marL="514350" indent="-514350">
              <a:spcBef>
                <a:spcPts val="600"/>
              </a:spcBef>
              <a:buFont typeface="Arial" panose="020B0604020202020204" pitchFamily="34" charset="0"/>
              <a:buAutoNum type="arabicParenBoth"/>
            </a:pPr>
            <a:r>
              <a:rPr lang="en-US" sz="1400" dirty="0"/>
              <a:t>Observe a functional test demonstrating a basic slew maneuver using a reaction wheel.</a:t>
            </a:r>
          </a:p>
          <a:p>
            <a:pPr marL="514350" indent="-514350">
              <a:spcBef>
                <a:spcPts val="600"/>
              </a:spcBef>
              <a:buFont typeface="Arial" panose="020B0604020202020204" pitchFamily="34" charset="0"/>
              <a:buAutoNum type="arabicParenBoth"/>
            </a:pPr>
            <a:r>
              <a:rPr lang="en-US" sz="1400" dirty="0"/>
              <a:t>Estimate reaction wheel torque and momentum based on test data.</a:t>
            </a:r>
          </a:p>
          <a:p>
            <a:pPr marL="514350" indent="-514350">
              <a:spcBef>
                <a:spcPts val="600"/>
              </a:spcBef>
              <a:buFont typeface="Arial" panose="020B0604020202020204" pitchFamily="34" charset="0"/>
              <a:buAutoNum type="arabicParenBoth"/>
            </a:pPr>
            <a:r>
              <a:rPr lang="en-US" sz="1400" dirty="0"/>
              <a:t>Estimate spacecraft MOI based on test data.</a:t>
            </a:r>
          </a:p>
        </p:txBody>
      </p:sp>
      <p:sp>
        <p:nvSpPr>
          <p:cNvPr id="8" name="Content Placeholder 7">
            <a:extLst>
              <a:ext uri="{FF2B5EF4-FFF2-40B4-BE49-F238E27FC236}">
                <a16:creationId xmlns:a16="http://schemas.microsoft.com/office/drawing/2014/main" id="{B56A8CC7-EF87-1CB6-7F8F-06F04A91C7A3}"/>
              </a:ext>
            </a:extLst>
          </p:cNvPr>
          <p:cNvSpPr txBox="1">
            <a:spLocks/>
          </p:cNvSpPr>
          <p:nvPr/>
        </p:nvSpPr>
        <p:spPr>
          <a:xfrm>
            <a:off x="6348482" y="2524940"/>
            <a:ext cx="2744803" cy="1967063"/>
          </a:xfrm>
          <a:prstGeom prst="rect">
            <a:avLst/>
          </a:prstGeom>
          <a:solidFill>
            <a:schemeClr val="accent1">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LAB &amp; LAB REPORT</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latin typeface="Segoe UI" panose="020B0502040204020203" pitchFamily="34" charset="0"/>
                <a:cs typeface="Segoe UI" panose="020B0502040204020203" pitchFamily="34" charset="0"/>
              </a:rPr>
              <a:t>Lab activities &amp; lab report are team effort</a:t>
            </a:r>
          </a:p>
          <a:p>
            <a:pPr marL="0" indent="-223838"/>
            <a:r>
              <a:rPr lang="en-US" sz="1200" dirty="0">
                <a:latin typeface="Segoe UI" panose="020B0502040204020203" pitchFamily="34" charset="0"/>
                <a:cs typeface="Segoe UI" panose="020B0502040204020203" pitchFamily="34" charset="0"/>
              </a:rPr>
              <a:t>Any non-human resource</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3FB0988B-8EB6-599A-F714-B8BEE4DD4043}"/>
              </a:ext>
            </a:extLst>
          </p:cNvPr>
          <p:cNvSpPr txBox="1">
            <a:spLocks/>
          </p:cNvSpPr>
          <p:nvPr/>
        </p:nvSpPr>
        <p:spPr>
          <a:xfrm>
            <a:off x="6352832" y="904356"/>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PRELAB</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Prelab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a:solidFill>
                  <a:srgbClr val="FF0000"/>
                </a:solidFill>
                <a:highlight>
                  <a:srgbClr val="FFFF00"/>
                </a:highlight>
                <a:latin typeface="Segoe UI" panose="020B0502040204020203" pitchFamily="34" charset="0"/>
                <a:cs typeface="Segoe UI" panose="020B0502040204020203" pitchFamily="34" charset="0"/>
              </a:rPr>
              <a:t>G</a:t>
            </a:r>
            <a:r>
              <a:rPr lang="en-US" sz="12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 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C7B1187-942C-BE44-54A3-51CDDD48741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100" b="1">
                <a:solidFill>
                  <a:srgbClr val="00B0F0"/>
                </a:solidFill>
              </a:rPr>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a:ln>
            <a:solidFill>
              <a:schemeClr val="tx1"/>
            </a:solidFill>
          </a:ln>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a:t>KestrelSAT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a:ln>
            <a:solidFill>
              <a:schemeClr val="tx1"/>
            </a:solidFill>
          </a:ln>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a:ln>
            <a:solidFill>
              <a:schemeClr val="tx1"/>
            </a:solidFill>
          </a:ln>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55741" y="3803243"/>
            <a:ext cx="2960207" cy="2907582"/>
          </a:xfrm>
          <a:prstGeom prst="rect">
            <a:avLst/>
          </a:prstGeom>
          <a:ln>
            <a:solidFill>
              <a:schemeClr val="tx1"/>
            </a:solidFill>
          </a:ln>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148E-6E36-A081-F1BD-037A3758BE68}"/>
              </a:ext>
            </a:extLst>
          </p:cNvPr>
          <p:cNvSpPr>
            <a:spLocks noGrp="1"/>
          </p:cNvSpPr>
          <p:nvPr>
            <p:ph type="title"/>
          </p:nvPr>
        </p:nvSpPr>
        <p:spPr/>
        <p:txBody>
          <a:bodyPr>
            <a:noAutofit/>
          </a:bodyPr>
          <a:lstStyle/>
          <a:p>
            <a:r>
              <a:rPr lang="en-US" sz="2000" b="1"/>
              <a:t>Reference – KestrelSAT Body Frame Coordinate System</a:t>
            </a:r>
            <a:endParaRPr lang="en-US" sz="2000"/>
          </a:p>
        </p:txBody>
      </p:sp>
      <p:sp>
        <p:nvSpPr>
          <p:cNvPr id="4" name="Footer Placeholder 3">
            <a:extLst>
              <a:ext uri="{FF2B5EF4-FFF2-40B4-BE49-F238E27FC236}">
                <a16:creationId xmlns:a16="http://schemas.microsoft.com/office/drawing/2014/main" id="{AF214A10-3F59-92F0-C975-BC7FEBB55D0E}"/>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96D0721B-F73D-7734-6533-A8011228C6A9}"/>
              </a:ext>
            </a:extLst>
          </p:cNvPr>
          <p:cNvSpPr>
            <a:spLocks noGrp="1"/>
          </p:cNvSpPr>
          <p:nvPr>
            <p:ph type="sldNum" sz="quarter" idx="12"/>
          </p:nvPr>
        </p:nvSpPr>
        <p:spPr/>
        <p:txBody>
          <a:bodyPr/>
          <a:lstStyle/>
          <a:p>
            <a:fld id="{9A3029B7-FE6B-4680-9049-80E8298A0825}" type="slidenum">
              <a:rPr lang="en-US" smtClean="0"/>
              <a:t>4</a:t>
            </a:fld>
            <a:endParaRPr lang="en-US"/>
          </a:p>
        </p:txBody>
      </p:sp>
      <p:sp>
        <p:nvSpPr>
          <p:cNvPr id="38" name="Content Placeholder 5">
            <a:extLst>
              <a:ext uri="{FF2B5EF4-FFF2-40B4-BE49-F238E27FC236}">
                <a16:creationId xmlns:a16="http://schemas.microsoft.com/office/drawing/2014/main" id="{CEE84D48-F605-E20A-866E-9CBCBA49667C}"/>
              </a:ext>
            </a:extLst>
          </p:cNvPr>
          <p:cNvSpPr txBox="1">
            <a:spLocks/>
          </p:cNvSpPr>
          <p:nvPr/>
        </p:nvSpPr>
        <p:spPr>
          <a:xfrm>
            <a:off x="46366" y="1130060"/>
            <a:ext cx="1077914"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b="1">
                <a:solidFill>
                  <a:srgbClr val="00B0F0"/>
                </a:solidFill>
              </a:rPr>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pic>
        <p:nvPicPr>
          <p:cNvPr id="3" name="Picture 2">
            <a:extLst>
              <a:ext uri="{FF2B5EF4-FFF2-40B4-BE49-F238E27FC236}">
                <a16:creationId xmlns:a16="http://schemas.microsoft.com/office/drawing/2014/main" id="{0E7BCCC8-1FC6-B1D3-622D-444C2D8B867A}"/>
              </a:ext>
            </a:extLst>
          </p:cNvPr>
          <p:cNvPicPr>
            <a:picLocks noChangeAspect="1"/>
          </p:cNvPicPr>
          <p:nvPr/>
        </p:nvPicPr>
        <p:blipFill>
          <a:blip r:embed="rId2"/>
          <a:stretch>
            <a:fillRect/>
          </a:stretch>
        </p:blipFill>
        <p:spPr>
          <a:xfrm>
            <a:off x="2867515" y="871546"/>
            <a:ext cx="5966194" cy="5917391"/>
          </a:xfrm>
          <a:prstGeom prst="rect">
            <a:avLst/>
          </a:prstGeom>
        </p:spPr>
      </p:pic>
      <p:sp>
        <p:nvSpPr>
          <p:cNvPr id="6" name="Footer Placeholder 3">
            <a:extLst>
              <a:ext uri="{FF2B5EF4-FFF2-40B4-BE49-F238E27FC236}">
                <a16:creationId xmlns:a16="http://schemas.microsoft.com/office/drawing/2014/main" id="{76B72498-F345-5D04-E58F-EAF2E8A08053}"/>
              </a:ext>
            </a:extLst>
          </p:cNvPr>
          <p:cNvSpPr txBox="1">
            <a:spLocks/>
          </p:cNvSpPr>
          <p:nvPr/>
        </p:nvSpPr>
        <p:spPr>
          <a:xfrm>
            <a:off x="3028950" y="6501692"/>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Astro 331 Lab #6</a:t>
            </a:r>
            <a:endParaRPr lang="en-US" dirty="0"/>
          </a:p>
        </p:txBody>
      </p:sp>
      <p:sp>
        <p:nvSpPr>
          <p:cNvPr id="9" name="Slide Number Placeholder 4">
            <a:extLst>
              <a:ext uri="{FF2B5EF4-FFF2-40B4-BE49-F238E27FC236}">
                <a16:creationId xmlns:a16="http://schemas.microsoft.com/office/drawing/2014/main" id="{95B563B6-263E-0142-F0E4-A0FEBB20959F}"/>
              </a:ext>
            </a:extLst>
          </p:cNvPr>
          <p:cNvSpPr txBox="1">
            <a:spLocks/>
          </p:cNvSpPr>
          <p:nvPr/>
        </p:nvSpPr>
        <p:spPr>
          <a:xfrm>
            <a:off x="7040236" y="6465106"/>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A3029B7-FE6B-4680-9049-80E8298A0825}" type="slidenum">
              <a:rPr lang="en-US" smtClean="0"/>
              <a:pPr/>
              <a:t>4</a:t>
            </a:fld>
            <a:endParaRPr lang="en-US"/>
          </a:p>
        </p:txBody>
      </p:sp>
      <p:sp>
        <p:nvSpPr>
          <p:cNvPr id="11" name="Oval 10">
            <a:extLst>
              <a:ext uri="{FF2B5EF4-FFF2-40B4-BE49-F238E27FC236}">
                <a16:creationId xmlns:a16="http://schemas.microsoft.com/office/drawing/2014/main" id="{613283EA-C6DF-3872-A9D0-CA14A296B5A0}"/>
              </a:ext>
            </a:extLst>
          </p:cNvPr>
          <p:cNvSpPr/>
          <p:nvPr/>
        </p:nvSpPr>
        <p:spPr>
          <a:xfrm>
            <a:off x="5369936" y="3682831"/>
            <a:ext cx="599803" cy="629950"/>
          </a:xfrm>
          <a:prstGeom prst="ellipse">
            <a:avLst/>
          </a:prstGeom>
          <a:noFill/>
          <a:ln w="57150">
            <a:solidFill>
              <a:schemeClr val="accent3">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solidFill>
                <a:schemeClr val="accent3">
                  <a:lumMod val="60000"/>
                  <a:lumOff val="40000"/>
                </a:schemeClr>
              </a:solidFill>
            </a:endParaRPr>
          </a:p>
        </p:txBody>
      </p:sp>
      <p:grpSp>
        <p:nvGrpSpPr>
          <p:cNvPr id="13" name="Group 12">
            <a:extLst>
              <a:ext uri="{FF2B5EF4-FFF2-40B4-BE49-F238E27FC236}">
                <a16:creationId xmlns:a16="http://schemas.microsoft.com/office/drawing/2014/main" id="{17A0BB5A-C00A-B6BA-DF74-000B466D5068}"/>
              </a:ext>
            </a:extLst>
          </p:cNvPr>
          <p:cNvGrpSpPr/>
          <p:nvPr/>
        </p:nvGrpSpPr>
        <p:grpSpPr>
          <a:xfrm>
            <a:off x="1244608" y="2974261"/>
            <a:ext cx="1473163" cy="1529558"/>
            <a:chOff x="7094112" y="2747269"/>
            <a:chExt cx="1473163" cy="1529558"/>
          </a:xfrm>
        </p:grpSpPr>
        <p:cxnSp>
          <p:nvCxnSpPr>
            <p:cNvPr id="14" name="Straight Arrow Connector 13">
              <a:extLst>
                <a:ext uri="{FF2B5EF4-FFF2-40B4-BE49-F238E27FC236}">
                  <a16:creationId xmlns:a16="http://schemas.microsoft.com/office/drawing/2014/main" id="{841A0760-087B-4F2F-29BE-2CF1DEE792A0}"/>
                </a:ext>
              </a:extLst>
            </p:cNvPr>
            <p:cNvCxnSpPr>
              <a:cxnSpLocks/>
            </p:cNvCxnSpPr>
            <p:nvPr/>
          </p:nvCxnSpPr>
          <p:spPr>
            <a:xfrm flipH="1">
              <a:off x="7117195" y="3577885"/>
              <a:ext cx="735572" cy="24757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5E73C86-CF1A-AA87-CDD5-B45934A38E50}"/>
                </a:ext>
              </a:extLst>
            </p:cNvPr>
            <p:cNvCxnSpPr>
              <a:cxnSpLocks/>
            </p:cNvCxnSpPr>
            <p:nvPr/>
          </p:nvCxnSpPr>
          <p:spPr>
            <a:xfrm>
              <a:off x="7837714" y="3598223"/>
              <a:ext cx="310980" cy="548757"/>
            </a:xfrm>
            <a:prstGeom prst="straightConnector1">
              <a:avLst/>
            </a:prstGeom>
            <a:ln w="57150">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61BC9F5-EC86-EA5C-F201-76D7EE9931F1}"/>
                </a:ext>
              </a:extLst>
            </p:cNvPr>
            <p:cNvCxnSpPr>
              <a:cxnSpLocks/>
            </p:cNvCxnSpPr>
            <p:nvPr/>
          </p:nvCxnSpPr>
          <p:spPr>
            <a:xfrm flipV="1">
              <a:off x="7837714" y="3016340"/>
              <a:ext cx="0" cy="57538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A3F6E4E-6C1B-9CDD-95E3-A72F31801A2A}"/>
                </a:ext>
              </a:extLst>
            </p:cNvPr>
            <p:cNvSpPr txBox="1"/>
            <p:nvPr/>
          </p:nvSpPr>
          <p:spPr>
            <a:xfrm>
              <a:off x="7094112" y="3766518"/>
              <a:ext cx="447675" cy="369332"/>
            </a:xfrm>
            <a:prstGeom prst="rect">
              <a:avLst/>
            </a:prstGeom>
            <a:noFill/>
          </p:spPr>
          <p:txBody>
            <a:bodyPr wrap="square" rtlCol="0">
              <a:spAutoFit/>
            </a:bodyPr>
            <a:lstStyle/>
            <a:p>
              <a:r>
                <a:rPr lang="en-US" b="1" dirty="0">
                  <a:solidFill>
                    <a:srgbClr val="FF0000"/>
                  </a:solidFill>
                </a:rPr>
                <a:t>+X</a:t>
              </a:r>
            </a:p>
          </p:txBody>
        </p:sp>
        <p:sp>
          <p:nvSpPr>
            <p:cNvPr id="19" name="TextBox 18">
              <a:extLst>
                <a:ext uri="{FF2B5EF4-FFF2-40B4-BE49-F238E27FC236}">
                  <a16:creationId xmlns:a16="http://schemas.microsoft.com/office/drawing/2014/main" id="{0BFFC258-81F9-2401-300B-37E7E2946516}"/>
                </a:ext>
              </a:extLst>
            </p:cNvPr>
            <p:cNvSpPr txBox="1"/>
            <p:nvPr/>
          </p:nvSpPr>
          <p:spPr>
            <a:xfrm>
              <a:off x="8073336" y="3907495"/>
              <a:ext cx="493939" cy="369332"/>
            </a:xfrm>
            <a:prstGeom prst="rect">
              <a:avLst/>
            </a:prstGeom>
            <a:noFill/>
          </p:spPr>
          <p:txBody>
            <a:bodyPr wrap="square" rtlCol="0">
              <a:spAutoFit/>
            </a:bodyPr>
            <a:lstStyle/>
            <a:p>
              <a:r>
                <a:rPr lang="en-US" b="1" dirty="0">
                  <a:solidFill>
                    <a:srgbClr val="00B050"/>
                  </a:solidFill>
                </a:rPr>
                <a:t>+Y</a:t>
              </a:r>
            </a:p>
          </p:txBody>
        </p:sp>
        <p:sp>
          <p:nvSpPr>
            <p:cNvPr id="24" name="TextBox 23">
              <a:extLst>
                <a:ext uri="{FF2B5EF4-FFF2-40B4-BE49-F238E27FC236}">
                  <a16:creationId xmlns:a16="http://schemas.microsoft.com/office/drawing/2014/main" id="{93CB1F2C-15DF-BA98-B207-E313409CBAEA}"/>
                </a:ext>
              </a:extLst>
            </p:cNvPr>
            <p:cNvSpPr txBox="1"/>
            <p:nvPr/>
          </p:nvSpPr>
          <p:spPr>
            <a:xfrm>
              <a:off x="7769366" y="2747269"/>
              <a:ext cx="447675" cy="369332"/>
            </a:xfrm>
            <a:prstGeom prst="rect">
              <a:avLst/>
            </a:prstGeom>
            <a:noFill/>
          </p:spPr>
          <p:txBody>
            <a:bodyPr wrap="square" rtlCol="0">
              <a:spAutoFit/>
            </a:bodyPr>
            <a:lstStyle/>
            <a:p>
              <a:r>
                <a:rPr lang="en-US" b="1" dirty="0">
                  <a:solidFill>
                    <a:schemeClr val="tx2">
                      <a:lumMod val="75000"/>
                      <a:lumOff val="25000"/>
                    </a:schemeClr>
                  </a:solidFill>
                </a:rPr>
                <a:t>+Z</a:t>
              </a:r>
            </a:p>
          </p:txBody>
        </p:sp>
        <p:sp>
          <p:nvSpPr>
            <p:cNvPr id="27" name="Arc 26">
              <a:extLst>
                <a:ext uri="{FF2B5EF4-FFF2-40B4-BE49-F238E27FC236}">
                  <a16:creationId xmlns:a16="http://schemas.microsoft.com/office/drawing/2014/main" id="{7A5ADCC0-22CC-D3FE-9731-EB98EFB5EEB2}"/>
                </a:ext>
              </a:extLst>
            </p:cNvPr>
            <p:cNvSpPr/>
            <p:nvPr/>
          </p:nvSpPr>
          <p:spPr>
            <a:xfrm rot="18604224">
              <a:off x="7377765" y="3525326"/>
              <a:ext cx="334832" cy="338658"/>
            </a:xfrm>
            <a:prstGeom prst="arc">
              <a:avLst>
                <a:gd name="adj1" fmla="val 17479511"/>
                <a:gd name="adj2" fmla="val 7115772"/>
              </a:avLst>
            </a:prstGeom>
            <a:ln>
              <a:solidFill>
                <a:srgbClr val="C0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Arc 30">
              <a:extLst>
                <a:ext uri="{FF2B5EF4-FFF2-40B4-BE49-F238E27FC236}">
                  <a16:creationId xmlns:a16="http://schemas.microsoft.com/office/drawing/2014/main" id="{02DBA756-F4E3-D419-A311-3C942EFF3FBF}"/>
                </a:ext>
              </a:extLst>
            </p:cNvPr>
            <p:cNvSpPr/>
            <p:nvPr/>
          </p:nvSpPr>
          <p:spPr>
            <a:xfrm rot="12704713">
              <a:off x="7847704" y="3768196"/>
              <a:ext cx="334832" cy="338658"/>
            </a:xfrm>
            <a:prstGeom prst="arc">
              <a:avLst>
                <a:gd name="adj1" fmla="val 18296257"/>
                <a:gd name="adj2" fmla="val 6534232"/>
              </a:avLst>
            </a:prstGeom>
            <a:ln>
              <a:solidFill>
                <a:schemeClr val="accent6">
                  <a:lumMod val="5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Arc 31">
              <a:extLst>
                <a:ext uri="{FF2B5EF4-FFF2-40B4-BE49-F238E27FC236}">
                  <a16:creationId xmlns:a16="http://schemas.microsoft.com/office/drawing/2014/main" id="{C8A52CAA-8C15-DD05-7B1D-5DF4A2C6B33D}"/>
                </a:ext>
              </a:extLst>
            </p:cNvPr>
            <p:cNvSpPr/>
            <p:nvPr/>
          </p:nvSpPr>
          <p:spPr>
            <a:xfrm rot="5009983">
              <a:off x="7651060" y="3032521"/>
              <a:ext cx="334832" cy="338658"/>
            </a:xfrm>
            <a:prstGeom prst="arc">
              <a:avLst>
                <a:gd name="adj1" fmla="val 16200000"/>
                <a:gd name="adj2" fmla="val 4985317"/>
              </a:avLst>
            </a:prstGeom>
            <a:ln>
              <a:solidFill>
                <a:srgbClr val="00206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002060"/>
                </a:solidFill>
              </a:endParaRPr>
            </a:p>
          </p:txBody>
        </p:sp>
        <p:sp>
          <p:nvSpPr>
            <p:cNvPr id="33" name="TextBox 32">
              <a:extLst>
                <a:ext uri="{FF2B5EF4-FFF2-40B4-BE49-F238E27FC236}">
                  <a16:creationId xmlns:a16="http://schemas.microsoft.com/office/drawing/2014/main" id="{35E9B030-AC3D-F424-BCD6-0ADFB8392F3C}"/>
                </a:ext>
              </a:extLst>
            </p:cNvPr>
            <p:cNvSpPr txBox="1"/>
            <p:nvPr/>
          </p:nvSpPr>
          <p:spPr>
            <a:xfrm>
              <a:off x="7248269" y="3315830"/>
              <a:ext cx="367961" cy="369332"/>
            </a:xfrm>
            <a:prstGeom prst="rect">
              <a:avLst/>
            </a:prstGeom>
            <a:noFill/>
          </p:spPr>
          <p:txBody>
            <a:bodyPr wrap="square">
              <a:spAutoFit/>
            </a:bodyPr>
            <a:lstStyle/>
            <a:p>
              <a:r>
                <a:rPr lang="en-US" b="1" dirty="0">
                  <a:solidFill>
                    <a:srgbClr val="C00000"/>
                  </a:solidFill>
                </a:rPr>
                <a:t>+</a:t>
              </a:r>
              <a:endParaRPr lang="en-US" dirty="0">
                <a:solidFill>
                  <a:srgbClr val="C00000"/>
                </a:solidFill>
              </a:endParaRPr>
            </a:p>
          </p:txBody>
        </p:sp>
        <p:sp>
          <p:nvSpPr>
            <p:cNvPr id="34" name="TextBox 33">
              <a:extLst>
                <a:ext uri="{FF2B5EF4-FFF2-40B4-BE49-F238E27FC236}">
                  <a16:creationId xmlns:a16="http://schemas.microsoft.com/office/drawing/2014/main" id="{8496D128-CB4F-3F0D-4E31-0484BD31C731}"/>
                </a:ext>
              </a:extLst>
            </p:cNvPr>
            <p:cNvSpPr txBox="1"/>
            <p:nvPr/>
          </p:nvSpPr>
          <p:spPr>
            <a:xfrm>
              <a:off x="7925926" y="3139228"/>
              <a:ext cx="367961" cy="369332"/>
            </a:xfrm>
            <a:prstGeom prst="rect">
              <a:avLst/>
            </a:prstGeom>
            <a:noFill/>
          </p:spPr>
          <p:txBody>
            <a:bodyPr wrap="square">
              <a:spAutoFit/>
            </a:bodyPr>
            <a:lstStyle/>
            <a:p>
              <a:r>
                <a:rPr lang="en-US" b="1" dirty="0">
                  <a:solidFill>
                    <a:srgbClr val="002060"/>
                  </a:solidFill>
                </a:rPr>
                <a:t>+</a:t>
              </a:r>
              <a:endParaRPr lang="en-US" dirty="0">
                <a:solidFill>
                  <a:srgbClr val="002060"/>
                </a:solidFill>
              </a:endParaRPr>
            </a:p>
          </p:txBody>
        </p:sp>
        <p:sp>
          <p:nvSpPr>
            <p:cNvPr id="35" name="TextBox 34">
              <a:extLst>
                <a:ext uri="{FF2B5EF4-FFF2-40B4-BE49-F238E27FC236}">
                  <a16:creationId xmlns:a16="http://schemas.microsoft.com/office/drawing/2014/main" id="{BED81A61-1F31-BAB7-9769-D64CB07D0D7E}"/>
                </a:ext>
              </a:extLst>
            </p:cNvPr>
            <p:cNvSpPr txBox="1"/>
            <p:nvPr/>
          </p:nvSpPr>
          <p:spPr>
            <a:xfrm>
              <a:off x="7644424" y="3864285"/>
              <a:ext cx="367961" cy="369332"/>
            </a:xfrm>
            <a:prstGeom prst="rect">
              <a:avLst/>
            </a:prstGeom>
            <a:noFill/>
          </p:spPr>
          <p:txBody>
            <a:bodyPr wrap="square">
              <a:spAutoFit/>
            </a:bodyPr>
            <a:lstStyle/>
            <a:p>
              <a:r>
                <a:rPr lang="en-US" b="1" dirty="0">
                  <a:solidFill>
                    <a:schemeClr val="accent3">
                      <a:lumMod val="50000"/>
                    </a:schemeClr>
                  </a:solidFill>
                </a:rPr>
                <a:t>+</a:t>
              </a:r>
              <a:endParaRPr lang="en-US" dirty="0">
                <a:solidFill>
                  <a:schemeClr val="accent3">
                    <a:lumMod val="50000"/>
                  </a:schemeClr>
                </a:solidFill>
              </a:endParaRPr>
            </a:p>
          </p:txBody>
        </p:sp>
      </p:grpSp>
      <p:sp>
        <p:nvSpPr>
          <p:cNvPr id="37" name="TextBox 36">
            <a:extLst>
              <a:ext uri="{FF2B5EF4-FFF2-40B4-BE49-F238E27FC236}">
                <a16:creationId xmlns:a16="http://schemas.microsoft.com/office/drawing/2014/main" id="{66A019DD-A614-C58F-1068-63A96C58FD34}"/>
              </a:ext>
            </a:extLst>
          </p:cNvPr>
          <p:cNvSpPr txBox="1"/>
          <p:nvPr/>
        </p:nvSpPr>
        <p:spPr>
          <a:xfrm>
            <a:off x="1124280" y="2406476"/>
            <a:ext cx="1570729" cy="646331"/>
          </a:xfrm>
          <a:prstGeom prst="rect">
            <a:avLst/>
          </a:prstGeom>
          <a:noFill/>
        </p:spPr>
        <p:txBody>
          <a:bodyPr wrap="square" rtlCol="0">
            <a:spAutoFit/>
          </a:bodyPr>
          <a:lstStyle/>
          <a:p>
            <a:r>
              <a:rPr lang="en-US" sz="1200" b="1" dirty="0">
                <a:solidFill>
                  <a:schemeClr val="tx2">
                    <a:lumMod val="75000"/>
                    <a:lumOff val="25000"/>
                  </a:schemeClr>
                </a:solidFill>
              </a:rPr>
              <a:t>+Z points vertically up out of top of KestrelSAT</a:t>
            </a:r>
          </a:p>
        </p:txBody>
      </p:sp>
      <p:pic>
        <p:nvPicPr>
          <p:cNvPr id="39" name="Picture 38">
            <a:extLst>
              <a:ext uri="{FF2B5EF4-FFF2-40B4-BE49-F238E27FC236}">
                <a16:creationId xmlns:a16="http://schemas.microsoft.com/office/drawing/2014/main" id="{DB4445BB-3A0B-3CBA-0D96-A50EF937D2BB}"/>
              </a:ext>
            </a:extLst>
          </p:cNvPr>
          <p:cNvPicPr>
            <a:picLocks noChangeAspect="1"/>
          </p:cNvPicPr>
          <p:nvPr/>
        </p:nvPicPr>
        <p:blipFill>
          <a:blip r:embed="rId3"/>
          <a:stretch>
            <a:fillRect/>
          </a:stretch>
        </p:blipFill>
        <p:spPr>
          <a:xfrm rot="20360567">
            <a:off x="1747567" y="4883110"/>
            <a:ext cx="1239939" cy="1643750"/>
          </a:xfrm>
          <a:prstGeom prst="rect">
            <a:avLst/>
          </a:prstGeom>
        </p:spPr>
      </p:pic>
      <p:cxnSp>
        <p:nvCxnSpPr>
          <p:cNvPr id="40" name="Straight Connector 39">
            <a:extLst>
              <a:ext uri="{FF2B5EF4-FFF2-40B4-BE49-F238E27FC236}">
                <a16:creationId xmlns:a16="http://schemas.microsoft.com/office/drawing/2014/main" id="{51F53152-DF83-FBA2-5CD2-6A1ABEEAD0B1}"/>
              </a:ext>
            </a:extLst>
          </p:cNvPr>
          <p:cNvCxnSpPr>
            <a:cxnSpLocks/>
          </p:cNvCxnSpPr>
          <p:nvPr/>
        </p:nvCxnSpPr>
        <p:spPr>
          <a:xfrm flipV="1">
            <a:off x="2829346" y="4240121"/>
            <a:ext cx="2407672" cy="1111197"/>
          </a:xfrm>
          <a:prstGeom prst="line">
            <a:avLst/>
          </a:prstGeom>
          <a:ln w="57150">
            <a:solidFill>
              <a:schemeClr val="accent3">
                <a:lumMod val="60000"/>
                <a:lumOff val="40000"/>
              </a:schemeClr>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8505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9099A-BF85-A8EA-BDDF-C0BEE1DDF484}"/>
              </a:ext>
            </a:extLst>
          </p:cNvPr>
          <p:cNvSpPr>
            <a:spLocks noGrp="1"/>
          </p:cNvSpPr>
          <p:nvPr>
            <p:ph type="title"/>
          </p:nvPr>
        </p:nvSpPr>
        <p:spPr/>
        <p:txBody>
          <a:bodyPr>
            <a:normAutofit/>
          </a:bodyPr>
          <a:lstStyle/>
          <a:p>
            <a:r>
              <a:rPr lang="en-US" sz="2800" b="1" dirty="0"/>
              <a:t>ESP32 Thing Plus Pinout Diagram</a:t>
            </a:r>
          </a:p>
        </p:txBody>
      </p:sp>
      <p:sp>
        <p:nvSpPr>
          <p:cNvPr id="4" name="Footer Placeholder 3">
            <a:extLst>
              <a:ext uri="{FF2B5EF4-FFF2-40B4-BE49-F238E27FC236}">
                <a16:creationId xmlns:a16="http://schemas.microsoft.com/office/drawing/2014/main" id="{952573A2-DF35-4C85-9CC4-81A979BF9AF2}"/>
              </a:ext>
            </a:extLst>
          </p:cNvPr>
          <p:cNvSpPr>
            <a:spLocks noGrp="1"/>
          </p:cNvSpPr>
          <p:nvPr>
            <p:ph type="ftr" sz="quarter" idx="11"/>
          </p:nvPr>
        </p:nvSpPr>
        <p:spPr/>
        <p:txBody>
          <a:bodyPr/>
          <a:lstStyle/>
          <a:p>
            <a:r>
              <a:rPr lang="en-US"/>
              <a:t>Astro 331 Lab #</a:t>
            </a:r>
            <a:r>
              <a:rPr lang="en-US" dirty="0"/>
              <a:t>6</a:t>
            </a:r>
          </a:p>
        </p:txBody>
      </p:sp>
      <p:sp>
        <p:nvSpPr>
          <p:cNvPr id="5" name="Slide Number Placeholder 4">
            <a:extLst>
              <a:ext uri="{FF2B5EF4-FFF2-40B4-BE49-F238E27FC236}">
                <a16:creationId xmlns:a16="http://schemas.microsoft.com/office/drawing/2014/main" id="{6C0913B2-80A3-B833-A94F-934634BA58A0}"/>
              </a:ext>
            </a:extLst>
          </p:cNvPr>
          <p:cNvSpPr>
            <a:spLocks noGrp="1"/>
          </p:cNvSpPr>
          <p:nvPr>
            <p:ph type="sldNum" sz="quarter" idx="12"/>
          </p:nvPr>
        </p:nvSpPr>
        <p:spPr/>
        <p:txBody>
          <a:bodyPr/>
          <a:lstStyle/>
          <a:p>
            <a:fld id="{9A3029B7-FE6B-4680-9049-80E8298A0825}" type="slidenum">
              <a:rPr lang="en-US" smtClean="0"/>
              <a:t>5</a:t>
            </a:fld>
            <a:endParaRPr lang="en-US"/>
          </a:p>
        </p:txBody>
      </p:sp>
      <p:sp>
        <p:nvSpPr>
          <p:cNvPr id="14" name="Content Placeholder 5">
            <a:extLst>
              <a:ext uri="{FF2B5EF4-FFF2-40B4-BE49-F238E27FC236}">
                <a16:creationId xmlns:a16="http://schemas.microsoft.com/office/drawing/2014/main" id="{7EAA4AF2-A593-111D-63D1-B05A1CE9B2A1}"/>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3" name="Picture 2">
            <a:extLst>
              <a:ext uri="{FF2B5EF4-FFF2-40B4-BE49-F238E27FC236}">
                <a16:creationId xmlns:a16="http://schemas.microsoft.com/office/drawing/2014/main" id="{4E1F5977-32BD-576D-C7E9-A4DABE36A350}"/>
              </a:ext>
            </a:extLst>
          </p:cNvPr>
          <p:cNvPicPr>
            <a:picLocks noChangeAspect="1"/>
          </p:cNvPicPr>
          <p:nvPr/>
        </p:nvPicPr>
        <p:blipFill>
          <a:blip r:embed="rId2"/>
          <a:stretch>
            <a:fillRect/>
          </a:stretch>
        </p:blipFill>
        <p:spPr>
          <a:xfrm>
            <a:off x="1066990" y="909248"/>
            <a:ext cx="8077010" cy="5841960"/>
          </a:xfrm>
          <a:prstGeom prst="rect">
            <a:avLst/>
          </a:prstGeom>
        </p:spPr>
      </p:pic>
    </p:spTree>
    <p:extLst>
      <p:ext uri="{BB962C8B-B14F-4D97-AF65-F5344CB8AC3E}">
        <p14:creationId xmlns:p14="http://schemas.microsoft.com/office/powerpoint/2010/main" val="1039443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71E4-3CA8-8AA6-056E-6B1C4846F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79FAC-86AB-D78E-A0C0-F088E4AD73F6}"/>
              </a:ext>
            </a:extLst>
          </p:cNvPr>
          <p:cNvSpPr>
            <a:spLocks noGrp="1"/>
          </p:cNvSpPr>
          <p:nvPr>
            <p:ph type="title"/>
          </p:nvPr>
        </p:nvSpPr>
        <p:spPr/>
        <p:txBody>
          <a:bodyPr>
            <a:normAutofit/>
          </a:bodyPr>
          <a:lstStyle/>
          <a:p>
            <a:r>
              <a:rPr lang="en-US" sz="2800" b="1"/>
              <a:t>Reference – KestrelSAT Reaction Wheel </a:t>
            </a:r>
          </a:p>
        </p:txBody>
      </p:sp>
      <p:sp>
        <p:nvSpPr>
          <p:cNvPr id="3" name="Content Placeholder 2">
            <a:extLst>
              <a:ext uri="{FF2B5EF4-FFF2-40B4-BE49-F238E27FC236}">
                <a16:creationId xmlns:a16="http://schemas.microsoft.com/office/drawing/2014/main" id="{EC3A5CBC-C35B-0633-457F-C50346167A5A}"/>
              </a:ext>
            </a:extLst>
          </p:cNvPr>
          <p:cNvSpPr>
            <a:spLocks noGrp="1"/>
          </p:cNvSpPr>
          <p:nvPr>
            <p:ph idx="1"/>
          </p:nvPr>
        </p:nvSpPr>
        <p:spPr>
          <a:xfrm>
            <a:off x="1106340" y="1002507"/>
            <a:ext cx="5075385" cy="3193712"/>
          </a:xfrm>
        </p:spPr>
        <p:txBody>
          <a:bodyPr>
            <a:normAutofit/>
          </a:bodyPr>
          <a:lstStyle/>
          <a:p>
            <a:pPr marL="0" indent="0">
              <a:buNone/>
            </a:pPr>
            <a:r>
              <a:rPr lang="en-US" sz="1400" b="1" dirty="0"/>
              <a:t>KestrelSAT’s reaction wheel uses a 12V brushed DC motor with a 10:1 metal gearbox and an integrated quadrature encoder. </a:t>
            </a:r>
          </a:p>
          <a:p>
            <a:r>
              <a:rPr lang="en-US" sz="1400" dirty="0"/>
              <a:t>To measure wheel speed, a two-channel Hall effect encoder is used to sense the rotation of a magnetic disk on a rear protrusion of the motor shaft. </a:t>
            </a:r>
          </a:p>
          <a:p>
            <a:r>
              <a:rPr lang="en-US" sz="1400" dirty="0"/>
              <a:t>The quadrature encoder provides a resolution of 64 counts per revolution (CPR) of the motor shaft and 640 CPR of the gearbox’s output shaft.</a:t>
            </a:r>
          </a:p>
          <a:p>
            <a:pPr marL="0" indent="0">
              <a:buNone/>
            </a:pPr>
            <a:r>
              <a:rPr lang="en-US" sz="1400" dirty="0"/>
              <a:t>More Information:</a:t>
            </a:r>
          </a:p>
          <a:p>
            <a:pPr marL="0" indent="0">
              <a:buNone/>
            </a:pPr>
            <a:r>
              <a:rPr lang="en-US" sz="1400" b="1" dirty="0">
                <a:hlinkClick r:id="rId2"/>
              </a:rPr>
              <a:t>Pololu item 4758</a:t>
            </a:r>
            <a:endParaRPr lang="en-US" sz="1400" b="1" dirty="0"/>
          </a:p>
          <a:p>
            <a:pPr marL="0" indent="0">
              <a:buNone/>
            </a:pPr>
            <a:endParaRPr lang="en-US" sz="1400" dirty="0"/>
          </a:p>
        </p:txBody>
      </p:sp>
      <p:sp>
        <p:nvSpPr>
          <p:cNvPr id="4" name="Footer Placeholder 3">
            <a:extLst>
              <a:ext uri="{FF2B5EF4-FFF2-40B4-BE49-F238E27FC236}">
                <a16:creationId xmlns:a16="http://schemas.microsoft.com/office/drawing/2014/main" id="{D61BF715-35E7-5C7F-34F5-A0BB186D1561}"/>
              </a:ext>
            </a:extLst>
          </p:cNvPr>
          <p:cNvSpPr>
            <a:spLocks noGrp="1"/>
          </p:cNvSpPr>
          <p:nvPr>
            <p:ph type="ftr" sz="quarter" idx="11"/>
          </p:nvPr>
        </p:nvSpPr>
        <p:spPr/>
        <p:txBody>
          <a:bodyPr/>
          <a:lstStyle/>
          <a:p>
            <a:r>
              <a:rPr lang="en-US" dirty="0"/>
              <a:t>Astro 331 Lab #7</a:t>
            </a:r>
          </a:p>
        </p:txBody>
      </p:sp>
      <p:sp>
        <p:nvSpPr>
          <p:cNvPr id="5" name="Slide Number Placeholder 4">
            <a:extLst>
              <a:ext uri="{FF2B5EF4-FFF2-40B4-BE49-F238E27FC236}">
                <a16:creationId xmlns:a16="http://schemas.microsoft.com/office/drawing/2014/main" id="{D8363298-EF61-2821-5E91-75CE6A7EF73A}"/>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9" name="Picture 8">
            <a:extLst>
              <a:ext uri="{FF2B5EF4-FFF2-40B4-BE49-F238E27FC236}">
                <a16:creationId xmlns:a16="http://schemas.microsoft.com/office/drawing/2014/main" id="{33A9D9AE-A5C1-A4EA-E6D6-79C9C54351C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181725" y="962025"/>
            <a:ext cx="2915911" cy="2652669"/>
          </a:xfrm>
          <a:prstGeom prst="rect">
            <a:avLst/>
          </a:prstGeom>
        </p:spPr>
      </p:pic>
      <p:pic>
        <p:nvPicPr>
          <p:cNvPr id="11" name="Picture 10">
            <a:extLst>
              <a:ext uri="{FF2B5EF4-FFF2-40B4-BE49-F238E27FC236}">
                <a16:creationId xmlns:a16="http://schemas.microsoft.com/office/drawing/2014/main" id="{B0E07849-E34D-93B5-EDB5-D6D7119D8E13}"/>
              </a:ext>
            </a:extLst>
          </p:cNvPr>
          <p:cNvPicPr>
            <a:picLocks noChangeAspect="1"/>
          </p:cNvPicPr>
          <p:nvPr/>
        </p:nvPicPr>
        <p:blipFill>
          <a:blip r:embed="rId4"/>
          <a:stretch>
            <a:fillRect/>
          </a:stretch>
        </p:blipFill>
        <p:spPr>
          <a:xfrm>
            <a:off x="2836558" y="3897265"/>
            <a:ext cx="2923984" cy="1749169"/>
          </a:xfrm>
          <a:prstGeom prst="rect">
            <a:avLst/>
          </a:prstGeom>
        </p:spPr>
      </p:pic>
      <p:pic>
        <p:nvPicPr>
          <p:cNvPr id="13" name="Picture 12">
            <a:extLst>
              <a:ext uri="{FF2B5EF4-FFF2-40B4-BE49-F238E27FC236}">
                <a16:creationId xmlns:a16="http://schemas.microsoft.com/office/drawing/2014/main" id="{BF1A1C8D-18B5-C807-7040-06AD283016A0}"/>
              </a:ext>
            </a:extLst>
          </p:cNvPr>
          <p:cNvPicPr>
            <a:picLocks noChangeAspect="1"/>
          </p:cNvPicPr>
          <p:nvPr/>
        </p:nvPicPr>
        <p:blipFill>
          <a:blip r:embed="rId5"/>
          <a:stretch>
            <a:fillRect/>
          </a:stretch>
        </p:blipFill>
        <p:spPr>
          <a:xfrm>
            <a:off x="1241217" y="3914065"/>
            <a:ext cx="1401632" cy="2587627"/>
          </a:xfrm>
          <a:prstGeom prst="rect">
            <a:avLst/>
          </a:prstGeom>
        </p:spPr>
      </p:pic>
      <p:pic>
        <p:nvPicPr>
          <p:cNvPr id="15" name="Picture 14">
            <a:extLst>
              <a:ext uri="{FF2B5EF4-FFF2-40B4-BE49-F238E27FC236}">
                <a16:creationId xmlns:a16="http://schemas.microsoft.com/office/drawing/2014/main" id="{5BCD6C2C-FD75-CD14-A6EA-48BEFC4E6FE5}"/>
              </a:ext>
            </a:extLst>
          </p:cNvPr>
          <p:cNvPicPr>
            <a:picLocks noChangeAspect="1"/>
          </p:cNvPicPr>
          <p:nvPr/>
        </p:nvPicPr>
        <p:blipFill>
          <a:blip r:embed="rId6"/>
          <a:stretch>
            <a:fillRect/>
          </a:stretch>
        </p:blipFill>
        <p:spPr>
          <a:xfrm>
            <a:off x="2837017" y="3172854"/>
            <a:ext cx="3143556" cy="662880"/>
          </a:xfrm>
          <a:prstGeom prst="rect">
            <a:avLst/>
          </a:prstGeom>
        </p:spPr>
      </p:pic>
      <p:sp>
        <p:nvSpPr>
          <p:cNvPr id="17" name="Content Placeholder 5">
            <a:extLst>
              <a:ext uri="{FF2B5EF4-FFF2-40B4-BE49-F238E27FC236}">
                <a16:creationId xmlns:a16="http://schemas.microsoft.com/office/drawing/2014/main" id="{D32A2FB0-F5CE-C446-1B3D-DDB396DFDC2B}"/>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pic>
        <p:nvPicPr>
          <p:cNvPr id="19" name="Picture 18">
            <a:extLst>
              <a:ext uri="{FF2B5EF4-FFF2-40B4-BE49-F238E27FC236}">
                <a16:creationId xmlns:a16="http://schemas.microsoft.com/office/drawing/2014/main" id="{51473DD3-CD84-F571-77A8-4B107EEBBA0B}"/>
              </a:ext>
            </a:extLst>
          </p:cNvPr>
          <p:cNvPicPr>
            <a:picLocks noChangeAspect="1"/>
          </p:cNvPicPr>
          <p:nvPr/>
        </p:nvPicPr>
        <p:blipFill>
          <a:blip r:embed="rId7"/>
          <a:stretch>
            <a:fillRect/>
          </a:stretch>
        </p:blipFill>
        <p:spPr>
          <a:xfrm>
            <a:off x="6087642" y="3622824"/>
            <a:ext cx="2576775" cy="3098653"/>
          </a:xfrm>
          <a:prstGeom prst="rect">
            <a:avLst/>
          </a:prstGeom>
          <a:ln>
            <a:solidFill>
              <a:schemeClr val="tx1"/>
            </a:solidFill>
          </a:ln>
        </p:spPr>
      </p:pic>
      <p:sp>
        <p:nvSpPr>
          <p:cNvPr id="7" name="TextBox 6">
            <a:extLst>
              <a:ext uri="{FF2B5EF4-FFF2-40B4-BE49-F238E27FC236}">
                <a16:creationId xmlns:a16="http://schemas.microsoft.com/office/drawing/2014/main" id="{D5ADDC31-BB4C-752A-01A1-9A4F876EC1FE}"/>
              </a:ext>
            </a:extLst>
          </p:cNvPr>
          <p:cNvSpPr txBox="1"/>
          <p:nvPr/>
        </p:nvSpPr>
        <p:spPr>
          <a:xfrm>
            <a:off x="3010162" y="5670695"/>
            <a:ext cx="2576775" cy="830997"/>
          </a:xfrm>
          <a:prstGeom prst="rect">
            <a:avLst/>
          </a:prstGeom>
          <a:noFill/>
          <a:ln w="38100">
            <a:solidFill>
              <a:srgbClr val="0070C0"/>
            </a:solidFill>
          </a:ln>
        </p:spPr>
        <p:txBody>
          <a:bodyPr wrap="square">
            <a:spAutoFit/>
          </a:bodyPr>
          <a:lstStyle/>
          <a:p>
            <a:r>
              <a:rPr lang="en-US" sz="1200" b="1" dirty="0">
                <a:solidFill>
                  <a:srgbClr val="0070C0"/>
                </a:solidFill>
                <a:latin typeface="Segoe UI" panose="020B0502040204020203" pitchFamily="34" charset="0"/>
                <a:cs typeface="Segoe UI" panose="020B0502040204020203" pitchFamily="34" charset="0"/>
              </a:rPr>
              <a:t>Note</a:t>
            </a:r>
            <a:r>
              <a:rPr lang="en-US" sz="1200" dirty="0">
                <a:solidFill>
                  <a:srgbClr val="0070C0"/>
                </a:solidFill>
                <a:latin typeface="Segoe UI" panose="020B0502040204020203" pitchFamily="34" charset="0"/>
                <a:cs typeface="Segoe UI" panose="020B0502040204020203" pitchFamily="34" charset="0"/>
              </a:rPr>
              <a:t>: KestrelSAT uses an extension cable  whose colors do not exactly match those listed above. See Task 2 for correct setup.</a:t>
            </a:r>
          </a:p>
        </p:txBody>
      </p:sp>
    </p:spTree>
    <p:extLst>
      <p:ext uri="{BB962C8B-B14F-4D97-AF65-F5344CB8AC3E}">
        <p14:creationId xmlns:p14="http://schemas.microsoft.com/office/powerpoint/2010/main" val="85020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436C4-833B-4BEA-ABA5-ED0F09F447FD}"/>
              </a:ext>
            </a:extLst>
          </p:cNvPr>
          <p:cNvSpPr>
            <a:spLocks noGrp="1"/>
          </p:cNvSpPr>
          <p:nvPr>
            <p:ph type="title"/>
          </p:nvPr>
        </p:nvSpPr>
        <p:spPr/>
        <p:txBody>
          <a:bodyPr/>
          <a:lstStyle/>
          <a:p>
            <a:r>
              <a:rPr lang="en-US" b="1"/>
              <a:t>Reference – Motor Controller </a:t>
            </a:r>
          </a:p>
        </p:txBody>
      </p:sp>
      <p:sp>
        <p:nvSpPr>
          <p:cNvPr id="3" name="Content Placeholder 2">
            <a:extLst>
              <a:ext uri="{FF2B5EF4-FFF2-40B4-BE49-F238E27FC236}">
                <a16:creationId xmlns:a16="http://schemas.microsoft.com/office/drawing/2014/main" id="{2F9A9D1D-BAE6-D1BE-5630-E5BF0FDEA495}"/>
              </a:ext>
            </a:extLst>
          </p:cNvPr>
          <p:cNvSpPr>
            <a:spLocks noGrp="1"/>
          </p:cNvSpPr>
          <p:nvPr>
            <p:ph idx="1"/>
          </p:nvPr>
        </p:nvSpPr>
        <p:spPr>
          <a:xfrm>
            <a:off x="1134915" y="916782"/>
            <a:ext cx="4894410" cy="4351338"/>
          </a:xfrm>
        </p:spPr>
        <p:txBody>
          <a:bodyPr>
            <a:normAutofit/>
          </a:bodyPr>
          <a:lstStyle/>
          <a:p>
            <a:pPr marL="0" indent="0">
              <a:buNone/>
            </a:pPr>
            <a:r>
              <a:rPr lang="en-US" sz="1400" b="1"/>
              <a:t>KestrelSAT uses a TB9051FTG</a:t>
            </a:r>
            <a:r>
              <a:rPr lang="da-DK" sz="1400" b="1"/>
              <a:t> Single Brushed DC Motor Driver to control the reaciton wheel.</a:t>
            </a:r>
          </a:p>
          <a:p>
            <a:r>
              <a:rPr lang="en-US" sz="1400"/>
              <a:t>The motor driver provides 0–12* V to the motor, modulated to control motor speed. </a:t>
            </a:r>
          </a:p>
          <a:p>
            <a:r>
              <a:rPr lang="en-US" sz="1400"/>
              <a:t>The modulation is controlled by a 3V pulse PWM (pulse width modulation) signal from the MCU. </a:t>
            </a:r>
          </a:p>
          <a:p>
            <a:r>
              <a:rPr lang="en-US" sz="1400"/>
              <a:t>The higher the PWM command, the faster the motor will spin.</a:t>
            </a:r>
          </a:p>
          <a:p>
            <a:pPr marL="0" indent="0">
              <a:buNone/>
            </a:pPr>
            <a:r>
              <a:rPr lang="en-US" sz="1400"/>
              <a:t>* - In  this lab we’ll use 5V to power the motor</a:t>
            </a:r>
          </a:p>
          <a:p>
            <a:pPr marL="0" indent="0">
              <a:buNone/>
            </a:pPr>
            <a:r>
              <a:rPr lang="en-US" sz="1400"/>
              <a:t>More information: </a:t>
            </a:r>
            <a:r>
              <a:rPr lang="en-US" sz="1400">
                <a:hlinkClick r:id="rId2"/>
              </a:rPr>
              <a:t>https://www.pololu.com/product/2997</a:t>
            </a:r>
            <a:r>
              <a:rPr lang="en-US" sz="1400"/>
              <a:t> </a:t>
            </a:r>
          </a:p>
        </p:txBody>
      </p:sp>
      <p:sp>
        <p:nvSpPr>
          <p:cNvPr id="4" name="Footer Placeholder 3">
            <a:extLst>
              <a:ext uri="{FF2B5EF4-FFF2-40B4-BE49-F238E27FC236}">
                <a16:creationId xmlns:a16="http://schemas.microsoft.com/office/drawing/2014/main" id="{14E5E753-06D0-8C2A-9B9C-7B798708688E}"/>
              </a:ext>
            </a:extLst>
          </p:cNvPr>
          <p:cNvSpPr>
            <a:spLocks noGrp="1"/>
          </p:cNvSpPr>
          <p:nvPr>
            <p:ph type="ftr" sz="quarter" idx="11"/>
          </p:nvPr>
        </p:nvSpPr>
        <p:spPr/>
        <p:txBody>
          <a:bodyPr/>
          <a:lstStyle/>
          <a:p>
            <a:r>
              <a:rPr lang="en-US"/>
              <a:t>Astro 331 Lab #6</a:t>
            </a:r>
          </a:p>
        </p:txBody>
      </p:sp>
      <p:sp>
        <p:nvSpPr>
          <p:cNvPr id="5" name="Slide Number Placeholder 4">
            <a:extLst>
              <a:ext uri="{FF2B5EF4-FFF2-40B4-BE49-F238E27FC236}">
                <a16:creationId xmlns:a16="http://schemas.microsoft.com/office/drawing/2014/main" id="{E3703168-7CD1-1526-9859-C9C2ED50910B}"/>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18" name="Picture 17">
            <a:extLst>
              <a:ext uri="{FF2B5EF4-FFF2-40B4-BE49-F238E27FC236}">
                <a16:creationId xmlns:a16="http://schemas.microsoft.com/office/drawing/2014/main" id="{20A20032-FC96-27AD-1EDC-425120C631C1}"/>
              </a:ext>
            </a:extLst>
          </p:cNvPr>
          <p:cNvPicPr>
            <a:picLocks noChangeAspect="1"/>
          </p:cNvPicPr>
          <p:nvPr/>
        </p:nvPicPr>
        <p:blipFill>
          <a:blip r:embed="rId3"/>
          <a:stretch>
            <a:fillRect/>
          </a:stretch>
        </p:blipFill>
        <p:spPr>
          <a:xfrm>
            <a:off x="678097" y="3560829"/>
            <a:ext cx="8019680" cy="3269402"/>
          </a:xfrm>
          <a:prstGeom prst="rect">
            <a:avLst/>
          </a:prstGeom>
        </p:spPr>
      </p:pic>
      <p:pic>
        <p:nvPicPr>
          <p:cNvPr id="13" name="Picture 12">
            <a:extLst>
              <a:ext uri="{FF2B5EF4-FFF2-40B4-BE49-F238E27FC236}">
                <a16:creationId xmlns:a16="http://schemas.microsoft.com/office/drawing/2014/main" id="{52B1FE7F-D299-A731-BC62-D683D29936E3}"/>
              </a:ext>
            </a:extLst>
          </p:cNvPr>
          <p:cNvPicPr>
            <a:picLocks noChangeAspect="1"/>
          </p:cNvPicPr>
          <p:nvPr/>
        </p:nvPicPr>
        <p:blipFill>
          <a:blip r:embed="rId4"/>
          <a:stretch>
            <a:fillRect/>
          </a:stretch>
        </p:blipFill>
        <p:spPr>
          <a:xfrm>
            <a:off x="6029325" y="1719018"/>
            <a:ext cx="3106464" cy="2114785"/>
          </a:xfrm>
          <a:prstGeom prst="rect">
            <a:avLst/>
          </a:prstGeom>
        </p:spPr>
      </p:pic>
      <p:pic>
        <p:nvPicPr>
          <p:cNvPr id="16" name="Picture 15">
            <a:extLst>
              <a:ext uri="{FF2B5EF4-FFF2-40B4-BE49-F238E27FC236}">
                <a16:creationId xmlns:a16="http://schemas.microsoft.com/office/drawing/2014/main" id="{F6E56220-4F64-7FF7-D5AB-3F767D05F6C6}"/>
              </a:ext>
            </a:extLst>
          </p:cNvPr>
          <p:cNvPicPr>
            <a:picLocks noChangeAspect="1"/>
          </p:cNvPicPr>
          <p:nvPr/>
        </p:nvPicPr>
        <p:blipFill>
          <a:blip r:embed="rId5"/>
          <a:stretch>
            <a:fillRect/>
          </a:stretch>
        </p:blipFill>
        <p:spPr>
          <a:xfrm>
            <a:off x="7154691" y="488117"/>
            <a:ext cx="1543086" cy="1230901"/>
          </a:xfrm>
          <a:prstGeom prst="rect">
            <a:avLst/>
          </a:prstGeom>
        </p:spPr>
      </p:pic>
      <p:sp>
        <p:nvSpPr>
          <p:cNvPr id="20" name="Content Placeholder 5">
            <a:extLst>
              <a:ext uri="{FF2B5EF4-FFF2-40B4-BE49-F238E27FC236}">
                <a16:creationId xmlns:a16="http://schemas.microsoft.com/office/drawing/2014/main" id="{BC56E4BD-D912-FE65-00AF-A8572BBEC5C8}"/>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65961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A2F508F-74C2-8C0C-BC60-0FE58E3477AB}"/>
              </a:ext>
            </a:extLst>
          </p:cNvPr>
          <p:cNvSpPr txBox="1">
            <a:spLocks/>
          </p:cNvSpPr>
          <p:nvPr/>
        </p:nvSpPr>
        <p:spPr>
          <a:xfrm>
            <a:off x="1106340" y="2131712"/>
            <a:ext cx="8039100" cy="464791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For the Prelab, your task is to determine if KestrelSAT’s reaction wheel can provide sufficient torque and angular momentum storage for its mission. </a:t>
            </a:r>
          </a:p>
          <a:p>
            <a:pPr marL="0" indent="0">
              <a:buFont typeface="Arial" panose="020B0604020202020204" pitchFamily="34" charset="0"/>
              <a:buNone/>
            </a:pPr>
            <a:r>
              <a:rPr lang="en-US" sz="1400" dirty="0"/>
              <a:t>Refer to next slide for relevant KestrelSAT and reaction wheel parameters.</a:t>
            </a:r>
          </a:p>
          <a:p>
            <a:pPr marL="0" indent="0">
              <a:buFont typeface="Arial" panose="020B0604020202020204" pitchFamily="34" charset="0"/>
              <a:buNone/>
            </a:pPr>
            <a:r>
              <a:rPr lang="en-US" sz="1400" u="sng" dirty="0"/>
              <a:t>Determine Reaction Wheel Requirements:</a:t>
            </a:r>
          </a:p>
          <a:p>
            <a:pPr marL="339725" indent="-339725">
              <a:buNone/>
            </a:pPr>
            <a:r>
              <a:rPr lang="en-US" sz="1400" dirty="0"/>
              <a:t>(P1) Calculate the </a:t>
            </a:r>
            <a:r>
              <a:rPr lang="en-US" sz="1400" dirty="0">
                <a:solidFill>
                  <a:srgbClr val="C00000"/>
                </a:solidFill>
              </a:rPr>
              <a:t>total torque required to counter disturbances </a:t>
            </a:r>
            <a:r>
              <a:rPr lang="en-US" sz="1400" dirty="0"/>
              <a:t>that we discussed in class (gravity gradient, magnetic, SRP, drag). </a:t>
            </a:r>
            <a:r>
              <a:rPr lang="en-US" sz="1400" b="1" dirty="0"/>
              <a:t>Assume a margin factor of 1 </a:t>
            </a:r>
            <a:r>
              <a:rPr lang="en-US" sz="1400" dirty="0"/>
              <a:t>(margin is considered in P6). </a:t>
            </a:r>
          </a:p>
          <a:p>
            <a:pPr marL="339725" indent="-339725">
              <a:buNone/>
            </a:pPr>
            <a:r>
              <a:rPr lang="en-US" sz="1400" i="1" dirty="0"/>
              <a:t>	[Refer to page 194 of Dahlke text to calculate atmospheric density]</a:t>
            </a:r>
          </a:p>
          <a:p>
            <a:pPr marL="339725" indent="-339725">
              <a:buNone/>
            </a:pPr>
            <a:r>
              <a:rPr lang="en-US" sz="1400" dirty="0"/>
              <a:t>(P2) Calculate the </a:t>
            </a:r>
            <a:r>
              <a:rPr lang="en-US" sz="1400" dirty="0">
                <a:solidFill>
                  <a:schemeClr val="accent6">
                    <a:lumMod val="75000"/>
                  </a:schemeClr>
                </a:solidFill>
              </a:rPr>
              <a:t>angular momentum storage requirement </a:t>
            </a:r>
            <a:r>
              <a:rPr lang="en-US" sz="1400" dirty="0"/>
              <a:t>of the reaction wheel to counter these disturbances (assume momentum is stored for one orbit).</a:t>
            </a:r>
          </a:p>
          <a:p>
            <a:pPr marL="0" indent="0">
              <a:buNone/>
            </a:pPr>
            <a:r>
              <a:rPr lang="en-US" sz="1400" dirty="0"/>
              <a:t>(P3) Calculate the </a:t>
            </a:r>
            <a:r>
              <a:rPr lang="en-US" sz="1400" dirty="0">
                <a:solidFill>
                  <a:srgbClr val="0070C0"/>
                </a:solidFill>
              </a:rPr>
              <a:t>torque required to complete a </a:t>
            </a:r>
            <a:r>
              <a:rPr lang="en-US" sz="1400" b="1" dirty="0">
                <a:solidFill>
                  <a:srgbClr val="0070C0"/>
                </a:solidFill>
              </a:rPr>
              <a:t>180 degree slew maneuver in 3 seconds</a:t>
            </a:r>
            <a:r>
              <a:rPr lang="en-US" sz="1400" b="1" dirty="0">
                <a:solidFill>
                  <a:srgbClr val="C00000"/>
                </a:solidFill>
              </a:rPr>
              <a:t>.</a:t>
            </a:r>
          </a:p>
          <a:p>
            <a:pPr marL="0" indent="0">
              <a:buNone/>
            </a:pPr>
            <a:r>
              <a:rPr lang="en-US" sz="1400" u="sng" dirty="0"/>
              <a:t>Determine Reaction Wheel Capability:</a:t>
            </a:r>
          </a:p>
          <a:p>
            <a:pPr marL="0" indent="0">
              <a:buNone/>
            </a:pPr>
            <a:r>
              <a:rPr lang="en-US" sz="1400" dirty="0"/>
              <a:t>(P4) Calculate the torque that KestrelSAT’s reaction wheel can produce.</a:t>
            </a:r>
          </a:p>
          <a:p>
            <a:pPr marL="0" indent="0">
              <a:buNone/>
            </a:pPr>
            <a:r>
              <a:rPr lang="en-US" sz="1400" dirty="0"/>
              <a:t>(P5) Calculate how much angular momentum KestrelSAT’s reaction wheel can store. </a:t>
            </a:r>
          </a:p>
          <a:p>
            <a:pPr marL="0" indent="0">
              <a:buNone/>
            </a:pPr>
            <a:r>
              <a:rPr lang="en-US" sz="1400" u="sng" dirty="0"/>
              <a:t>Determine Design Margin:</a:t>
            </a:r>
          </a:p>
          <a:p>
            <a:pPr marL="339725" indent="-339725">
              <a:buNone/>
            </a:pPr>
            <a:r>
              <a:rPr lang="en-US" sz="1400" dirty="0"/>
              <a:t>(P6) Calculate design margin for each reaction wheel requirement (</a:t>
            </a:r>
            <a:r>
              <a:rPr lang="en-US" sz="1400" dirty="0">
                <a:solidFill>
                  <a:srgbClr val="C00000"/>
                </a:solidFill>
              </a:rPr>
              <a:t>disturbance torque</a:t>
            </a:r>
            <a:r>
              <a:rPr lang="en-US" sz="1400" dirty="0"/>
              <a:t>, </a:t>
            </a:r>
            <a:r>
              <a:rPr lang="en-US" sz="1400" dirty="0">
                <a:solidFill>
                  <a:schemeClr val="accent6">
                    <a:lumMod val="75000"/>
                  </a:schemeClr>
                </a:solidFill>
              </a:rPr>
              <a:t>angular momentum storage</a:t>
            </a:r>
            <a:r>
              <a:rPr lang="en-US" sz="1400" dirty="0"/>
              <a:t>, </a:t>
            </a:r>
            <a:r>
              <a:rPr lang="en-US" sz="1400" dirty="0">
                <a:solidFill>
                  <a:srgbClr val="0070C0"/>
                </a:solidFill>
              </a:rPr>
              <a:t>slew torque</a:t>
            </a:r>
            <a:r>
              <a:rPr lang="en-US" sz="1400" dirty="0"/>
              <a:t>).</a:t>
            </a:r>
          </a:p>
          <a:p>
            <a:pPr marL="339725" indent="-339725">
              <a:buNone/>
            </a:pPr>
            <a:r>
              <a:rPr lang="en-US" sz="1400" dirty="0"/>
              <a:t>(P7) If any of the three design margins are negative, propose a specific parameter change(s) and recalculate margins to show they are positive. </a:t>
            </a:r>
          </a:p>
          <a:p>
            <a:pPr marL="0" indent="0">
              <a:buFont typeface="Arial" panose="020B0604020202020204" pitchFamily="34" charset="0"/>
              <a:buNone/>
            </a:pPr>
            <a:endParaRPr lang="en-US" sz="1200" dirty="0"/>
          </a:p>
          <a:p>
            <a:pPr marL="0" indent="0">
              <a:buFont typeface="Arial" panose="020B0604020202020204" pitchFamily="34" charset="0"/>
              <a:buNone/>
            </a:pPr>
            <a:endParaRPr lang="en-US" sz="1200" dirty="0"/>
          </a:p>
          <a:p>
            <a:pPr marL="0" indent="0">
              <a:buFont typeface="Arial" panose="020B0604020202020204" pitchFamily="34" charset="0"/>
              <a:buNone/>
            </a:pPr>
            <a:endParaRPr lang="en-US" sz="1200" dirty="0"/>
          </a:p>
          <a:p>
            <a:pPr marL="0" indent="0">
              <a:buFont typeface="Arial" panose="020B0604020202020204" pitchFamily="34" charset="0"/>
              <a:buNone/>
            </a:pPr>
            <a:endParaRPr lang="en-US" sz="1200" dirty="0"/>
          </a:p>
        </p:txBody>
      </p:sp>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a:xfrm>
            <a:off x="1106340" y="1002506"/>
            <a:ext cx="7886700" cy="5578915"/>
          </a:xfrm>
        </p:spPr>
        <p:txBody>
          <a:bodyPr>
            <a:normAutofit/>
          </a:bodyPr>
          <a:lstStyle/>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dirty="0"/>
              <a:t>Astro 331 Lab #7</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8</a:t>
            </a:fld>
            <a:endParaRPr lang="en-US"/>
          </a:p>
        </p:txBody>
      </p:sp>
      <p:sp>
        <p:nvSpPr>
          <p:cNvPr id="7" name="Content Placeholder 5">
            <a:extLst>
              <a:ext uri="{FF2B5EF4-FFF2-40B4-BE49-F238E27FC236}">
                <a16:creationId xmlns:a16="http://schemas.microsoft.com/office/drawing/2014/main" id="{0A61D0E3-5309-864E-4A7A-2512BDF93B0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11" name="Content Placeholder 7">
            <a:extLst>
              <a:ext uri="{FF2B5EF4-FFF2-40B4-BE49-F238E27FC236}">
                <a16:creationId xmlns:a16="http://schemas.microsoft.com/office/drawing/2014/main" id="{441E8ABF-C4B6-0C01-C020-1EDAD9522100}"/>
              </a:ext>
            </a:extLst>
          </p:cNvPr>
          <p:cNvSpPr txBox="1">
            <a:spLocks/>
          </p:cNvSpPr>
          <p:nvPr/>
        </p:nvSpPr>
        <p:spPr>
          <a:xfrm>
            <a:off x="1474284" y="717110"/>
            <a:ext cx="2772413" cy="1414609"/>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highlight>
                  <a:srgbClr val="FFFF00"/>
                </a:highlight>
                <a:latin typeface="Segoe UI" panose="020B0502040204020203" pitchFamily="34" charset="0"/>
                <a:cs typeface="Segoe UI" panose="020B0502040204020203" pitchFamily="34" charset="0"/>
              </a:rPr>
              <a:t>Prelab turn-in is individual effort</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0 Allowed (</a:t>
            </a:r>
            <a:r>
              <a:rPr lang="en-US" sz="1200" b="1" i="1" dirty="0">
                <a:solidFill>
                  <a:srgbClr val="FF0000"/>
                </a:solidFill>
                <a:highlight>
                  <a:srgbClr val="FFFF00"/>
                </a:highlight>
                <a:latin typeface="Segoe UI" panose="020B0502040204020203" pitchFamily="34" charset="0"/>
                <a:cs typeface="Segoe UI" panose="020B0502040204020203" pitchFamily="34" charset="0"/>
              </a:rPr>
              <a:t>GenAI not allowed</a:t>
            </a:r>
            <a:r>
              <a:rPr lang="en-US" sz="1200" b="1" dirty="0">
                <a:highlight>
                  <a:srgbClr val="FFFF00"/>
                </a:highlight>
                <a:latin typeface="Segoe UI" panose="020B0502040204020203" pitchFamily="34" charset="0"/>
                <a:cs typeface="Segoe UI" panose="020B0502040204020203" pitchFamily="34" charset="0"/>
              </a:rPr>
              <a:t>)</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12" name="Content Placeholder 7">
            <a:extLst>
              <a:ext uri="{FF2B5EF4-FFF2-40B4-BE49-F238E27FC236}">
                <a16:creationId xmlns:a16="http://schemas.microsoft.com/office/drawing/2014/main" id="{C8006994-84C0-3A3E-EFC5-B85507285A2F}"/>
              </a:ext>
            </a:extLst>
          </p:cNvPr>
          <p:cNvSpPr txBox="1">
            <a:spLocks/>
          </p:cNvSpPr>
          <p:nvPr/>
        </p:nvSpPr>
        <p:spPr>
          <a:xfrm>
            <a:off x="4897305" y="717110"/>
            <a:ext cx="3669695" cy="1430182"/>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dirty="0">
                <a:latin typeface="Segoe UI" panose="020B0502040204020203" pitchFamily="34" charset="0"/>
                <a:cs typeface="Segoe UI" panose="020B0502040204020203" pitchFamily="34" charset="0"/>
              </a:rPr>
              <a:t>Turn-In Format</a:t>
            </a:r>
          </a:p>
          <a:p>
            <a:pPr marL="0" indent="0" algn="ctr">
              <a:spcBef>
                <a:spcPts val="0"/>
              </a:spcBef>
              <a:buFont typeface="Arial" panose="020B0604020202020204" pitchFamily="34" charset="0"/>
              <a:buNone/>
            </a:pPr>
            <a:endParaRPr lang="en-US" sz="1200" b="1" dirty="0">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dirty="0">
                <a:latin typeface="Segoe UI" panose="020B0502040204020203" pitchFamily="34" charset="0"/>
                <a:cs typeface="Segoe UI" panose="020B0502040204020203" pitchFamily="34" charset="0"/>
              </a:rPr>
              <a:t>Provide answers digitally using Word, PowerPoint, or LaTeX.</a:t>
            </a:r>
          </a:p>
          <a:p>
            <a:pPr marL="223838" indent="-223838">
              <a:spcBef>
                <a:spcPts val="0"/>
              </a:spcBef>
            </a:pPr>
            <a:r>
              <a:rPr lang="en-US" sz="1200" dirty="0">
                <a:latin typeface="Segoe UI" panose="020B0502040204020203" pitchFamily="34" charset="0"/>
                <a:cs typeface="Segoe UI" panose="020B0502040204020203" pitchFamily="34" charset="0"/>
              </a:rPr>
              <a:t>Math work may be handwritten. If it is, make sure it is legible/organized and include a high-quality scan of it in your turn-in file. </a:t>
            </a:r>
          </a:p>
          <a:p>
            <a:pPr marL="223838" indent="-223838">
              <a:spcBef>
                <a:spcPts val="0"/>
              </a:spcBef>
            </a:pPr>
            <a:r>
              <a:rPr lang="en-US" sz="1200" dirty="0">
                <a:latin typeface="Segoe UI" panose="020B0502040204020203" pitchFamily="34" charset="0"/>
                <a:cs typeface="Segoe UI" panose="020B0502040204020203" pitchFamily="34" charset="0"/>
              </a:rPr>
              <a:t>Include a documentation statement.</a:t>
            </a:r>
          </a:p>
        </p:txBody>
      </p:sp>
    </p:spTree>
    <p:extLst>
      <p:ext uri="{BB962C8B-B14F-4D97-AF65-F5344CB8AC3E}">
        <p14:creationId xmlns:p14="http://schemas.microsoft.com/office/powerpoint/2010/main" val="158755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262E607-9CCA-8946-B805-93090CC2C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2FF67-5D91-B91A-C8C9-7978FE8844A2}"/>
              </a:ext>
            </a:extLst>
          </p:cNvPr>
          <p:cNvSpPr>
            <a:spLocks noGrp="1"/>
          </p:cNvSpPr>
          <p:nvPr>
            <p:ph type="title"/>
          </p:nvPr>
        </p:nvSpPr>
        <p:spPr/>
        <p:txBody>
          <a:bodyPr/>
          <a:lstStyle/>
          <a:p>
            <a:r>
              <a:rPr lang="en-US" b="1" dirty="0"/>
              <a:t>Prelab Tasks</a:t>
            </a:r>
          </a:p>
        </p:txBody>
      </p:sp>
      <p:sp>
        <p:nvSpPr>
          <p:cNvPr id="4" name="Footer Placeholder 3">
            <a:extLst>
              <a:ext uri="{FF2B5EF4-FFF2-40B4-BE49-F238E27FC236}">
                <a16:creationId xmlns:a16="http://schemas.microsoft.com/office/drawing/2014/main" id="{8DF288B1-DF9D-003A-A04A-D7529E73154E}"/>
              </a:ext>
            </a:extLst>
          </p:cNvPr>
          <p:cNvSpPr>
            <a:spLocks noGrp="1"/>
          </p:cNvSpPr>
          <p:nvPr>
            <p:ph type="ftr" sz="quarter" idx="11"/>
          </p:nvPr>
        </p:nvSpPr>
        <p:spPr/>
        <p:txBody>
          <a:bodyPr/>
          <a:lstStyle/>
          <a:p>
            <a:r>
              <a:rPr lang="en-US" dirty="0"/>
              <a:t>Astro 331 Lab #7</a:t>
            </a:r>
          </a:p>
        </p:txBody>
      </p:sp>
      <p:sp>
        <p:nvSpPr>
          <p:cNvPr id="5" name="Slide Number Placeholder 4">
            <a:extLst>
              <a:ext uri="{FF2B5EF4-FFF2-40B4-BE49-F238E27FC236}">
                <a16:creationId xmlns:a16="http://schemas.microsoft.com/office/drawing/2014/main" id="{A9993C97-8275-C438-B2FA-9DD4928ABA99}"/>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7" name="Content Placeholder 5">
            <a:extLst>
              <a:ext uri="{FF2B5EF4-FFF2-40B4-BE49-F238E27FC236}">
                <a16:creationId xmlns:a16="http://schemas.microsoft.com/office/drawing/2014/main" id="{A397E02E-5D73-31D6-963A-A0D4C927F73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E78C6A79-0958-B265-0B09-1C4C17D13A10}"/>
                  </a:ext>
                </a:extLst>
              </p:cNvPr>
              <p:cNvGraphicFramePr>
                <a:graphicFrameLocks noGrp="1"/>
              </p:cNvGraphicFramePr>
              <p:nvPr>
                <p:extLst>
                  <p:ext uri="{D42A27DB-BD31-4B8C-83A1-F6EECF244321}">
                    <p14:modId xmlns:p14="http://schemas.microsoft.com/office/powerpoint/2010/main" val="2228497689"/>
                  </p:ext>
                </p:extLst>
              </p:nvPr>
            </p:nvGraphicFramePr>
            <p:xfrm>
              <a:off x="1158264" y="1975464"/>
              <a:ext cx="3924048" cy="3291840"/>
            </p:xfrm>
            <a:graphic>
              <a:graphicData uri="http://schemas.openxmlformats.org/drawingml/2006/table">
                <a:tbl>
                  <a:tblPr firstRow="1" bandRow="1">
                    <a:tableStyleId>{21E4AEA4-8DFA-4A89-87EB-49C32662AFE0}</a:tableStyleId>
                  </a:tblPr>
                  <a:tblGrid>
                    <a:gridCol w="2660327">
                      <a:extLst>
                        <a:ext uri="{9D8B030D-6E8A-4147-A177-3AD203B41FA5}">
                          <a16:colId xmlns:a16="http://schemas.microsoft.com/office/drawing/2014/main" val="766308854"/>
                        </a:ext>
                      </a:extLst>
                    </a:gridCol>
                    <a:gridCol w="1263721">
                      <a:extLst>
                        <a:ext uri="{9D8B030D-6E8A-4147-A177-3AD203B41FA5}">
                          <a16:colId xmlns:a16="http://schemas.microsoft.com/office/drawing/2014/main" val="842938558"/>
                        </a:ext>
                      </a:extLst>
                    </a:gridCol>
                  </a:tblGrid>
                  <a:tr h="245013">
                    <a:tc gridSpan="2">
                      <a:txBody>
                        <a:bodyPr/>
                        <a:lstStyle/>
                        <a:p>
                          <a:pPr algn="ctr"/>
                          <a:r>
                            <a:rPr lang="en-US" sz="1200" dirty="0"/>
                            <a:t>Table 1: Spacecraft Parameters</a:t>
                          </a:r>
                        </a:p>
                      </a:txBody>
                      <a:tcPr/>
                    </a:tc>
                    <a:tc hMerge="1">
                      <a:txBody>
                        <a:bodyPr/>
                        <a:lstStyle/>
                        <a:p>
                          <a:endParaRPr lang="en-US"/>
                        </a:p>
                      </a:txBody>
                      <a:tcPr/>
                    </a:tc>
                    <a:extLst>
                      <a:ext uri="{0D108BD9-81ED-4DB2-BD59-A6C34878D82A}">
                        <a16:rowId xmlns:a16="http://schemas.microsoft.com/office/drawing/2014/main" val="944504700"/>
                      </a:ext>
                    </a:extLst>
                  </a:tr>
                  <a:tr h="245013">
                    <a:tc>
                      <a:txBody>
                        <a:bodyPr/>
                        <a:lstStyle/>
                        <a:p>
                          <a:pPr algn="r"/>
                          <a:r>
                            <a:rPr lang="en-US" sz="1200" dirty="0"/>
                            <a:t>Mission Altitude</a:t>
                          </a:r>
                        </a:p>
                      </a:txBody>
                      <a:tcPr/>
                    </a:tc>
                    <a:tc>
                      <a:txBody>
                        <a:bodyPr/>
                        <a:lstStyle/>
                        <a:p>
                          <a:r>
                            <a:rPr lang="en-US" sz="1200" dirty="0"/>
                            <a:t>200 km</a:t>
                          </a:r>
                        </a:p>
                      </a:txBody>
                      <a:tcPr/>
                    </a:tc>
                    <a:extLst>
                      <a:ext uri="{0D108BD9-81ED-4DB2-BD59-A6C34878D82A}">
                        <a16:rowId xmlns:a16="http://schemas.microsoft.com/office/drawing/2014/main" val="2294810667"/>
                      </a:ext>
                    </a:extLst>
                  </a:tr>
                  <a:tr h="245013">
                    <a:tc>
                      <a:txBody>
                        <a:bodyPr/>
                        <a:lstStyle/>
                        <a:p>
                          <a:pPr algn="r"/>
                          <a:r>
                            <a:rPr lang="en-US" sz="1200" dirty="0"/>
                            <a:t>Orbit Inclination</a:t>
                          </a:r>
                        </a:p>
                      </a:txBody>
                      <a:tcPr/>
                    </a:tc>
                    <a:tc>
                      <a:txBody>
                        <a:bodyPr/>
                        <a:lstStyle/>
                        <a:p>
                          <a:r>
                            <a:rPr lang="en-US" sz="1200" dirty="0"/>
                            <a:t>90 deg</a:t>
                          </a:r>
                        </a:p>
                      </a:txBody>
                      <a:tcPr/>
                    </a:tc>
                    <a:extLst>
                      <a:ext uri="{0D108BD9-81ED-4DB2-BD59-A6C34878D82A}">
                        <a16:rowId xmlns:a16="http://schemas.microsoft.com/office/drawing/2014/main" val="700373925"/>
                      </a:ext>
                    </a:extLst>
                  </a:tr>
                  <a:tr h="245013">
                    <a:tc>
                      <a:txBody>
                        <a:bodyPr/>
                        <a:lstStyle/>
                        <a:p>
                          <a:pPr algn="r"/>
                          <a:r>
                            <a:rPr lang="en-US" sz="1200" dirty="0"/>
                            <a:t>Side length (assume s/c is cube)</a:t>
                          </a:r>
                        </a:p>
                      </a:txBody>
                      <a:tcPr/>
                    </a:tc>
                    <a:tc>
                      <a:txBody>
                        <a:bodyPr/>
                        <a:lstStyle/>
                        <a:p>
                          <a:r>
                            <a:rPr lang="en-US" sz="1200" dirty="0"/>
                            <a:t>0.2 m</a:t>
                          </a:r>
                        </a:p>
                      </a:txBody>
                      <a:tcPr/>
                    </a:tc>
                    <a:extLst>
                      <a:ext uri="{0D108BD9-81ED-4DB2-BD59-A6C34878D82A}">
                        <a16:rowId xmlns:a16="http://schemas.microsoft.com/office/drawing/2014/main" val="2282907585"/>
                      </a:ext>
                    </a:extLst>
                  </a:tr>
                  <a:tr h="259703">
                    <a:tc>
                      <a:txBody>
                        <a:bodyPr/>
                        <a:lstStyle/>
                        <a:p>
                          <a:pPr algn="r"/>
                          <a14:m>
                            <m:oMath xmlns:m="http://schemas.openxmlformats.org/officeDocument/2006/math">
                              <m:r>
                                <m:rPr>
                                  <m:sty m:val="p"/>
                                </m:rPr>
                                <a:rPr lang="en-US" sz="1200" b="0" i="0" dirty="0" smtClean="0">
                                  <a:latin typeface="Cambria Math" panose="02040503050406030204" pitchFamily="18" charset="0"/>
                                </a:rPr>
                                <m:t>MOI</m:t>
                              </m:r>
                            </m:oMath>
                          </a14:m>
                          <a:r>
                            <a:rPr lang="en-US" sz="1200" dirty="0"/>
                            <a:t> about Z axis</a:t>
                          </a:r>
                        </a:p>
                      </a:txBody>
                      <a:tcPr/>
                    </a:tc>
                    <a:tc>
                      <a:txBody>
                        <a:bodyPr/>
                        <a:lstStyle/>
                        <a:p>
                          <a:r>
                            <a:rPr lang="en-US" sz="1200" dirty="0"/>
                            <a:t>0.014 kg*m</a:t>
                          </a:r>
                          <a:r>
                            <a:rPr lang="en-US" sz="1200" baseline="30000" dirty="0">
                              <a:effectLst/>
                            </a:rPr>
                            <a:t>2</a:t>
                          </a:r>
                        </a:p>
                      </a:txBody>
                      <a:tcPr/>
                    </a:tc>
                    <a:extLst>
                      <a:ext uri="{0D108BD9-81ED-4DB2-BD59-A6C34878D82A}">
                        <a16:rowId xmlns:a16="http://schemas.microsoft.com/office/drawing/2014/main" val="2256816791"/>
                      </a:ext>
                    </a:extLst>
                  </a:tr>
                  <a:tr h="259703">
                    <a:tc>
                      <a:txBody>
                        <a:bodyPr/>
                        <a:lstStyle/>
                        <a:p>
                          <a:pPr algn="r"/>
                          <a14:m>
                            <m:oMath xmlns:m="http://schemas.openxmlformats.org/officeDocument/2006/math">
                              <m:r>
                                <m:rPr>
                                  <m:sty m:val="p"/>
                                </m:rPr>
                                <a:rPr lang="en-US" sz="1200" b="0" i="0" dirty="0" smtClean="0">
                                  <a:latin typeface="Cambria Math" panose="02040503050406030204" pitchFamily="18" charset="0"/>
                                </a:rPr>
                                <m:t>MOI</m:t>
                              </m:r>
                            </m:oMath>
                          </a14:m>
                          <a:r>
                            <a:rPr lang="en-US" sz="1200" dirty="0"/>
                            <a:t> about X/Y</a:t>
                          </a:r>
                          <a:r>
                            <a:rPr lang="en-US" sz="1200" baseline="0" dirty="0"/>
                            <a:t> </a:t>
                          </a:r>
                          <a:r>
                            <a:rPr lang="en-US" sz="1200" dirty="0"/>
                            <a:t>axis</a:t>
                          </a:r>
                        </a:p>
                      </a:txBody>
                      <a:tcPr/>
                    </a:tc>
                    <a:tc>
                      <a:txBody>
                        <a:bodyPr/>
                        <a:lstStyle/>
                        <a:p>
                          <a:r>
                            <a:rPr lang="en-US" sz="1200" dirty="0"/>
                            <a:t>0.01 kg*m</a:t>
                          </a:r>
                          <a:r>
                            <a:rPr lang="en-US" sz="1200" baseline="30000" dirty="0">
                              <a:effectLst/>
                            </a:rPr>
                            <a:t>2</a:t>
                          </a:r>
                          <a:endParaRPr lang="en-US" sz="1200" dirty="0"/>
                        </a:p>
                      </a:txBody>
                      <a:tcPr/>
                    </a:tc>
                    <a:extLst>
                      <a:ext uri="{0D108BD9-81ED-4DB2-BD59-A6C34878D82A}">
                        <a16:rowId xmlns:a16="http://schemas.microsoft.com/office/drawing/2014/main" val="4036314075"/>
                      </a:ext>
                    </a:extLst>
                  </a:tr>
                  <a:tr h="245013">
                    <a:tc>
                      <a:txBody>
                        <a:bodyPr/>
                        <a:lstStyle/>
                        <a:p>
                          <a:pPr algn="r"/>
                          <a:r>
                            <a:rPr lang="en-US" sz="1200" dirty="0"/>
                            <a:t>Residual Dipole of S/C</a:t>
                          </a:r>
                        </a:p>
                      </a:txBody>
                      <a:tcPr/>
                    </a:tc>
                    <a:tc>
                      <a:txBody>
                        <a:bodyPr/>
                        <a:lstStyle/>
                        <a:p>
                          <a:r>
                            <a:rPr lang="en-US" sz="1200" dirty="0"/>
                            <a:t>0.2 A*m</a:t>
                          </a:r>
                          <a:r>
                            <a:rPr lang="en-US" sz="1200" baseline="30000" dirty="0">
                              <a:effectLst/>
                            </a:rPr>
                            <a:t>2</a:t>
                          </a:r>
                          <a:endParaRPr lang="en-US" sz="1200" dirty="0"/>
                        </a:p>
                      </a:txBody>
                      <a:tcPr/>
                    </a:tc>
                    <a:extLst>
                      <a:ext uri="{0D108BD9-81ED-4DB2-BD59-A6C34878D82A}">
                        <a16:rowId xmlns:a16="http://schemas.microsoft.com/office/drawing/2014/main" val="1274647220"/>
                      </a:ext>
                    </a:extLst>
                  </a:tr>
                  <a:tr h="245013">
                    <a:tc>
                      <a:txBody>
                        <a:bodyPr/>
                        <a:lstStyle/>
                        <a:p>
                          <a:pPr algn="r"/>
                          <a:r>
                            <a:rPr lang="en-US" sz="1200" dirty="0"/>
                            <a:t>CG offset (for SRP &amp; drag)</a:t>
                          </a:r>
                        </a:p>
                      </a:txBody>
                      <a:tcPr/>
                    </a:tc>
                    <a:tc>
                      <a:txBody>
                        <a:bodyPr/>
                        <a:lstStyle/>
                        <a:p>
                          <a:r>
                            <a:rPr lang="en-US" sz="1200" dirty="0"/>
                            <a:t>0.06 m</a:t>
                          </a:r>
                        </a:p>
                      </a:txBody>
                      <a:tcPr/>
                    </a:tc>
                    <a:extLst>
                      <a:ext uri="{0D108BD9-81ED-4DB2-BD59-A6C34878D82A}">
                        <a16:rowId xmlns:a16="http://schemas.microsoft.com/office/drawing/2014/main" val="388400552"/>
                      </a:ext>
                    </a:extLst>
                  </a:tr>
                  <a:tr h="245013">
                    <a:tc>
                      <a:txBody>
                        <a:bodyPr/>
                        <a:lstStyle/>
                        <a:p>
                          <a:pPr algn="r"/>
                          <a:r>
                            <a:rPr lang="en-US" sz="1200" dirty="0"/>
                            <a:t>Reflectance Factor</a:t>
                          </a:r>
                        </a:p>
                      </a:txBody>
                      <a:tcPr/>
                    </a:tc>
                    <a:tc>
                      <a:txBody>
                        <a:bodyPr/>
                        <a:lstStyle/>
                        <a:p>
                          <a:r>
                            <a:rPr lang="en-US" sz="1200" dirty="0"/>
                            <a:t>0.6</a:t>
                          </a:r>
                        </a:p>
                      </a:txBody>
                      <a:tcPr/>
                    </a:tc>
                    <a:extLst>
                      <a:ext uri="{0D108BD9-81ED-4DB2-BD59-A6C34878D82A}">
                        <a16:rowId xmlns:a16="http://schemas.microsoft.com/office/drawing/2014/main" val="3154452156"/>
                      </a:ext>
                    </a:extLst>
                  </a:tr>
                  <a:tr h="245013">
                    <a:tc>
                      <a:txBody>
                        <a:bodyPr/>
                        <a:lstStyle/>
                        <a:p>
                          <a:pPr algn="r"/>
                          <a:r>
                            <a:rPr lang="en-US" sz="1200" dirty="0"/>
                            <a:t>Coefficient of Drag</a:t>
                          </a:r>
                        </a:p>
                      </a:txBody>
                      <a:tcPr/>
                    </a:tc>
                    <a:tc>
                      <a:txBody>
                        <a:bodyPr/>
                        <a:lstStyle/>
                        <a:p>
                          <a:r>
                            <a:rPr lang="en-US" sz="1200" dirty="0"/>
                            <a:t>1.2</a:t>
                          </a:r>
                        </a:p>
                      </a:txBody>
                      <a:tcPr/>
                    </a:tc>
                    <a:extLst>
                      <a:ext uri="{0D108BD9-81ED-4DB2-BD59-A6C34878D82A}">
                        <a16:rowId xmlns:a16="http://schemas.microsoft.com/office/drawing/2014/main" val="3526712634"/>
                      </a:ext>
                    </a:extLst>
                  </a:tr>
                  <a:tr h="245013">
                    <a:tc>
                      <a:txBody>
                        <a:bodyPr/>
                        <a:lstStyle/>
                        <a:p>
                          <a:pPr algn="r"/>
                          <a:r>
                            <a:rPr lang="en-US" sz="1200" dirty="0"/>
                            <a:t>Incidence angle to sun</a:t>
                          </a:r>
                        </a:p>
                      </a:txBody>
                      <a:tcPr/>
                    </a:tc>
                    <a:tc>
                      <a:txBody>
                        <a:bodyPr/>
                        <a:lstStyle/>
                        <a:p>
                          <a:r>
                            <a:rPr lang="en-US" sz="1200" dirty="0"/>
                            <a:t>0 deg</a:t>
                          </a:r>
                        </a:p>
                      </a:txBody>
                      <a:tcPr/>
                    </a:tc>
                    <a:extLst>
                      <a:ext uri="{0D108BD9-81ED-4DB2-BD59-A6C34878D82A}">
                        <a16:rowId xmlns:a16="http://schemas.microsoft.com/office/drawing/2014/main" val="1568478003"/>
                      </a:ext>
                    </a:extLst>
                  </a:tr>
                  <a:tr h="245013">
                    <a:tc>
                      <a:txBody>
                        <a:bodyPr/>
                        <a:lstStyle/>
                        <a:p>
                          <a:pPr algn="r"/>
                          <a:r>
                            <a:rPr lang="en-US" sz="1200" dirty="0"/>
                            <a:t>S/C angular offset from vertical </a:t>
                          </a:r>
                        </a:p>
                      </a:txBody>
                      <a:tcPr/>
                    </a:tc>
                    <a:tc>
                      <a:txBody>
                        <a:bodyPr/>
                        <a:lstStyle/>
                        <a:p>
                          <a:r>
                            <a:rPr lang="en-US" sz="1200" dirty="0"/>
                            <a:t>45 deg</a:t>
                          </a:r>
                        </a:p>
                      </a:txBody>
                      <a:tcPr/>
                    </a:tc>
                    <a:extLst>
                      <a:ext uri="{0D108BD9-81ED-4DB2-BD59-A6C34878D82A}">
                        <a16:rowId xmlns:a16="http://schemas.microsoft.com/office/drawing/2014/main" val="23328509"/>
                      </a:ext>
                    </a:extLst>
                  </a:tr>
                </a:tbl>
              </a:graphicData>
            </a:graphic>
          </p:graphicFrame>
        </mc:Choice>
        <mc:Fallback xmlns="">
          <p:graphicFrame>
            <p:nvGraphicFramePr>
              <p:cNvPr id="10" name="Table 9">
                <a:extLst>
                  <a:ext uri="{FF2B5EF4-FFF2-40B4-BE49-F238E27FC236}">
                    <a16:creationId xmlns:a16="http://schemas.microsoft.com/office/drawing/2014/main" id="{E78C6A79-0958-B265-0B09-1C4C17D13A10}"/>
                  </a:ext>
                </a:extLst>
              </p:cNvPr>
              <p:cNvGraphicFramePr>
                <a:graphicFrameLocks noGrp="1"/>
              </p:cNvGraphicFramePr>
              <p:nvPr>
                <p:extLst>
                  <p:ext uri="{D42A27DB-BD31-4B8C-83A1-F6EECF244321}">
                    <p14:modId xmlns:p14="http://schemas.microsoft.com/office/powerpoint/2010/main" val="2228497689"/>
                  </p:ext>
                </p:extLst>
              </p:nvPr>
            </p:nvGraphicFramePr>
            <p:xfrm>
              <a:off x="1158264" y="1975464"/>
              <a:ext cx="3924048" cy="3291840"/>
            </p:xfrm>
            <a:graphic>
              <a:graphicData uri="http://schemas.openxmlformats.org/drawingml/2006/table">
                <a:tbl>
                  <a:tblPr firstRow="1" bandRow="1">
                    <a:tableStyleId>{21E4AEA4-8DFA-4A89-87EB-49C32662AFE0}</a:tableStyleId>
                  </a:tblPr>
                  <a:tblGrid>
                    <a:gridCol w="2660327">
                      <a:extLst>
                        <a:ext uri="{9D8B030D-6E8A-4147-A177-3AD203B41FA5}">
                          <a16:colId xmlns:a16="http://schemas.microsoft.com/office/drawing/2014/main" val="766308854"/>
                        </a:ext>
                      </a:extLst>
                    </a:gridCol>
                    <a:gridCol w="1263721">
                      <a:extLst>
                        <a:ext uri="{9D8B030D-6E8A-4147-A177-3AD203B41FA5}">
                          <a16:colId xmlns:a16="http://schemas.microsoft.com/office/drawing/2014/main" val="842938558"/>
                        </a:ext>
                      </a:extLst>
                    </a:gridCol>
                  </a:tblGrid>
                  <a:tr h="274320">
                    <a:tc gridSpan="2">
                      <a:txBody>
                        <a:bodyPr/>
                        <a:lstStyle/>
                        <a:p>
                          <a:pPr algn="ctr"/>
                          <a:r>
                            <a:rPr lang="en-US" sz="1200" dirty="0"/>
                            <a:t>Table 1: Spacecraft Parameters</a:t>
                          </a:r>
                        </a:p>
                      </a:txBody>
                      <a:tcPr/>
                    </a:tc>
                    <a:tc hMerge="1">
                      <a:txBody>
                        <a:bodyPr/>
                        <a:lstStyle/>
                        <a:p>
                          <a:endParaRPr lang="en-US"/>
                        </a:p>
                      </a:txBody>
                      <a:tcPr/>
                    </a:tc>
                    <a:extLst>
                      <a:ext uri="{0D108BD9-81ED-4DB2-BD59-A6C34878D82A}">
                        <a16:rowId xmlns:a16="http://schemas.microsoft.com/office/drawing/2014/main" val="944504700"/>
                      </a:ext>
                    </a:extLst>
                  </a:tr>
                  <a:tr h="274320">
                    <a:tc>
                      <a:txBody>
                        <a:bodyPr/>
                        <a:lstStyle/>
                        <a:p>
                          <a:pPr algn="r"/>
                          <a:r>
                            <a:rPr lang="en-US" sz="1200" dirty="0"/>
                            <a:t>Mission Altitude</a:t>
                          </a:r>
                        </a:p>
                      </a:txBody>
                      <a:tcPr/>
                    </a:tc>
                    <a:tc>
                      <a:txBody>
                        <a:bodyPr/>
                        <a:lstStyle/>
                        <a:p>
                          <a:r>
                            <a:rPr lang="en-US" sz="1200" dirty="0"/>
                            <a:t>200 km</a:t>
                          </a:r>
                        </a:p>
                      </a:txBody>
                      <a:tcPr/>
                    </a:tc>
                    <a:extLst>
                      <a:ext uri="{0D108BD9-81ED-4DB2-BD59-A6C34878D82A}">
                        <a16:rowId xmlns:a16="http://schemas.microsoft.com/office/drawing/2014/main" val="2294810667"/>
                      </a:ext>
                    </a:extLst>
                  </a:tr>
                  <a:tr h="274320">
                    <a:tc>
                      <a:txBody>
                        <a:bodyPr/>
                        <a:lstStyle/>
                        <a:p>
                          <a:pPr algn="r"/>
                          <a:r>
                            <a:rPr lang="en-US" sz="1200" dirty="0"/>
                            <a:t>Orbit Inclination</a:t>
                          </a:r>
                        </a:p>
                      </a:txBody>
                      <a:tcPr/>
                    </a:tc>
                    <a:tc>
                      <a:txBody>
                        <a:bodyPr/>
                        <a:lstStyle/>
                        <a:p>
                          <a:r>
                            <a:rPr lang="en-US" sz="1200" dirty="0"/>
                            <a:t>90 deg</a:t>
                          </a:r>
                        </a:p>
                      </a:txBody>
                      <a:tcPr/>
                    </a:tc>
                    <a:extLst>
                      <a:ext uri="{0D108BD9-81ED-4DB2-BD59-A6C34878D82A}">
                        <a16:rowId xmlns:a16="http://schemas.microsoft.com/office/drawing/2014/main" val="700373925"/>
                      </a:ext>
                    </a:extLst>
                  </a:tr>
                  <a:tr h="274320">
                    <a:tc>
                      <a:txBody>
                        <a:bodyPr/>
                        <a:lstStyle/>
                        <a:p>
                          <a:pPr algn="r"/>
                          <a:r>
                            <a:rPr lang="en-US" sz="1200" dirty="0"/>
                            <a:t>Side length (assume s/c is cube)</a:t>
                          </a:r>
                        </a:p>
                      </a:txBody>
                      <a:tcPr/>
                    </a:tc>
                    <a:tc>
                      <a:txBody>
                        <a:bodyPr/>
                        <a:lstStyle/>
                        <a:p>
                          <a:r>
                            <a:rPr lang="en-US" sz="1200" dirty="0"/>
                            <a:t>0.2 m</a:t>
                          </a:r>
                        </a:p>
                      </a:txBody>
                      <a:tcPr/>
                    </a:tc>
                    <a:extLst>
                      <a:ext uri="{0D108BD9-81ED-4DB2-BD59-A6C34878D82A}">
                        <a16:rowId xmlns:a16="http://schemas.microsoft.com/office/drawing/2014/main" val="2282907585"/>
                      </a:ext>
                    </a:extLst>
                  </a:tr>
                  <a:tr h="274320">
                    <a:tc>
                      <a:txBody>
                        <a:bodyPr/>
                        <a:lstStyle/>
                        <a:p>
                          <a:endParaRPr lang="en-US"/>
                        </a:p>
                      </a:txBody>
                      <a:tcPr>
                        <a:blipFill>
                          <a:blip r:embed="rId3"/>
                          <a:stretch>
                            <a:fillRect l="-458" t="-402222" r="-48284" b="-717778"/>
                          </a:stretch>
                        </a:blipFill>
                      </a:tcPr>
                    </a:tc>
                    <a:tc>
                      <a:txBody>
                        <a:bodyPr/>
                        <a:lstStyle/>
                        <a:p>
                          <a:r>
                            <a:rPr lang="en-US" sz="1200" dirty="0"/>
                            <a:t>0.014 kg*m</a:t>
                          </a:r>
                          <a:r>
                            <a:rPr lang="en-US" sz="1200" baseline="30000" dirty="0">
                              <a:effectLst/>
                            </a:rPr>
                            <a:t>2</a:t>
                          </a:r>
                        </a:p>
                      </a:txBody>
                      <a:tcPr/>
                    </a:tc>
                    <a:extLst>
                      <a:ext uri="{0D108BD9-81ED-4DB2-BD59-A6C34878D82A}">
                        <a16:rowId xmlns:a16="http://schemas.microsoft.com/office/drawing/2014/main" val="2256816791"/>
                      </a:ext>
                    </a:extLst>
                  </a:tr>
                  <a:tr h="274320">
                    <a:tc>
                      <a:txBody>
                        <a:bodyPr/>
                        <a:lstStyle/>
                        <a:p>
                          <a:endParaRPr lang="en-US"/>
                        </a:p>
                      </a:txBody>
                      <a:tcPr>
                        <a:blipFill>
                          <a:blip r:embed="rId3"/>
                          <a:stretch>
                            <a:fillRect l="-458" t="-491304" r="-48284" b="-602174"/>
                          </a:stretch>
                        </a:blipFill>
                      </a:tcPr>
                    </a:tc>
                    <a:tc>
                      <a:txBody>
                        <a:bodyPr/>
                        <a:lstStyle/>
                        <a:p>
                          <a:r>
                            <a:rPr lang="en-US" sz="1200" dirty="0"/>
                            <a:t>0.01 kg*m</a:t>
                          </a:r>
                          <a:r>
                            <a:rPr lang="en-US" sz="1200" baseline="30000" dirty="0">
                              <a:effectLst/>
                            </a:rPr>
                            <a:t>2</a:t>
                          </a:r>
                          <a:endParaRPr lang="en-US" sz="1200" dirty="0"/>
                        </a:p>
                      </a:txBody>
                      <a:tcPr/>
                    </a:tc>
                    <a:extLst>
                      <a:ext uri="{0D108BD9-81ED-4DB2-BD59-A6C34878D82A}">
                        <a16:rowId xmlns:a16="http://schemas.microsoft.com/office/drawing/2014/main" val="4036314075"/>
                      </a:ext>
                    </a:extLst>
                  </a:tr>
                  <a:tr h="274320">
                    <a:tc>
                      <a:txBody>
                        <a:bodyPr/>
                        <a:lstStyle/>
                        <a:p>
                          <a:pPr algn="r"/>
                          <a:r>
                            <a:rPr lang="en-US" sz="1200" dirty="0"/>
                            <a:t>Residual Dipole of S/C</a:t>
                          </a:r>
                        </a:p>
                      </a:txBody>
                      <a:tcPr/>
                    </a:tc>
                    <a:tc>
                      <a:txBody>
                        <a:bodyPr/>
                        <a:lstStyle/>
                        <a:p>
                          <a:r>
                            <a:rPr lang="en-US" sz="1200" dirty="0"/>
                            <a:t>0.2 A*m</a:t>
                          </a:r>
                          <a:r>
                            <a:rPr lang="en-US" sz="1200" baseline="30000" dirty="0">
                              <a:effectLst/>
                            </a:rPr>
                            <a:t>2</a:t>
                          </a:r>
                          <a:endParaRPr lang="en-US" sz="1200" dirty="0"/>
                        </a:p>
                      </a:txBody>
                      <a:tcPr/>
                    </a:tc>
                    <a:extLst>
                      <a:ext uri="{0D108BD9-81ED-4DB2-BD59-A6C34878D82A}">
                        <a16:rowId xmlns:a16="http://schemas.microsoft.com/office/drawing/2014/main" val="1274647220"/>
                      </a:ext>
                    </a:extLst>
                  </a:tr>
                  <a:tr h="274320">
                    <a:tc>
                      <a:txBody>
                        <a:bodyPr/>
                        <a:lstStyle/>
                        <a:p>
                          <a:pPr algn="r"/>
                          <a:r>
                            <a:rPr lang="en-US" sz="1200" dirty="0"/>
                            <a:t>CG offset (for SRP &amp; drag)</a:t>
                          </a:r>
                        </a:p>
                      </a:txBody>
                      <a:tcPr/>
                    </a:tc>
                    <a:tc>
                      <a:txBody>
                        <a:bodyPr/>
                        <a:lstStyle/>
                        <a:p>
                          <a:r>
                            <a:rPr lang="en-US" sz="1200" dirty="0"/>
                            <a:t>0.06 m</a:t>
                          </a:r>
                        </a:p>
                      </a:txBody>
                      <a:tcPr/>
                    </a:tc>
                    <a:extLst>
                      <a:ext uri="{0D108BD9-81ED-4DB2-BD59-A6C34878D82A}">
                        <a16:rowId xmlns:a16="http://schemas.microsoft.com/office/drawing/2014/main" val="388400552"/>
                      </a:ext>
                    </a:extLst>
                  </a:tr>
                  <a:tr h="274320">
                    <a:tc>
                      <a:txBody>
                        <a:bodyPr/>
                        <a:lstStyle/>
                        <a:p>
                          <a:pPr algn="r"/>
                          <a:r>
                            <a:rPr lang="en-US" sz="1200" dirty="0"/>
                            <a:t>Reflectance Factor</a:t>
                          </a:r>
                        </a:p>
                      </a:txBody>
                      <a:tcPr/>
                    </a:tc>
                    <a:tc>
                      <a:txBody>
                        <a:bodyPr/>
                        <a:lstStyle/>
                        <a:p>
                          <a:r>
                            <a:rPr lang="en-US" sz="1200" dirty="0"/>
                            <a:t>0.6</a:t>
                          </a:r>
                        </a:p>
                      </a:txBody>
                      <a:tcPr/>
                    </a:tc>
                    <a:extLst>
                      <a:ext uri="{0D108BD9-81ED-4DB2-BD59-A6C34878D82A}">
                        <a16:rowId xmlns:a16="http://schemas.microsoft.com/office/drawing/2014/main" val="3154452156"/>
                      </a:ext>
                    </a:extLst>
                  </a:tr>
                  <a:tr h="274320">
                    <a:tc>
                      <a:txBody>
                        <a:bodyPr/>
                        <a:lstStyle/>
                        <a:p>
                          <a:pPr algn="r"/>
                          <a:r>
                            <a:rPr lang="en-US" sz="1200" dirty="0"/>
                            <a:t>Coefficient of Drag</a:t>
                          </a:r>
                        </a:p>
                      </a:txBody>
                      <a:tcPr/>
                    </a:tc>
                    <a:tc>
                      <a:txBody>
                        <a:bodyPr/>
                        <a:lstStyle/>
                        <a:p>
                          <a:r>
                            <a:rPr lang="en-US" sz="1200" dirty="0"/>
                            <a:t>1.2</a:t>
                          </a:r>
                        </a:p>
                      </a:txBody>
                      <a:tcPr/>
                    </a:tc>
                    <a:extLst>
                      <a:ext uri="{0D108BD9-81ED-4DB2-BD59-A6C34878D82A}">
                        <a16:rowId xmlns:a16="http://schemas.microsoft.com/office/drawing/2014/main" val="3526712634"/>
                      </a:ext>
                    </a:extLst>
                  </a:tr>
                  <a:tr h="274320">
                    <a:tc>
                      <a:txBody>
                        <a:bodyPr/>
                        <a:lstStyle/>
                        <a:p>
                          <a:pPr algn="r"/>
                          <a:r>
                            <a:rPr lang="en-US" sz="1200" dirty="0"/>
                            <a:t>Incidence angle to sun</a:t>
                          </a:r>
                        </a:p>
                      </a:txBody>
                      <a:tcPr/>
                    </a:tc>
                    <a:tc>
                      <a:txBody>
                        <a:bodyPr/>
                        <a:lstStyle/>
                        <a:p>
                          <a:r>
                            <a:rPr lang="en-US" sz="1200" dirty="0"/>
                            <a:t>0 deg</a:t>
                          </a:r>
                        </a:p>
                      </a:txBody>
                      <a:tcPr/>
                    </a:tc>
                    <a:extLst>
                      <a:ext uri="{0D108BD9-81ED-4DB2-BD59-A6C34878D82A}">
                        <a16:rowId xmlns:a16="http://schemas.microsoft.com/office/drawing/2014/main" val="1568478003"/>
                      </a:ext>
                    </a:extLst>
                  </a:tr>
                  <a:tr h="274320">
                    <a:tc>
                      <a:txBody>
                        <a:bodyPr/>
                        <a:lstStyle/>
                        <a:p>
                          <a:pPr algn="r"/>
                          <a:r>
                            <a:rPr lang="en-US" sz="1200" dirty="0"/>
                            <a:t>S/C angular offset from vertical </a:t>
                          </a:r>
                        </a:p>
                      </a:txBody>
                      <a:tcPr/>
                    </a:tc>
                    <a:tc>
                      <a:txBody>
                        <a:bodyPr/>
                        <a:lstStyle/>
                        <a:p>
                          <a:r>
                            <a:rPr lang="en-US" sz="1200" dirty="0"/>
                            <a:t>45 deg</a:t>
                          </a:r>
                        </a:p>
                      </a:txBody>
                      <a:tcPr/>
                    </a:tc>
                    <a:extLst>
                      <a:ext uri="{0D108BD9-81ED-4DB2-BD59-A6C34878D82A}">
                        <a16:rowId xmlns:a16="http://schemas.microsoft.com/office/drawing/2014/main" val="23328509"/>
                      </a:ext>
                    </a:extLst>
                  </a:tr>
                </a:tbl>
              </a:graphicData>
            </a:graphic>
          </p:graphicFrame>
        </mc:Fallback>
      </mc:AlternateContent>
      <p:graphicFrame>
        <p:nvGraphicFramePr>
          <p:cNvPr id="8" name="Table 7">
            <a:extLst>
              <a:ext uri="{FF2B5EF4-FFF2-40B4-BE49-F238E27FC236}">
                <a16:creationId xmlns:a16="http://schemas.microsoft.com/office/drawing/2014/main" id="{AD4F1FE2-8A0F-43B4-D37F-05DFEF77941E}"/>
              </a:ext>
            </a:extLst>
          </p:cNvPr>
          <p:cNvGraphicFramePr>
            <a:graphicFrameLocks noGrp="1"/>
          </p:cNvGraphicFramePr>
          <p:nvPr>
            <p:extLst>
              <p:ext uri="{D42A27DB-BD31-4B8C-83A1-F6EECF244321}">
                <p14:modId xmlns:p14="http://schemas.microsoft.com/office/powerpoint/2010/main" val="3108451603"/>
              </p:ext>
            </p:extLst>
          </p:nvPr>
        </p:nvGraphicFramePr>
        <p:xfrm>
          <a:off x="5173586" y="3059980"/>
          <a:ext cx="3924048" cy="1097280"/>
        </p:xfrm>
        <a:graphic>
          <a:graphicData uri="http://schemas.openxmlformats.org/drawingml/2006/table">
            <a:tbl>
              <a:tblPr firstRow="1" bandRow="1">
                <a:tableStyleId>{F5AB1C69-6EDB-4FF4-983F-18BD219EF322}</a:tableStyleId>
              </a:tblPr>
              <a:tblGrid>
                <a:gridCol w="2660327">
                  <a:extLst>
                    <a:ext uri="{9D8B030D-6E8A-4147-A177-3AD203B41FA5}">
                      <a16:colId xmlns:a16="http://schemas.microsoft.com/office/drawing/2014/main" val="766308854"/>
                    </a:ext>
                  </a:extLst>
                </a:gridCol>
                <a:gridCol w="1263721">
                  <a:extLst>
                    <a:ext uri="{9D8B030D-6E8A-4147-A177-3AD203B41FA5}">
                      <a16:colId xmlns:a16="http://schemas.microsoft.com/office/drawing/2014/main" val="842938558"/>
                    </a:ext>
                  </a:extLst>
                </a:gridCol>
              </a:tblGrid>
              <a:tr h="245013">
                <a:tc gridSpan="2">
                  <a:txBody>
                    <a:bodyPr/>
                    <a:lstStyle/>
                    <a:p>
                      <a:pPr algn="ctr"/>
                      <a:r>
                        <a:rPr lang="en-US" sz="1200" dirty="0"/>
                        <a:t>Table 2: Reaction Wheel Parameters</a:t>
                      </a:r>
                    </a:p>
                  </a:txBody>
                  <a:tcPr/>
                </a:tc>
                <a:tc hMerge="1">
                  <a:txBody>
                    <a:bodyPr/>
                    <a:lstStyle/>
                    <a:p>
                      <a:endParaRPr lang="en-US"/>
                    </a:p>
                  </a:txBody>
                  <a:tcPr/>
                </a:tc>
                <a:extLst>
                  <a:ext uri="{0D108BD9-81ED-4DB2-BD59-A6C34878D82A}">
                    <a16:rowId xmlns:a16="http://schemas.microsoft.com/office/drawing/2014/main" val="944504700"/>
                  </a:ext>
                </a:extLst>
              </a:tr>
              <a:tr h="245013">
                <a:tc>
                  <a:txBody>
                    <a:bodyPr/>
                    <a:lstStyle/>
                    <a:p>
                      <a:pPr algn="r"/>
                      <a:r>
                        <a:rPr lang="en-US" sz="1200" dirty="0"/>
                        <a:t>MOI of Reaction Wheel</a:t>
                      </a:r>
                    </a:p>
                  </a:txBody>
                  <a:tcPr/>
                </a:tc>
                <a:tc>
                  <a:txBody>
                    <a:bodyPr/>
                    <a:lstStyle/>
                    <a:p>
                      <a:r>
                        <a:rPr lang="en-US" sz="1200" dirty="0"/>
                        <a:t>0.0035 kg*m</a:t>
                      </a:r>
                      <a:r>
                        <a:rPr lang="en-US" sz="1200" baseline="30000" dirty="0">
                          <a:effectLst/>
                        </a:rPr>
                        <a:t>2</a:t>
                      </a:r>
                      <a:endParaRPr lang="en-US" sz="1200" dirty="0"/>
                    </a:p>
                  </a:txBody>
                  <a:tcPr/>
                </a:tc>
                <a:extLst>
                  <a:ext uri="{0D108BD9-81ED-4DB2-BD59-A6C34878D82A}">
                    <a16:rowId xmlns:a16="http://schemas.microsoft.com/office/drawing/2014/main" val="2294810667"/>
                  </a:ext>
                </a:extLst>
              </a:tr>
              <a:tr h="245013">
                <a:tc>
                  <a:txBody>
                    <a:bodyPr/>
                    <a:lstStyle/>
                    <a:p>
                      <a:pPr algn="r"/>
                      <a:r>
                        <a:rPr lang="en-US" sz="1200" dirty="0"/>
                        <a:t>Max Wheel Speed</a:t>
                      </a:r>
                    </a:p>
                  </a:txBody>
                  <a:tcPr/>
                </a:tc>
                <a:tc>
                  <a:txBody>
                    <a:bodyPr/>
                    <a:lstStyle/>
                    <a:p>
                      <a:r>
                        <a:rPr lang="en-US" sz="1200" dirty="0"/>
                        <a:t>410 RPM</a:t>
                      </a:r>
                    </a:p>
                  </a:txBody>
                  <a:tcPr/>
                </a:tc>
                <a:extLst>
                  <a:ext uri="{0D108BD9-81ED-4DB2-BD59-A6C34878D82A}">
                    <a16:rowId xmlns:a16="http://schemas.microsoft.com/office/drawing/2014/main" val="2282907585"/>
                  </a:ext>
                </a:extLst>
              </a:tr>
              <a:tr h="259703">
                <a:tc>
                  <a:txBody>
                    <a:bodyPr/>
                    <a:lstStyle/>
                    <a:p>
                      <a:pPr algn="r"/>
                      <a:r>
                        <a:rPr lang="en-US" sz="1200" dirty="0"/>
                        <a:t>Wheel Angular Acceleration</a:t>
                      </a:r>
                    </a:p>
                  </a:txBody>
                  <a:tcPr/>
                </a:tc>
                <a:tc>
                  <a:txBody>
                    <a:bodyPr/>
                    <a:lstStyle/>
                    <a:p>
                      <a:r>
                        <a:rPr lang="en-US" sz="1200" dirty="0"/>
                        <a:t>50 RPM/sec</a:t>
                      </a:r>
                      <a:endParaRPr lang="en-US" sz="1200" baseline="30000" dirty="0">
                        <a:effectLst/>
                      </a:endParaRPr>
                    </a:p>
                  </a:txBody>
                  <a:tcPr/>
                </a:tc>
                <a:extLst>
                  <a:ext uri="{0D108BD9-81ED-4DB2-BD59-A6C34878D82A}">
                    <a16:rowId xmlns:a16="http://schemas.microsoft.com/office/drawing/2014/main" val="2256816791"/>
                  </a:ext>
                </a:extLst>
              </a:tr>
            </a:tbl>
          </a:graphicData>
        </a:graphic>
      </p:graphicFrame>
    </p:spTree>
    <p:extLst>
      <p:ext uri="{BB962C8B-B14F-4D97-AF65-F5344CB8AC3E}">
        <p14:creationId xmlns:p14="http://schemas.microsoft.com/office/powerpoint/2010/main" val="3322682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87EE0-ED26-4554-658F-08DBC8A39096}"/>
              </a:ext>
            </a:extLst>
          </p:cNvPr>
          <p:cNvSpPr>
            <a:spLocks noGrp="1"/>
          </p:cNvSpPr>
          <p:nvPr>
            <p:ph type="title"/>
          </p:nvPr>
        </p:nvSpPr>
        <p:spPr/>
        <p:txBody>
          <a:bodyPr/>
          <a:lstStyle/>
          <a:p>
            <a:r>
              <a:rPr lang="en-US" dirty="0"/>
              <a:t>Prelab 7 Notes for Next Semester</a:t>
            </a:r>
          </a:p>
        </p:txBody>
      </p:sp>
      <p:sp>
        <p:nvSpPr>
          <p:cNvPr id="3" name="Content Placeholder 2">
            <a:extLst>
              <a:ext uri="{FF2B5EF4-FFF2-40B4-BE49-F238E27FC236}">
                <a16:creationId xmlns:a16="http://schemas.microsoft.com/office/drawing/2014/main" id="{4639B664-FCF5-AD3C-5CAA-E137A44BC6E5}"/>
              </a:ext>
            </a:extLst>
          </p:cNvPr>
          <p:cNvSpPr>
            <a:spLocks noGrp="1"/>
          </p:cNvSpPr>
          <p:nvPr>
            <p:ph idx="1"/>
          </p:nvPr>
        </p:nvSpPr>
        <p:spPr/>
        <p:txBody>
          <a:bodyPr/>
          <a:lstStyle/>
          <a:p>
            <a:r>
              <a:rPr lang="en-US" dirty="0"/>
              <a:t>Make cadets use MLX?</a:t>
            </a:r>
          </a:p>
          <a:p>
            <a:r>
              <a:rPr lang="en-US" dirty="0"/>
              <a:t>Give margin </a:t>
            </a:r>
            <a:r>
              <a:rPr lang="en-US" dirty="0" err="1"/>
              <a:t>equaition</a:t>
            </a:r>
            <a:endParaRPr lang="en-US" dirty="0"/>
          </a:p>
          <a:p>
            <a:r>
              <a:rPr lang="en-US" dirty="0"/>
              <a:t>Use SRP </a:t>
            </a:r>
            <a:r>
              <a:rPr lang="en-US" dirty="0" err="1"/>
              <a:t>eqn</a:t>
            </a:r>
            <a:r>
              <a:rPr lang="en-US" dirty="0"/>
              <a:t> from </a:t>
            </a:r>
            <a:r>
              <a:rPr lang="en-US" dirty="0" err="1"/>
              <a:t>eqn</a:t>
            </a:r>
            <a:r>
              <a:rPr lang="en-US" dirty="0"/>
              <a:t> sheet (not Dahlke)</a:t>
            </a:r>
          </a:p>
        </p:txBody>
      </p:sp>
      <p:sp>
        <p:nvSpPr>
          <p:cNvPr id="4" name="Footer Placeholder 3">
            <a:extLst>
              <a:ext uri="{FF2B5EF4-FFF2-40B4-BE49-F238E27FC236}">
                <a16:creationId xmlns:a16="http://schemas.microsoft.com/office/drawing/2014/main" id="{918CC007-CF69-E70B-DF4B-39B1A418248B}"/>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DFF4ED20-B073-0913-F23A-EE56A7D39703}"/>
              </a:ext>
            </a:extLst>
          </p:cNvPr>
          <p:cNvSpPr>
            <a:spLocks noGrp="1"/>
          </p:cNvSpPr>
          <p:nvPr>
            <p:ph type="sldNum" sz="quarter" idx="12"/>
          </p:nvPr>
        </p:nvSpPr>
        <p:spPr/>
        <p:txBody>
          <a:bodyPr/>
          <a:lstStyle/>
          <a:p>
            <a:fld id="{9A3029B7-FE6B-4680-9049-80E8298A0825}" type="slidenum">
              <a:rPr lang="en-US" smtClean="0"/>
              <a:t>10</a:t>
            </a:fld>
            <a:endParaRPr lang="en-US"/>
          </a:p>
        </p:txBody>
      </p:sp>
    </p:spTree>
    <p:extLst>
      <p:ext uri="{BB962C8B-B14F-4D97-AF65-F5344CB8AC3E}">
        <p14:creationId xmlns:p14="http://schemas.microsoft.com/office/powerpoint/2010/main" val="2304039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36B78-343C-C163-D780-D3ACAF074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11CDD-8D0C-36A9-D57F-747EAB55D192}"/>
              </a:ext>
            </a:extLst>
          </p:cNvPr>
          <p:cNvSpPr>
            <a:spLocks noGrp="1"/>
          </p:cNvSpPr>
          <p:nvPr>
            <p:ph type="title"/>
          </p:nvPr>
        </p:nvSpPr>
        <p:spPr/>
        <p:txBody>
          <a:bodyPr>
            <a:normAutofit/>
          </a:bodyPr>
          <a:lstStyle/>
          <a:p>
            <a:r>
              <a:rPr lang="en-US" sz="2400" b="1"/>
              <a:t>Task 1 – Measure Reaction Wheel Properties </a:t>
            </a:r>
          </a:p>
        </p:txBody>
      </p:sp>
      <p:sp>
        <p:nvSpPr>
          <p:cNvPr id="3" name="Content Placeholder 2">
            <a:extLst>
              <a:ext uri="{FF2B5EF4-FFF2-40B4-BE49-F238E27FC236}">
                <a16:creationId xmlns:a16="http://schemas.microsoft.com/office/drawing/2014/main" id="{C1C192FD-F8DF-5B1B-5459-0E32EFF9BFF2}"/>
              </a:ext>
            </a:extLst>
          </p:cNvPr>
          <p:cNvSpPr>
            <a:spLocks noGrp="1"/>
          </p:cNvSpPr>
          <p:nvPr>
            <p:ph idx="1"/>
          </p:nvPr>
        </p:nvSpPr>
        <p:spPr>
          <a:xfrm>
            <a:off x="1106341" y="1002506"/>
            <a:ext cx="4913044" cy="5207793"/>
          </a:xfrm>
        </p:spPr>
        <p:txBody>
          <a:bodyPr>
            <a:normAutofit lnSpcReduction="10000"/>
          </a:bodyPr>
          <a:lstStyle/>
          <a:p>
            <a:pPr marL="0" indent="0">
              <a:buNone/>
            </a:pPr>
            <a:r>
              <a:rPr lang="en-US" sz="1800" dirty="0"/>
              <a:t>KestrelSAT’s uses a 3D printed reaction wheel with M6 bolts placed around the perimeter to increase its Moment of Inertia (MOI). </a:t>
            </a:r>
          </a:p>
          <a:p>
            <a:pPr marL="0" indent="0">
              <a:buNone/>
            </a:pPr>
            <a:endParaRPr lang="en-US" sz="1800" dirty="0"/>
          </a:p>
          <a:p>
            <a:pPr marL="0" indent="0">
              <a:buNone/>
            </a:pPr>
            <a:r>
              <a:rPr lang="en-US" sz="1800" dirty="0"/>
              <a:t>Using the spare reaction wheel rotor available in the lab:</a:t>
            </a:r>
          </a:p>
          <a:p>
            <a:pPr marL="0" indent="0">
              <a:buNone/>
            </a:pPr>
            <a:endParaRPr lang="en-US" sz="1800" dirty="0"/>
          </a:p>
          <a:p>
            <a:pPr marL="514350" indent="-514350">
              <a:buAutoNum type="arabicParenBoth"/>
            </a:pPr>
            <a:r>
              <a:rPr lang="en-US" sz="1800" dirty="0"/>
              <a:t>Measure the outer and inner diameter (i.e. inside diameter of ring with bolts) of the wheel.</a:t>
            </a:r>
          </a:p>
          <a:p>
            <a:pPr marL="514350" indent="-514350">
              <a:buAutoNum type="arabicParenBoth"/>
            </a:pPr>
            <a:endParaRPr lang="en-US" sz="1800" dirty="0"/>
          </a:p>
          <a:p>
            <a:pPr marL="514350" indent="-514350">
              <a:buAutoNum type="arabicParenBoth"/>
            </a:pPr>
            <a:r>
              <a:rPr lang="en-US" sz="1800" dirty="0"/>
              <a:t>Measure the mass of the wheel.</a:t>
            </a:r>
          </a:p>
          <a:p>
            <a:pPr marL="0" indent="0">
              <a:buNone/>
            </a:pPr>
            <a:endParaRPr lang="en-US" sz="1800" dirty="0"/>
          </a:p>
          <a:p>
            <a:pPr marL="0" indent="0">
              <a:buNone/>
            </a:pPr>
            <a:r>
              <a:rPr lang="en-US" sz="1800" dirty="0"/>
              <a:t>In your lab report, use these values to calculate moment of inertia of the wheel. Assume the mass is entirely distributed about the perimeter so that you can model the wheel as a hollow cylinder. </a:t>
            </a:r>
          </a:p>
        </p:txBody>
      </p:sp>
      <p:sp>
        <p:nvSpPr>
          <p:cNvPr id="4" name="Footer Placeholder 3">
            <a:extLst>
              <a:ext uri="{FF2B5EF4-FFF2-40B4-BE49-F238E27FC236}">
                <a16:creationId xmlns:a16="http://schemas.microsoft.com/office/drawing/2014/main" id="{3B3E6A30-54BD-4B5A-A473-7E0DFC55C906}"/>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522ABF6E-1E02-FB0D-AAEE-01A6132C4C02}"/>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10" name="Content Placeholder 5">
            <a:extLst>
              <a:ext uri="{FF2B5EF4-FFF2-40B4-BE49-F238E27FC236}">
                <a16:creationId xmlns:a16="http://schemas.microsoft.com/office/drawing/2014/main" id="{96DFCE11-A593-9E07-D7C7-94F07C38E859}"/>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pic>
        <p:nvPicPr>
          <p:cNvPr id="7" name="Picture 6">
            <a:extLst>
              <a:ext uri="{FF2B5EF4-FFF2-40B4-BE49-F238E27FC236}">
                <a16:creationId xmlns:a16="http://schemas.microsoft.com/office/drawing/2014/main" id="{B3C7DB4F-3048-8BF8-1E27-7423118EADF1}"/>
              </a:ext>
            </a:extLst>
          </p:cNvPr>
          <p:cNvPicPr>
            <a:picLocks noChangeAspect="1"/>
          </p:cNvPicPr>
          <p:nvPr/>
        </p:nvPicPr>
        <p:blipFill>
          <a:blip r:embed="rId2"/>
          <a:stretch>
            <a:fillRect/>
          </a:stretch>
        </p:blipFill>
        <p:spPr>
          <a:xfrm>
            <a:off x="6059548" y="1063470"/>
            <a:ext cx="2894143" cy="2757836"/>
          </a:xfrm>
          <a:prstGeom prst="rect">
            <a:avLst/>
          </a:prstGeom>
        </p:spPr>
      </p:pic>
      <p:pic>
        <p:nvPicPr>
          <p:cNvPr id="1026" name="Picture 2">
            <a:extLst>
              <a:ext uri="{FF2B5EF4-FFF2-40B4-BE49-F238E27FC236}">
                <a16:creationId xmlns:a16="http://schemas.microsoft.com/office/drawing/2014/main" id="{D9ABB9AB-70D8-0540-C83A-8B5314979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262" y="3864343"/>
            <a:ext cx="2344713" cy="2857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904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3647-E6D8-8A05-E748-ADCF2B04E6AF}"/>
              </a:ext>
            </a:extLst>
          </p:cNvPr>
          <p:cNvSpPr>
            <a:spLocks noGrp="1"/>
          </p:cNvSpPr>
          <p:nvPr>
            <p:ph type="title"/>
          </p:nvPr>
        </p:nvSpPr>
        <p:spPr/>
        <p:txBody>
          <a:bodyPr>
            <a:noAutofit/>
          </a:bodyPr>
          <a:lstStyle/>
          <a:p>
            <a:r>
              <a:rPr lang="en-US" sz="2200" b="1"/>
              <a:t>Task 2 – Connect Reaction Wheel &amp; Motor Controller</a:t>
            </a:r>
          </a:p>
        </p:txBody>
      </p:sp>
      <p:sp>
        <p:nvSpPr>
          <p:cNvPr id="3" name="Content Placeholder 2">
            <a:extLst>
              <a:ext uri="{FF2B5EF4-FFF2-40B4-BE49-F238E27FC236}">
                <a16:creationId xmlns:a16="http://schemas.microsoft.com/office/drawing/2014/main" id="{58A15115-0C55-373E-DAF5-DD0370CB4465}"/>
              </a:ext>
            </a:extLst>
          </p:cNvPr>
          <p:cNvSpPr>
            <a:spLocks noGrp="1"/>
          </p:cNvSpPr>
          <p:nvPr>
            <p:ph idx="1"/>
          </p:nvPr>
        </p:nvSpPr>
        <p:spPr>
          <a:xfrm>
            <a:off x="1210936" y="1002507"/>
            <a:ext cx="7886700" cy="5718970"/>
          </a:xfrm>
        </p:spPr>
        <p:txBody>
          <a:bodyPr>
            <a:normAutofit fontScale="55000" lnSpcReduction="20000"/>
          </a:bodyPr>
          <a:lstStyle/>
          <a:p>
            <a:pPr marL="0" indent="0">
              <a:buNone/>
            </a:pPr>
            <a:r>
              <a:rPr lang="en-US" dirty="0"/>
              <a:t>Make the following connections with the motor controller, reaction wheel and MCU: </a:t>
            </a:r>
          </a:p>
          <a:p>
            <a:pPr marL="0" indent="0">
              <a:buNone/>
            </a:pPr>
            <a:r>
              <a:rPr lang="en-US" b="1" u="sng" dirty="0"/>
              <a:t>Motor Controller</a:t>
            </a:r>
          </a:p>
          <a:p>
            <a:pPr marL="0" indent="0">
              <a:buNone/>
            </a:pPr>
            <a:r>
              <a:rPr lang="en-US" dirty="0"/>
              <a:t>High voltage side (4 pins)</a:t>
            </a:r>
          </a:p>
          <a:p>
            <a:pPr marL="457200" lvl="1" indent="0">
              <a:buNone/>
            </a:pPr>
            <a:r>
              <a:rPr lang="en-US" dirty="0"/>
              <a:t>Vin = 5V supply (direct from battery)</a:t>
            </a:r>
          </a:p>
          <a:p>
            <a:pPr marL="457200" lvl="1" indent="0">
              <a:buNone/>
            </a:pPr>
            <a:r>
              <a:rPr lang="en-US" dirty="0" err="1"/>
              <a:t>Gnd</a:t>
            </a:r>
            <a:r>
              <a:rPr lang="en-US" dirty="0"/>
              <a:t> = ground </a:t>
            </a:r>
          </a:p>
          <a:p>
            <a:pPr marL="457200" lvl="1" indent="0">
              <a:buNone/>
            </a:pPr>
            <a:r>
              <a:rPr lang="en-US" dirty="0"/>
              <a:t>Out2 = to motor black</a:t>
            </a:r>
          </a:p>
          <a:p>
            <a:pPr marL="457200" lvl="1" indent="0">
              <a:buNone/>
            </a:pPr>
            <a:r>
              <a:rPr lang="en-US" dirty="0"/>
              <a:t>Out1 = to motor red</a:t>
            </a:r>
          </a:p>
          <a:p>
            <a:pPr marL="0" indent="0">
              <a:buNone/>
            </a:pPr>
            <a:r>
              <a:rPr lang="en-US" dirty="0"/>
              <a:t>Low voltage side (10 pins)</a:t>
            </a:r>
          </a:p>
          <a:p>
            <a:pPr marL="457200" lvl="1" indent="0">
              <a:buNone/>
            </a:pPr>
            <a:r>
              <a:rPr lang="en-US" dirty="0"/>
              <a:t>VM = NC (NC means not connected)</a:t>
            </a:r>
          </a:p>
          <a:p>
            <a:pPr marL="457200" lvl="1" indent="0">
              <a:buNone/>
            </a:pPr>
            <a:r>
              <a:rPr lang="en-US" dirty="0" err="1"/>
              <a:t>Gnd</a:t>
            </a:r>
            <a:r>
              <a:rPr lang="en-US" dirty="0"/>
              <a:t> = ground (make sure there is a common ground w/ MCU)</a:t>
            </a:r>
          </a:p>
          <a:p>
            <a:pPr marL="457200" lvl="1" indent="0">
              <a:buNone/>
            </a:pPr>
            <a:r>
              <a:rPr lang="en-US" dirty="0" err="1"/>
              <a:t>Vcc</a:t>
            </a:r>
            <a:r>
              <a:rPr lang="en-US" dirty="0"/>
              <a:t> = 5V </a:t>
            </a:r>
          </a:p>
          <a:p>
            <a:pPr marL="457200" lvl="1" indent="0">
              <a:buNone/>
            </a:pPr>
            <a:r>
              <a:rPr lang="en-US" dirty="0"/>
              <a:t>OCC = NC</a:t>
            </a:r>
          </a:p>
          <a:p>
            <a:pPr marL="457200" lvl="1" indent="0">
              <a:buNone/>
            </a:pPr>
            <a:r>
              <a:rPr lang="en-US" dirty="0"/>
              <a:t>EN = 5V</a:t>
            </a:r>
          </a:p>
          <a:p>
            <a:pPr marL="457200" lvl="1" indent="0">
              <a:buNone/>
            </a:pPr>
            <a:r>
              <a:rPr lang="en-US" dirty="0"/>
              <a:t>ENB = ground </a:t>
            </a:r>
          </a:p>
          <a:p>
            <a:pPr marL="457200" lvl="1" indent="0">
              <a:buNone/>
            </a:pPr>
            <a:r>
              <a:rPr lang="en-US" dirty="0"/>
              <a:t>PWM1 = MCU GPIO 33 (PWM Control Pin)</a:t>
            </a:r>
          </a:p>
          <a:p>
            <a:pPr marL="457200" lvl="1" indent="0">
              <a:buNone/>
            </a:pPr>
            <a:r>
              <a:rPr lang="en-US" dirty="0"/>
              <a:t>PWM2 = MCU 15 (PWM Control Pin)</a:t>
            </a:r>
          </a:p>
          <a:p>
            <a:pPr marL="457200" lvl="1" indent="0">
              <a:buNone/>
            </a:pPr>
            <a:r>
              <a:rPr lang="en-US" dirty="0"/>
              <a:t>OCM = NC</a:t>
            </a:r>
          </a:p>
          <a:p>
            <a:pPr marL="457200" lvl="1" indent="0">
              <a:buNone/>
            </a:pPr>
            <a:r>
              <a:rPr lang="en-US" dirty="0"/>
              <a:t>DIAG = NC</a:t>
            </a:r>
          </a:p>
          <a:p>
            <a:pPr marL="0" indent="0">
              <a:buNone/>
            </a:pPr>
            <a:r>
              <a:rPr lang="en-US" b="1" u="sng" dirty="0"/>
              <a:t>Motor connections</a:t>
            </a:r>
            <a:r>
              <a:rPr lang="en-US" b="1" u="sng" dirty="0">
                <a:solidFill>
                  <a:srgbClr val="0070C0"/>
                </a:solidFill>
              </a:rPr>
              <a:t>*</a:t>
            </a:r>
          </a:p>
          <a:p>
            <a:pPr marL="457200" lvl="1" indent="0">
              <a:buNone/>
            </a:pPr>
            <a:r>
              <a:rPr lang="en-US" dirty="0"/>
              <a:t>Black = as described previously (motor controller)</a:t>
            </a:r>
          </a:p>
          <a:p>
            <a:pPr marL="457200" lvl="1" indent="0">
              <a:buNone/>
            </a:pPr>
            <a:r>
              <a:rPr lang="en-US" dirty="0"/>
              <a:t>Red = as described previously (motor controller)</a:t>
            </a:r>
          </a:p>
          <a:p>
            <a:pPr marL="457200" lvl="1" indent="0">
              <a:buNone/>
            </a:pPr>
            <a:r>
              <a:rPr lang="en-US" dirty="0"/>
              <a:t>Yellow = ground (ground for quadrature encoder--wheel speed sensor)</a:t>
            </a:r>
          </a:p>
          <a:p>
            <a:pPr marL="457200" lvl="1" indent="0">
              <a:buNone/>
            </a:pPr>
            <a:r>
              <a:rPr lang="en-US" dirty="0"/>
              <a:t>Green = </a:t>
            </a:r>
            <a:r>
              <a:rPr lang="en-US" dirty="0">
                <a:solidFill>
                  <a:srgbClr val="FF0000"/>
                </a:solidFill>
                <a:highlight>
                  <a:srgbClr val="FFFF00"/>
                </a:highlight>
              </a:rPr>
              <a:t>3.3V</a:t>
            </a:r>
            <a:r>
              <a:rPr lang="en-US" dirty="0"/>
              <a:t> (power for quadrature encoder--wheel speed sensor)</a:t>
            </a:r>
          </a:p>
          <a:p>
            <a:pPr marL="457200" lvl="1" indent="0">
              <a:buNone/>
            </a:pPr>
            <a:r>
              <a:rPr lang="en-US" dirty="0"/>
              <a:t>Blue =  MCU GPIO 14 (signal from quadrature encoder) </a:t>
            </a:r>
          </a:p>
          <a:p>
            <a:pPr marL="457200" lvl="1" indent="0">
              <a:buNone/>
            </a:pPr>
            <a:r>
              <a:rPr lang="en-US" dirty="0"/>
              <a:t>White = MCU GPIO 32 (signal from quadrature encoder)</a:t>
            </a:r>
          </a:p>
        </p:txBody>
      </p:sp>
      <p:sp>
        <p:nvSpPr>
          <p:cNvPr id="4" name="Footer Placeholder 3">
            <a:extLst>
              <a:ext uri="{FF2B5EF4-FFF2-40B4-BE49-F238E27FC236}">
                <a16:creationId xmlns:a16="http://schemas.microsoft.com/office/drawing/2014/main" id="{A7AA2EDE-47D2-CEC7-91C3-70C6007236F5}"/>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781A2385-CF34-5696-40CF-65F2E8E14AC4}"/>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9" name="Picture 8">
            <a:extLst>
              <a:ext uri="{FF2B5EF4-FFF2-40B4-BE49-F238E27FC236}">
                <a16:creationId xmlns:a16="http://schemas.microsoft.com/office/drawing/2014/main" id="{3803205B-2F8B-7B0E-2E53-4F6A9BF12791}"/>
              </a:ext>
            </a:extLst>
          </p:cNvPr>
          <p:cNvPicPr>
            <a:picLocks noChangeAspect="1"/>
          </p:cNvPicPr>
          <p:nvPr/>
        </p:nvPicPr>
        <p:blipFill>
          <a:blip r:embed="rId2"/>
          <a:srcRect t="28566"/>
          <a:stretch>
            <a:fillRect/>
          </a:stretch>
        </p:blipFill>
        <p:spPr>
          <a:xfrm>
            <a:off x="5302843" y="1282920"/>
            <a:ext cx="3534126" cy="1718653"/>
          </a:xfrm>
          <a:prstGeom prst="rect">
            <a:avLst/>
          </a:prstGeom>
        </p:spPr>
      </p:pic>
      <p:sp>
        <p:nvSpPr>
          <p:cNvPr id="12" name="TextBox 11">
            <a:extLst>
              <a:ext uri="{FF2B5EF4-FFF2-40B4-BE49-F238E27FC236}">
                <a16:creationId xmlns:a16="http://schemas.microsoft.com/office/drawing/2014/main" id="{B6966122-E623-D4C9-F9E9-72C31B7E56C9}"/>
              </a:ext>
            </a:extLst>
          </p:cNvPr>
          <p:cNvSpPr txBox="1"/>
          <p:nvPr/>
        </p:nvSpPr>
        <p:spPr>
          <a:xfrm>
            <a:off x="6332903" y="6008242"/>
            <a:ext cx="2458890" cy="830997"/>
          </a:xfrm>
          <a:prstGeom prst="rect">
            <a:avLst/>
          </a:prstGeom>
          <a:noFill/>
          <a:ln w="28575">
            <a:solidFill>
              <a:schemeClr val="accent1"/>
            </a:solidFill>
          </a:ln>
        </p:spPr>
        <p:txBody>
          <a:bodyPr wrap="square">
            <a:spAutoFit/>
          </a:bodyPr>
          <a:lstStyle/>
          <a:p>
            <a:r>
              <a:rPr lang="en-US" sz="1200" dirty="0">
                <a:solidFill>
                  <a:srgbClr val="0070C0"/>
                </a:solidFill>
                <a:latin typeface="Segoe UI" panose="020B0502040204020203" pitchFamily="34" charset="0"/>
                <a:cs typeface="Segoe UI" panose="020B0502040204020203" pitchFamily="34" charset="0"/>
              </a:rPr>
              <a:t>* - Note the color connections on this slide correlate to the motor extension cable, </a:t>
            </a:r>
            <a:r>
              <a:rPr lang="en-US" sz="1200" i="1" dirty="0">
                <a:solidFill>
                  <a:srgbClr val="0070C0"/>
                </a:solidFill>
                <a:latin typeface="Segoe UI" panose="020B0502040204020203" pitchFamily="34" charset="0"/>
                <a:cs typeface="Segoe UI" panose="020B0502040204020203" pitchFamily="34" charset="0"/>
              </a:rPr>
              <a:t>not</a:t>
            </a:r>
            <a:r>
              <a:rPr lang="en-US" sz="1200" dirty="0">
                <a:solidFill>
                  <a:srgbClr val="0070C0"/>
                </a:solidFill>
                <a:latin typeface="Segoe UI" panose="020B0502040204020203" pitchFamily="34" charset="0"/>
                <a:cs typeface="Segoe UI" panose="020B0502040204020203" pitchFamily="34" charset="0"/>
              </a:rPr>
              <a:t> the cable directly connected to the motor. </a:t>
            </a:r>
          </a:p>
        </p:txBody>
      </p:sp>
      <p:sp>
        <p:nvSpPr>
          <p:cNvPr id="16" name="Content Placeholder 5">
            <a:extLst>
              <a:ext uri="{FF2B5EF4-FFF2-40B4-BE49-F238E27FC236}">
                <a16:creationId xmlns:a16="http://schemas.microsoft.com/office/drawing/2014/main" id="{8F4284F3-ADBE-652E-D639-430B305585E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Prelab</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p>
          <a:p>
            <a:pPr marL="0" indent="0">
              <a:buNone/>
            </a:pPr>
            <a:r>
              <a:rPr lang="en-US" sz="1200" dirty="0"/>
              <a:t>Task 4</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6" name="TextBox 5">
            <a:extLst>
              <a:ext uri="{FF2B5EF4-FFF2-40B4-BE49-F238E27FC236}">
                <a16:creationId xmlns:a16="http://schemas.microsoft.com/office/drawing/2014/main" id="{C6E73A1A-6FB4-00CE-13D9-3FB53D90FB0C}"/>
              </a:ext>
            </a:extLst>
          </p:cNvPr>
          <p:cNvSpPr txBox="1"/>
          <p:nvPr/>
        </p:nvSpPr>
        <p:spPr>
          <a:xfrm>
            <a:off x="5770196" y="4368846"/>
            <a:ext cx="1299710" cy="1015663"/>
          </a:xfrm>
          <a:prstGeom prst="rect">
            <a:avLst/>
          </a:prstGeom>
          <a:solidFill>
            <a:schemeClr val="bg1"/>
          </a:solidFill>
          <a:ln w="38100">
            <a:solidFill>
              <a:srgbClr val="FF0000"/>
            </a:solidFill>
          </a:ln>
        </p:spPr>
        <p:txBody>
          <a:bodyPr wrap="square" rtlCol="0">
            <a:spAutoFit/>
          </a:bodyPr>
          <a:lstStyle/>
          <a:p>
            <a:pPr algn="ctr"/>
            <a:r>
              <a:rPr lang="en-US" sz="1000" b="1" u="sng" dirty="0">
                <a:solidFill>
                  <a:srgbClr val="FF0000"/>
                </a:solidFill>
                <a:latin typeface="Segoe UI" panose="020B0502040204020203" pitchFamily="34" charset="0"/>
                <a:cs typeface="Segoe UI" panose="020B0502040204020203" pitchFamily="34" charset="0"/>
              </a:rPr>
              <a:t>WARNING</a:t>
            </a:r>
          </a:p>
          <a:p>
            <a:pPr algn="ctr"/>
            <a:r>
              <a:rPr lang="en-US" sz="1000" b="1" dirty="0">
                <a:solidFill>
                  <a:srgbClr val="FF0000"/>
                </a:solidFill>
                <a:latin typeface="Segoe UI" panose="020B0502040204020203" pitchFamily="34" charset="0"/>
                <a:cs typeface="Segoe UI" panose="020B0502040204020203" pitchFamily="34" charset="0"/>
              </a:rPr>
              <a:t>Ensure you connect green wire from motor to </a:t>
            </a:r>
            <a:r>
              <a:rPr lang="en-US" sz="1000" b="1" dirty="0">
                <a:solidFill>
                  <a:srgbClr val="FF0000"/>
                </a:solidFill>
                <a:highlight>
                  <a:srgbClr val="FFFF00"/>
                </a:highlight>
                <a:latin typeface="Segoe UI" panose="020B0502040204020203" pitchFamily="34" charset="0"/>
                <a:cs typeface="Segoe UI" panose="020B0502040204020203" pitchFamily="34" charset="0"/>
              </a:rPr>
              <a:t>3.3V</a:t>
            </a:r>
            <a:r>
              <a:rPr lang="en-US" sz="1000" b="1" dirty="0">
                <a:solidFill>
                  <a:srgbClr val="FF0000"/>
                </a:solidFill>
                <a:latin typeface="Segoe UI" panose="020B0502040204020203" pitchFamily="34" charset="0"/>
                <a:cs typeface="Segoe UI" panose="020B0502040204020203" pitchFamily="34" charset="0"/>
              </a:rPr>
              <a:t> pin on the MCU, </a:t>
            </a:r>
            <a:r>
              <a:rPr lang="en-US" sz="1000" b="1" i="1" u="sng" dirty="0">
                <a:solidFill>
                  <a:srgbClr val="FF0000"/>
                </a:solidFill>
                <a:latin typeface="Segoe UI" panose="020B0502040204020203" pitchFamily="34" charset="0"/>
                <a:cs typeface="Segoe UI" panose="020B0502040204020203" pitchFamily="34" charset="0"/>
              </a:rPr>
              <a:t>not</a:t>
            </a:r>
            <a:r>
              <a:rPr lang="en-US" sz="1000" b="1" i="1" dirty="0">
                <a:solidFill>
                  <a:srgbClr val="FF0000"/>
                </a:solidFill>
                <a:latin typeface="Segoe UI" panose="020B0502040204020203" pitchFamily="34" charset="0"/>
                <a:cs typeface="Segoe UI" panose="020B0502040204020203" pitchFamily="34" charset="0"/>
              </a:rPr>
              <a:t> </a:t>
            </a:r>
            <a:r>
              <a:rPr lang="en-US" sz="1000" b="1" dirty="0">
                <a:solidFill>
                  <a:srgbClr val="FF0000"/>
                </a:solidFill>
                <a:latin typeface="Segoe UI" panose="020B0502040204020203" pitchFamily="34" charset="0"/>
                <a:cs typeface="Segoe UI" panose="020B0502040204020203" pitchFamily="34" charset="0"/>
              </a:rPr>
              <a:t>5V</a:t>
            </a:r>
            <a:endParaRPr lang="en-US" sz="1000" dirty="0">
              <a:solidFill>
                <a:srgbClr val="0070C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7937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FE19-5D5C-A093-CC34-659177EAE8AE}"/>
              </a:ext>
            </a:extLst>
          </p:cNvPr>
          <p:cNvSpPr>
            <a:spLocks noGrp="1"/>
          </p:cNvSpPr>
          <p:nvPr>
            <p:ph type="title"/>
          </p:nvPr>
        </p:nvSpPr>
        <p:spPr/>
        <p:txBody>
          <a:bodyPr/>
          <a:lstStyle/>
          <a:p>
            <a:r>
              <a:rPr lang="en-US" b="1" dirty="0"/>
              <a:t>Task 2 – Reference Photos</a:t>
            </a:r>
          </a:p>
        </p:txBody>
      </p:sp>
      <p:sp>
        <p:nvSpPr>
          <p:cNvPr id="4" name="Footer Placeholder 3">
            <a:extLst>
              <a:ext uri="{FF2B5EF4-FFF2-40B4-BE49-F238E27FC236}">
                <a16:creationId xmlns:a16="http://schemas.microsoft.com/office/drawing/2014/main" id="{4C9304F2-DE19-3A21-ECC8-65C6BE8E8DC5}"/>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AAACF605-311D-50C3-CCA1-986814D11269}"/>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8151CCD2-2538-7236-F369-3723549AF04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Prelab</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p>
          <a:p>
            <a:pPr marL="0" indent="0">
              <a:buNone/>
            </a:pPr>
            <a:r>
              <a:rPr lang="en-US" sz="1200" dirty="0"/>
              <a:t>Task 4</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8" name="Picture 7">
            <a:extLst>
              <a:ext uri="{FF2B5EF4-FFF2-40B4-BE49-F238E27FC236}">
                <a16:creationId xmlns:a16="http://schemas.microsoft.com/office/drawing/2014/main" id="{ECBE7E78-C771-81F4-0F7E-F8F5A25B6EB3}"/>
              </a:ext>
            </a:extLst>
          </p:cNvPr>
          <p:cNvPicPr>
            <a:picLocks noChangeAspect="1"/>
          </p:cNvPicPr>
          <p:nvPr/>
        </p:nvPicPr>
        <p:blipFill>
          <a:blip r:embed="rId2"/>
          <a:stretch>
            <a:fillRect/>
          </a:stretch>
        </p:blipFill>
        <p:spPr>
          <a:xfrm>
            <a:off x="1252043" y="1063408"/>
            <a:ext cx="3776920" cy="2769741"/>
          </a:xfrm>
          <a:prstGeom prst="rect">
            <a:avLst/>
          </a:prstGeom>
        </p:spPr>
      </p:pic>
      <p:pic>
        <p:nvPicPr>
          <p:cNvPr id="10" name="Picture 9">
            <a:extLst>
              <a:ext uri="{FF2B5EF4-FFF2-40B4-BE49-F238E27FC236}">
                <a16:creationId xmlns:a16="http://schemas.microsoft.com/office/drawing/2014/main" id="{88FA1F90-4BFA-A442-382D-35CCD132DBBE}"/>
              </a:ext>
            </a:extLst>
          </p:cNvPr>
          <p:cNvPicPr>
            <a:picLocks noChangeAspect="1"/>
          </p:cNvPicPr>
          <p:nvPr/>
        </p:nvPicPr>
        <p:blipFill>
          <a:blip r:embed="rId3"/>
          <a:stretch>
            <a:fillRect/>
          </a:stretch>
        </p:blipFill>
        <p:spPr>
          <a:xfrm>
            <a:off x="4704199" y="3926972"/>
            <a:ext cx="4167297" cy="2523790"/>
          </a:xfrm>
          <a:prstGeom prst="rect">
            <a:avLst/>
          </a:prstGeom>
        </p:spPr>
      </p:pic>
      <p:pic>
        <p:nvPicPr>
          <p:cNvPr id="12" name="Picture 11">
            <a:extLst>
              <a:ext uri="{FF2B5EF4-FFF2-40B4-BE49-F238E27FC236}">
                <a16:creationId xmlns:a16="http://schemas.microsoft.com/office/drawing/2014/main" id="{8930E4BA-A55F-C869-9667-CFF8BC590FF7}"/>
              </a:ext>
            </a:extLst>
          </p:cNvPr>
          <p:cNvPicPr>
            <a:picLocks noChangeAspect="1"/>
          </p:cNvPicPr>
          <p:nvPr/>
        </p:nvPicPr>
        <p:blipFill>
          <a:blip r:embed="rId4"/>
          <a:stretch>
            <a:fillRect/>
          </a:stretch>
        </p:blipFill>
        <p:spPr>
          <a:xfrm>
            <a:off x="1327804" y="3876043"/>
            <a:ext cx="3244196" cy="2674694"/>
          </a:xfrm>
          <a:prstGeom prst="rect">
            <a:avLst/>
          </a:prstGeom>
        </p:spPr>
      </p:pic>
      <p:pic>
        <p:nvPicPr>
          <p:cNvPr id="14" name="Picture 13">
            <a:extLst>
              <a:ext uri="{FF2B5EF4-FFF2-40B4-BE49-F238E27FC236}">
                <a16:creationId xmlns:a16="http://schemas.microsoft.com/office/drawing/2014/main" id="{930552A1-D033-312A-28E3-E27B2993D1D8}"/>
              </a:ext>
            </a:extLst>
          </p:cNvPr>
          <p:cNvPicPr>
            <a:picLocks noChangeAspect="1"/>
          </p:cNvPicPr>
          <p:nvPr/>
        </p:nvPicPr>
        <p:blipFill>
          <a:blip r:embed="rId5"/>
          <a:stretch>
            <a:fillRect/>
          </a:stretch>
        </p:blipFill>
        <p:spPr>
          <a:xfrm rot="16200000">
            <a:off x="5657388" y="435797"/>
            <a:ext cx="2919536" cy="3960956"/>
          </a:xfrm>
          <a:prstGeom prst="rect">
            <a:avLst/>
          </a:prstGeom>
        </p:spPr>
      </p:pic>
    </p:spTree>
    <p:extLst>
      <p:ext uri="{BB962C8B-B14F-4D97-AF65-F5344CB8AC3E}">
        <p14:creationId xmlns:p14="http://schemas.microsoft.com/office/powerpoint/2010/main" val="3855013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CA86-D800-A11B-BD0E-07278331A1C9}"/>
              </a:ext>
            </a:extLst>
          </p:cNvPr>
          <p:cNvSpPr>
            <a:spLocks noGrp="1"/>
          </p:cNvSpPr>
          <p:nvPr>
            <p:ph type="title"/>
          </p:nvPr>
        </p:nvSpPr>
        <p:spPr/>
        <p:txBody>
          <a:bodyPr/>
          <a:lstStyle/>
          <a:p>
            <a:r>
              <a:rPr lang="en-US" b="1"/>
              <a:t>Task 3 – Upload Code to KestrelSAT</a:t>
            </a:r>
          </a:p>
        </p:txBody>
      </p:sp>
      <p:sp>
        <p:nvSpPr>
          <p:cNvPr id="4" name="Footer Placeholder 3">
            <a:extLst>
              <a:ext uri="{FF2B5EF4-FFF2-40B4-BE49-F238E27FC236}">
                <a16:creationId xmlns:a16="http://schemas.microsoft.com/office/drawing/2014/main" id="{39846F93-2AC2-2B8C-76F1-35081F5D2F5F}"/>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2EF145FC-2265-EBA0-D057-73727748191B}"/>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8" name="Content Placeholder 5">
            <a:extLst>
              <a:ext uri="{FF2B5EF4-FFF2-40B4-BE49-F238E27FC236}">
                <a16:creationId xmlns:a16="http://schemas.microsoft.com/office/drawing/2014/main" id="{D5D422B5-E0D2-3A86-61ED-3D6AD0D3C117}"/>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b="1">
                <a:solidFill>
                  <a:srgbClr val="00B0F0"/>
                </a:solidFill>
              </a:rPr>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
        <p:nvSpPr>
          <p:cNvPr id="10" name="TextBox 9">
            <a:extLst>
              <a:ext uri="{FF2B5EF4-FFF2-40B4-BE49-F238E27FC236}">
                <a16:creationId xmlns:a16="http://schemas.microsoft.com/office/drawing/2014/main" id="{FBEA4362-B1B5-13D6-F253-38761097149A}"/>
              </a:ext>
            </a:extLst>
          </p:cNvPr>
          <p:cNvSpPr txBox="1"/>
          <p:nvPr/>
        </p:nvSpPr>
        <p:spPr>
          <a:xfrm>
            <a:off x="1106339" y="1002507"/>
            <a:ext cx="7886699" cy="5186035"/>
          </a:xfrm>
          <a:prstGeom prst="rect">
            <a:avLst/>
          </a:prstGeom>
          <a:noFill/>
        </p:spPr>
        <p:txBody>
          <a:bodyPr wrap="square">
            <a:spAutoFit/>
          </a:bodyPr>
          <a:lstStyle/>
          <a:p>
            <a:pPr marL="514350" indent="-514350">
              <a:buAutoNum type="arabicParenBoth"/>
            </a:pPr>
            <a:r>
              <a:rPr lang="en-US" sz="1600" dirty="0"/>
              <a:t>Download </a:t>
            </a:r>
            <a:r>
              <a:rPr lang="en-US" sz="1600" b="1" dirty="0">
                <a:solidFill>
                  <a:srgbClr val="00B0F0"/>
                </a:solidFill>
                <a:latin typeface="Courier New" panose="02070309020205020404" pitchFamily="49" charset="0"/>
                <a:cs typeface="Courier New" panose="02070309020205020404" pitchFamily="49" charset="0"/>
              </a:rPr>
              <a:t>Astro331_Lab7_Code </a:t>
            </a:r>
            <a:r>
              <a:rPr lang="en-US" sz="1600" dirty="0"/>
              <a:t>folder from Teams or your instructor’s USB drive.</a:t>
            </a:r>
          </a:p>
          <a:p>
            <a:pPr marL="514350" indent="-514350">
              <a:buAutoNum type="arabicParenBoth"/>
            </a:pPr>
            <a:endParaRPr lang="en-US" sz="1600" dirty="0"/>
          </a:p>
          <a:p>
            <a:pPr marL="514350" indent="-514350">
              <a:buAutoNum type="arabicParenBoth"/>
            </a:pPr>
            <a:r>
              <a:rPr lang="en-US" sz="1600" dirty="0"/>
              <a:t>Upload the code using </a:t>
            </a:r>
            <a:r>
              <a:rPr lang="en-US" sz="1600" dirty="0" err="1"/>
              <a:t>PlatformIO</a:t>
            </a:r>
            <a:r>
              <a:rPr lang="en-US" sz="1600" dirty="0">
                <a:sym typeface="Wingdings" panose="05000000000000000000" pitchFamily="2" charset="2"/>
              </a:rPr>
              <a:t>. The RGB LED on the MCU should shine green if the IMU and SD card initialize correctly.</a:t>
            </a:r>
          </a:p>
          <a:p>
            <a:pPr marL="514350" indent="-514350">
              <a:buAutoNum type="arabicParenBoth"/>
            </a:pPr>
            <a:endParaRPr lang="en-US" sz="1600" dirty="0">
              <a:sym typeface="Wingdings" panose="05000000000000000000" pitchFamily="2" charset="2"/>
            </a:endParaRPr>
          </a:p>
          <a:p>
            <a:pPr marL="514350" indent="-514350">
              <a:buAutoNum type="arabicParenBoth"/>
            </a:pPr>
            <a:r>
              <a:rPr lang="en-US" sz="1600" dirty="0">
                <a:sym typeface="Wingdings" panose="05000000000000000000" pitchFamily="2" charset="2"/>
              </a:rPr>
              <a:t>For this lab you can connect to KestrelSAT either over USB or using </a:t>
            </a:r>
            <a:r>
              <a:rPr lang="en-US" sz="1600" dirty="0" err="1">
                <a:sym typeface="Wingdings" panose="05000000000000000000" pitchFamily="2" charset="2"/>
              </a:rPr>
              <a:t>Xbee</a:t>
            </a:r>
            <a:r>
              <a:rPr lang="en-US" sz="1600" dirty="0">
                <a:sym typeface="Wingdings" panose="05000000000000000000" pitchFamily="2" charset="2"/>
              </a:rPr>
              <a:t> wireless connection. For either method, there are several available options:</a:t>
            </a:r>
          </a:p>
          <a:p>
            <a:pPr lvl="2"/>
            <a:r>
              <a:rPr lang="en-US" sz="1100" dirty="0"/>
              <a:t> * | </a:t>
            </a:r>
            <a:r>
              <a:rPr lang="en-US" sz="1100" dirty="0" err="1"/>
              <a:t>Cmd</a:t>
            </a:r>
            <a:r>
              <a:rPr lang="en-US" sz="1100" dirty="0"/>
              <a:t> | Function |</a:t>
            </a:r>
          </a:p>
          <a:p>
            <a:pPr lvl="2"/>
            <a:r>
              <a:rPr lang="en-US" sz="1100" dirty="0"/>
              <a:t> * |-----|----------|</a:t>
            </a:r>
          </a:p>
          <a:p>
            <a:pPr lvl="2"/>
            <a:r>
              <a:rPr lang="en-US" sz="1100" dirty="0"/>
              <a:t> * | 0   | Stop reaction wheel |</a:t>
            </a:r>
          </a:p>
          <a:p>
            <a:pPr lvl="2"/>
            <a:r>
              <a:rPr lang="en-US" sz="1100" dirty="0"/>
              <a:t> * | 1   | Display options menu |</a:t>
            </a:r>
          </a:p>
          <a:p>
            <a:pPr lvl="2"/>
            <a:r>
              <a:rPr lang="en-US" sz="1100" dirty="0"/>
              <a:t> * | 2   | Query </a:t>
            </a:r>
            <a:r>
              <a:rPr lang="en-US" sz="1100" dirty="0" err="1"/>
              <a:t>XBee</a:t>
            </a:r>
            <a:r>
              <a:rPr lang="en-US" sz="1100" dirty="0"/>
              <a:t> RSSI |</a:t>
            </a:r>
          </a:p>
          <a:p>
            <a:pPr lvl="2"/>
            <a:r>
              <a:rPr lang="en-US" sz="1100" dirty="0"/>
              <a:t> * | 3   | Toggle status LED |</a:t>
            </a:r>
          </a:p>
          <a:p>
            <a:pPr lvl="2"/>
            <a:r>
              <a:rPr lang="en-US" sz="1100" dirty="0"/>
              <a:t> * | 4   | Get battery telemetry (V, SOC, charge rate) |</a:t>
            </a:r>
          </a:p>
          <a:p>
            <a:pPr lvl="2"/>
            <a:r>
              <a:rPr lang="en-US" sz="1100" dirty="0"/>
              <a:t> * | 5   | Manually set reaction wheel throttle (-100 to 100%) |</a:t>
            </a:r>
          </a:p>
          <a:p>
            <a:pPr lvl="2"/>
            <a:r>
              <a:rPr lang="en-US" sz="1100" dirty="0"/>
              <a:t> * | 6   | Run Lab 6 test (Attitude Determination) |</a:t>
            </a:r>
          </a:p>
          <a:p>
            <a:pPr lvl="2"/>
            <a:r>
              <a:rPr lang="en-US" sz="1100" dirty="0"/>
              <a:t> * | 7   | Run Lab 7 Test A (tabletop static, RW torque measurement) |</a:t>
            </a:r>
          </a:p>
          <a:p>
            <a:pPr lvl="2"/>
            <a:r>
              <a:rPr lang="en-US" sz="1100" dirty="0"/>
              <a:t> * | 8   | Run Lab 7 Test B (dynamic test with prescribed wheel speed) |</a:t>
            </a:r>
          </a:p>
          <a:p>
            <a:pPr lvl="2"/>
            <a:r>
              <a:rPr lang="en-US" sz="1100" dirty="0"/>
              <a:t> * | 98  | SD Card: List files (USB Serial only) |</a:t>
            </a:r>
          </a:p>
          <a:p>
            <a:pPr lvl="2"/>
            <a:r>
              <a:rPr lang="en-US" sz="1100" dirty="0"/>
              <a:t> * | 99  | SD Card: Print </a:t>
            </a:r>
            <a:r>
              <a:rPr lang="en-US" sz="1100"/>
              <a:t>file (</a:t>
            </a:r>
            <a:r>
              <a:rPr lang="en-US" sz="1100" dirty="0"/>
              <a:t>USB Serial only) |</a:t>
            </a:r>
          </a:p>
          <a:p>
            <a:pPr marL="457200" lvl="1" indent="0">
              <a:buNone/>
            </a:pPr>
            <a:endParaRPr lang="en-US" sz="1200" dirty="0"/>
          </a:p>
          <a:p>
            <a:pPr marL="457200" lvl="1" indent="0">
              <a:buNone/>
            </a:pPr>
            <a:r>
              <a:rPr lang="en-US" sz="1600" dirty="0"/>
              <a:t>Note: when a Lab 6 or 7 Test Run is executed, sensor data is only streamed over USB (not </a:t>
            </a:r>
            <a:r>
              <a:rPr lang="en-US" sz="1600" dirty="0" err="1"/>
              <a:t>XBee</a:t>
            </a:r>
            <a:r>
              <a:rPr lang="en-US" sz="1600" dirty="0"/>
              <a:t>). </a:t>
            </a:r>
            <a:r>
              <a:rPr lang="en-US" sz="1600" b="1" dirty="0"/>
              <a:t>Each time a test run is executed, a new .csv file containing the test data is saved to the SD card connected to the MCU. </a:t>
            </a:r>
          </a:p>
        </p:txBody>
      </p:sp>
    </p:spTree>
    <p:extLst>
      <p:ext uri="{BB962C8B-B14F-4D97-AF65-F5344CB8AC3E}">
        <p14:creationId xmlns:p14="http://schemas.microsoft.com/office/powerpoint/2010/main" val="1125936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F3BA-D880-F55C-E765-D7EE1FD7CD9D}"/>
              </a:ext>
            </a:extLst>
          </p:cNvPr>
          <p:cNvSpPr>
            <a:spLocks noGrp="1"/>
          </p:cNvSpPr>
          <p:nvPr>
            <p:ph type="title"/>
          </p:nvPr>
        </p:nvSpPr>
        <p:spPr/>
        <p:txBody>
          <a:bodyPr/>
          <a:lstStyle/>
          <a:p>
            <a:r>
              <a:rPr lang="en-US" b="1" dirty="0"/>
              <a:t>Task 3A – Reaction Wheel Checkout</a:t>
            </a:r>
          </a:p>
        </p:txBody>
      </p:sp>
      <p:sp>
        <p:nvSpPr>
          <p:cNvPr id="3" name="Content Placeholder 2">
            <a:extLst>
              <a:ext uri="{FF2B5EF4-FFF2-40B4-BE49-F238E27FC236}">
                <a16:creationId xmlns:a16="http://schemas.microsoft.com/office/drawing/2014/main" id="{B3636DA0-DC81-AA62-F09A-37A3F0C2B839}"/>
              </a:ext>
            </a:extLst>
          </p:cNvPr>
          <p:cNvSpPr>
            <a:spLocks noGrp="1"/>
          </p:cNvSpPr>
          <p:nvPr>
            <p:ph idx="1"/>
          </p:nvPr>
        </p:nvSpPr>
        <p:spPr>
          <a:xfrm>
            <a:off x="1106340" y="1002506"/>
            <a:ext cx="7886700" cy="5499185"/>
          </a:xfrm>
        </p:spPr>
        <p:txBody>
          <a:bodyPr>
            <a:normAutofit/>
          </a:bodyPr>
          <a:lstStyle/>
          <a:p>
            <a:pPr marL="514350" indent="-514350">
              <a:buAutoNum type="arabicParenBoth"/>
            </a:pPr>
            <a:r>
              <a:rPr lang="en-US" dirty="0"/>
              <a:t>With the KestrelSAT connected via USB send a ‘5’ command to KestrelSAT to manually set the speed of the reaction wheel. Set the throttle to 100.</a:t>
            </a:r>
          </a:p>
          <a:p>
            <a:pPr marL="514350" indent="-514350">
              <a:buAutoNum type="arabicParenBoth"/>
            </a:pPr>
            <a:endParaRPr lang="en-US" dirty="0"/>
          </a:p>
          <a:p>
            <a:pPr marL="514350" indent="-514350">
              <a:buAutoNum type="arabicParenBoth"/>
            </a:pPr>
            <a:r>
              <a:rPr lang="en-US" dirty="0"/>
              <a:t>Send a ‘9’ command to stream the reaction wheel’s speed. The speed of the wheel at 100% throttle should be about 400 rpm. </a:t>
            </a:r>
          </a:p>
          <a:p>
            <a:pPr marL="514350" indent="-514350">
              <a:buAutoNum type="arabicParenBoth"/>
            </a:pPr>
            <a:endParaRPr lang="en-US" dirty="0"/>
          </a:p>
          <a:p>
            <a:pPr marL="514350" indent="-514350">
              <a:buAutoNum type="arabicParenBoth"/>
            </a:pPr>
            <a:r>
              <a:rPr lang="en-US" dirty="0"/>
              <a:t>Send ‘x’ to cancel the stream, and ‘0’ to stop the reaction wheel. </a:t>
            </a:r>
          </a:p>
        </p:txBody>
      </p:sp>
      <p:sp>
        <p:nvSpPr>
          <p:cNvPr id="4" name="Footer Placeholder 3">
            <a:extLst>
              <a:ext uri="{FF2B5EF4-FFF2-40B4-BE49-F238E27FC236}">
                <a16:creationId xmlns:a16="http://schemas.microsoft.com/office/drawing/2014/main" id="{F8D7AB54-3977-A56D-94EA-9CD55C9B1474}"/>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4286ADDA-2E29-9ECD-A06C-0B3C060C86E3}"/>
              </a:ext>
            </a:extLst>
          </p:cNvPr>
          <p:cNvSpPr>
            <a:spLocks noGrp="1"/>
          </p:cNvSpPr>
          <p:nvPr>
            <p:ph type="sldNum" sz="quarter" idx="12"/>
          </p:nvPr>
        </p:nvSpPr>
        <p:spPr/>
        <p:txBody>
          <a:bodyPr/>
          <a:lstStyle/>
          <a:p>
            <a:fld id="{9A3029B7-FE6B-4680-9049-80E8298A0825}" type="slidenum">
              <a:rPr lang="en-US" smtClean="0"/>
              <a:t>15</a:t>
            </a:fld>
            <a:endParaRPr lang="en-US"/>
          </a:p>
        </p:txBody>
      </p:sp>
      <p:sp>
        <p:nvSpPr>
          <p:cNvPr id="6" name="Content Placeholder 5">
            <a:extLst>
              <a:ext uri="{FF2B5EF4-FFF2-40B4-BE49-F238E27FC236}">
                <a16:creationId xmlns:a16="http://schemas.microsoft.com/office/drawing/2014/main" id="{5CAD8DF7-F54D-01EF-3959-0782B76C7AD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Prelab</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Task 4</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476879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A06C-2330-5D7D-FE92-DCBA9A7E34C6}"/>
              </a:ext>
            </a:extLst>
          </p:cNvPr>
          <p:cNvSpPr>
            <a:spLocks noGrp="1"/>
          </p:cNvSpPr>
          <p:nvPr>
            <p:ph type="title"/>
          </p:nvPr>
        </p:nvSpPr>
        <p:spPr/>
        <p:txBody>
          <a:bodyPr/>
          <a:lstStyle/>
          <a:p>
            <a:r>
              <a:rPr lang="en-US" b="1"/>
              <a:t>Task 4A – Run Test A</a:t>
            </a:r>
          </a:p>
        </p:txBody>
      </p:sp>
      <p:sp>
        <p:nvSpPr>
          <p:cNvPr id="3" name="Content Placeholder 2">
            <a:extLst>
              <a:ext uri="{FF2B5EF4-FFF2-40B4-BE49-F238E27FC236}">
                <a16:creationId xmlns:a16="http://schemas.microsoft.com/office/drawing/2014/main" id="{AEA9C836-9827-4A72-1A70-58D7D982C3C2}"/>
              </a:ext>
            </a:extLst>
          </p:cNvPr>
          <p:cNvSpPr>
            <a:spLocks noGrp="1"/>
          </p:cNvSpPr>
          <p:nvPr>
            <p:ph idx="1"/>
          </p:nvPr>
        </p:nvSpPr>
        <p:spPr>
          <a:xfrm>
            <a:off x="1106340" y="1002507"/>
            <a:ext cx="7886700" cy="2988468"/>
          </a:xfrm>
        </p:spPr>
        <p:txBody>
          <a:bodyPr>
            <a:normAutofit/>
          </a:bodyPr>
          <a:lstStyle/>
          <a:p>
            <a:pPr marL="0" indent="0">
              <a:buNone/>
            </a:pPr>
            <a:r>
              <a:rPr lang="en-US" sz="1600"/>
              <a:t>Test A commands a simple step of the motor speed from 0 RPM to maximum speed:</a:t>
            </a:r>
          </a:p>
          <a:p>
            <a:pPr marL="457200" lvl="1" indent="0">
              <a:buNone/>
            </a:pPr>
            <a:r>
              <a:rPr lang="en-US" sz="1600"/>
              <a:t>The wheel is stationary for 3 seconds, accelerates to full speed for 7 seconds, then returns to stationary. </a:t>
            </a:r>
          </a:p>
          <a:p>
            <a:pPr marL="457200" lvl="1" indent="0">
              <a:buNone/>
            </a:pPr>
            <a:r>
              <a:rPr lang="en-US" sz="1600"/>
              <a:t>During this time, commanded and measured wheel speed is recorded to a .csv file on the SD card. </a:t>
            </a:r>
            <a:endParaRPr lang="en-US" sz="2000"/>
          </a:p>
          <a:p>
            <a:pPr marL="342900" indent="-342900">
              <a:buAutoNum type="arabicParenBoth"/>
            </a:pPr>
            <a:r>
              <a:rPr lang="en-US" sz="1600"/>
              <a:t>Run Test A with KestrelSAT stationary on your workbench. </a:t>
            </a:r>
          </a:p>
          <a:p>
            <a:pPr marL="342900" indent="-342900">
              <a:buAutoNum type="arabicParenBoth"/>
            </a:pPr>
            <a:r>
              <a:rPr lang="en-US" sz="1600"/>
              <a:t>Collect test data from the SD card for </a:t>
            </a:r>
            <a:r>
              <a:rPr lang="en-US" sz="1600" err="1"/>
              <a:t>postlab</a:t>
            </a:r>
            <a:r>
              <a:rPr lang="en-US" sz="1600"/>
              <a:t> analysis. </a:t>
            </a:r>
          </a:p>
          <a:p>
            <a:pPr marL="0" indent="0">
              <a:buNone/>
            </a:pPr>
            <a:r>
              <a:rPr lang="en-US" sz="1600" b="1"/>
              <a:t>After the lab, calculate the wheel’s angular acceleration as it ramps up to full speed, and use this to estimate wheel torque and momentum. </a:t>
            </a:r>
          </a:p>
        </p:txBody>
      </p:sp>
      <p:sp>
        <p:nvSpPr>
          <p:cNvPr id="4" name="Footer Placeholder 3">
            <a:extLst>
              <a:ext uri="{FF2B5EF4-FFF2-40B4-BE49-F238E27FC236}">
                <a16:creationId xmlns:a16="http://schemas.microsoft.com/office/drawing/2014/main" id="{85409C8C-D9F1-B8F2-6C61-0AA1C2848E92}"/>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F1C3E90D-32E7-8E3E-840D-8ACC2F6240C6}"/>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7" name="Picture 6">
            <a:extLst>
              <a:ext uri="{FF2B5EF4-FFF2-40B4-BE49-F238E27FC236}">
                <a16:creationId xmlns:a16="http://schemas.microsoft.com/office/drawing/2014/main" id="{65ACA723-F3B4-490C-6500-4FE92F9C8231}"/>
              </a:ext>
            </a:extLst>
          </p:cNvPr>
          <p:cNvPicPr>
            <a:picLocks noChangeAspect="1"/>
          </p:cNvPicPr>
          <p:nvPr/>
        </p:nvPicPr>
        <p:blipFill>
          <a:blip r:embed="rId2"/>
          <a:stretch>
            <a:fillRect/>
          </a:stretch>
        </p:blipFill>
        <p:spPr>
          <a:xfrm>
            <a:off x="1999721" y="4068620"/>
            <a:ext cx="6021240" cy="2433072"/>
          </a:xfrm>
          <a:prstGeom prst="rect">
            <a:avLst/>
          </a:prstGeom>
        </p:spPr>
      </p:pic>
      <p:sp>
        <p:nvSpPr>
          <p:cNvPr id="8" name="Content Placeholder 5">
            <a:extLst>
              <a:ext uri="{FF2B5EF4-FFF2-40B4-BE49-F238E27FC236}">
                <a16:creationId xmlns:a16="http://schemas.microsoft.com/office/drawing/2014/main" id="{834ECDA1-2C0C-D406-528C-37CA7F1C55B7}"/>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b="1">
                <a:solidFill>
                  <a:srgbClr val="00B0F0"/>
                </a:solidFill>
              </a:rPr>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845961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AF313-AC0C-A3BF-4BA9-0E2D256CE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21A69-82DD-E16B-8E35-253834DD7AA3}"/>
              </a:ext>
            </a:extLst>
          </p:cNvPr>
          <p:cNvSpPr>
            <a:spLocks noGrp="1"/>
          </p:cNvSpPr>
          <p:nvPr>
            <p:ph type="title"/>
          </p:nvPr>
        </p:nvSpPr>
        <p:spPr/>
        <p:txBody>
          <a:bodyPr/>
          <a:lstStyle/>
          <a:p>
            <a:r>
              <a:rPr lang="en-US" b="1"/>
              <a:t>Task 4B – Run Test B</a:t>
            </a:r>
          </a:p>
        </p:txBody>
      </p:sp>
      <p:sp>
        <p:nvSpPr>
          <p:cNvPr id="3" name="Content Placeholder 2">
            <a:extLst>
              <a:ext uri="{FF2B5EF4-FFF2-40B4-BE49-F238E27FC236}">
                <a16:creationId xmlns:a16="http://schemas.microsoft.com/office/drawing/2014/main" id="{37DE4823-B28E-D505-671C-D3DC4015DBE2}"/>
              </a:ext>
            </a:extLst>
          </p:cNvPr>
          <p:cNvSpPr>
            <a:spLocks noGrp="1"/>
          </p:cNvSpPr>
          <p:nvPr>
            <p:ph idx="1"/>
          </p:nvPr>
        </p:nvSpPr>
        <p:spPr>
          <a:xfrm>
            <a:off x="1106340" y="1002506"/>
            <a:ext cx="4827735" cy="5864311"/>
          </a:xfrm>
        </p:spPr>
        <p:txBody>
          <a:bodyPr>
            <a:normAutofit fontScale="85000" lnSpcReduction="10000"/>
          </a:bodyPr>
          <a:lstStyle/>
          <a:p>
            <a:pPr marL="0" indent="0">
              <a:buNone/>
            </a:pPr>
            <a:r>
              <a:rPr lang="en-US" sz="1800" b="1" dirty="0"/>
              <a:t>Test B demonstrates a basic slew maneuver using the reaction wheel. </a:t>
            </a:r>
          </a:p>
          <a:p>
            <a:pPr marL="0" indent="0">
              <a:buNone/>
            </a:pPr>
            <a:r>
              <a:rPr lang="en-US" sz="1800" dirty="0"/>
              <a:t>The maneuver is open-loop: the wheel runs at a prescribed set of speeds over the 40 second test. No sensor data is used to adjust motor speed commands or S/C angular position.</a:t>
            </a:r>
            <a:endParaRPr lang="en-US" sz="1800" b="1" dirty="0"/>
          </a:p>
          <a:p>
            <a:pPr marL="457200" indent="-457200">
              <a:buAutoNum type="arabicParenBoth"/>
            </a:pPr>
            <a:r>
              <a:rPr lang="en-US" sz="1800" dirty="0"/>
              <a:t>Hang KestrelSAT above your workstation and power it on. Connect to KestrelSAT over </a:t>
            </a:r>
            <a:r>
              <a:rPr lang="en-US" sz="1800" dirty="0" err="1"/>
              <a:t>XBee</a:t>
            </a:r>
            <a:r>
              <a:rPr lang="en-US" sz="1800" dirty="0"/>
              <a:t>.</a:t>
            </a:r>
          </a:p>
          <a:p>
            <a:pPr marL="457200" indent="-457200">
              <a:buAutoNum type="arabicParenBoth"/>
            </a:pPr>
            <a:r>
              <a:rPr lang="en-US" sz="1800" dirty="0"/>
              <a:t>Have one group member hold KestrelSAT still while another initiates Test B. </a:t>
            </a:r>
            <a:r>
              <a:rPr lang="en-US" sz="1800" b="1" dirty="0"/>
              <a:t>Continue to hold KestrelSAT still while the wheel accelerates. </a:t>
            </a:r>
            <a:r>
              <a:rPr lang="en-US" sz="1800" b="1" dirty="0">
                <a:solidFill>
                  <a:srgbClr val="0070C0"/>
                </a:solidFill>
              </a:rPr>
              <a:t>Smoothly let go of KestrelSAT when then RGB LED turns blue</a:t>
            </a:r>
            <a:r>
              <a:rPr lang="en-US" sz="1800" b="1" dirty="0"/>
              <a:t>. </a:t>
            </a:r>
          </a:p>
          <a:p>
            <a:pPr marL="457200" indent="-457200">
              <a:buAutoNum type="arabicParenBoth"/>
            </a:pPr>
            <a:r>
              <a:rPr lang="en-US" sz="1800" dirty="0"/>
              <a:t>After a brief pause, KestrelSAT should slew approximately 180 degrees, pause, then slew 180 degrees back to its original orientation. </a:t>
            </a:r>
          </a:p>
          <a:p>
            <a:pPr marL="457200" indent="-457200">
              <a:buAutoNum type="arabicParenBoth"/>
            </a:pPr>
            <a:r>
              <a:rPr lang="en-US" sz="1800" dirty="0"/>
              <a:t>After this, the wheel will turn off and KestrelSAT will spin freely. </a:t>
            </a:r>
            <a:r>
              <a:rPr lang="en-US" sz="1800" b="1" dirty="0"/>
              <a:t>Do not touch KestrelSAT until ‘Test Complete’ is indicated.  </a:t>
            </a:r>
          </a:p>
          <a:p>
            <a:pPr marL="457200" indent="-457200">
              <a:buAutoNum type="arabicParenBoth"/>
            </a:pPr>
            <a:r>
              <a:rPr lang="en-US" sz="1800" dirty="0"/>
              <a:t>Collect the test data .csv file from the SD card for </a:t>
            </a:r>
            <a:r>
              <a:rPr lang="en-US" sz="1800" dirty="0" err="1"/>
              <a:t>postlab</a:t>
            </a:r>
            <a:r>
              <a:rPr lang="en-US" sz="1800" dirty="0"/>
              <a:t> analysis. </a:t>
            </a:r>
          </a:p>
          <a:p>
            <a:pPr marL="457200" indent="-457200">
              <a:buAutoNum type="arabicParenBoth"/>
            </a:pPr>
            <a:r>
              <a:rPr lang="en-US" sz="1800" dirty="0"/>
              <a:t>Before looking at the test data, use your intuition and knowledge of reaction wheel slew maneuvers to predict the wheel speed profile. Discuss with your instructor.</a:t>
            </a:r>
          </a:p>
        </p:txBody>
      </p:sp>
      <p:sp>
        <p:nvSpPr>
          <p:cNvPr id="4" name="Footer Placeholder 3">
            <a:extLst>
              <a:ext uri="{FF2B5EF4-FFF2-40B4-BE49-F238E27FC236}">
                <a16:creationId xmlns:a16="http://schemas.microsoft.com/office/drawing/2014/main" id="{0EC08CCB-4880-4333-5082-6789F6C1011B}"/>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EF57F8BB-B8ED-393B-5004-6C7BC1955F6F}"/>
              </a:ext>
            </a:extLst>
          </p:cNvPr>
          <p:cNvSpPr>
            <a:spLocks noGrp="1"/>
          </p:cNvSpPr>
          <p:nvPr>
            <p:ph type="sldNum" sz="quarter" idx="12"/>
          </p:nvPr>
        </p:nvSpPr>
        <p:spPr/>
        <p:txBody>
          <a:bodyPr/>
          <a:lstStyle/>
          <a:p>
            <a:fld id="{9A3029B7-FE6B-4680-9049-80E8298A0825}" type="slidenum">
              <a:rPr lang="en-US" smtClean="0"/>
              <a:t>17</a:t>
            </a:fld>
            <a:endParaRPr lang="en-US"/>
          </a:p>
        </p:txBody>
      </p:sp>
      <p:pic>
        <p:nvPicPr>
          <p:cNvPr id="7" name="Picture 6">
            <a:extLst>
              <a:ext uri="{FF2B5EF4-FFF2-40B4-BE49-F238E27FC236}">
                <a16:creationId xmlns:a16="http://schemas.microsoft.com/office/drawing/2014/main" id="{87BA7435-ADFA-3394-76BB-A96291D7C726}"/>
              </a:ext>
            </a:extLst>
          </p:cNvPr>
          <p:cNvPicPr>
            <a:picLocks noChangeAspect="1"/>
          </p:cNvPicPr>
          <p:nvPr/>
        </p:nvPicPr>
        <p:blipFill>
          <a:blip r:embed="rId2"/>
          <a:stretch>
            <a:fillRect/>
          </a:stretch>
        </p:blipFill>
        <p:spPr>
          <a:xfrm>
            <a:off x="6030696" y="1130699"/>
            <a:ext cx="3014642" cy="4724795"/>
          </a:xfrm>
          <a:prstGeom prst="rect">
            <a:avLst/>
          </a:prstGeom>
          <a:ln>
            <a:solidFill>
              <a:schemeClr val="tx1"/>
            </a:solidFill>
          </a:ln>
        </p:spPr>
      </p:pic>
      <p:sp>
        <p:nvSpPr>
          <p:cNvPr id="8" name="Content Placeholder 5">
            <a:extLst>
              <a:ext uri="{FF2B5EF4-FFF2-40B4-BE49-F238E27FC236}">
                <a16:creationId xmlns:a16="http://schemas.microsoft.com/office/drawing/2014/main" id="{59D82E13-4817-B0B9-07CC-F78FEC99DD8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b="1">
                <a:solidFill>
                  <a:srgbClr val="00B0F0"/>
                </a:solidFill>
              </a:rPr>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4100502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E74E-AD7F-9E4A-FE28-9795A69310A9}"/>
              </a:ext>
            </a:extLst>
          </p:cNvPr>
          <p:cNvSpPr>
            <a:spLocks noGrp="1"/>
          </p:cNvSpPr>
          <p:nvPr>
            <p:ph type="title"/>
          </p:nvPr>
        </p:nvSpPr>
        <p:spPr/>
        <p:txBody>
          <a:bodyPr/>
          <a:lstStyle/>
          <a:p>
            <a:r>
              <a:rPr lang="en-US" b="1" dirty="0"/>
              <a:t>Lab Report 2 Guidance</a:t>
            </a:r>
            <a:endParaRPr lang="en-US" dirty="0"/>
          </a:p>
        </p:txBody>
      </p:sp>
      <p:sp>
        <p:nvSpPr>
          <p:cNvPr id="3" name="Content Placeholder 2">
            <a:extLst>
              <a:ext uri="{FF2B5EF4-FFF2-40B4-BE49-F238E27FC236}">
                <a16:creationId xmlns:a16="http://schemas.microsoft.com/office/drawing/2014/main" id="{9AD8DC51-930D-0124-E2FD-A58951FD2B5A}"/>
              </a:ext>
            </a:extLst>
          </p:cNvPr>
          <p:cNvSpPr>
            <a:spLocks noGrp="1"/>
          </p:cNvSpPr>
          <p:nvPr>
            <p:ph idx="1"/>
          </p:nvPr>
        </p:nvSpPr>
        <p:spPr>
          <a:xfrm>
            <a:off x="1106340" y="1276496"/>
            <a:ext cx="7886700" cy="5225195"/>
          </a:xfrm>
        </p:spPr>
        <p:txBody>
          <a:bodyPr>
            <a:normAutofit lnSpcReduction="10000"/>
          </a:bodyPr>
          <a:lstStyle/>
          <a:p>
            <a:pPr marL="0" indent="0">
              <a:buNone/>
            </a:pPr>
            <a:r>
              <a:rPr lang="en-US" sz="2000" dirty="0"/>
              <a:t>General guidance: Use well formatted plots and tables to convey information. Always comment of potential sources of error and include recommendations for how to fix them. </a:t>
            </a:r>
          </a:p>
          <a:p>
            <a:pPr marL="0" indent="0">
              <a:buNone/>
            </a:pPr>
            <a:r>
              <a:rPr lang="en-US" sz="2000" dirty="0"/>
              <a:t>In addition to the items specified in Lab 6 guidance, include the following in your Lab Report 2. </a:t>
            </a:r>
          </a:p>
          <a:p>
            <a:pPr marL="457200" indent="-457200">
              <a:buAutoNum type="arabicParenBoth"/>
            </a:pPr>
            <a:r>
              <a:rPr lang="en-US" sz="2000" dirty="0"/>
              <a:t>Using data you recorded about the reaction wheel and from Test A, estimate the reaction wheel’s torque and angular momentum. </a:t>
            </a:r>
          </a:p>
          <a:p>
            <a:pPr lvl="1">
              <a:buFontTx/>
              <a:buChar char="-"/>
            </a:pPr>
            <a:r>
              <a:rPr lang="en-US" sz="1600" dirty="0"/>
              <a:t>Compare to your predictions from the prelab. Comment on whether the reaction wheel meets mission requirements. </a:t>
            </a:r>
            <a:endParaRPr lang="en-US" sz="2000" dirty="0"/>
          </a:p>
          <a:p>
            <a:pPr marL="457200" indent="-457200">
              <a:buAutoNum type="arabicParenBoth"/>
            </a:pPr>
            <a:r>
              <a:rPr lang="en-US" sz="2000" dirty="0"/>
              <a:t>Using data from Test B:</a:t>
            </a:r>
          </a:p>
          <a:p>
            <a:pPr lvl="1">
              <a:buFontTx/>
              <a:buChar char="-"/>
            </a:pPr>
            <a:r>
              <a:rPr lang="en-US" sz="1600" dirty="0"/>
              <a:t>Calibrate the magnetometer data. Estimate and plot magnetic heading using both the magnetometer data and gyroscope data (as you did for Lab 6). Analyze and compare these estimates. If the solutions drift apart, discuss possible reasons why.</a:t>
            </a:r>
          </a:p>
          <a:p>
            <a:pPr lvl="1">
              <a:buFontTx/>
              <a:buChar char="-"/>
            </a:pPr>
            <a:r>
              <a:rPr lang="en-US" sz="1600" dirty="0"/>
              <a:t>Estimate the MOI of KestrelSAT. Do this with the wheel speed data and gyroscope data immediately before and after the wheel turned off. </a:t>
            </a:r>
          </a:p>
          <a:p>
            <a:pPr lvl="1">
              <a:buFontTx/>
              <a:buChar char="-"/>
            </a:pPr>
            <a:r>
              <a:rPr lang="en-US" sz="1600" dirty="0"/>
              <a:t>Did your KestrelSAT return perfectly to its original orientation? If not, comment on possible reasons why not. </a:t>
            </a:r>
          </a:p>
          <a:p>
            <a:pPr lvl="1">
              <a:buFontTx/>
              <a:buChar char="-"/>
            </a:pPr>
            <a:r>
              <a:rPr lang="en-US" sz="1600" dirty="0"/>
              <a:t>Thoroughly comment on any other observations made during the lab or analysis. </a:t>
            </a:r>
          </a:p>
          <a:p>
            <a:pPr marL="457200" indent="-457200">
              <a:buAutoNum type="arabicParenBoth"/>
            </a:pPr>
            <a:endParaRPr lang="en-US" sz="2000" dirty="0"/>
          </a:p>
        </p:txBody>
      </p:sp>
      <p:sp>
        <p:nvSpPr>
          <p:cNvPr id="4" name="Footer Placeholder 3">
            <a:extLst>
              <a:ext uri="{FF2B5EF4-FFF2-40B4-BE49-F238E27FC236}">
                <a16:creationId xmlns:a16="http://schemas.microsoft.com/office/drawing/2014/main" id="{BBF97601-DF05-DF73-AD30-AB5BB3AC646D}"/>
              </a:ext>
            </a:extLst>
          </p:cNvPr>
          <p:cNvSpPr>
            <a:spLocks noGrp="1"/>
          </p:cNvSpPr>
          <p:nvPr>
            <p:ph type="ftr" sz="quarter" idx="11"/>
          </p:nvPr>
        </p:nvSpPr>
        <p:spPr/>
        <p:txBody>
          <a:bodyPr/>
          <a:lstStyle/>
          <a:p>
            <a:r>
              <a:rPr lang="en-US"/>
              <a:t>Astro 331 Lab #7</a:t>
            </a:r>
          </a:p>
        </p:txBody>
      </p:sp>
      <p:sp>
        <p:nvSpPr>
          <p:cNvPr id="5" name="Slide Number Placeholder 4">
            <a:extLst>
              <a:ext uri="{FF2B5EF4-FFF2-40B4-BE49-F238E27FC236}">
                <a16:creationId xmlns:a16="http://schemas.microsoft.com/office/drawing/2014/main" id="{C8FD2736-656A-02D4-8EE8-A0DEF08F3260}"/>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E72A66D8-380E-5940-1CA5-2BC717867C36}"/>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b="1">
                <a:solidFill>
                  <a:srgbClr val="00B0F0"/>
                </a:solidFill>
              </a:rPr>
              <a:t>Turn-in </a:t>
            </a:r>
            <a:r>
              <a:rPr lang="en-US" sz="1200" b="1" err="1">
                <a:solidFill>
                  <a:srgbClr val="00B0F0"/>
                </a:solidFill>
              </a:rPr>
              <a:t>Reqt’s</a:t>
            </a:r>
            <a:endParaRPr lang="en-US" sz="1200" b="1">
              <a:solidFill>
                <a:srgbClr val="00B0F0"/>
              </a:solidFill>
            </a:endParaRPr>
          </a:p>
          <a:p>
            <a:pPr marL="0" indent="0">
              <a:buNone/>
            </a:pPr>
            <a:endParaRPr lang="en-US" sz="1200"/>
          </a:p>
        </p:txBody>
      </p:sp>
      <p:sp>
        <p:nvSpPr>
          <p:cNvPr id="7" name="TextBox 6">
            <a:extLst>
              <a:ext uri="{FF2B5EF4-FFF2-40B4-BE49-F238E27FC236}">
                <a16:creationId xmlns:a16="http://schemas.microsoft.com/office/drawing/2014/main" id="{A97AA505-0773-35C4-6581-B2E32571A569}"/>
              </a:ext>
            </a:extLst>
          </p:cNvPr>
          <p:cNvSpPr txBox="1"/>
          <p:nvPr/>
        </p:nvSpPr>
        <p:spPr>
          <a:xfrm>
            <a:off x="964003" y="934864"/>
            <a:ext cx="8179998" cy="34163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b="1" i="0" u="none" strike="noStrike" kern="1200" cap="none" spc="0" normalizeH="0" baseline="0" noProof="0" dirty="0">
                <a:ln>
                  <a:noFill/>
                </a:ln>
                <a:solidFill>
                  <a:srgbClr val="FF0000"/>
                </a:solidFill>
                <a:effectLst/>
                <a:highlight>
                  <a:srgbClr val="FFFF00"/>
                </a:highlight>
                <a:uLnTx/>
                <a:uFillTx/>
                <a:latin typeface="Segoe UI" panose="020B0502040204020203" pitchFamily="34" charset="0"/>
                <a:ea typeface="+mn-ea"/>
                <a:cs typeface="Segoe UI" panose="020B0502040204020203" pitchFamily="34" charset="0"/>
              </a:rPr>
              <a:t>***Note your Lab Report 2 will cover Lab #6 and Lab #7***</a:t>
            </a:r>
          </a:p>
        </p:txBody>
      </p:sp>
    </p:spTree>
    <p:extLst>
      <p:ext uri="{BB962C8B-B14F-4D97-AF65-F5344CB8AC3E}">
        <p14:creationId xmlns:p14="http://schemas.microsoft.com/office/powerpoint/2010/main" val="27216453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2ABE82-33E1-420A-9128-3E1DECFEB9AA}">
  <ds:schemaRefs>
    <ds:schemaRef ds:uri="http://schemas.microsoft.com/office/2006/documentManagement/types"/>
    <ds:schemaRef ds:uri="7584c457-6b5a-4caa-be47-be979cbe6555"/>
    <ds:schemaRef ds:uri="http://purl.org/dc/dcmitype/"/>
    <ds:schemaRef ds:uri="http://purl.org/dc/elements/1.1/"/>
    <ds:schemaRef ds:uri="http://schemas.openxmlformats.org/package/2006/metadata/core-properties"/>
    <ds:schemaRef ds:uri="http://schemas.microsoft.com/office/2006/metadata/properties"/>
    <ds:schemaRef ds:uri="http://schemas.microsoft.com/office/infopath/2007/PartnerControls"/>
    <ds:schemaRef ds:uri="http://purl.org/dc/terms/"/>
    <ds:schemaRef ds:uri="723aa48c-73f2-40da-86b1-f1ae286477fe"/>
    <ds:schemaRef ds:uri="http://schemas.microsoft.com/sharepoint/v3"/>
    <ds:schemaRef ds:uri="http://www.w3.org/XML/1998/namespace"/>
  </ds:schemaRefs>
</ds:datastoreItem>
</file>

<file path=customXml/itemProps2.xml><?xml version="1.0" encoding="utf-8"?>
<ds:datastoreItem xmlns:ds="http://schemas.openxmlformats.org/officeDocument/2006/customXml" ds:itemID="{EA2D19CC-6F2D-4540-B65A-6EB71F223998}">
  <ds:schemaRefs>
    <ds:schemaRef ds:uri="http://schemas.microsoft.com/sharepoint/v3/contenttype/forms"/>
  </ds:schemaRefs>
</ds:datastoreItem>
</file>

<file path=customXml/itemProps3.xml><?xml version="1.0" encoding="utf-8"?>
<ds:datastoreItem xmlns:ds="http://schemas.openxmlformats.org/officeDocument/2006/customXml" ds:itemID="{C3F0D205-0F72-4D63-AD20-F37BD09E51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2833</TotalTime>
  <Words>2496</Words>
  <Application>Microsoft Office PowerPoint</Application>
  <PresentationFormat>Letter Paper (8.5x11 in)</PresentationFormat>
  <Paragraphs>410</Paragraphs>
  <Slides>18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Cambria Math</vt:lpstr>
      <vt:lpstr>Courier New</vt:lpstr>
      <vt:lpstr>Segoe UI</vt:lpstr>
      <vt:lpstr>Wingdings</vt:lpstr>
      <vt:lpstr>Office Theme</vt:lpstr>
      <vt:lpstr>Lab #7</vt:lpstr>
      <vt:lpstr>Intro</vt:lpstr>
      <vt:lpstr>KestrelSAT Overview</vt:lpstr>
      <vt:lpstr>Reference – KestrelSAT Body Frame Coordinate System</vt:lpstr>
      <vt:lpstr>ESP32 Thing Plus Pinout Diagram</vt:lpstr>
      <vt:lpstr>Reference – KestrelSAT Reaction Wheel </vt:lpstr>
      <vt:lpstr>Reference – Motor Controller </vt:lpstr>
      <vt:lpstr>Prelab Tasks</vt:lpstr>
      <vt:lpstr>Prelab Tasks</vt:lpstr>
      <vt:lpstr>Prelab 7 Notes for Next Semester</vt:lpstr>
      <vt:lpstr>Task 1 – Measure Reaction Wheel Properties </vt:lpstr>
      <vt:lpstr>Task 2 – Connect Reaction Wheel &amp; Motor Controller</vt:lpstr>
      <vt:lpstr>Task 2 – Reference Photos</vt:lpstr>
      <vt:lpstr>Task 3 – Upload Code to KestrelSAT</vt:lpstr>
      <vt:lpstr>Task 3A – Reaction Wheel Checkout</vt:lpstr>
      <vt:lpstr>Task 4A – Run Test A</vt:lpstr>
      <vt:lpstr>Task 4B – Run Test B</vt:lpstr>
      <vt:lpstr>Lab Report 2 Guidance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1</cp:revision>
  <cp:lastPrinted>2025-08-01T16:37:26Z</cp:lastPrinted>
  <dcterms:created xsi:type="dcterms:W3CDTF">2025-07-17T17:53:42Z</dcterms:created>
  <dcterms:modified xsi:type="dcterms:W3CDTF">2026-03-04T16:23:26Z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