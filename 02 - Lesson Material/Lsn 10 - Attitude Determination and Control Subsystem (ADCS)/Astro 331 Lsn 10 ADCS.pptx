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51"/>
  </p:notesMasterIdLst>
  <p:sldIdLst>
    <p:sldId id="256" r:id="rId5"/>
    <p:sldId id="258" r:id="rId6"/>
    <p:sldId id="280" r:id="rId7"/>
    <p:sldId id="272" r:id="rId8"/>
    <p:sldId id="278" r:id="rId9"/>
    <p:sldId id="259" r:id="rId10"/>
    <p:sldId id="260" r:id="rId11"/>
    <p:sldId id="279" r:id="rId12"/>
    <p:sldId id="283" r:id="rId13"/>
    <p:sldId id="341" r:id="rId14"/>
    <p:sldId id="281" r:id="rId15"/>
    <p:sldId id="285" r:id="rId16"/>
    <p:sldId id="282" r:id="rId17"/>
    <p:sldId id="284" r:id="rId18"/>
    <p:sldId id="261" r:id="rId19"/>
    <p:sldId id="286" r:id="rId20"/>
    <p:sldId id="320" r:id="rId21"/>
    <p:sldId id="322" r:id="rId22"/>
    <p:sldId id="321" r:id="rId23"/>
    <p:sldId id="323" r:id="rId24"/>
    <p:sldId id="262" r:id="rId25"/>
    <p:sldId id="348" r:id="rId26"/>
    <p:sldId id="273" r:id="rId27"/>
    <p:sldId id="342" r:id="rId28"/>
    <p:sldId id="343" r:id="rId29"/>
    <p:sldId id="344" r:id="rId30"/>
    <p:sldId id="345" r:id="rId31"/>
    <p:sldId id="266" r:id="rId32"/>
    <p:sldId id="347" r:id="rId33"/>
    <p:sldId id="271" r:id="rId34"/>
    <p:sldId id="274" r:id="rId35"/>
    <p:sldId id="326" r:id="rId36"/>
    <p:sldId id="327" r:id="rId37"/>
    <p:sldId id="328" r:id="rId38"/>
    <p:sldId id="329" r:id="rId39"/>
    <p:sldId id="346" r:id="rId40"/>
    <p:sldId id="332" r:id="rId41"/>
    <p:sldId id="336" r:id="rId42"/>
    <p:sldId id="333" r:id="rId43"/>
    <p:sldId id="334" r:id="rId44"/>
    <p:sldId id="335" r:id="rId45"/>
    <p:sldId id="337" r:id="rId46"/>
    <p:sldId id="338" r:id="rId47"/>
    <p:sldId id="339" r:id="rId48"/>
    <p:sldId id="349" r:id="rId49"/>
    <p:sldId id="330" r:id="rId50"/>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ECD24B-2D39-43CF-97EC-6B0D18EB9C78}" v="38" dt="2026-02-24T02:43:14.4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6" autoAdjust="0"/>
    <p:restoredTop sz="82203" autoAdjust="0"/>
  </p:normalViewPr>
  <p:slideViewPr>
    <p:cSldViewPr snapToGrid="0">
      <p:cViewPr varScale="1">
        <p:scale>
          <a:sx n="79" d="100"/>
          <a:sy n="79" d="100"/>
        </p:scale>
        <p:origin x="2538"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custSel addSld delSld modSld">
      <pc:chgData name="Harris, Wyatt J Lt Col USAF USAFA DF/DFAS" userId="768bfb95-c272-4014-8fa2-010c15306053" providerId="ADAL" clId="{E18DAD13-4A53-44B8-9F3F-46E167733190}" dt="2026-02-23T17:34:26.718" v="101" actId="20577"/>
      <pc:docMkLst>
        <pc:docMk/>
      </pc:docMkLst>
      <pc:sldChg chg="modSp">
        <pc:chgData name="Harris, Wyatt J Lt Col USAF USAFA DF/DFAS" userId="768bfb95-c272-4014-8fa2-010c15306053" providerId="ADAL" clId="{E18DAD13-4A53-44B8-9F3F-46E167733190}" dt="2026-02-19T15:31:52.214" v="21" actId="20577"/>
        <pc:sldMkLst>
          <pc:docMk/>
          <pc:sldMk cId="900791986" sldId="272"/>
        </pc:sldMkLst>
        <pc:spChg chg="mod">
          <ac:chgData name="Harris, Wyatt J Lt Col USAF USAFA DF/DFAS" userId="768bfb95-c272-4014-8fa2-010c15306053" providerId="ADAL" clId="{E18DAD13-4A53-44B8-9F3F-46E167733190}" dt="2026-02-19T15:31:52.214" v="21" actId="20577"/>
          <ac:spMkLst>
            <pc:docMk/>
            <pc:sldMk cId="900791986" sldId="272"/>
            <ac:spMk id="3" creationId="{A1A0F096-7D4E-C05C-B89F-AF01413EC6D7}"/>
          </ac:spMkLst>
        </pc:spChg>
      </pc:sldChg>
      <pc:sldChg chg="modNotesTx">
        <pc:chgData name="Harris, Wyatt J Lt Col USAF USAFA DF/DFAS" userId="768bfb95-c272-4014-8fa2-010c15306053" providerId="ADAL" clId="{E18DAD13-4A53-44B8-9F3F-46E167733190}" dt="2026-02-19T15:35:14.530" v="95" actId="20577"/>
        <pc:sldMkLst>
          <pc:docMk/>
          <pc:sldMk cId="3698082192" sldId="278"/>
        </pc:sldMkLst>
      </pc:sldChg>
      <pc:sldChg chg="modSp mod">
        <pc:chgData name="Harris, Wyatt J Lt Col USAF USAFA DF/DFAS" userId="768bfb95-c272-4014-8fa2-010c15306053" providerId="ADAL" clId="{E18DAD13-4A53-44B8-9F3F-46E167733190}" dt="2026-02-23T17:34:26.718" v="101" actId="20577"/>
        <pc:sldMkLst>
          <pc:docMk/>
          <pc:sldMk cId="2540340010" sldId="322"/>
        </pc:sldMkLst>
        <pc:spChg chg="mod">
          <ac:chgData name="Harris, Wyatt J Lt Col USAF USAFA DF/DFAS" userId="768bfb95-c272-4014-8fa2-010c15306053" providerId="ADAL" clId="{E18DAD13-4A53-44B8-9F3F-46E167733190}" dt="2026-02-23T17:34:26.718" v="101" actId="20577"/>
          <ac:spMkLst>
            <pc:docMk/>
            <pc:sldMk cId="2540340010" sldId="322"/>
            <ac:spMk id="5" creationId="{852CF08C-C382-9EAD-BFA1-AE29696FEE9B}"/>
          </ac:spMkLst>
        </pc:spChg>
      </pc:sldChg>
      <pc:sldChg chg="add">
        <pc:chgData name="Harris, Wyatt J Lt Col USAF USAFA DF/DFAS" userId="768bfb95-c272-4014-8fa2-010c15306053" providerId="ADAL" clId="{E18DAD13-4A53-44B8-9F3F-46E167733190}" dt="2026-02-18T15:35:14.071" v="1"/>
        <pc:sldMkLst>
          <pc:docMk/>
          <pc:sldMk cId="1859066697" sldId="328"/>
        </pc:sldMkLst>
      </pc:sldChg>
      <pc:sldChg chg="add">
        <pc:chgData name="Harris, Wyatt J Lt Col USAF USAFA DF/DFAS" userId="768bfb95-c272-4014-8fa2-010c15306053" providerId="ADAL" clId="{E18DAD13-4A53-44B8-9F3F-46E167733190}" dt="2026-02-18T15:35:14.071" v="1"/>
        <pc:sldMkLst>
          <pc:docMk/>
          <pc:sldMk cId="1571926019" sldId="329"/>
        </pc:sldMkLst>
      </pc:sldChg>
      <pc:sldChg chg="add">
        <pc:chgData name="Harris, Wyatt J Lt Col USAF USAFA DF/DFAS" userId="768bfb95-c272-4014-8fa2-010c15306053" providerId="ADAL" clId="{E18DAD13-4A53-44B8-9F3F-46E167733190}" dt="2026-02-18T15:35:14.071" v="1"/>
        <pc:sldMkLst>
          <pc:docMk/>
          <pc:sldMk cId="1602158398" sldId="330"/>
        </pc:sldMkLst>
      </pc:sldChg>
    </pc:docChg>
  </pc:docChgLst>
  <pc:docChgLst>
    <pc:chgData name="Harris, Wyatt J Lt Col USAF USAFA DF/DFAS" userId="768bfb95-c272-4014-8fa2-010c15306053" providerId="ADAL" clId="{95571437-1CDD-49A9-9F44-9267EE8F1204}"/>
    <pc:docChg chg="custSel addSld delSld modSld">
      <pc:chgData name="Harris, Wyatt J Lt Col USAF USAFA DF/DFAS" userId="768bfb95-c272-4014-8fa2-010c15306053" providerId="ADAL" clId="{95571437-1CDD-49A9-9F44-9267EE8F1204}" dt="2026-02-24T02:43:55.439" v="84" actId="20577"/>
      <pc:docMkLst>
        <pc:docMk/>
      </pc:docMkLst>
      <pc:sldChg chg="modSp">
        <pc:chgData name="Harris, Wyatt J Lt Col USAF USAFA DF/DFAS" userId="768bfb95-c272-4014-8fa2-010c15306053" providerId="ADAL" clId="{95571437-1CDD-49A9-9F44-9267EE8F1204}" dt="2026-02-23T05:01:22.550" v="30" actId="114"/>
        <pc:sldMkLst>
          <pc:docMk/>
          <pc:sldMk cId="2317864500" sldId="273"/>
        </pc:sldMkLst>
        <pc:spChg chg="mod">
          <ac:chgData name="Harris, Wyatt J Lt Col USAF USAFA DF/DFAS" userId="768bfb95-c272-4014-8fa2-010c15306053" providerId="ADAL" clId="{95571437-1CDD-49A9-9F44-9267EE8F1204}" dt="2026-02-23T05:01:22.550" v="30" actId="114"/>
          <ac:spMkLst>
            <pc:docMk/>
            <pc:sldMk cId="2317864500" sldId="273"/>
            <ac:spMk id="3" creationId="{39E5DBE8-BFC5-4F5B-7E67-C47E2AA7544C}"/>
          </ac:spMkLst>
        </pc:spChg>
      </pc:sldChg>
      <pc:sldChg chg="modSp">
        <pc:chgData name="Harris, Wyatt J Lt Col USAF USAFA DF/DFAS" userId="768bfb95-c272-4014-8fa2-010c15306053" providerId="ADAL" clId="{95571437-1CDD-49A9-9F44-9267EE8F1204}" dt="2026-02-23T04:49:45.634" v="4" actId="20577"/>
        <pc:sldMkLst>
          <pc:docMk/>
          <pc:sldMk cId="3426050040" sldId="320"/>
        </pc:sldMkLst>
        <pc:spChg chg="mod">
          <ac:chgData name="Harris, Wyatt J Lt Col USAF USAFA DF/DFAS" userId="768bfb95-c272-4014-8fa2-010c15306053" providerId="ADAL" clId="{95571437-1CDD-49A9-9F44-9267EE8F1204}" dt="2026-02-23T04:49:45.634" v="4" actId="20577"/>
          <ac:spMkLst>
            <pc:docMk/>
            <pc:sldMk cId="3426050040" sldId="320"/>
            <ac:spMk id="8" creationId="{00000000-0000-0000-0000-000000000000}"/>
          </ac:spMkLst>
        </pc:spChg>
      </pc:sldChg>
      <pc:sldChg chg="addSp modSp mod">
        <pc:chgData name="Harris, Wyatt J Lt Col USAF USAFA DF/DFAS" userId="768bfb95-c272-4014-8fa2-010c15306053" providerId="ADAL" clId="{95571437-1CDD-49A9-9F44-9267EE8F1204}" dt="2026-02-23T04:53:40.127" v="29" actId="207"/>
        <pc:sldMkLst>
          <pc:docMk/>
          <pc:sldMk cId="2540340010" sldId="322"/>
        </pc:sldMkLst>
        <pc:spChg chg="mod">
          <ac:chgData name="Harris, Wyatt J Lt Col USAF USAFA DF/DFAS" userId="768bfb95-c272-4014-8fa2-010c15306053" providerId="ADAL" clId="{95571437-1CDD-49A9-9F44-9267EE8F1204}" dt="2026-02-23T04:52:23.957" v="16" actId="404"/>
          <ac:spMkLst>
            <pc:docMk/>
            <pc:sldMk cId="2540340010" sldId="322"/>
            <ac:spMk id="3" creationId="{00000000-0000-0000-0000-000000000000}"/>
          </ac:spMkLst>
        </pc:spChg>
        <pc:spChg chg="add mod">
          <ac:chgData name="Harris, Wyatt J Lt Col USAF USAFA DF/DFAS" userId="768bfb95-c272-4014-8fa2-010c15306053" providerId="ADAL" clId="{95571437-1CDD-49A9-9F44-9267EE8F1204}" dt="2026-02-23T04:53:40.127" v="29" actId="207"/>
          <ac:spMkLst>
            <pc:docMk/>
            <pc:sldMk cId="2540340010" sldId="322"/>
            <ac:spMk id="5" creationId="{852CF08C-C382-9EAD-BFA1-AE29696FEE9B}"/>
          </ac:spMkLst>
        </pc:spChg>
      </pc:sldChg>
      <pc:sldChg chg="modSp mod">
        <pc:chgData name="Harris, Wyatt J Lt Col USAF USAFA DF/DFAS" userId="768bfb95-c272-4014-8fa2-010c15306053" providerId="ADAL" clId="{95571437-1CDD-49A9-9F44-9267EE8F1204}" dt="2026-02-24T02:43:55.439" v="84" actId="20577"/>
        <pc:sldMkLst>
          <pc:docMk/>
          <pc:sldMk cId="3337258119" sldId="327"/>
        </pc:sldMkLst>
        <pc:spChg chg="mod">
          <ac:chgData name="Harris, Wyatt J Lt Col USAF USAFA DF/DFAS" userId="768bfb95-c272-4014-8fa2-010c15306053" providerId="ADAL" clId="{95571437-1CDD-49A9-9F44-9267EE8F1204}" dt="2026-02-24T02:43:55.439" v="84" actId="20577"/>
          <ac:spMkLst>
            <pc:docMk/>
            <pc:sldMk cId="3337258119" sldId="327"/>
            <ac:spMk id="3" creationId="{00000000-0000-0000-0000-000000000000}"/>
          </ac:spMkLst>
        </pc:spChg>
      </pc:sldChg>
      <pc:sldChg chg="add">
        <pc:chgData name="Harris, Wyatt J Lt Col USAF USAFA DF/DFAS" userId="768bfb95-c272-4014-8fa2-010c15306053" providerId="ADAL" clId="{95571437-1CDD-49A9-9F44-9267EE8F1204}" dt="2026-02-24T02:43:14.469" v="59"/>
        <pc:sldMkLst>
          <pc:docMk/>
          <pc:sldMk cId="1073915443" sldId="330"/>
        </pc:sldMkLst>
      </pc:sldChg>
      <pc:sldChg chg="del">
        <pc:chgData name="Harris, Wyatt J Lt Col USAF USAFA DF/DFAS" userId="768bfb95-c272-4014-8fa2-010c15306053" providerId="ADAL" clId="{95571437-1CDD-49A9-9F44-9267EE8F1204}" dt="2026-02-24T02:43:11.454" v="58" actId="2696"/>
        <pc:sldMkLst>
          <pc:docMk/>
          <pc:sldMk cId="1602158398" sldId="330"/>
        </pc:sldMkLst>
      </pc:sldChg>
      <pc:sldChg chg="modSp mod">
        <pc:chgData name="Harris, Wyatt J Lt Col USAF USAFA DF/DFAS" userId="768bfb95-c272-4014-8fa2-010c15306053" providerId="ADAL" clId="{95571437-1CDD-49A9-9F44-9267EE8F1204}" dt="2026-02-23T05:09:30.188" v="56" actId="1076"/>
        <pc:sldMkLst>
          <pc:docMk/>
          <pc:sldMk cId="605942083" sldId="337"/>
        </pc:sldMkLst>
        <pc:spChg chg="mod">
          <ac:chgData name="Harris, Wyatt J Lt Col USAF USAFA DF/DFAS" userId="768bfb95-c272-4014-8fa2-010c15306053" providerId="ADAL" clId="{95571437-1CDD-49A9-9F44-9267EE8F1204}" dt="2026-02-23T05:09:30.188" v="56" actId="1076"/>
          <ac:spMkLst>
            <pc:docMk/>
            <pc:sldMk cId="605942083" sldId="337"/>
            <ac:spMk id="2" creationId="{00000000-0000-0000-0000-000000000000}"/>
          </ac:spMkLst>
        </pc:spChg>
      </pc:sldChg>
      <pc:sldChg chg="del">
        <pc:chgData name="Harris, Wyatt J Lt Col USAF USAFA DF/DFAS" userId="768bfb95-c272-4014-8fa2-010c15306053" providerId="ADAL" clId="{95571437-1CDD-49A9-9F44-9267EE8F1204}" dt="2026-02-23T05:09:38.171" v="57" actId="47"/>
        <pc:sldMkLst>
          <pc:docMk/>
          <pc:sldMk cId="3674397516" sldId="340"/>
        </pc:sldMkLst>
      </pc:sldChg>
      <pc:sldChg chg="modSp">
        <pc:chgData name="Harris, Wyatt J Lt Col USAF USAFA DF/DFAS" userId="768bfb95-c272-4014-8fa2-010c15306053" providerId="ADAL" clId="{95571437-1CDD-49A9-9F44-9267EE8F1204}" dt="2026-02-23T05:03:53.101" v="40" actId="20577"/>
        <pc:sldMkLst>
          <pc:docMk/>
          <pc:sldMk cId="1744870164" sldId="344"/>
        </pc:sldMkLst>
        <pc:spChg chg="mod">
          <ac:chgData name="Harris, Wyatt J Lt Col USAF USAFA DF/DFAS" userId="768bfb95-c272-4014-8fa2-010c15306053" providerId="ADAL" clId="{95571437-1CDD-49A9-9F44-9267EE8F1204}" dt="2026-02-23T05:03:53.101" v="40" actId="20577"/>
          <ac:spMkLst>
            <pc:docMk/>
            <pc:sldMk cId="1744870164" sldId="344"/>
            <ac:spMk id="3" creationId="{3D93C9D6-2B6B-E258-80A0-F2A5215331BB}"/>
          </ac:spMkLst>
        </pc:spChg>
      </pc:sldChg>
      <pc:sldChg chg="modSp">
        <pc:chgData name="Harris, Wyatt J Lt Col USAF USAFA DF/DFAS" userId="768bfb95-c272-4014-8fa2-010c15306053" providerId="ADAL" clId="{95571437-1CDD-49A9-9F44-9267EE8F1204}" dt="2026-02-23T05:04:12.726" v="50" actId="20577"/>
        <pc:sldMkLst>
          <pc:docMk/>
          <pc:sldMk cId="2605263238" sldId="345"/>
        </pc:sldMkLst>
        <pc:spChg chg="mod">
          <ac:chgData name="Harris, Wyatt J Lt Col USAF USAFA DF/DFAS" userId="768bfb95-c272-4014-8fa2-010c15306053" providerId="ADAL" clId="{95571437-1CDD-49A9-9F44-9267EE8F1204}" dt="2026-02-23T05:04:12.726" v="50" actId="20577"/>
          <ac:spMkLst>
            <pc:docMk/>
            <pc:sldMk cId="2605263238" sldId="345"/>
            <ac:spMk id="3" creationId="{DA8B9C41-A203-4037-723A-BAAF811BCE20}"/>
          </ac:spMkLst>
        </pc:spChg>
      </pc:sldChg>
      <pc:sldChg chg="modSp mod addAnim delAnim modAnim">
        <pc:chgData name="Harris, Wyatt J Lt Col USAF USAFA DF/DFAS" userId="768bfb95-c272-4014-8fa2-010c15306053" providerId="ADAL" clId="{95571437-1CDD-49A9-9F44-9267EE8F1204}" dt="2026-02-23T05:05:09.025" v="55"/>
        <pc:sldMkLst>
          <pc:docMk/>
          <pc:sldMk cId="3054036471" sldId="347"/>
        </pc:sldMkLst>
        <pc:spChg chg="mod">
          <ac:chgData name="Harris, Wyatt J Lt Col USAF USAFA DF/DFAS" userId="768bfb95-c272-4014-8fa2-010c15306053" providerId="ADAL" clId="{95571437-1CDD-49A9-9F44-9267EE8F1204}" dt="2026-02-23T05:04:46.350" v="51" actId="20577"/>
          <ac:spMkLst>
            <pc:docMk/>
            <pc:sldMk cId="3054036471" sldId="347"/>
            <ac:spMk id="7" creationId="{FB3FE3D8-8680-3DFE-A4FE-A2898610E8D3}"/>
          </ac:spMkLst>
        </pc:spChg>
        <pc:spChg chg="mod">
          <ac:chgData name="Harris, Wyatt J Lt Col USAF USAFA DF/DFAS" userId="768bfb95-c272-4014-8fa2-010c15306053" providerId="ADAL" clId="{95571437-1CDD-49A9-9F44-9267EE8F1204}" dt="2026-02-23T05:04:54.205" v="53" actId="1076"/>
          <ac:spMkLst>
            <pc:docMk/>
            <pc:sldMk cId="3054036471" sldId="347"/>
            <ac:spMk id="8" creationId="{EBFE2D40-72C1-00EE-699C-157A6E62B1C3}"/>
          </ac:spMkLst>
        </pc:spChg>
      </pc:sldChg>
      <pc:sldChg chg="addSp delSp modSp new mod modClrScheme chgLayout">
        <pc:chgData name="Harris, Wyatt J Lt Col USAF USAFA DF/DFAS" userId="768bfb95-c272-4014-8fa2-010c15306053" providerId="ADAL" clId="{95571437-1CDD-49A9-9F44-9267EE8F1204}" dt="2026-02-24T02:43:22.289" v="73" actId="20577"/>
        <pc:sldMkLst>
          <pc:docMk/>
          <pc:sldMk cId="260976623" sldId="349"/>
        </pc:sldMkLst>
        <pc:spChg chg="del mod ord">
          <ac:chgData name="Harris, Wyatt J Lt Col USAF USAFA DF/DFAS" userId="768bfb95-c272-4014-8fa2-010c15306053" providerId="ADAL" clId="{95571437-1CDD-49A9-9F44-9267EE8F1204}" dt="2026-02-24T02:43:18.948" v="61" actId="700"/>
          <ac:spMkLst>
            <pc:docMk/>
            <pc:sldMk cId="260976623" sldId="349"/>
            <ac:spMk id="2" creationId="{CAC59A89-CDD8-F530-BA06-DB21A64339AE}"/>
          </ac:spMkLst>
        </pc:spChg>
        <pc:spChg chg="del mod ord">
          <ac:chgData name="Harris, Wyatt J Lt Col USAF USAFA DF/DFAS" userId="768bfb95-c272-4014-8fa2-010c15306053" providerId="ADAL" clId="{95571437-1CDD-49A9-9F44-9267EE8F1204}" dt="2026-02-24T02:43:18.948" v="61" actId="700"/>
          <ac:spMkLst>
            <pc:docMk/>
            <pc:sldMk cId="260976623" sldId="349"/>
            <ac:spMk id="3" creationId="{FDD2D3E2-A1F1-564D-88AC-A8FEBF3893A0}"/>
          </ac:spMkLst>
        </pc:spChg>
        <pc:spChg chg="mod ord">
          <ac:chgData name="Harris, Wyatt J Lt Col USAF USAFA DF/DFAS" userId="768bfb95-c272-4014-8fa2-010c15306053" providerId="ADAL" clId="{95571437-1CDD-49A9-9F44-9267EE8F1204}" dt="2026-02-24T02:43:18.948" v="61" actId="700"/>
          <ac:spMkLst>
            <pc:docMk/>
            <pc:sldMk cId="260976623" sldId="349"/>
            <ac:spMk id="4" creationId="{95A6E850-1A7F-BE3F-35EA-8CF836B12CA8}"/>
          </ac:spMkLst>
        </pc:spChg>
        <pc:spChg chg="add mod ord">
          <ac:chgData name="Harris, Wyatt J Lt Col USAF USAFA DF/DFAS" userId="768bfb95-c272-4014-8fa2-010c15306053" providerId="ADAL" clId="{95571437-1CDD-49A9-9F44-9267EE8F1204}" dt="2026-02-24T02:43:22.289" v="73" actId="20577"/>
          <ac:spMkLst>
            <pc:docMk/>
            <pc:sldMk cId="260976623" sldId="349"/>
            <ac:spMk id="5" creationId="{A726B4DC-C870-C9E2-9C03-93082217AB3F}"/>
          </ac:spMkLst>
        </pc:spChg>
        <pc:spChg chg="add mod ord">
          <ac:chgData name="Harris, Wyatt J Lt Col USAF USAFA DF/DFAS" userId="768bfb95-c272-4014-8fa2-010c15306053" providerId="ADAL" clId="{95571437-1CDD-49A9-9F44-9267EE8F1204}" dt="2026-02-24T02:43:18.948" v="61" actId="700"/>
          <ac:spMkLst>
            <pc:docMk/>
            <pc:sldMk cId="260976623" sldId="349"/>
            <ac:spMk id="6" creationId="{B72FD69E-4B53-C26F-F213-74C3B6422DC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2/23/2026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https://www.youtube.com/watch?v=jVXgWGK9Kr8</a:t>
            </a:r>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If </a:t>
                </a:r>
                <a:r>
                  <a:rPr lang="en-US" b="1" dirty="0"/>
                  <a:t>no external torque</a:t>
                </a:r>
                <a:r>
                  <a:rPr lang="en-US" dirty="0"/>
                  <a:t> acts (</a:t>
                </a:r>
                <a14:m>
                  <m:oMath xmlns:m="http://schemas.openxmlformats.org/officeDocument/2006/math">
                    <m:sSub>
                      <m:sSubPr>
                        <m:ctrlPr>
                          <a:rPr lang="ar-AE" sz="1200" b="1" i="1" kern="1200">
                            <a:solidFill>
                              <a:schemeClr val="tx1"/>
                            </a:solidFill>
                            <a:latin typeface="Cambria Math" panose="02040503050406030204" pitchFamily="18" charset="0"/>
                            <a:ea typeface="+mn-ea"/>
                            <a:cs typeface="+mn-cs"/>
                          </a:rPr>
                        </m:ctrlPr>
                      </m:sSubPr>
                      <m:e>
                        <m:r>
                          <a:rPr lang="ar-AE" sz="1200" b="1" kern="1200">
                            <a:solidFill>
                              <a:schemeClr val="tx1"/>
                            </a:solidFill>
                            <a:latin typeface="Cambria Math" panose="02040503050406030204" pitchFamily="18" charset="0"/>
                            <a:ea typeface="+mn-ea"/>
                            <a:cs typeface="+mn-cs"/>
                          </a:rPr>
                          <m:t>𝐓</m:t>
                        </m:r>
                      </m:e>
                      <m:sub>
                        <m:r>
                          <m:rPr>
                            <m:nor/>
                          </m:rPr>
                          <a:rPr lang="en-US" sz="1200" b="0" i="1" kern="1200">
                            <a:solidFill>
                              <a:schemeClr val="tx1"/>
                            </a:solidFill>
                            <a:latin typeface="+mn-lt"/>
                            <a:ea typeface="+mn-ea"/>
                            <a:cs typeface="+mn-cs"/>
                          </a:rPr>
                          <m:t>ext</m:t>
                        </m:r>
                      </m:sub>
                    </m:sSub>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oMath>
                </a14:m>
                <a:r>
                  <a:rPr lang="en-US" dirty="0"/>
                  <a:t>):</a:t>
                </a:r>
                <a:endParaRPr lang="ar-AE" dirty="0"/>
              </a:p>
              <a:p>
                <a:pPr lvl="1"/>
                <a:r>
                  <a:rPr lang="en-US" dirty="0"/>
                  <a:t>Angular momentum is </a:t>
                </a:r>
                <a:r>
                  <a:rPr lang="en-US" b="1" dirty="0"/>
                  <a:t>conserved</a:t>
                </a:r>
                <a:r>
                  <a:rPr lang="en-US" dirty="0"/>
                  <a:t>.</a:t>
                </a:r>
              </a:p>
              <a:p>
                <a:pPr lvl="1"/>
                <a:r>
                  <a:rPr lang="en-US" dirty="0"/>
                  <a:t>A spacecraft will keep spinning at the same rate and orientation (principle of gyroscopic motion).</a:t>
                </a:r>
              </a:p>
              <a:p>
                <a:r>
                  <a:rPr lang="en-US" dirty="0"/>
                  <a:t>If external torques </a:t>
                </a:r>
                <a:r>
                  <a:rPr lang="en-US" b="1" dirty="0"/>
                  <a:t>do act</a:t>
                </a:r>
                <a:r>
                  <a:rPr lang="en-US" dirty="0"/>
                  <a:t> (gravity gradient, solar pressure, thrusters, magnetic torquers):</a:t>
                </a:r>
              </a:p>
              <a:p>
                <a:pPr lvl="1"/>
                <a:r>
                  <a:rPr lang="en-US" dirty="0"/>
                  <a:t>They change the spacecraft’s angular momentum.</a:t>
                </a:r>
              </a:p>
              <a:p>
                <a:pPr lvl="1"/>
                <a:r>
                  <a:rPr lang="en-US" dirty="0"/>
                  <a:t>This is the basis of </a:t>
                </a:r>
                <a:r>
                  <a:rPr lang="en-US" b="1" dirty="0"/>
                  <a:t>attitude control</a:t>
                </a:r>
                <a:r>
                  <a:rPr lang="en-US" dirty="0"/>
                  <a:t> — actuators apply torques to adjust orientation.</a:t>
                </a:r>
              </a:p>
              <a:p>
                <a:endParaRPr lang="en-US" dirty="0"/>
              </a:p>
            </p:txBody>
          </p:sp>
        </mc:Choice>
        <mc:Fallback xmlns="">
          <p:sp>
            <p:nvSpPr>
              <p:cNvPr id="3" name="Notes Placeholder 2"/>
              <p:cNvSpPr>
                <a:spLocks noGrp="1"/>
              </p:cNvSpPr>
              <p:nvPr>
                <p:ph type="body" idx="1"/>
              </p:nvPr>
            </p:nvSpPr>
            <p:spPr/>
            <p:txBody>
              <a:bodyPr/>
              <a:lstStyle/>
              <a:p>
                <a:r>
                  <a:rPr lang="en-US" dirty="0"/>
                  <a:t>If </a:t>
                </a:r>
                <a:r>
                  <a:rPr lang="en-US" b="1" dirty="0"/>
                  <a:t>no external torque</a:t>
                </a:r>
                <a:r>
                  <a:rPr lang="en-US" dirty="0"/>
                  <a:t> acts (</a:t>
                </a:r>
                <a:r>
                  <a:rPr lang="ar-AE" sz="1200" b="1" i="0" kern="1200">
                    <a:solidFill>
                      <a:schemeClr val="tx1"/>
                    </a:solidFill>
                    <a:latin typeface="+mn-lt"/>
                    <a:ea typeface="+mn-ea"/>
                    <a:cs typeface="+mn-cs"/>
                  </a:rPr>
                  <a:t>𝐓_</a:t>
                </a:r>
                <a:r>
                  <a:rPr lang="en-US" sz="1200" b="0" i="0" kern="1200">
                    <a:solidFill>
                      <a:schemeClr val="tx1"/>
                    </a:solidFill>
                    <a:latin typeface="+mn-lt"/>
                    <a:ea typeface="+mn-ea"/>
                    <a:cs typeface="+mn-cs"/>
                  </a:rPr>
                  <a:t>"ext</a:t>
                </a:r>
                <a:r>
                  <a:rPr lang="ar-AE" sz="1200" b="1" i="0" kern="1200">
                    <a:solidFill>
                      <a:schemeClr val="tx1"/>
                    </a:solidFill>
                    <a:latin typeface="+mn-lt"/>
                    <a:ea typeface="+mn-ea"/>
                    <a:cs typeface="+mn-cs"/>
                  </a:rPr>
                  <a:t>" </a:t>
                </a:r>
                <a:r>
                  <a:rPr lang="ar-AE" sz="1200" b="0" i="0" kern="1200">
                    <a:solidFill>
                      <a:schemeClr val="tx1"/>
                    </a:solidFill>
                    <a:latin typeface="+mn-lt"/>
                    <a:ea typeface="+mn-ea"/>
                    <a:cs typeface="+mn-cs"/>
                  </a:rPr>
                  <a:t>=0</a:t>
                </a:r>
                <a:r>
                  <a:rPr lang="en-US" dirty="0"/>
                  <a:t>):</a:t>
                </a:r>
                <a:endParaRPr lang="ar-AE" dirty="0"/>
              </a:p>
              <a:p>
                <a:pPr lvl="1"/>
                <a:r>
                  <a:rPr lang="en-US" dirty="0"/>
                  <a:t>Angular momentum is </a:t>
                </a:r>
                <a:r>
                  <a:rPr lang="en-US" b="1" dirty="0"/>
                  <a:t>conserved</a:t>
                </a:r>
                <a:r>
                  <a:rPr lang="en-US" dirty="0"/>
                  <a:t>.</a:t>
                </a:r>
              </a:p>
              <a:p>
                <a:pPr lvl="1"/>
                <a:r>
                  <a:rPr lang="en-US" dirty="0"/>
                  <a:t>A spacecraft will keep spinning at the same rate and orientation (principle of gyroscopic motion).</a:t>
                </a:r>
              </a:p>
              <a:p>
                <a:r>
                  <a:rPr lang="en-US" dirty="0"/>
                  <a:t>If external torques </a:t>
                </a:r>
                <a:r>
                  <a:rPr lang="en-US" b="1" dirty="0"/>
                  <a:t>do act</a:t>
                </a:r>
                <a:r>
                  <a:rPr lang="en-US" dirty="0"/>
                  <a:t> (gravity gradient, solar pressure, thrusters, magnetic torquers):</a:t>
                </a:r>
              </a:p>
              <a:p>
                <a:pPr lvl="1"/>
                <a:r>
                  <a:rPr lang="en-US" dirty="0"/>
                  <a:t>They change the spacecraft’s angular momentum.</a:t>
                </a:r>
              </a:p>
              <a:p>
                <a:pPr lvl="1"/>
                <a:r>
                  <a:rPr lang="en-US" dirty="0"/>
                  <a:t>This is the basis of </a:t>
                </a:r>
                <a:r>
                  <a:rPr lang="en-US" b="1" dirty="0"/>
                  <a:t>attitude control</a:t>
                </a:r>
                <a:r>
                  <a:rPr lang="en-US" dirty="0"/>
                  <a:t> — actuators apply torques to adjust orientation.</a:t>
                </a:r>
              </a:p>
              <a:p>
                <a:r>
                  <a:rPr lang="en-US" dirty="0"/>
                  <a:t>The cross-coupling terms </a:t>
                </a:r>
                <a:r>
                  <a:rPr lang="ar-AE" sz="1200" i="0" kern="1200">
                    <a:solidFill>
                      <a:schemeClr val="tx1"/>
                    </a:solidFill>
                    <a:latin typeface="+mn-lt"/>
                    <a:ea typeface="+mn-ea"/>
                    <a:cs typeface="+mn-cs"/>
                  </a:rPr>
                  <a:t>(𝐼_𝑦−𝐼_𝑧 ) 𝜔_𝑦 𝜔_𝑧</a:t>
                </a:r>
                <a:r>
                  <a:rPr lang="en-US" dirty="0"/>
                  <a:t>etc. show that </a:t>
                </a:r>
                <a:r>
                  <a:rPr lang="en-US" b="1" dirty="0"/>
                  <a:t>rotation about one axis affects the others</a:t>
                </a:r>
                <a:r>
                  <a:rPr lang="en-US" dirty="0"/>
                  <a:t> unless the spacecraft is perfectly symmetric. This explains why asymmetric satellites can </a:t>
                </a:r>
                <a:r>
                  <a:rPr lang="en-US" b="1" dirty="0"/>
                  <a:t>tumble unpredictably</a:t>
                </a:r>
                <a:r>
                  <a:rPr lang="en-US" dirty="0"/>
                  <a:t> if not controlled.</a:t>
                </a:r>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4</a:t>
            </a:fld>
            <a:endParaRPr lang="en-US"/>
          </a:p>
        </p:txBody>
      </p:sp>
    </p:spTree>
    <p:extLst>
      <p:ext uri="{BB962C8B-B14F-4D97-AF65-F5344CB8AC3E}">
        <p14:creationId xmlns:p14="http://schemas.microsoft.com/office/powerpoint/2010/main" val="1560412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First order ODE</a:t>
                </a:r>
              </a:p>
              <a:p>
                <a:r>
                  <a:rPr lang="en-US" dirty="0"/>
                  <a:t>Coupled</a:t>
                </a:r>
              </a:p>
              <a:p>
                <a:r>
                  <a:rPr lang="en-US" dirty="0"/>
                  <a:t>Nonlinear</a:t>
                </a:r>
              </a:p>
              <a:p>
                <a:r>
                  <a:rPr lang="en-US" dirty="0"/>
                  <a:t>Nonhomogeneous (if T not equal 0)</a:t>
                </a:r>
              </a:p>
              <a:p>
                <a:endParaRPr lang="en-US" dirty="0"/>
              </a:p>
              <a:p>
                <a:endParaRPr lang="en-US" dirty="0"/>
              </a:p>
              <a:p>
                <a:pPr marL="0" marR="0" lvl="0" indent="0" algn="l" defTabSz="914315" rtl="0" eaLnBrk="1" fontAlgn="auto" latinLnBrk="0" hangingPunct="1">
                  <a:lnSpc>
                    <a:spcPct val="100000"/>
                  </a:lnSpc>
                  <a:spcBef>
                    <a:spcPts val="0"/>
                  </a:spcBef>
                  <a:spcAft>
                    <a:spcPts val="0"/>
                  </a:spcAft>
                  <a:buClrTx/>
                  <a:buSzTx/>
                  <a:buFontTx/>
                  <a:buNone/>
                  <a:tabLst/>
                  <a:defRPr/>
                </a:pPr>
                <a:r>
                  <a:rPr lang="en-US" dirty="0"/>
                  <a:t>The cross-coupling terms </a:t>
                </a:r>
                <a14:m>
                  <m:oMath xmlns:m="http://schemas.openxmlformats.org/officeDocument/2006/math">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𝐼</m:t>
                            </m:r>
                          </m:e>
                          <m:sub>
                            <m:r>
                              <a:rPr lang="ar-AE" sz="1200" i="1" kern="1200">
                                <a:solidFill>
                                  <a:schemeClr val="tx1"/>
                                </a:solidFill>
                                <a:latin typeface="Cambria Math" panose="02040503050406030204" pitchFamily="18" charset="0"/>
                                <a:ea typeface="+mn-ea"/>
                                <a:cs typeface="+mn-cs"/>
                              </a:rPr>
                              <m:t>𝑦</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𝐼</m:t>
                            </m:r>
                          </m:e>
                          <m:sub>
                            <m:r>
                              <a:rPr lang="ar-AE" sz="1200" i="1" kern="1200">
                                <a:solidFill>
                                  <a:schemeClr val="tx1"/>
                                </a:solidFill>
                                <a:latin typeface="Cambria Math" panose="02040503050406030204" pitchFamily="18" charset="0"/>
                                <a:ea typeface="+mn-ea"/>
                                <a:cs typeface="+mn-cs"/>
                              </a:rPr>
                              <m:t>𝑧</m:t>
                            </m:r>
                          </m:sub>
                        </m:sSub>
                      </m:e>
                    </m:d>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𝜔</m:t>
                        </m:r>
                      </m:e>
                      <m:sub>
                        <m:r>
                          <a:rPr lang="ar-AE" sz="1200" i="1" kern="1200">
                            <a:solidFill>
                              <a:schemeClr val="tx1"/>
                            </a:solidFill>
                            <a:latin typeface="Cambria Math" panose="02040503050406030204" pitchFamily="18" charset="0"/>
                            <a:ea typeface="+mn-ea"/>
                            <a:cs typeface="+mn-cs"/>
                          </a:rPr>
                          <m:t>𝑦</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𝜔</m:t>
                        </m:r>
                      </m:e>
                      <m:sub>
                        <m:r>
                          <a:rPr lang="ar-AE" sz="1200" i="1" kern="1200">
                            <a:solidFill>
                              <a:schemeClr val="tx1"/>
                            </a:solidFill>
                            <a:latin typeface="Cambria Math" panose="02040503050406030204" pitchFamily="18" charset="0"/>
                            <a:ea typeface="+mn-ea"/>
                            <a:cs typeface="+mn-cs"/>
                          </a:rPr>
                          <m:t>𝑧</m:t>
                        </m:r>
                      </m:sub>
                    </m:sSub>
                  </m:oMath>
                </a14:m>
                <a:r>
                  <a:rPr lang="en-US" dirty="0"/>
                  <a:t>etc. show that </a:t>
                </a:r>
                <a:r>
                  <a:rPr lang="en-US" b="1" dirty="0"/>
                  <a:t>rotation about one axis affects the others</a:t>
                </a:r>
                <a:r>
                  <a:rPr lang="en-US" dirty="0"/>
                  <a:t> unless the spacecraft is perfectly symmetric. This explains why asymmetric satellites can </a:t>
                </a:r>
                <a:r>
                  <a:rPr lang="en-US" b="1" dirty="0"/>
                  <a:t>tumble unpredictably</a:t>
                </a:r>
                <a:r>
                  <a:rPr lang="en-US" dirty="0"/>
                  <a:t> if not controlled.</a:t>
                </a:r>
              </a:p>
              <a:p>
                <a:endParaRPr lang="en-US" dirty="0"/>
              </a:p>
            </p:txBody>
          </p:sp>
        </mc:Choice>
        <mc:Fallback xmlns="">
          <p:sp>
            <p:nvSpPr>
              <p:cNvPr id="3" name="Notes Placeholder 2"/>
              <p:cNvSpPr>
                <a:spLocks noGrp="1"/>
              </p:cNvSpPr>
              <p:nvPr>
                <p:ph type="body" idx="1"/>
              </p:nvPr>
            </p:nvSpPr>
            <p:spPr/>
            <p:txBody>
              <a:bodyPr/>
              <a:lstStyle/>
              <a:p>
                <a:r>
                  <a:rPr lang="en-US" dirty="0"/>
                  <a:t>First order ODE</a:t>
                </a:r>
              </a:p>
              <a:p>
                <a:r>
                  <a:rPr lang="en-US" dirty="0"/>
                  <a:t>Coupled</a:t>
                </a:r>
              </a:p>
              <a:p>
                <a:r>
                  <a:rPr lang="en-US" dirty="0"/>
                  <a:t>Nonlinear</a:t>
                </a:r>
              </a:p>
              <a:p>
                <a:r>
                  <a:rPr lang="en-US" dirty="0"/>
                  <a:t>Nonhomogeneous (if T not equal 0)</a:t>
                </a:r>
              </a:p>
              <a:p>
                <a:endParaRPr lang="en-US" dirty="0"/>
              </a:p>
              <a:p>
                <a:endParaRPr lang="en-US" dirty="0"/>
              </a:p>
              <a:p>
                <a:pPr marL="0" marR="0" lvl="0" indent="0" algn="l" defTabSz="914315" rtl="0" eaLnBrk="1" fontAlgn="auto" latinLnBrk="0" hangingPunct="1">
                  <a:lnSpc>
                    <a:spcPct val="100000"/>
                  </a:lnSpc>
                  <a:spcBef>
                    <a:spcPts val="0"/>
                  </a:spcBef>
                  <a:spcAft>
                    <a:spcPts val="0"/>
                  </a:spcAft>
                  <a:buClrTx/>
                  <a:buSzTx/>
                  <a:buFontTx/>
                  <a:buNone/>
                  <a:tabLst/>
                  <a:defRPr/>
                </a:pPr>
                <a:r>
                  <a:rPr lang="en-US" dirty="0"/>
                  <a:t>The cross-coupling terms </a:t>
                </a:r>
                <a:r>
                  <a:rPr lang="ar-AE" sz="1200" i="0" kern="1200">
                    <a:solidFill>
                      <a:schemeClr val="tx1"/>
                    </a:solidFill>
                    <a:latin typeface="Cambria Math" panose="02040503050406030204" pitchFamily="18" charset="0"/>
                    <a:ea typeface="+mn-ea"/>
                    <a:cs typeface="+mn-cs"/>
                  </a:rPr>
                  <a:t>(𝐼_𝑦−𝐼_𝑧 ) 𝜔_𝑦 𝜔_𝑧</a:t>
                </a:r>
                <a:r>
                  <a:rPr lang="en-US" dirty="0"/>
                  <a:t>etc. show that </a:t>
                </a:r>
                <a:r>
                  <a:rPr lang="en-US" b="1" dirty="0"/>
                  <a:t>rotation about one axis affects the others</a:t>
                </a:r>
                <a:r>
                  <a:rPr lang="en-US" dirty="0"/>
                  <a:t> unless the spacecraft is perfectly symmetric. This explains why asymmetric satellites can </a:t>
                </a:r>
                <a:r>
                  <a:rPr lang="en-US" b="1" dirty="0"/>
                  <a:t>tumble unpredictably</a:t>
                </a:r>
                <a:r>
                  <a:rPr lang="en-US" dirty="0"/>
                  <a:t> if not controlled.</a:t>
                </a:r>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5</a:t>
            </a:fld>
            <a:endParaRPr lang="en-US"/>
          </a:p>
        </p:txBody>
      </p:sp>
    </p:spTree>
    <p:extLst>
      <p:ext uri="{BB962C8B-B14F-4D97-AF65-F5344CB8AC3E}">
        <p14:creationId xmlns:p14="http://schemas.microsoft.com/office/powerpoint/2010/main" val="1893173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Gravity Gradient Torque</a:t>
            </a:r>
          </a:p>
          <a:p>
            <a:r>
              <a:rPr lang="en-US" dirty="0"/>
              <a:t>Caused by Earth’s non-uniform gravity field acting on different parts of the spacecraft.</a:t>
            </a:r>
          </a:p>
          <a:p>
            <a:r>
              <a:rPr lang="en-US" dirty="0"/>
              <a:t>Stronger in low Earth orbit (LEO).</a:t>
            </a:r>
          </a:p>
          <a:p>
            <a:r>
              <a:rPr lang="en-US" dirty="0"/>
              <a:t>Tends to align the spacecraft’s long axis with Earth’s center.</a:t>
            </a:r>
          </a:p>
          <a:p>
            <a:endParaRPr lang="en-US" dirty="0"/>
          </a:p>
          <a:p>
            <a:r>
              <a:rPr lang="en-US" b="1" dirty="0"/>
              <a:t>Magnetic Torque</a:t>
            </a:r>
          </a:p>
          <a:p>
            <a:r>
              <a:rPr lang="en-US" dirty="0"/>
              <a:t>Interaction between the spacecraft’s residual magnetic dipole and Earth’s magnetic field.</a:t>
            </a:r>
          </a:p>
          <a:p>
            <a:r>
              <a:rPr lang="en-US" dirty="0"/>
              <a:t>Especially important for small satellites with electronics that retain magnetization.</a:t>
            </a:r>
          </a:p>
          <a:p>
            <a:r>
              <a:rPr lang="en-US" dirty="0"/>
              <a:t>Can be both a disturbance and a control method (using magnetorquers).</a:t>
            </a:r>
            <a:br>
              <a:rPr lang="en-US" dirty="0"/>
            </a:br>
            <a:endParaRPr lang="en-US" dirty="0"/>
          </a:p>
          <a:p>
            <a:r>
              <a:rPr lang="en-US" b="1" dirty="0"/>
              <a:t>Solar Radiation Pressure (SRP)  Torque</a:t>
            </a:r>
          </a:p>
          <a:p>
            <a:r>
              <a:rPr lang="en-US" dirty="0"/>
              <a:t>Generated by photons from the Sun imparting momentum on spacecraft surfaces.</a:t>
            </a:r>
          </a:p>
          <a:p>
            <a:r>
              <a:rPr lang="en-US" dirty="0"/>
              <a:t>Stronger for satellites with large solar arrays or asymmetric shapes.</a:t>
            </a:r>
          </a:p>
          <a:p>
            <a:r>
              <a:rPr lang="en-US" dirty="0"/>
              <a:t>Can cause slow attitude drift or jitter.</a:t>
            </a:r>
            <a:br>
              <a:rPr lang="en-US" dirty="0"/>
            </a:br>
            <a:endParaRPr lang="en-US" dirty="0"/>
          </a:p>
          <a:p>
            <a:r>
              <a:rPr lang="en-US" b="1" dirty="0"/>
              <a:t>Atmospheric Drag Torque</a:t>
            </a:r>
          </a:p>
          <a:p>
            <a:r>
              <a:rPr lang="en-US" dirty="0"/>
              <a:t>Occurs in low Earth orbit due to residual atmosphere.</a:t>
            </a:r>
          </a:p>
          <a:p>
            <a:r>
              <a:rPr lang="en-US" dirty="0"/>
              <a:t>Drag force acts at the center of pressure, which may not align with the spacecraft’s center of mass → torque.</a:t>
            </a:r>
          </a:p>
          <a:p>
            <a:r>
              <a:rPr lang="en-US" dirty="0"/>
              <a:t>Significant for large, flat-panel spacecraft or CubeSats in LEO.</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15</a:t>
            </a:fld>
            <a:endParaRPr lang="en-US"/>
          </a:p>
        </p:txBody>
      </p:sp>
    </p:spTree>
    <p:extLst>
      <p:ext uri="{BB962C8B-B14F-4D97-AF65-F5344CB8AC3E}">
        <p14:creationId xmlns:p14="http://schemas.microsoft.com/office/powerpoint/2010/main" val="2107604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16</a:t>
            </a:fld>
            <a:endParaRPr lang="en-US"/>
          </a:p>
        </p:txBody>
      </p:sp>
    </p:spTree>
    <p:extLst>
      <p:ext uri="{BB962C8B-B14F-4D97-AF65-F5344CB8AC3E}">
        <p14:creationId xmlns:p14="http://schemas.microsoft.com/office/powerpoint/2010/main" val="3811889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18</a:t>
            </a:fld>
            <a:endParaRPr lang="en-US"/>
          </a:p>
        </p:txBody>
      </p:sp>
    </p:spTree>
    <p:extLst>
      <p:ext uri="{BB962C8B-B14F-4D97-AF65-F5344CB8AC3E}">
        <p14:creationId xmlns:p14="http://schemas.microsoft.com/office/powerpoint/2010/main" val="88671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Spacecraft factors may cause unwanted disturbance torques. The following torques are internal torques—they don’t reject torque to the outside world. They will reduce pointing accuracy, but they will generally not build up significant momentum before averaging to zero. </a:t>
            </a:r>
          </a:p>
          <a:p>
            <a:endParaRPr lang="en-US" dirty="0"/>
          </a:p>
          <a:p>
            <a:r>
              <a:rPr lang="en-US" dirty="0"/>
              <a:t>- propellant sloshing </a:t>
            </a:r>
          </a:p>
          <a:p>
            <a:r>
              <a:rPr lang="en-US" dirty="0"/>
              <a:t>- rotational motors and pumps</a:t>
            </a:r>
          </a:p>
          <a:p>
            <a:r>
              <a:rPr lang="en-US" dirty="0"/>
              <a:t>- rotating solar arrays</a:t>
            </a:r>
          </a:p>
          <a:p>
            <a:r>
              <a:rPr lang="en-US" dirty="0"/>
              <a:t>- steered antennas</a:t>
            </a:r>
          </a:p>
          <a:p>
            <a:r>
              <a:rPr lang="en-US" dirty="0"/>
              <a:t>- appendage flexing (can be due to thermal expansion at eclipse edge) </a:t>
            </a:r>
          </a:p>
          <a:p>
            <a:endParaRPr lang="en-US" dirty="0"/>
          </a:p>
          <a:p>
            <a:r>
              <a:rPr lang="en-US" dirty="0"/>
              <a:t>The following items create unintentional external torques.</a:t>
            </a:r>
          </a:p>
          <a:p>
            <a:endParaRPr lang="en-US" dirty="0"/>
          </a:p>
          <a:p>
            <a:r>
              <a:rPr lang="en-US" dirty="0"/>
              <a:t>- thruster misalignment</a:t>
            </a:r>
          </a:p>
          <a:p>
            <a:r>
              <a:rPr lang="en-US" dirty="0"/>
              <a:t>- mismatched thruster pairs (including stuck thrusters)</a:t>
            </a:r>
          </a:p>
          <a:p>
            <a:r>
              <a:rPr lang="en-US" dirty="0"/>
              <a:t>- center of mass uncertainty</a:t>
            </a:r>
          </a:p>
          <a:p>
            <a:r>
              <a:rPr lang="en-US" dirty="0"/>
              <a:t>- residual magnetism and/or current loops</a:t>
            </a:r>
          </a:p>
        </p:txBody>
      </p:sp>
      <p:sp>
        <p:nvSpPr>
          <p:cNvPr id="4" name="Slide Number Placeholder 3"/>
          <p:cNvSpPr>
            <a:spLocks noGrp="1"/>
          </p:cNvSpPr>
          <p:nvPr>
            <p:ph type="sldNum" sz="quarter" idx="5"/>
          </p:nvPr>
        </p:nvSpPr>
        <p:spPr/>
        <p:txBody>
          <a:bodyPr/>
          <a:lstStyle/>
          <a:p>
            <a:fld id="{9EB4C982-825B-414E-ABB9-79AB251390A5}" type="slidenum">
              <a:rPr lang="en-US" smtClean="0"/>
              <a:t>21</a:t>
            </a:fld>
            <a:endParaRPr lang="en-US"/>
          </a:p>
        </p:txBody>
      </p:sp>
    </p:spTree>
    <p:extLst>
      <p:ext uri="{BB962C8B-B14F-4D97-AF65-F5344CB8AC3E}">
        <p14:creationId xmlns:p14="http://schemas.microsoft.com/office/powerpoint/2010/main" val="1455505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3-axis stabilized spacecraft needs at least 3 reaction wheels to control pointing in 3 dimensions. Spacecraft often use 4 reaction wheels so they can maintain full attitude authority even if one wheel fails. </a:t>
            </a:r>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23</a:t>
            </a:fld>
            <a:endParaRPr lang="en-US"/>
          </a:p>
        </p:txBody>
      </p:sp>
    </p:spTree>
    <p:extLst>
      <p:ext uri="{BB962C8B-B14F-4D97-AF65-F5344CB8AC3E}">
        <p14:creationId xmlns:p14="http://schemas.microsoft.com/office/powerpoint/2010/main" val="1944582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25</a:t>
            </a:fld>
            <a:endParaRPr lang="en-US"/>
          </a:p>
        </p:txBody>
      </p:sp>
    </p:spTree>
    <p:extLst>
      <p:ext uri="{BB962C8B-B14F-4D97-AF65-F5344CB8AC3E}">
        <p14:creationId xmlns:p14="http://schemas.microsoft.com/office/powerpoint/2010/main" val="2736568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countered external torques with a reaction wheel, which is an internal attitude actuator. When the wheel reaches its maximum speed, it is said to be saturated and can no longer counter disturbance torques. </a:t>
            </a:r>
          </a:p>
          <a:p>
            <a:endParaRPr lang="en-US" dirty="0"/>
          </a:p>
          <a:p>
            <a:r>
              <a:rPr lang="en-US" dirty="0"/>
              <a:t>To maintain control of the spacecraft, the spacecraft needs to perform *momentum dumping*—using an external actuator to reject momentum from the system. There are two common external attitude actuators that work in space. </a:t>
            </a:r>
          </a:p>
          <a:p>
            <a:endParaRPr lang="en-US" dirty="0"/>
          </a:p>
          <a:p>
            <a:r>
              <a:rPr lang="en-US" sz="1200" b="0" i="0" kern="1200" dirty="0">
                <a:solidFill>
                  <a:schemeClr val="tx1"/>
                </a:solidFill>
                <a:effectLst/>
                <a:latin typeface="+mn-lt"/>
                <a:ea typeface="+mn-ea"/>
                <a:cs typeface="+mn-cs"/>
              </a:rPr>
              <a:t>In practice, spacecraft attitude is controlled with reaction wheels. When a wheel becomes saturated, an external actuator is activated to reject momentum from the system. As external actuator operates for a length of time, the wheel speed will gradually slow. The external actuator is turned off when the wheel reaches a predetermined neutral speed (perhaps zero). </a:t>
            </a:r>
          </a:p>
          <a:p>
            <a:endParaRPr lang="en-US" dirty="0"/>
          </a:p>
          <a:p>
            <a:r>
              <a:rPr lang="en-US" sz="1200" b="0" i="0" kern="1200" dirty="0">
                <a:solidFill>
                  <a:schemeClr val="tx1"/>
                </a:solidFill>
                <a:effectLst/>
                <a:latin typeface="+mn-lt"/>
                <a:ea typeface="+mn-ea"/>
                <a:cs typeface="+mn-cs"/>
              </a:rPr>
              <a:t>Sometimes a spacecraft is tumbling immediately after deployment or after emerging from a fault condition. It may be tumbling so quickly that the reaction wheels cannot completely eliminate rotation. In this situation, the external actuator must be used to stabilize the spacecraft. </a:t>
            </a:r>
          </a:p>
          <a:p>
            <a:r>
              <a:rPr lang="en-US" sz="1200" b="0" i="0" kern="1200" dirty="0">
                <a:solidFill>
                  <a:schemeClr val="tx1"/>
                </a:solidFill>
                <a:effectLst/>
                <a:latin typeface="+mn-lt"/>
                <a:ea typeface="+mn-ea"/>
                <a:cs typeface="+mn-cs"/>
              </a:rPr>
              <a:t>Changing momentum with thrusters is usually straightforward—fire the thruster(s) pointing in the direction opposite the spacecraft’s rotation. </a:t>
            </a:r>
          </a:p>
          <a:p>
            <a:r>
              <a:rPr lang="en-US" sz="1200" b="0" i="0" kern="1200" dirty="0">
                <a:solidFill>
                  <a:schemeClr val="tx1"/>
                </a:solidFill>
                <a:effectLst/>
                <a:latin typeface="+mn-lt"/>
                <a:ea typeface="+mn-ea"/>
                <a:cs typeface="+mn-cs"/>
              </a:rPr>
              <a:t>If the spacecraft is tumbling, changing momentum with torque rods requires periodic switching of the torque rods to keep the spacecraft’s magnetic dipole correctly aligned with the Earth’s magnetic field (which can also change during the course of an orbit). </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26</a:t>
            </a:fld>
            <a:endParaRPr lang="en-US"/>
          </a:p>
        </p:txBody>
      </p:sp>
    </p:spTree>
    <p:extLst>
      <p:ext uri="{BB962C8B-B14F-4D97-AF65-F5344CB8AC3E}">
        <p14:creationId xmlns:p14="http://schemas.microsoft.com/office/powerpoint/2010/main" val="1931899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Sometimes a spacecraft is tumbling immediately after deployment or after emerging from a fault condition. It may be tumbling so quickly that the reaction wheels cannot completely eliminate rotation. In this situation, the external actuator must be used to stabilize the spacecraft.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Changing momentum with thrusters is usually straightforward—fire the thruster(s) pointing in the direction opposite the spacecraft’s rotation.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the spacecraft is tumbling, changing momentum with torque rods requires periodic switching of the torque rods to keep the spacecraft’s magnetic dipole correctly aligned with the Earth’s magnetic field (which can also change during the course of an orbit). </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27</a:t>
            </a:fld>
            <a:endParaRPr lang="en-US"/>
          </a:p>
        </p:txBody>
      </p:sp>
    </p:spTree>
    <p:extLst>
      <p:ext uri="{BB962C8B-B14F-4D97-AF65-F5344CB8AC3E}">
        <p14:creationId xmlns:p14="http://schemas.microsoft.com/office/powerpoint/2010/main" val="3589339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Key Sizing Parameters</a:t>
                </a:r>
              </a:p>
              <a:p>
                <a:r>
                  <a:rPr lang="en-US" b="1" dirty="0"/>
                  <a:t>Maximum Torque Requirement</a:t>
                </a:r>
                <a:endParaRPr lang="en-US" dirty="0"/>
              </a:p>
              <a:p>
                <a:pPr lvl="1"/>
                <a:r>
                  <a:rPr lang="en-US" dirty="0"/>
                  <a:t>Determines how much control authority is needed for maneuvers.</a:t>
                </a:r>
              </a:p>
              <a:p>
                <a:pPr lvl="1"/>
                <a:r>
                  <a:rPr lang="en-US" dirty="0"/>
                  <a:t>Based on:</a:t>
                </a:r>
              </a:p>
              <a:p>
                <a:pPr lvl="2"/>
                <a:r>
                  <a:rPr lang="en-US" dirty="0"/>
                  <a:t>Required slew rate (how fast the spacecraft must turn).</a:t>
                </a:r>
              </a:p>
              <a:p>
                <a:pPr lvl="2"/>
                <a:r>
                  <a:rPr lang="en-US" dirty="0"/>
                  <a:t>Disturbance torques (gravity gradient, magnetic, solar pressure, drag).</a:t>
                </a:r>
              </a:p>
              <a:p>
                <a:pPr lvl="1"/>
                <a:r>
                  <a:rPr lang="en-US" dirty="0"/>
                  <a:t>Equation (simplified):</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𝑇</m:t>
                          </m:r>
                        </m:e>
                        <m:sub>
                          <m:r>
                            <a:rPr lang="ar-AE" sz="1200" i="1" kern="1200">
                              <a:solidFill>
                                <a:schemeClr val="tx1"/>
                              </a:solidFill>
                              <a:latin typeface="Cambria Math" panose="02040503050406030204" pitchFamily="18" charset="0"/>
                              <a:ea typeface="+mn-ea"/>
                              <a:cs typeface="+mn-cs"/>
                            </a:rPr>
                            <m:t>𝑟𝑒𝑞</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𝐼</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𝛼</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𝑇</m:t>
                          </m:r>
                        </m:e>
                        <m:sub>
                          <m:r>
                            <a:rPr lang="ar-AE" sz="1200" i="1" kern="1200">
                              <a:solidFill>
                                <a:schemeClr val="tx1"/>
                              </a:solidFill>
                              <a:latin typeface="Cambria Math" panose="02040503050406030204" pitchFamily="18" charset="0"/>
                              <a:ea typeface="+mn-ea"/>
                              <a:cs typeface="+mn-cs"/>
                            </a:rPr>
                            <m:t>𝑑𝑖𝑠𝑡</m:t>
                          </m:r>
                        </m:sub>
                      </m:sSub>
                    </m:oMath>
                  </m:oMathPara>
                </a14:m>
                <a:endParaRPr lang="ar-AE" dirty="0"/>
              </a:p>
              <a:p>
                <a:pPr lvl="1"/>
                <a:r>
                  <a:rPr lang="en-US" dirty="0"/>
                  <a:t>where </a:t>
                </a:r>
                <a14:m>
                  <m:oMath xmlns:m="http://schemas.openxmlformats.org/officeDocument/2006/math">
                    <m:r>
                      <a:rPr lang="en-US" sz="1200" i="1" kern="1200">
                        <a:solidFill>
                          <a:schemeClr val="tx1"/>
                        </a:solidFill>
                        <a:latin typeface="Cambria Math" panose="02040503050406030204" pitchFamily="18" charset="0"/>
                        <a:ea typeface="+mn-ea"/>
                        <a:cs typeface="+mn-cs"/>
                      </a:rPr>
                      <m:t>𝐼</m:t>
                    </m:r>
                  </m:oMath>
                </a14:m>
                <a:r>
                  <a:rPr lang="en-US" dirty="0"/>
                  <a:t>= inertia about axis, </a:t>
                </a:r>
                <a14:m>
                  <m:oMath xmlns:m="http://schemas.openxmlformats.org/officeDocument/2006/math">
                    <m:r>
                      <a:rPr lang="en-US" sz="1200" i="1" kern="1200">
                        <a:solidFill>
                          <a:schemeClr val="tx1"/>
                        </a:solidFill>
                        <a:latin typeface="Cambria Math" panose="02040503050406030204" pitchFamily="18" charset="0"/>
                        <a:ea typeface="+mn-ea"/>
                        <a:cs typeface="+mn-cs"/>
                      </a:rPr>
                      <m:t>𝛼</m:t>
                    </m:r>
                  </m:oMath>
                </a14:m>
                <a:r>
                  <a:rPr lang="en-US" dirty="0"/>
                  <a:t>= required angular acceleration,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𝑇</m:t>
                        </m:r>
                      </m:e>
                      <m:sub>
                        <m:r>
                          <a:rPr lang="ar-AE" sz="1200" i="1" kern="1200">
                            <a:solidFill>
                              <a:schemeClr val="tx1"/>
                            </a:solidFill>
                            <a:latin typeface="Cambria Math" panose="02040503050406030204" pitchFamily="18" charset="0"/>
                            <a:ea typeface="+mn-ea"/>
                            <a:cs typeface="+mn-cs"/>
                          </a:rPr>
                          <m:t>𝑑𝑖𝑠𝑡</m:t>
                        </m:r>
                      </m:sub>
                    </m:sSub>
                  </m:oMath>
                </a14:m>
                <a:r>
                  <a:rPr lang="ar-AE" dirty="0"/>
                  <a:t>= </a:t>
                </a:r>
                <a:r>
                  <a:rPr lang="en-US" dirty="0"/>
                  <a:t>disturbance torque.</a:t>
                </a:r>
              </a:p>
              <a:p>
                <a:r>
                  <a:rPr lang="en-US" b="1" dirty="0"/>
                  <a:t>Momentum Storage Requirement</a:t>
                </a:r>
                <a:endParaRPr lang="en-US" dirty="0"/>
              </a:p>
              <a:p>
                <a:pPr lvl="1"/>
                <a:r>
                  <a:rPr lang="en-US" dirty="0"/>
                  <a:t>Reaction wheels absorb angular momentum from disturbances.</a:t>
                </a:r>
              </a:p>
              <a:p>
                <a:pPr lvl="1"/>
                <a:r>
                  <a:rPr lang="en-US" dirty="0"/>
                  <a:t>They must not saturate too quickly between momentum dumps (via magnetic torquers or thrusters).</a:t>
                </a:r>
              </a:p>
              <a:p>
                <a:pPr lvl="1"/>
                <a:r>
                  <a:rPr lang="en-US" dirty="0"/>
                  <a:t>Equation (simplified):</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𝐻</m:t>
                          </m:r>
                        </m:e>
                        <m:sub>
                          <m:r>
                            <a:rPr lang="ar-AE" sz="1200" i="1" kern="1200">
                              <a:solidFill>
                                <a:schemeClr val="tx1"/>
                              </a:solidFill>
                              <a:latin typeface="Cambria Math" panose="02040503050406030204" pitchFamily="18" charset="0"/>
                              <a:ea typeface="+mn-ea"/>
                              <a:cs typeface="+mn-cs"/>
                            </a:rPr>
                            <m:t>𝑟𝑒𝑞</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𝑇</m:t>
                          </m:r>
                        </m:e>
                        <m:sub>
                          <m:r>
                            <a:rPr lang="ar-AE" sz="1200" i="1" kern="1200">
                              <a:solidFill>
                                <a:schemeClr val="tx1"/>
                              </a:solidFill>
                              <a:latin typeface="Cambria Math" panose="02040503050406030204" pitchFamily="18" charset="0"/>
                              <a:ea typeface="+mn-ea"/>
                              <a:cs typeface="+mn-cs"/>
                            </a:rPr>
                            <m:t>𝑑𝑖𝑠𝑡</m:t>
                          </m:r>
                        </m:sub>
                      </m:sSub>
                      <m:r>
                        <a:rPr lang="ar-AE" sz="1200" i="0" kern="1200">
                          <a:solidFill>
                            <a:schemeClr val="tx1"/>
                          </a:solidFill>
                          <a:latin typeface="Cambria Math" panose="02040503050406030204" pitchFamily="18" charset="0"/>
                          <a:ea typeface="+mn-ea"/>
                          <a:cs typeface="+mn-cs"/>
                        </a:rPr>
                        <m:t>⋅</m:t>
                      </m:r>
                      <m:r>
                        <m:rPr>
                          <m:sty m:val="p"/>
                        </m:rPr>
                        <a:rPr lang="el-GR" sz="1200" i="0" kern="1200">
                          <a:solidFill>
                            <a:schemeClr val="tx1"/>
                          </a:solidFill>
                          <a:latin typeface="Cambria Math" panose="02040503050406030204" pitchFamily="18" charset="0"/>
                          <a:ea typeface="+mn-ea"/>
                          <a:cs typeface="+mn-cs"/>
                        </a:rPr>
                        <m:t>Δ</m:t>
                      </m:r>
                      <m:r>
                        <a:rPr lang="el-GR" sz="1200" i="1" kern="1200">
                          <a:solidFill>
                            <a:schemeClr val="tx1"/>
                          </a:solidFill>
                          <a:latin typeface="Cambria Math" panose="02040503050406030204" pitchFamily="18" charset="0"/>
                          <a:ea typeface="+mn-ea"/>
                          <a:cs typeface="+mn-cs"/>
                        </a:rPr>
                        <m:t>𝑡</m:t>
                      </m:r>
                    </m:oMath>
                  </m:oMathPara>
                </a14:m>
                <a:endParaRPr lang="el-GR" dirty="0"/>
              </a:p>
              <a:p>
                <a:pPr lvl="1"/>
                <a:r>
                  <a:rPr lang="en-US" dirty="0"/>
                  <a:t>where </a:t>
                </a:r>
                <a14:m>
                  <m:oMath xmlns:m="http://schemas.openxmlformats.org/officeDocument/2006/math">
                    <m:r>
                      <m:rPr>
                        <m:sty m:val="p"/>
                      </m:rPr>
                      <a:rPr lang="el-GR" sz="1200" kern="1200">
                        <a:solidFill>
                          <a:schemeClr val="tx1"/>
                        </a:solidFill>
                        <a:latin typeface="Cambria Math" panose="02040503050406030204" pitchFamily="18" charset="0"/>
                        <a:ea typeface="+mn-ea"/>
                        <a:cs typeface="+mn-cs"/>
                      </a:rPr>
                      <m:t>Δ</m:t>
                    </m:r>
                    <m:r>
                      <a:rPr lang="el-GR" sz="1200" i="1" kern="1200">
                        <a:solidFill>
                          <a:schemeClr val="tx1"/>
                        </a:solidFill>
                        <a:latin typeface="Cambria Math" panose="02040503050406030204" pitchFamily="18" charset="0"/>
                        <a:ea typeface="+mn-ea"/>
                        <a:cs typeface="+mn-cs"/>
                      </a:rPr>
                      <m:t>𝑡</m:t>
                    </m:r>
                  </m:oMath>
                </a14:m>
                <a:r>
                  <a:rPr lang="el-GR" dirty="0"/>
                  <a:t>= </a:t>
                </a:r>
                <a:r>
                  <a:rPr lang="en-US" dirty="0"/>
                  <a:t>maximum time between desaturation events.</a:t>
                </a:r>
              </a:p>
              <a:p>
                <a:r>
                  <a:rPr lang="en-US" b="1" dirty="0"/>
                  <a:t>Slew Maneuver Capability</a:t>
                </a:r>
                <a:endParaRPr lang="en-US" dirty="0"/>
              </a:p>
              <a:p>
                <a:pPr lvl="1"/>
                <a:r>
                  <a:rPr lang="en-US" dirty="0"/>
                  <a:t>For pointing changes (e.g., moving telescope from one target to another).</a:t>
                </a:r>
              </a:p>
              <a:p>
                <a:pPr lvl="1"/>
                <a:r>
                  <a:rPr lang="en-US" dirty="0"/>
                  <a:t>Momentum storage must handle the </a:t>
                </a:r>
                <a:r>
                  <a:rPr lang="en-US" b="1" dirty="0"/>
                  <a:t>slew angular momentum</a:t>
                </a:r>
                <a:r>
                  <a:rPr lang="en-US" dirty="0"/>
                  <a:t> in addition to disturbances.</a:t>
                </a:r>
              </a:p>
              <a:p>
                <a:endParaRPr lang="en-US" dirty="0"/>
              </a:p>
            </p:txBody>
          </p:sp>
        </mc:Choice>
        <mc:Fallback xmlns="">
          <p:sp>
            <p:nvSpPr>
              <p:cNvPr id="3" name="Notes Placeholder 2"/>
              <p:cNvSpPr>
                <a:spLocks noGrp="1"/>
              </p:cNvSpPr>
              <p:nvPr>
                <p:ph type="body" idx="1"/>
              </p:nvPr>
            </p:nvSpPr>
            <p:spPr/>
            <p:txBody>
              <a:bodyPr/>
              <a:lstStyle/>
              <a:p>
                <a:r>
                  <a:rPr lang="en-US" b="1" dirty="0"/>
                  <a:t>Key Sizing Parameters</a:t>
                </a:r>
              </a:p>
              <a:p>
                <a:r>
                  <a:rPr lang="en-US" b="1" dirty="0"/>
                  <a:t>Maximum Torque Requirement</a:t>
                </a:r>
                <a:endParaRPr lang="en-US" dirty="0"/>
              </a:p>
              <a:p>
                <a:pPr lvl="1"/>
                <a:r>
                  <a:rPr lang="en-US" dirty="0"/>
                  <a:t>Determines how much control authority is needed for maneuvers.</a:t>
                </a:r>
              </a:p>
              <a:p>
                <a:pPr lvl="1"/>
                <a:r>
                  <a:rPr lang="en-US" dirty="0"/>
                  <a:t>Based on:</a:t>
                </a:r>
              </a:p>
              <a:p>
                <a:pPr lvl="2"/>
                <a:r>
                  <a:rPr lang="en-US" dirty="0"/>
                  <a:t>Required slew rate (how fast the spacecraft must turn).</a:t>
                </a:r>
              </a:p>
              <a:p>
                <a:pPr lvl="2"/>
                <a:r>
                  <a:rPr lang="en-US" dirty="0"/>
                  <a:t>Disturbance torques (gravity gradient, magnetic, solar pressure, drag).</a:t>
                </a:r>
              </a:p>
              <a:p>
                <a:pPr lvl="1"/>
                <a:r>
                  <a:rPr lang="en-US" dirty="0"/>
                  <a:t>Equation (simplified):</a:t>
                </a:r>
              </a:p>
              <a:p>
                <a:r>
                  <a:rPr lang="ar-AE" sz="1200" i="0" kern="1200">
                    <a:solidFill>
                      <a:schemeClr val="tx1"/>
                    </a:solidFill>
                    <a:latin typeface="+mn-lt"/>
                    <a:ea typeface="+mn-ea"/>
                    <a:cs typeface="+mn-cs"/>
                  </a:rPr>
                  <a:t>𝑇_𝑟𝑒𝑞≥𝐼⋅𝛼+𝑇_𝑑𝑖𝑠𝑡</a:t>
                </a:r>
                <a:endParaRPr lang="ar-AE" dirty="0"/>
              </a:p>
              <a:p>
                <a:pPr lvl="1"/>
                <a:r>
                  <a:rPr lang="en-US" dirty="0"/>
                  <a:t>where </a:t>
                </a:r>
                <a:r>
                  <a:rPr lang="en-US" sz="1200" i="0" kern="1200">
                    <a:solidFill>
                      <a:schemeClr val="tx1"/>
                    </a:solidFill>
                    <a:latin typeface="+mn-lt"/>
                    <a:ea typeface="+mn-ea"/>
                    <a:cs typeface="+mn-cs"/>
                  </a:rPr>
                  <a:t>𝐼</a:t>
                </a:r>
                <a:r>
                  <a:rPr lang="en-US" dirty="0"/>
                  <a:t>= inertia about axis, </a:t>
                </a:r>
                <a:r>
                  <a:rPr lang="en-US" sz="1200" i="0" kern="1200">
                    <a:solidFill>
                      <a:schemeClr val="tx1"/>
                    </a:solidFill>
                    <a:latin typeface="+mn-lt"/>
                    <a:ea typeface="+mn-ea"/>
                    <a:cs typeface="+mn-cs"/>
                  </a:rPr>
                  <a:t>𝛼</a:t>
                </a:r>
                <a:r>
                  <a:rPr lang="en-US" dirty="0"/>
                  <a:t>= required angular acceleration, </a:t>
                </a:r>
                <a:r>
                  <a:rPr lang="ar-AE" sz="1200" i="0" kern="1200">
                    <a:solidFill>
                      <a:schemeClr val="tx1"/>
                    </a:solidFill>
                    <a:latin typeface="+mn-lt"/>
                    <a:ea typeface="+mn-ea"/>
                    <a:cs typeface="+mn-cs"/>
                  </a:rPr>
                  <a:t>𝑇_𝑑𝑖𝑠𝑡</a:t>
                </a:r>
                <a:r>
                  <a:rPr lang="ar-AE" dirty="0"/>
                  <a:t>= </a:t>
                </a:r>
                <a:r>
                  <a:rPr lang="en-US" dirty="0"/>
                  <a:t>disturbance torque.</a:t>
                </a:r>
              </a:p>
              <a:p>
                <a:r>
                  <a:rPr lang="en-US" b="1" dirty="0"/>
                  <a:t>Momentum Storage Requirement</a:t>
                </a:r>
                <a:endParaRPr lang="en-US" dirty="0"/>
              </a:p>
              <a:p>
                <a:pPr lvl="1"/>
                <a:r>
                  <a:rPr lang="en-US" dirty="0"/>
                  <a:t>Reaction wheels absorb angular momentum from disturbances.</a:t>
                </a:r>
              </a:p>
              <a:p>
                <a:pPr lvl="1"/>
                <a:r>
                  <a:rPr lang="en-US" dirty="0"/>
                  <a:t>They must not saturate too quickly between momentum dumps (via magnetic torquers or thrusters).</a:t>
                </a:r>
              </a:p>
              <a:p>
                <a:pPr lvl="1"/>
                <a:r>
                  <a:rPr lang="en-US" dirty="0"/>
                  <a:t>Equation (simplified):</a:t>
                </a:r>
              </a:p>
              <a:p>
                <a:r>
                  <a:rPr lang="ar-AE" sz="1200" i="0" kern="1200">
                    <a:solidFill>
                      <a:schemeClr val="tx1"/>
                    </a:solidFill>
                    <a:latin typeface="+mn-lt"/>
                    <a:ea typeface="+mn-ea"/>
                    <a:cs typeface="+mn-cs"/>
                  </a:rPr>
                  <a:t>𝐻_𝑟𝑒𝑞≥𝑇_𝑑𝑖𝑠𝑡⋅</a:t>
                </a:r>
                <a:r>
                  <a:rPr lang="el-GR" sz="1200" i="0" kern="1200">
                    <a:solidFill>
                      <a:schemeClr val="tx1"/>
                    </a:solidFill>
                    <a:latin typeface="+mn-lt"/>
                    <a:ea typeface="+mn-ea"/>
                    <a:cs typeface="+mn-cs"/>
                  </a:rPr>
                  <a:t>Δ𝑡</a:t>
                </a:r>
                <a:endParaRPr lang="el-GR" dirty="0"/>
              </a:p>
              <a:p>
                <a:pPr lvl="1"/>
                <a:r>
                  <a:rPr lang="en-US" dirty="0"/>
                  <a:t>where </a:t>
                </a:r>
                <a:r>
                  <a:rPr lang="el-GR" sz="1200" i="0" kern="1200">
                    <a:solidFill>
                      <a:schemeClr val="tx1"/>
                    </a:solidFill>
                    <a:latin typeface="+mn-lt"/>
                    <a:ea typeface="+mn-ea"/>
                    <a:cs typeface="+mn-cs"/>
                  </a:rPr>
                  <a:t>Δ𝑡</a:t>
                </a:r>
                <a:r>
                  <a:rPr lang="el-GR" dirty="0"/>
                  <a:t>= </a:t>
                </a:r>
                <a:r>
                  <a:rPr lang="en-US" dirty="0"/>
                  <a:t>maximum time between desaturation events.</a:t>
                </a:r>
              </a:p>
              <a:p>
                <a:r>
                  <a:rPr lang="en-US" b="1" dirty="0"/>
                  <a:t>Slew Maneuver Capability</a:t>
                </a:r>
                <a:endParaRPr lang="en-US" dirty="0"/>
              </a:p>
              <a:p>
                <a:pPr lvl="1"/>
                <a:r>
                  <a:rPr lang="en-US" dirty="0"/>
                  <a:t>For pointing changes (e.g., moving telescope from one target to another).</a:t>
                </a:r>
              </a:p>
              <a:p>
                <a:pPr lvl="1"/>
                <a:r>
                  <a:rPr lang="en-US" dirty="0"/>
                  <a:t>Momentum storage must handle the </a:t>
                </a:r>
                <a:r>
                  <a:rPr lang="en-US" b="1" dirty="0"/>
                  <a:t>slew angular momentum</a:t>
                </a:r>
                <a:r>
                  <a:rPr lang="en-US" dirty="0"/>
                  <a:t> in addition to disturbances.</a:t>
                </a:r>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29</a:t>
            </a:fld>
            <a:endParaRPr lang="en-US"/>
          </a:p>
        </p:txBody>
      </p:sp>
    </p:spTree>
    <p:extLst>
      <p:ext uri="{BB962C8B-B14F-4D97-AF65-F5344CB8AC3E}">
        <p14:creationId xmlns:p14="http://schemas.microsoft.com/office/powerpoint/2010/main" val="3931701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2/23/2026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2/23/2026</a:t>
            </a:fld>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2/23/2026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2/23/2026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2/23/2026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2/23/2026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2/23/2026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2/23/2026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2/23/2026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2/23/2026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2/23/2026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2/23/2026</a:t>
            </a:fld>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8115301" y="72097"/>
            <a:ext cx="970472"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2025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Lesson 10</a:t>
            </a:r>
            <a:endParaRPr lang="en-US" b="1" dirty="0"/>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Attitude Determination &amp; Control System (ADCS)</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38CAF-C83F-E3A5-4EFC-022A38836D79}"/>
              </a:ext>
            </a:extLst>
          </p:cNvPr>
          <p:cNvSpPr>
            <a:spLocks noGrp="1"/>
          </p:cNvSpPr>
          <p:nvPr>
            <p:ph type="title"/>
          </p:nvPr>
        </p:nvSpPr>
        <p:spPr/>
        <p:txBody>
          <a:bodyPr/>
          <a:lstStyle/>
          <a:p>
            <a:r>
              <a:rPr lang="en-US" dirty="0"/>
              <a:t>Definition: Spacecraft Attitude</a:t>
            </a:r>
          </a:p>
        </p:txBody>
      </p:sp>
      <p:sp>
        <p:nvSpPr>
          <p:cNvPr id="3" name="Content Placeholder 2">
            <a:extLst>
              <a:ext uri="{FF2B5EF4-FFF2-40B4-BE49-F238E27FC236}">
                <a16:creationId xmlns:a16="http://schemas.microsoft.com/office/drawing/2014/main" id="{48290A36-4365-A7FE-E532-361794E70217}"/>
              </a:ext>
            </a:extLst>
          </p:cNvPr>
          <p:cNvSpPr>
            <a:spLocks noGrp="1"/>
          </p:cNvSpPr>
          <p:nvPr>
            <p:ph idx="1"/>
          </p:nvPr>
        </p:nvSpPr>
        <p:spPr/>
        <p:txBody>
          <a:bodyPr>
            <a:normAutofit/>
          </a:bodyPr>
          <a:lstStyle/>
          <a:p>
            <a:pPr marL="0" indent="0">
              <a:buNone/>
            </a:pPr>
            <a:r>
              <a:rPr lang="en-US" sz="2400" b="1" dirty="0"/>
              <a:t>The orientation of a spacecraft in space.</a:t>
            </a:r>
          </a:p>
          <a:p>
            <a:pPr marL="0" indent="0">
              <a:buNone/>
            </a:pPr>
            <a:r>
              <a:rPr lang="en-US" sz="2400" i="1" dirty="0">
                <a:sym typeface="Wingdings" panose="05000000000000000000" pitchFamily="2" charset="2"/>
              </a:rPr>
              <a:t>	 </a:t>
            </a:r>
            <a:r>
              <a:rPr lang="en-US" sz="2400" i="1" dirty="0"/>
              <a:t>Which way it’s pointing</a:t>
            </a:r>
            <a:endParaRPr lang="en-US" sz="2400" dirty="0"/>
          </a:p>
          <a:p>
            <a:pPr marL="0" indent="0">
              <a:buNone/>
            </a:pPr>
            <a:endParaRPr lang="en-US" sz="2400" dirty="0"/>
          </a:p>
          <a:p>
            <a:pPr marL="0" indent="0">
              <a:buNone/>
            </a:pPr>
            <a:r>
              <a:rPr lang="en-US" sz="2400" dirty="0"/>
              <a:t>More specifically: the angular relationship between the spacecraft’s </a:t>
            </a:r>
            <a:r>
              <a:rPr lang="en-US" sz="2400" b="1" dirty="0"/>
              <a:t>body frame</a:t>
            </a:r>
            <a:r>
              <a:rPr lang="en-US" sz="2400" dirty="0"/>
              <a:t> (axes fixed to the spacecraft) and a </a:t>
            </a:r>
            <a:r>
              <a:rPr lang="en-US" sz="2400" b="1" dirty="0"/>
              <a:t>reference frame </a:t>
            </a:r>
            <a:r>
              <a:rPr lang="en-US" sz="2400" dirty="0"/>
              <a:t>(often an inertial frame).</a:t>
            </a:r>
          </a:p>
          <a:p>
            <a:pPr marL="0" indent="0">
              <a:buNone/>
            </a:pPr>
            <a:endParaRPr lang="en-US" sz="2400" dirty="0"/>
          </a:p>
          <a:p>
            <a:pPr marL="0" indent="0">
              <a:buNone/>
            </a:pPr>
            <a:endParaRPr lang="en-US" sz="2400" dirty="0"/>
          </a:p>
        </p:txBody>
      </p:sp>
      <p:sp>
        <p:nvSpPr>
          <p:cNvPr id="4" name="Slide Number Placeholder 3">
            <a:extLst>
              <a:ext uri="{FF2B5EF4-FFF2-40B4-BE49-F238E27FC236}">
                <a16:creationId xmlns:a16="http://schemas.microsoft.com/office/drawing/2014/main" id="{A2CB0E94-FF8B-5BE2-F612-C4A3385C3F8E}"/>
              </a:ext>
            </a:extLst>
          </p:cNvPr>
          <p:cNvSpPr>
            <a:spLocks noGrp="1"/>
          </p:cNvSpPr>
          <p:nvPr>
            <p:ph type="sldNum" sz="quarter" idx="12"/>
          </p:nvPr>
        </p:nvSpPr>
        <p:spPr/>
        <p:txBody>
          <a:bodyPr/>
          <a:lstStyle/>
          <a:p>
            <a:fld id="{9A3029B7-FE6B-4680-9049-80E8298A0825}" type="slidenum">
              <a:rPr lang="en-US" smtClean="0"/>
              <a:t>2</a:t>
            </a:fld>
            <a:endParaRPr lang="en-US"/>
          </a:p>
        </p:txBody>
      </p:sp>
      <p:pic>
        <p:nvPicPr>
          <p:cNvPr id="5" name="Picture 2">
            <a:extLst>
              <a:ext uri="{FF2B5EF4-FFF2-40B4-BE49-F238E27FC236}">
                <a16:creationId xmlns:a16="http://schemas.microsoft.com/office/drawing/2014/main" id="{3C6CF032-71FE-F264-ECAC-B639235976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3487"/>
          <a:stretch/>
        </p:blipFill>
        <p:spPr bwMode="auto">
          <a:xfrm>
            <a:off x="1210550" y="3616282"/>
            <a:ext cx="6981825" cy="31392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CA7ECF-0932-E101-52CB-4AA1D91E5455}"/>
              </a:ext>
            </a:extLst>
          </p:cNvPr>
          <p:cNvSpPr txBox="1"/>
          <p:nvPr/>
        </p:nvSpPr>
        <p:spPr>
          <a:xfrm>
            <a:off x="335066" y="3822493"/>
            <a:ext cx="3727268" cy="461665"/>
          </a:xfrm>
          <a:prstGeom prst="rect">
            <a:avLst/>
          </a:prstGeom>
          <a:ln>
            <a:solidFill>
              <a:srgbClr val="00B0F0"/>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solidFill>
                  <a:srgbClr val="00B0F0"/>
                </a:solidFill>
                <a:latin typeface="Segoe UI" panose="020B0502040204020203" pitchFamily="34" charset="0"/>
                <a:cs typeface="Segoe UI" panose="020B0502040204020203" pitchFamily="34" charset="0"/>
              </a:rPr>
              <a:t>Spacecraft Body Frame</a:t>
            </a:r>
          </a:p>
        </p:txBody>
      </p:sp>
    </p:spTree>
    <p:extLst>
      <p:ext uri="{BB962C8B-B14F-4D97-AF65-F5344CB8AC3E}">
        <p14:creationId xmlns:p14="http://schemas.microsoft.com/office/powerpoint/2010/main" val="182352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71B98-0950-F59A-80B6-AAAE2173EC83}"/>
              </a:ext>
            </a:extLst>
          </p:cNvPr>
          <p:cNvSpPr>
            <a:spLocks noGrp="1"/>
          </p:cNvSpPr>
          <p:nvPr>
            <p:ph type="title"/>
          </p:nvPr>
        </p:nvSpPr>
        <p:spPr/>
        <p:txBody>
          <a:bodyPr/>
          <a:lstStyle/>
          <a:p>
            <a:r>
              <a:rPr lang="en-US" dirty="0"/>
              <a:t>Common Attitude Parametrizations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17BB55-F6E2-D5F5-66C4-0C30F4B0AF03}"/>
                  </a:ext>
                </a:extLst>
              </p:cNvPr>
              <p:cNvSpPr>
                <a:spLocks noGrp="1"/>
              </p:cNvSpPr>
              <p:nvPr>
                <p:ph idx="1"/>
              </p:nvPr>
            </p:nvSpPr>
            <p:spPr>
              <a:xfrm>
                <a:off x="46364" y="1064301"/>
                <a:ext cx="6500878" cy="5400805"/>
              </a:xfrm>
            </p:spPr>
            <p:txBody>
              <a:bodyPr>
                <a:normAutofit fontScale="55000" lnSpcReduction="20000"/>
              </a:bodyPr>
              <a:lstStyle/>
              <a:p>
                <a:pPr marL="0" indent="0">
                  <a:buNone/>
                </a:pPr>
                <a:r>
                  <a:rPr lang="en-US" b="1" dirty="0"/>
                  <a:t>Euler Angles (Roll, Pitch, Yaw)</a:t>
                </a:r>
              </a:p>
              <a:p>
                <a:r>
                  <a:rPr lang="en-US" dirty="0"/>
                  <a:t>Three sequential rotations about coordinate axes.</a:t>
                </a:r>
              </a:p>
              <a:p>
                <a:r>
                  <a:rPr lang="en-US" b="1" dirty="0"/>
                  <a:t>Pros:</a:t>
                </a:r>
                <a:r>
                  <a:rPr lang="en-US" dirty="0"/>
                  <a:t> Intuitive, matches aviation conventions.</a:t>
                </a:r>
              </a:p>
              <a:p>
                <a:r>
                  <a:rPr lang="en-US" b="1" dirty="0"/>
                  <a:t>Cons:</a:t>
                </a:r>
                <a:r>
                  <a:rPr lang="en-US" dirty="0"/>
                  <a:t> Suffer from </a:t>
                </a:r>
                <a:r>
                  <a:rPr lang="en-US" b="1" dirty="0"/>
                  <a:t>gimbal lock</a:t>
                </a:r>
                <a:r>
                  <a:rPr lang="en-US" dirty="0"/>
                  <a:t> (singularity when middle angle = ±90°).</a:t>
                </a:r>
              </a:p>
              <a:p>
                <a:r>
                  <a:rPr lang="en-US" b="1" dirty="0"/>
                  <a:t>Use Case:</a:t>
                </a:r>
                <a:r>
                  <a:rPr lang="en-US" dirty="0"/>
                  <a:t> Conceptual discussions, simple rotations.</a:t>
                </a:r>
              </a:p>
              <a:p>
                <a:endParaRPr lang="en-US" dirty="0"/>
              </a:p>
              <a:p>
                <a:pPr marL="0" indent="0">
                  <a:buNone/>
                </a:pPr>
                <a:r>
                  <a:rPr lang="en-US" b="1" dirty="0">
                    <a:solidFill>
                      <a:srgbClr val="00B0F0"/>
                    </a:solidFill>
                  </a:rPr>
                  <a:t>Direction Cosine Matrix (DCM)</a:t>
                </a:r>
              </a:p>
              <a:p>
                <a:r>
                  <a:rPr lang="en-US" dirty="0">
                    <a:solidFill>
                      <a:srgbClr val="00B0F0"/>
                    </a:solidFill>
                  </a:rPr>
                  <a:t>A 3×3 orthogonal matrix that transforms vectors between reference &amp; body frames.</a:t>
                </a:r>
              </a:p>
              <a:p>
                <a:r>
                  <a:rPr lang="en-US" b="1" dirty="0">
                    <a:solidFill>
                      <a:srgbClr val="00B0F0"/>
                    </a:solidFill>
                  </a:rPr>
                  <a:t>Pros:</a:t>
                </a:r>
                <a:r>
                  <a:rPr lang="en-US" dirty="0">
                    <a:solidFill>
                      <a:srgbClr val="00B0F0"/>
                    </a:solidFill>
                  </a:rPr>
                  <a:t> Complete, unambiguous, mathematically rigorous.</a:t>
                </a:r>
              </a:p>
              <a:p>
                <a:r>
                  <a:rPr lang="en-US" b="1" dirty="0">
                    <a:solidFill>
                      <a:srgbClr val="00B0F0"/>
                    </a:solidFill>
                  </a:rPr>
                  <a:t>Cons:</a:t>
                </a:r>
                <a:r>
                  <a:rPr lang="en-US" dirty="0">
                    <a:solidFill>
                      <a:srgbClr val="00B0F0"/>
                    </a:solidFill>
                  </a:rPr>
                  <a:t> Redundant (9 numbers to represent 3 DOF), requires normalization.</a:t>
                </a:r>
              </a:p>
              <a:p>
                <a:r>
                  <a:rPr lang="en-US" b="1" dirty="0">
                    <a:solidFill>
                      <a:srgbClr val="00B0F0"/>
                    </a:solidFill>
                  </a:rPr>
                  <a:t>Use Case:</a:t>
                </a:r>
                <a:r>
                  <a:rPr lang="en-US" dirty="0">
                    <a:solidFill>
                      <a:srgbClr val="00B0F0"/>
                    </a:solidFill>
                  </a:rPr>
                  <a:t> Transforming measurements, control law implementation.</a:t>
                </a:r>
              </a:p>
              <a:p>
                <a:pPr marL="0" indent="0">
                  <a:buNone/>
                </a:pPr>
                <a:endParaRPr lang="en-US" dirty="0"/>
              </a:p>
              <a:p>
                <a:pPr marL="0" indent="0">
                  <a:buNone/>
                </a:pPr>
                <a:r>
                  <a:rPr lang="en-US" b="1" dirty="0">
                    <a:solidFill>
                      <a:srgbClr val="FF0000"/>
                    </a:solidFill>
                  </a:rPr>
                  <a:t>Quaternions</a:t>
                </a:r>
              </a:p>
              <a:p>
                <a:r>
                  <a:rPr lang="en-US" dirty="0">
                    <a:solidFill>
                      <a:srgbClr val="FF0000"/>
                    </a:solidFill>
                  </a:rPr>
                  <a:t>A four-element vector </a:t>
                </a:r>
                <a14:m>
                  <m:oMath xmlns:m="http://schemas.openxmlformats.org/officeDocument/2006/math">
                    <m:d>
                      <m:dPr>
                        <m:sepChr m:val=","/>
                        <m:ctrlPr>
                          <a:rPr lang="ar-AE" i="1">
                            <a:solidFill>
                              <a:srgbClr val="FF0000"/>
                            </a:solidFill>
                            <a:latin typeface="Cambria Math" panose="02040503050406030204" pitchFamily="18" charset="0"/>
                          </a:rPr>
                        </m:ctrlPr>
                      </m:dPr>
                      <m:e>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𝑞</m:t>
                            </m:r>
                          </m:e>
                          <m:sub>
                            <m:r>
                              <a:rPr lang="ar-AE">
                                <a:solidFill>
                                  <a:srgbClr val="FF0000"/>
                                </a:solidFill>
                                <a:latin typeface="Cambria Math" panose="02040503050406030204" pitchFamily="18" charset="0"/>
                              </a:rPr>
                              <m:t>0</m:t>
                            </m:r>
                          </m:sub>
                        </m:sSub>
                      </m:e>
                      <m:e>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𝑞</m:t>
                            </m:r>
                          </m:e>
                          <m:sub>
                            <m:r>
                              <a:rPr lang="ar-AE">
                                <a:solidFill>
                                  <a:srgbClr val="FF0000"/>
                                </a:solidFill>
                                <a:latin typeface="Cambria Math" panose="02040503050406030204" pitchFamily="18" charset="0"/>
                              </a:rPr>
                              <m:t>1</m:t>
                            </m:r>
                          </m:sub>
                        </m:sSub>
                      </m:e>
                      <m:e>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𝑞</m:t>
                            </m:r>
                          </m:e>
                          <m:sub>
                            <m:r>
                              <a:rPr lang="ar-AE">
                                <a:solidFill>
                                  <a:srgbClr val="FF0000"/>
                                </a:solidFill>
                                <a:latin typeface="Cambria Math" panose="02040503050406030204" pitchFamily="18" charset="0"/>
                              </a:rPr>
                              <m:t>2</m:t>
                            </m:r>
                          </m:sub>
                        </m:sSub>
                      </m:e>
                      <m:e>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𝑞</m:t>
                            </m:r>
                          </m:e>
                          <m:sub>
                            <m:r>
                              <a:rPr lang="ar-AE">
                                <a:solidFill>
                                  <a:srgbClr val="FF0000"/>
                                </a:solidFill>
                                <a:latin typeface="Cambria Math" panose="02040503050406030204" pitchFamily="18" charset="0"/>
                              </a:rPr>
                              <m:t>3</m:t>
                            </m:r>
                          </m:sub>
                        </m:sSub>
                      </m:e>
                    </m:d>
                  </m:oMath>
                </a14:m>
                <a:r>
                  <a:rPr lang="en-US" dirty="0">
                    <a:solidFill>
                      <a:srgbClr val="FF0000"/>
                    </a:solidFill>
                  </a:rPr>
                  <a:t>representing rotation without singularities.</a:t>
                </a:r>
              </a:p>
              <a:p>
                <a:r>
                  <a:rPr lang="en-US" b="1" dirty="0">
                    <a:solidFill>
                      <a:srgbClr val="FF0000"/>
                    </a:solidFill>
                  </a:rPr>
                  <a:t>Pros:</a:t>
                </a:r>
                <a:r>
                  <a:rPr lang="en-US" dirty="0">
                    <a:solidFill>
                      <a:srgbClr val="FF0000"/>
                    </a:solidFill>
                  </a:rPr>
                  <a:t> Compact, efficient, avoids gimbal lock, widely used in spacecraft.</a:t>
                </a:r>
              </a:p>
              <a:p>
                <a:r>
                  <a:rPr lang="en-US" b="1" dirty="0">
                    <a:solidFill>
                      <a:srgbClr val="FF0000"/>
                    </a:solidFill>
                  </a:rPr>
                  <a:t>Cons:</a:t>
                </a:r>
                <a:r>
                  <a:rPr lang="en-US" dirty="0">
                    <a:solidFill>
                      <a:srgbClr val="FF0000"/>
                    </a:solidFill>
                  </a:rPr>
                  <a:t> Less intuitive, must maintain unit length.</a:t>
                </a:r>
              </a:p>
              <a:p>
                <a:r>
                  <a:rPr lang="en-US" b="1" dirty="0">
                    <a:solidFill>
                      <a:srgbClr val="FF0000"/>
                    </a:solidFill>
                  </a:rPr>
                  <a:t>Use Case:</a:t>
                </a:r>
                <a:r>
                  <a:rPr lang="en-US" dirty="0">
                    <a:solidFill>
                      <a:srgbClr val="FF0000"/>
                    </a:solidFill>
                  </a:rPr>
                  <a:t> Real-time onboard ADCS computations.</a:t>
                </a:r>
              </a:p>
              <a:p>
                <a:pPr marL="0" indent="0">
                  <a:buNone/>
                </a:pPr>
                <a:endParaRPr lang="en-US" b="1" dirty="0"/>
              </a:p>
            </p:txBody>
          </p:sp>
        </mc:Choice>
        <mc:Fallback xmlns="">
          <p:sp>
            <p:nvSpPr>
              <p:cNvPr id="3" name="Content Placeholder 2">
                <a:extLst>
                  <a:ext uri="{FF2B5EF4-FFF2-40B4-BE49-F238E27FC236}">
                    <a16:creationId xmlns:a16="http://schemas.microsoft.com/office/drawing/2014/main" id="{ED17BB55-F6E2-D5F5-66C4-0C30F4B0AF03}"/>
                  </a:ext>
                </a:extLst>
              </p:cNvPr>
              <p:cNvSpPr>
                <a:spLocks noGrp="1" noRot="1" noChangeAspect="1" noMove="1" noResize="1" noEditPoints="1" noAdjustHandles="1" noChangeArrowheads="1" noChangeShapeType="1" noTextEdit="1"/>
              </p:cNvSpPr>
              <p:nvPr>
                <p:ph idx="1"/>
              </p:nvPr>
            </p:nvSpPr>
            <p:spPr>
              <a:xfrm>
                <a:off x="46364" y="1064301"/>
                <a:ext cx="6500878" cy="5400805"/>
              </a:xfrm>
              <a:blipFill>
                <a:blip r:embed="rId2"/>
                <a:stretch>
                  <a:fillRect l="-375" t="-14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0169DFA-1F1C-6693-B6FE-62740AA9CF57}"/>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2052" name="Picture 4">
            <a:extLst>
              <a:ext uri="{FF2B5EF4-FFF2-40B4-BE49-F238E27FC236}">
                <a16:creationId xmlns:a16="http://schemas.microsoft.com/office/drawing/2014/main" id="{04BC880D-FD74-1D3A-6034-7EFBF3A3734B}"/>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7493"/>
          <a:stretch>
            <a:fillRect/>
          </a:stretch>
        </p:blipFill>
        <p:spPr bwMode="auto">
          <a:xfrm>
            <a:off x="6547242" y="821551"/>
            <a:ext cx="1840084" cy="20499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CB99E7A-85C6-2438-9F9C-D80EC155D31A}"/>
              </a:ext>
            </a:extLst>
          </p:cNvPr>
          <p:cNvPicPr>
            <a:picLocks noChangeAspect="1"/>
          </p:cNvPicPr>
          <p:nvPr/>
        </p:nvPicPr>
        <p:blipFill>
          <a:blip r:embed="rId4">
            <a:duotone>
              <a:schemeClr val="accent4">
                <a:shade val="45000"/>
                <a:satMod val="135000"/>
              </a:schemeClr>
              <a:prstClr val="white"/>
            </a:duotone>
          </a:blip>
          <a:stretch>
            <a:fillRect/>
          </a:stretch>
        </p:blipFill>
        <p:spPr>
          <a:xfrm>
            <a:off x="7040235" y="2907625"/>
            <a:ext cx="1840083" cy="217542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85DCAF3-F5DE-70D7-4D19-CCB29B631E7D}"/>
                  </a:ext>
                </a:extLst>
              </p:cNvPr>
              <p:cNvSpPr txBox="1"/>
              <p:nvPr/>
            </p:nvSpPr>
            <p:spPr>
              <a:xfrm>
                <a:off x="6565938" y="5287039"/>
                <a:ext cx="1209755" cy="13606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FF0000"/>
                          </a:solidFill>
                          <a:latin typeface="Cambria Math" panose="02040503050406030204" pitchFamily="18" charset="0"/>
                        </a:rPr>
                        <m:t>𝒒</m:t>
                      </m:r>
                      <m:r>
                        <a:rPr lang="en-US" sz="2400" b="0" i="1" smtClean="0">
                          <a:solidFill>
                            <a:srgbClr val="FF0000"/>
                          </a:solidFill>
                          <a:latin typeface="Cambria Math" panose="02040503050406030204" pitchFamily="18" charset="0"/>
                        </a:rPr>
                        <m:t>=</m:t>
                      </m:r>
                      <m:d>
                        <m:dPr>
                          <m:begChr m:val="["/>
                          <m:endChr m:val="]"/>
                          <m:ctrlPr>
                            <a:rPr lang="en-US" sz="2400" b="0" i="1" smtClean="0">
                              <a:solidFill>
                                <a:srgbClr val="FF0000"/>
                              </a:solidFill>
                              <a:latin typeface="Cambria Math" panose="02040503050406030204" pitchFamily="18" charset="0"/>
                            </a:rPr>
                          </m:ctrlPr>
                        </m:dPr>
                        <m:e>
                          <m:m>
                            <m:mPr>
                              <m:mcs>
                                <m:mc>
                                  <m:mcPr>
                                    <m:count m:val="1"/>
                                    <m:mcJc m:val="center"/>
                                  </m:mcPr>
                                </m:mc>
                              </m:mcs>
                              <m:ctrlPr>
                                <a:rPr lang="en-US" sz="2400" b="0" i="1" smtClean="0">
                                  <a:solidFill>
                                    <a:srgbClr val="FF0000"/>
                                  </a:solidFill>
                                  <a:latin typeface="Cambria Math" panose="02040503050406030204" pitchFamily="18" charset="0"/>
                                </a:rPr>
                              </m:ctrlPr>
                            </m:mPr>
                            <m:mr>
                              <m:e>
                                <m:sSub>
                                  <m:sSubPr>
                                    <m:ctrlPr>
                                      <a:rPr lang="en-US" sz="2400" b="0" i="1" smtClean="0">
                                        <a:solidFill>
                                          <a:srgbClr val="FF0000"/>
                                        </a:solidFill>
                                        <a:latin typeface="Cambria Math" panose="02040503050406030204" pitchFamily="18" charset="0"/>
                                      </a:rPr>
                                    </m:ctrlPr>
                                  </m:sSubPr>
                                  <m:e>
                                    <m:r>
                                      <m:rPr>
                                        <m:brk m:alnAt="7"/>
                                      </m:rPr>
                                      <a:rPr lang="en-US" sz="2400" b="0" i="1" smtClean="0">
                                        <a:solidFill>
                                          <a:srgbClr val="FF0000"/>
                                        </a:solidFill>
                                        <a:latin typeface="Cambria Math" panose="02040503050406030204" pitchFamily="18" charset="0"/>
                                      </a:rPr>
                                      <m:t>𝑞</m:t>
                                    </m:r>
                                  </m:e>
                                  <m:sub>
                                    <m:r>
                                      <m:rPr>
                                        <m:brk m:alnAt="7"/>
                                      </m:rPr>
                                      <a:rPr lang="en-US" sz="2400" b="0" i="1" smtClean="0">
                                        <a:solidFill>
                                          <a:srgbClr val="FF0000"/>
                                        </a:solidFill>
                                        <a:latin typeface="Cambria Math" panose="02040503050406030204" pitchFamily="18" charset="0"/>
                                      </a:rPr>
                                      <m:t>1</m:t>
                                    </m:r>
                                  </m:sub>
                                </m:sSub>
                              </m:e>
                            </m:mr>
                            <m:mr>
                              <m:e>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𝑞</m:t>
                                    </m:r>
                                  </m:e>
                                  <m:sub>
                                    <m:r>
                                      <a:rPr lang="en-US" sz="2400" b="0" i="1" smtClean="0">
                                        <a:solidFill>
                                          <a:srgbClr val="FF0000"/>
                                        </a:solidFill>
                                        <a:latin typeface="Cambria Math" panose="02040503050406030204" pitchFamily="18" charset="0"/>
                                      </a:rPr>
                                      <m:t>2</m:t>
                                    </m:r>
                                  </m:sub>
                                </m:sSub>
                              </m:e>
                            </m:mr>
                            <m:mr>
                              <m:e>
                                <m:eqArr>
                                  <m:eqArrPr>
                                    <m:ctrlPr>
                                      <a:rPr lang="en-US" sz="2400" b="0" i="1" smtClean="0">
                                        <a:solidFill>
                                          <a:srgbClr val="FF0000"/>
                                        </a:solidFill>
                                        <a:latin typeface="Cambria Math" panose="02040503050406030204" pitchFamily="18" charset="0"/>
                                      </a:rPr>
                                    </m:ctrlPr>
                                  </m:eqArrPr>
                                  <m:e>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𝑞</m:t>
                                        </m:r>
                                      </m:e>
                                      <m:sub>
                                        <m:r>
                                          <a:rPr lang="en-US" sz="2400" b="0" i="1" smtClean="0">
                                            <a:solidFill>
                                              <a:srgbClr val="FF0000"/>
                                            </a:solidFill>
                                            <a:latin typeface="Cambria Math" panose="02040503050406030204" pitchFamily="18" charset="0"/>
                                          </a:rPr>
                                          <m:t>3</m:t>
                                        </m:r>
                                      </m:sub>
                                    </m:sSub>
                                  </m:e>
                                  <m:e>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𝑞</m:t>
                                        </m:r>
                                      </m:e>
                                      <m:sub>
                                        <m:r>
                                          <a:rPr lang="en-US" sz="2400" b="0" i="1" smtClean="0">
                                            <a:solidFill>
                                              <a:srgbClr val="FF0000"/>
                                            </a:solidFill>
                                            <a:latin typeface="Cambria Math" panose="02040503050406030204" pitchFamily="18" charset="0"/>
                                          </a:rPr>
                                          <m:t>4</m:t>
                                        </m:r>
                                      </m:sub>
                                    </m:sSub>
                                  </m:e>
                                </m:eqArr>
                              </m:e>
                            </m:mr>
                          </m:m>
                        </m:e>
                      </m:d>
                    </m:oMath>
                  </m:oMathPara>
                </a14:m>
                <a:endParaRPr lang="en-US" sz="2400" b="1" dirty="0">
                  <a:solidFill>
                    <a:srgbClr val="FF0000"/>
                  </a:solidFill>
                </a:endParaRPr>
              </a:p>
            </p:txBody>
          </p:sp>
        </mc:Choice>
        <mc:Fallback xmlns="">
          <p:sp>
            <p:nvSpPr>
              <p:cNvPr id="6" name="TextBox 5">
                <a:extLst>
                  <a:ext uri="{FF2B5EF4-FFF2-40B4-BE49-F238E27FC236}">
                    <a16:creationId xmlns:a16="http://schemas.microsoft.com/office/drawing/2014/main" id="{D85DCAF3-F5DE-70D7-4D19-CCB29B631E7D}"/>
                  </a:ext>
                </a:extLst>
              </p:cNvPr>
              <p:cNvSpPr txBox="1">
                <a:spLocks noRot="1" noChangeAspect="1" noMove="1" noResize="1" noEditPoints="1" noAdjustHandles="1" noChangeArrowheads="1" noChangeShapeType="1" noTextEdit="1"/>
              </p:cNvSpPr>
              <p:nvPr/>
            </p:nvSpPr>
            <p:spPr>
              <a:xfrm>
                <a:off x="6565938" y="5287039"/>
                <a:ext cx="1209755" cy="136062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53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C3108-06C6-A2A4-EC22-A978C4B92DB6}"/>
              </a:ext>
            </a:extLst>
          </p:cNvPr>
          <p:cNvSpPr>
            <a:spLocks noGrp="1"/>
          </p:cNvSpPr>
          <p:nvPr>
            <p:ph type="title"/>
          </p:nvPr>
        </p:nvSpPr>
        <p:spPr/>
        <p:txBody>
          <a:bodyPr/>
          <a:lstStyle/>
          <a:p>
            <a:r>
              <a:rPr lang="en-US" dirty="0"/>
              <a:t>Attitude Dynamics Fundamentals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A0F096-7D4E-C05C-B89F-AF01413EC6D7}"/>
                  </a:ext>
                </a:extLst>
              </p:cNvPr>
              <p:cNvSpPr>
                <a:spLocks noGrp="1"/>
              </p:cNvSpPr>
              <p:nvPr>
                <p:ph idx="1"/>
              </p:nvPr>
            </p:nvSpPr>
            <p:spPr>
              <a:xfrm>
                <a:off x="200025" y="1002506"/>
                <a:ext cx="8793015" cy="5722308"/>
              </a:xfrm>
            </p:spPr>
            <p:txBody>
              <a:bodyPr>
                <a:normAutofit lnSpcReduction="10000"/>
              </a:bodyPr>
              <a:lstStyle/>
              <a:p>
                <a:pPr marL="0" indent="0">
                  <a:buNone/>
                </a:pPr>
                <a:r>
                  <a:rPr lang="en-US" sz="2000" b="1" dirty="0"/>
                  <a:t>Attitude Dynamics describe rotational motion of spacecraft. </a:t>
                </a:r>
              </a:p>
              <a:p>
                <a:pPr marL="457200" lvl="1" indent="0">
                  <a:buNone/>
                </a:pPr>
                <a:r>
                  <a:rPr lang="en-US" sz="2000" dirty="0">
                    <a:sym typeface="Wingdings" panose="05000000000000000000" pitchFamily="2" charset="2"/>
                  </a:rPr>
                  <a:t>Assumption: spacecraft is a rigid body with constant mass</a:t>
                </a:r>
              </a:p>
              <a:p>
                <a:pPr marL="0" indent="0">
                  <a:buNone/>
                </a:pPr>
                <a:endParaRPr lang="en-US" sz="2000" dirty="0">
                  <a:sym typeface="Wingdings" panose="05000000000000000000" pitchFamily="2" charset="2"/>
                </a:endParaRPr>
              </a:p>
              <a:p>
                <a:pPr marL="0" indent="0" algn="ctr">
                  <a:buNone/>
                </a:pPr>
                <a:r>
                  <a:rPr lang="en-US" sz="2000" u="sng" dirty="0">
                    <a:sym typeface="Wingdings" panose="05000000000000000000" pitchFamily="2" charset="2"/>
                  </a:rPr>
                  <a:t>Angular Momentum</a:t>
                </a:r>
              </a:p>
              <a:p>
                <a:pPr marL="0" indent="0" algn="ctr">
                  <a:buNone/>
                </a:pPr>
                <a:endParaRPr lang="en-US" sz="2000" u="sng" dirty="0">
                  <a:sym typeface="Wingdings" panose="05000000000000000000" pitchFamily="2" charset="2"/>
                </a:endParaRPr>
              </a:p>
              <a:p>
                <a:pPr marL="0" indent="0">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sym typeface="Wingdings" panose="05000000000000000000" pitchFamily="2" charset="2"/>
                        </a:rPr>
                        <m:t>𝑯</m:t>
                      </m:r>
                      <m:r>
                        <a:rPr lang="en-US" sz="2000" b="1" i="1" smtClean="0">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𝐼</m:t>
                      </m:r>
                      <m:r>
                        <a:rPr lang="en-US" sz="2000" b="1" i="1" smtClean="0">
                          <a:latin typeface="Cambria Math" panose="02040503050406030204" pitchFamily="18" charset="0"/>
                          <a:sym typeface="Wingdings" panose="05000000000000000000" pitchFamily="2" charset="2"/>
                        </a:rPr>
                        <m:t>𝝎</m:t>
                      </m:r>
                    </m:oMath>
                  </m:oMathPara>
                </a14:m>
                <a:endParaRPr lang="en-US" sz="2000" b="1" dirty="0">
                  <a:sym typeface="Wingdings" panose="05000000000000000000" pitchFamily="2" charset="2"/>
                </a:endParaRPr>
              </a:p>
              <a:p>
                <a:pPr marL="0" indent="0">
                  <a:buNone/>
                </a:pPr>
                <a:endParaRPr lang="en-US" sz="2000" b="1" dirty="0">
                  <a:sym typeface="Wingdings" panose="05000000000000000000" pitchFamily="2" charset="2"/>
                </a:endParaRPr>
              </a:p>
              <a:p>
                <a:pPr marL="0" indent="0">
                  <a:buNone/>
                </a:pPr>
                <a14:m>
                  <m:oMath xmlns:m="http://schemas.openxmlformats.org/officeDocument/2006/math">
                    <m:r>
                      <a:rPr lang="en-US" sz="2000" b="1" i="1" smtClean="0">
                        <a:latin typeface="Cambria Math" panose="02040503050406030204" pitchFamily="18" charset="0"/>
                        <a:sym typeface="Wingdings" panose="05000000000000000000" pitchFamily="2" charset="2"/>
                      </a:rPr>
                      <m:t>𝑯</m:t>
                    </m:r>
                  </m:oMath>
                </a14:m>
                <a:r>
                  <a:rPr lang="en-US" sz="2000" b="1" dirty="0">
                    <a:sym typeface="Wingdings" panose="05000000000000000000" pitchFamily="2" charset="2"/>
                  </a:rPr>
                  <a:t> = </a:t>
                </a:r>
                <a:r>
                  <a:rPr lang="en-US" sz="2000" dirty="0">
                    <a:sym typeface="Wingdings" panose="05000000000000000000" pitchFamily="2" charset="2"/>
                  </a:rPr>
                  <a:t>Angular Momentum (kg·m</a:t>
                </a:r>
                <a:r>
                  <a:rPr lang="en-US" sz="2000" baseline="30000" dirty="0">
                    <a:sym typeface="Wingdings" panose="05000000000000000000" pitchFamily="2" charset="2"/>
                  </a:rPr>
                  <a:t>2</a:t>
                </a:r>
                <a:r>
                  <a:rPr lang="en-US" sz="2000" dirty="0">
                    <a:sym typeface="Wingdings" panose="05000000000000000000" pitchFamily="2" charset="2"/>
                  </a:rPr>
                  <a:t>/sec) 		[3x1 vector]</a:t>
                </a:r>
              </a:p>
              <a:p>
                <a:pPr marL="0" indent="0">
                  <a:buNone/>
                </a:pPr>
                <a14:m>
                  <m:oMath xmlns:m="http://schemas.openxmlformats.org/officeDocument/2006/math">
                    <m:r>
                      <a:rPr lang="en-US" sz="2000" b="0" i="1" smtClean="0">
                        <a:latin typeface="Cambria Math" panose="02040503050406030204" pitchFamily="18" charset="0"/>
                        <a:sym typeface="Wingdings" panose="05000000000000000000" pitchFamily="2" charset="2"/>
                      </a:rPr>
                      <m:t>𝐼</m:t>
                    </m:r>
                  </m:oMath>
                </a14:m>
                <a:r>
                  <a:rPr lang="en-US" sz="2000" dirty="0">
                    <a:sym typeface="Wingdings" panose="05000000000000000000" pitchFamily="2" charset="2"/>
                  </a:rPr>
                  <a:t> = Inertia Matrix (</a:t>
                </a:r>
                <a:r>
                  <a:rPr lang="en-US" sz="2000" dirty="0"/>
                  <a:t>kg·m</a:t>
                </a:r>
                <a:r>
                  <a:rPr lang="en-US" sz="2000" baseline="30000" dirty="0"/>
                  <a:t>2</a:t>
                </a:r>
                <a:r>
                  <a:rPr lang="en-US" sz="2000" dirty="0">
                    <a:sym typeface="Wingdings" panose="05000000000000000000" pitchFamily="2" charset="2"/>
                  </a:rPr>
                  <a:t>)			[3x3 matrix]</a:t>
                </a:r>
              </a:p>
              <a:p>
                <a:pPr marL="0" indent="0">
                  <a:buNone/>
                </a:pPr>
                <a14:m>
                  <m:oMath xmlns:m="http://schemas.openxmlformats.org/officeDocument/2006/math">
                    <m:r>
                      <a:rPr lang="en-US" sz="2000" b="1" i="1" smtClean="0">
                        <a:latin typeface="Cambria Math" panose="02040503050406030204" pitchFamily="18" charset="0"/>
                        <a:sym typeface="Wingdings" panose="05000000000000000000" pitchFamily="2" charset="2"/>
                      </a:rPr>
                      <m:t>𝝎</m:t>
                    </m:r>
                  </m:oMath>
                </a14:m>
                <a:r>
                  <a:rPr lang="en-US" sz="2000" b="1" dirty="0">
                    <a:sym typeface="Wingdings" panose="05000000000000000000" pitchFamily="2" charset="2"/>
                  </a:rPr>
                  <a:t> = </a:t>
                </a:r>
                <a:r>
                  <a:rPr lang="en-US" sz="2000" dirty="0">
                    <a:sym typeface="Wingdings" panose="05000000000000000000" pitchFamily="2" charset="2"/>
                  </a:rPr>
                  <a:t>Angular velocity (rad/s) 			[3x1 vector]</a:t>
                </a:r>
              </a:p>
              <a:p>
                <a:pPr marL="0" indent="0">
                  <a:buNone/>
                </a:pPr>
                <a:endParaRPr lang="en-US" sz="2000" dirty="0">
                  <a:sym typeface="Wingdings" panose="05000000000000000000" pitchFamily="2" charset="2"/>
                </a:endParaRPr>
              </a:p>
              <a:p>
                <a:pPr marL="0" indent="0" algn="ctr">
                  <a:buNone/>
                </a:pPr>
                <a:r>
                  <a:rPr lang="en-US" sz="2000" u="sng" dirty="0">
                    <a:sym typeface="Wingdings" panose="05000000000000000000" pitchFamily="2" charset="2"/>
                  </a:rPr>
                  <a:t>Conservation of Angular Momentum</a:t>
                </a:r>
                <a:endParaRPr lang="en-US" sz="2000" dirty="0">
                  <a:sym typeface="Wingdings" panose="05000000000000000000" pitchFamily="2" charset="2"/>
                </a:endParaRPr>
              </a:p>
              <a:p>
                <a:pPr marL="0" indent="0">
                  <a:buNone/>
                </a:pPr>
                <a:r>
                  <a:rPr lang="en-US" sz="2000" dirty="0">
                    <a:sym typeface="Wingdings" panose="05000000000000000000" pitchFamily="2" charset="2"/>
                  </a:rPr>
                  <a:t>If no external torques are applied, then angular momentum is conserved:</a:t>
                </a:r>
              </a:p>
              <a:p>
                <a:pPr marL="0" indent="0">
                  <a:buNone/>
                </a:pPr>
                <a:endParaRPr lang="en-US" sz="2000" dirty="0">
                  <a:sym typeface="Wingdings" panose="05000000000000000000" pitchFamily="2" charset="2"/>
                </a:endParaRPr>
              </a:p>
              <a:p>
                <a:pPr marL="0" indent="0">
                  <a:buNone/>
                </a:pPr>
                <a14:m>
                  <m:oMathPara xmlns:m="http://schemas.openxmlformats.org/officeDocument/2006/math">
                    <m:oMathParaPr>
                      <m:jc m:val="centerGroup"/>
                    </m:oMathParaPr>
                    <m:oMath xmlns:m="http://schemas.openxmlformats.org/officeDocument/2006/math">
                      <m:f>
                        <m:fPr>
                          <m:ctrlPr>
                            <a:rPr lang="en-US" sz="2000" b="0" i="1" smtClean="0">
                              <a:latin typeface="Cambria Math" panose="02040503050406030204" pitchFamily="18" charset="0"/>
                              <a:sym typeface="Wingdings" panose="05000000000000000000" pitchFamily="2" charset="2"/>
                            </a:rPr>
                          </m:ctrlPr>
                        </m:fPr>
                        <m:num>
                          <m:r>
                            <a:rPr lang="en-US" sz="2000" b="0" i="1" smtClean="0">
                              <a:latin typeface="Cambria Math" panose="02040503050406030204" pitchFamily="18" charset="0"/>
                              <a:sym typeface="Wingdings" panose="05000000000000000000" pitchFamily="2" charset="2"/>
                            </a:rPr>
                            <m:t>𝑑</m:t>
                          </m:r>
                          <m:r>
                            <a:rPr lang="en-US" sz="2000" b="1" i="1" smtClean="0">
                              <a:latin typeface="Cambria Math" panose="02040503050406030204" pitchFamily="18" charset="0"/>
                              <a:sym typeface="Wingdings" panose="05000000000000000000" pitchFamily="2" charset="2"/>
                            </a:rPr>
                            <m:t>𝑯</m:t>
                          </m:r>
                        </m:num>
                        <m:den>
                          <m:r>
                            <a:rPr lang="en-US" sz="2000" b="0" i="1" smtClean="0">
                              <a:latin typeface="Cambria Math" panose="02040503050406030204" pitchFamily="18" charset="0"/>
                              <a:sym typeface="Wingdings" panose="05000000000000000000" pitchFamily="2" charset="2"/>
                            </a:rPr>
                            <m:t>𝑑𝑡</m:t>
                          </m:r>
                        </m:den>
                      </m:f>
                      <m:r>
                        <a:rPr lang="en-US" sz="2000" b="0" i="1" smtClean="0">
                          <a:latin typeface="Cambria Math" panose="02040503050406030204" pitchFamily="18" charset="0"/>
                          <a:sym typeface="Wingdings" panose="05000000000000000000" pitchFamily="2" charset="2"/>
                        </a:rPr>
                        <m:t>=0 </m:t>
                      </m:r>
                    </m:oMath>
                  </m:oMathPara>
                </a14:m>
                <a:endParaRPr lang="en-US" sz="2000" b="1" dirty="0">
                  <a:sym typeface="Wingdings" panose="05000000000000000000" pitchFamily="2" charset="2"/>
                </a:endParaRPr>
              </a:p>
            </p:txBody>
          </p:sp>
        </mc:Choice>
        <mc:Fallback xmlns="">
          <p:sp>
            <p:nvSpPr>
              <p:cNvPr id="3" name="Content Placeholder 2">
                <a:extLst>
                  <a:ext uri="{FF2B5EF4-FFF2-40B4-BE49-F238E27FC236}">
                    <a16:creationId xmlns:a16="http://schemas.microsoft.com/office/drawing/2014/main" id="{A1A0F096-7D4E-C05C-B89F-AF01413EC6D7}"/>
                  </a:ext>
                </a:extLst>
              </p:cNvPr>
              <p:cNvSpPr>
                <a:spLocks noGrp="1" noRot="1" noChangeAspect="1" noMove="1" noResize="1" noEditPoints="1" noAdjustHandles="1" noChangeArrowheads="1" noChangeShapeType="1" noTextEdit="1"/>
              </p:cNvSpPr>
              <p:nvPr>
                <p:ph idx="1"/>
              </p:nvPr>
            </p:nvSpPr>
            <p:spPr>
              <a:xfrm>
                <a:off x="200025" y="1002506"/>
                <a:ext cx="8793015" cy="5722308"/>
              </a:xfrm>
              <a:blipFill>
                <a:blip r:embed="rId3"/>
                <a:stretch>
                  <a:fillRect l="-763" t="-149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919F8FD-D602-0D4A-2FFB-9E580C4A00B4}"/>
              </a:ext>
            </a:extLst>
          </p:cNvPr>
          <p:cNvSpPr>
            <a:spLocks noGrp="1"/>
          </p:cNvSpPr>
          <p:nvPr>
            <p:ph type="sldNum" sz="quarter" idx="12"/>
          </p:nvPr>
        </p:nvSpPr>
        <p:spPr/>
        <p:txBody>
          <a:bodyPr/>
          <a:lstStyle/>
          <a:p>
            <a:fld id="{9A3029B7-FE6B-4680-9049-80E8298A0825}" type="slidenum">
              <a:rPr lang="en-US" smtClean="0"/>
              <a:t>4</a:t>
            </a:fld>
            <a:endParaRPr lang="en-US"/>
          </a:p>
        </p:txBody>
      </p:sp>
    </p:spTree>
    <p:extLst>
      <p:ext uri="{BB962C8B-B14F-4D97-AF65-F5344CB8AC3E}">
        <p14:creationId xmlns:p14="http://schemas.microsoft.com/office/powerpoint/2010/main" val="900791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CCD23-3899-8DDF-C12E-CB2273B1A8D1}"/>
              </a:ext>
            </a:extLst>
          </p:cNvPr>
          <p:cNvSpPr>
            <a:spLocks noGrp="1"/>
          </p:cNvSpPr>
          <p:nvPr>
            <p:ph type="title"/>
          </p:nvPr>
        </p:nvSpPr>
        <p:spPr/>
        <p:txBody>
          <a:bodyPr/>
          <a:lstStyle/>
          <a:p>
            <a:r>
              <a:rPr lang="en-US" dirty="0"/>
              <a:t>Attitude Dynamics Fundamentals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A222D4-51D2-43D9-41CD-0743577098E7}"/>
                  </a:ext>
                </a:extLst>
              </p:cNvPr>
              <p:cNvSpPr>
                <a:spLocks noGrp="1"/>
              </p:cNvSpPr>
              <p:nvPr>
                <p:ph idx="1"/>
              </p:nvPr>
            </p:nvSpPr>
            <p:spPr>
              <a:xfrm>
                <a:off x="175492" y="1150788"/>
                <a:ext cx="8793015" cy="5227553"/>
              </a:xfrm>
            </p:spPr>
            <p:txBody>
              <a:bodyPr>
                <a:normAutofit fontScale="92500" lnSpcReduction="20000"/>
              </a:bodyPr>
              <a:lstStyle/>
              <a:p>
                <a:pPr marL="0" indent="0" algn="ctr">
                  <a:buNone/>
                </a:pPr>
                <a:r>
                  <a:rPr lang="en-US" sz="2000" u="sng" dirty="0"/>
                  <a:t>Euler’s Law</a:t>
                </a:r>
              </a:p>
              <a:p>
                <a:pPr marL="0" indent="0">
                  <a:buNone/>
                </a:pPr>
                <a:r>
                  <a:rPr lang="en-US" sz="2000" dirty="0"/>
                  <a:t>Describes how the angular momentum of a rigid body changes when subjected to external torques (</a:t>
                </a:r>
                <a14:m>
                  <m:oMath xmlns:m="http://schemas.openxmlformats.org/officeDocument/2006/math">
                    <m:sSub>
                      <m:sSubPr>
                        <m:ctrlPr>
                          <a:rPr lang="en-US" sz="2000" b="1" i="1">
                            <a:latin typeface="Cambria Math" panose="02040503050406030204" pitchFamily="18" charset="0"/>
                          </a:rPr>
                        </m:ctrlPr>
                      </m:sSubPr>
                      <m:e>
                        <m:r>
                          <a:rPr lang="en-US" sz="2000" b="1" i="1" smtClean="0">
                            <a:latin typeface="Cambria Math" panose="02040503050406030204" pitchFamily="18" charset="0"/>
                          </a:rPr>
                          <m:t>𝑻</m:t>
                        </m:r>
                      </m:e>
                      <m:sub>
                        <m:r>
                          <a:rPr lang="en-US" sz="2000" b="1" i="1">
                            <a:latin typeface="Cambria Math" panose="02040503050406030204" pitchFamily="18" charset="0"/>
                          </a:rPr>
                          <m:t>𝒆𝒙𝒕</m:t>
                        </m:r>
                      </m:sub>
                    </m:sSub>
                    <m:r>
                      <a:rPr lang="en-US" sz="2000" b="1" i="1">
                        <a:latin typeface="Cambria Math" panose="02040503050406030204" pitchFamily="18" charset="0"/>
                      </a:rPr>
                      <m:t> </m:t>
                    </m:r>
                  </m:oMath>
                </a14:m>
                <a:r>
                  <a:rPr lang="en-US" sz="2000" dirty="0"/>
                  <a:t>):</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2000" b="1" i="1">
                              <a:latin typeface="Cambria Math" panose="02040503050406030204" pitchFamily="18" charset="0"/>
                            </a:rPr>
                          </m:ctrlPr>
                        </m:fPr>
                        <m:num>
                          <m:r>
                            <a:rPr lang="en-US" sz="2000" i="1">
                              <a:latin typeface="Cambria Math" panose="02040503050406030204" pitchFamily="18" charset="0"/>
                            </a:rPr>
                            <m:t>𝑑</m:t>
                          </m:r>
                          <m:r>
                            <a:rPr lang="en-US" sz="2000" b="1" i="1">
                              <a:latin typeface="Cambria Math" panose="02040503050406030204" pitchFamily="18" charset="0"/>
                            </a:rPr>
                            <m:t>𝑯</m:t>
                          </m:r>
                        </m:num>
                        <m:den>
                          <m:r>
                            <a:rPr lang="en-US" sz="2000" i="1">
                              <a:latin typeface="Cambria Math" panose="02040503050406030204" pitchFamily="18" charset="0"/>
                            </a:rPr>
                            <m:t>𝑑𝑡</m:t>
                          </m:r>
                        </m:den>
                      </m:f>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smtClean="0">
                              <a:latin typeface="Cambria Math" panose="02040503050406030204" pitchFamily="18" charset="0"/>
                            </a:rPr>
                            <m:t>𝑻</m:t>
                          </m:r>
                        </m:e>
                        <m:sub>
                          <m:r>
                            <a:rPr lang="en-US" sz="2000" b="1" i="1">
                              <a:latin typeface="Cambria Math" panose="02040503050406030204" pitchFamily="18" charset="0"/>
                            </a:rPr>
                            <m:t>𝒆𝒙𝒕</m:t>
                          </m:r>
                        </m:sub>
                      </m:sSub>
                      <m:r>
                        <a:rPr lang="en-US" sz="2000" b="1" i="1">
                          <a:latin typeface="Cambria Math" panose="02040503050406030204" pitchFamily="18" charset="0"/>
                        </a:rPr>
                        <m:t>)</m:t>
                      </m:r>
                    </m:oMath>
                  </m:oMathPara>
                </a14:m>
                <a:endParaRPr lang="en-US" sz="2000" b="1" dirty="0"/>
              </a:p>
              <a:p>
                <a:pPr marL="0" indent="0">
                  <a:buNone/>
                </a:pPr>
                <a:endParaRPr lang="en-US" sz="2000" u="sng" dirty="0"/>
              </a:p>
              <a:p>
                <a:pPr marL="0" indent="0">
                  <a:buNone/>
                </a:pPr>
                <a:r>
                  <a:rPr lang="en-US" sz="2000" dirty="0"/>
                  <a:t>For a body coordinate system aligned with the principal axes, it can be shown that:</a:t>
                </a:r>
              </a:p>
              <a:p>
                <a:pPr marL="0" indent="0">
                  <a:buNone/>
                </a:pPr>
                <a:endParaRPr lang="en-US" sz="2000" u="sng"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𝑇</m:t>
                          </m:r>
                        </m:e>
                        <m:sub>
                          <m:r>
                            <a:rPr lang="en-US" sz="2000" i="1">
                              <a:latin typeface="Cambria Math" panose="02040503050406030204" pitchFamily="18" charset="0"/>
                            </a:rPr>
                            <m:t>𝑥</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𝑥</m:t>
                          </m:r>
                        </m:sub>
                      </m:sSub>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𝜔</m:t>
                              </m:r>
                            </m:e>
                          </m:acc>
                        </m:e>
                        <m:sub>
                          <m:r>
                            <a:rPr lang="en-US" sz="2000" i="1">
                              <a:latin typeface="Cambria Math" panose="02040503050406030204" pitchFamily="18" charset="0"/>
                            </a:rPr>
                            <m:t>𝑥</m:t>
                          </m:r>
                        </m:sub>
                      </m:sSub>
                      <m:r>
                        <a:rPr lang="en-US" sz="2000" i="1">
                          <a:latin typeface="Cambria Math" panose="02040503050406030204" pitchFamily="18" charset="0"/>
                        </a:rPr>
                        <m:t>+</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𝑧</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𝑦</m:t>
                              </m:r>
                            </m:sub>
                          </m:sSub>
                        </m:e>
                      </m:d>
                      <m:sSub>
                        <m:sSubPr>
                          <m:ctrlPr>
                            <a:rPr lang="en-US"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𝑦</m:t>
                          </m:r>
                        </m:sub>
                      </m:sSub>
                      <m:sSub>
                        <m:sSubPr>
                          <m:ctrlPr>
                            <a:rPr lang="en-US"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𝑧</m:t>
                          </m:r>
                        </m:sub>
                      </m:sSub>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𝑇</m:t>
                          </m:r>
                        </m:e>
                        <m:sub>
                          <m:r>
                            <a:rPr lang="en-US" sz="2000" i="1">
                              <a:latin typeface="Cambria Math" panose="02040503050406030204" pitchFamily="18" charset="0"/>
                            </a:rPr>
                            <m:t>𝑦</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𝑦</m:t>
                          </m:r>
                        </m:sub>
                      </m:sSub>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𝜔</m:t>
                              </m:r>
                            </m:e>
                          </m:acc>
                        </m:e>
                        <m:sub>
                          <m:r>
                            <a:rPr lang="en-US" sz="2000" i="1">
                              <a:latin typeface="Cambria Math" panose="02040503050406030204" pitchFamily="18" charset="0"/>
                            </a:rPr>
                            <m:t>𝑦</m:t>
                          </m:r>
                        </m:sub>
                      </m:sSub>
                      <m:r>
                        <a:rPr lang="en-US" sz="2000" i="1">
                          <a:latin typeface="Cambria Math" panose="02040503050406030204" pitchFamily="18" charset="0"/>
                        </a:rPr>
                        <m:t>+</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𝑥</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𝑧</m:t>
                              </m:r>
                            </m:sub>
                          </m:sSub>
                        </m:e>
                      </m:d>
                      <m:sSub>
                        <m:sSubPr>
                          <m:ctrlPr>
                            <a:rPr lang="en-US"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𝑥</m:t>
                          </m:r>
                        </m:sub>
                      </m:sSub>
                      <m:sSub>
                        <m:sSubPr>
                          <m:ctrlPr>
                            <a:rPr lang="en-US"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𝑧</m:t>
                          </m:r>
                        </m:sub>
                      </m:sSub>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𝑇</m:t>
                          </m:r>
                        </m:e>
                        <m:sub>
                          <m:r>
                            <a:rPr lang="en-US" sz="2000" i="1">
                              <a:latin typeface="Cambria Math" panose="02040503050406030204" pitchFamily="18" charset="0"/>
                            </a:rPr>
                            <m:t>𝑧</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𝑧</m:t>
                          </m:r>
                        </m:sub>
                      </m:sSub>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𝜔</m:t>
                              </m:r>
                            </m:e>
                          </m:acc>
                        </m:e>
                        <m:sub>
                          <m:r>
                            <a:rPr lang="en-US" sz="2000" i="1">
                              <a:latin typeface="Cambria Math" panose="02040503050406030204" pitchFamily="18" charset="0"/>
                            </a:rPr>
                            <m:t>𝑧</m:t>
                          </m:r>
                        </m:sub>
                      </m:sSub>
                      <m:r>
                        <a:rPr lang="en-US" sz="2000" i="1">
                          <a:latin typeface="Cambria Math" panose="02040503050406030204" pitchFamily="18" charset="0"/>
                        </a:rPr>
                        <m:t>+</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𝑦</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𝑥</m:t>
                              </m:r>
                            </m:sub>
                          </m:sSub>
                        </m:e>
                      </m:d>
                      <m:sSub>
                        <m:sSubPr>
                          <m:ctrlPr>
                            <a:rPr lang="en-US"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𝑥</m:t>
                          </m:r>
                        </m:sub>
                      </m:sSub>
                      <m:sSub>
                        <m:sSubPr>
                          <m:ctrlPr>
                            <a:rPr lang="en-US"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𝑦</m:t>
                          </m:r>
                        </m:sub>
                      </m:sSub>
                    </m:oMath>
                  </m:oMathPara>
                </a14:m>
                <a:endParaRPr lang="en-US" sz="2000" dirty="0"/>
              </a:p>
              <a:p>
                <a:pPr marL="0" indent="0">
                  <a:buNone/>
                </a:pPr>
                <a:endParaRPr lang="en-US" sz="2000" u="sng" dirty="0"/>
              </a:p>
              <a:p>
                <a:pPr marL="0" indent="0">
                  <a:buNone/>
                </a:pPr>
                <a:r>
                  <a:rPr lang="en-US" sz="2000" dirty="0">
                    <a:sym typeface="Wingdings" panose="05000000000000000000" pitchFamily="2" charset="2"/>
                  </a:rPr>
                  <a:t></a:t>
                </a:r>
                <a:r>
                  <a:rPr lang="en-US" sz="2000" u="sng" dirty="0"/>
                  <a:t>Theses are commonly known as Euler’s Rotational Equations of Motion</a:t>
                </a:r>
              </a:p>
            </p:txBody>
          </p:sp>
        </mc:Choice>
        <mc:Fallback xmlns="">
          <p:sp>
            <p:nvSpPr>
              <p:cNvPr id="3" name="Content Placeholder 2">
                <a:extLst>
                  <a:ext uri="{FF2B5EF4-FFF2-40B4-BE49-F238E27FC236}">
                    <a16:creationId xmlns:a16="http://schemas.microsoft.com/office/drawing/2014/main" id="{32A222D4-51D2-43D9-41CD-0743577098E7}"/>
                  </a:ext>
                </a:extLst>
              </p:cNvPr>
              <p:cNvSpPr>
                <a:spLocks noGrp="1" noRot="1" noChangeAspect="1" noMove="1" noResize="1" noEditPoints="1" noAdjustHandles="1" noChangeArrowheads="1" noChangeShapeType="1" noTextEdit="1"/>
              </p:cNvSpPr>
              <p:nvPr>
                <p:ph idx="1"/>
              </p:nvPr>
            </p:nvSpPr>
            <p:spPr>
              <a:xfrm>
                <a:off x="175492" y="1150788"/>
                <a:ext cx="8793015" cy="5227553"/>
              </a:xfrm>
              <a:blipFill>
                <a:blip r:embed="rId3"/>
                <a:stretch>
                  <a:fillRect l="-693" t="-22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71C06FE-7934-3CF6-7CC8-C94EBEA93E52}"/>
              </a:ext>
            </a:extLst>
          </p:cNvPr>
          <p:cNvSpPr>
            <a:spLocks noGrp="1"/>
          </p:cNvSpPr>
          <p:nvPr>
            <p:ph type="sldNum" sz="quarter" idx="12"/>
          </p:nvPr>
        </p:nvSpPr>
        <p:spPr/>
        <p:txBody>
          <a:bodyPr/>
          <a:lstStyle/>
          <a:p>
            <a:fld id="{9A3029B7-FE6B-4680-9049-80E8298A0825}" type="slidenum">
              <a:rPr lang="en-US" smtClean="0"/>
              <a:t>5</a:t>
            </a:fld>
            <a:endParaRPr lang="en-US"/>
          </a:p>
        </p:txBody>
      </p:sp>
    </p:spTree>
    <p:extLst>
      <p:ext uri="{BB962C8B-B14F-4D97-AF65-F5344CB8AC3E}">
        <p14:creationId xmlns:p14="http://schemas.microsoft.com/office/powerpoint/2010/main" val="369808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3105-8D92-F3BA-DA9D-C7F3DFBA8E40}"/>
              </a:ext>
            </a:extLst>
          </p:cNvPr>
          <p:cNvSpPr>
            <a:spLocks noGrp="1"/>
          </p:cNvSpPr>
          <p:nvPr>
            <p:ph type="title"/>
          </p:nvPr>
        </p:nvSpPr>
        <p:spPr/>
        <p:txBody>
          <a:bodyPr/>
          <a:lstStyle/>
          <a:p>
            <a:r>
              <a:rPr lang="en-US" dirty="0"/>
              <a:t>Control Systems</a:t>
            </a:r>
          </a:p>
        </p:txBody>
      </p:sp>
      <p:sp>
        <p:nvSpPr>
          <p:cNvPr id="3" name="Content Placeholder 2">
            <a:extLst>
              <a:ext uri="{FF2B5EF4-FFF2-40B4-BE49-F238E27FC236}">
                <a16:creationId xmlns:a16="http://schemas.microsoft.com/office/drawing/2014/main" id="{B7A32A80-BD54-29EF-B75B-FCA2052A4A96}"/>
              </a:ext>
            </a:extLst>
          </p:cNvPr>
          <p:cNvSpPr>
            <a:spLocks noGrp="1"/>
          </p:cNvSpPr>
          <p:nvPr>
            <p:ph idx="1"/>
          </p:nvPr>
        </p:nvSpPr>
        <p:spPr/>
        <p:txBody>
          <a:bodyPr/>
          <a:lstStyle/>
          <a:p>
            <a:pPr marL="0" indent="0">
              <a:buNone/>
            </a:pPr>
            <a:r>
              <a:rPr lang="en-US" b="1" dirty="0"/>
              <a:t>Open Loop Control:</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a:t>Closed Loop Control:</a:t>
            </a:r>
          </a:p>
          <a:p>
            <a:pPr marL="0" indent="0">
              <a:buNone/>
            </a:pPr>
            <a:endParaRPr lang="en-US" dirty="0"/>
          </a:p>
        </p:txBody>
      </p:sp>
      <p:sp>
        <p:nvSpPr>
          <p:cNvPr id="4" name="Slide Number Placeholder 3">
            <a:extLst>
              <a:ext uri="{FF2B5EF4-FFF2-40B4-BE49-F238E27FC236}">
                <a16:creationId xmlns:a16="http://schemas.microsoft.com/office/drawing/2014/main" id="{B3D17B65-A37B-0558-7951-9B030FE360AD}"/>
              </a:ext>
            </a:extLst>
          </p:cNvPr>
          <p:cNvSpPr>
            <a:spLocks noGrp="1"/>
          </p:cNvSpPr>
          <p:nvPr>
            <p:ph type="sldNum" sz="quarter" idx="12"/>
          </p:nvPr>
        </p:nvSpPr>
        <p:spPr/>
        <p:txBody>
          <a:bodyPr/>
          <a:lstStyle/>
          <a:p>
            <a:fld id="{9A3029B7-FE6B-4680-9049-80E8298A0825}" type="slidenum">
              <a:rPr lang="en-US" smtClean="0"/>
              <a:t>6</a:t>
            </a:fld>
            <a:endParaRPr lang="en-US"/>
          </a:p>
        </p:txBody>
      </p:sp>
      <p:pic>
        <p:nvPicPr>
          <p:cNvPr id="6" name="Picture 5">
            <a:extLst>
              <a:ext uri="{FF2B5EF4-FFF2-40B4-BE49-F238E27FC236}">
                <a16:creationId xmlns:a16="http://schemas.microsoft.com/office/drawing/2014/main" id="{0802E404-7E39-D39B-AD36-F5F24DD6726B}"/>
              </a:ext>
            </a:extLst>
          </p:cNvPr>
          <p:cNvPicPr>
            <a:picLocks noChangeAspect="1"/>
          </p:cNvPicPr>
          <p:nvPr/>
        </p:nvPicPr>
        <p:blipFill>
          <a:blip r:embed="rId2"/>
          <a:stretch>
            <a:fillRect/>
          </a:stretch>
        </p:blipFill>
        <p:spPr>
          <a:xfrm>
            <a:off x="1088704" y="1608675"/>
            <a:ext cx="6966592" cy="1818823"/>
          </a:xfrm>
          <a:prstGeom prst="rect">
            <a:avLst/>
          </a:prstGeom>
        </p:spPr>
      </p:pic>
      <p:pic>
        <p:nvPicPr>
          <p:cNvPr id="8" name="Picture 7">
            <a:extLst>
              <a:ext uri="{FF2B5EF4-FFF2-40B4-BE49-F238E27FC236}">
                <a16:creationId xmlns:a16="http://schemas.microsoft.com/office/drawing/2014/main" id="{A917138E-7070-1896-EF54-12F90A6D895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00625" y="3662545"/>
            <a:ext cx="7942750" cy="3195455"/>
          </a:xfrm>
          <a:prstGeom prst="rect">
            <a:avLst/>
          </a:prstGeom>
        </p:spPr>
      </p:pic>
    </p:spTree>
    <p:extLst>
      <p:ext uri="{BB962C8B-B14F-4D97-AF65-F5344CB8AC3E}">
        <p14:creationId xmlns:p14="http://schemas.microsoft.com/office/powerpoint/2010/main" val="405533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18AD5-C4EB-79D5-573F-64F9758A869F}"/>
              </a:ext>
            </a:extLst>
          </p:cNvPr>
          <p:cNvSpPr>
            <a:spLocks noGrp="1"/>
          </p:cNvSpPr>
          <p:nvPr>
            <p:ph type="title"/>
          </p:nvPr>
        </p:nvSpPr>
        <p:spPr/>
        <p:txBody>
          <a:bodyPr/>
          <a:lstStyle/>
          <a:p>
            <a:r>
              <a:rPr lang="en-US" dirty="0"/>
              <a:t>Guidance, Navigation &amp; Control (GNC)</a:t>
            </a:r>
          </a:p>
        </p:txBody>
      </p:sp>
      <p:sp>
        <p:nvSpPr>
          <p:cNvPr id="3" name="Content Placeholder 2">
            <a:extLst>
              <a:ext uri="{FF2B5EF4-FFF2-40B4-BE49-F238E27FC236}">
                <a16:creationId xmlns:a16="http://schemas.microsoft.com/office/drawing/2014/main" id="{84C047BE-519B-5BCF-8E10-EAD5CEA0DF8B}"/>
              </a:ext>
            </a:extLst>
          </p:cNvPr>
          <p:cNvSpPr>
            <a:spLocks noGrp="1"/>
          </p:cNvSpPr>
          <p:nvPr>
            <p:ph idx="1"/>
          </p:nvPr>
        </p:nvSpPr>
        <p:spPr>
          <a:xfrm>
            <a:off x="200025" y="1002507"/>
            <a:ext cx="8793015" cy="1516242"/>
          </a:xfrm>
        </p:spPr>
        <p:txBody>
          <a:bodyPr>
            <a:normAutofit/>
          </a:bodyPr>
          <a:lstStyle/>
          <a:p>
            <a:pPr marL="0" indent="0">
              <a:buNone/>
            </a:pPr>
            <a:r>
              <a:rPr lang="en-US" sz="2000" b="1" dirty="0">
                <a:solidFill>
                  <a:srgbClr val="00B050"/>
                </a:solidFill>
              </a:rPr>
              <a:t>Guidance</a:t>
            </a:r>
            <a:r>
              <a:rPr lang="en-US" sz="2000" dirty="0">
                <a:solidFill>
                  <a:srgbClr val="00B050"/>
                </a:solidFill>
              </a:rPr>
              <a:t>: Generates desired trajectory for spacecraft to follow.</a:t>
            </a:r>
          </a:p>
          <a:p>
            <a:pPr marL="0" indent="0">
              <a:buNone/>
            </a:pPr>
            <a:r>
              <a:rPr lang="en-US" sz="2000" b="1" dirty="0">
                <a:solidFill>
                  <a:srgbClr val="0070C0"/>
                </a:solidFill>
              </a:rPr>
              <a:t>Navigation</a:t>
            </a:r>
            <a:r>
              <a:rPr lang="en-US" sz="2000" dirty="0">
                <a:solidFill>
                  <a:srgbClr val="0070C0"/>
                </a:solidFill>
              </a:rPr>
              <a:t>: Estimates current spacecraft state using sensors.</a:t>
            </a:r>
          </a:p>
          <a:p>
            <a:pPr marL="0" indent="0">
              <a:buNone/>
            </a:pPr>
            <a:r>
              <a:rPr lang="en-US" sz="2000" b="1" dirty="0">
                <a:solidFill>
                  <a:srgbClr val="C00000"/>
                </a:solidFill>
              </a:rPr>
              <a:t>Control</a:t>
            </a:r>
            <a:r>
              <a:rPr lang="en-US" sz="2000" dirty="0">
                <a:solidFill>
                  <a:srgbClr val="C00000"/>
                </a:solidFill>
              </a:rPr>
              <a:t>: Generates actuator commands needed to achieve guidance trajectory using navigation estimate.</a:t>
            </a:r>
          </a:p>
        </p:txBody>
      </p:sp>
      <p:sp>
        <p:nvSpPr>
          <p:cNvPr id="4" name="Slide Number Placeholder 3">
            <a:extLst>
              <a:ext uri="{FF2B5EF4-FFF2-40B4-BE49-F238E27FC236}">
                <a16:creationId xmlns:a16="http://schemas.microsoft.com/office/drawing/2014/main" id="{5485A982-E892-81FC-9532-43DFA9280B42}"/>
              </a:ext>
            </a:extLst>
          </p:cNvPr>
          <p:cNvSpPr>
            <a:spLocks noGrp="1"/>
          </p:cNvSpPr>
          <p:nvPr>
            <p:ph type="sldNum" sz="quarter" idx="12"/>
          </p:nvPr>
        </p:nvSpPr>
        <p:spPr/>
        <p:txBody>
          <a:bodyPr/>
          <a:lstStyle/>
          <a:p>
            <a:fld id="{9A3029B7-FE6B-4680-9049-80E8298A0825}" type="slidenum">
              <a:rPr lang="en-US" smtClean="0"/>
              <a:t>7</a:t>
            </a:fld>
            <a:endParaRPr lang="en-US"/>
          </a:p>
        </p:txBody>
      </p:sp>
      <p:pic>
        <p:nvPicPr>
          <p:cNvPr id="6" name="Picture 5">
            <a:extLst>
              <a:ext uri="{FF2B5EF4-FFF2-40B4-BE49-F238E27FC236}">
                <a16:creationId xmlns:a16="http://schemas.microsoft.com/office/drawing/2014/main" id="{0212B65F-81AA-6B45-82D0-4F649CC54FB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00025" y="2579445"/>
            <a:ext cx="9069066" cy="3648584"/>
          </a:xfrm>
          <a:prstGeom prst="rect">
            <a:avLst/>
          </a:prstGeom>
        </p:spPr>
      </p:pic>
      <p:sp>
        <p:nvSpPr>
          <p:cNvPr id="7" name="Freeform: Shape 6">
            <a:extLst>
              <a:ext uri="{FF2B5EF4-FFF2-40B4-BE49-F238E27FC236}">
                <a16:creationId xmlns:a16="http://schemas.microsoft.com/office/drawing/2014/main" id="{968AC857-29C4-EFFE-9371-8F62245ECBF5}"/>
              </a:ext>
            </a:extLst>
          </p:cNvPr>
          <p:cNvSpPr/>
          <p:nvPr/>
        </p:nvSpPr>
        <p:spPr>
          <a:xfrm>
            <a:off x="2668535" y="4896289"/>
            <a:ext cx="3654287" cy="1933942"/>
          </a:xfrm>
          <a:custGeom>
            <a:avLst/>
            <a:gdLst>
              <a:gd name="connsiteX0" fmla="*/ 3430127 w 3654287"/>
              <a:gd name="connsiteY0" fmla="*/ 1484026 h 1933942"/>
              <a:gd name="connsiteX1" fmla="*/ 3475097 w 3654287"/>
              <a:gd name="connsiteY1" fmla="*/ 524656 h 1933942"/>
              <a:gd name="connsiteX2" fmla="*/ 1976081 w 3654287"/>
              <a:gd name="connsiteY2" fmla="*/ 0 h 1933942"/>
              <a:gd name="connsiteX3" fmla="*/ 117301 w 3654287"/>
              <a:gd name="connsiteY3" fmla="*/ 524656 h 1933942"/>
              <a:gd name="connsiteX4" fmla="*/ 357143 w 3654287"/>
              <a:gd name="connsiteY4" fmla="*/ 1514007 h 1933942"/>
              <a:gd name="connsiteX5" fmla="*/ 1706258 w 3654287"/>
              <a:gd name="connsiteY5" fmla="*/ 1933731 h 1933942"/>
              <a:gd name="connsiteX6" fmla="*/ 3430127 w 3654287"/>
              <a:gd name="connsiteY6" fmla="*/ 1484026 h 1933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4287" h="1933942">
                <a:moveTo>
                  <a:pt x="3430127" y="1484026"/>
                </a:moveTo>
                <a:cubicBezTo>
                  <a:pt x="3724933" y="1249180"/>
                  <a:pt x="3717438" y="771994"/>
                  <a:pt x="3475097" y="524656"/>
                </a:cubicBezTo>
                <a:cubicBezTo>
                  <a:pt x="3232756" y="277318"/>
                  <a:pt x="2535714" y="0"/>
                  <a:pt x="1976081" y="0"/>
                </a:cubicBezTo>
                <a:cubicBezTo>
                  <a:pt x="1416448" y="0"/>
                  <a:pt x="387124" y="272321"/>
                  <a:pt x="117301" y="524656"/>
                </a:cubicBezTo>
                <a:cubicBezTo>
                  <a:pt x="-152522" y="776990"/>
                  <a:pt x="92317" y="1279161"/>
                  <a:pt x="357143" y="1514007"/>
                </a:cubicBezTo>
                <a:cubicBezTo>
                  <a:pt x="621969" y="1748853"/>
                  <a:pt x="1189097" y="1941226"/>
                  <a:pt x="1706258" y="1933731"/>
                </a:cubicBezTo>
                <a:cubicBezTo>
                  <a:pt x="2223419" y="1926236"/>
                  <a:pt x="3135321" y="1718872"/>
                  <a:pt x="3430127" y="1484026"/>
                </a:cubicBezTo>
                <a:close/>
              </a:path>
            </a:pathLst>
          </a:cu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A6F8ACDB-2709-73E6-8D47-158D0BAC6D6E}"/>
              </a:ext>
            </a:extLst>
          </p:cNvPr>
          <p:cNvSpPr/>
          <p:nvPr/>
        </p:nvSpPr>
        <p:spPr>
          <a:xfrm>
            <a:off x="1867268" y="2776299"/>
            <a:ext cx="4071189" cy="2055597"/>
          </a:xfrm>
          <a:custGeom>
            <a:avLst/>
            <a:gdLst>
              <a:gd name="connsiteX0" fmla="*/ 1488195 w 4071189"/>
              <a:gd name="connsiteY0" fmla="*/ 72208 h 2055597"/>
              <a:gd name="connsiteX1" fmla="*/ 154070 w 4071189"/>
              <a:gd name="connsiteY1" fmla="*/ 596864 h 2055597"/>
              <a:gd name="connsiteX2" fmla="*/ 184051 w 4071189"/>
              <a:gd name="connsiteY2" fmla="*/ 1841048 h 2055597"/>
              <a:gd name="connsiteX3" fmla="*/ 1548156 w 4071189"/>
              <a:gd name="connsiteY3" fmla="*/ 2020930 h 2055597"/>
              <a:gd name="connsiteX4" fmla="*/ 3781690 w 4071189"/>
              <a:gd name="connsiteY4" fmla="*/ 1930989 h 2055597"/>
              <a:gd name="connsiteX5" fmla="*/ 3931592 w 4071189"/>
              <a:gd name="connsiteY5" fmla="*/ 836707 h 2055597"/>
              <a:gd name="connsiteX6" fmla="*/ 2747369 w 4071189"/>
              <a:gd name="connsiteY6" fmla="*/ 87199 h 2055597"/>
              <a:gd name="connsiteX7" fmla="*/ 1488195 w 4071189"/>
              <a:gd name="connsiteY7" fmla="*/ 72208 h 2055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1189" h="2055597">
                <a:moveTo>
                  <a:pt x="1488195" y="72208"/>
                </a:moveTo>
                <a:cubicBezTo>
                  <a:pt x="1055978" y="157152"/>
                  <a:pt x="371427" y="302057"/>
                  <a:pt x="154070" y="596864"/>
                </a:cubicBezTo>
                <a:cubicBezTo>
                  <a:pt x="-63287" y="891671"/>
                  <a:pt x="-48297" y="1603704"/>
                  <a:pt x="184051" y="1841048"/>
                </a:cubicBezTo>
                <a:cubicBezTo>
                  <a:pt x="416399" y="2078392"/>
                  <a:pt x="948550" y="2005940"/>
                  <a:pt x="1548156" y="2020930"/>
                </a:cubicBezTo>
                <a:cubicBezTo>
                  <a:pt x="2147762" y="2035920"/>
                  <a:pt x="3384451" y="2128359"/>
                  <a:pt x="3781690" y="1930989"/>
                </a:cubicBezTo>
                <a:cubicBezTo>
                  <a:pt x="4178929" y="1733619"/>
                  <a:pt x="4103979" y="1144005"/>
                  <a:pt x="3931592" y="836707"/>
                </a:cubicBezTo>
                <a:cubicBezTo>
                  <a:pt x="3759205" y="529409"/>
                  <a:pt x="3149605" y="214615"/>
                  <a:pt x="2747369" y="87199"/>
                </a:cubicBezTo>
                <a:cubicBezTo>
                  <a:pt x="2345133" y="-40217"/>
                  <a:pt x="1920412" y="-12736"/>
                  <a:pt x="1488195" y="72208"/>
                </a:cubicBezTo>
                <a:close/>
              </a:path>
            </a:pathLst>
          </a:custGeom>
          <a:solidFill>
            <a:srgbClr val="FF0000">
              <a:alpha val="5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296497B5-9C3E-615F-4DF2-AFE87E403EC5}"/>
              </a:ext>
            </a:extLst>
          </p:cNvPr>
          <p:cNvSpPr/>
          <p:nvPr/>
        </p:nvSpPr>
        <p:spPr>
          <a:xfrm>
            <a:off x="207982" y="3126777"/>
            <a:ext cx="1413135" cy="1530207"/>
          </a:xfrm>
          <a:custGeom>
            <a:avLst/>
            <a:gdLst>
              <a:gd name="connsiteX0" fmla="*/ 1213750 w 1413135"/>
              <a:gd name="connsiteY0" fmla="*/ 995894 h 1530207"/>
              <a:gd name="connsiteX1" fmla="*/ 1348661 w 1413135"/>
              <a:gd name="connsiteY1" fmla="*/ 141455 h 1530207"/>
              <a:gd name="connsiteX2" fmla="*/ 164438 w 1413135"/>
              <a:gd name="connsiteY2" fmla="*/ 51514 h 1530207"/>
              <a:gd name="connsiteX3" fmla="*/ 14537 w 1413135"/>
              <a:gd name="connsiteY3" fmla="*/ 666111 h 1530207"/>
              <a:gd name="connsiteX4" fmla="*/ 209409 w 1413135"/>
              <a:gd name="connsiteY4" fmla="*/ 1430609 h 1530207"/>
              <a:gd name="connsiteX5" fmla="*/ 853986 w 1413135"/>
              <a:gd name="connsiteY5" fmla="*/ 1475580 h 1530207"/>
              <a:gd name="connsiteX6" fmla="*/ 1213750 w 1413135"/>
              <a:gd name="connsiteY6" fmla="*/ 995894 h 1530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3135" h="1530207">
                <a:moveTo>
                  <a:pt x="1213750" y="995894"/>
                </a:moveTo>
                <a:cubicBezTo>
                  <a:pt x="1296196" y="773540"/>
                  <a:pt x="1523546" y="298852"/>
                  <a:pt x="1348661" y="141455"/>
                </a:cubicBezTo>
                <a:cubicBezTo>
                  <a:pt x="1173776" y="-15942"/>
                  <a:pt x="386792" y="-35929"/>
                  <a:pt x="164438" y="51514"/>
                </a:cubicBezTo>
                <a:cubicBezTo>
                  <a:pt x="-57916" y="138957"/>
                  <a:pt x="7042" y="436262"/>
                  <a:pt x="14537" y="666111"/>
                </a:cubicBezTo>
                <a:cubicBezTo>
                  <a:pt x="22032" y="895960"/>
                  <a:pt x="69501" y="1295698"/>
                  <a:pt x="209409" y="1430609"/>
                </a:cubicBezTo>
                <a:cubicBezTo>
                  <a:pt x="349317" y="1565520"/>
                  <a:pt x="686596" y="1545534"/>
                  <a:pt x="853986" y="1475580"/>
                </a:cubicBezTo>
                <a:cubicBezTo>
                  <a:pt x="1021376" y="1405626"/>
                  <a:pt x="1131304" y="1218248"/>
                  <a:pt x="1213750" y="995894"/>
                </a:cubicBezTo>
                <a:close/>
              </a:path>
            </a:pathLst>
          </a:custGeom>
          <a:solidFill>
            <a:srgbClr val="92D050">
              <a:alpha val="50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061C9B6-A405-0F0B-C5D8-54EE76745BCA}"/>
              </a:ext>
            </a:extLst>
          </p:cNvPr>
          <p:cNvSpPr txBox="1"/>
          <p:nvPr/>
        </p:nvSpPr>
        <p:spPr>
          <a:xfrm>
            <a:off x="3466978" y="6194050"/>
            <a:ext cx="2057399" cy="461665"/>
          </a:xfrm>
          <a:prstGeom prst="rect">
            <a:avLst/>
          </a:prstGeom>
          <a:noFill/>
        </p:spPr>
        <p:txBody>
          <a:bodyPr wrap="square" rtlCol="0">
            <a:spAutoFit/>
          </a:bodyPr>
          <a:lstStyle/>
          <a:p>
            <a:pPr algn="ctr"/>
            <a:r>
              <a:rPr lang="en-US" sz="2400" b="1" dirty="0">
                <a:solidFill>
                  <a:srgbClr val="0070C0"/>
                </a:solidFill>
              </a:rPr>
              <a:t>Navigation</a:t>
            </a:r>
          </a:p>
        </p:txBody>
      </p:sp>
      <p:sp>
        <p:nvSpPr>
          <p:cNvPr id="11" name="TextBox 10">
            <a:extLst>
              <a:ext uri="{FF2B5EF4-FFF2-40B4-BE49-F238E27FC236}">
                <a16:creationId xmlns:a16="http://schemas.microsoft.com/office/drawing/2014/main" id="{531AEDB8-E16B-A7EE-FD36-EA4E04619165}"/>
              </a:ext>
            </a:extLst>
          </p:cNvPr>
          <p:cNvSpPr txBox="1"/>
          <p:nvPr/>
        </p:nvSpPr>
        <p:spPr>
          <a:xfrm>
            <a:off x="2701691" y="3057881"/>
            <a:ext cx="2057399" cy="461665"/>
          </a:xfrm>
          <a:prstGeom prst="rect">
            <a:avLst/>
          </a:prstGeom>
          <a:noFill/>
        </p:spPr>
        <p:txBody>
          <a:bodyPr wrap="square" rtlCol="0">
            <a:spAutoFit/>
          </a:bodyPr>
          <a:lstStyle/>
          <a:p>
            <a:pPr algn="ctr"/>
            <a:r>
              <a:rPr lang="en-US" sz="2400" b="1" dirty="0">
                <a:solidFill>
                  <a:srgbClr val="C00000"/>
                </a:solidFill>
              </a:rPr>
              <a:t>Control</a:t>
            </a:r>
          </a:p>
        </p:txBody>
      </p:sp>
      <p:sp>
        <p:nvSpPr>
          <p:cNvPr id="12" name="TextBox 11">
            <a:extLst>
              <a:ext uri="{FF2B5EF4-FFF2-40B4-BE49-F238E27FC236}">
                <a16:creationId xmlns:a16="http://schemas.microsoft.com/office/drawing/2014/main" id="{6BA7FB28-7323-950B-9E77-B9F2D15E82F4}"/>
              </a:ext>
            </a:extLst>
          </p:cNvPr>
          <p:cNvSpPr txBox="1"/>
          <p:nvPr/>
        </p:nvSpPr>
        <p:spPr>
          <a:xfrm>
            <a:off x="-277734" y="4601063"/>
            <a:ext cx="2057399" cy="461665"/>
          </a:xfrm>
          <a:prstGeom prst="rect">
            <a:avLst/>
          </a:prstGeom>
          <a:noFill/>
        </p:spPr>
        <p:txBody>
          <a:bodyPr wrap="square" rtlCol="0">
            <a:spAutoFit/>
          </a:bodyPr>
          <a:lstStyle/>
          <a:p>
            <a:pPr algn="ctr"/>
            <a:r>
              <a:rPr lang="en-US" sz="2400" b="1" dirty="0">
                <a:solidFill>
                  <a:srgbClr val="00B050"/>
                </a:solidFill>
              </a:rPr>
              <a:t>Guidance</a:t>
            </a:r>
          </a:p>
        </p:txBody>
      </p:sp>
    </p:spTree>
    <p:extLst>
      <p:ext uri="{BB962C8B-B14F-4D97-AF65-F5344CB8AC3E}">
        <p14:creationId xmlns:p14="http://schemas.microsoft.com/office/powerpoint/2010/main" val="203097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4CF6F-753B-CFF0-DD6B-3690F0B5DCE9}"/>
              </a:ext>
            </a:extLst>
          </p:cNvPr>
          <p:cNvSpPr>
            <a:spLocks noGrp="1"/>
          </p:cNvSpPr>
          <p:nvPr>
            <p:ph type="title"/>
          </p:nvPr>
        </p:nvSpPr>
        <p:spPr/>
        <p:txBody>
          <a:bodyPr>
            <a:noAutofit/>
          </a:bodyPr>
          <a:lstStyle/>
          <a:p>
            <a:r>
              <a:rPr lang="en-US" sz="2400" dirty="0"/>
              <a:t>Attitude Determination &amp; Control Subsystem (ADCS)</a:t>
            </a:r>
          </a:p>
        </p:txBody>
      </p:sp>
      <p:sp>
        <p:nvSpPr>
          <p:cNvPr id="3" name="Content Placeholder 2">
            <a:extLst>
              <a:ext uri="{FF2B5EF4-FFF2-40B4-BE49-F238E27FC236}">
                <a16:creationId xmlns:a16="http://schemas.microsoft.com/office/drawing/2014/main" id="{8C781488-32FB-7580-79BF-0A3A7006E01D}"/>
              </a:ext>
            </a:extLst>
          </p:cNvPr>
          <p:cNvSpPr>
            <a:spLocks noGrp="1"/>
          </p:cNvSpPr>
          <p:nvPr>
            <p:ph idx="1"/>
          </p:nvPr>
        </p:nvSpPr>
        <p:spPr/>
        <p:txBody>
          <a:bodyPr>
            <a:normAutofit/>
          </a:bodyPr>
          <a:lstStyle/>
          <a:p>
            <a:pPr marL="0" indent="0">
              <a:buNone/>
            </a:pPr>
            <a:r>
              <a:rPr lang="en-US" sz="2200" dirty="0"/>
              <a:t>The Attitude Determination and Control Subsystem (ADCS) ensures a spacecraft points in the right direction and remains stable while performing its mission.</a:t>
            </a:r>
          </a:p>
          <a:p>
            <a:pPr marL="0" indent="0">
              <a:buNone/>
            </a:pPr>
            <a:endParaRPr lang="en-US" sz="2200" dirty="0"/>
          </a:p>
          <a:p>
            <a:pPr marL="0" indent="0">
              <a:buNone/>
            </a:pPr>
            <a:r>
              <a:rPr lang="en-US" sz="2200" b="1" dirty="0">
                <a:solidFill>
                  <a:srgbClr val="00B0F0"/>
                </a:solidFill>
              </a:rPr>
              <a:t>Attitude Determination: </a:t>
            </a:r>
            <a:r>
              <a:rPr lang="en-US" sz="2200" dirty="0">
                <a:solidFill>
                  <a:srgbClr val="00B0F0"/>
                </a:solidFill>
              </a:rPr>
              <a:t>figuring out which way the spacecraft is pointing.</a:t>
            </a:r>
          </a:p>
          <a:p>
            <a:r>
              <a:rPr lang="en-US" sz="2200" dirty="0">
                <a:solidFill>
                  <a:srgbClr val="00B0F0"/>
                </a:solidFill>
              </a:rPr>
              <a:t>Uses </a:t>
            </a:r>
            <a:r>
              <a:rPr lang="en-US" sz="2200" b="1" dirty="0">
                <a:solidFill>
                  <a:srgbClr val="00B0F0"/>
                </a:solidFill>
              </a:rPr>
              <a:t>sensors</a:t>
            </a:r>
            <a:r>
              <a:rPr lang="en-US" sz="2200" dirty="0">
                <a:solidFill>
                  <a:srgbClr val="00B0F0"/>
                </a:solidFill>
              </a:rPr>
              <a:t> to measure orientation relative to Earth, Sun, stars, or inertial space.</a:t>
            </a:r>
          </a:p>
          <a:p>
            <a:pPr marL="0" indent="0">
              <a:buNone/>
            </a:pPr>
            <a:endParaRPr lang="en-US" sz="2200" dirty="0"/>
          </a:p>
          <a:p>
            <a:pPr marL="0" indent="0">
              <a:buNone/>
            </a:pPr>
            <a:r>
              <a:rPr lang="en-US" sz="2200" b="1" dirty="0">
                <a:solidFill>
                  <a:srgbClr val="FF0000"/>
                </a:solidFill>
              </a:rPr>
              <a:t>Attitude Control: </a:t>
            </a:r>
            <a:r>
              <a:rPr lang="en-US" sz="2200" dirty="0">
                <a:solidFill>
                  <a:srgbClr val="FF0000"/>
                </a:solidFill>
              </a:rPr>
              <a:t>changing or maintaining pointing direction. </a:t>
            </a:r>
          </a:p>
          <a:p>
            <a:r>
              <a:rPr lang="en-US" sz="2200" dirty="0">
                <a:solidFill>
                  <a:srgbClr val="FF0000"/>
                </a:solidFill>
              </a:rPr>
              <a:t>Uses </a:t>
            </a:r>
            <a:r>
              <a:rPr lang="en-US" sz="2200" b="1" dirty="0">
                <a:solidFill>
                  <a:srgbClr val="FF0000"/>
                </a:solidFill>
              </a:rPr>
              <a:t>actuators</a:t>
            </a:r>
            <a:r>
              <a:rPr lang="en-US" sz="2200" dirty="0">
                <a:solidFill>
                  <a:srgbClr val="FF0000"/>
                </a:solidFill>
              </a:rPr>
              <a:t> to apply torques and correct orientation or reduce rotation.</a:t>
            </a:r>
          </a:p>
          <a:p>
            <a:pPr marL="0" indent="0">
              <a:buNone/>
            </a:pPr>
            <a:endParaRPr lang="en-US" sz="2200" dirty="0">
              <a:solidFill>
                <a:srgbClr val="FF0000"/>
              </a:solidFill>
            </a:endParaRPr>
          </a:p>
        </p:txBody>
      </p:sp>
      <p:sp>
        <p:nvSpPr>
          <p:cNvPr id="4" name="Slide Number Placeholder 3">
            <a:extLst>
              <a:ext uri="{FF2B5EF4-FFF2-40B4-BE49-F238E27FC236}">
                <a16:creationId xmlns:a16="http://schemas.microsoft.com/office/drawing/2014/main" id="{F237C221-167B-BB60-FFD3-9B412F1C6CED}"/>
              </a:ext>
            </a:extLst>
          </p:cNvPr>
          <p:cNvSpPr>
            <a:spLocks noGrp="1"/>
          </p:cNvSpPr>
          <p:nvPr>
            <p:ph type="sldNum" sz="quarter" idx="12"/>
          </p:nvPr>
        </p:nvSpPr>
        <p:spPr/>
        <p:txBody>
          <a:bodyPr/>
          <a:lstStyle/>
          <a:p>
            <a:fld id="{9A3029B7-FE6B-4680-9049-80E8298A0825}" type="slidenum">
              <a:rPr lang="en-US" smtClean="0"/>
              <a:t>8</a:t>
            </a:fld>
            <a:endParaRPr lang="en-US"/>
          </a:p>
        </p:txBody>
      </p:sp>
      <p:sp>
        <p:nvSpPr>
          <p:cNvPr id="6" name="TextBox 5">
            <a:extLst>
              <a:ext uri="{FF2B5EF4-FFF2-40B4-BE49-F238E27FC236}">
                <a16:creationId xmlns:a16="http://schemas.microsoft.com/office/drawing/2014/main" id="{10B43808-5A45-31B1-C025-B55616EB003C}"/>
              </a:ext>
            </a:extLst>
          </p:cNvPr>
          <p:cNvSpPr txBox="1"/>
          <p:nvPr/>
        </p:nvSpPr>
        <p:spPr>
          <a:xfrm>
            <a:off x="150960" y="5842404"/>
            <a:ext cx="884208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lgn="ctr">
              <a:buNone/>
            </a:pPr>
            <a:r>
              <a:rPr lang="en-US" sz="2400" b="1" dirty="0"/>
              <a:t>ADCS must overcome internal &amp; external disturbance torques!</a:t>
            </a:r>
          </a:p>
        </p:txBody>
      </p:sp>
    </p:spTree>
    <p:extLst>
      <p:ext uri="{BB962C8B-B14F-4D97-AF65-F5344CB8AC3E}">
        <p14:creationId xmlns:p14="http://schemas.microsoft.com/office/powerpoint/2010/main" val="386489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7EFE7-3978-BDEB-BA31-9DB22FA8E770}"/>
              </a:ext>
            </a:extLst>
          </p:cNvPr>
          <p:cNvSpPr>
            <a:spLocks noGrp="1"/>
          </p:cNvSpPr>
          <p:nvPr>
            <p:ph type="title"/>
          </p:nvPr>
        </p:nvSpPr>
        <p:spPr/>
        <p:txBody>
          <a:bodyPr/>
          <a:lstStyle/>
          <a:p>
            <a:r>
              <a:rPr lang="en-US" dirty="0"/>
              <a:t>ADCS: Performance Requirements</a:t>
            </a:r>
          </a:p>
        </p:txBody>
      </p:sp>
      <p:sp>
        <p:nvSpPr>
          <p:cNvPr id="4" name="Slide Number Placeholder 3">
            <a:extLst>
              <a:ext uri="{FF2B5EF4-FFF2-40B4-BE49-F238E27FC236}">
                <a16:creationId xmlns:a16="http://schemas.microsoft.com/office/drawing/2014/main" id="{802BBF82-465A-2950-E1AE-00EBF8D251F9}"/>
              </a:ext>
            </a:extLst>
          </p:cNvPr>
          <p:cNvSpPr>
            <a:spLocks noGrp="1"/>
          </p:cNvSpPr>
          <p:nvPr>
            <p:ph type="sldNum" sz="quarter" idx="12"/>
          </p:nvPr>
        </p:nvSpPr>
        <p:spPr/>
        <p:txBody>
          <a:bodyPr/>
          <a:lstStyle/>
          <a:p>
            <a:fld id="{9A3029B7-FE6B-4680-9049-80E8298A0825}" type="slidenum">
              <a:rPr lang="en-US" smtClean="0"/>
              <a:t>9</a:t>
            </a:fld>
            <a:endParaRPr lang="en-US"/>
          </a:p>
        </p:txBody>
      </p:sp>
      <p:pic>
        <p:nvPicPr>
          <p:cNvPr id="5" name="Picture 4">
            <a:extLst>
              <a:ext uri="{FF2B5EF4-FFF2-40B4-BE49-F238E27FC236}">
                <a16:creationId xmlns:a16="http://schemas.microsoft.com/office/drawing/2014/main" id="{2C362AB3-2AB7-C8FA-7FE4-AD4D38794E0F}"/>
              </a:ext>
            </a:extLst>
          </p:cNvPr>
          <p:cNvPicPr>
            <a:picLocks noChangeAspect="1"/>
          </p:cNvPicPr>
          <p:nvPr/>
        </p:nvPicPr>
        <p:blipFill>
          <a:blip r:embed="rId2"/>
          <a:stretch>
            <a:fillRect/>
          </a:stretch>
        </p:blipFill>
        <p:spPr>
          <a:xfrm rot="60000">
            <a:off x="1249810" y="1053295"/>
            <a:ext cx="6892029" cy="5611806"/>
          </a:xfrm>
          <a:prstGeom prst="rect">
            <a:avLst/>
          </a:prstGeom>
        </p:spPr>
      </p:pic>
    </p:spTree>
    <p:extLst>
      <p:ext uri="{BB962C8B-B14F-4D97-AF65-F5344CB8AC3E}">
        <p14:creationId xmlns:p14="http://schemas.microsoft.com/office/powerpoint/2010/main" val="804815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F9C316-2E2D-F669-27A9-8FF540F5495E}"/>
              </a:ext>
            </a:extLst>
          </p:cNvPr>
          <p:cNvSpPr>
            <a:spLocks noGrp="1"/>
          </p:cNvSpPr>
          <p:nvPr>
            <p:ph type="title"/>
          </p:nvPr>
        </p:nvSpPr>
        <p:spPr/>
        <p:txBody>
          <a:bodyPr/>
          <a:lstStyle/>
          <a:p>
            <a:r>
              <a:rPr lang="en-US" dirty="0"/>
              <a:t>Tracking Modes</a:t>
            </a:r>
          </a:p>
        </p:txBody>
      </p:sp>
      <p:sp>
        <p:nvSpPr>
          <p:cNvPr id="4" name="Slide Number Placeholder 3">
            <a:extLst>
              <a:ext uri="{FF2B5EF4-FFF2-40B4-BE49-F238E27FC236}">
                <a16:creationId xmlns:a16="http://schemas.microsoft.com/office/drawing/2014/main" id="{6D9DF419-9B51-A6CA-DFA7-48ADEBB065DF}"/>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8" name="Picture 7">
            <a:extLst>
              <a:ext uri="{FF2B5EF4-FFF2-40B4-BE49-F238E27FC236}">
                <a16:creationId xmlns:a16="http://schemas.microsoft.com/office/drawing/2014/main" id="{B1AD3A9C-A289-5D6A-AD88-103BB91FBBDD}"/>
              </a:ext>
            </a:extLst>
          </p:cNvPr>
          <p:cNvPicPr>
            <a:picLocks noChangeAspect="1"/>
          </p:cNvPicPr>
          <p:nvPr/>
        </p:nvPicPr>
        <p:blipFill>
          <a:blip r:embed="rId2"/>
          <a:stretch>
            <a:fillRect/>
          </a:stretch>
        </p:blipFill>
        <p:spPr>
          <a:xfrm>
            <a:off x="358589" y="923616"/>
            <a:ext cx="8426822" cy="5906414"/>
          </a:xfrm>
          <a:prstGeom prst="rect">
            <a:avLst/>
          </a:prstGeom>
        </p:spPr>
      </p:pic>
    </p:spTree>
    <p:extLst>
      <p:ext uri="{BB962C8B-B14F-4D97-AF65-F5344CB8AC3E}">
        <p14:creationId xmlns:p14="http://schemas.microsoft.com/office/powerpoint/2010/main" val="1892281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54617-E51A-BAAD-3238-6FB33C860D6B}"/>
              </a:ext>
            </a:extLst>
          </p:cNvPr>
          <p:cNvSpPr>
            <a:spLocks noGrp="1"/>
          </p:cNvSpPr>
          <p:nvPr>
            <p:ph type="title"/>
          </p:nvPr>
        </p:nvSpPr>
        <p:spPr/>
        <p:txBody>
          <a:bodyPr/>
          <a:lstStyle/>
          <a:p>
            <a:r>
              <a:rPr lang="en-US" dirty="0"/>
              <a:t>ADCS: Sensors</a:t>
            </a:r>
          </a:p>
        </p:txBody>
      </p:sp>
      <p:sp>
        <p:nvSpPr>
          <p:cNvPr id="4" name="Slide Number Placeholder 3">
            <a:extLst>
              <a:ext uri="{FF2B5EF4-FFF2-40B4-BE49-F238E27FC236}">
                <a16:creationId xmlns:a16="http://schemas.microsoft.com/office/drawing/2014/main" id="{02C6104A-75E3-BE8C-5ACB-7183AB82E97C}"/>
              </a:ext>
            </a:extLst>
          </p:cNvPr>
          <p:cNvSpPr>
            <a:spLocks noGrp="1"/>
          </p:cNvSpPr>
          <p:nvPr>
            <p:ph type="sldNum" sz="quarter" idx="12"/>
          </p:nvPr>
        </p:nvSpPr>
        <p:spPr/>
        <p:txBody>
          <a:bodyPr/>
          <a:lstStyle/>
          <a:p>
            <a:fld id="{9A3029B7-FE6B-4680-9049-80E8298A0825}" type="slidenum">
              <a:rPr lang="en-US" smtClean="0"/>
              <a:t>11</a:t>
            </a:fld>
            <a:endParaRPr lang="en-US"/>
          </a:p>
        </p:txBody>
      </p:sp>
      <p:pic>
        <p:nvPicPr>
          <p:cNvPr id="12" name="Picture 11">
            <a:extLst>
              <a:ext uri="{FF2B5EF4-FFF2-40B4-BE49-F238E27FC236}">
                <a16:creationId xmlns:a16="http://schemas.microsoft.com/office/drawing/2014/main" id="{61875BC1-BF0E-F489-95C5-6EC9758D31CC}"/>
              </a:ext>
            </a:extLst>
          </p:cNvPr>
          <p:cNvPicPr>
            <a:picLocks noChangeAspect="1"/>
          </p:cNvPicPr>
          <p:nvPr/>
        </p:nvPicPr>
        <p:blipFill>
          <a:blip r:embed="rId2"/>
          <a:stretch>
            <a:fillRect/>
          </a:stretch>
        </p:blipFill>
        <p:spPr>
          <a:xfrm>
            <a:off x="0" y="1064515"/>
            <a:ext cx="9144000" cy="5583153"/>
          </a:xfrm>
          <a:prstGeom prst="rect">
            <a:avLst/>
          </a:prstGeom>
        </p:spPr>
      </p:pic>
    </p:spTree>
    <p:extLst>
      <p:ext uri="{BB962C8B-B14F-4D97-AF65-F5344CB8AC3E}">
        <p14:creationId xmlns:p14="http://schemas.microsoft.com/office/powerpoint/2010/main" val="152341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A543E-36C2-FBF0-EFF7-7C50A1D2B4AB}"/>
              </a:ext>
            </a:extLst>
          </p:cNvPr>
          <p:cNvSpPr>
            <a:spLocks noGrp="1"/>
          </p:cNvSpPr>
          <p:nvPr>
            <p:ph type="title"/>
          </p:nvPr>
        </p:nvSpPr>
        <p:spPr/>
        <p:txBody>
          <a:bodyPr/>
          <a:lstStyle/>
          <a:p>
            <a:r>
              <a:rPr lang="en-US" dirty="0"/>
              <a:t>ADCS: Sensors (2)</a:t>
            </a:r>
          </a:p>
        </p:txBody>
      </p:sp>
      <p:sp>
        <p:nvSpPr>
          <p:cNvPr id="3" name="Content Placeholder 2">
            <a:extLst>
              <a:ext uri="{FF2B5EF4-FFF2-40B4-BE49-F238E27FC236}">
                <a16:creationId xmlns:a16="http://schemas.microsoft.com/office/drawing/2014/main" id="{2C7F6659-4B2E-8D9D-F18D-9F25BEF1F9F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AB616B7-E12D-D2E0-63F3-2944AA9C9447}"/>
              </a:ext>
            </a:extLst>
          </p:cNvPr>
          <p:cNvSpPr>
            <a:spLocks noGrp="1"/>
          </p:cNvSpPr>
          <p:nvPr>
            <p:ph type="sldNum" sz="quarter" idx="12"/>
          </p:nvPr>
        </p:nvSpPr>
        <p:spPr/>
        <p:txBody>
          <a:bodyPr/>
          <a:lstStyle/>
          <a:p>
            <a:fld id="{9A3029B7-FE6B-4680-9049-80E8298A0825}" type="slidenum">
              <a:rPr lang="en-US" smtClean="0"/>
              <a:t>12</a:t>
            </a:fld>
            <a:endParaRPr lang="en-US"/>
          </a:p>
        </p:txBody>
      </p:sp>
      <p:pic>
        <p:nvPicPr>
          <p:cNvPr id="6" name="Picture 5">
            <a:extLst>
              <a:ext uri="{FF2B5EF4-FFF2-40B4-BE49-F238E27FC236}">
                <a16:creationId xmlns:a16="http://schemas.microsoft.com/office/drawing/2014/main" id="{4737A963-CEF8-7D28-E9B9-1F0261267301}"/>
              </a:ext>
            </a:extLst>
          </p:cNvPr>
          <p:cNvPicPr>
            <a:picLocks noChangeAspect="1"/>
          </p:cNvPicPr>
          <p:nvPr/>
        </p:nvPicPr>
        <p:blipFill>
          <a:blip r:embed="rId2"/>
          <a:stretch>
            <a:fillRect/>
          </a:stretch>
        </p:blipFill>
        <p:spPr>
          <a:xfrm>
            <a:off x="0" y="1002506"/>
            <a:ext cx="9144000" cy="5616125"/>
          </a:xfrm>
          <a:prstGeom prst="rect">
            <a:avLst/>
          </a:prstGeom>
        </p:spPr>
      </p:pic>
    </p:spTree>
    <p:extLst>
      <p:ext uri="{BB962C8B-B14F-4D97-AF65-F5344CB8AC3E}">
        <p14:creationId xmlns:p14="http://schemas.microsoft.com/office/powerpoint/2010/main" val="1380219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4EE41-B8CE-5D2A-E021-554F78AFE10E}"/>
              </a:ext>
            </a:extLst>
          </p:cNvPr>
          <p:cNvSpPr>
            <a:spLocks noGrp="1"/>
          </p:cNvSpPr>
          <p:nvPr>
            <p:ph type="title"/>
          </p:nvPr>
        </p:nvSpPr>
        <p:spPr/>
        <p:txBody>
          <a:bodyPr/>
          <a:lstStyle/>
          <a:p>
            <a:r>
              <a:rPr lang="en-US" dirty="0"/>
              <a:t>ADCS: Actuators</a:t>
            </a:r>
          </a:p>
        </p:txBody>
      </p:sp>
      <p:sp>
        <p:nvSpPr>
          <p:cNvPr id="4" name="Slide Number Placeholder 3">
            <a:extLst>
              <a:ext uri="{FF2B5EF4-FFF2-40B4-BE49-F238E27FC236}">
                <a16:creationId xmlns:a16="http://schemas.microsoft.com/office/drawing/2014/main" id="{6DC3D0AC-41FE-F4FE-600F-68D720CC315F}"/>
              </a:ext>
            </a:extLst>
          </p:cNvPr>
          <p:cNvSpPr>
            <a:spLocks noGrp="1"/>
          </p:cNvSpPr>
          <p:nvPr>
            <p:ph type="sldNum" sz="quarter" idx="12"/>
          </p:nvPr>
        </p:nvSpPr>
        <p:spPr/>
        <p:txBody>
          <a:bodyPr/>
          <a:lstStyle/>
          <a:p>
            <a:fld id="{9A3029B7-FE6B-4680-9049-80E8298A0825}" type="slidenum">
              <a:rPr lang="en-US" smtClean="0"/>
              <a:t>13</a:t>
            </a:fld>
            <a:endParaRPr lang="en-US"/>
          </a:p>
        </p:txBody>
      </p:sp>
      <p:pic>
        <p:nvPicPr>
          <p:cNvPr id="6" name="Picture 5">
            <a:extLst>
              <a:ext uri="{FF2B5EF4-FFF2-40B4-BE49-F238E27FC236}">
                <a16:creationId xmlns:a16="http://schemas.microsoft.com/office/drawing/2014/main" id="{C0D3021C-F6ED-7892-E7C9-5A90CF0AAB93}"/>
              </a:ext>
            </a:extLst>
          </p:cNvPr>
          <p:cNvPicPr>
            <a:picLocks noChangeAspect="1"/>
          </p:cNvPicPr>
          <p:nvPr/>
        </p:nvPicPr>
        <p:blipFill>
          <a:blip r:embed="rId2"/>
          <a:stretch>
            <a:fillRect/>
          </a:stretch>
        </p:blipFill>
        <p:spPr>
          <a:xfrm>
            <a:off x="0" y="1114641"/>
            <a:ext cx="9144000" cy="5350465"/>
          </a:xfrm>
          <a:prstGeom prst="rect">
            <a:avLst/>
          </a:prstGeom>
        </p:spPr>
      </p:pic>
    </p:spTree>
    <p:extLst>
      <p:ext uri="{BB962C8B-B14F-4D97-AF65-F5344CB8AC3E}">
        <p14:creationId xmlns:p14="http://schemas.microsoft.com/office/powerpoint/2010/main" val="343437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3EDD0-13F0-F85E-C5EF-3C02BC9A74CA}"/>
              </a:ext>
            </a:extLst>
          </p:cNvPr>
          <p:cNvSpPr>
            <a:spLocks noGrp="1"/>
          </p:cNvSpPr>
          <p:nvPr>
            <p:ph type="title"/>
          </p:nvPr>
        </p:nvSpPr>
        <p:spPr/>
        <p:txBody>
          <a:bodyPr/>
          <a:lstStyle/>
          <a:p>
            <a:r>
              <a:rPr lang="en-US" dirty="0"/>
              <a:t>ADCS: Actuators (2)</a:t>
            </a:r>
          </a:p>
        </p:txBody>
      </p:sp>
      <p:sp>
        <p:nvSpPr>
          <p:cNvPr id="4" name="Slide Number Placeholder 3">
            <a:extLst>
              <a:ext uri="{FF2B5EF4-FFF2-40B4-BE49-F238E27FC236}">
                <a16:creationId xmlns:a16="http://schemas.microsoft.com/office/drawing/2014/main" id="{77AE9241-EAC6-A78D-4BAC-BCF5E00ED397}"/>
              </a:ext>
            </a:extLst>
          </p:cNvPr>
          <p:cNvSpPr>
            <a:spLocks noGrp="1"/>
          </p:cNvSpPr>
          <p:nvPr>
            <p:ph type="sldNum" sz="quarter" idx="12"/>
          </p:nvPr>
        </p:nvSpPr>
        <p:spPr/>
        <p:txBody>
          <a:bodyPr/>
          <a:lstStyle/>
          <a:p>
            <a:fld id="{9A3029B7-FE6B-4680-9049-80E8298A0825}" type="slidenum">
              <a:rPr lang="en-US" smtClean="0"/>
              <a:t>14</a:t>
            </a:fld>
            <a:endParaRPr lang="en-US"/>
          </a:p>
        </p:txBody>
      </p:sp>
      <p:pic>
        <p:nvPicPr>
          <p:cNvPr id="6" name="Picture 5">
            <a:extLst>
              <a:ext uri="{FF2B5EF4-FFF2-40B4-BE49-F238E27FC236}">
                <a16:creationId xmlns:a16="http://schemas.microsoft.com/office/drawing/2014/main" id="{CCEBD104-8F4C-39E2-1C28-B73E11B1189C}"/>
              </a:ext>
            </a:extLst>
          </p:cNvPr>
          <p:cNvPicPr>
            <a:picLocks noChangeAspect="1"/>
          </p:cNvPicPr>
          <p:nvPr/>
        </p:nvPicPr>
        <p:blipFill>
          <a:blip r:embed="rId2"/>
          <a:stretch>
            <a:fillRect/>
          </a:stretch>
        </p:blipFill>
        <p:spPr>
          <a:xfrm>
            <a:off x="23648" y="1021680"/>
            <a:ext cx="9073988" cy="5659468"/>
          </a:xfrm>
          <a:prstGeom prst="rect">
            <a:avLst/>
          </a:prstGeom>
        </p:spPr>
      </p:pic>
    </p:spTree>
    <p:extLst>
      <p:ext uri="{BB962C8B-B14F-4D97-AF65-F5344CB8AC3E}">
        <p14:creationId xmlns:p14="http://schemas.microsoft.com/office/powerpoint/2010/main" val="2191477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71ED2-614D-32E2-5AC8-C120491A19CF}"/>
              </a:ext>
            </a:extLst>
          </p:cNvPr>
          <p:cNvSpPr>
            <a:spLocks noGrp="1"/>
          </p:cNvSpPr>
          <p:nvPr>
            <p:ph type="title"/>
          </p:nvPr>
        </p:nvSpPr>
        <p:spPr/>
        <p:txBody>
          <a:bodyPr/>
          <a:lstStyle/>
          <a:p>
            <a:r>
              <a:rPr lang="en-US" i="1" dirty="0"/>
              <a:t>External</a:t>
            </a:r>
            <a:r>
              <a:rPr lang="en-US" dirty="0"/>
              <a:t> Attitude Disturbance Torques</a:t>
            </a:r>
          </a:p>
        </p:txBody>
      </p:sp>
      <p:sp>
        <p:nvSpPr>
          <p:cNvPr id="3" name="Content Placeholder 2">
            <a:extLst>
              <a:ext uri="{FF2B5EF4-FFF2-40B4-BE49-F238E27FC236}">
                <a16:creationId xmlns:a16="http://schemas.microsoft.com/office/drawing/2014/main" id="{3B75B033-05BE-C028-DF9C-A01B6E3A123D}"/>
              </a:ext>
            </a:extLst>
          </p:cNvPr>
          <p:cNvSpPr>
            <a:spLocks noGrp="1"/>
          </p:cNvSpPr>
          <p:nvPr>
            <p:ph idx="1"/>
          </p:nvPr>
        </p:nvSpPr>
        <p:spPr/>
        <p:txBody>
          <a:bodyPr>
            <a:normAutofit/>
          </a:bodyPr>
          <a:lstStyle/>
          <a:p>
            <a:pPr marL="0" indent="0" algn="ctr">
              <a:buNone/>
            </a:pPr>
            <a:endParaRPr lang="en-US" sz="3200" b="1" dirty="0"/>
          </a:p>
          <a:p>
            <a:pPr marL="0" indent="0" algn="ctr">
              <a:buNone/>
            </a:pPr>
            <a:r>
              <a:rPr lang="en-US" sz="3200" b="1" dirty="0">
                <a:solidFill>
                  <a:srgbClr val="FF0000"/>
                </a:solidFill>
              </a:rPr>
              <a:t>Gravity Gradient</a:t>
            </a:r>
          </a:p>
          <a:p>
            <a:pPr marL="0" indent="0" algn="ctr">
              <a:buNone/>
            </a:pPr>
            <a:endParaRPr lang="en-US" sz="3200" b="1" dirty="0"/>
          </a:p>
          <a:p>
            <a:pPr marL="0" indent="0" algn="ctr">
              <a:buNone/>
            </a:pPr>
            <a:r>
              <a:rPr lang="en-US" sz="3200" b="1" dirty="0">
                <a:solidFill>
                  <a:srgbClr val="00B050"/>
                </a:solidFill>
              </a:rPr>
              <a:t>Magnetic</a:t>
            </a:r>
          </a:p>
          <a:p>
            <a:pPr marL="0" indent="0" algn="ctr">
              <a:buNone/>
            </a:pPr>
            <a:endParaRPr lang="en-US" sz="3200" b="1" dirty="0"/>
          </a:p>
          <a:p>
            <a:pPr marL="0" indent="0" algn="ctr">
              <a:buNone/>
            </a:pPr>
            <a:r>
              <a:rPr lang="en-US" sz="3200" b="1" dirty="0">
                <a:solidFill>
                  <a:srgbClr val="0070C0"/>
                </a:solidFill>
              </a:rPr>
              <a:t>Solar Radiation Pressure (SRP)</a:t>
            </a:r>
          </a:p>
          <a:p>
            <a:pPr marL="0" indent="0" algn="ctr">
              <a:buNone/>
            </a:pPr>
            <a:endParaRPr lang="en-US" sz="3200" b="1" dirty="0"/>
          </a:p>
          <a:p>
            <a:pPr marL="0" indent="0" algn="ctr">
              <a:buNone/>
            </a:pPr>
            <a:r>
              <a:rPr lang="en-US" sz="3200" b="1" dirty="0">
                <a:solidFill>
                  <a:srgbClr val="7030A0"/>
                </a:solidFill>
              </a:rPr>
              <a:t>Atmospheric Drag</a:t>
            </a:r>
            <a:endParaRPr lang="en-US" sz="3200" dirty="0">
              <a:solidFill>
                <a:srgbClr val="7030A0"/>
              </a:solidFill>
            </a:endParaRPr>
          </a:p>
        </p:txBody>
      </p:sp>
      <p:sp>
        <p:nvSpPr>
          <p:cNvPr id="4" name="Slide Number Placeholder 3">
            <a:extLst>
              <a:ext uri="{FF2B5EF4-FFF2-40B4-BE49-F238E27FC236}">
                <a16:creationId xmlns:a16="http://schemas.microsoft.com/office/drawing/2014/main" id="{9E3A4682-3213-6589-81D0-DBCFD053E0F9}"/>
              </a:ext>
            </a:extLst>
          </p:cNvPr>
          <p:cNvSpPr>
            <a:spLocks noGrp="1"/>
          </p:cNvSpPr>
          <p:nvPr>
            <p:ph type="sldNum" sz="quarter" idx="12"/>
          </p:nvPr>
        </p:nvSpPr>
        <p:spPr/>
        <p:txBody>
          <a:bodyPr/>
          <a:lstStyle/>
          <a:p>
            <a:fld id="{9A3029B7-FE6B-4680-9049-80E8298A0825}" type="slidenum">
              <a:rPr lang="en-US" smtClean="0"/>
              <a:t>15</a:t>
            </a:fld>
            <a:endParaRPr lang="en-US"/>
          </a:p>
        </p:txBody>
      </p:sp>
    </p:spTree>
    <p:extLst>
      <p:ext uri="{BB962C8B-B14F-4D97-AF65-F5344CB8AC3E}">
        <p14:creationId xmlns:p14="http://schemas.microsoft.com/office/powerpoint/2010/main" val="90479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316F5-0BF0-8319-D7B8-CDC4D0C5A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8F2CF-A124-8E38-6C18-34F885D16841}"/>
              </a:ext>
            </a:extLst>
          </p:cNvPr>
          <p:cNvSpPr>
            <a:spLocks noGrp="1"/>
          </p:cNvSpPr>
          <p:nvPr>
            <p:ph type="title"/>
          </p:nvPr>
        </p:nvSpPr>
        <p:spPr/>
        <p:txBody>
          <a:bodyPr/>
          <a:lstStyle/>
          <a:p>
            <a:r>
              <a:rPr lang="en-US" i="1" dirty="0"/>
              <a:t>External</a:t>
            </a:r>
            <a:r>
              <a:rPr lang="en-US" dirty="0"/>
              <a:t> Attitude Disturbance Torques (2)</a:t>
            </a:r>
          </a:p>
        </p:txBody>
      </p:sp>
      <p:sp>
        <p:nvSpPr>
          <p:cNvPr id="4" name="Slide Number Placeholder 3">
            <a:extLst>
              <a:ext uri="{FF2B5EF4-FFF2-40B4-BE49-F238E27FC236}">
                <a16:creationId xmlns:a16="http://schemas.microsoft.com/office/drawing/2014/main" id="{D38B7010-5E48-0C91-4969-0F7D0F453A44}"/>
              </a:ext>
            </a:extLst>
          </p:cNvPr>
          <p:cNvSpPr>
            <a:spLocks noGrp="1"/>
          </p:cNvSpPr>
          <p:nvPr>
            <p:ph type="sldNum" sz="quarter" idx="12"/>
          </p:nvPr>
        </p:nvSpPr>
        <p:spPr/>
        <p:txBody>
          <a:bodyPr/>
          <a:lstStyle/>
          <a:p>
            <a:fld id="{9A3029B7-FE6B-4680-9049-80E8298A0825}" type="slidenum">
              <a:rPr lang="en-US" smtClean="0"/>
              <a:t>16</a:t>
            </a:fld>
            <a:endParaRPr lang="en-US"/>
          </a:p>
        </p:txBody>
      </p:sp>
      <p:pic>
        <p:nvPicPr>
          <p:cNvPr id="5" name="Picture 4">
            <a:extLst>
              <a:ext uri="{FF2B5EF4-FFF2-40B4-BE49-F238E27FC236}">
                <a16:creationId xmlns:a16="http://schemas.microsoft.com/office/drawing/2014/main" id="{9860FCE1-592A-AAB3-96A9-DB03524B19B3}"/>
              </a:ext>
            </a:extLst>
          </p:cNvPr>
          <p:cNvPicPr/>
          <p:nvPr/>
        </p:nvPicPr>
        <p:blipFill>
          <a:blip r:embed="rId3"/>
          <a:stretch>
            <a:fillRect/>
          </a:stretch>
        </p:blipFill>
        <p:spPr>
          <a:xfrm>
            <a:off x="242148" y="1040838"/>
            <a:ext cx="6484883" cy="5789393"/>
          </a:xfrm>
          <a:prstGeom prst="rect">
            <a:avLst/>
          </a:prstGeom>
        </p:spPr>
      </p:pic>
      <p:pic>
        <p:nvPicPr>
          <p:cNvPr id="7" name="Picture 6">
            <a:extLst>
              <a:ext uri="{FF2B5EF4-FFF2-40B4-BE49-F238E27FC236}">
                <a16:creationId xmlns:a16="http://schemas.microsoft.com/office/drawing/2014/main" id="{1CCB6264-B032-65D1-9318-C1A239F47B92}"/>
              </a:ext>
            </a:extLst>
          </p:cNvPr>
          <p:cNvPicPr>
            <a:picLocks noChangeAspect="1"/>
          </p:cNvPicPr>
          <p:nvPr/>
        </p:nvPicPr>
        <p:blipFill>
          <a:blip r:embed="rId4"/>
          <a:stretch>
            <a:fillRect/>
          </a:stretch>
        </p:blipFill>
        <p:spPr>
          <a:xfrm>
            <a:off x="6727031" y="2217682"/>
            <a:ext cx="2295192" cy="3153103"/>
          </a:xfrm>
          <a:prstGeom prst="rect">
            <a:avLst/>
          </a:prstGeom>
        </p:spPr>
      </p:pic>
      <p:sp>
        <p:nvSpPr>
          <p:cNvPr id="3" name="TextBox 2">
            <a:extLst>
              <a:ext uri="{FF2B5EF4-FFF2-40B4-BE49-F238E27FC236}">
                <a16:creationId xmlns:a16="http://schemas.microsoft.com/office/drawing/2014/main" id="{B7E6DC45-26A5-4117-9807-73C9FF60FDBB}"/>
              </a:ext>
            </a:extLst>
          </p:cNvPr>
          <p:cNvSpPr txBox="1"/>
          <p:nvPr/>
        </p:nvSpPr>
        <p:spPr>
          <a:xfrm>
            <a:off x="6655008" y="1710427"/>
            <a:ext cx="2827856" cy="338554"/>
          </a:xfrm>
          <a:prstGeom prst="rect">
            <a:avLst/>
          </a:prstGeom>
          <a:noFill/>
        </p:spPr>
        <p:txBody>
          <a:bodyPr wrap="square" rtlCol="0">
            <a:spAutoFit/>
          </a:bodyPr>
          <a:lstStyle/>
          <a:p>
            <a:r>
              <a:rPr lang="en-US" sz="1600" b="1" u="sng" dirty="0">
                <a:latin typeface="Segoe UI" panose="020B0502040204020203" pitchFamily="34" charset="0"/>
                <a:cs typeface="Segoe UI" panose="020B0502040204020203" pitchFamily="34" charset="0"/>
              </a:rPr>
              <a:t>Dominant disturbances</a:t>
            </a:r>
          </a:p>
        </p:txBody>
      </p:sp>
    </p:spTree>
    <p:extLst>
      <p:ext uri="{BB962C8B-B14F-4D97-AF65-F5344CB8AC3E}">
        <p14:creationId xmlns:p14="http://schemas.microsoft.com/office/powerpoint/2010/main" val="3950932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External Disturbance Torques – Gravity Gradient</a:t>
            </a:r>
          </a:p>
        </p:txBody>
      </p:sp>
      <mc:AlternateContent xmlns:mc="http://schemas.openxmlformats.org/markup-compatibility/2006" xmlns:a14="http://schemas.microsoft.com/office/drawing/2010/main">
        <mc:Choice Requires="a14">
          <p:sp>
            <p:nvSpPr>
              <p:cNvPr id="8" name="Content Placeholder 7"/>
              <p:cNvSpPr>
                <a:spLocks noGrp="1"/>
              </p:cNvSpPr>
              <p:nvPr>
                <p:ph idx="1"/>
              </p:nvPr>
            </p:nvSpPr>
            <p:spPr>
              <a:xfrm>
                <a:off x="376518" y="1129553"/>
                <a:ext cx="8377148" cy="5450541"/>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𝑇</m:t>
                          </m:r>
                        </m:e>
                        <m:sub>
                          <m:r>
                            <a:rPr lang="en-US" i="1">
                              <a:solidFill>
                                <a:srgbClr val="FF0000"/>
                              </a:solidFill>
                              <a:latin typeface="Cambria Math" panose="02040503050406030204" pitchFamily="18" charset="0"/>
                            </a:rPr>
                            <m:t>𝑔</m:t>
                          </m:r>
                        </m:sub>
                      </m:sSub>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3</m:t>
                          </m:r>
                          <m:r>
                            <a:rPr lang="en-US" i="1">
                              <a:solidFill>
                                <a:srgbClr val="FF0000"/>
                              </a:solidFill>
                              <a:latin typeface="Cambria Math" panose="02040503050406030204" pitchFamily="18" charset="0"/>
                            </a:rPr>
                            <m:t>𝜇</m:t>
                          </m:r>
                        </m:num>
                        <m:den>
                          <m:r>
                            <a:rPr lang="en-US" i="1">
                              <a:solidFill>
                                <a:srgbClr val="FF0000"/>
                              </a:solidFill>
                              <a:latin typeface="Cambria Math" panose="02040503050406030204" pitchFamily="18" charset="0"/>
                            </a:rPr>
                            <m:t>2</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𝑅</m:t>
                              </m:r>
                            </m:e>
                            <m:sup>
                              <m:r>
                                <a:rPr lang="en-US" i="1">
                                  <a:solidFill>
                                    <a:srgbClr val="FF0000"/>
                                  </a:solidFill>
                                  <a:latin typeface="Cambria Math" panose="02040503050406030204" pitchFamily="18" charset="0"/>
                                </a:rPr>
                                <m:t>3</m:t>
                              </m:r>
                            </m:sup>
                          </m:sSup>
                        </m:den>
                      </m:f>
                      <m:d>
                        <m:dPr>
                          <m:begChr m:val="|"/>
                          <m:endChr m:val="|"/>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𝐼</m:t>
                              </m:r>
                            </m:e>
                            <m:sub>
                              <m:r>
                                <a:rPr lang="en-US" i="1">
                                  <a:solidFill>
                                    <a:srgbClr val="FF0000"/>
                                  </a:solidFill>
                                  <a:latin typeface="Cambria Math" panose="02040503050406030204" pitchFamily="18" charset="0"/>
                                </a:rPr>
                                <m:t>𝑦𝑎𝑤</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𝐼</m:t>
                              </m:r>
                            </m:e>
                            <m:sub>
                              <m:r>
                                <a:rPr lang="en-US" i="1">
                                  <a:solidFill>
                                    <a:srgbClr val="FF0000"/>
                                  </a:solidFill>
                                  <a:latin typeface="Cambria Math" panose="02040503050406030204" pitchFamily="18" charset="0"/>
                                </a:rPr>
                                <m:t>𝑜𝑡h𝑒𝑟</m:t>
                              </m:r>
                            </m:sub>
                          </m:sSub>
                        </m:e>
                      </m:d>
                      <m:r>
                        <a:rPr lang="en-US" i="1">
                          <a:solidFill>
                            <a:srgbClr val="FF0000"/>
                          </a:solidFill>
                          <a:latin typeface="Cambria Math" panose="02040503050406030204" pitchFamily="18" charset="0"/>
                        </a:rPr>
                        <m:t>𝑠𝑖𝑛</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𝜃</m:t>
                          </m:r>
                        </m:e>
                      </m:d>
                    </m:oMath>
                  </m:oMathPara>
                </a14:m>
                <a:endParaRPr lang="en-US" dirty="0">
                  <a:solidFill>
                    <a:srgbClr val="FF0000"/>
                  </a:solidFill>
                </a:endParaRPr>
              </a:p>
              <a:p>
                <a:pPr marL="0" indent="0">
                  <a:buNone/>
                </a:pPr>
                <a:endParaRPr lang="en-US" dirty="0">
                  <a:solidFill>
                    <a:srgbClr val="FF0000"/>
                  </a:solidFill>
                </a:endParaRPr>
              </a:p>
              <a:p>
                <a:pPr marL="0" indent="0">
                  <a:buNone/>
                </a:pPr>
                <a:r>
                  <a:rPr lang="en-US" sz="2000" dirty="0">
                    <a:solidFill>
                      <a:srgbClr val="FF0000"/>
                    </a:solidFill>
                  </a:rPr>
                  <a:t>Where 	</a:t>
                </a:r>
              </a:p>
              <a:p>
                <a:pPr marL="0" indent="0">
                  <a:buNone/>
                </a:pPr>
                <a:r>
                  <a:rPr lang="en-US" sz="2000" dirty="0" err="1">
                    <a:solidFill>
                      <a:srgbClr val="FF0000"/>
                    </a:solidFill>
                  </a:rPr>
                  <a:t>T</a:t>
                </a:r>
                <a:r>
                  <a:rPr lang="en-US" sz="2000" baseline="-25000" dirty="0" err="1">
                    <a:solidFill>
                      <a:srgbClr val="FF0000"/>
                    </a:solidFill>
                  </a:rPr>
                  <a:t>g</a:t>
                </a:r>
                <a:r>
                  <a:rPr lang="en-US" sz="2000" dirty="0">
                    <a:solidFill>
                      <a:srgbClr val="FF0000"/>
                    </a:solidFill>
                  </a:rPr>
                  <a:t> = gravity gradient torque (</a:t>
                </a:r>
                <a:r>
                  <a:rPr lang="en-US" sz="2000" dirty="0" err="1">
                    <a:solidFill>
                      <a:srgbClr val="FF0000"/>
                    </a:solidFill>
                  </a:rPr>
                  <a:t>N·m</a:t>
                </a:r>
                <a:r>
                  <a:rPr lang="en-US" sz="2000" dirty="0">
                    <a:solidFill>
                      <a:srgbClr val="FF0000"/>
                    </a:solidFill>
                  </a:rPr>
                  <a:t>)</a:t>
                </a:r>
              </a:p>
              <a:p>
                <a:pPr marL="0" indent="0">
                  <a:buNone/>
                </a:pPr>
                <a14:m>
                  <m:oMath xmlns:m="http://schemas.openxmlformats.org/officeDocument/2006/math">
                    <m:r>
                      <a:rPr lang="en-US" sz="2000" b="0" i="1" dirty="0" smtClean="0">
                        <a:solidFill>
                          <a:srgbClr val="FF0000"/>
                        </a:solidFill>
                        <a:latin typeface="Cambria Math" panose="02040503050406030204" pitchFamily="18" charset="0"/>
                      </a:rPr>
                      <m:t>𝜇</m:t>
                    </m:r>
                  </m:oMath>
                </a14:m>
                <a:r>
                  <a:rPr lang="en-US" sz="2000" dirty="0">
                    <a:solidFill>
                      <a:srgbClr val="FF0000"/>
                    </a:solidFill>
                  </a:rPr>
                  <a:t> = Earth’s gravitational constant (km</a:t>
                </a:r>
                <a:r>
                  <a:rPr lang="en-US" sz="2000" baseline="30000" dirty="0">
                    <a:solidFill>
                      <a:srgbClr val="FF0000"/>
                    </a:solidFill>
                  </a:rPr>
                  <a:t>3</a:t>
                </a:r>
                <a:r>
                  <a:rPr lang="en-US" sz="2000" dirty="0">
                    <a:solidFill>
                      <a:srgbClr val="FF0000"/>
                    </a:solidFill>
                  </a:rPr>
                  <a:t>/s</a:t>
                </a:r>
                <a:r>
                  <a:rPr lang="en-US" sz="2000" baseline="30000" dirty="0">
                    <a:solidFill>
                      <a:srgbClr val="FF0000"/>
                    </a:solidFill>
                  </a:rPr>
                  <a:t>2</a:t>
                </a:r>
                <a:r>
                  <a:rPr lang="en-US" sz="2000" dirty="0">
                    <a:solidFill>
                      <a:srgbClr val="FF0000"/>
                    </a:solidFill>
                  </a:rPr>
                  <a:t>)</a:t>
                </a:r>
              </a:p>
              <a:p>
                <a:pPr marL="0" indent="0">
                  <a:buNone/>
                </a:pPr>
                <a:r>
                  <a:rPr lang="en-US" sz="2000" dirty="0">
                    <a:solidFill>
                      <a:srgbClr val="FF0000"/>
                    </a:solidFill>
                  </a:rPr>
                  <a:t>R = radial distance to center of Earth (km)</a:t>
                </a:r>
              </a:p>
              <a:p>
                <a:pPr marL="0" indent="0">
                  <a:buNone/>
                </a:pPr>
                <a:r>
                  <a:rPr lang="en-US" sz="2000" dirty="0" err="1">
                    <a:solidFill>
                      <a:srgbClr val="FF0000"/>
                    </a:solidFill>
                  </a:rPr>
                  <a:t>I</a:t>
                </a:r>
                <a:r>
                  <a:rPr lang="en-US" sz="2000" baseline="-25000" dirty="0" err="1">
                    <a:solidFill>
                      <a:srgbClr val="FF0000"/>
                    </a:solidFill>
                  </a:rPr>
                  <a:t>yaw</a:t>
                </a:r>
                <a:r>
                  <a:rPr lang="en-US" sz="2000" dirty="0">
                    <a:solidFill>
                      <a:srgbClr val="FF0000"/>
                    </a:solidFill>
                  </a:rPr>
                  <a:t> = moment of inertia about the yaw axis (kg·m</a:t>
                </a:r>
                <a:r>
                  <a:rPr lang="en-US" sz="2000" baseline="30000" dirty="0">
                    <a:solidFill>
                      <a:srgbClr val="FF0000"/>
                    </a:solidFill>
                  </a:rPr>
                  <a:t>2</a:t>
                </a:r>
                <a:r>
                  <a:rPr lang="en-US" sz="2000" dirty="0">
                    <a:solidFill>
                      <a:srgbClr val="FF0000"/>
                    </a:solidFill>
                  </a:rPr>
                  <a:t>)</a:t>
                </a:r>
              </a:p>
              <a:p>
                <a:pPr marL="0" indent="0">
                  <a:buNone/>
                </a:pPr>
                <a:r>
                  <a:rPr lang="en-US" sz="2000" dirty="0" err="1">
                    <a:solidFill>
                      <a:srgbClr val="FF0000"/>
                    </a:solidFill>
                  </a:rPr>
                  <a:t>I</a:t>
                </a:r>
                <a:r>
                  <a:rPr lang="en-US" sz="2000" baseline="-25000" dirty="0" err="1">
                    <a:solidFill>
                      <a:srgbClr val="FF0000"/>
                    </a:solidFill>
                  </a:rPr>
                  <a:t>other</a:t>
                </a:r>
                <a:r>
                  <a:rPr lang="en-US" sz="2000" dirty="0">
                    <a:solidFill>
                      <a:srgbClr val="FF0000"/>
                    </a:solidFill>
                  </a:rPr>
                  <a:t> =moment of inertia about the roll or pitch axis (kg·m</a:t>
                </a:r>
                <a:r>
                  <a:rPr lang="en-US" sz="2000" baseline="30000" dirty="0">
                    <a:solidFill>
                      <a:srgbClr val="FF0000"/>
                    </a:solidFill>
                  </a:rPr>
                  <a:t>2</a:t>
                </a:r>
                <a:r>
                  <a:rPr lang="en-US" sz="2000" dirty="0">
                    <a:solidFill>
                      <a:srgbClr val="FF0000"/>
                    </a:solidFill>
                  </a:rPr>
                  <a:t>)</a:t>
                </a:r>
              </a:p>
              <a:p>
                <a:pPr marL="0" indent="0">
                  <a:buNone/>
                </a:pPr>
                <a:r>
                  <a:rPr lang="en-US" sz="2000" dirty="0">
                    <a:solidFill>
                      <a:srgbClr val="FF0000"/>
                    </a:solidFill>
                  </a:rPr>
                  <a:t>θ = spacecraft angular offset from vertical (rad or deg)</a:t>
                </a:r>
              </a:p>
              <a:p>
                <a:pPr marL="0" indent="0">
                  <a:buNone/>
                </a:pPr>
                <a:endParaRPr lang="en-US" sz="2000" dirty="0">
                  <a:solidFill>
                    <a:srgbClr val="FF0000"/>
                  </a:solidFill>
                </a:endParaRPr>
              </a:p>
              <a:p>
                <a:pPr marL="0" indent="0">
                  <a:buNone/>
                </a:pPr>
                <a:r>
                  <a:rPr lang="en-US" sz="2000" b="1" dirty="0">
                    <a:solidFill>
                      <a:srgbClr val="FF0000"/>
                    </a:solidFill>
                  </a:rPr>
                  <a:t>Note: gravity gradient will always be stable if </a:t>
                </a:r>
                <a:r>
                  <a:rPr lang="en-US" sz="2000" b="1" dirty="0" err="1">
                    <a:solidFill>
                      <a:srgbClr val="FF0000"/>
                    </a:solidFill>
                  </a:rPr>
                  <a:t>I</a:t>
                </a:r>
                <a:r>
                  <a:rPr lang="en-US" sz="2000" b="1" baseline="-25000" dirty="0" err="1">
                    <a:solidFill>
                      <a:srgbClr val="FF0000"/>
                    </a:solidFill>
                  </a:rPr>
                  <a:t>pitch</a:t>
                </a:r>
                <a:r>
                  <a:rPr lang="en-US" sz="2000" b="1" dirty="0">
                    <a:solidFill>
                      <a:srgbClr val="FF0000"/>
                    </a:solidFill>
                  </a:rPr>
                  <a:t> &gt; </a:t>
                </a:r>
                <a:r>
                  <a:rPr lang="en-US" sz="2000" b="1" dirty="0" err="1">
                    <a:solidFill>
                      <a:srgbClr val="FF0000"/>
                    </a:solidFill>
                  </a:rPr>
                  <a:t>I</a:t>
                </a:r>
                <a:r>
                  <a:rPr lang="en-US" sz="2000" b="1" baseline="-25000" dirty="0" err="1">
                    <a:solidFill>
                      <a:srgbClr val="FF0000"/>
                    </a:solidFill>
                  </a:rPr>
                  <a:t>roll</a:t>
                </a:r>
                <a:r>
                  <a:rPr lang="en-US" sz="2000" b="1" dirty="0">
                    <a:solidFill>
                      <a:srgbClr val="FF0000"/>
                    </a:solidFill>
                  </a:rPr>
                  <a:t> &gt; </a:t>
                </a:r>
                <a:r>
                  <a:rPr lang="en-US" sz="2000" b="1" dirty="0" err="1">
                    <a:solidFill>
                      <a:srgbClr val="FF0000"/>
                    </a:solidFill>
                  </a:rPr>
                  <a:t>I</a:t>
                </a:r>
                <a:r>
                  <a:rPr lang="en-US" sz="2000" b="1" baseline="-25000" dirty="0" err="1">
                    <a:solidFill>
                      <a:srgbClr val="FF0000"/>
                    </a:solidFill>
                  </a:rPr>
                  <a:t>yaw</a:t>
                </a:r>
                <a:r>
                  <a:rPr lang="en-US" sz="2000" b="1" dirty="0">
                    <a:solidFill>
                      <a:srgbClr val="FF0000"/>
                    </a:solidFill>
                  </a:rPr>
                  <a:t> </a:t>
                </a:r>
              </a:p>
            </p:txBody>
          </p:sp>
        </mc:Choice>
        <mc:Fallback xmlns="">
          <p:sp>
            <p:nvSpPr>
              <p:cNvPr id="8" name="Content Placeholder 7"/>
              <p:cNvSpPr>
                <a:spLocks noGrp="1" noRot="1" noChangeAspect="1" noMove="1" noResize="1" noEditPoints="1" noAdjustHandles="1" noChangeArrowheads="1" noChangeShapeType="1" noTextEdit="1"/>
              </p:cNvSpPr>
              <p:nvPr>
                <p:ph idx="1"/>
              </p:nvPr>
            </p:nvSpPr>
            <p:spPr>
              <a:xfrm>
                <a:off x="376518" y="1129553"/>
                <a:ext cx="8377148" cy="5450541"/>
              </a:xfrm>
              <a:blipFill>
                <a:blip r:embed="rId2"/>
                <a:stretch>
                  <a:fillRect l="-801"/>
                </a:stretch>
              </a:blipFill>
            </p:spPr>
            <p:txBody>
              <a:bodyPr/>
              <a:lstStyle/>
              <a:p>
                <a:r>
                  <a:rPr lang="en-US">
                    <a:noFill/>
                  </a:rPr>
                  <a:t> </a:t>
                </a:r>
              </a:p>
            </p:txBody>
          </p:sp>
        </mc:Fallback>
      </mc:AlternateContent>
    </p:spTree>
    <p:extLst>
      <p:ext uri="{BB962C8B-B14F-4D97-AF65-F5344CB8AC3E}">
        <p14:creationId xmlns:p14="http://schemas.microsoft.com/office/powerpoint/2010/main" val="3426050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B050"/>
                </a:solidFill>
              </a:rPr>
              <a:t>External Disturbance Torques – Magnetic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33082" y="1129553"/>
                <a:ext cx="8910918" cy="5595261"/>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1" i="1" smtClean="0">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𝑻</m:t>
                          </m:r>
                        </m:e>
                        <m:sub>
                          <m:r>
                            <a:rPr lang="en-US" b="1" i="1">
                              <a:solidFill>
                                <a:srgbClr val="00B050"/>
                              </a:solidFill>
                              <a:latin typeface="Cambria Math" panose="02040503050406030204" pitchFamily="18" charset="0"/>
                            </a:rPr>
                            <m:t>𝒎</m:t>
                          </m:r>
                        </m:sub>
                      </m:sSub>
                      <m:r>
                        <a:rPr lang="en-US" i="1">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𝑫</m:t>
                      </m:r>
                      <m:r>
                        <a:rPr lang="en-US" b="1" i="1" smtClean="0">
                          <a:solidFill>
                            <a:srgbClr val="00B050"/>
                          </a:solidFill>
                          <a:latin typeface="Cambria Math" panose="02040503050406030204" pitchFamily="18" charset="0"/>
                          <a:ea typeface="Cambria Math" panose="02040503050406030204" pitchFamily="18" charset="0"/>
                        </a:rPr>
                        <m:t>×</m:t>
                      </m:r>
                      <m:r>
                        <a:rPr lang="en-US" b="1" i="1">
                          <a:solidFill>
                            <a:srgbClr val="00B050"/>
                          </a:solidFill>
                          <a:latin typeface="Cambria Math" panose="02040503050406030204" pitchFamily="18" charset="0"/>
                        </a:rPr>
                        <m:t>𝑩</m:t>
                      </m:r>
                    </m:oMath>
                  </m:oMathPara>
                </a14:m>
                <a:endParaRPr lang="en-US" b="1" dirty="0">
                  <a:solidFill>
                    <a:srgbClr val="00B050"/>
                  </a:solidFill>
                </a:endParaRPr>
              </a:p>
              <a:p>
                <a:pPr marL="0" indent="0">
                  <a:buNone/>
                </a:pPr>
                <a:endParaRPr lang="en-US" dirty="0">
                  <a:solidFill>
                    <a:srgbClr val="00B050"/>
                  </a:solidFill>
                </a:endParaRPr>
              </a:p>
              <a:p>
                <a:pPr marL="0" indent="0" algn="ctr">
                  <a:buNone/>
                </a:pPr>
                <a14:m>
                  <m:oMath xmlns:m="http://schemas.openxmlformats.org/officeDocument/2006/math">
                    <m:sSub>
                      <m:sSubPr>
                        <m:ctrlPr>
                          <a:rPr lang="en-US" b="0" i="1" smtClean="0">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𝐵</m:t>
                        </m:r>
                      </m:e>
                      <m:sub>
                        <m:r>
                          <a:rPr lang="en-US" b="0" i="1" smtClean="0">
                            <a:solidFill>
                              <a:srgbClr val="00B050"/>
                            </a:solidFill>
                            <a:latin typeface="Cambria Math" panose="02040503050406030204" pitchFamily="18" charset="0"/>
                          </a:rPr>
                          <m:t>𝑝𝑜𝑙𝑒</m:t>
                        </m:r>
                      </m:sub>
                    </m:sSub>
                    <m:r>
                      <a:rPr lang="en-US" i="1">
                        <a:solidFill>
                          <a:srgbClr val="00B050"/>
                        </a:solidFill>
                        <a:latin typeface="Cambria Math" panose="02040503050406030204" pitchFamily="18" charset="0"/>
                      </a:rPr>
                      <m:t>≅</m:t>
                    </m:r>
                    <m:f>
                      <m:fPr>
                        <m:ctrlPr>
                          <a:rPr lang="en-US" i="1">
                            <a:solidFill>
                              <a:srgbClr val="00B050"/>
                            </a:solidFill>
                            <a:latin typeface="Cambria Math" panose="02040503050406030204" pitchFamily="18" charset="0"/>
                          </a:rPr>
                        </m:ctrlPr>
                      </m:fPr>
                      <m:num>
                        <m:r>
                          <a:rPr lang="en-US" i="1">
                            <a:solidFill>
                              <a:srgbClr val="00B050"/>
                            </a:solidFill>
                            <a:latin typeface="Cambria Math" panose="02040503050406030204" pitchFamily="18" charset="0"/>
                          </a:rPr>
                          <m:t>2</m:t>
                        </m:r>
                        <m:r>
                          <a:rPr lang="en-US" i="1">
                            <a:solidFill>
                              <a:srgbClr val="00B050"/>
                            </a:solidFill>
                            <a:latin typeface="Cambria Math" panose="02040503050406030204" pitchFamily="18" charset="0"/>
                          </a:rPr>
                          <m:t>𝑀</m:t>
                        </m:r>
                      </m:num>
                      <m:den>
                        <m:sSup>
                          <m:sSupPr>
                            <m:ctrlPr>
                              <a:rPr lang="en-US" i="1">
                                <a:solidFill>
                                  <a:srgbClr val="00B050"/>
                                </a:solidFill>
                                <a:latin typeface="Cambria Math" panose="02040503050406030204" pitchFamily="18" charset="0"/>
                              </a:rPr>
                            </m:ctrlPr>
                          </m:sSupPr>
                          <m:e>
                            <m:r>
                              <a:rPr lang="en-US" i="1">
                                <a:solidFill>
                                  <a:srgbClr val="00B050"/>
                                </a:solidFill>
                                <a:latin typeface="Cambria Math" panose="02040503050406030204" pitchFamily="18" charset="0"/>
                              </a:rPr>
                              <m:t>𝑅</m:t>
                            </m:r>
                          </m:e>
                          <m:sup>
                            <m:r>
                              <a:rPr lang="en-US" i="1">
                                <a:solidFill>
                                  <a:srgbClr val="00B050"/>
                                </a:solidFill>
                                <a:latin typeface="Cambria Math" panose="02040503050406030204" pitchFamily="18" charset="0"/>
                              </a:rPr>
                              <m:t>3</m:t>
                            </m:r>
                          </m:sup>
                        </m:sSup>
                      </m:den>
                    </m:f>
                  </m:oMath>
                </a14:m>
                <a:r>
                  <a:rPr lang="en-US" dirty="0">
                    <a:solidFill>
                      <a:srgbClr val="00B050"/>
                    </a:solidFill>
                  </a:rPr>
                  <a:t>		</a:t>
                </a:r>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𝐵</m:t>
                        </m:r>
                      </m:e>
                      <m:sub>
                        <m:r>
                          <a:rPr lang="en-US" b="0" i="1" smtClean="0">
                            <a:solidFill>
                              <a:srgbClr val="00B050"/>
                            </a:solidFill>
                            <a:latin typeface="Cambria Math" panose="02040503050406030204" pitchFamily="18" charset="0"/>
                          </a:rPr>
                          <m:t>𝑒𝑞𝑢𝑎𝑡𝑜𝑟</m:t>
                        </m:r>
                      </m:sub>
                    </m:sSub>
                    <m:r>
                      <a:rPr lang="en-US" i="1">
                        <a:solidFill>
                          <a:srgbClr val="00B050"/>
                        </a:solidFill>
                        <a:latin typeface="Cambria Math" panose="02040503050406030204" pitchFamily="18" charset="0"/>
                      </a:rPr>
                      <m:t>≅</m:t>
                    </m:r>
                    <m:f>
                      <m:fPr>
                        <m:ctrlPr>
                          <a:rPr lang="en-US" i="1">
                            <a:solidFill>
                              <a:srgbClr val="00B050"/>
                            </a:solidFill>
                            <a:latin typeface="Cambria Math" panose="02040503050406030204" pitchFamily="18" charset="0"/>
                          </a:rPr>
                        </m:ctrlPr>
                      </m:fPr>
                      <m:num>
                        <m:r>
                          <a:rPr lang="en-US" i="1">
                            <a:solidFill>
                              <a:srgbClr val="00B050"/>
                            </a:solidFill>
                            <a:latin typeface="Cambria Math" panose="02040503050406030204" pitchFamily="18" charset="0"/>
                          </a:rPr>
                          <m:t>𝑀</m:t>
                        </m:r>
                      </m:num>
                      <m:den>
                        <m:sSup>
                          <m:sSupPr>
                            <m:ctrlPr>
                              <a:rPr lang="en-US" i="1">
                                <a:solidFill>
                                  <a:srgbClr val="00B050"/>
                                </a:solidFill>
                                <a:latin typeface="Cambria Math" panose="02040503050406030204" pitchFamily="18" charset="0"/>
                              </a:rPr>
                            </m:ctrlPr>
                          </m:sSupPr>
                          <m:e>
                            <m:r>
                              <a:rPr lang="en-US" i="1">
                                <a:solidFill>
                                  <a:srgbClr val="00B050"/>
                                </a:solidFill>
                                <a:latin typeface="Cambria Math" panose="02040503050406030204" pitchFamily="18" charset="0"/>
                              </a:rPr>
                              <m:t>𝑅</m:t>
                            </m:r>
                          </m:e>
                          <m:sup>
                            <m:r>
                              <a:rPr lang="en-US" i="1">
                                <a:solidFill>
                                  <a:srgbClr val="00B050"/>
                                </a:solidFill>
                                <a:latin typeface="Cambria Math" panose="02040503050406030204" pitchFamily="18" charset="0"/>
                              </a:rPr>
                              <m:t>3</m:t>
                            </m:r>
                          </m:sup>
                        </m:sSup>
                      </m:den>
                    </m:f>
                  </m:oMath>
                </a14:m>
                <a:endParaRPr lang="en-US" dirty="0">
                  <a:solidFill>
                    <a:srgbClr val="00B050"/>
                  </a:solidFill>
                </a:endParaRPr>
              </a:p>
              <a:p>
                <a:pPr marL="0" indent="0">
                  <a:buNone/>
                </a:pPr>
                <a:endParaRPr lang="en-US" dirty="0">
                  <a:solidFill>
                    <a:srgbClr val="00B050"/>
                  </a:solidFill>
                </a:endParaRPr>
              </a:p>
              <a:p>
                <a:pPr marL="0" indent="0">
                  <a:buNone/>
                </a:pPr>
                <a:r>
                  <a:rPr lang="en-US" sz="2000" dirty="0">
                    <a:solidFill>
                      <a:srgbClr val="00B050"/>
                    </a:solidFill>
                  </a:rPr>
                  <a:t>Where:</a:t>
                </a:r>
              </a:p>
              <a:p>
                <a:pPr marL="0" indent="0">
                  <a:buNone/>
                </a:pPr>
                <a:r>
                  <a:rPr lang="en-US" sz="2000" dirty="0">
                    <a:solidFill>
                      <a:srgbClr val="00B050"/>
                    </a:solidFill>
                  </a:rPr>
                  <a:t>T</a:t>
                </a:r>
                <a:r>
                  <a:rPr lang="en-US" sz="2000" baseline="-25000" dirty="0">
                    <a:solidFill>
                      <a:srgbClr val="00B050"/>
                    </a:solidFill>
                  </a:rPr>
                  <a:t>m</a:t>
                </a:r>
                <a:r>
                  <a:rPr lang="en-US" sz="2000" dirty="0">
                    <a:solidFill>
                      <a:srgbClr val="00B050"/>
                    </a:solidFill>
                  </a:rPr>
                  <a:t> = magnetic disturbance torque (</a:t>
                </a:r>
                <a:r>
                  <a:rPr lang="en-US" sz="2000" dirty="0" err="1">
                    <a:solidFill>
                      <a:srgbClr val="00B050"/>
                    </a:solidFill>
                  </a:rPr>
                  <a:t>N·m</a:t>
                </a:r>
                <a:r>
                  <a:rPr lang="en-US" sz="2000" dirty="0">
                    <a:solidFill>
                      <a:srgbClr val="00B050"/>
                    </a:solidFill>
                  </a:rPr>
                  <a:t>)</a:t>
                </a:r>
              </a:p>
              <a:p>
                <a:pPr marL="0" indent="0">
                  <a:buNone/>
                </a:pPr>
                <a:r>
                  <a:rPr lang="en-US" sz="2000" dirty="0">
                    <a:solidFill>
                      <a:srgbClr val="00B050"/>
                    </a:solidFill>
                  </a:rPr>
                  <a:t>D = residual dipole of S/C in amp∙m</a:t>
                </a:r>
                <a:r>
                  <a:rPr lang="en-US" sz="2000" baseline="30000" dirty="0">
                    <a:solidFill>
                      <a:srgbClr val="00B050"/>
                    </a:solidFill>
                  </a:rPr>
                  <a:t>2</a:t>
                </a:r>
                <a:r>
                  <a:rPr lang="en-US" sz="2000" dirty="0">
                    <a:solidFill>
                      <a:srgbClr val="00B050"/>
                    </a:solidFill>
                  </a:rPr>
                  <a:t> (A∙m</a:t>
                </a:r>
                <a:r>
                  <a:rPr lang="en-US" sz="2000" baseline="30000" dirty="0">
                    <a:solidFill>
                      <a:srgbClr val="00B050"/>
                    </a:solidFill>
                  </a:rPr>
                  <a:t>2</a:t>
                </a:r>
                <a:r>
                  <a:rPr lang="en-US" sz="2000" dirty="0">
                    <a:solidFill>
                      <a:srgbClr val="00B050"/>
                    </a:solidFill>
                  </a:rPr>
                  <a:t>)</a:t>
                </a:r>
              </a:p>
              <a:p>
                <a:pPr marL="0" indent="0">
                  <a:buNone/>
                </a:pPr>
                <a:r>
                  <a:rPr lang="en-US" sz="2000" dirty="0">
                    <a:solidFill>
                      <a:srgbClr val="00B050"/>
                    </a:solidFill>
                  </a:rPr>
                  <a:t>B = Earth’s magnetic field (</a:t>
                </a:r>
                <a:r>
                  <a:rPr lang="en-US" sz="2000" dirty="0" err="1">
                    <a:solidFill>
                      <a:srgbClr val="00B050"/>
                    </a:solidFill>
                  </a:rPr>
                  <a:t>Teslas</a:t>
                </a:r>
                <a:r>
                  <a:rPr lang="en-US" sz="2000" dirty="0">
                    <a:solidFill>
                      <a:srgbClr val="00B050"/>
                    </a:solidFill>
                  </a:rPr>
                  <a:t>)</a:t>
                </a:r>
              </a:p>
              <a:p>
                <a:pPr marL="0" indent="0">
                  <a:buNone/>
                </a:pPr>
                <a:r>
                  <a:rPr lang="en-US" sz="2000" dirty="0">
                    <a:solidFill>
                      <a:srgbClr val="00B050"/>
                    </a:solidFill>
                  </a:rPr>
                  <a:t>M = Earth’s magnetic moment (7.96x10</a:t>
                </a:r>
                <a:r>
                  <a:rPr lang="en-US" sz="2000" baseline="30000" dirty="0">
                    <a:solidFill>
                      <a:srgbClr val="00B050"/>
                    </a:solidFill>
                  </a:rPr>
                  <a:t>15</a:t>
                </a:r>
                <a:r>
                  <a:rPr lang="en-US" sz="2000" dirty="0">
                    <a:solidFill>
                      <a:srgbClr val="00B050"/>
                    </a:solidFill>
                  </a:rPr>
                  <a:t> Tesla∙m</a:t>
                </a:r>
                <a:r>
                  <a:rPr lang="en-US" sz="2000" baseline="30000" dirty="0">
                    <a:solidFill>
                      <a:srgbClr val="00B050"/>
                    </a:solidFill>
                  </a:rPr>
                  <a:t>3</a:t>
                </a:r>
                <a:r>
                  <a:rPr lang="en-US" sz="2000" dirty="0">
                    <a:solidFill>
                      <a:srgbClr val="00B050"/>
                    </a:solidFill>
                  </a:rPr>
                  <a:t>)</a:t>
                </a:r>
              </a:p>
              <a:p>
                <a:pPr marL="0" indent="0">
                  <a:buNone/>
                </a:pPr>
                <a:r>
                  <a:rPr lang="en-US" sz="2000" dirty="0">
                    <a:solidFill>
                      <a:srgbClr val="00B050"/>
                    </a:solidFill>
                  </a:rPr>
                  <a:t>R = distance from center of Earth to S/C (m)</a:t>
                </a:r>
              </a:p>
              <a:p>
                <a:pPr marL="0" indent="0">
                  <a:buNone/>
                </a:pPr>
                <a:endParaRPr lang="en-US" sz="2200" dirty="0">
                  <a:solidFill>
                    <a:srgbClr val="00B05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33082" y="1129553"/>
                <a:ext cx="8910918" cy="5595261"/>
              </a:xfrm>
              <a:blipFill>
                <a:blip r:embed="rId3"/>
                <a:stretch>
                  <a:fillRect l="-684"/>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852CF08C-C382-9EAD-BFA1-AE29696FEE9B}"/>
              </a:ext>
            </a:extLst>
          </p:cNvPr>
          <p:cNvSpPr txBox="1"/>
          <p:nvPr/>
        </p:nvSpPr>
        <p:spPr>
          <a:xfrm>
            <a:off x="5683717" y="5401375"/>
            <a:ext cx="3344779" cy="1323439"/>
          </a:xfrm>
          <a:prstGeom prst="rect">
            <a:avLst/>
          </a:prstGeom>
          <a:noFill/>
        </p:spPr>
        <p:txBody>
          <a:bodyPr wrap="square">
            <a:spAutoFit/>
          </a:bodyPr>
          <a:lstStyle/>
          <a:p>
            <a:pPr algn="l"/>
            <a:r>
              <a:rPr lang="en-US" sz="1600" u="sng" dirty="0">
                <a:solidFill>
                  <a:schemeClr val="accent6">
                    <a:lumMod val="75000"/>
                  </a:schemeClr>
                </a:solidFill>
                <a:latin typeface="CIDFont+F1"/>
              </a:rPr>
              <a:t>F</a:t>
            </a:r>
            <a:r>
              <a:rPr lang="en-US" sz="1600" b="0" i="0" u="sng" strike="noStrike" baseline="0" dirty="0">
                <a:solidFill>
                  <a:schemeClr val="accent6">
                    <a:lumMod val="75000"/>
                  </a:schemeClr>
                </a:solidFill>
                <a:latin typeface="CIDFont+F1"/>
              </a:rPr>
              <a:t>or a single layer coil electromagnet:</a:t>
            </a:r>
          </a:p>
          <a:p>
            <a:pPr algn="l"/>
            <a:r>
              <a:rPr lang="en-US" sz="1600" b="0" i="0" u="none" strike="noStrike" baseline="0" dirty="0">
                <a:solidFill>
                  <a:schemeClr val="accent6">
                    <a:lumMod val="75000"/>
                  </a:schemeClr>
                </a:solidFill>
                <a:latin typeface="CIDFont+F1"/>
              </a:rPr>
              <a:t>D = </a:t>
            </a:r>
            <a:r>
              <a:rPr lang="en-US" sz="1600" b="0" i="0" u="none" strike="noStrike" baseline="0" dirty="0" err="1">
                <a:solidFill>
                  <a:schemeClr val="accent6">
                    <a:lumMod val="75000"/>
                  </a:schemeClr>
                </a:solidFill>
                <a:latin typeface="CIDFont+F1"/>
              </a:rPr>
              <a:t>NIA</a:t>
            </a:r>
            <a:r>
              <a:rPr lang="en-US" sz="700" b="0" i="0" u="none" strike="noStrike" baseline="0" dirty="0" err="1">
                <a:solidFill>
                  <a:schemeClr val="accent6">
                    <a:lumMod val="75000"/>
                  </a:schemeClr>
                </a:solidFill>
                <a:latin typeface="CIDFont+F1"/>
              </a:rPr>
              <a:t>coil</a:t>
            </a:r>
            <a:endParaRPr lang="en-US" sz="700" b="0" i="0" u="none" strike="noStrike" baseline="0" dirty="0">
              <a:solidFill>
                <a:schemeClr val="accent6">
                  <a:lumMod val="75000"/>
                </a:schemeClr>
              </a:solidFill>
              <a:latin typeface="CIDFont+F1"/>
            </a:endParaRPr>
          </a:p>
          <a:p>
            <a:r>
              <a:rPr lang="en-US" sz="1600" b="0" i="0" u="none" strike="noStrike" baseline="0" dirty="0">
                <a:solidFill>
                  <a:schemeClr val="accent6">
                    <a:lumMod val="75000"/>
                  </a:schemeClr>
                </a:solidFill>
                <a:latin typeface="CIDFont+F1"/>
              </a:rPr>
              <a:t>N = number of </a:t>
            </a:r>
            <a:r>
              <a:rPr lang="en-US" sz="1600" dirty="0">
                <a:solidFill>
                  <a:schemeClr val="accent6">
                    <a:lumMod val="75000"/>
                  </a:schemeClr>
                </a:solidFill>
                <a:latin typeface="CIDFont+F1"/>
              </a:rPr>
              <a:t>wire </a:t>
            </a:r>
            <a:r>
              <a:rPr lang="en-US" sz="1600" b="0" i="0" u="none" strike="noStrike" baseline="0" dirty="0">
                <a:solidFill>
                  <a:schemeClr val="accent6">
                    <a:lumMod val="75000"/>
                  </a:schemeClr>
                </a:solidFill>
                <a:latin typeface="CIDFont+F1"/>
              </a:rPr>
              <a:t>turns (loops)</a:t>
            </a:r>
          </a:p>
          <a:p>
            <a:pPr algn="l"/>
            <a:r>
              <a:rPr lang="en-US" sz="1600" b="0" i="0" u="none" strike="noStrike" baseline="0" dirty="0">
                <a:solidFill>
                  <a:schemeClr val="accent6">
                    <a:lumMod val="75000"/>
                  </a:schemeClr>
                </a:solidFill>
                <a:latin typeface="CIDFont+F1"/>
              </a:rPr>
              <a:t>I = current in wire (A)</a:t>
            </a:r>
          </a:p>
          <a:p>
            <a:pPr algn="l"/>
            <a:r>
              <a:rPr lang="en-US" sz="1600" b="0" i="0" u="none" strike="noStrike" baseline="0" dirty="0" err="1">
                <a:solidFill>
                  <a:schemeClr val="accent6">
                    <a:lumMod val="75000"/>
                  </a:schemeClr>
                </a:solidFill>
                <a:latin typeface="CIDFont+F1"/>
              </a:rPr>
              <a:t>A</a:t>
            </a:r>
            <a:r>
              <a:rPr lang="en-US" sz="700" b="0" i="0" u="none" strike="noStrike" baseline="0" dirty="0" err="1">
                <a:solidFill>
                  <a:schemeClr val="accent6">
                    <a:lumMod val="75000"/>
                  </a:schemeClr>
                </a:solidFill>
                <a:latin typeface="CIDFont+F1"/>
              </a:rPr>
              <a:t>coil</a:t>
            </a:r>
            <a:r>
              <a:rPr lang="en-US" sz="700" b="0" i="0" u="none" strike="noStrike" baseline="0" dirty="0">
                <a:solidFill>
                  <a:schemeClr val="accent6">
                    <a:lumMod val="75000"/>
                  </a:schemeClr>
                </a:solidFill>
                <a:latin typeface="CIDFont+F1"/>
              </a:rPr>
              <a:t> </a:t>
            </a:r>
            <a:r>
              <a:rPr lang="en-US" sz="1600" b="0" i="0" u="none" strike="noStrike" baseline="0" dirty="0">
                <a:solidFill>
                  <a:schemeClr val="accent6">
                    <a:lumMod val="75000"/>
                  </a:schemeClr>
                </a:solidFill>
                <a:latin typeface="CIDFont+F1"/>
              </a:rPr>
              <a:t>= area of each loop</a:t>
            </a:r>
            <a:r>
              <a:rPr lang="en-US" sz="1600" b="0" i="0" u="none" strike="noStrike" baseline="0">
                <a:solidFill>
                  <a:schemeClr val="accent6">
                    <a:lumMod val="75000"/>
                  </a:schemeClr>
                </a:solidFill>
                <a:latin typeface="CIDFont+F1"/>
              </a:rPr>
              <a:t> (m^2)</a:t>
            </a:r>
            <a:endParaRPr lang="en-US" sz="1600" dirty="0">
              <a:solidFill>
                <a:schemeClr val="accent6">
                  <a:lumMod val="75000"/>
                </a:schemeClr>
              </a:solidFill>
            </a:endParaRPr>
          </a:p>
        </p:txBody>
      </p:sp>
    </p:spTree>
    <p:extLst>
      <p:ext uri="{BB962C8B-B14F-4D97-AF65-F5344CB8AC3E}">
        <p14:creationId xmlns:p14="http://schemas.microsoft.com/office/powerpoint/2010/main" val="2540340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solidFill>
                  <a:srgbClr val="0070C0"/>
                </a:solidFill>
              </a:rPr>
              <a:t>External Disturbance Torques – </a:t>
            </a:r>
            <a:br>
              <a:rPr lang="en-US" sz="2400" dirty="0">
                <a:solidFill>
                  <a:srgbClr val="0070C0"/>
                </a:solidFill>
              </a:rPr>
            </a:br>
            <a:r>
              <a:rPr lang="en-US" sz="2400" dirty="0">
                <a:solidFill>
                  <a:srgbClr val="0070C0"/>
                </a:solidFill>
              </a:rPr>
              <a:t>	Solar Radiation Pressure (SRP)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0876" y="1057835"/>
                <a:ext cx="8779689" cy="5540189"/>
              </a:xfrm>
            </p:spPr>
            <p:txBody>
              <a:bodyPr>
                <a:normAutofit fontScale="85000" lnSpcReduction="20000"/>
              </a:bodyPr>
              <a:lstStyle/>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𝑇</m:t>
                          </m:r>
                        </m:e>
                        <m:sub>
                          <m:r>
                            <a:rPr lang="en-US" i="1">
                              <a:solidFill>
                                <a:srgbClr val="0070C0"/>
                              </a:solidFill>
                              <a:latin typeface="Cambria Math" panose="02040503050406030204" pitchFamily="18" charset="0"/>
                            </a:rPr>
                            <m:t>𝑆𝑅𝑃</m:t>
                          </m:r>
                        </m:sub>
                      </m:sSub>
                      <m:r>
                        <a:rPr lang="en-US" i="1">
                          <a:solidFill>
                            <a:srgbClr val="0070C0"/>
                          </a:solidFill>
                          <a:latin typeface="Cambria Math" panose="02040503050406030204" pitchFamily="18" charset="0"/>
                        </a:rPr>
                        <m:t>=</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𝐹</m:t>
                          </m:r>
                        </m:e>
                        <m:sub>
                          <m:r>
                            <a:rPr lang="en-US" i="1">
                              <a:solidFill>
                                <a:srgbClr val="0070C0"/>
                              </a:solidFill>
                              <a:latin typeface="Cambria Math" panose="02040503050406030204" pitchFamily="18" charset="0"/>
                            </a:rPr>
                            <m:t>𝑆𝑅𝑃</m:t>
                          </m:r>
                        </m:sub>
                      </m:sSub>
                      <m:d>
                        <m:dPr>
                          <m:ctrlPr>
                            <a:rPr lang="en-US" i="1">
                              <a:solidFill>
                                <a:srgbClr val="0070C0"/>
                              </a:solidFill>
                              <a:latin typeface="Cambria Math" panose="02040503050406030204" pitchFamily="18" charset="0"/>
                            </a:rPr>
                          </m:ctrlPr>
                        </m:dPr>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𝑐</m:t>
                              </m:r>
                            </m:e>
                            <m:sub>
                              <m:r>
                                <a:rPr lang="en-US" i="1">
                                  <a:solidFill>
                                    <a:srgbClr val="0070C0"/>
                                  </a:solidFill>
                                  <a:latin typeface="Cambria Math" panose="02040503050406030204" pitchFamily="18" charset="0"/>
                                </a:rPr>
                                <m:t>𝑝𝑠</m:t>
                              </m:r>
                            </m:sub>
                          </m:sSub>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𝑐𝑔</m:t>
                          </m:r>
                        </m:e>
                      </m:d>
                    </m:oMath>
                  </m:oMathPara>
                </a14:m>
                <a:endParaRPr lang="en-US" dirty="0">
                  <a:solidFill>
                    <a:srgbClr val="0070C0"/>
                  </a:solidFill>
                </a:endParaRPr>
              </a:p>
              <a:p>
                <a:pPr marL="0" indent="0">
                  <a:buNone/>
                </a:pPr>
                <a:endParaRPr lang="en-US" dirty="0">
                  <a:solidFill>
                    <a:srgbClr val="0070C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𝐹</m:t>
                          </m:r>
                        </m:e>
                        <m:sub>
                          <m:r>
                            <a:rPr lang="en-US" i="1">
                              <a:solidFill>
                                <a:srgbClr val="0070C0"/>
                              </a:solidFill>
                              <a:latin typeface="Cambria Math" panose="02040503050406030204" pitchFamily="18" charset="0"/>
                            </a:rPr>
                            <m:t>𝑆𝑅𝑃</m:t>
                          </m:r>
                        </m:sub>
                      </m:sSub>
                      <m:r>
                        <a:rPr lang="en-US" i="1">
                          <a:solidFill>
                            <a:srgbClr val="0070C0"/>
                          </a:solidFill>
                          <a:latin typeface="Cambria Math" panose="02040503050406030204" pitchFamily="18" charset="0"/>
                        </a:rPr>
                        <m:t>=</m:t>
                      </m:r>
                      <m:f>
                        <m:fPr>
                          <m:ctrlPr>
                            <a:rPr lang="en-US" i="1">
                              <a:solidFill>
                                <a:srgbClr val="0070C0"/>
                              </a:solidFill>
                              <a:latin typeface="Cambria Math" panose="02040503050406030204" pitchFamily="18" charset="0"/>
                            </a:rPr>
                          </m:ctrlPr>
                        </m:fPr>
                        <m:num>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𝑆</m:t>
                              </m:r>
                            </m:e>
                            <m:sub>
                              <m:r>
                                <a:rPr lang="en-US" i="1">
                                  <a:solidFill>
                                    <a:srgbClr val="0070C0"/>
                                  </a:solidFill>
                                  <a:latin typeface="Cambria Math" panose="02040503050406030204" pitchFamily="18" charset="0"/>
                                </a:rPr>
                                <m:t>⊕</m:t>
                              </m:r>
                            </m:sub>
                          </m:sSub>
                        </m:num>
                        <m:den>
                          <m:r>
                            <a:rPr lang="en-US" i="1">
                              <a:solidFill>
                                <a:srgbClr val="0070C0"/>
                              </a:solidFill>
                              <a:latin typeface="Cambria Math" panose="02040503050406030204" pitchFamily="18" charset="0"/>
                            </a:rPr>
                            <m:t>𝑐</m:t>
                          </m:r>
                        </m:den>
                      </m:f>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𝐴</m:t>
                          </m:r>
                        </m:e>
                        <m:sub>
                          <m:r>
                            <a:rPr lang="en-US" i="1">
                              <a:solidFill>
                                <a:srgbClr val="0070C0"/>
                              </a:solidFill>
                              <a:latin typeface="Cambria Math" panose="02040503050406030204" pitchFamily="18" charset="0"/>
                            </a:rPr>
                            <m:t>𝑠</m:t>
                          </m:r>
                        </m:sub>
                      </m:sSub>
                      <m:r>
                        <a:rPr lang="en-US" i="1">
                          <a:solidFill>
                            <a:srgbClr val="0070C0"/>
                          </a:solidFill>
                          <a:latin typeface="Cambria Math" panose="02040503050406030204" pitchFamily="18" charset="0"/>
                        </a:rPr>
                        <m:t>(1+</m:t>
                      </m:r>
                      <m:r>
                        <a:rPr lang="en-US" i="1">
                          <a:solidFill>
                            <a:srgbClr val="0070C0"/>
                          </a:solidFill>
                          <a:latin typeface="Cambria Math" panose="02040503050406030204" pitchFamily="18" charset="0"/>
                        </a:rPr>
                        <m:t>𝑞</m:t>
                      </m:r>
                      <m:r>
                        <a:rPr lang="en-US" i="1">
                          <a:solidFill>
                            <a:srgbClr val="0070C0"/>
                          </a:solidFill>
                          <a:latin typeface="Cambria Math" panose="02040503050406030204" pitchFamily="18" charset="0"/>
                        </a:rPr>
                        <m:t>)</m:t>
                      </m:r>
                      <m:func>
                        <m:funcPr>
                          <m:ctrlPr>
                            <a:rPr lang="en-US" i="1">
                              <a:solidFill>
                                <a:srgbClr val="0070C0"/>
                              </a:solidFill>
                              <a:latin typeface="Cambria Math" panose="02040503050406030204" pitchFamily="18" charset="0"/>
                            </a:rPr>
                          </m:ctrlPr>
                        </m:funcPr>
                        <m:fName>
                          <m:r>
                            <a:rPr lang="en-US" i="1">
                              <a:solidFill>
                                <a:srgbClr val="0070C0"/>
                              </a:solidFill>
                              <a:latin typeface="Cambria Math" panose="02040503050406030204" pitchFamily="18" charset="0"/>
                            </a:rPr>
                            <m:t>𝑐𝑜𝑠</m:t>
                          </m:r>
                        </m:fName>
                        <m:e>
                          <m:r>
                            <a:rPr lang="en-US" i="1">
                              <a:solidFill>
                                <a:srgbClr val="0070C0"/>
                              </a:solidFill>
                              <a:latin typeface="Cambria Math" panose="02040503050406030204" pitchFamily="18" charset="0"/>
                            </a:rPr>
                            <m:t>𝑖</m:t>
                          </m:r>
                        </m:e>
                      </m:func>
                    </m:oMath>
                  </m:oMathPara>
                </a14:m>
                <a:endParaRPr lang="en-US" dirty="0">
                  <a:solidFill>
                    <a:srgbClr val="0070C0"/>
                  </a:solidFill>
                </a:endParaRPr>
              </a:p>
              <a:p>
                <a:pPr marL="0" indent="0">
                  <a:buNone/>
                </a:pPr>
                <a:r>
                  <a:rPr lang="en-US" sz="2600" dirty="0">
                    <a:solidFill>
                      <a:srgbClr val="0070C0"/>
                    </a:solidFill>
                  </a:rPr>
                  <a:t>Where</a:t>
                </a:r>
              </a:p>
              <a:p>
                <a:pPr marL="0" indent="0">
                  <a:buNone/>
                </a:pPr>
                <a:r>
                  <a:rPr lang="en-US" sz="2600" dirty="0">
                    <a:solidFill>
                      <a:srgbClr val="0070C0"/>
                    </a:solidFill>
                  </a:rPr>
                  <a:t>T</a:t>
                </a:r>
                <a:r>
                  <a:rPr lang="en-US" sz="2600" baseline="-25000" dirty="0">
                    <a:solidFill>
                      <a:srgbClr val="0070C0"/>
                    </a:solidFill>
                  </a:rPr>
                  <a:t>sp</a:t>
                </a:r>
                <a:r>
                  <a:rPr lang="en-US" sz="2600" dirty="0">
                    <a:solidFill>
                      <a:srgbClr val="0070C0"/>
                    </a:solidFill>
                  </a:rPr>
                  <a:t> = solar radiation pressure disturbance torque (</a:t>
                </a:r>
                <a:r>
                  <a:rPr lang="en-US" sz="2600" dirty="0" err="1">
                    <a:solidFill>
                      <a:srgbClr val="0070C0"/>
                    </a:solidFill>
                  </a:rPr>
                  <a:t>N·m</a:t>
                </a:r>
                <a:r>
                  <a:rPr lang="en-US" sz="2600" dirty="0">
                    <a:solidFill>
                      <a:srgbClr val="0070C0"/>
                    </a:solidFill>
                  </a:rPr>
                  <a:t>)</a:t>
                </a:r>
              </a:p>
              <a:p>
                <a:pPr marL="0" indent="0">
                  <a:buNone/>
                </a:pPr>
                <a:r>
                  <a:rPr lang="en-US" sz="2600" dirty="0">
                    <a:solidFill>
                      <a:srgbClr val="0070C0"/>
                    </a:solidFill>
                  </a:rPr>
                  <a:t>c = speed of light (3x10</a:t>
                </a:r>
                <a:r>
                  <a:rPr lang="en-US" sz="2600" baseline="30000" dirty="0">
                    <a:solidFill>
                      <a:srgbClr val="0070C0"/>
                    </a:solidFill>
                  </a:rPr>
                  <a:t>8</a:t>
                </a:r>
                <a:r>
                  <a:rPr lang="en-US" sz="2600" dirty="0">
                    <a:solidFill>
                      <a:srgbClr val="0070C0"/>
                    </a:solidFill>
                  </a:rPr>
                  <a:t> m/s)</a:t>
                </a:r>
              </a:p>
              <a:p>
                <a:pPr marL="0" indent="0">
                  <a:buNone/>
                </a:pPr>
                <a14:m>
                  <m:oMath xmlns:m="http://schemas.openxmlformats.org/officeDocument/2006/math">
                    <m:sSub>
                      <m:sSubPr>
                        <m:ctrlPr>
                          <a:rPr lang="en-US" sz="2600" i="1">
                            <a:solidFill>
                              <a:srgbClr val="0070C0"/>
                            </a:solidFill>
                            <a:latin typeface="Cambria Math" panose="02040503050406030204" pitchFamily="18" charset="0"/>
                          </a:rPr>
                        </m:ctrlPr>
                      </m:sSubPr>
                      <m:e>
                        <m:r>
                          <a:rPr lang="en-US" sz="2600" i="1">
                            <a:solidFill>
                              <a:srgbClr val="0070C0"/>
                            </a:solidFill>
                            <a:latin typeface="Cambria Math" panose="02040503050406030204" pitchFamily="18" charset="0"/>
                          </a:rPr>
                          <m:t>𝑆</m:t>
                        </m:r>
                      </m:e>
                      <m:sub>
                        <m:r>
                          <a:rPr lang="en-US" sz="2600" i="1">
                            <a:solidFill>
                              <a:srgbClr val="0070C0"/>
                            </a:solidFill>
                            <a:latin typeface="Cambria Math" panose="02040503050406030204" pitchFamily="18" charset="0"/>
                          </a:rPr>
                          <m:t>⊕</m:t>
                        </m:r>
                      </m:sub>
                    </m:sSub>
                  </m:oMath>
                </a14:m>
                <a:r>
                  <a:rPr lang="en-US" sz="2600" dirty="0">
                    <a:solidFill>
                      <a:srgbClr val="0070C0"/>
                    </a:solidFill>
                  </a:rPr>
                  <a:t> = solar constant (1367 W/m</a:t>
                </a:r>
                <a:r>
                  <a:rPr lang="en-US" sz="2600" baseline="30000" dirty="0">
                    <a:solidFill>
                      <a:srgbClr val="0070C0"/>
                    </a:solidFill>
                  </a:rPr>
                  <a:t>2</a:t>
                </a:r>
                <a:r>
                  <a:rPr lang="en-US" sz="2600" dirty="0">
                    <a:solidFill>
                      <a:srgbClr val="0070C0"/>
                    </a:solidFill>
                  </a:rPr>
                  <a:t>)</a:t>
                </a:r>
              </a:p>
              <a:p>
                <a:pPr marL="0" indent="0">
                  <a:buNone/>
                </a:pPr>
                <a:r>
                  <a:rPr lang="en-US" sz="2600" dirty="0">
                    <a:solidFill>
                      <a:srgbClr val="0070C0"/>
                    </a:solidFill>
                  </a:rPr>
                  <a:t>A</a:t>
                </a:r>
                <a:r>
                  <a:rPr lang="en-US" sz="2600" baseline="-25000" dirty="0">
                    <a:solidFill>
                      <a:srgbClr val="0070C0"/>
                    </a:solidFill>
                  </a:rPr>
                  <a:t>s</a:t>
                </a:r>
                <a:r>
                  <a:rPr lang="en-US" sz="2600" dirty="0">
                    <a:solidFill>
                      <a:srgbClr val="0070C0"/>
                    </a:solidFill>
                  </a:rPr>
                  <a:t> = surface area of a sun-facing side (m</a:t>
                </a:r>
                <a:r>
                  <a:rPr lang="en-US" sz="2600" baseline="30000" dirty="0">
                    <a:solidFill>
                      <a:srgbClr val="0070C0"/>
                    </a:solidFill>
                  </a:rPr>
                  <a:t>2</a:t>
                </a:r>
                <a:r>
                  <a:rPr lang="en-US" sz="2600" dirty="0">
                    <a:solidFill>
                      <a:srgbClr val="0070C0"/>
                    </a:solidFill>
                  </a:rPr>
                  <a:t>)</a:t>
                </a:r>
              </a:p>
              <a:p>
                <a:pPr marL="0" indent="0">
                  <a:buNone/>
                </a:pPr>
                <a:r>
                  <a:rPr lang="en-US" sz="2600" dirty="0">
                    <a:solidFill>
                      <a:srgbClr val="0070C0"/>
                    </a:solidFill>
                  </a:rPr>
                  <a:t>c</a:t>
                </a:r>
                <a:r>
                  <a:rPr lang="en-US" sz="2600" baseline="-25000" dirty="0">
                    <a:solidFill>
                      <a:srgbClr val="0070C0"/>
                    </a:solidFill>
                  </a:rPr>
                  <a:t>ps</a:t>
                </a:r>
                <a:r>
                  <a:rPr lang="en-US" sz="2600" dirty="0">
                    <a:solidFill>
                      <a:srgbClr val="0070C0"/>
                    </a:solidFill>
                  </a:rPr>
                  <a:t> = location of center of solar pressure (m)</a:t>
                </a:r>
              </a:p>
              <a:p>
                <a:pPr marL="0" indent="0">
                  <a:buNone/>
                </a:pPr>
                <a:r>
                  <a:rPr lang="en-US" sz="2600" dirty="0">
                    <a:solidFill>
                      <a:srgbClr val="0070C0"/>
                    </a:solidFill>
                  </a:rPr>
                  <a:t>cg = center of gravity (m)</a:t>
                </a:r>
              </a:p>
              <a:p>
                <a:pPr marL="0" indent="0">
                  <a:buNone/>
                </a:pPr>
                <a:r>
                  <a:rPr lang="en-US" sz="2600" dirty="0">
                    <a:solidFill>
                      <a:srgbClr val="0070C0"/>
                    </a:solidFill>
                  </a:rPr>
                  <a:t>q = reflectance factor (0 ≤ q ≤ 1, unitless) (first cut:  use q = 0.6)</a:t>
                </a:r>
              </a:p>
              <a:p>
                <a:pPr marL="0" indent="0">
                  <a:buNone/>
                </a:pPr>
                <a:r>
                  <a:rPr lang="en-US" sz="2600" i="1" dirty="0">
                    <a:solidFill>
                      <a:srgbClr val="0070C0"/>
                    </a:solidFill>
                  </a:rPr>
                  <a:t>i </a:t>
                </a:r>
                <a:r>
                  <a:rPr lang="en-US" sz="2600" dirty="0">
                    <a:solidFill>
                      <a:srgbClr val="0070C0"/>
                    </a:solidFill>
                  </a:rPr>
                  <a:t>= angle of incidence to sun (rad or deg) (not inclination!)</a:t>
                </a:r>
              </a:p>
              <a:p>
                <a:pPr marL="0" indent="0">
                  <a:buNone/>
                </a:pPr>
                <a:endParaRPr lang="en-US" sz="2600" dirty="0">
                  <a:solidFill>
                    <a:srgbClr val="0070C0"/>
                  </a:solidFill>
                </a:endParaRPr>
              </a:p>
              <a:p>
                <a:pPr marL="0" indent="0">
                  <a:buNone/>
                </a:pPr>
                <a:r>
                  <a:rPr lang="en-US" sz="2600" b="1" dirty="0">
                    <a:solidFill>
                      <a:srgbClr val="0070C0"/>
                    </a:solidFill>
                  </a:rPr>
                  <a:t>Note: SRP is not dependent upon altitude!</a:t>
                </a:r>
              </a:p>
              <a:p>
                <a:pPr marL="0" indent="0">
                  <a:buNone/>
                </a:pPr>
                <a:endParaRPr lang="en-US" dirty="0">
                  <a:solidFill>
                    <a:srgbClr val="0070C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0876" y="1057835"/>
                <a:ext cx="8779689" cy="5540189"/>
              </a:xfrm>
              <a:blipFill>
                <a:blip r:embed="rId2"/>
                <a:stretch>
                  <a:fillRect l="-903" b="-991"/>
                </a:stretch>
              </a:blipFill>
            </p:spPr>
            <p:txBody>
              <a:bodyPr/>
              <a:lstStyle/>
              <a:p>
                <a:r>
                  <a:rPr lang="en-US">
                    <a:noFill/>
                  </a:rPr>
                  <a:t> </a:t>
                </a:r>
              </a:p>
            </p:txBody>
          </p:sp>
        </mc:Fallback>
      </mc:AlternateContent>
    </p:spTree>
    <p:extLst>
      <p:ext uri="{BB962C8B-B14F-4D97-AF65-F5344CB8AC3E}">
        <p14:creationId xmlns:p14="http://schemas.microsoft.com/office/powerpoint/2010/main" val="3368724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7030A0"/>
                </a:solidFill>
              </a:rPr>
              <a:t>External Disturbance Torques – Drag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13496" y="1082818"/>
                <a:ext cx="8340169" cy="5515206"/>
              </a:xfrm>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𝑇</m:t>
                          </m:r>
                        </m:e>
                        <m:sub>
                          <m:r>
                            <a:rPr lang="en-US" i="1">
                              <a:solidFill>
                                <a:srgbClr val="7030A0"/>
                              </a:solidFill>
                              <a:latin typeface="Cambria Math" panose="02040503050406030204" pitchFamily="18" charset="0"/>
                            </a:rPr>
                            <m:t>𝐷𝑟𝑎𝑔</m:t>
                          </m:r>
                        </m:sub>
                      </m:sSub>
                      <m:r>
                        <a:rPr lang="en-US" i="1">
                          <a:solidFill>
                            <a:srgbClr val="7030A0"/>
                          </a:solidFill>
                          <a:latin typeface="Cambria Math" panose="02040503050406030204" pitchFamily="18" charset="0"/>
                        </a:rPr>
                        <m:t>=</m:t>
                      </m:r>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𝐹</m:t>
                          </m:r>
                        </m:e>
                        <m:sub>
                          <m:r>
                            <a:rPr lang="en-US" i="1">
                              <a:solidFill>
                                <a:srgbClr val="7030A0"/>
                              </a:solidFill>
                              <a:latin typeface="Cambria Math" panose="02040503050406030204" pitchFamily="18" charset="0"/>
                            </a:rPr>
                            <m:t>𝐷𝑟𝑎𝑔</m:t>
                          </m:r>
                        </m:sub>
                      </m:sSub>
                      <m:d>
                        <m:dPr>
                          <m:ctrlPr>
                            <a:rPr lang="en-US" i="1">
                              <a:solidFill>
                                <a:srgbClr val="7030A0"/>
                              </a:solidFill>
                              <a:latin typeface="Cambria Math" panose="02040503050406030204" pitchFamily="18" charset="0"/>
                            </a:rPr>
                          </m:ctrlPr>
                        </m:dPr>
                        <m:e>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𝑐</m:t>
                              </m:r>
                            </m:e>
                            <m:sub>
                              <m:r>
                                <a:rPr lang="en-US" i="1">
                                  <a:solidFill>
                                    <a:srgbClr val="7030A0"/>
                                  </a:solidFill>
                                  <a:latin typeface="Cambria Math" panose="02040503050406030204" pitchFamily="18" charset="0"/>
                                </a:rPr>
                                <m:t>𝑝𝑎</m:t>
                              </m:r>
                            </m:sub>
                          </m:sSub>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𝑐𝑔</m:t>
                          </m:r>
                        </m:e>
                      </m:d>
                    </m:oMath>
                  </m:oMathPara>
                </a14:m>
                <a:endParaRPr lang="en-US" dirty="0">
                  <a:solidFill>
                    <a:srgbClr val="7030A0"/>
                  </a:solidFill>
                </a:endParaRPr>
              </a:p>
              <a:p>
                <a:pPr marL="0" indent="0">
                  <a:buNone/>
                </a:pPr>
                <a:endParaRPr lang="en-US" dirty="0">
                  <a:solidFill>
                    <a:srgbClr val="7030A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𝐹</m:t>
                          </m:r>
                        </m:e>
                        <m:sub>
                          <m:r>
                            <a:rPr lang="en-US" i="1">
                              <a:solidFill>
                                <a:srgbClr val="7030A0"/>
                              </a:solidFill>
                              <a:latin typeface="Cambria Math" panose="02040503050406030204" pitchFamily="18" charset="0"/>
                            </a:rPr>
                            <m:t>𝐷𝑟𝑎𝑔</m:t>
                          </m:r>
                        </m:sub>
                      </m:sSub>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0</m:t>
                      </m:r>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5</m:t>
                      </m:r>
                      <m:r>
                        <a:rPr lang="en-US" i="1">
                          <a:solidFill>
                            <a:srgbClr val="7030A0"/>
                          </a:solidFill>
                          <a:latin typeface="Cambria Math" panose="02040503050406030204" pitchFamily="18" charset="0"/>
                        </a:rPr>
                        <m:t>𝜌</m:t>
                      </m:r>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𝐶</m:t>
                          </m:r>
                        </m:e>
                        <m:sub>
                          <m:r>
                            <a:rPr lang="en-US" i="1">
                              <a:solidFill>
                                <a:srgbClr val="7030A0"/>
                              </a:solidFill>
                              <a:latin typeface="Cambria Math" panose="02040503050406030204" pitchFamily="18" charset="0"/>
                            </a:rPr>
                            <m:t>𝑑</m:t>
                          </m:r>
                        </m:sub>
                      </m:sSub>
                      <m:r>
                        <a:rPr lang="en-US" i="1">
                          <a:solidFill>
                            <a:srgbClr val="7030A0"/>
                          </a:solidFill>
                          <a:latin typeface="Cambria Math" panose="02040503050406030204" pitchFamily="18" charset="0"/>
                        </a:rPr>
                        <m:t>𝐴</m:t>
                      </m:r>
                      <m:sSup>
                        <m:sSupPr>
                          <m:ctrlPr>
                            <a:rPr lang="en-US" i="1">
                              <a:solidFill>
                                <a:srgbClr val="7030A0"/>
                              </a:solidFill>
                              <a:latin typeface="Cambria Math" panose="02040503050406030204" pitchFamily="18" charset="0"/>
                            </a:rPr>
                          </m:ctrlPr>
                        </m:sSupPr>
                        <m:e>
                          <m:r>
                            <a:rPr lang="en-US" i="1">
                              <a:solidFill>
                                <a:srgbClr val="7030A0"/>
                              </a:solidFill>
                              <a:latin typeface="Cambria Math" panose="02040503050406030204" pitchFamily="18" charset="0"/>
                            </a:rPr>
                            <m:t>𝑉</m:t>
                          </m:r>
                        </m:e>
                        <m:sup>
                          <m:r>
                            <a:rPr lang="en-US" i="1">
                              <a:solidFill>
                                <a:srgbClr val="7030A0"/>
                              </a:solidFill>
                              <a:latin typeface="Cambria Math" panose="02040503050406030204" pitchFamily="18" charset="0"/>
                            </a:rPr>
                            <m:t>2</m:t>
                          </m:r>
                        </m:sup>
                      </m:sSup>
                    </m:oMath>
                  </m:oMathPara>
                </a14:m>
                <a:endParaRPr lang="en-US" dirty="0">
                  <a:solidFill>
                    <a:srgbClr val="7030A0"/>
                  </a:solidFill>
                </a:endParaRPr>
              </a:p>
              <a:p>
                <a:pPr marL="0" indent="0">
                  <a:buNone/>
                </a:pPr>
                <a:r>
                  <a:rPr lang="en-US" sz="2300" dirty="0">
                    <a:solidFill>
                      <a:srgbClr val="7030A0"/>
                    </a:solidFill>
                  </a:rPr>
                  <a:t>Where</a:t>
                </a:r>
              </a:p>
              <a:p>
                <a:pPr marL="0" indent="0">
                  <a:buNone/>
                </a:pPr>
                <a:r>
                  <a:rPr lang="en-US" sz="2300" dirty="0">
                    <a:solidFill>
                      <a:srgbClr val="7030A0"/>
                    </a:solidFill>
                  </a:rPr>
                  <a:t>T</a:t>
                </a:r>
                <a:r>
                  <a:rPr lang="en-US" sz="2300" baseline="-25000" dirty="0">
                    <a:solidFill>
                      <a:srgbClr val="7030A0"/>
                    </a:solidFill>
                  </a:rPr>
                  <a:t>a</a:t>
                </a:r>
                <a:r>
                  <a:rPr lang="en-US" sz="2300" dirty="0">
                    <a:solidFill>
                      <a:srgbClr val="7030A0"/>
                    </a:solidFill>
                  </a:rPr>
                  <a:t> = aerodynamic disturbance torque (</a:t>
                </a:r>
                <a:r>
                  <a:rPr lang="en-US" sz="2300" dirty="0" err="1">
                    <a:solidFill>
                      <a:srgbClr val="7030A0"/>
                    </a:solidFill>
                  </a:rPr>
                  <a:t>N·m</a:t>
                </a:r>
                <a:r>
                  <a:rPr lang="en-US" sz="2300" dirty="0">
                    <a:solidFill>
                      <a:srgbClr val="7030A0"/>
                    </a:solidFill>
                  </a:rPr>
                  <a:t>)</a:t>
                </a:r>
              </a:p>
              <a:p>
                <a:pPr marL="0" indent="0">
                  <a:buNone/>
                </a:pPr>
                <a:r>
                  <a:rPr lang="en-US" sz="2300" dirty="0" err="1">
                    <a:solidFill>
                      <a:srgbClr val="7030A0"/>
                    </a:solidFill>
                  </a:rPr>
                  <a:t>c</a:t>
                </a:r>
                <a:r>
                  <a:rPr lang="en-US" sz="2300" baseline="-25000" dirty="0" err="1">
                    <a:solidFill>
                      <a:srgbClr val="7030A0"/>
                    </a:solidFill>
                  </a:rPr>
                  <a:t>pa</a:t>
                </a:r>
                <a:r>
                  <a:rPr lang="en-US" sz="2300" dirty="0">
                    <a:solidFill>
                      <a:srgbClr val="7030A0"/>
                    </a:solidFill>
                  </a:rPr>
                  <a:t> = location of center of aerodynamic pressure (m)</a:t>
                </a:r>
              </a:p>
              <a:p>
                <a:pPr marL="0" indent="0">
                  <a:buNone/>
                </a:pPr>
                <a:r>
                  <a:rPr lang="en-US" sz="2300" dirty="0">
                    <a:solidFill>
                      <a:srgbClr val="7030A0"/>
                    </a:solidFill>
                  </a:rPr>
                  <a:t>cg = center of gravity (m)</a:t>
                </a:r>
              </a:p>
              <a:p>
                <a:pPr marL="0" indent="0">
                  <a:buNone/>
                </a:pPr>
                <a:r>
                  <a:rPr lang="en-US" sz="2300" dirty="0">
                    <a:solidFill>
                      <a:srgbClr val="7030A0"/>
                    </a:solidFill>
                  </a:rPr>
                  <a:t>C</a:t>
                </a:r>
                <a:r>
                  <a:rPr lang="en-US" sz="2300" baseline="-25000" dirty="0">
                    <a:solidFill>
                      <a:srgbClr val="7030A0"/>
                    </a:solidFill>
                  </a:rPr>
                  <a:t>d</a:t>
                </a:r>
                <a:r>
                  <a:rPr lang="en-US" sz="2300" dirty="0">
                    <a:solidFill>
                      <a:srgbClr val="7030A0"/>
                    </a:solidFill>
                  </a:rPr>
                  <a:t> = drag coefficient (</a:t>
                </a:r>
                <a:r>
                  <a:rPr lang="en-US" sz="2300" dirty="0" err="1">
                    <a:solidFill>
                      <a:srgbClr val="7030A0"/>
                    </a:solidFill>
                  </a:rPr>
                  <a:t>unitless</a:t>
                </a:r>
                <a:r>
                  <a:rPr lang="en-US" sz="2300" dirty="0">
                    <a:solidFill>
                      <a:srgbClr val="7030A0"/>
                    </a:solidFill>
                  </a:rPr>
                  <a:t>) (usually between 2 - 2.5)</a:t>
                </a:r>
              </a:p>
              <a:p>
                <a:pPr marL="0" indent="0">
                  <a:buNone/>
                </a:pPr>
                <a:r>
                  <a:rPr lang="en-US" sz="2300" dirty="0">
                    <a:solidFill>
                      <a:srgbClr val="7030A0"/>
                    </a:solidFill>
                  </a:rPr>
                  <a:t>ρ = atmospheric density (kg/m</a:t>
                </a:r>
                <a:r>
                  <a:rPr lang="en-US" sz="2300" baseline="30000" dirty="0">
                    <a:solidFill>
                      <a:srgbClr val="7030A0"/>
                    </a:solidFill>
                  </a:rPr>
                  <a:t>3</a:t>
                </a:r>
                <a:r>
                  <a:rPr lang="en-US" sz="2300" dirty="0">
                    <a:solidFill>
                      <a:srgbClr val="7030A0"/>
                    </a:solidFill>
                  </a:rPr>
                  <a:t>)</a:t>
                </a:r>
              </a:p>
              <a:p>
                <a:pPr marL="0" indent="0">
                  <a:buNone/>
                </a:pPr>
                <a:r>
                  <a:rPr lang="en-US" sz="2300" dirty="0">
                    <a:solidFill>
                      <a:srgbClr val="7030A0"/>
                    </a:solidFill>
                  </a:rPr>
                  <a:t>A = surface area of ram-facing side (m</a:t>
                </a:r>
                <a:r>
                  <a:rPr lang="en-US" sz="2300" baseline="30000" dirty="0">
                    <a:solidFill>
                      <a:srgbClr val="7030A0"/>
                    </a:solidFill>
                  </a:rPr>
                  <a:t>2</a:t>
                </a:r>
                <a:r>
                  <a:rPr lang="en-US" sz="2300" dirty="0">
                    <a:solidFill>
                      <a:srgbClr val="7030A0"/>
                    </a:solidFill>
                  </a:rPr>
                  <a:t>)</a:t>
                </a:r>
              </a:p>
              <a:p>
                <a:pPr marL="0" indent="0">
                  <a:buNone/>
                </a:pPr>
                <a:r>
                  <a:rPr lang="en-US" sz="2300" dirty="0">
                    <a:solidFill>
                      <a:srgbClr val="7030A0"/>
                    </a:solidFill>
                  </a:rPr>
                  <a:t>V = spacecraft velocity (m/s)</a:t>
                </a:r>
              </a:p>
              <a:p>
                <a:pPr marL="0" indent="0">
                  <a:buNone/>
                </a:pPr>
                <a:endParaRPr lang="en-US" sz="2300" dirty="0">
                  <a:solidFill>
                    <a:srgbClr val="7030A0"/>
                  </a:solidFill>
                </a:endParaRPr>
              </a:p>
              <a:p>
                <a:pPr marL="0" indent="0">
                  <a:buNone/>
                </a:pPr>
                <a:r>
                  <a:rPr lang="en-US" sz="2300" b="1" dirty="0">
                    <a:solidFill>
                      <a:srgbClr val="7030A0"/>
                    </a:solidFill>
                  </a:rPr>
                  <a:t>Note:  Recall that aerodynamic drag is dependent upon many variables, to include the solar activity, and the value for atmospheric density is an approximation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13496" y="1082818"/>
                <a:ext cx="8340169" cy="5515206"/>
              </a:xfrm>
              <a:blipFill>
                <a:blip r:embed="rId2"/>
                <a:stretch>
                  <a:fillRect l="-877"/>
                </a:stretch>
              </a:blipFill>
            </p:spPr>
            <p:txBody>
              <a:bodyPr/>
              <a:lstStyle/>
              <a:p>
                <a:r>
                  <a:rPr lang="en-US">
                    <a:noFill/>
                  </a:rPr>
                  <a:t> </a:t>
                </a:r>
              </a:p>
            </p:txBody>
          </p:sp>
        </mc:Fallback>
      </mc:AlternateContent>
    </p:spTree>
    <p:extLst>
      <p:ext uri="{BB962C8B-B14F-4D97-AF65-F5344CB8AC3E}">
        <p14:creationId xmlns:p14="http://schemas.microsoft.com/office/powerpoint/2010/main" val="4013498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CE09-D4D2-A747-0674-EA4A87958744}"/>
              </a:ext>
            </a:extLst>
          </p:cNvPr>
          <p:cNvSpPr>
            <a:spLocks noGrp="1"/>
          </p:cNvSpPr>
          <p:nvPr>
            <p:ph type="title"/>
          </p:nvPr>
        </p:nvSpPr>
        <p:spPr/>
        <p:txBody>
          <a:bodyPr/>
          <a:lstStyle/>
          <a:p>
            <a:r>
              <a:rPr lang="en-US" dirty="0"/>
              <a:t>Other Disturbance Torques</a:t>
            </a:r>
          </a:p>
        </p:txBody>
      </p:sp>
      <p:sp>
        <p:nvSpPr>
          <p:cNvPr id="4" name="Slide Number Placeholder 3">
            <a:extLst>
              <a:ext uri="{FF2B5EF4-FFF2-40B4-BE49-F238E27FC236}">
                <a16:creationId xmlns:a16="http://schemas.microsoft.com/office/drawing/2014/main" id="{CDE6BB92-F855-3F84-B248-5A272DEA0D7E}"/>
              </a:ext>
            </a:extLst>
          </p:cNvPr>
          <p:cNvSpPr>
            <a:spLocks noGrp="1"/>
          </p:cNvSpPr>
          <p:nvPr>
            <p:ph type="sldNum" sz="quarter" idx="12"/>
          </p:nvPr>
        </p:nvSpPr>
        <p:spPr/>
        <p:txBody>
          <a:bodyPr/>
          <a:lstStyle/>
          <a:p>
            <a:fld id="{9A3029B7-FE6B-4680-9049-80E8298A0825}" type="slidenum">
              <a:rPr lang="en-US" smtClean="0"/>
              <a:t>21</a:t>
            </a:fld>
            <a:endParaRPr lang="en-US"/>
          </a:p>
        </p:txBody>
      </p:sp>
      <p:pic>
        <p:nvPicPr>
          <p:cNvPr id="5" name="Content Placeholder 4">
            <a:extLst>
              <a:ext uri="{FF2B5EF4-FFF2-40B4-BE49-F238E27FC236}">
                <a16:creationId xmlns:a16="http://schemas.microsoft.com/office/drawing/2014/main" id="{FC7F07A3-91F8-81F5-535D-0C86ED8CF877}"/>
              </a:ext>
            </a:extLst>
          </p:cNvPr>
          <p:cNvPicPr>
            <a:picLocks noGrp="1" noChangeAspect="1"/>
          </p:cNvPicPr>
          <p:nvPr>
            <p:ph idx="1"/>
          </p:nvPr>
        </p:nvPicPr>
        <p:blipFill>
          <a:blip r:embed="rId3"/>
          <a:stretch>
            <a:fillRect/>
          </a:stretch>
        </p:blipFill>
        <p:spPr>
          <a:xfrm>
            <a:off x="949652" y="1078519"/>
            <a:ext cx="7244695" cy="5646295"/>
          </a:xfrm>
          <a:prstGeom prst="rect">
            <a:avLst/>
          </a:prstGeom>
        </p:spPr>
      </p:pic>
      <p:cxnSp>
        <p:nvCxnSpPr>
          <p:cNvPr id="6" name="Straight Connector 5">
            <a:extLst>
              <a:ext uri="{FF2B5EF4-FFF2-40B4-BE49-F238E27FC236}">
                <a16:creationId xmlns:a16="http://schemas.microsoft.com/office/drawing/2014/main" id="{7496F12D-D53A-4EA2-DE68-EF648973EF16}"/>
              </a:ext>
            </a:extLst>
          </p:cNvPr>
          <p:cNvCxnSpPr>
            <a:cxnSpLocks/>
          </p:cNvCxnSpPr>
          <p:nvPr/>
        </p:nvCxnSpPr>
        <p:spPr>
          <a:xfrm flipV="1">
            <a:off x="3163330" y="1235676"/>
            <a:ext cx="432486" cy="86497"/>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6112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3AB64F-FB41-4CD0-0CF1-35FC56C0457E}"/>
              </a:ext>
            </a:extLst>
          </p:cNvPr>
          <p:cNvSpPr>
            <a:spLocks noGrp="1"/>
          </p:cNvSpPr>
          <p:nvPr>
            <p:ph type="title"/>
          </p:nvPr>
        </p:nvSpPr>
        <p:spPr/>
        <p:txBody>
          <a:bodyPr/>
          <a:lstStyle/>
          <a:p>
            <a:r>
              <a:rPr lang="en-US" dirty="0"/>
              <a:t>Reaction Wheels</a:t>
            </a:r>
          </a:p>
        </p:txBody>
      </p:sp>
      <p:sp>
        <p:nvSpPr>
          <p:cNvPr id="4" name="Slide Number Placeholder 3">
            <a:extLst>
              <a:ext uri="{FF2B5EF4-FFF2-40B4-BE49-F238E27FC236}">
                <a16:creationId xmlns:a16="http://schemas.microsoft.com/office/drawing/2014/main" id="{87AECC54-4909-5BC1-E902-12A758CDC9C4}"/>
              </a:ext>
            </a:extLst>
          </p:cNvPr>
          <p:cNvSpPr>
            <a:spLocks noGrp="1"/>
          </p:cNvSpPr>
          <p:nvPr>
            <p:ph type="sldNum" sz="quarter" idx="12"/>
          </p:nvPr>
        </p:nvSpPr>
        <p:spPr/>
        <p:txBody>
          <a:bodyPr/>
          <a:lstStyle/>
          <a:p>
            <a:fld id="{9A3029B7-FE6B-4680-9049-80E8298A0825}" type="slidenum">
              <a:rPr lang="en-US" smtClean="0"/>
              <a:t>22</a:t>
            </a:fld>
            <a:endParaRPr lang="en-US"/>
          </a:p>
        </p:txBody>
      </p:sp>
    </p:spTree>
    <p:extLst>
      <p:ext uri="{BB962C8B-B14F-4D97-AF65-F5344CB8AC3E}">
        <p14:creationId xmlns:p14="http://schemas.microsoft.com/office/powerpoint/2010/main" val="3250070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B57B-BFD5-9765-4E45-BD11A294B8B2}"/>
              </a:ext>
            </a:extLst>
          </p:cNvPr>
          <p:cNvSpPr>
            <a:spLocks noGrp="1"/>
          </p:cNvSpPr>
          <p:nvPr>
            <p:ph type="title"/>
          </p:nvPr>
        </p:nvSpPr>
        <p:spPr/>
        <p:txBody>
          <a:bodyPr/>
          <a:lstStyle/>
          <a:p>
            <a:r>
              <a:rPr lang="en-US" dirty="0"/>
              <a:t>Reaction Wheels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E5DBE8-BFC5-4F5B-7E67-C47E2AA7544C}"/>
                  </a:ext>
                </a:extLst>
              </p:cNvPr>
              <p:cNvSpPr>
                <a:spLocks noGrp="1"/>
              </p:cNvSpPr>
              <p:nvPr>
                <p:ph idx="1"/>
              </p:nvPr>
            </p:nvSpPr>
            <p:spPr/>
            <p:txBody>
              <a:bodyPr>
                <a:normAutofit/>
              </a:bodyPr>
              <a:lstStyle/>
              <a:p>
                <a:pPr marL="0" indent="0">
                  <a:buNone/>
                </a:pPr>
                <a:r>
                  <a:rPr lang="en-US" sz="2400" b="1" i="1" dirty="0"/>
                  <a:t>Angular Momentum in Inertial frame is conserved </a:t>
                </a:r>
              </a:p>
              <a:p>
                <a:pPr marL="457200" lvl="1" indent="0">
                  <a:buNone/>
                </a:pPr>
                <a14:m>
                  <m:oMath xmlns:m="http://schemas.openxmlformats.org/officeDocument/2006/math">
                    <m:r>
                      <a:rPr lang="en-US" sz="2000" i="1" smtClean="0">
                        <a:latin typeface="Cambria Math" panose="02040503050406030204" pitchFamily="18" charset="0"/>
                        <a:ea typeface="Cambria Math" panose="02040503050406030204" pitchFamily="18" charset="0"/>
                        <a:sym typeface="Wingdings" panose="05000000000000000000" pitchFamily="2" charset="2"/>
                      </a:rPr>
                      <m:t>∴</m:t>
                    </m:r>
                    <m:r>
                      <a:rPr lang="en-US" sz="2000" b="0" i="1" smtClean="0">
                        <a:latin typeface="Cambria Math" panose="02040503050406030204" pitchFamily="18" charset="0"/>
                        <a:ea typeface="Cambria Math" panose="02040503050406030204" pitchFamily="18" charset="0"/>
                        <a:sym typeface="Wingdings" panose="05000000000000000000" pitchFamily="2" charset="2"/>
                      </a:rPr>
                      <m:t> </m:t>
                    </m:r>
                  </m:oMath>
                </a14:m>
                <a:r>
                  <a:rPr lang="en-US" sz="2000" dirty="0">
                    <a:sym typeface="Wingdings" panose="05000000000000000000" pitchFamily="2" charset="2"/>
                  </a:rPr>
                  <a:t>We can exchange momentum between the s/c and a spinning wheel (</a:t>
                </a:r>
                <a:r>
                  <a:rPr lang="en-US" sz="2000" i="1" dirty="0">
                    <a:sym typeface="Wingdings" panose="05000000000000000000" pitchFamily="2" charset="2"/>
                  </a:rPr>
                  <a:t>reaction </a:t>
                </a:r>
                <a:r>
                  <a:rPr lang="en-US" sz="2000" dirty="0">
                    <a:sym typeface="Wingdings" panose="05000000000000000000" pitchFamily="2" charset="2"/>
                  </a:rPr>
                  <a:t>wheel) inside the s/c:</a:t>
                </a:r>
              </a:p>
              <a:p>
                <a:pPr marL="0" indent="0">
                  <a:buNone/>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sym typeface="Wingdings" panose="05000000000000000000" pitchFamily="2" charset="2"/>
                        </a:rPr>
                        <m:t>Δ</m:t>
                      </m:r>
                      <m:sSub>
                        <m:sSubPr>
                          <m:ctrlPr>
                            <a:rPr lang="en-US" sz="2400" b="0" i="1" smtClean="0">
                              <a:latin typeface="Cambria Math" panose="02040503050406030204" pitchFamily="18" charset="0"/>
                              <a:sym typeface="Wingdings" panose="05000000000000000000" pitchFamily="2" charset="2"/>
                            </a:rPr>
                          </m:ctrlPr>
                        </m:sSubPr>
                        <m:e>
                          <m:r>
                            <a:rPr lang="en-US" sz="2400" b="0" i="1" smtClean="0">
                              <a:latin typeface="Cambria Math" panose="02040503050406030204" pitchFamily="18" charset="0"/>
                              <a:sym typeface="Wingdings" panose="05000000000000000000" pitchFamily="2" charset="2"/>
                            </a:rPr>
                            <m:t>𝐻</m:t>
                          </m:r>
                        </m:e>
                        <m:sub>
                          <m:r>
                            <a:rPr lang="en-US" sz="2400" b="0" i="1" smtClean="0">
                              <a:latin typeface="Cambria Math" panose="02040503050406030204" pitchFamily="18" charset="0"/>
                              <a:sym typeface="Wingdings" panose="05000000000000000000" pitchFamily="2" charset="2"/>
                            </a:rPr>
                            <m:t>𝑤</m:t>
                          </m:r>
                          <m:r>
                            <a:rPr lang="en-US" sz="2400" b="0" i="1" smtClean="0">
                              <a:latin typeface="Cambria Math" panose="02040503050406030204" pitchFamily="18" charset="0"/>
                              <a:sym typeface="Wingdings" panose="05000000000000000000" pitchFamily="2" charset="2"/>
                            </a:rPr>
                            <m:t>h</m:t>
                          </m:r>
                          <m:r>
                            <a:rPr lang="en-US" sz="2400" b="0" i="1" smtClean="0">
                              <a:latin typeface="Cambria Math" panose="02040503050406030204" pitchFamily="18" charset="0"/>
                              <a:sym typeface="Wingdings" panose="05000000000000000000" pitchFamily="2" charset="2"/>
                            </a:rPr>
                            <m:t>𝑒𝑒𝑙</m:t>
                          </m:r>
                        </m:sub>
                      </m:sSub>
                      <m:r>
                        <a:rPr lang="en-US" sz="2400" b="0" i="1" smtClean="0">
                          <a:latin typeface="Cambria Math" panose="02040503050406030204" pitchFamily="18" charset="0"/>
                          <a:sym typeface="Wingdings" panose="05000000000000000000" pitchFamily="2" charset="2"/>
                        </a:rPr>
                        <m:t>=−</m:t>
                      </m:r>
                      <m:r>
                        <m:rPr>
                          <m:sty m:val="p"/>
                        </m:rPr>
                        <a:rPr lang="en-US" sz="2400" b="0" i="0" smtClean="0">
                          <a:latin typeface="Cambria Math" panose="02040503050406030204" pitchFamily="18" charset="0"/>
                          <a:sym typeface="Wingdings" panose="05000000000000000000" pitchFamily="2" charset="2"/>
                        </a:rPr>
                        <m:t>Δ</m:t>
                      </m:r>
                      <m:sSub>
                        <m:sSubPr>
                          <m:ctrlPr>
                            <a:rPr lang="en-US" sz="2400" b="0" i="1" smtClean="0">
                              <a:latin typeface="Cambria Math" panose="02040503050406030204" pitchFamily="18" charset="0"/>
                              <a:sym typeface="Wingdings" panose="05000000000000000000" pitchFamily="2" charset="2"/>
                            </a:rPr>
                          </m:ctrlPr>
                        </m:sSubPr>
                        <m:e>
                          <m:r>
                            <a:rPr lang="en-US" sz="2400" b="0" i="1" smtClean="0">
                              <a:latin typeface="Cambria Math" panose="02040503050406030204" pitchFamily="18" charset="0"/>
                              <a:sym typeface="Wingdings" panose="05000000000000000000" pitchFamily="2" charset="2"/>
                            </a:rPr>
                            <m:t>𝐻</m:t>
                          </m:r>
                        </m:e>
                        <m:sub>
                          <m:r>
                            <a:rPr lang="en-US" sz="2400" b="0" i="1" smtClean="0">
                              <a:latin typeface="Cambria Math" panose="02040503050406030204" pitchFamily="18" charset="0"/>
                              <a:sym typeface="Wingdings" panose="05000000000000000000" pitchFamily="2" charset="2"/>
                            </a:rPr>
                            <m:t>𝑠</m:t>
                          </m:r>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𝑐</m:t>
                          </m:r>
                        </m:sub>
                      </m:sSub>
                    </m:oMath>
                  </m:oMathPara>
                </a14:m>
                <a:endParaRPr lang="en-US" sz="2400" dirty="0">
                  <a:sym typeface="Wingdings" panose="05000000000000000000" pitchFamily="2" charset="2"/>
                </a:endParaRPr>
              </a:p>
              <a:p>
                <a:pPr marL="0" indent="0" algn="ctr">
                  <a:buNone/>
                </a:pPr>
                <a:r>
                  <a:rPr lang="en-US" sz="2400" u="sng" dirty="0">
                    <a:sym typeface="Wingdings" panose="05000000000000000000" pitchFamily="2" charset="2"/>
                  </a:rPr>
                  <a:t>Angular Momentum of a reaction wheel</a:t>
                </a:r>
              </a:p>
              <a:p>
                <a:pPr marL="0" indent="0">
                  <a:buNone/>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sym typeface="Wingdings" panose="05000000000000000000" pitchFamily="2" charset="2"/>
                        </a:rPr>
                        <m:t>𝑯</m:t>
                      </m:r>
                      <m:r>
                        <a:rPr lang="en-US" sz="2400" b="1"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𝐼</m:t>
                      </m:r>
                      <m:r>
                        <a:rPr lang="en-US" sz="2400" b="1" i="1" smtClean="0">
                          <a:latin typeface="Cambria Math" panose="02040503050406030204" pitchFamily="18" charset="0"/>
                          <a:sym typeface="Wingdings" panose="05000000000000000000" pitchFamily="2" charset="2"/>
                        </a:rPr>
                        <m:t>𝝎</m:t>
                      </m:r>
                    </m:oMath>
                  </m:oMathPara>
                </a14:m>
                <a:endParaRPr lang="en-US" sz="2400" b="1" dirty="0">
                  <a:sym typeface="Wingdings" panose="05000000000000000000" pitchFamily="2" charset="2"/>
                </a:endParaRPr>
              </a:p>
              <a:p>
                <a:pPr marL="0" indent="0">
                  <a:buNone/>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sym typeface="Wingdings" panose="05000000000000000000" pitchFamily="2" charset="2"/>
                        </a:rPr>
                        <m:t>𝑻</m:t>
                      </m:r>
                      <m:r>
                        <a:rPr lang="en-US" sz="2400" b="1" i="1" smtClean="0">
                          <a:latin typeface="Cambria Math" panose="02040503050406030204" pitchFamily="18" charset="0"/>
                          <a:sym typeface="Wingdings" panose="05000000000000000000" pitchFamily="2" charset="2"/>
                        </a:rPr>
                        <m:t>=</m:t>
                      </m:r>
                      <m:sSub>
                        <m:sSubPr>
                          <m:ctrlPr>
                            <a:rPr lang="en-US" sz="2400" b="1" i="1" smtClean="0">
                              <a:latin typeface="Cambria Math" panose="02040503050406030204" pitchFamily="18" charset="0"/>
                              <a:sym typeface="Wingdings" panose="05000000000000000000" pitchFamily="2" charset="2"/>
                            </a:rPr>
                          </m:ctrlPr>
                        </m:sSubPr>
                        <m:e>
                          <m:r>
                            <a:rPr lang="en-US" sz="2400" b="1" i="1">
                              <a:latin typeface="Cambria Math" panose="02040503050406030204" pitchFamily="18" charset="0"/>
                              <a:sym typeface="Wingdings" panose="05000000000000000000" pitchFamily="2" charset="2"/>
                            </a:rPr>
                            <m:t>𝑰</m:t>
                          </m:r>
                        </m:e>
                        <m:sub>
                          <m:r>
                            <a:rPr lang="en-US" sz="2400" b="1" i="1">
                              <a:latin typeface="Cambria Math" panose="02040503050406030204" pitchFamily="18" charset="0"/>
                              <a:sym typeface="Wingdings" panose="05000000000000000000" pitchFamily="2" charset="2"/>
                            </a:rPr>
                            <m:t>𝒘𝒉𝒆𝒆𝒍</m:t>
                          </m:r>
                        </m:sub>
                      </m:sSub>
                      <m:sSub>
                        <m:sSubPr>
                          <m:ctrlPr>
                            <a:rPr lang="en-US" sz="2400" b="1" i="1" smtClean="0">
                              <a:latin typeface="Cambria Math" panose="02040503050406030204" pitchFamily="18" charset="0"/>
                              <a:sym typeface="Wingdings" panose="05000000000000000000" pitchFamily="2" charset="2"/>
                            </a:rPr>
                          </m:ctrlPr>
                        </m:sSubPr>
                        <m:e>
                          <m:r>
                            <a:rPr lang="en-US" sz="2400" b="1" i="1" smtClean="0">
                              <a:latin typeface="Cambria Math" panose="02040503050406030204" pitchFamily="18" charset="0"/>
                              <a:sym typeface="Wingdings" panose="05000000000000000000" pitchFamily="2" charset="2"/>
                            </a:rPr>
                            <m:t>𝜶</m:t>
                          </m:r>
                        </m:e>
                        <m:sub>
                          <m:r>
                            <a:rPr lang="en-US" sz="2400" b="1" i="1">
                              <a:latin typeface="Cambria Math" panose="02040503050406030204" pitchFamily="18" charset="0"/>
                              <a:sym typeface="Wingdings" panose="05000000000000000000" pitchFamily="2" charset="2"/>
                            </a:rPr>
                            <m:t>𝒘𝒉𝒆𝒆𝒍</m:t>
                          </m:r>
                        </m:sub>
                      </m:sSub>
                      <m:r>
                        <a:rPr lang="en-US" sz="2400" b="1" i="1">
                          <a:latin typeface="Cambria Math" panose="02040503050406030204" pitchFamily="18" charset="0"/>
                          <a:sym typeface="Wingdings" panose="05000000000000000000" pitchFamily="2" charset="2"/>
                        </a:rPr>
                        <m:t> = </m:t>
                      </m:r>
                      <m:sSub>
                        <m:sSubPr>
                          <m:ctrlPr>
                            <a:rPr lang="en-US" sz="2400" b="1" i="1">
                              <a:latin typeface="Cambria Math" panose="02040503050406030204" pitchFamily="18" charset="0"/>
                              <a:sym typeface="Wingdings" panose="05000000000000000000" pitchFamily="2" charset="2"/>
                            </a:rPr>
                          </m:ctrlPr>
                        </m:sSubPr>
                        <m:e>
                          <m:r>
                            <a:rPr lang="en-US" sz="2400" b="1" i="1">
                              <a:latin typeface="Cambria Math" panose="02040503050406030204" pitchFamily="18" charset="0"/>
                              <a:sym typeface="Wingdings" panose="05000000000000000000" pitchFamily="2" charset="2"/>
                            </a:rPr>
                            <m:t>𝑰</m:t>
                          </m:r>
                        </m:e>
                        <m:sub>
                          <m:r>
                            <a:rPr lang="en-US" sz="2400" b="1" i="1" smtClean="0">
                              <a:latin typeface="Cambria Math" panose="02040503050406030204" pitchFamily="18" charset="0"/>
                              <a:sym typeface="Wingdings" panose="05000000000000000000" pitchFamily="2" charset="2"/>
                            </a:rPr>
                            <m:t>𝒔</m:t>
                          </m:r>
                          <m:r>
                            <a:rPr lang="en-US" sz="2400" b="1" i="1" smtClean="0">
                              <a:latin typeface="Cambria Math" panose="02040503050406030204" pitchFamily="18" charset="0"/>
                              <a:sym typeface="Wingdings" panose="05000000000000000000" pitchFamily="2" charset="2"/>
                            </a:rPr>
                            <m:t>/</m:t>
                          </m:r>
                          <m:r>
                            <a:rPr lang="en-US" sz="2400" b="1" i="1" smtClean="0">
                              <a:latin typeface="Cambria Math" panose="02040503050406030204" pitchFamily="18" charset="0"/>
                              <a:sym typeface="Wingdings" panose="05000000000000000000" pitchFamily="2" charset="2"/>
                            </a:rPr>
                            <m:t>𝒄</m:t>
                          </m:r>
                        </m:sub>
                      </m:sSub>
                      <m:r>
                        <a:rPr lang="en-US" sz="2400" b="1" i="1">
                          <a:latin typeface="Cambria Math" panose="02040503050406030204" pitchFamily="18" charset="0"/>
                          <a:sym typeface="Wingdings" panose="05000000000000000000" pitchFamily="2" charset="2"/>
                        </a:rPr>
                        <m:t> </m:t>
                      </m:r>
                      <m:sSub>
                        <m:sSubPr>
                          <m:ctrlPr>
                            <a:rPr lang="en-US" sz="2400" b="1" i="1" smtClean="0">
                              <a:latin typeface="Cambria Math" panose="02040503050406030204" pitchFamily="18" charset="0"/>
                              <a:sym typeface="Wingdings" panose="05000000000000000000" pitchFamily="2" charset="2"/>
                            </a:rPr>
                          </m:ctrlPr>
                        </m:sSubPr>
                        <m:e>
                          <m:r>
                            <a:rPr lang="en-US" sz="2400" b="1" i="1" smtClean="0">
                              <a:latin typeface="Cambria Math" panose="02040503050406030204" pitchFamily="18" charset="0"/>
                              <a:sym typeface="Wingdings" panose="05000000000000000000" pitchFamily="2" charset="2"/>
                            </a:rPr>
                            <m:t>𝜶</m:t>
                          </m:r>
                        </m:e>
                        <m:sub>
                          <m:r>
                            <a:rPr lang="en-US" sz="2400" b="1" i="1" smtClean="0">
                              <a:latin typeface="Cambria Math" panose="02040503050406030204" pitchFamily="18" charset="0"/>
                              <a:sym typeface="Wingdings" panose="05000000000000000000" pitchFamily="2" charset="2"/>
                            </a:rPr>
                            <m:t>𝒔</m:t>
                          </m:r>
                          <m:r>
                            <a:rPr lang="en-US" sz="2400" b="1" i="1" smtClean="0">
                              <a:latin typeface="Cambria Math" panose="02040503050406030204" pitchFamily="18" charset="0"/>
                              <a:sym typeface="Wingdings" panose="05000000000000000000" pitchFamily="2" charset="2"/>
                            </a:rPr>
                            <m:t>/</m:t>
                          </m:r>
                          <m:r>
                            <a:rPr lang="en-US" sz="2400" b="1" i="1" smtClean="0">
                              <a:latin typeface="Cambria Math" panose="02040503050406030204" pitchFamily="18" charset="0"/>
                              <a:sym typeface="Wingdings" panose="05000000000000000000" pitchFamily="2" charset="2"/>
                            </a:rPr>
                            <m:t>𝒄</m:t>
                          </m:r>
                        </m:sub>
                      </m:sSub>
                    </m:oMath>
                  </m:oMathPara>
                </a14:m>
                <a:endParaRPr lang="en-US" sz="2400" b="1" dirty="0">
                  <a:sym typeface="Wingdings" panose="05000000000000000000" pitchFamily="2" charset="2"/>
                </a:endParaRPr>
              </a:p>
              <a:p>
                <a:pPr marL="0" indent="0">
                  <a:buNone/>
                </a:pPr>
                <a14:m>
                  <m:oMath xmlns:m="http://schemas.openxmlformats.org/officeDocument/2006/math">
                    <m:r>
                      <a:rPr lang="en-US" sz="2400" b="1" i="1" smtClean="0">
                        <a:latin typeface="Cambria Math" panose="02040503050406030204" pitchFamily="18" charset="0"/>
                        <a:sym typeface="Wingdings" panose="05000000000000000000" pitchFamily="2" charset="2"/>
                      </a:rPr>
                      <m:t>𝜶</m:t>
                    </m:r>
                    <m:r>
                      <a:rPr lang="en-US" sz="2400" b="0" i="1" smtClean="0">
                        <a:latin typeface="Cambria Math" panose="02040503050406030204" pitchFamily="18" charset="0"/>
                        <a:sym typeface="Wingdings" panose="05000000000000000000" pitchFamily="2" charset="2"/>
                      </a:rPr>
                      <m:t>= </m:t>
                    </m:r>
                  </m:oMath>
                </a14:m>
                <a:r>
                  <a:rPr lang="en-US" sz="2400" dirty="0">
                    <a:sym typeface="Wingdings" panose="05000000000000000000" pitchFamily="2" charset="2"/>
                  </a:rPr>
                  <a:t>Angular Acceleration (rad/sec</a:t>
                </a:r>
                <a:r>
                  <a:rPr lang="en-US" sz="2400" baseline="30000" dirty="0">
                    <a:sym typeface="Wingdings" panose="05000000000000000000" pitchFamily="2" charset="2"/>
                  </a:rPr>
                  <a:t>2</a:t>
                </a:r>
                <a:r>
                  <a:rPr lang="en-US" sz="2400" dirty="0">
                    <a:sym typeface="Wingdings" panose="05000000000000000000" pitchFamily="2" charset="2"/>
                  </a:rPr>
                  <a:t>)</a:t>
                </a:r>
              </a:p>
              <a:p>
                <a:pPr marL="0" indent="0">
                  <a:buNone/>
                </a:pPr>
                <a:endParaRPr lang="en-US" sz="2400" b="1" dirty="0">
                  <a:sym typeface="Wingdings" panose="05000000000000000000" pitchFamily="2" charset="2"/>
                </a:endParaRPr>
              </a:p>
            </p:txBody>
          </p:sp>
        </mc:Choice>
        <mc:Fallback xmlns="">
          <p:sp>
            <p:nvSpPr>
              <p:cNvPr id="3" name="Content Placeholder 2">
                <a:extLst>
                  <a:ext uri="{FF2B5EF4-FFF2-40B4-BE49-F238E27FC236}">
                    <a16:creationId xmlns:a16="http://schemas.microsoft.com/office/drawing/2014/main" id="{39E5DBE8-BFC5-4F5B-7E67-C47E2AA7544C}"/>
                  </a:ext>
                </a:extLst>
              </p:cNvPr>
              <p:cNvSpPr>
                <a:spLocks noGrp="1" noRot="1" noChangeAspect="1" noMove="1" noResize="1" noEditPoints="1" noAdjustHandles="1" noChangeArrowheads="1" noChangeShapeType="1" noTextEdit="1"/>
              </p:cNvSpPr>
              <p:nvPr>
                <p:ph idx="1"/>
              </p:nvPr>
            </p:nvSpPr>
            <p:spPr>
              <a:blipFill>
                <a:blip r:embed="rId3"/>
                <a:stretch>
                  <a:fillRect l="-1110" t="-151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3808B89-7031-0C4E-35DB-9CCE7FDF6E05}"/>
              </a:ext>
            </a:extLst>
          </p:cNvPr>
          <p:cNvSpPr>
            <a:spLocks noGrp="1"/>
          </p:cNvSpPr>
          <p:nvPr>
            <p:ph type="sldNum" sz="quarter" idx="12"/>
          </p:nvPr>
        </p:nvSpPr>
        <p:spPr/>
        <p:txBody>
          <a:bodyPr/>
          <a:lstStyle/>
          <a:p>
            <a:fld id="{9A3029B7-FE6B-4680-9049-80E8298A0825}" type="slidenum">
              <a:rPr lang="en-US" smtClean="0"/>
              <a:t>23</a:t>
            </a:fld>
            <a:endParaRPr lang="en-US"/>
          </a:p>
        </p:txBody>
      </p:sp>
      <p:pic>
        <p:nvPicPr>
          <p:cNvPr id="6" name="Picture 5">
            <a:extLst>
              <a:ext uri="{FF2B5EF4-FFF2-40B4-BE49-F238E27FC236}">
                <a16:creationId xmlns:a16="http://schemas.microsoft.com/office/drawing/2014/main" id="{A53F53AE-548D-5980-71CA-D413D8386B3D}"/>
              </a:ext>
            </a:extLst>
          </p:cNvPr>
          <p:cNvPicPr>
            <a:picLocks noChangeAspect="1"/>
          </p:cNvPicPr>
          <p:nvPr/>
        </p:nvPicPr>
        <p:blipFill>
          <a:blip r:embed="rId4"/>
          <a:stretch>
            <a:fillRect/>
          </a:stretch>
        </p:blipFill>
        <p:spPr>
          <a:xfrm>
            <a:off x="5636161" y="4618154"/>
            <a:ext cx="2292718" cy="2106660"/>
          </a:xfrm>
          <a:prstGeom prst="rect">
            <a:avLst/>
          </a:prstGeom>
        </p:spPr>
      </p:pic>
      <p:pic>
        <p:nvPicPr>
          <p:cNvPr id="8" name="Picture 7">
            <a:extLst>
              <a:ext uri="{FF2B5EF4-FFF2-40B4-BE49-F238E27FC236}">
                <a16:creationId xmlns:a16="http://schemas.microsoft.com/office/drawing/2014/main" id="{233C8515-7CD3-5F1E-FE70-EF7C77B6E8DD}"/>
              </a:ext>
            </a:extLst>
          </p:cNvPr>
          <p:cNvPicPr>
            <a:picLocks noChangeAspect="1"/>
          </p:cNvPicPr>
          <p:nvPr/>
        </p:nvPicPr>
        <p:blipFill>
          <a:blip r:embed="rId5"/>
          <a:stretch>
            <a:fillRect/>
          </a:stretch>
        </p:blipFill>
        <p:spPr>
          <a:xfrm>
            <a:off x="808940" y="4761904"/>
            <a:ext cx="4218307" cy="196291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5F24E0-1CB0-74E4-75E0-6C7D967CFD8B}"/>
                  </a:ext>
                </a:extLst>
              </p:cNvPr>
              <p:cNvSpPr txBox="1"/>
              <p:nvPr/>
            </p:nvSpPr>
            <p:spPr>
              <a:xfrm>
                <a:off x="6446702" y="3616282"/>
                <a:ext cx="2546338"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rgbClr val="00B0F0"/>
                              </a:solidFill>
                              <a:latin typeface="Cambria Math" panose="02040503050406030204" pitchFamily="18" charset="0"/>
                            </a:rPr>
                          </m:ctrlPr>
                        </m:sSubPr>
                        <m:e>
                          <m:r>
                            <a:rPr lang="en-US" sz="2400" b="0" i="1" smtClean="0">
                              <a:solidFill>
                                <a:srgbClr val="00B0F0"/>
                              </a:solidFill>
                              <a:latin typeface="Cambria Math" panose="02040503050406030204" pitchFamily="18" charset="0"/>
                            </a:rPr>
                            <m:t>𝐼</m:t>
                          </m:r>
                        </m:e>
                        <m:sub>
                          <m:r>
                            <a:rPr lang="en-US" sz="2400" b="0" i="1" smtClean="0">
                              <a:solidFill>
                                <a:srgbClr val="00B0F0"/>
                              </a:solidFill>
                              <a:latin typeface="Cambria Math" panose="02040503050406030204" pitchFamily="18" charset="0"/>
                            </a:rPr>
                            <m:t>𝑐𝑦𝑙𝑖𝑛𝑑𝑒𝑟</m:t>
                          </m:r>
                          <m:r>
                            <a:rPr lang="en-US" sz="2400" b="0" i="1" smtClean="0">
                              <a:solidFill>
                                <a:srgbClr val="00B0F0"/>
                              </a:solidFill>
                              <a:latin typeface="Cambria Math" panose="02040503050406030204" pitchFamily="18" charset="0"/>
                            </a:rPr>
                            <m:t>,</m:t>
                          </m:r>
                          <m:r>
                            <a:rPr lang="en-US" sz="2400" b="0" i="1" smtClean="0">
                              <a:solidFill>
                                <a:srgbClr val="00B0F0"/>
                              </a:solidFill>
                              <a:latin typeface="Cambria Math" panose="02040503050406030204" pitchFamily="18" charset="0"/>
                            </a:rPr>
                            <m:t>𝑧</m:t>
                          </m:r>
                        </m:sub>
                      </m:sSub>
                      <m:r>
                        <a:rPr lang="en-US" sz="2400" b="0" i="1" smtClean="0">
                          <a:solidFill>
                            <a:srgbClr val="00B0F0"/>
                          </a:solidFill>
                          <a:latin typeface="Cambria Math" panose="02040503050406030204" pitchFamily="18" charset="0"/>
                        </a:rPr>
                        <m:t>=</m:t>
                      </m:r>
                      <m:f>
                        <m:fPr>
                          <m:ctrlPr>
                            <a:rPr lang="en-US" sz="2400" b="0" i="1" smtClean="0">
                              <a:solidFill>
                                <a:srgbClr val="00B0F0"/>
                              </a:solidFill>
                              <a:latin typeface="Cambria Math" panose="02040503050406030204" pitchFamily="18" charset="0"/>
                            </a:rPr>
                          </m:ctrlPr>
                        </m:fPr>
                        <m:num>
                          <m:r>
                            <a:rPr lang="en-US" sz="2400" b="0" i="1" smtClean="0">
                              <a:solidFill>
                                <a:srgbClr val="00B0F0"/>
                              </a:solidFill>
                              <a:latin typeface="Cambria Math" panose="02040503050406030204" pitchFamily="18" charset="0"/>
                            </a:rPr>
                            <m:t>1</m:t>
                          </m:r>
                        </m:num>
                        <m:den>
                          <m:r>
                            <a:rPr lang="en-US" sz="2400" b="0" i="1" smtClean="0">
                              <a:solidFill>
                                <a:srgbClr val="00B0F0"/>
                              </a:solidFill>
                              <a:latin typeface="Cambria Math" panose="02040503050406030204" pitchFamily="18" charset="0"/>
                            </a:rPr>
                            <m:t>2</m:t>
                          </m:r>
                        </m:den>
                      </m:f>
                      <m:r>
                        <a:rPr lang="en-US" sz="2400" b="0" i="1" smtClean="0">
                          <a:solidFill>
                            <a:srgbClr val="00B0F0"/>
                          </a:solidFill>
                          <a:latin typeface="Cambria Math" panose="02040503050406030204" pitchFamily="18" charset="0"/>
                        </a:rPr>
                        <m:t>𝑚</m:t>
                      </m:r>
                      <m:sSup>
                        <m:sSupPr>
                          <m:ctrlPr>
                            <a:rPr lang="en-US" sz="2400" b="0" i="1" smtClean="0">
                              <a:solidFill>
                                <a:srgbClr val="00B0F0"/>
                              </a:solidFill>
                              <a:latin typeface="Cambria Math" panose="02040503050406030204" pitchFamily="18" charset="0"/>
                            </a:rPr>
                          </m:ctrlPr>
                        </m:sSupPr>
                        <m:e>
                          <m:r>
                            <a:rPr lang="en-US" sz="2400" b="0" i="1" smtClean="0">
                              <a:solidFill>
                                <a:srgbClr val="00B0F0"/>
                              </a:solidFill>
                              <a:latin typeface="Cambria Math" panose="02040503050406030204" pitchFamily="18" charset="0"/>
                            </a:rPr>
                            <m:t>𝑟</m:t>
                          </m:r>
                        </m:e>
                        <m:sup>
                          <m:r>
                            <a:rPr lang="en-US" sz="2400" b="0" i="1" smtClean="0">
                              <a:solidFill>
                                <a:srgbClr val="00B0F0"/>
                              </a:solidFill>
                              <a:latin typeface="Cambria Math" panose="02040503050406030204" pitchFamily="18" charset="0"/>
                            </a:rPr>
                            <m:t>2</m:t>
                          </m:r>
                        </m:sup>
                      </m:sSup>
                    </m:oMath>
                  </m:oMathPara>
                </a14:m>
                <a:endParaRPr lang="en-US" sz="2400" dirty="0">
                  <a:solidFill>
                    <a:srgbClr val="00B0F0"/>
                  </a:solidFill>
                </a:endParaRPr>
              </a:p>
            </p:txBody>
          </p:sp>
        </mc:Choice>
        <mc:Fallback xmlns="">
          <p:sp>
            <p:nvSpPr>
              <p:cNvPr id="9" name="TextBox 8">
                <a:extLst>
                  <a:ext uri="{FF2B5EF4-FFF2-40B4-BE49-F238E27FC236}">
                    <a16:creationId xmlns:a16="http://schemas.microsoft.com/office/drawing/2014/main" id="{D15F24E0-1CB0-74E4-75E0-6C7D967CFD8B}"/>
                  </a:ext>
                </a:extLst>
              </p:cNvPr>
              <p:cNvSpPr txBox="1">
                <a:spLocks noRot="1" noChangeAspect="1" noMove="1" noResize="1" noEditPoints="1" noAdjustHandles="1" noChangeArrowheads="1" noChangeShapeType="1" noTextEdit="1"/>
              </p:cNvSpPr>
              <p:nvPr/>
            </p:nvSpPr>
            <p:spPr>
              <a:xfrm>
                <a:off x="6446702" y="3616282"/>
                <a:ext cx="2546338" cy="691471"/>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1786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6E5524-7407-B472-639E-2BAE81F1294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11612" y="999477"/>
            <a:ext cx="8170203" cy="4684548"/>
          </a:xfrm>
          <a:prstGeom prst="rect">
            <a:avLst/>
          </a:prstGeom>
        </p:spPr>
      </p:pic>
      <p:sp>
        <p:nvSpPr>
          <p:cNvPr id="2" name="Title 1">
            <a:extLst>
              <a:ext uri="{FF2B5EF4-FFF2-40B4-BE49-F238E27FC236}">
                <a16:creationId xmlns:a16="http://schemas.microsoft.com/office/drawing/2014/main" id="{F8798EA2-CD02-55EE-8A72-69C8C40805A5}"/>
              </a:ext>
            </a:extLst>
          </p:cNvPr>
          <p:cNvSpPr>
            <a:spLocks noGrp="1"/>
          </p:cNvSpPr>
          <p:nvPr>
            <p:ph type="title"/>
          </p:nvPr>
        </p:nvSpPr>
        <p:spPr/>
        <p:txBody>
          <a:bodyPr/>
          <a:lstStyle/>
          <a:p>
            <a:r>
              <a:rPr lang="en-US" dirty="0"/>
              <a:t>Slew Rate Example</a:t>
            </a:r>
          </a:p>
        </p:txBody>
      </p:sp>
      <p:sp>
        <p:nvSpPr>
          <p:cNvPr id="4" name="Slide Number Placeholder 3">
            <a:extLst>
              <a:ext uri="{FF2B5EF4-FFF2-40B4-BE49-F238E27FC236}">
                <a16:creationId xmlns:a16="http://schemas.microsoft.com/office/drawing/2014/main" id="{6CE6EBE1-5566-56A1-21A1-DC18960BD586}"/>
              </a:ext>
            </a:extLst>
          </p:cNvPr>
          <p:cNvSpPr>
            <a:spLocks noGrp="1"/>
          </p:cNvSpPr>
          <p:nvPr>
            <p:ph type="sldNum" sz="quarter" idx="12"/>
          </p:nvPr>
        </p:nvSpPr>
        <p:spPr/>
        <p:txBody>
          <a:bodyPr/>
          <a:lstStyle/>
          <a:p>
            <a:fld id="{9A3029B7-FE6B-4680-9049-80E8298A0825}" type="slidenum">
              <a:rPr lang="en-US" smtClean="0"/>
              <a:t>24</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1BC6A2-66B9-21E8-5261-152FCDBC3738}"/>
                  </a:ext>
                </a:extLst>
              </p:cNvPr>
              <p:cNvSpPr txBox="1"/>
              <p:nvPr/>
            </p:nvSpPr>
            <p:spPr>
              <a:xfrm>
                <a:off x="1213658" y="5535744"/>
                <a:ext cx="8170202" cy="1511568"/>
              </a:xfrm>
              <a:prstGeom prst="rect">
                <a:avLst/>
              </a:prstGeom>
              <a:noFill/>
            </p:spPr>
            <p:txBody>
              <a:bodyPr wrap="square">
                <a:spAutoFit/>
              </a:bodyPr>
              <a:lstStyle/>
              <a:p>
                <a:pPr marL="0" indent="0">
                  <a:buNone/>
                </a:pPr>
                <a14:m>
                  <m:oMath xmlns:m="http://schemas.openxmlformats.org/officeDocument/2006/math">
                    <m:r>
                      <a:rPr lang="en-US" sz="2400" b="0" i="1" smtClean="0">
                        <a:latin typeface="Cambria Math" panose="02040503050406030204" pitchFamily="18" charset="0"/>
                        <a:sym typeface="Wingdings" panose="05000000000000000000" pitchFamily="2" charset="2"/>
                      </a:rPr>
                      <m:t>𝜃</m:t>
                    </m:r>
                    <m:r>
                      <a:rPr lang="en-US" sz="2400" b="0" i="1" smtClean="0">
                        <a:latin typeface="Cambria Math" panose="02040503050406030204" pitchFamily="18" charset="0"/>
                        <a:sym typeface="Wingdings" panose="05000000000000000000" pitchFamily="2" charset="2"/>
                      </a:rPr>
                      <m:t>= </m:t>
                    </m:r>
                  </m:oMath>
                </a14:m>
                <a:r>
                  <a:rPr lang="en-US" sz="2400" dirty="0">
                    <a:sym typeface="Wingdings" panose="05000000000000000000" pitchFamily="2" charset="2"/>
                  </a:rPr>
                  <a:t>Angular position of wheel (rad)</a:t>
                </a:r>
              </a:p>
              <a:p>
                <a14:m>
                  <m:oMath xmlns:m="http://schemas.openxmlformats.org/officeDocument/2006/math">
                    <m:acc>
                      <m:accPr>
                        <m:chr m:val="̇"/>
                        <m:ctrlPr>
                          <a:rPr lang="en-US" sz="2400" i="1" smtClean="0">
                            <a:latin typeface="Cambria Math" panose="02040503050406030204" pitchFamily="18" charset="0"/>
                            <a:sym typeface="Wingdings" panose="05000000000000000000" pitchFamily="2" charset="2"/>
                          </a:rPr>
                        </m:ctrlPr>
                      </m:accPr>
                      <m:e>
                        <m:r>
                          <a:rPr lang="en-US" sz="2400" i="1">
                            <a:latin typeface="Cambria Math" panose="02040503050406030204" pitchFamily="18" charset="0"/>
                            <a:sym typeface="Wingdings" panose="05000000000000000000" pitchFamily="2" charset="2"/>
                          </a:rPr>
                          <m:t>𝜃</m:t>
                        </m:r>
                      </m:e>
                    </m:acc>
                    <m:r>
                      <a:rPr lang="en-US" sz="2400" i="1">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𝜔</m:t>
                    </m:r>
                    <m:r>
                      <a:rPr lang="en-US" sz="2400" b="0" i="1" smtClean="0">
                        <a:latin typeface="Cambria Math" panose="02040503050406030204" pitchFamily="18" charset="0"/>
                        <a:sym typeface="Wingdings" panose="05000000000000000000" pitchFamily="2" charset="2"/>
                      </a:rPr>
                      <m:t>=</m:t>
                    </m:r>
                  </m:oMath>
                </a14:m>
                <a:r>
                  <a:rPr lang="en-US" sz="2400" dirty="0">
                    <a:sym typeface="Wingdings" panose="05000000000000000000" pitchFamily="2" charset="2"/>
                  </a:rPr>
                  <a:t>Angular rate of wheel (rad/sec)</a:t>
                </a:r>
              </a:p>
              <a:p>
                <a14:m>
                  <m:oMath xmlns:m="http://schemas.openxmlformats.org/officeDocument/2006/math">
                    <m:acc>
                      <m:accPr>
                        <m:chr m:val="̈"/>
                        <m:ctrlPr>
                          <a:rPr lang="en-US" sz="2400" i="1" smtClean="0">
                            <a:latin typeface="Cambria Math" panose="02040503050406030204" pitchFamily="18" charset="0"/>
                            <a:sym typeface="Wingdings" panose="05000000000000000000" pitchFamily="2" charset="2"/>
                          </a:rPr>
                        </m:ctrlPr>
                      </m:accPr>
                      <m:e>
                        <m:r>
                          <a:rPr lang="en-US" sz="2400" b="0" i="1" smtClean="0">
                            <a:latin typeface="Cambria Math" panose="02040503050406030204" pitchFamily="18" charset="0"/>
                            <a:sym typeface="Wingdings" panose="05000000000000000000" pitchFamily="2" charset="2"/>
                          </a:rPr>
                          <m:t>𝜃</m:t>
                        </m:r>
                      </m:e>
                    </m:acc>
                    <m:r>
                      <a:rPr lang="en-US" sz="2400" i="1">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𝛼</m:t>
                    </m:r>
                    <m:r>
                      <a:rPr lang="en-US" sz="2400" b="0" i="1" smtClean="0">
                        <a:latin typeface="Cambria Math" panose="02040503050406030204" pitchFamily="18" charset="0"/>
                        <a:sym typeface="Wingdings" panose="05000000000000000000" pitchFamily="2" charset="2"/>
                      </a:rPr>
                      <m:t>=</m:t>
                    </m:r>
                  </m:oMath>
                </a14:m>
                <a:r>
                  <a:rPr lang="en-US" sz="2400" dirty="0">
                    <a:sym typeface="Wingdings" panose="05000000000000000000" pitchFamily="2" charset="2"/>
                  </a:rPr>
                  <a:t>Angular acceleration of wheel (rad/sec</a:t>
                </a:r>
                <a:r>
                  <a:rPr lang="en-US" sz="2400" baseline="30000" dirty="0">
                    <a:sym typeface="Wingdings" panose="05000000000000000000" pitchFamily="2" charset="2"/>
                  </a:rPr>
                  <a:t>2</a:t>
                </a:r>
                <a:r>
                  <a:rPr lang="en-US" sz="2400" dirty="0">
                    <a:sym typeface="Wingdings" panose="05000000000000000000" pitchFamily="2" charset="2"/>
                  </a:rPr>
                  <a:t>)</a:t>
                </a:r>
              </a:p>
              <a:p>
                <a:pPr marL="0" indent="0">
                  <a:buNone/>
                </a:pPr>
                <a:endParaRPr lang="en-US" sz="1800" dirty="0">
                  <a:sym typeface="Wingdings" panose="05000000000000000000" pitchFamily="2" charset="2"/>
                </a:endParaRPr>
              </a:p>
            </p:txBody>
          </p:sp>
        </mc:Choice>
        <mc:Fallback xmlns="">
          <p:sp>
            <p:nvSpPr>
              <p:cNvPr id="5" name="TextBox 4">
                <a:extLst>
                  <a:ext uri="{FF2B5EF4-FFF2-40B4-BE49-F238E27FC236}">
                    <a16:creationId xmlns:a16="http://schemas.microsoft.com/office/drawing/2014/main" id="{4C1BC6A2-66B9-21E8-5261-152FCDBC3738}"/>
                  </a:ext>
                </a:extLst>
              </p:cNvPr>
              <p:cNvSpPr txBox="1">
                <a:spLocks noRot="1" noChangeAspect="1" noMove="1" noResize="1" noEditPoints="1" noAdjustHandles="1" noChangeArrowheads="1" noChangeShapeType="1" noTextEdit="1"/>
              </p:cNvSpPr>
              <p:nvPr/>
            </p:nvSpPr>
            <p:spPr>
              <a:xfrm>
                <a:off x="1213658" y="5535744"/>
                <a:ext cx="8170202" cy="1511568"/>
              </a:xfrm>
              <a:prstGeom prst="rect">
                <a:avLst/>
              </a:prstGeom>
              <a:blipFill>
                <a:blip r:embed="rId3"/>
                <a:stretch>
                  <a:fillRect l="-149" t="-3226"/>
                </a:stretch>
              </a:blipFill>
            </p:spPr>
            <p:txBody>
              <a:bodyPr/>
              <a:lstStyle/>
              <a:p>
                <a:r>
                  <a:rPr lang="en-US">
                    <a:noFill/>
                  </a:rPr>
                  <a:t> </a:t>
                </a:r>
              </a:p>
            </p:txBody>
          </p:sp>
        </mc:Fallback>
      </mc:AlternateContent>
    </p:spTree>
    <p:extLst>
      <p:ext uri="{BB962C8B-B14F-4D97-AF65-F5344CB8AC3E}">
        <p14:creationId xmlns:p14="http://schemas.microsoft.com/office/powerpoint/2010/main" val="1432871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3EEBE-9923-84D8-E7D9-815F4A5F1751}"/>
              </a:ext>
            </a:extLst>
          </p:cNvPr>
          <p:cNvSpPr>
            <a:spLocks noGrp="1"/>
          </p:cNvSpPr>
          <p:nvPr>
            <p:ph type="title"/>
          </p:nvPr>
        </p:nvSpPr>
        <p:spPr/>
        <p:txBody>
          <a:bodyPr/>
          <a:lstStyle/>
          <a:p>
            <a:r>
              <a:rPr lang="en-US" dirty="0"/>
              <a:t>Saturation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1F037D-6ED6-5FD3-C6CF-30C894DE7703}"/>
                  </a:ext>
                </a:extLst>
              </p:cNvPr>
              <p:cNvSpPr>
                <a:spLocks noGrp="1"/>
              </p:cNvSpPr>
              <p:nvPr>
                <p:ph idx="1"/>
              </p:nvPr>
            </p:nvSpPr>
            <p:spPr/>
            <p:txBody>
              <a:bodyPr/>
              <a:lstStyle/>
              <a:p>
                <a:pPr marL="0" indent="0">
                  <a:buNone/>
                </a:pPr>
                <a:r>
                  <a:rPr lang="en-US" dirty="0"/>
                  <a:t>What happens as the wheel applies torque to counter disturbances?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r>
                        <a:rPr lang="en-US" i="1">
                          <a:latin typeface="Cambria Math" panose="02040503050406030204" pitchFamily="18" charset="0"/>
                        </a:rPr>
                        <m:t> = </m:t>
                      </m:r>
                      <m:nary>
                        <m:naryPr>
                          <m:limLoc m:val="undOvr"/>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𝑇𝑑𝑡</m:t>
                          </m:r>
                        </m:e>
                      </m:nary>
                      <m:r>
                        <a:rPr lang="en-US" i="1">
                          <a:latin typeface="Cambria Math" panose="02040503050406030204" pitchFamily="18" charset="0"/>
                        </a:rPr>
                        <m:t> = </m:t>
                      </m:r>
                      <m:r>
                        <a:rPr lang="en-US" i="1">
                          <a:latin typeface="Cambria Math" panose="02040503050406030204" pitchFamily="18" charset="0"/>
                        </a:rPr>
                        <m:t>𝐼</m:t>
                      </m:r>
                      <m:r>
                        <a:rPr lang="en-US" i="1">
                          <a:latin typeface="Cambria Math" panose="02040503050406030204" pitchFamily="18" charset="0"/>
                        </a:rPr>
                        <m:t> </m:t>
                      </m:r>
                      <m:r>
                        <a:rPr lang="en-US" i="1" smtClean="0">
                          <a:latin typeface="Cambria Math" panose="02040503050406030204" pitchFamily="18" charset="0"/>
                        </a:rPr>
                        <m:t>𝜔</m:t>
                      </m:r>
                    </m:oMath>
                  </m:oMathPara>
                </a14:m>
                <a:endParaRPr lang="en-US" dirty="0"/>
              </a:p>
              <a:p>
                <a:pPr marL="0" indent="0">
                  <a:buNone/>
                </a:pPr>
                <a:endParaRPr lang="en-US" dirty="0"/>
              </a:p>
              <a:p>
                <a:pPr marL="0" indent="0">
                  <a:buNone/>
                </a:pPr>
                <a:r>
                  <a:rPr lang="en-US" dirty="0"/>
                  <a:t>The wheel stores increasing momentum by increasing its wheel speed. </a:t>
                </a:r>
              </a:p>
              <a:p>
                <a:pPr marL="0" indent="0">
                  <a:buNone/>
                </a:pPr>
                <a:endParaRPr lang="en-US" dirty="0"/>
              </a:p>
              <a:p>
                <a:pPr marL="0" indent="0">
                  <a:buNone/>
                </a:pPr>
                <a:r>
                  <a:rPr lang="en-US" dirty="0"/>
                  <a:t>Eventually the wheel reaches its max speed. </a:t>
                </a:r>
                <a:r>
                  <a:rPr lang="en-US" dirty="0">
                    <a:sym typeface="Wingdings" panose="05000000000000000000" pitchFamily="2" charset="2"/>
                  </a:rPr>
                  <a:t> </a:t>
                </a:r>
                <a:r>
                  <a:rPr lang="en-US" dirty="0"/>
                  <a:t>This is called </a:t>
                </a:r>
                <a:r>
                  <a:rPr lang="en-US" b="1" dirty="0"/>
                  <a:t>saturation.</a:t>
                </a:r>
              </a:p>
            </p:txBody>
          </p:sp>
        </mc:Choice>
        <mc:Fallback xmlns="">
          <p:sp>
            <p:nvSpPr>
              <p:cNvPr id="3" name="Content Placeholder 2">
                <a:extLst>
                  <a:ext uri="{FF2B5EF4-FFF2-40B4-BE49-F238E27FC236}">
                    <a16:creationId xmlns:a16="http://schemas.microsoft.com/office/drawing/2014/main" id="{631F037D-6ED6-5FD3-C6CF-30C894DE7703}"/>
                  </a:ext>
                </a:extLst>
              </p:cNvPr>
              <p:cNvSpPr>
                <a:spLocks noGrp="1" noRot="1" noChangeAspect="1" noMove="1" noResize="1" noEditPoints="1" noAdjustHandles="1" noChangeArrowheads="1" noChangeShapeType="1" noTextEdit="1"/>
              </p:cNvSpPr>
              <p:nvPr>
                <p:ph idx="1"/>
              </p:nvPr>
            </p:nvSpPr>
            <p:spPr>
              <a:blipFill>
                <a:blip r:embed="rId3"/>
                <a:stretch>
                  <a:fillRect l="-1456" t="-19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1D31AE1-601F-F8A5-1575-D675361D0994}"/>
              </a:ext>
            </a:extLst>
          </p:cNvPr>
          <p:cNvSpPr>
            <a:spLocks noGrp="1"/>
          </p:cNvSpPr>
          <p:nvPr>
            <p:ph type="sldNum" sz="quarter" idx="12"/>
          </p:nvPr>
        </p:nvSpPr>
        <p:spPr/>
        <p:txBody>
          <a:bodyPr/>
          <a:lstStyle/>
          <a:p>
            <a:fld id="{9A3029B7-FE6B-4680-9049-80E8298A0825}" type="slidenum">
              <a:rPr lang="en-US" smtClean="0"/>
              <a:t>25</a:t>
            </a:fld>
            <a:endParaRPr lang="en-US"/>
          </a:p>
        </p:txBody>
      </p:sp>
    </p:spTree>
    <p:extLst>
      <p:ext uri="{BB962C8B-B14F-4D97-AF65-F5344CB8AC3E}">
        <p14:creationId xmlns:p14="http://schemas.microsoft.com/office/powerpoint/2010/main" val="271597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1FBAE-AFFE-2745-655A-79ABB0AF9D89}"/>
              </a:ext>
            </a:extLst>
          </p:cNvPr>
          <p:cNvSpPr>
            <a:spLocks noGrp="1"/>
          </p:cNvSpPr>
          <p:nvPr>
            <p:ph type="title"/>
          </p:nvPr>
        </p:nvSpPr>
        <p:spPr/>
        <p:txBody>
          <a:bodyPr/>
          <a:lstStyle/>
          <a:p>
            <a:r>
              <a:rPr lang="en-US" dirty="0"/>
              <a:t>Desaturation</a:t>
            </a:r>
          </a:p>
        </p:txBody>
      </p:sp>
      <p:sp>
        <p:nvSpPr>
          <p:cNvPr id="3" name="Content Placeholder 2">
            <a:extLst>
              <a:ext uri="{FF2B5EF4-FFF2-40B4-BE49-F238E27FC236}">
                <a16:creationId xmlns:a16="http://schemas.microsoft.com/office/drawing/2014/main" id="{3D93C9D6-2B6B-E258-80A0-F2A5215331BB}"/>
              </a:ext>
            </a:extLst>
          </p:cNvPr>
          <p:cNvSpPr>
            <a:spLocks noGrp="1"/>
          </p:cNvSpPr>
          <p:nvPr>
            <p:ph idx="1"/>
          </p:nvPr>
        </p:nvSpPr>
        <p:spPr>
          <a:xfrm>
            <a:off x="175492" y="1237553"/>
            <a:ext cx="8793015" cy="5227553"/>
          </a:xfrm>
        </p:spPr>
        <p:txBody>
          <a:bodyPr>
            <a:normAutofit fontScale="85000" lnSpcReduction="10000"/>
          </a:bodyPr>
          <a:lstStyle/>
          <a:p>
            <a:pPr marL="0" indent="0">
              <a:buNone/>
            </a:pPr>
            <a:r>
              <a:rPr lang="en-US" dirty="0"/>
              <a:t>Reaction wheels are an internal attitude actuator that counter disturbance torques.</a:t>
            </a:r>
          </a:p>
          <a:p>
            <a:pPr marL="0" indent="0">
              <a:buNone/>
            </a:pPr>
            <a:endParaRPr lang="en-US" dirty="0"/>
          </a:p>
          <a:p>
            <a:pPr marL="0" indent="0">
              <a:buNone/>
            </a:pPr>
            <a:r>
              <a:rPr lang="en-US" dirty="0"/>
              <a:t>When the wheel reaches its maximum speed, it is said to be </a:t>
            </a:r>
            <a:r>
              <a:rPr lang="en-US" b="1" dirty="0"/>
              <a:t>saturated</a:t>
            </a:r>
            <a:r>
              <a:rPr lang="en-US" dirty="0"/>
              <a:t> and can no longer counter disturbance torques. </a:t>
            </a:r>
          </a:p>
          <a:p>
            <a:pPr marL="0" indent="0">
              <a:buNone/>
            </a:pPr>
            <a:endParaRPr lang="en-US" dirty="0"/>
          </a:p>
          <a:p>
            <a:pPr marL="0" indent="0">
              <a:buNone/>
            </a:pPr>
            <a:r>
              <a:rPr lang="en-US" dirty="0"/>
              <a:t>To maintain control of the spacecraft, the spacecraft needs to perform </a:t>
            </a:r>
            <a:r>
              <a:rPr lang="en-US" b="1" dirty="0"/>
              <a:t>momentum dumping.</a:t>
            </a:r>
          </a:p>
          <a:p>
            <a:pPr marL="457200" lvl="1" indent="0">
              <a:buNone/>
            </a:pPr>
            <a:r>
              <a:rPr lang="en-US" b="1" dirty="0">
                <a:sym typeface="Wingdings" panose="05000000000000000000" pitchFamily="2" charset="2"/>
              </a:rPr>
              <a:t></a:t>
            </a:r>
            <a:r>
              <a:rPr lang="en-US" b="1" dirty="0"/>
              <a:t>Using an external actuator to reject momentum from the system. </a:t>
            </a:r>
          </a:p>
          <a:p>
            <a:pPr marL="0" indent="0">
              <a:buNone/>
            </a:pPr>
            <a:endParaRPr lang="en-US" dirty="0"/>
          </a:p>
          <a:p>
            <a:pPr marL="0" indent="0">
              <a:buNone/>
            </a:pPr>
            <a:r>
              <a:rPr lang="en-US" dirty="0"/>
              <a:t>Two common external attitude actuators that work in space:</a:t>
            </a:r>
          </a:p>
          <a:p>
            <a:pPr marL="0" indent="0" algn="ctr">
              <a:buNone/>
            </a:pPr>
            <a:r>
              <a:rPr lang="en-US" b="1" dirty="0"/>
              <a:t>Thrusters</a:t>
            </a:r>
          </a:p>
          <a:p>
            <a:pPr marL="0" indent="0" algn="ctr">
              <a:buNone/>
            </a:pPr>
            <a:r>
              <a:rPr lang="en-US" b="1" dirty="0"/>
              <a:t>Magnetorquers</a:t>
            </a:r>
            <a:r>
              <a:rPr lang="en-US" dirty="0"/>
              <a:t> </a:t>
            </a:r>
          </a:p>
        </p:txBody>
      </p:sp>
      <p:sp>
        <p:nvSpPr>
          <p:cNvPr id="4" name="Slide Number Placeholder 3">
            <a:extLst>
              <a:ext uri="{FF2B5EF4-FFF2-40B4-BE49-F238E27FC236}">
                <a16:creationId xmlns:a16="http://schemas.microsoft.com/office/drawing/2014/main" id="{059909D5-5251-EFAD-FB5E-A67FDB2C20EE}"/>
              </a:ext>
            </a:extLst>
          </p:cNvPr>
          <p:cNvSpPr>
            <a:spLocks noGrp="1"/>
          </p:cNvSpPr>
          <p:nvPr>
            <p:ph type="sldNum" sz="quarter" idx="12"/>
          </p:nvPr>
        </p:nvSpPr>
        <p:spPr/>
        <p:txBody>
          <a:bodyPr/>
          <a:lstStyle/>
          <a:p>
            <a:fld id="{9A3029B7-FE6B-4680-9049-80E8298A0825}" type="slidenum">
              <a:rPr lang="en-US" smtClean="0"/>
              <a:t>26</a:t>
            </a:fld>
            <a:endParaRPr lang="en-US"/>
          </a:p>
        </p:txBody>
      </p:sp>
    </p:spTree>
    <p:extLst>
      <p:ext uri="{BB962C8B-B14F-4D97-AF65-F5344CB8AC3E}">
        <p14:creationId xmlns:p14="http://schemas.microsoft.com/office/powerpoint/2010/main" val="174487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88F96-0F75-595D-25E2-A55A3A2D544E}"/>
              </a:ext>
            </a:extLst>
          </p:cNvPr>
          <p:cNvSpPr>
            <a:spLocks noGrp="1"/>
          </p:cNvSpPr>
          <p:nvPr>
            <p:ph type="title"/>
          </p:nvPr>
        </p:nvSpPr>
        <p:spPr/>
        <p:txBody>
          <a:bodyPr/>
          <a:lstStyle/>
          <a:p>
            <a:r>
              <a:rPr lang="en-US" dirty="0"/>
              <a:t>Desaturation (2)</a:t>
            </a:r>
          </a:p>
        </p:txBody>
      </p:sp>
      <p:sp>
        <p:nvSpPr>
          <p:cNvPr id="3" name="Content Placeholder 2">
            <a:extLst>
              <a:ext uri="{FF2B5EF4-FFF2-40B4-BE49-F238E27FC236}">
                <a16:creationId xmlns:a16="http://schemas.microsoft.com/office/drawing/2014/main" id="{DA8B9C41-A203-4037-723A-BAAF811BCE20}"/>
              </a:ext>
            </a:extLst>
          </p:cNvPr>
          <p:cNvSpPr>
            <a:spLocks noGrp="1"/>
          </p:cNvSpPr>
          <p:nvPr>
            <p:ph idx="1"/>
          </p:nvPr>
        </p:nvSpPr>
        <p:spPr/>
        <p:txBody>
          <a:bodyPr/>
          <a:lstStyle/>
          <a:p>
            <a:pPr marL="0" indent="0">
              <a:buNone/>
            </a:pPr>
            <a:endParaRPr lang="en-US" dirty="0"/>
          </a:p>
          <a:p>
            <a:pPr marL="0" indent="0">
              <a:buNone/>
            </a:pPr>
            <a:r>
              <a:rPr lang="en-US" dirty="0"/>
              <a:t>When a wheel becomes saturated, an external actuator is activated to reject momentum from the system.</a:t>
            </a:r>
          </a:p>
          <a:p>
            <a:pPr marL="0" indent="0">
              <a:buNone/>
            </a:pPr>
            <a:endParaRPr lang="en-US" dirty="0"/>
          </a:p>
          <a:p>
            <a:pPr marL="0" indent="0">
              <a:buNone/>
            </a:pPr>
            <a:r>
              <a:rPr lang="en-US" dirty="0"/>
              <a:t>As the external actuator operates for a length of time, the wheel speed will gradually slow. </a:t>
            </a:r>
          </a:p>
          <a:p>
            <a:pPr marL="0" indent="0">
              <a:buNone/>
            </a:pPr>
            <a:endParaRPr lang="en-US" dirty="0"/>
          </a:p>
          <a:p>
            <a:pPr marL="0" indent="0">
              <a:buNone/>
            </a:pPr>
            <a:r>
              <a:rPr lang="en-US" dirty="0"/>
              <a:t>The external actuator is turned off when the wheel reaches a predetermined neutral speed (perhaps zero). </a:t>
            </a:r>
          </a:p>
        </p:txBody>
      </p:sp>
      <p:sp>
        <p:nvSpPr>
          <p:cNvPr id="4" name="Slide Number Placeholder 3">
            <a:extLst>
              <a:ext uri="{FF2B5EF4-FFF2-40B4-BE49-F238E27FC236}">
                <a16:creationId xmlns:a16="http://schemas.microsoft.com/office/drawing/2014/main" id="{7D1144F3-54EB-F9FD-A9AD-3F8EB7CA19D5}"/>
              </a:ext>
            </a:extLst>
          </p:cNvPr>
          <p:cNvSpPr>
            <a:spLocks noGrp="1"/>
          </p:cNvSpPr>
          <p:nvPr>
            <p:ph type="sldNum" sz="quarter" idx="12"/>
          </p:nvPr>
        </p:nvSpPr>
        <p:spPr/>
        <p:txBody>
          <a:bodyPr/>
          <a:lstStyle/>
          <a:p>
            <a:fld id="{9A3029B7-FE6B-4680-9049-80E8298A0825}" type="slidenum">
              <a:rPr lang="en-US" smtClean="0"/>
              <a:t>27</a:t>
            </a:fld>
            <a:endParaRPr lang="en-US"/>
          </a:p>
        </p:txBody>
      </p:sp>
    </p:spTree>
    <p:extLst>
      <p:ext uri="{BB962C8B-B14F-4D97-AF65-F5344CB8AC3E}">
        <p14:creationId xmlns:p14="http://schemas.microsoft.com/office/powerpoint/2010/main" val="2605263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AEC4BA-882F-5F52-A66C-3FB3E6CB7891}"/>
              </a:ext>
            </a:extLst>
          </p:cNvPr>
          <p:cNvSpPr>
            <a:spLocks noGrp="1"/>
          </p:cNvSpPr>
          <p:nvPr>
            <p:ph type="title"/>
          </p:nvPr>
        </p:nvSpPr>
        <p:spPr/>
        <p:txBody>
          <a:bodyPr/>
          <a:lstStyle/>
          <a:p>
            <a:r>
              <a:rPr lang="en-US" dirty="0"/>
              <a:t>ADCS Sizing</a:t>
            </a:r>
          </a:p>
        </p:txBody>
      </p:sp>
      <p:sp>
        <p:nvSpPr>
          <p:cNvPr id="4" name="Slide Number Placeholder 3">
            <a:extLst>
              <a:ext uri="{FF2B5EF4-FFF2-40B4-BE49-F238E27FC236}">
                <a16:creationId xmlns:a16="http://schemas.microsoft.com/office/drawing/2014/main" id="{FE3CDC6A-3FAD-8CC4-FBB2-8F0BD96DA343}"/>
              </a:ext>
            </a:extLst>
          </p:cNvPr>
          <p:cNvSpPr>
            <a:spLocks noGrp="1"/>
          </p:cNvSpPr>
          <p:nvPr>
            <p:ph type="sldNum" sz="quarter" idx="12"/>
          </p:nvPr>
        </p:nvSpPr>
        <p:spPr/>
        <p:txBody>
          <a:bodyPr/>
          <a:lstStyle/>
          <a:p>
            <a:fld id="{9A3029B7-FE6B-4680-9049-80E8298A0825}" type="slidenum">
              <a:rPr lang="en-US" smtClean="0"/>
              <a:t>28</a:t>
            </a:fld>
            <a:endParaRPr lang="en-US"/>
          </a:p>
        </p:txBody>
      </p:sp>
    </p:spTree>
    <p:extLst>
      <p:ext uri="{BB962C8B-B14F-4D97-AF65-F5344CB8AC3E}">
        <p14:creationId xmlns:p14="http://schemas.microsoft.com/office/powerpoint/2010/main" val="779642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5D14FC-8E92-86B1-16F6-3F5B519DB87E}"/>
              </a:ext>
            </a:extLst>
          </p:cNvPr>
          <p:cNvSpPr>
            <a:spLocks noGrp="1"/>
          </p:cNvSpPr>
          <p:nvPr>
            <p:ph type="title"/>
          </p:nvPr>
        </p:nvSpPr>
        <p:spPr/>
        <p:txBody>
          <a:bodyPr/>
          <a:lstStyle/>
          <a:p>
            <a:r>
              <a:rPr lang="en-US" dirty="0"/>
              <a:t>ADCS Sizing Requirements</a:t>
            </a:r>
          </a:p>
        </p:txBody>
      </p:sp>
      <p:sp>
        <p:nvSpPr>
          <p:cNvPr id="4" name="Slide Number Placeholder 3">
            <a:extLst>
              <a:ext uri="{FF2B5EF4-FFF2-40B4-BE49-F238E27FC236}">
                <a16:creationId xmlns:a16="http://schemas.microsoft.com/office/drawing/2014/main" id="{23E3AC4A-5F69-C5C3-4047-0FCF2EF6F1EF}"/>
              </a:ext>
            </a:extLst>
          </p:cNvPr>
          <p:cNvSpPr>
            <a:spLocks noGrp="1"/>
          </p:cNvSpPr>
          <p:nvPr>
            <p:ph type="sldNum" sz="quarter" idx="12"/>
          </p:nvPr>
        </p:nvSpPr>
        <p:spPr/>
        <p:txBody>
          <a:bodyPr/>
          <a:lstStyle/>
          <a:p>
            <a:fld id="{9A3029B7-FE6B-4680-9049-80E8298A0825}" type="slidenum">
              <a:rPr lang="en-US" smtClean="0"/>
              <a:t>29</a:t>
            </a:fld>
            <a:endParaRPr lang="en-US"/>
          </a:p>
        </p:txBody>
      </p:sp>
      <p:sp>
        <p:nvSpPr>
          <p:cNvPr id="7" name="Rectangle 1">
            <a:extLst>
              <a:ext uri="{FF2B5EF4-FFF2-40B4-BE49-F238E27FC236}">
                <a16:creationId xmlns:a16="http://schemas.microsoft.com/office/drawing/2014/main" id="{FB3FE3D8-8680-3DFE-A4FE-A2898610E8D3}"/>
              </a:ext>
            </a:extLst>
          </p:cNvPr>
          <p:cNvSpPr>
            <a:spLocks noGrp="1" noChangeArrowheads="1"/>
          </p:cNvSpPr>
          <p:nvPr>
            <p:ph idx="1"/>
          </p:nvPr>
        </p:nvSpPr>
        <p:spPr bwMode="auto">
          <a:xfrm>
            <a:off x="200025" y="1363276"/>
            <a:ext cx="8553641"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rgbClr val="C00000"/>
                </a:solidFill>
                <a:effectLst/>
              </a:rPr>
              <a:t>Maximum Torque Requirement </a:t>
            </a:r>
          </a:p>
          <a:p>
            <a:pPr marL="457200" lvl="1" indent="0" eaLnBrk="0" fontAlgn="base" hangingPunct="0">
              <a:lnSpc>
                <a:spcPct val="100000"/>
              </a:lnSpc>
              <a:spcBef>
                <a:spcPct val="0"/>
              </a:spcBef>
              <a:spcAft>
                <a:spcPct val="0"/>
              </a:spcAft>
              <a:buNone/>
            </a:pPr>
            <a:r>
              <a:rPr kumimoji="0" lang="en-US" altLang="en-US" i="0" u="none" strike="noStrike" cap="none" normalizeH="0" baseline="0" dirty="0">
                <a:ln>
                  <a:noFill/>
                </a:ln>
                <a:solidFill>
                  <a:srgbClr val="C00000"/>
                </a:solidFill>
                <a:effectLst/>
                <a:sym typeface="Wingdings" panose="05000000000000000000" pitchFamily="2" charset="2"/>
              </a:rPr>
              <a:t> ADCS must be able to counteract disturbance torques </a:t>
            </a:r>
            <a:endParaRPr kumimoji="0" lang="en-US" altLang="en-US" i="0" u="none" strike="noStrike" cap="none" normalizeH="0" baseline="0" dirty="0">
              <a:ln>
                <a:noFill/>
              </a:ln>
              <a:solidFill>
                <a:srgbClr val="C00000"/>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rgbClr val="00B050"/>
                </a:solidFill>
                <a:effectLst/>
              </a:rPr>
              <a:t>Momentum Storage Requirement</a:t>
            </a:r>
            <a:endParaRPr kumimoji="0" lang="en-US" altLang="en-US" b="0" i="0" u="none" strike="noStrike" cap="none" normalizeH="0" baseline="0" dirty="0">
              <a:ln>
                <a:noFill/>
              </a:ln>
              <a:solidFill>
                <a:srgbClr val="00B050"/>
              </a:solidFill>
              <a:effectLst/>
            </a:endParaRPr>
          </a:p>
          <a:p>
            <a:pPr marL="457200" lvl="1" indent="0" eaLnBrk="0" fontAlgn="base" hangingPunct="0">
              <a:lnSpc>
                <a:spcPct val="100000"/>
              </a:lnSpc>
              <a:spcBef>
                <a:spcPct val="0"/>
              </a:spcBef>
              <a:spcAft>
                <a:spcPct val="0"/>
              </a:spcAft>
              <a:buNone/>
            </a:pPr>
            <a:r>
              <a:rPr kumimoji="0" lang="en-US" altLang="en-US" i="0" u="none" strike="noStrike" cap="none" normalizeH="0" baseline="0" dirty="0">
                <a:ln>
                  <a:noFill/>
                </a:ln>
                <a:solidFill>
                  <a:srgbClr val="00B050"/>
                </a:solidFill>
                <a:effectLst/>
                <a:sym typeface="Wingdings" panose="05000000000000000000" pitchFamily="2" charset="2"/>
              </a:rPr>
              <a:t> ADCS must be able to store enough momentum to absorb momentum from disturbances</a:t>
            </a:r>
            <a:endParaRPr kumimoji="0" lang="en-US" altLang="en-US" i="0" u="none" strike="noStrike" cap="none" normalizeH="0" baseline="0" dirty="0">
              <a:ln>
                <a:noFill/>
              </a:ln>
              <a:solidFill>
                <a:srgbClr val="00B050"/>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rgbClr val="0070C0"/>
                </a:solidFill>
                <a:effectLst/>
              </a:rPr>
              <a:t>Slew Maneuver Capability</a:t>
            </a:r>
            <a:endParaRPr kumimoji="0" lang="en-US" altLang="en-US" b="0" i="0" u="none" strike="noStrike" cap="none" normalizeH="0" baseline="0" dirty="0">
              <a:ln>
                <a:noFill/>
              </a:ln>
              <a:solidFill>
                <a:srgbClr val="0070C0"/>
              </a:solidFill>
              <a:effectLst/>
            </a:endParaRPr>
          </a:p>
          <a:p>
            <a:pPr marL="457200" lvl="1"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rgbClr val="0070C0"/>
                </a:solidFill>
                <a:effectLst/>
                <a:sym typeface="Wingdings" panose="05000000000000000000" pitchFamily="2" charset="2"/>
              </a:rPr>
              <a:t>ADCS must meet slew rate requirements</a:t>
            </a:r>
            <a:endParaRPr kumimoji="0" lang="en-US" altLang="en-US" b="0" i="0" u="none" strike="noStrike" cap="none" normalizeH="0" baseline="0" dirty="0">
              <a:ln>
                <a:noFill/>
              </a:ln>
              <a:solidFill>
                <a:srgbClr val="0070C0"/>
              </a:solidFill>
              <a:effectLst/>
            </a:endParaRPr>
          </a:p>
        </p:txBody>
      </p:sp>
      <p:sp>
        <p:nvSpPr>
          <p:cNvPr id="8" name="TextBox 7">
            <a:extLst>
              <a:ext uri="{FF2B5EF4-FFF2-40B4-BE49-F238E27FC236}">
                <a16:creationId xmlns:a16="http://schemas.microsoft.com/office/drawing/2014/main" id="{EBFE2D40-72C1-00EE-699C-157A6E62B1C3}"/>
              </a:ext>
            </a:extLst>
          </p:cNvPr>
          <p:cNvSpPr txBox="1"/>
          <p:nvPr/>
        </p:nvSpPr>
        <p:spPr>
          <a:xfrm>
            <a:off x="200025" y="6007071"/>
            <a:ext cx="4572000" cy="400110"/>
          </a:xfrm>
          <a:prstGeom prst="rect">
            <a:avLst/>
          </a:prstGeom>
          <a:noFill/>
        </p:spPr>
        <p:txBody>
          <a:bodyPr wrap="square">
            <a:spAutoFit/>
          </a:bodyPr>
          <a:lstStyle/>
          <a:p>
            <a:pPr marL="0" indent="0">
              <a:buNone/>
            </a:pPr>
            <a:r>
              <a:rPr lang="en-US" sz="2000" b="1" dirty="0"/>
              <a:t>Slew</a:t>
            </a:r>
            <a:r>
              <a:rPr lang="en-US" sz="2000" dirty="0"/>
              <a:t> = turning the spacecraft</a:t>
            </a:r>
          </a:p>
        </p:txBody>
      </p:sp>
    </p:spTree>
    <p:extLst>
      <p:ext uri="{BB962C8B-B14F-4D97-AF65-F5344CB8AC3E}">
        <p14:creationId xmlns:p14="http://schemas.microsoft.com/office/powerpoint/2010/main" val="305403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fade">
                                      <p:cBhvr>
                                        <p:cTn id="7" dur="500"/>
                                        <p:tgtEl>
                                          <p:spTgt spid="7">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fade">
                                      <p:cBhvr>
                                        <p:cTn id="10" dur="500"/>
                                        <p:tgtEl>
                                          <p:spTgt spid="7">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animEffect transition="in" filter="fade">
                                      <p:cBhvr>
                                        <p:cTn id="15" dur="500"/>
                                        <p:tgtEl>
                                          <p:spTgt spid="7">
                                            <p:txEl>
                                              <p:pRg st="8" end="8"/>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9" end="9"/>
                                            </p:txEl>
                                          </p:spTgt>
                                        </p:tgtEl>
                                        <p:attrNameLst>
                                          <p:attrName>style.visibility</p:attrName>
                                        </p:attrNameLst>
                                      </p:cBhvr>
                                      <p:to>
                                        <p:strVal val="visible"/>
                                      </p:to>
                                    </p:set>
                                    <p:animEffect transition="in" filter="fade">
                                      <p:cBhvr>
                                        <p:cTn id="18" dur="500"/>
                                        <p:tgtEl>
                                          <p:spTgt spid="7">
                                            <p:txEl>
                                              <p:pRg st="9" end="9"/>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6744349-55BD-2563-F794-410D639C634A}"/>
              </a:ext>
            </a:extLst>
          </p:cNvPr>
          <p:cNvSpPr txBox="1"/>
          <p:nvPr/>
        </p:nvSpPr>
        <p:spPr>
          <a:xfrm>
            <a:off x="200024" y="1002507"/>
            <a:ext cx="8793014" cy="4708981"/>
          </a:xfrm>
          <a:prstGeom prst="rect">
            <a:avLst/>
          </a:prstGeom>
          <a:noFill/>
        </p:spPr>
        <p:txBody>
          <a:bodyPr wrap="square">
            <a:spAutoFit/>
          </a:bodyPr>
          <a:lstStyle/>
          <a:p>
            <a:pPr marL="0" indent="0">
              <a:buNone/>
            </a:pPr>
            <a:r>
              <a:rPr lang="en-US" sz="2000" b="1" dirty="0">
                <a:latin typeface="Segoe UI" panose="020B0502040204020203" pitchFamily="34" charset="0"/>
                <a:cs typeface="Segoe UI" panose="020B0502040204020203" pitchFamily="34" charset="0"/>
              </a:rPr>
              <a:t>Control authority: </a:t>
            </a:r>
            <a:r>
              <a:rPr lang="en-US" sz="2000" dirty="0">
                <a:latin typeface="Segoe UI" panose="020B0502040204020203" pitchFamily="34" charset="0"/>
                <a:cs typeface="Segoe UI" panose="020B0502040204020203" pitchFamily="34" charset="0"/>
              </a:rPr>
              <a:t>torque capability of actuators</a:t>
            </a:r>
          </a:p>
          <a:p>
            <a:pPr marL="0" indent="0">
              <a:buNone/>
            </a:pPr>
            <a:endParaRPr lang="en-US" sz="2000" dirty="0">
              <a:latin typeface="Segoe UI" panose="020B0502040204020203" pitchFamily="34" charset="0"/>
              <a:cs typeface="Segoe UI" panose="020B0502040204020203" pitchFamily="34" charset="0"/>
            </a:endParaRPr>
          </a:p>
          <a:p>
            <a:pPr lvl="0" fontAlgn="base"/>
            <a:r>
              <a:rPr lang="en-US" sz="2000" b="1" dirty="0">
                <a:latin typeface="Segoe UI" panose="020B0502040204020203" pitchFamily="34" charset="0"/>
                <a:cs typeface="Segoe UI" panose="020B0502040204020203" pitchFamily="34" charset="0"/>
              </a:rPr>
              <a:t>Goal: </a:t>
            </a:r>
            <a:r>
              <a:rPr lang="en-US" sz="2000" dirty="0">
                <a:latin typeface="Segoe UI" panose="020B0502040204020203" pitchFamily="34" charset="0"/>
                <a:cs typeface="Segoe UI" panose="020B0502040204020203" pitchFamily="34" charset="0"/>
              </a:rPr>
              <a:t>want control authority to be greater than disturbance torques</a:t>
            </a:r>
          </a:p>
          <a:p>
            <a:pPr lvl="0" fontAlgn="base"/>
            <a:endParaRPr lang="en-US" sz="2000" dirty="0">
              <a:latin typeface="Segoe UI" panose="020B0502040204020203" pitchFamily="34" charset="0"/>
              <a:cs typeface="Segoe UI" panose="020B0502040204020203" pitchFamily="34" charset="0"/>
            </a:endParaRPr>
          </a:p>
          <a:p>
            <a:pPr lvl="0" fontAlgn="base"/>
            <a:endParaRPr lang="en-US" sz="2000" dirty="0">
              <a:latin typeface="Segoe UI" panose="020B0502040204020203" pitchFamily="34" charset="0"/>
              <a:cs typeface="Segoe UI" panose="020B0502040204020203" pitchFamily="34" charset="0"/>
            </a:endParaRPr>
          </a:p>
          <a:p>
            <a:pPr lvl="0" fontAlgn="base"/>
            <a:endParaRPr lang="en-US" sz="2000" dirty="0">
              <a:latin typeface="Segoe UI" panose="020B0502040204020203" pitchFamily="34" charset="0"/>
              <a:cs typeface="Segoe UI" panose="020B0502040204020203" pitchFamily="34" charset="0"/>
            </a:endParaRPr>
          </a:p>
          <a:p>
            <a:pPr lvl="0" fontAlgn="base"/>
            <a:endParaRPr lang="en-US" sz="2000" dirty="0">
              <a:latin typeface="Segoe UI" panose="020B0502040204020203" pitchFamily="34" charset="0"/>
              <a:cs typeface="Segoe UI" panose="020B0502040204020203" pitchFamily="34" charset="0"/>
            </a:endParaRPr>
          </a:p>
          <a:p>
            <a:pPr lvl="0" fontAlgn="base"/>
            <a:endParaRPr lang="en-US" sz="2000" dirty="0">
              <a:latin typeface="Segoe UI" panose="020B0502040204020203" pitchFamily="34" charset="0"/>
              <a:cs typeface="Segoe UI" panose="020B0502040204020203" pitchFamily="34" charset="0"/>
            </a:endParaRPr>
          </a:p>
          <a:p>
            <a:pPr lvl="0" fontAlgn="base"/>
            <a:endParaRPr lang="en-US" sz="2000" dirty="0">
              <a:latin typeface="Segoe UI" panose="020B0502040204020203" pitchFamily="34" charset="0"/>
              <a:cs typeface="Segoe UI" panose="020B0502040204020203" pitchFamily="34" charset="0"/>
            </a:endParaRPr>
          </a:p>
          <a:p>
            <a:pPr marL="342900" lvl="0" indent="-342900" fontAlgn="base">
              <a:buFont typeface="Arial" panose="020B0604020202020204" pitchFamily="34" charset="0"/>
              <a:buChar char="•"/>
            </a:pPr>
            <a:r>
              <a:rPr lang="en-US" sz="2000" dirty="0">
                <a:latin typeface="Segoe UI" panose="020B0502040204020203" pitchFamily="34" charset="0"/>
                <a:cs typeface="Segoe UI" panose="020B0502040204020203" pitchFamily="34" charset="0"/>
              </a:rPr>
              <a:t>For any single axis, disturbance torque may have </a:t>
            </a:r>
            <a:r>
              <a:rPr lang="en-US" sz="2000" b="1" dirty="0">
                <a:latin typeface="Segoe UI" panose="020B0502040204020203" pitchFamily="34" charset="0"/>
                <a:cs typeface="Segoe UI" panose="020B0502040204020203" pitchFamily="34" charset="0"/>
              </a:rPr>
              <a:t>cyclic</a:t>
            </a:r>
            <a:r>
              <a:rPr lang="en-US" sz="2000" dirty="0">
                <a:latin typeface="Segoe UI" panose="020B0502040204020203" pitchFamily="34" charset="0"/>
                <a:cs typeface="Segoe UI" panose="020B0502040204020203" pitchFamily="34" charset="0"/>
              </a:rPr>
              <a:t> terms (that integrate to zero over an integral # of cycles) and </a:t>
            </a:r>
            <a:r>
              <a:rPr lang="en-US" sz="2000" b="1" dirty="0">
                <a:latin typeface="Segoe UI" panose="020B0502040204020203" pitchFamily="34" charset="0"/>
                <a:cs typeface="Segoe UI" panose="020B0502040204020203" pitchFamily="34" charset="0"/>
              </a:rPr>
              <a:t>secular</a:t>
            </a:r>
            <a:r>
              <a:rPr lang="en-US" sz="2000" dirty="0">
                <a:latin typeface="Segoe UI" panose="020B0502040204020203" pitchFamily="34" charset="0"/>
                <a:cs typeface="Segoe UI" panose="020B0502040204020203" pitchFamily="34" charset="0"/>
              </a:rPr>
              <a:t> terms (not periodic)</a:t>
            </a:r>
          </a:p>
          <a:p>
            <a:pPr lvl="0" fontAlgn="base"/>
            <a:endParaRPr lang="en-US" sz="2000" dirty="0">
              <a:latin typeface="Segoe UI" panose="020B0502040204020203" pitchFamily="34" charset="0"/>
              <a:cs typeface="Segoe UI" panose="020B0502040204020203" pitchFamily="34" charset="0"/>
            </a:endParaRPr>
          </a:p>
          <a:p>
            <a:pPr marL="342900" lvl="0" indent="-342900" fontAlgn="base">
              <a:buFont typeface="Arial" panose="020B0604020202020204" pitchFamily="34" charset="0"/>
              <a:buChar char="•"/>
            </a:pPr>
            <a:r>
              <a:rPr lang="en-US" sz="2000" dirty="0">
                <a:latin typeface="Segoe UI" panose="020B0502040204020203" pitchFamily="34" charset="0"/>
                <a:cs typeface="Segoe UI" panose="020B0502040204020203" pitchFamily="34" charset="0"/>
              </a:rPr>
              <a:t>Wheels can be sized counteract cyclic torques terms but will eventually saturate from secular terms</a:t>
            </a:r>
          </a:p>
        </p:txBody>
      </p:sp>
      <p:sp>
        <p:nvSpPr>
          <p:cNvPr id="2" name="Title 1">
            <a:extLst>
              <a:ext uri="{FF2B5EF4-FFF2-40B4-BE49-F238E27FC236}">
                <a16:creationId xmlns:a16="http://schemas.microsoft.com/office/drawing/2014/main" id="{C9EE0698-0F2D-86DF-2FEB-1E3C50EF06E4}"/>
              </a:ext>
            </a:extLst>
          </p:cNvPr>
          <p:cNvSpPr>
            <a:spLocks noGrp="1"/>
          </p:cNvSpPr>
          <p:nvPr>
            <p:ph type="title"/>
          </p:nvPr>
        </p:nvSpPr>
        <p:spPr/>
        <p:txBody>
          <a:bodyPr/>
          <a:lstStyle/>
          <a:p>
            <a:r>
              <a:rPr lang="en-US" dirty="0"/>
              <a:t>Countering Disturbances</a:t>
            </a:r>
          </a:p>
        </p:txBody>
      </p:sp>
      <p:sp>
        <p:nvSpPr>
          <p:cNvPr id="4" name="Slide Number Placeholder 3">
            <a:extLst>
              <a:ext uri="{FF2B5EF4-FFF2-40B4-BE49-F238E27FC236}">
                <a16:creationId xmlns:a16="http://schemas.microsoft.com/office/drawing/2014/main" id="{FEB15D50-1EB4-1950-AE36-BB1EF722AEB2}"/>
              </a:ext>
            </a:extLst>
          </p:cNvPr>
          <p:cNvSpPr>
            <a:spLocks noGrp="1"/>
          </p:cNvSpPr>
          <p:nvPr>
            <p:ph type="sldNum" sz="quarter" idx="12"/>
          </p:nvPr>
        </p:nvSpPr>
        <p:spPr/>
        <p:txBody>
          <a:bodyPr/>
          <a:lstStyle/>
          <a:p>
            <a:fld id="{9A3029B7-FE6B-4680-9049-80E8298A0825}" type="slidenum">
              <a:rPr lang="en-US" smtClean="0"/>
              <a:t>30</a:t>
            </a:fld>
            <a:endParaRPr lang="en-US"/>
          </a:p>
        </p:txBody>
      </p:sp>
      <p:pic>
        <p:nvPicPr>
          <p:cNvPr id="5" name="Picture 4" descr="A group of black letters&#10;&#10;Description automatically generated">
            <a:extLst>
              <a:ext uri="{FF2B5EF4-FFF2-40B4-BE49-F238E27FC236}">
                <a16:creationId xmlns:a16="http://schemas.microsoft.com/office/drawing/2014/main" id="{CFA22D0D-E472-CF67-2936-D89D076F4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62" y="1962647"/>
            <a:ext cx="8767878" cy="1466353"/>
          </a:xfrm>
          <a:prstGeom prst="rect">
            <a:avLst/>
          </a:prstGeom>
        </p:spPr>
      </p:pic>
    </p:spTree>
    <p:extLst>
      <p:ext uri="{BB962C8B-B14F-4D97-AF65-F5344CB8AC3E}">
        <p14:creationId xmlns:p14="http://schemas.microsoft.com/office/powerpoint/2010/main" val="365596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9" end="9"/>
                                            </p:txEl>
                                          </p:spTgt>
                                        </p:tgtEl>
                                        <p:attrNameLst>
                                          <p:attrName>style.visibility</p:attrName>
                                        </p:attrNameLst>
                                      </p:cBhvr>
                                      <p:to>
                                        <p:strVal val="visible"/>
                                      </p:to>
                                    </p:set>
                                    <p:animEffect transition="in" filter="fade">
                                      <p:cBhvr>
                                        <p:cTn id="7" dur="500"/>
                                        <p:tgtEl>
                                          <p:spTgt spid="7">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1" end="11"/>
                                            </p:txEl>
                                          </p:spTgt>
                                        </p:tgtEl>
                                        <p:attrNameLst>
                                          <p:attrName>style.visibility</p:attrName>
                                        </p:attrNameLst>
                                      </p:cBhvr>
                                      <p:to>
                                        <p:strVal val="visible"/>
                                      </p:to>
                                    </p:set>
                                    <p:animEffect transition="in" filter="fade">
                                      <p:cBhvr>
                                        <p:cTn id="12"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7B286-1AAB-7201-E35B-5F8946E0C085}"/>
              </a:ext>
            </a:extLst>
          </p:cNvPr>
          <p:cNvSpPr>
            <a:spLocks noGrp="1"/>
          </p:cNvSpPr>
          <p:nvPr>
            <p:ph type="title"/>
          </p:nvPr>
        </p:nvSpPr>
        <p:spPr/>
        <p:txBody>
          <a:bodyPr>
            <a:normAutofit fontScale="90000"/>
          </a:bodyPr>
          <a:lstStyle/>
          <a:p>
            <a:r>
              <a:rPr lang="en-US" dirty="0">
                <a:solidFill>
                  <a:srgbClr val="C00000"/>
                </a:solidFill>
              </a:rPr>
              <a:t>Reaction Wheel Sizing – </a:t>
            </a:r>
            <a:br>
              <a:rPr lang="en-US" dirty="0">
                <a:solidFill>
                  <a:srgbClr val="C00000"/>
                </a:solidFill>
              </a:rPr>
            </a:br>
            <a:r>
              <a:rPr lang="en-US" dirty="0">
                <a:solidFill>
                  <a:srgbClr val="C00000"/>
                </a:solidFill>
              </a:rPr>
              <a:t>	Countering Disturbance Torques</a:t>
            </a:r>
          </a:p>
        </p:txBody>
      </p:sp>
      <p:sp>
        <p:nvSpPr>
          <p:cNvPr id="4" name="Slide Number Placeholder 3">
            <a:extLst>
              <a:ext uri="{FF2B5EF4-FFF2-40B4-BE49-F238E27FC236}">
                <a16:creationId xmlns:a16="http://schemas.microsoft.com/office/drawing/2014/main" id="{CE4E0A55-2C1B-01A6-CA08-7A3686AD7957}"/>
              </a:ext>
            </a:extLst>
          </p:cNvPr>
          <p:cNvSpPr>
            <a:spLocks noGrp="1"/>
          </p:cNvSpPr>
          <p:nvPr>
            <p:ph type="sldNum" sz="quarter" idx="12"/>
          </p:nvPr>
        </p:nvSpPr>
        <p:spPr/>
        <p:txBody>
          <a:bodyPr/>
          <a:lstStyle/>
          <a:p>
            <a:fld id="{9A3029B7-FE6B-4680-9049-80E8298A0825}" type="slidenum">
              <a:rPr lang="en-US" smtClean="0"/>
              <a:t>31</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7D3E564-4DB1-E25B-5036-F4E697E5FBFE}"/>
                  </a:ext>
                </a:extLst>
              </p:cNvPr>
              <p:cNvSpPr txBox="1">
                <a:spLocks/>
              </p:cNvSpPr>
              <p:nvPr/>
            </p:nvSpPr>
            <p:spPr>
              <a:xfrm>
                <a:off x="148688" y="1065680"/>
                <a:ext cx="8846624" cy="51191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C00000"/>
                    </a:solidFill>
                  </a:rPr>
                  <a:t>Reaction-wheel torque must equal worst-case anticipated disturbance torque plus some margin:</a:t>
                </a:r>
              </a:p>
              <a:p>
                <a:endParaRPr lang="en-US" dirty="0">
                  <a:solidFill>
                    <a:srgbClr val="C00000"/>
                  </a:solidFill>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𝑇</m:t>
                          </m:r>
                        </m:e>
                        <m:sub>
                          <m:r>
                            <a:rPr lang="en-US" i="1">
                              <a:solidFill>
                                <a:srgbClr val="C00000"/>
                              </a:solidFill>
                              <a:latin typeface="Cambria Math" panose="02040503050406030204" pitchFamily="18" charset="0"/>
                            </a:rPr>
                            <m:t>𝑅𝑊</m:t>
                          </m:r>
                        </m:sub>
                      </m:sSub>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𝑇</m:t>
                          </m:r>
                        </m:e>
                        <m:sub>
                          <m:r>
                            <a:rPr lang="en-US" i="1">
                              <a:solidFill>
                                <a:srgbClr val="C00000"/>
                              </a:solidFill>
                              <a:latin typeface="Cambria Math" panose="02040503050406030204" pitchFamily="18" charset="0"/>
                            </a:rPr>
                            <m:t>𝐷</m:t>
                          </m:r>
                        </m:sub>
                      </m:sSub>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𝑀𝑎𝑟𝑔𝑖𝑛</m:t>
                      </m:r>
                      <m:r>
                        <a:rPr lang="en-US" i="1">
                          <a:solidFill>
                            <a:srgbClr val="C00000"/>
                          </a:solidFill>
                          <a:latin typeface="Cambria Math" panose="02040503050406030204" pitchFamily="18" charset="0"/>
                        </a:rPr>
                        <m:t> </m:t>
                      </m:r>
                      <m:r>
                        <a:rPr lang="en-US" i="1">
                          <a:solidFill>
                            <a:srgbClr val="C00000"/>
                          </a:solidFill>
                          <a:latin typeface="Cambria Math" panose="02040503050406030204" pitchFamily="18" charset="0"/>
                        </a:rPr>
                        <m:t>𝐹𝑎𝑐𝑡𝑜𝑟</m:t>
                      </m:r>
                      <m:r>
                        <a:rPr lang="en-US" i="1">
                          <a:solidFill>
                            <a:srgbClr val="C00000"/>
                          </a:solidFill>
                          <a:latin typeface="Cambria Math" panose="02040503050406030204" pitchFamily="18" charset="0"/>
                        </a:rPr>
                        <m:t>)</m:t>
                      </m:r>
                    </m:oMath>
                  </m:oMathPara>
                </a14:m>
                <a:endParaRPr lang="en-US" dirty="0">
                  <a:solidFill>
                    <a:srgbClr val="C00000"/>
                  </a:solidFill>
                </a:endParaRPr>
              </a:p>
              <a:p>
                <a:pPr marL="0" indent="0">
                  <a:buFont typeface="Arial" panose="020B0604020202020204" pitchFamily="34" charset="0"/>
                  <a:buNone/>
                </a:pPr>
                <a:r>
                  <a:rPr lang="en-US" sz="2000" dirty="0">
                    <a:solidFill>
                      <a:srgbClr val="C00000"/>
                    </a:solidFill>
                  </a:rPr>
                  <a:t>Where:</a:t>
                </a:r>
              </a:p>
              <a:p>
                <a:pPr marL="0" indent="0">
                  <a:buNone/>
                </a:pPr>
                <a:r>
                  <a:rPr lang="en-US" sz="2000" dirty="0">
                    <a:solidFill>
                      <a:srgbClr val="C00000"/>
                    </a:solidFill>
                  </a:rPr>
                  <a:t>T</a:t>
                </a:r>
                <a:r>
                  <a:rPr lang="en-US" sz="2000" baseline="-25000" dirty="0">
                    <a:solidFill>
                      <a:srgbClr val="C00000"/>
                    </a:solidFill>
                  </a:rPr>
                  <a:t>RW</a:t>
                </a:r>
                <a:r>
                  <a:rPr lang="en-US" sz="2000" dirty="0">
                    <a:solidFill>
                      <a:srgbClr val="C00000"/>
                    </a:solidFill>
                  </a:rPr>
                  <a:t> = torque required of reaction wheel (</a:t>
                </a:r>
                <a:r>
                  <a:rPr lang="en-US" sz="2000" dirty="0" err="1">
                    <a:solidFill>
                      <a:srgbClr val="C00000"/>
                    </a:solidFill>
                  </a:rPr>
                  <a:t>N·m</a:t>
                </a:r>
                <a:r>
                  <a:rPr lang="en-US" sz="2000" dirty="0">
                    <a:solidFill>
                      <a:srgbClr val="C00000"/>
                    </a:solidFill>
                  </a:rPr>
                  <a:t>)			</a:t>
                </a:r>
              </a:p>
              <a:p>
                <a:pPr marL="0" indent="0">
                  <a:buNone/>
                </a:pPr>
                <a:r>
                  <a:rPr lang="en-US" sz="2000" dirty="0">
                    <a:solidFill>
                      <a:srgbClr val="C00000"/>
                    </a:solidFill>
                  </a:rPr>
                  <a:t>T</a:t>
                </a:r>
                <a:r>
                  <a:rPr lang="en-US" sz="2000" baseline="-25000" dirty="0">
                    <a:solidFill>
                      <a:srgbClr val="C00000"/>
                    </a:solidFill>
                  </a:rPr>
                  <a:t>D</a:t>
                </a:r>
                <a:r>
                  <a:rPr lang="en-US" sz="2000" dirty="0">
                    <a:solidFill>
                      <a:srgbClr val="C00000"/>
                    </a:solidFill>
                  </a:rPr>
                  <a:t> = sum of disturbance torques (</a:t>
                </a:r>
                <a:r>
                  <a:rPr lang="en-US" sz="2000" dirty="0" err="1">
                    <a:solidFill>
                      <a:srgbClr val="C00000"/>
                    </a:solidFill>
                  </a:rPr>
                  <a:t>N·m</a:t>
                </a:r>
                <a:r>
                  <a:rPr lang="en-US" sz="2000" dirty="0">
                    <a:solidFill>
                      <a:srgbClr val="C00000"/>
                    </a:solidFill>
                  </a:rPr>
                  <a:t>)</a:t>
                </a:r>
              </a:p>
              <a:p>
                <a:pPr marL="0" indent="0">
                  <a:buNone/>
                </a:pPr>
                <a:r>
                  <a:rPr lang="en-US" sz="2000" dirty="0">
                    <a:solidFill>
                      <a:srgbClr val="C00000"/>
                    </a:solidFill>
                  </a:rPr>
                  <a:t>Margin Factor = margin &gt; 1 (unitless)</a:t>
                </a:r>
              </a:p>
              <a:p>
                <a:pPr marL="0" indent="0">
                  <a:buNone/>
                </a:pPr>
                <a:endParaRPr lang="en-US" sz="2000" dirty="0">
                  <a:solidFill>
                    <a:srgbClr val="C00000"/>
                  </a:solidFill>
                </a:endParaRPr>
              </a:p>
              <a:p>
                <a:pPr marL="0" indent="0">
                  <a:buNone/>
                </a:pPr>
                <a:endParaRPr lang="en-US" sz="2000" dirty="0">
                  <a:solidFill>
                    <a:srgbClr val="C00000"/>
                  </a:solidFill>
                </a:endParaRPr>
              </a:p>
              <a:p>
                <a:pPr marL="0" indent="0">
                  <a:buNone/>
                </a:pPr>
                <a:endParaRPr lang="en-US" sz="2000" dirty="0">
                  <a:solidFill>
                    <a:srgbClr val="C00000"/>
                  </a:solidFill>
                </a:endParaRPr>
              </a:p>
              <a:p>
                <a:pPr marL="0" indent="0">
                  <a:buNone/>
                </a:pPr>
                <a:r>
                  <a:rPr lang="en-US" sz="2000" i="1" dirty="0">
                    <a:solidFill>
                      <a:srgbClr val="C00000"/>
                    </a:solidFill>
                  </a:rPr>
                  <a:t>*Typically torque required for disturbance rejection is not driving requirement*</a:t>
                </a:r>
                <a:endParaRPr lang="en-US" i="1" dirty="0">
                  <a:solidFill>
                    <a:srgbClr val="C00000"/>
                  </a:solidFill>
                </a:endParaRPr>
              </a:p>
            </p:txBody>
          </p:sp>
        </mc:Choice>
        <mc:Fallback xmlns="">
          <p:sp>
            <p:nvSpPr>
              <p:cNvPr id="5" name="Content Placeholder 2">
                <a:extLst>
                  <a:ext uri="{FF2B5EF4-FFF2-40B4-BE49-F238E27FC236}">
                    <a16:creationId xmlns:a16="http://schemas.microsoft.com/office/drawing/2014/main" id="{27D3E564-4DB1-E25B-5036-F4E697E5FBFE}"/>
                  </a:ext>
                </a:extLst>
              </p:cNvPr>
              <p:cNvSpPr txBox="1">
                <a:spLocks noRot="1" noChangeAspect="1" noMove="1" noResize="1" noEditPoints="1" noAdjustHandles="1" noChangeArrowheads="1" noChangeShapeType="1" noTextEdit="1"/>
              </p:cNvSpPr>
              <p:nvPr/>
            </p:nvSpPr>
            <p:spPr>
              <a:xfrm>
                <a:off x="148688" y="1065680"/>
                <a:ext cx="8846624" cy="5119128"/>
              </a:xfrm>
              <a:prstGeom prst="rect">
                <a:avLst/>
              </a:prstGeom>
              <a:blipFill>
                <a:blip r:embed="rId2"/>
                <a:stretch>
                  <a:fillRect l="-1377" t="-2143"/>
                </a:stretch>
              </a:blipFill>
            </p:spPr>
            <p:txBody>
              <a:bodyPr/>
              <a:lstStyle/>
              <a:p>
                <a:r>
                  <a:rPr lang="en-US">
                    <a:noFill/>
                  </a:rPr>
                  <a:t> </a:t>
                </a:r>
              </a:p>
            </p:txBody>
          </p:sp>
        </mc:Fallback>
      </mc:AlternateContent>
    </p:spTree>
    <p:extLst>
      <p:ext uri="{BB962C8B-B14F-4D97-AF65-F5344CB8AC3E}">
        <p14:creationId xmlns:p14="http://schemas.microsoft.com/office/powerpoint/2010/main" val="3129767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B050"/>
                </a:solidFill>
              </a:rPr>
              <a:t>Reaction Wheel Sizing – </a:t>
            </a:r>
            <a:br>
              <a:rPr lang="en-US" dirty="0">
                <a:solidFill>
                  <a:srgbClr val="00B050"/>
                </a:solidFill>
              </a:rPr>
            </a:br>
            <a:r>
              <a:rPr lang="en-US" dirty="0">
                <a:solidFill>
                  <a:srgbClr val="00B050"/>
                </a:solidFill>
              </a:rPr>
              <a:t>	Momentum Storage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5153" y="1039907"/>
                <a:ext cx="8928847" cy="5607474"/>
              </a:xfrm>
            </p:spPr>
            <p:txBody>
              <a:bodyPr>
                <a:normAutofit/>
              </a:bodyPr>
              <a:lstStyle/>
              <a:p>
                <a:pPr marL="0" indent="0">
                  <a:buNone/>
                </a:pPr>
                <a:r>
                  <a:rPr lang="en-US" sz="2100" dirty="0">
                    <a:solidFill>
                      <a:srgbClr val="00B050"/>
                    </a:solidFill>
                  </a:rPr>
                  <a:t>Reaction wheels absorb angular momentum from disturbances.</a:t>
                </a:r>
              </a:p>
              <a:p>
                <a:pPr marL="457200" lvl="1" indent="0">
                  <a:buNone/>
                </a:pPr>
                <a:r>
                  <a:rPr lang="en-US" sz="2000" dirty="0">
                    <a:solidFill>
                      <a:srgbClr val="00B050"/>
                    </a:solidFill>
                    <a:sym typeface="Wingdings" panose="05000000000000000000" pitchFamily="2" charset="2"/>
                  </a:rPr>
                  <a:t></a:t>
                </a:r>
                <a:r>
                  <a:rPr lang="en-US" sz="2000" dirty="0">
                    <a:solidFill>
                      <a:srgbClr val="00B050"/>
                    </a:solidFill>
                  </a:rPr>
                  <a:t>They must not saturate too quickly between momentum dumps/desaturation events.</a:t>
                </a:r>
              </a:p>
              <a:p>
                <a:pPr marL="0" indent="0">
                  <a:buNone/>
                </a:pPr>
                <a:endParaRPr lang="en-US" sz="2100" dirty="0">
                  <a:solidFill>
                    <a:srgbClr val="00B050"/>
                  </a:solidFill>
                </a:endParaRPr>
              </a:p>
              <a:p>
                <a:pPr marL="0" indent="0">
                  <a:buNone/>
                </a:pPr>
                <a:r>
                  <a:rPr lang="en-US" sz="2100" dirty="0">
                    <a:solidFill>
                      <a:srgbClr val="00B050"/>
                    </a:solidFill>
                  </a:rPr>
                  <a:t>To determine how much momentum a wheel must store (simplified):</a:t>
                </a:r>
              </a:p>
              <a:p>
                <a:pPr marL="0" indent="0">
                  <a:buNone/>
                </a:pPr>
                <a:endParaRPr lang="en-US" sz="2100" dirty="0">
                  <a:solidFill>
                    <a:srgbClr val="00B05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100" b="0" i="1" smtClean="0">
                              <a:solidFill>
                                <a:srgbClr val="00B050"/>
                              </a:solidFill>
                              <a:latin typeface="Cambria Math" panose="02040503050406030204" pitchFamily="18" charset="0"/>
                            </a:rPr>
                          </m:ctrlPr>
                        </m:sSubPr>
                        <m:e>
                          <m:r>
                            <a:rPr lang="en-US" sz="2100" b="0" i="1" smtClean="0">
                              <a:solidFill>
                                <a:srgbClr val="00B050"/>
                              </a:solidFill>
                              <a:latin typeface="Cambria Math" panose="02040503050406030204" pitchFamily="18" charset="0"/>
                            </a:rPr>
                            <m:t>𝐻</m:t>
                          </m:r>
                        </m:e>
                        <m:sub>
                          <m:r>
                            <a:rPr lang="en-US" sz="2100" b="0" i="1" smtClean="0">
                              <a:solidFill>
                                <a:srgbClr val="00B050"/>
                              </a:solidFill>
                              <a:latin typeface="Cambria Math" panose="02040503050406030204" pitchFamily="18" charset="0"/>
                            </a:rPr>
                            <m:t>𝑟𝑒𝑞</m:t>
                          </m:r>
                        </m:sub>
                      </m:sSub>
                      <m:r>
                        <a:rPr lang="en-US" sz="2100" i="1">
                          <a:solidFill>
                            <a:srgbClr val="00B050"/>
                          </a:solidFill>
                          <a:latin typeface="Cambria Math" panose="02040503050406030204" pitchFamily="18" charset="0"/>
                          <a:ea typeface="Cambria Math" panose="02040503050406030204" pitchFamily="18" charset="0"/>
                        </a:rPr>
                        <m:t>≥</m:t>
                      </m:r>
                      <m:sSub>
                        <m:sSubPr>
                          <m:ctrlPr>
                            <a:rPr lang="en-US" sz="2100" b="0" i="1" smtClean="0">
                              <a:solidFill>
                                <a:srgbClr val="00B050"/>
                              </a:solidFill>
                              <a:latin typeface="Cambria Math" panose="02040503050406030204" pitchFamily="18" charset="0"/>
                              <a:ea typeface="Cambria Math" panose="02040503050406030204" pitchFamily="18" charset="0"/>
                            </a:rPr>
                          </m:ctrlPr>
                        </m:sSubPr>
                        <m:e>
                          <m:r>
                            <a:rPr lang="en-US" sz="2100" b="0" i="1" smtClean="0">
                              <a:solidFill>
                                <a:srgbClr val="00B050"/>
                              </a:solidFill>
                              <a:latin typeface="Cambria Math" panose="02040503050406030204" pitchFamily="18" charset="0"/>
                              <a:ea typeface="Cambria Math" panose="02040503050406030204" pitchFamily="18" charset="0"/>
                            </a:rPr>
                            <m:t>𝑇</m:t>
                          </m:r>
                        </m:e>
                        <m:sub>
                          <m:r>
                            <a:rPr lang="en-US" sz="2100" b="0" i="1" smtClean="0">
                              <a:solidFill>
                                <a:srgbClr val="00B050"/>
                              </a:solidFill>
                              <a:latin typeface="Cambria Math" panose="02040503050406030204" pitchFamily="18" charset="0"/>
                              <a:ea typeface="Cambria Math" panose="02040503050406030204" pitchFamily="18" charset="0"/>
                            </a:rPr>
                            <m:t>𝑑𝑖𝑠𝑡</m:t>
                          </m:r>
                        </m:sub>
                      </m:sSub>
                      <m:r>
                        <m:rPr>
                          <m:sty m:val="p"/>
                        </m:rPr>
                        <a:rPr lang="en-US" sz="2100" b="0" i="0" smtClean="0">
                          <a:solidFill>
                            <a:srgbClr val="00B050"/>
                          </a:solidFill>
                          <a:latin typeface="Cambria Math" panose="02040503050406030204" pitchFamily="18" charset="0"/>
                          <a:ea typeface="Cambria Math" panose="02040503050406030204" pitchFamily="18" charset="0"/>
                        </a:rPr>
                        <m:t>Δ</m:t>
                      </m:r>
                      <m:r>
                        <a:rPr lang="en-US" sz="2100" b="0" i="1" smtClean="0">
                          <a:solidFill>
                            <a:srgbClr val="00B050"/>
                          </a:solidFill>
                          <a:latin typeface="Cambria Math" panose="02040503050406030204" pitchFamily="18" charset="0"/>
                          <a:ea typeface="Cambria Math" panose="02040503050406030204" pitchFamily="18" charset="0"/>
                        </a:rPr>
                        <m:t>𝑡</m:t>
                      </m:r>
                    </m:oMath>
                  </m:oMathPara>
                </a14:m>
                <a:endParaRPr lang="en-US" sz="2100" b="0" dirty="0">
                  <a:solidFill>
                    <a:srgbClr val="00B050"/>
                  </a:solidFill>
                  <a:ea typeface="Cambria Math" panose="02040503050406030204" pitchFamily="18" charset="0"/>
                </a:endParaRPr>
              </a:p>
              <a:p>
                <a:pPr marL="0" indent="0">
                  <a:buNone/>
                </a:pPr>
                <a:endParaRPr lang="en-US" sz="2100" b="0" dirty="0">
                  <a:solidFill>
                    <a:srgbClr val="00B050"/>
                  </a:solidFill>
                  <a:ea typeface="Cambria Math" panose="02040503050406030204" pitchFamily="18" charset="0"/>
                </a:endParaRPr>
              </a:p>
              <a:p>
                <a:pPr marL="0" indent="0">
                  <a:buNone/>
                </a:pPr>
                <a14:m>
                  <m:oMath xmlns:m="http://schemas.openxmlformats.org/officeDocument/2006/math">
                    <m:sSub>
                      <m:sSubPr>
                        <m:ctrlPr>
                          <a:rPr lang="en-US" sz="2100" i="1">
                            <a:solidFill>
                              <a:srgbClr val="00B050"/>
                            </a:solidFill>
                            <a:latin typeface="Cambria Math" panose="02040503050406030204" pitchFamily="18" charset="0"/>
                          </a:rPr>
                        </m:ctrlPr>
                      </m:sSubPr>
                      <m:e>
                        <m:r>
                          <a:rPr lang="en-US" sz="2100" i="1">
                            <a:solidFill>
                              <a:srgbClr val="00B050"/>
                            </a:solidFill>
                            <a:latin typeface="Cambria Math" panose="02040503050406030204" pitchFamily="18" charset="0"/>
                          </a:rPr>
                          <m:t>𝐻</m:t>
                        </m:r>
                      </m:e>
                      <m:sub>
                        <m:r>
                          <a:rPr lang="en-US" sz="2100" i="1">
                            <a:solidFill>
                              <a:srgbClr val="00B050"/>
                            </a:solidFill>
                            <a:latin typeface="Cambria Math" panose="02040503050406030204" pitchFamily="18" charset="0"/>
                          </a:rPr>
                          <m:t>𝑟𝑒𝑞</m:t>
                        </m:r>
                      </m:sub>
                    </m:sSub>
                  </m:oMath>
                </a14:m>
                <a:r>
                  <a:rPr lang="en-US" sz="2100" dirty="0">
                    <a:solidFill>
                      <a:srgbClr val="00B050"/>
                    </a:solidFill>
                  </a:rPr>
                  <a:t> = Required Momentum storage capability of reaction wheel (</a:t>
                </a:r>
                <a:r>
                  <a:rPr lang="en-US" sz="2100" dirty="0" err="1">
                    <a:solidFill>
                      <a:srgbClr val="00B050"/>
                    </a:solidFill>
                  </a:rPr>
                  <a:t>N·m·s</a:t>
                </a:r>
                <a:r>
                  <a:rPr lang="en-US" sz="2100" dirty="0">
                    <a:solidFill>
                      <a:srgbClr val="00B050"/>
                    </a:solidFill>
                  </a:rPr>
                  <a:t>)</a:t>
                </a:r>
              </a:p>
              <a:p>
                <a:pPr marL="0" indent="0">
                  <a:buNone/>
                </a:pPr>
                <a14:m>
                  <m:oMath xmlns:m="http://schemas.openxmlformats.org/officeDocument/2006/math">
                    <m:sSub>
                      <m:sSubPr>
                        <m:ctrlPr>
                          <a:rPr lang="en-US" sz="2100" i="1">
                            <a:solidFill>
                              <a:srgbClr val="00B050"/>
                            </a:solidFill>
                            <a:latin typeface="Cambria Math" panose="02040503050406030204" pitchFamily="18" charset="0"/>
                            <a:ea typeface="Cambria Math" panose="02040503050406030204" pitchFamily="18" charset="0"/>
                          </a:rPr>
                        </m:ctrlPr>
                      </m:sSubPr>
                      <m:e>
                        <m:r>
                          <a:rPr lang="en-US" sz="2100" i="1">
                            <a:solidFill>
                              <a:srgbClr val="00B050"/>
                            </a:solidFill>
                            <a:latin typeface="Cambria Math" panose="02040503050406030204" pitchFamily="18" charset="0"/>
                            <a:ea typeface="Cambria Math" panose="02040503050406030204" pitchFamily="18" charset="0"/>
                          </a:rPr>
                          <m:t>𝑇</m:t>
                        </m:r>
                      </m:e>
                      <m:sub>
                        <m:r>
                          <a:rPr lang="en-US" sz="2100" i="1">
                            <a:solidFill>
                              <a:srgbClr val="00B050"/>
                            </a:solidFill>
                            <a:latin typeface="Cambria Math" panose="02040503050406030204" pitchFamily="18" charset="0"/>
                            <a:ea typeface="Cambria Math" panose="02040503050406030204" pitchFamily="18" charset="0"/>
                          </a:rPr>
                          <m:t>𝑑𝑖𝑠𝑡</m:t>
                        </m:r>
                      </m:sub>
                    </m:sSub>
                  </m:oMath>
                </a14:m>
                <a:r>
                  <a:rPr lang="en-US" sz="2100" dirty="0">
                    <a:solidFill>
                      <a:srgbClr val="00B050"/>
                    </a:solidFill>
                  </a:rPr>
                  <a:t> = Sum of disturbances torques (</a:t>
                </a:r>
                <a:r>
                  <a:rPr lang="en-US" sz="2100" dirty="0" err="1">
                    <a:solidFill>
                      <a:srgbClr val="00B050"/>
                    </a:solidFill>
                  </a:rPr>
                  <a:t>N·m</a:t>
                </a:r>
                <a:r>
                  <a:rPr lang="en-US" sz="2100" dirty="0">
                    <a:solidFill>
                      <a:srgbClr val="00B050"/>
                    </a:solidFill>
                  </a:rPr>
                  <a:t>)</a:t>
                </a:r>
              </a:p>
              <a:p>
                <a:pPr marL="0" indent="0">
                  <a:buNone/>
                </a:pPr>
                <a14:m>
                  <m:oMath xmlns:m="http://schemas.openxmlformats.org/officeDocument/2006/math">
                    <m:r>
                      <m:rPr>
                        <m:sty m:val="p"/>
                      </m:rPr>
                      <a:rPr lang="en-US" sz="2100">
                        <a:solidFill>
                          <a:srgbClr val="00B050"/>
                        </a:solidFill>
                        <a:latin typeface="Cambria Math" panose="02040503050406030204" pitchFamily="18" charset="0"/>
                        <a:ea typeface="Cambria Math" panose="02040503050406030204" pitchFamily="18" charset="0"/>
                      </a:rPr>
                      <m:t>Δ</m:t>
                    </m:r>
                    <m:r>
                      <a:rPr lang="en-US" sz="2100" i="1">
                        <a:solidFill>
                          <a:srgbClr val="00B050"/>
                        </a:solidFill>
                        <a:latin typeface="Cambria Math" panose="02040503050406030204" pitchFamily="18" charset="0"/>
                        <a:ea typeface="Cambria Math" panose="02040503050406030204" pitchFamily="18" charset="0"/>
                      </a:rPr>
                      <m:t>𝑡</m:t>
                    </m:r>
                  </m:oMath>
                </a14:m>
                <a:r>
                  <a:rPr lang="en-US" sz="2100" dirty="0">
                    <a:solidFill>
                      <a:srgbClr val="00B050"/>
                    </a:solidFill>
                  </a:rPr>
                  <a:t> = maximum time between desaturation events</a:t>
                </a:r>
              </a:p>
              <a:p>
                <a:pPr marL="0" indent="0">
                  <a:buNone/>
                </a:pPr>
                <a:endParaRPr lang="en-US" sz="2100" dirty="0">
                  <a:solidFill>
                    <a:srgbClr val="00B050"/>
                  </a:solidFill>
                </a:endParaRPr>
              </a:p>
              <a:p>
                <a:pPr marL="0" indent="0">
                  <a:buNone/>
                </a:pPr>
                <a:r>
                  <a:rPr lang="en-US" sz="2100" b="1" i="1" dirty="0">
                    <a:solidFill>
                      <a:srgbClr val="00B050"/>
                    </a:solidFill>
                  </a:rPr>
                  <a:t>As a rough approximation, </a:t>
                </a:r>
                <a14:m>
                  <m:oMath xmlns:m="http://schemas.openxmlformats.org/officeDocument/2006/math">
                    <m:r>
                      <a:rPr lang="en-US" sz="2100" b="1" i="1">
                        <a:solidFill>
                          <a:srgbClr val="00B050"/>
                        </a:solidFill>
                        <a:latin typeface="Cambria Math" panose="02040503050406030204" pitchFamily="18" charset="0"/>
                        <a:ea typeface="Cambria Math" panose="02040503050406030204" pitchFamily="18" charset="0"/>
                      </a:rPr>
                      <m:t>𝜟</m:t>
                    </m:r>
                    <m:r>
                      <a:rPr lang="en-US" sz="2100" b="1" i="1">
                        <a:solidFill>
                          <a:srgbClr val="00B050"/>
                        </a:solidFill>
                        <a:latin typeface="Cambria Math" panose="02040503050406030204" pitchFamily="18" charset="0"/>
                        <a:ea typeface="Cambria Math" panose="02040503050406030204" pitchFamily="18" charset="0"/>
                      </a:rPr>
                      <m:t>𝒕</m:t>
                    </m:r>
                  </m:oMath>
                </a14:m>
                <a:r>
                  <a:rPr lang="en-US" sz="2100" b="1" i="1" dirty="0">
                    <a:solidFill>
                      <a:srgbClr val="00B050"/>
                    </a:solidFill>
                  </a:rPr>
                  <a:t> can be assumed to be one orbital period, due to cyclic nature of many disturbances.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5153" y="1039907"/>
                <a:ext cx="8928847" cy="5607474"/>
              </a:xfrm>
              <a:blipFill>
                <a:blip r:embed="rId2"/>
                <a:stretch>
                  <a:fillRect l="-819" t="-141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3DB90D8-6F0C-8B38-7018-2177B4E03CC3}"/>
              </a:ext>
            </a:extLst>
          </p:cNvPr>
          <p:cNvSpPr>
            <a:spLocks noGrp="1"/>
          </p:cNvSpPr>
          <p:nvPr>
            <p:ph type="sldNum" sz="quarter" idx="12"/>
          </p:nvPr>
        </p:nvSpPr>
        <p:spPr>
          <a:xfrm>
            <a:off x="7040236" y="6465106"/>
            <a:ext cx="2057400" cy="365125"/>
          </a:xfrm>
        </p:spPr>
        <p:txBody>
          <a:bodyPr/>
          <a:lstStyle/>
          <a:p>
            <a:fld id="{9A3029B7-FE6B-4680-9049-80E8298A0825}" type="slidenum">
              <a:rPr lang="en-US" smtClean="0"/>
              <a:t>32</a:t>
            </a:fld>
            <a:endParaRPr lang="en-US"/>
          </a:p>
        </p:txBody>
      </p:sp>
    </p:spTree>
    <p:extLst>
      <p:ext uri="{BB962C8B-B14F-4D97-AF65-F5344CB8AC3E}">
        <p14:creationId xmlns:p14="http://schemas.microsoft.com/office/powerpoint/2010/main" val="3745944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Effect transition="in" filter="fade">
                                      <p:cBhvr>
                                        <p:cTn id="1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70C0"/>
                </a:solidFill>
              </a:rPr>
              <a:t>Reaction Wheel Sizing – </a:t>
            </a:r>
            <a:br>
              <a:rPr lang="en-US" dirty="0">
                <a:solidFill>
                  <a:srgbClr val="0070C0"/>
                </a:solidFill>
              </a:rPr>
            </a:br>
            <a:r>
              <a:rPr lang="en-US" dirty="0">
                <a:solidFill>
                  <a:srgbClr val="0070C0"/>
                </a:solidFill>
              </a:rPr>
              <a:t>	Slew Maneuver Capability </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31168" y="1125926"/>
                <a:ext cx="8681663" cy="5598888"/>
              </a:xfrm>
            </p:spPr>
            <p:txBody>
              <a:bodyPr>
                <a:normAutofit/>
              </a:bodyPr>
              <a:lstStyle/>
              <a:p>
                <a:pPr marL="0" indent="0">
                  <a:buNone/>
                </a:pPr>
                <a:r>
                  <a:rPr lang="en-US" sz="2000" dirty="0">
                    <a:solidFill>
                      <a:srgbClr val="0070C0"/>
                    </a:solidFill>
                  </a:rPr>
                  <a:t>To size the wheel based on the maximum slew requirement, we assume that a maximum-acceleration slew indicates that the S/C will do half distance in half time, which yields:</a:t>
                </a:r>
              </a:p>
              <a:p>
                <a:pPr marL="0" indent="0">
                  <a:buNone/>
                </a:pPr>
                <a:endParaRPr lang="en-US" sz="2000" dirty="0">
                  <a:solidFill>
                    <a:srgbClr val="0070C0"/>
                  </a:solidFill>
                </a:endParaRPr>
              </a:p>
              <a:p>
                <a:pPr marL="0" indent="0">
                  <a:buNone/>
                </a:pPr>
                <a:endParaRPr lang="en-US" sz="2000" dirty="0">
                  <a:solidFill>
                    <a:srgbClr val="0070C0"/>
                  </a:solidFill>
                </a:endParaRPr>
              </a:p>
              <a:p>
                <a:pPr marL="0" indent="0">
                  <a:buNone/>
                </a:pPr>
                <a:r>
                  <a:rPr lang="en-US" sz="2000" dirty="0">
                    <a:solidFill>
                      <a:srgbClr val="0070C0"/>
                    </a:solidFill>
                  </a:rPr>
                  <a:t>	</a:t>
                </a:r>
                <a14:m>
                  <m:oMath xmlns:m="http://schemas.openxmlformats.org/officeDocument/2006/math">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𝑇</m:t>
                        </m:r>
                      </m:e>
                      <m:sub>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𝑅𝑊</m:t>
                            </m:r>
                          </m:e>
                          <m:sub>
                            <m:r>
                              <a:rPr lang="en-US" sz="2000" i="1">
                                <a:solidFill>
                                  <a:srgbClr val="0070C0"/>
                                </a:solidFill>
                                <a:latin typeface="Cambria Math" panose="02040503050406030204" pitchFamily="18" charset="0"/>
                              </a:rPr>
                              <m:t>𝑠𝑙𝑒𝑤</m:t>
                            </m:r>
                          </m:sub>
                        </m:sSub>
                      </m:sub>
                    </m:sSub>
                    <m:r>
                      <a:rPr lang="en-US" sz="2000" i="1">
                        <a:solidFill>
                          <a:srgbClr val="0070C0"/>
                        </a:solidFill>
                        <a:latin typeface="Cambria Math" panose="02040503050406030204" pitchFamily="18" charset="0"/>
                      </a:rPr>
                      <m:t>=</m:t>
                    </m:r>
                    <m:r>
                      <a:rPr lang="en-US" sz="2000" i="1">
                        <a:solidFill>
                          <a:srgbClr val="0070C0"/>
                        </a:solidFill>
                        <a:latin typeface="Cambria Math" panose="02040503050406030204" pitchFamily="18" charset="0"/>
                      </a:rPr>
                      <m:t>4</m:t>
                    </m:r>
                    <m:r>
                      <a:rPr lang="en-US" sz="2000" i="1">
                        <a:solidFill>
                          <a:srgbClr val="0070C0"/>
                        </a:solidFill>
                        <a:latin typeface="Cambria Math" panose="02040503050406030204" pitchFamily="18" charset="0"/>
                      </a:rPr>
                      <m:t>𝜃</m:t>
                    </m:r>
                    <m:f>
                      <m:fPr>
                        <m:ctrlPr>
                          <a:rPr lang="en-US" sz="2000" i="1">
                            <a:solidFill>
                              <a:srgbClr val="0070C0"/>
                            </a:solidFill>
                            <a:latin typeface="Cambria Math" panose="02040503050406030204" pitchFamily="18" charset="0"/>
                          </a:rPr>
                        </m:ctrlPr>
                      </m:fPr>
                      <m:num>
                        <m:r>
                          <a:rPr lang="en-US" sz="2000" i="1">
                            <a:solidFill>
                              <a:srgbClr val="0070C0"/>
                            </a:solidFill>
                            <a:latin typeface="Cambria Math" panose="02040503050406030204" pitchFamily="18" charset="0"/>
                          </a:rPr>
                          <m:t>𝐼</m:t>
                        </m:r>
                      </m:num>
                      <m:den>
                        <m:sSup>
                          <m:sSupPr>
                            <m:ctrlPr>
                              <a:rPr lang="en-US" sz="2000" i="1">
                                <a:solidFill>
                                  <a:srgbClr val="0070C0"/>
                                </a:solidFill>
                                <a:latin typeface="Cambria Math" panose="02040503050406030204" pitchFamily="18" charset="0"/>
                              </a:rPr>
                            </m:ctrlPr>
                          </m:sSupPr>
                          <m:e>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𝑡</m:t>
                                </m:r>
                              </m:e>
                              <m:sub>
                                <m:r>
                                  <a:rPr lang="en-US" sz="2000" i="1">
                                    <a:solidFill>
                                      <a:srgbClr val="0070C0"/>
                                    </a:solidFill>
                                    <a:latin typeface="Cambria Math" panose="02040503050406030204" pitchFamily="18" charset="0"/>
                                  </a:rPr>
                                  <m:t>𝑠𝑙𝑒𝑤</m:t>
                                </m:r>
                              </m:sub>
                            </m:sSub>
                          </m:e>
                          <m:sup>
                            <m:r>
                              <a:rPr lang="en-US" sz="2000" i="1">
                                <a:solidFill>
                                  <a:srgbClr val="0070C0"/>
                                </a:solidFill>
                                <a:latin typeface="Cambria Math" panose="02040503050406030204" pitchFamily="18" charset="0"/>
                              </a:rPr>
                              <m:t>2</m:t>
                            </m:r>
                          </m:sup>
                        </m:sSup>
                      </m:den>
                    </m:f>
                  </m:oMath>
                </a14:m>
                <a:endParaRPr lang="en-US" sz="2000" dirty="0">
                  <a:solidFill>
                    <a:srgbClr val="0070C0"/>
                  </a:solidFill>
                </a:endParaRPr>
              </a:p>
              <a:p>
                <a:pPr marL="0" indent="0">
                  <a:buNone/>
                </a:pPr>
                <a:endParaRPr lang="en-US" sz="2000" dirty="0">
                  <a:solidFill>
                    <a:srgbClr val="0070C0"/>
                  </a:solidFill>
                </a:endParaRPr>
              </a:p>
              <a:p>
                <a:pPr marL="0" indent="0">
                  <a:buNone/>
                </a:pPr>
                <a:endParaRPr lang="en-US" sz="2000" dirty="0">
                  <a:solidFill>
                    <a:srgbClr val="0070C0"/>
                  </a:solidFill>
                </a:endParaRPr>
              </a:p>
              <a:p>
                <a:pPr marL="0" indent="0">
                  <a:buNone/>
                </a:pPr>
                <a:r>
                  <a:rPr lang="en-US" sz="2000" dirty="0">
                    <a:solidFill>
                      <a:srgbClr val="0070C0"/>
                    </a:solidFill>
                  </a:rPr>
                  <a:t>Where:</a:t>
                </a:r>
              </a:p>
              <a:p>
                <a:pPr marL="0" indent="0">
                  <a:buNone/>
                </a:pPr>
                <a14:m>
                  <m:oMath xmlns:m="http://schemas.openxmlformats.org/officeDocument/2006/math">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𝑇</m:t>
                        </m:r>
                      </m:e>
                      <m:sub>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𝑅𝑊</m:t>
                            </m:r>
                          </m:e>
                          <m:sub>
                            <m:r>
                              <a:rPr lang="en-US" sz="2000" i="1">
                                <a:solidFill>
                                  <a:srgbClr val="0070C0"/>
                                </a:solidFill>
                                <a:latin typeface="Cambria Math" panose="02040503050406030204" pitchFamily="18" charset="0"/>
                              </a:rPr>
                              <m:t>𝑠𝑙𝑒𝑤</m:t>
                            </m:r>
                          </m:sub>
                        </m:sSub>
                      </m:sub>
                    </m:sSub>
                  </m:oMath>
                </a14:m>
                <a:r>
                  <a:rPr lang="en-US" sz="2000" dirty="0">
                    <a:solidFill>
                      <a:srgbClr val="0070C0"/>
                    </a:solidFill>
                  </a:rPr>
                  <a:t> = torque </a:t>
                </a:r>
                <a:r>
                  <a:rPr lang="en-US" sz="2000" dirty="0" err="1">
                    <a:solidFill>
                      <a:srgbClr val="0070C0"/>
                    </a:solidFill>
                  </a:rPr>
                  <a:t>req’d</a:t>
                </a:r>
                <a:r>
                  <a:rPr lang="en-US" sz="2000" dirty="0">
                    <a:solidFill>
                      <a:srgbClr val="0070C0"/>
                    </a:solidFill>
                  </a:rPr>
                  <a:t> by reaction wheel to perform slew maneuver (</a:t>
                </a:r>
                <a:r>
                  <a:rPr lang="en-US" sz="2000" dirty="0" err="1">
                    <a:solidFill>
                      <a:srgbClr val="0070C0"/>
                    </a:solidFill>
                  </a:rPr>
                  <a:t>N·m</a:t>
                </a:r>
                <a:r>
                  <a:rPr lang="en-US" sz="2000" dirty="0">
                    <a:solidFill>
                      <a:srgbClr val="0070C0"/>
                    </a:solidFill>
                  </a:rPr>
                  <a:t>)</a:t>
                </a:r>
              </a:p>
              <a:p>
                <a:pPr marL="0" indent="0">
                  <a:buNone/>
                </a:pPr>
                <a:r>
                  <a:rPr lang="en-US" sz="2000" dirty="0">
                    <a:solidFill>
                      <a:srgbClr val="0070C0"/>
                    </a:solidFill>
                  </a:rPr>
                  <a:t>θ = angular distance of slew (rad)</a:t>
                </a:r>
              </a:p>
              <a:p>
                <a:pPr marL="0" indent="0">
                  <a:buNone/>
                </a:pPr>
                <a:r>
                  <a:rPr lang="en-US" sz="2000" dirty="0" err="1">
                    <a:solidFill>
                      <a:srgbClr val="0070C0"/>
                    </a:solidFill>
                  </a:rPr>
                  <a:t>t</a:t>
                </a:r>
                <a:r>
                  <a:rPr lang="en-US" sz="2000" baseline="-25000" dirty="0" err="1">
                    <a:solidFill>
                      <a:srgbClr val="0070C0"/>
                    </a:solidFill>
                  </a:rPr>
                  <a:t>slew</a:t>
                </a:r>
                <a:r>
                  <a:rPr lang="en-US" sz="2000" dirty="0">
                    <a:solidFill>
                      <a:srgbClr val="0070C0"/>
                    </a:solidFill>
                  </a:rPr>
                  <a:t> = time required to perform slew maneuver (s)</a:t>
                </a:r>
              </a:p>
              <a:p>
                <a:pPr marL="0" indent="0">
                  <a:buNone/>
                </a:pPr>
                <a:r>
                  <a:rPr lang="en-US" sz="2000" dirty="0">
                    <a:solidFill>
                      <a:srgbClr val="0070C0"/>
                    </a:solidFill>
                  </a:rPr>
                  <a:t>I = mass moment of inertia of s/c about axis of slew maneuver (kg·m</a:t>
                </a:r>
                <a:r>
                  <a:rPr lang="en-US" sz="2000" baseline="30000" dirty="0">
                    <a:solidFill>
                      <a:srgbClr val="0070C0"/>
                    </a:solidFill>
                  </a:rPr>
                  <a:t>2</a:t>
                </a:r>
                <a:r>
                  <a:rPr lang="en-US" sz="2000" dirty="0">
                    <a:solidFill>
                      <a:srgbClr val="0070C0"/>
                    </a:solidFill>
                  </a:rPr>
                  <a:t>)</a:t>
                </a:r>
              </a:p>
              <a:p>
                <a:pPr marL="0" indent="0">
                  <a:buNone/>
                </a:pPr>
                <a:r>
                  <a:rPr lang="en-US" sz="2000" dirty="0">
                    <a:solidFill>
                      <a:srgbClr val="0070C0"/>
                    </a:solidFill>
                  </a:rPr>
                  <a:t>t = time it takes to perform slew maneuver (s)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31168" y="1125926"/>
                <a:ext cx="8681663" cy="5598888"/>
              </a:xfrm>
              <a:blipFill>
                <a:blip r:embed="rId2"/>
                <a:stretch>
                  <a:fillRect l="-772" t="-1089" r="-1334" b="-32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7ABA34C-01C2-ED02-4A5A-B5DCC9A9CCEB}"/>
              </a:ext>
            </a:extLst>
          </p:cNvPr>
          <p:cNvSpPr>
            <a:spLocks noGrp="1"/>
          </p:cNvSpPr>
          <p:nvPr>
            <p:ph type="sldNum" sz="quarter" idx="12"/>
          </p:nvPr>
        </p:nvSpPr>
        <p:spPr>
          <a:xfrm>
            <a:off x="7040236" y="6465106"/>
            <a:ext cx="2057400" cy="365125"/>
          </a:xfrm>
        </p:spPr>
        <p:txBody>
          <a:bodyPr/>
          <a:lstStyle/>
          <a:p>
            <a:fld id="{9A3029B7-FE6B-4680-9049-80E8298A0825}" type="slidenum">
              <a:rPr lang="en-US" smtClean="0"/>
              <a:t>33</a:t>
            </a:fld>
            <a:endParaRPr lang="en-US"/>
          </a:p>
        </p:txBody>
      </p:sp>
      <p:pic>
        <p:nvPicPr>
          <p:cNvPr id="6" name="Picture 5">
            <a:extLst>
              <a:ext uri="{FF2B5EF4-FFF2-40B4-BE49-F238E27FC236}">
                <a16:creationId xmlns:a16="http://schemas.microsoft.com/office/drawing/2014/main" id="{D552BBC9-57A8-8FD7-0CC2-CFEF9B63EFB5}"/>
              </a:ext>
            </a:extLst>
          </p:cNvPr>
          <p:cNvPicPr>
            <a:picLocks noChangeAspect="1"/>
          </p:cNvPicPr>
          <p:nvPr/>
        </p:nvPicPr>
        <p:blipFill>
          <a:blip r:embed="rId3">
            <a:duotone>
              <a:schemeClr val="accent4">
                <a:shade val="45000"/>
                <a:satMod val="135000"/>
              </a:schemeClr>
              <a:prstClr val="white"/>
            </a:duotone>
          </a:blip>
          <a:stretch>
            <a:fillRect/>
          </a:stretch>
        </p:blipFill>
        <p:spPr>
          <a:xfrm>
            <a:off x="4349578" y="2143793"/>
            <a:ext cx="3837064" cy="2200057"/>
          </a:xfrm>
          <a:prstGeom prst="rect">
            <a:avLst/>
          </a:prstGeom>
        </p:spPr>
      </p:pic>
    </p:spTree>
    <p:extLst>
      <p:ext uri="{BB962C8B-B14F-4D97-AF65-F5344CB8AC3E}">
        <p14:creationId xmlns:p14="http://schemas.microsoft.com/office/powerpoint/2010/main" val="3337258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Thruster Sizing (1/3)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1365" y="1039906"/>
                <a:ext cx="8353985" cy="5597199"/>
              </a:xfrm>
            </p:spPr>
            <p:txBody>
              <a:bodyPr>
                <a:normAutofit/>
              </a:bodyPr>
              <a:lstStyle/>
              <a:p>
                <a:pPr marL="0" indent="0">
                  <a:buNone/>
                </a:pPr>
                <a:r>
                  <a:rPr lang="en-US" dirty="0"/>
                  <a:t>To size thrusters to counter external disturbances: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𝐷</m:t>
                              </m:r>
                            </m:sub>
                          </m:sSub>
                        </m:num>
                        <m:den>
                          <m:r>
                            <a:rPr lang="en-US" i="1">
                              <a:latin typeface="Cambria Math" panose="02040503050406030204" pitchFamily="18" charset="0"/>
                            </a:rPr>
                            <m:t>𝐿</m:t>
                          </m:r>
                        </m:den>
                      </m:f>
                    </m:oMath>
                  </m:oMathPara>
                </a14:m>
                <a:endParaRPr lang="en-US" dirty="0"/>
              </a:p>
              <a:p>
                <a:pPr marL="0" indent="0">
                  <a:buNone/>
                </a:pPr>
                <a:r>
                  <a:rPr lang="en-US" sz="2000" dirty="0"/>
                  <a:t>Where </a:t>
                </a:r>
              </a:p>
              <a:p>
                <a:pPr marL="0" indent="0">
                  <a:buNone/>
                </a:pPr>
                <a:r>
                  <a:rPr lang="en-US" sz="2000" dirty="0"/>
                  <a:t>F</a:t>
                </a:r>
                <a:r>
                  <a:rPr lang="en-US" sz="2000" baseline="-25000" dirty="0"/>
                  <a:t>t</a:t>
                </a:r>
                <a:r>
                  <a:rPr lang="en-US" sz="2000" dirty="0"/>
                  <a:t> = force required by thruster (N)</a:t>
                </a:r>
              </a:p>
              <a:p>
                <a:pPr marL="0" indent="0">
                  <a:buNone/>
                </a:pPr>
                <a:r>
                  <a:rPr lang="en-US" sz="2000" dirty="0"/>
                  <a:t>T</a:t>
                </a:r>
                <a:r>
                  <a:rPr lang="en-US" sz="2000" baseline="-25000" dirty="0"/>
                  <a:t>D</a:t>
                </a:r>
                <a:r>
                  <a:rPr lang="en-US" sz="2000" dirty="0"/>
                  <a:t> = sum of disturbance torques (</a:t>
                </a:r>
                <a:r>
                  <a:rPr lang="en-US" sz="2000" dirty="0" err="1"/>
                  <a:t>N·m</a:t>
                </a:r>
                <a:r>
                  <a:rPr lang="en-US" sz="2000" dirty="0"/>
                  <a:t>)</a:t>
                </a:r>
              </a:p>
              <a:p>
                <a:pPr marL="0" indent="0">
                  <a:buNone/>
                </a:pPr>
                <a:r>
                  <a:rPr lang="en-US" sz="2000" dirty="0"/>
                  <a:t>L = thruster’s moment arm (m)</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1365" y="1039906"/>
                <a:ext cx="8353985" cy="5597199"/>
              </a:xfrm>
              <a:blipFill>
                <a:blip r:embed="rId2"/>
                <a:stretch>
                  <a:fillRect l="-1459" t="-1961"/>
                </a:stretch>
              </a:blipFill>
            </p:spPr>
            <p:txBody>
              <a:bodyPr/>
              <a:lstStyle/>
              <a:p>
                <a:r>
                  <a:rPr lang="en-US">
                    <a:noFill/>
                  </a:rPr>
                  <a:t> </a:t>
                </a:r>
              </a:p>
            </p:txBody>
          </p:sp>
        </mc:Fallback>
      </mc:AlternateContent>
    </p:spTree>
    <p:extLst>
      <p:ext uri="{BB962C8B-B14F-4D97-AF65-F5344CB8AC3E}">
        <p14:creationId xmlns:p14="http://schemas.microsoft.com/office/powerpoint/2010/main" val="1859066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Thruster Sizing (2/3)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506" y="1093694"/>
                <a:ext cx="8389844" cy="5543411"/>
              </a:xfrm>
            </p:spPr>
            <p:txBody>
              <a:bodyPr>
                <a:normAutofit/>
              </a:bodyPr>
              <a:lstStyle/>
              <a:p>
                <a:pPr marL="0" indent="0">
                  <a:buNone/>
                </a:pPr>
                <a:r>
                  <a:rPr lang="en-US" dirty="0"/>
                  <a:t>To size thrusters for momentum dumping:</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𝑑𝑢𝑚𝑝</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h</m:t>
                          </m:r>
                        </m:num>
                        <m:den>
                          <m:r>
                            <a:rPr lang="en-US" i="1">
                              <a:latin typeface="Cambria Math" panose="02040503050406030204" pitchFamily="18" charset="0"/>
                            </a:rPr>
                            <m:t>𝐿𝑡</m:t>
                          </m:r>
                        </m:den>
                      </m:f>
                    </m:oMath>
                  </m:oMathPara>
                </a14:m>
                <a:endParaRPr lang="en-US" dirty="0"/>
              </a:p>
              <a:p>
                <a:pPr marL="0" indent="0">
                  <a:buNone/>
                </a:pPr>
                <a:r>
                  <a:rPr lang="en-US" sz="2000" dirty="0"/>
                  <a:t>Where:</a:t>
                </a:r>
              </a:p>
              <a:p>
                <a:pPr marL="0" indent="0">
                  <a:buNone/>
                </a:pPr>
                <a:r>
                  <a:rPr lang="en-US" sz="2000" dirty="0" err="1"/>
                  <a:t>F</a:t>
                </a:r>
                <a:r>
                  <a:rPr lang="en-US" sz="2000" baseline="-25000" dirty="0" err="1"/>
                  <a:t>dump</a:t>
                </a:r>
                <a:r>
                  <a:rPr lang="en-US" sz="2000" dirty="0"/>
                  <a:t> = force required by thruster for momentum dumping (N)</a:t>
                </a:r>
              </a:p>
              <a:p>
                <a:pPr marL="0" indent="0">
                  <a:buNone/>
                </a:pPr>
                <a:r>
                  <a:rPr lang="en-US" sz="2000" dirty="0"/>
                  <a:t>h = excess angular momentum to be dumped (</a:t>
                </a:r>
                <a:r>
                  <a:rPr lang="en-US" sz="2000" dirty="0" err="1"/>
                  <a:t>N·m·s</a:t>
                </a:r>
                <a:r>
                  <a:rPr lang="en-US" sz="2000" dirty="0"/>
                  <a:t>)</a:t>
                </a:r>
              </a:p>
              <a:p>
                <a:pPr marL="0" indent="0">
                  <a:buNone/>
                </a:pPr>
                <a:r>
                  <a:rPr lang="en-US" sz="2000" dirty="0"/>
                  <a:t>L = thruster’s moment arm (m)</a:t>
                </a:r>
              </a:p>
              <a:p>
                <a:pPr marL="0" indent="0">
                  <a:buNone/>
                </a:pPr>
                <a:r>
                  <a:rPr lang="en-US" sz="2000" dirty="0"/>
                  <a:t>t = burn time (s)</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506" y="1093694"/>
                <a:ext cx="8389844" cy="5543411"/>
              </a:xfrm>
              <a:blipFill>
                <a:blip r:embed="rId2"/>
                <a:stretch>
                  <a:fillRect l="-1526" t="-1868"/>
                </a:stretch>
              </a:blipFill>
            </p:spPr>
            <p:txBody>
              <a:bodyPr/>
              <a:lstStyle/>
              <a:p>
                <a:r>
                  <a:rPr lang="en-US">
                    <a:noFill/>
                  </a:rPr>
                  <a:t> </a:t>
                </a:r>
              </a:p>
            </p:txBody>
          </p:sp>
        </mc:Fallback>
      </mc:AlternateContent>
    </p:spTree>
    <p:extLst>
      <p:ext uri="{BB962C8B-B14F-4D97-AF65-F5344CB8AC3E}">
        <p14:creationId xmlns:p14="http://schemas.microsoft.com/office/powerpoint/2010/main" val="1571926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BB6A-CA1B-3364-EDD6-206FCAD55D6E}"/>
              </a:ext>
            </a:extLst>
          </p:cNvPr>
          <p:cNvSpPr>
            <a:spLocks noGrp="1"/>
          </p:cNvSpPr>
          <p:nvPr>
            <p:ph type="title"/>
          </p:nvPr>
        </p:nvSpPr>
        <p:spPr/>
        <p:txBody>
          <a:bodyPr/>
          <a:lstStyle/>
          <a:p>
            <a:r>
              <a:rPr lang="en-US" dirty="0"/>
              <a:t>ADCS Sizing Summary</a:t>
            </a:r>
          </a:p>
        </p:txBody>
      </p:sp>
      <p:sp>
        <p:nvSpPr>
          <p:cNvPr id="4" name="Slide Number Placeholder 3">
            <a:extLst>
              <a:ext uri="{FF2B5EF4-FFF2-40B4-BE49-F238E27FC236}">
                <a16:creationId xmlns:a16="http://schemas.microsoft.com/office/drawing/2014/main" id="{20FC0F19-1C6C-F23C-D902-CF088C13BAFD}"/>
              </a:ext>
            </a:extLst>
          </p:cNvPr>
          <p:cNvSpPr>
            <a:spLocks noGrp="1"/>
          </p:cNvSpPr>
          <p:nvPr>
            <p:ph type="sldNum" sz="quarter" idx="12"/>
          </p:nvPr>
        </p:nvSpPr>
        <p:spPr/>
        <p:txBody>
          <a:bodyPr/>
          <a:lstStyle/>
          <a:p>
            <a:fld id="{9A3029B7-FE6B-4680-9049-80E8298A0825}" type="slidenum">
              <a:rPr lang="en-US" smtClean="0"/>
              <a:t>36</a:t>
            </a:fld>
            <a:endParaRPr lang="en-US"/>
          </a:p>
        </p:txBody>
      </p:sp>
      <p:sp>
        <p:nvSpPr>
          <p:cNvPr id="5" name="Content Placeholder 4">
            <a:extLst>
              <a:ext uri="{FF2B5EF4-FFF2-40B4-BE49-F238E27FC236}">
                <a16:creationId xmlns:a16="http://schemas.microsoft.com/office/drawing/2014/main" id="{94117B60-1D44-F297-1059-3AB0EF45C597}"/>
              </a:ext>
            </a:extLst>
          </p:cNvPr>
          <p:cNvSpPr txBox="1">
            <a:spLocks noGrp="1"/>
          </p:cNvSpPr>
          <p:nvPr>
            <p:ph idx="1"/>
          </p:nvPr>
        </p:nvSpPr>
        <p:spPr>
          <a:xfrm>
            <a:off x="234819" y="1224135"/>
            <a:ext cx="8662046" cy="4999317"/>
          </a:xfrm>
          <a:prstGeom prst="rect">
            <a:avLst/>
          </a:prstGeom>
          <a:noFill/>
        </p:spPr>
        <p:txBody>
          <a:bodyPr wrap="square" rtlCol="0">
            <a:spAutoFit/>
          </a:bodyPr>
          <a:lstStyle/>
          <a:p>
            <a:pPr marL="0" indent="0" algn="l">
              <a:buNone/>
            </a:pPr>
            <a:r>
              <a:rPr lang="en-US" b="1" dirty="0">
                <a:latin typeface="-apple-system"/>
              </a:rPr>
              <a:t>R</a:t>
            </a:r>
            <a:r>
              <a:rPr lang="en-US" b="1" i="0" dirty="0">
                <a:effectLst/>
                <a:latin typeface="-apple-system"/>
              </a:rPr>
              <a:t>eaction wheel sizing</a:t>
            </a:r>
          </a:p>
          <a:p>
            <a:pPr lvl="1">
              <a:buFont typeface="Arial" panose="020B0604020202020204" pitchFamily="34" charset="0"/>
              <a:buChar char="•"/>
            </a:pPr>
            <a:r>
              <a:rPr lang="en-US" sz="2800" b="0" i="0" dirty="0">
                <a:solidFill>
                  <a:srgbClr val="C00000"/>
                </a:solidFill>
                <a:effectLst/>
                <a:latin typeface="-apple-system"/>
              </a:rPr>
              <a:t>Reaction </a:t>
            </a:r>
            <a:r>
              <a:rPr lang="en-US" sz="2800" dirty="0">
                <a:solidFill>
                  <a:srgbClr val="C00000"/>
                </a:solidFill>
                <a:latin typeface="-apple-system"/>
              </a:rPr>
              <a:t>wheel t</a:t>
            </a:r>
            <a:r>
              <a:rPr lang="en-US" sz="2800" b="0" i="0" dirty="0">
                <a:solidFill>
                  <a:srgbClr val="C00000"/>
                </a:solidFill>
                <a:effectLst/>
                <a:latin typeface="-apple-system"/>
              </a:rPr>
              <a:t>orque &gt; disturbance torques</a:t>
            </a:r>
          </a:p>
          <a:p>
            <a:pPr lvl="1">
              <a:buFont typeface="Arial" panose="020B0604020202020204" pitchFamily="34" charset="0"/>
              <a:buChar char="•"/>
            </a:pPr>
            <a:r>
              <a:rPr lang="en-US" sz="2800" b="0" i="0" dirty="0">
                <a:solidFill>
                  <a:srgbClr val="00B050"/>
                </a:solidFill>
                <a:effectLst/>
                <a:latin typeface="-apple-system"/>
              </a:rPr>
              <a:t>Wheel stores sufficient momentum (at least one orbit’s worth)</a:t>
            </a:r>
          </a:p>
          <a:p>
            <a:pPr lvl="1"/>
            <a:r>
              <a:rPr lang="en-US" sz="2800" dirty="0">
                <a:solidFill>
                  <a:srgbClr val="0070C0"/>
                </a:solidFill>
                <a:latin typeface="-apple-system"/>
              </a:rPr>
              <a:t>Torque meets slew rate requirement</a:t>
            </a:r>
            <a:endParaRPr lang="en-US" sz="2800" b="0" i="0" dirty="0">
              <a:solidFill>
                <a:srgbClr val="0070C0"/>
              </a:solidFill>
              <a:effectLst/>
              <a:latin typeface="-apple-system"/>
            </a:endParaRPr>
          </a:p>
          <a:p>
            <a:pPr lvl="1">
              <a:buFont typeface="Arial" panose="020B0604020202020204" pitchFamily="34" charset="0"/>
              <a:buChar char="•"/>
            </a:pPr>
            <a:endParaRPr lang="en-US" sz="2800" b="0" i="0" dirty="0">
              <a:effectLst/>
              <a:latin typeface="-apple-system"/>
            </a:endParaRPr>
          </a:p>
          <a:p>
            <a:pPr marL="457200" lvl="1" indent="0">
              <a:buNone/>
            </a:pPr>
            <a:endParaRPr lang="en-US" sz="2800" b="0" i="0" dirty="0">
              <a:effectLst/>
              <a:latin typeface="-apple-system"/>
            </a:endParaRPr>
          </a:p>
          <a:p>
            <a:pPr marL="0" indent="0" algn="l">
              <a:buNone/>
            </a:pPr>
            <a:r>
              <a:rPr lang="en-US" b="1" i="0" dirty="0">
                <a:effectLst/>
                <a:latin typeface="-apple-system"/>
              </a:rPr>
              <a:t>External actuator sizing</a:t>
            </a:r>
          </a:p>
          <a:p>
            <a:pPr lvl="1">
              <a:buFont typeface="Arial" panose="020B0604020202020204" pitchFamily="34" charset="0"/>
              <a:buChar char="•"/>
            </a:pPr>
            <a:r>
              <a:rPr lang="en-US" sz="2800" b="0" i="0" dirty="0">
                <a:effectLst/>
                <a:latin typeface="-apple-system"/>
              </a:rPr>
              <a:t>Actuator torque &gt; disturbance torques (generally a trivial requirement)</a:t>
            </a:r>
          </a:p>
          <a:p>
            <a:endParaRPr lang="en-US" dirty="0"/>
          </a:p>
        </p:txBody>
      </p:sp>
    </p:spTree>
    <p:extLst>
      <p:ext uri="{BB962C8B-B14F-4D97-AF65-F5344CB8AC3E}">
        <p14:creationId xmlns:p14="http://schemas.microsoft.com/office/powerpoint/2010/main" val="3776957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413496" y="1162234"/>
            <a:ext cx="8192621" cy="5310283"/>
          </a:xfrm>
        </p:spPr>
        <p:txBody>
          <a:bodyPr>
            <a:normAutofit fontScale="55000" lnSpcReduction="20000"/>
          </a:bodyPr>
          <a:lstStyle/>
          <a:p>
            <a:pPr marL="0" indent="0">
              <a:buNone/>
            </a:pPr>
            <a:r>
              <a:rPr lang="en-US" sz="3300" b="1" dirty="0">
                <a:solidFill>
                  <a:srgbClr val="0000FF"/>
                </a:solidFill>
              </a:rPr>
              <a:t>Given:</a:t>
            </a:r>
            <a:r>
              <a:rPr lang="en-US" sz="3300" dirty="0">
                <a:solidFill>
                  <a:srgbClr val="0000FF"/>
                </a:solidFill>
              </a:rPr>
              <a:t>	</a:t>
            </a:r>
          </a:p>
          <a:p>
            <a:pPr marL="0" indent="0">
              <a:buNone/>
            </a:pPr>
            <a:r>
              <a:rPr lang="en-US" sz="3300" dirty="0">
                <a:solidFill>
                  <a:srgbClr val="0000FF"/>
                </a:solidFill>
              </a:rPr>
              <a:t>S/C mass = 174 kg</a:t>
            </a:r>
          </a:p>
          <a:p>
            <a:pPr marL="0" indent="0">
              <a:buNone/>
            </a:pPr>
            <a:r>
              <a:rPr lang="en-US" sz="3300" dirty="0">
                <a:solidFill>
                  <a:srgbClr val="0000FF"/>
                </a:solidFill>
              </a:rPr>
              <a:t>I</a:t>
            </a:r>
            <a:r>
              <a:rPr lang="en-US" sz="3300" baseline="-25000" dirty="0">
                <a:solidFill>
                  <a:srgbClr val="0000FF"/>
                </a:solidFill>
              </a:rPr>
              <a:t>x</a:t>
            </a:r>
            <a:r>
              <a:rPr lang="en-US" sz="3300" dirty="0">
                <a:solidFill>
                  <a:srgbClr val="0000FF"/>
                </a:solidFill>
              </a:rPr>
              <a:t> = I</a:t>
            </a:r>
            <a:r>
              <a:rPr lang="en-US" sz="3300" baseline="-25000" dirty="0">
                <a:solidFill>
                  <a:srgbClr val="0000FF"/>
                </a:solidFill>
              </a:rPr>
              <a:t>z</a:t>
            </a:r>
            <a:r>
              <a:rPr lang="en-US" sz="3300" dirty="0">
                <a:solidFill>
                  <a:srgbClr val="0000FF"/>
                </a:solidFill>
              </a:rPr>
              <a:t> = 75 kg∙m</a:t>
            </a:r>
            <a:r>
              <a:rPr lang="en-US" sz="3300" baseline="30000" dirty="0">
                <a:solidFill>
                  <a:srgbClr val="0000FF"/>
                </a:solidFill>
              </a:rPr>
              <a:t>2</a:t>
            </a:r>
            <a:r>
              <a:rPr lang="en-US" sz="3300" dirty="0">
                <a:solidFill>
                  <a:srgbClr val="0000FF"/>
                </a:solidFill>
              </a:rPr>
              <a:t> </a:t>
            </a:r>
          </a:p>
          <a:p>
            <a:pPr marL="0" indent="0">
              <a:buNone/>
            </a:pPr>
            <a:r>
              <a:rPr lang="en-US" sz="3300" dirty="0" err="1">
                <a:solidFill>
                  <a:srgbClr val="0000FF"/>
                </a:solidFill>
              </a:rPr>
              <a:t>I</a:t>
            </a:r>
            <a:r>
              <a:rPr lang="en-US" sz="3300" baseline="-25000" dirty="0" err="1">
                <a:solidFill>
                  <a:srgbClr val="0000FF"/>
                </a:solidFill>
              </a:rPr>
              <a:t>y</a:t>
            </a:r>
            <a:r>
              <a:rPr lang="en-US" sz="3300" dirty="0">
                <a:solidFill>
                  <a:srgbClr val="0000FF"/>
                </a:solidFill>
              </a:rPr>
              <a:t> = 45 kg∙m</a:t>
            </a:r>
            <a:r>
              <a:rPr lang="en-US" sz="3300" baseline="30000" dirty="0">
                <a:solidFill>
                  <a:srgbClr val="0000FF"/>
                </a:solidFill>
              </a:rPr>
              <a:t>2</a:t>
            </a:r>
            <a:r>
              <a:rPr lang="en-US" sz="3300" dirty="0">
                <a:solidFill>
                  <a:srgbClr val="0000FF"/>
                </a:solidFill>
              </a:rPr>
              <a:t> </a:t>
            </a:r>
          </a:p>
          <a:p>
            <a:pPr marL="0" indent="0">
              <a:buNone/>
            </a:pPr>
            <a:r>
              <a:rPr lang="en-US" sz="3300" dirty="0">
                <a:solidFill>
                  <a:srgbClr val="0000FF"/>
                </a:solidFill>
              </a:rPr>
              <a:t>S/C cross-sectional area, A</a:t>
            </a:r>
            <a:r>
              <a:rPr lang="en-US" sz="3300" baseline="-25000" dirty="0">
                <a:solidFill>
                  <a:srgbClr val="0000FF"/>
                </a:solidFill>
              </a:rPr>
              <a:t>s</a:t>
            </a:r>
            <a:r>
              <a:rPr lang="en-US" sz="3300" dirty="0">
                <a:solidFill>
                  <a:srgbClr val="0000FF"/>
                </a:solidFill>
              </a:rPr>
              <a:t> = 2 m</a:t>
            </a:r>
            <a:r>
              <a:rPr lang="en-US" sz="3300" baseline="30000" dirty="0">
                <a:solidFill>
                  <a:srgbClr val="0000FF"/>
                </a:solidFill>
              </a:rPr>
              <a:t>2</a:t>
            </a:r>
            <a:r>
              <a:rPr lang="en-US" sz="3300" dirty="0">
                <a:solidFill>
                  <a:srgbClr val="0000FF"/>
                </a:solidFill>
              </a:rPr>
              <a:t> </a:t>
            </a:r>
          </a:p>
          <a:p>
            <a:pPr marL="0" indent="0">
              <a:buNone/>
            </a:pPr>
            <a:r>
              <a:rPr lang="en-US" sz="3300" dirty="0">
                <a:solidFill>
                  <a:srgbClr val="0000FF"/>
                </a:solidFill>
              </a:rPr>
              <a:t>coefficient of drag, C</a:t>
            </a:r>
            <a:r>
              <a:rPr lang="en-US" sz="3300" baseline="-25000" dirty="0">
                <a:solidFill>
                  <a:srgbClr val="0000FF"/>
                </a:solidFill>
              </a:rPr>
              <a:t>d</a:t>
            </a:r>
            <a:r>
              <a:rPr lang="en-US" sz="3300" dirty="0">
                <a:solidFill>
                  <a:srgbClr val="0000FF"/>
                </a:solidFill>
              </a:rPr>
              <a:t> = 2.5</a:t>
            </a:r>
          </a:p>
          <a:p>
            <a:pPr marL="0" indent="0">
              <a:buNone/>
            </a:pPr>
            <a:r>
              <a:rPr lang="en-US" sz="3300" dirty="0">
                <a:solidFill>
                  <a:srgbClr val="0000FF"/>
                </a:solidFill>
              </a:rPr>
              <a:t>atmospheric density at 700 km altitude: </a:t>
            </a:r>
            <a:r>
              <a:rPr lang="el-GR" sz="3300" dirty="0">
                <a:solidFill>
                  <a:srgbClr val="0000FF"/>
                </a:solidFill>
              </a:rPr>
              <a:t>ρ</a:t>
            </a:r>
            <a:r>
              <a:rPr lang="en-US" sz="3300" dirty="0">
                <a:solidFill>
                  <a:srgbClr val="0000FF"/>
                </a:solidFill>
              </a:rPr>
              <a:t> = 1.47x10</a:t>
            </a:r>
            <a:r>
              <a:rPr lang="en-US" sz="3300" baseline="30000" dirty="0">
                <a:solidFill>
                  <a:srgbClr val="0000FF"/>
                </a:solidFill>
              </a:rPr>
              <a:t>-13</a:t>
            </a:r>
            <a:r>
              <a:rPr lang="en-US" sz="3300" dirty="0">
                <a:solidFill>
                  <a:srgbClr val="0000FF"/>
                </a:solidFill>
              </a:rPr>
              <a:t> kg/m</a:t>
            </a:r>
            <a:r>
              <a:rPr lang="en-US" sz="3300" baseline="30000" dirty="0">
                <a:solidFill>
                  <a:srgbClr val="0000FF"/>
                </a:solidFill>
              </a:rPr>
              <a:t>3</a:t>
            </a:r>
            <a:r>
              <a:rPr lang="en-US" sz="3300" dirty="0">
                <a:solidFill>
                  <a:srgbClr val="0000FF"/>
                </a:solidFill>
              </a:rPr>
              <a:t> </a:t>
            </a:r>
          </a:p>
          <a:p>
            <a:pPr marL="0" indent="0">
              <a:buNone/>
            </a:pPr>
            <a:r>
              <a:rPr lang="en-US" sz="3300" dirty="0">
                <a:solidFill>
                  <a:srgbClr val="0000FF"/>
                </a:solidFill>
              </a:rPr>
              <a:t>Maximum deviation from nadir-pointing = 30 </a:t>
            </a:r>
            <a:r>
              <a:rPr lang="en-US" sz="3300" dirty="0" err="1">
                <a:solidFill>
                  <a:srgbClr val="0000FF"/>
                </a:solidFill>
              </a:rPr>
              <a:t>deg</a:t>
            </a:r>
            <a:endParaRPr lang="en-US" sz="3300" dirty="0">
              <a:solidFill>
                <a:srgbClr val="0000FF"/>
              </a:solidFill>
            </a:endParaRPr>
          </a:p>
          <a:p>
            <a:pPr marL="0" indent="0">
              <a:buNone/>
            </a:pPr>
            <a:r>
              <a:rPr lang="en-US" sz="3300" dirty="0">
                <a:solidFill>
                  <a:srgbClr val="0000FF"/>
                </a:solidFill>
              </a:rPr>
              <a:t>(</a:t>
            </a:r>
            <a:r>
              <a:rPr lang="en-US" sz="3300" dirty="0" err="1">
                <a:solidFill>
                  <a:srgbClr val="0000FF"/>
                </a:solidFill>
              </a:rPr>
              <a:t>c</a:t>
            </a:r>
            <a:r>
              <a:rPr lang="en-US" sz="3300" baseline="-25000" dirty="0" err="1">
                <a:solidFill>
                  <a:srgbClr val="0000FF"/>
                </a:solidFill>
              </a:rPr>
              <a:t>pa</a:t>
            </a:r>
            <a:r>
              <a:rPr lang="en-US" sz="3300" dirty="0">
                <a:solidFill>
                  <a:srgbClr val="0000FF"/>
                </a:solidFill>
              </a:rPr>
              <a:t> – c</a:t>
            </a:r>
            <a:r>
              <a:rPr lang="en-US" sz="3300" baseline="-25000" dirty="0">
                <a:solidFill>
                  <a:srgbClr val="0000FF"/>
                </a:solidFill>
              </a:rPr>
              <a:t>m</a:t>
            </a:r>
            <a:r>
              <a:rPr lang="en-US" sz="3300" dirty="0">
                <a:solidFill>
                  <a:srgbClr val="0000FF"/>
                </a:solidFill>
              </a:rPr>
              <a:t>) = 0.3 m</a:t>
            </a:r>
          </a:p>
          <a:p>
            <a:pPr marL="0" indent="0">
              <a:buNone/>
            </a:pPr>
            <a:r>
              <a:rPr lang="en-US" sz="3300" dirty="0">
                <a:solidFill>
                  <a:srgbClr val="0000FF"/>
                </a:solidFill>
              </a:rPr>
              <a:t>(c</a:t>
            </a:r>
            <a:r>
              <a:rPr lang="en-US" sz="3300" baseline="-25000" dirty="0">
                <a:solidFill>
                  <a:srgbClr val="0000FF"/>
                </a:solidFill>
              </a:rPr>
              <a:t>ps</a:t>
            </a:r>
            <a:r>
              <a:rPr lang="en-US" sz="3300" dirty="0">
                <a:solidFill>
                  <a:srgbClr val="0000FF"/>
                </a:solidFill>
              </a:rPr>
              <a:t> – c</a:t>
            </a:r>
            <a:r>
              <a:rPr lang="en-US" sz="3300" baseline="-25000" dirty="0">
                <a:solidFill>
                  <a:srgbClr val="0000FF"/>
                </a:solidFill>
              </a:rPr>
              <a:t>m</a:t>
            </a:r>
            <a:r>
              <a:rPr lang="en-US" sz="3300" dirty="0">
                <a:solidFill>
                  <a:srgbClr val="0000FF"/>
                </a:solidFill>
              </a:rPr>
              <a:t>) = 0.3 m</a:t>
            </a:r>
          </a:p>
          <a:p>
            <a:pPr marL="0" indent="0">
              <a:buNone/>
            </a:pPr>
            <a:r>
              <a:rPr lang="en-US" sz="3300" dirty="0">
                <a:solidFill>
                  <a:srgbClr val="0000FF"/>
                </a:solidFill>
              </a:rPr>
              <a:t>coefficient of reflectivity, q = 0.6</a:t>
            </a:r>
          </a:p>
          <a:p>
            <a:pPr marL="0" indent="0">
              <a:buNone/>
            </a:pPr>
            <a:r>
              <a:rPr lang="en-US" sz="3300" dirty="0">
                <a:solidFill>
                  <a:srgbClr val="0000FF"/>
                </a:solidFill>
              </a:rPr>
              <a:t>S/C magnetic dipole, D = 1 A∙m</a:t>
            </a:r>
            <a:r>
              <a:rPr lang="en-US" sz="3300" baseline="30000" dirty="0">
                <a:solidFill>
                  <a:srgbClr val="0000FF"/>
                </a:solidFill>
              </a:rPr>
              <a:t>2</a:t>
            </a:r>
            <a:r>
              <a:rPr lang="en-US" sz="3300" dirty="0">
                <a:solidFill>
                  <a:srgbClr val="0000FF"/>
                </a:solidFill>
              </a:rPr>
              <a:t> </a:t>
            </a:r>
          </a:p>
          <a:p>
            <a:pPr marL="0" indent="0">
              <a:buNone/>
            </a:pPr>
            <a:r>
              <a:rPr lang="en-US" sz="3300" dirty="0">
                <a:solidFill>
                  <a:srgbClr val="0000FF"/>
                </a:solidFill>
              </a:rPr>
              <a:t>pointing accuracy required &lt; 0.1 </a:t>
            </a:r>
            <a:r>
              <a:rPr lang="en-US" sz="3300" dirty="0" err="1">
                <a:solidFill>
                  <a:srgbClr val="0000FF"/>
                </a:solidFill>
              </a:rPr>
              <a:t>deg</a:t>
            </a:r>
            <a:endParaRPr lang="en-US" sz="3300" dirty="0">
              <a:solidFill>
                <a:srgbClr val="0000FF"/>
              </a:solidFill>
            </a:endParaRPr>
          </a:p>
          <a:p>
            <a:pPr marL="0" indent="0">
              <a:buNone/>
            </a:pPr>
            <a:r>
              <a:rPr lang="en-US" sz="3300" dirty="0">
                <a:solidFill>
                  <a:srgbClr val="0000FF"/>
                </a:solidFill>
              </a:rPr>
              <a:t>slew maneuver of 30 </a:t>
            </a:r>
            <a:r>
              <a:rPr lang="en-US" sz="3300" dirty="0" err="1">
                <a:solidFill>
                  <a:srgbClr val="0000FF"/>
                </a:solidFill>
              </a:rPr>
              <a:t>deg</a:t>
            </a:r>
            <a:r>
              <a:rPr lang="en-US" sz="3300" dirty="0">
                <a:solidFill>
                  <a:srgbClr val="0000FF"/>
                </a:solidFill>
              </a:rPr>
              <a:t> in no more than 10 minutes</a:t>
            </a:r>
          </a:p>
          <a:p>
            <a:pPr marL="0" indent="0">
              <a:buNone/>
            </a:pPr>
            <a:endParaRPr lang="en-US" sz="3300" dirty="0">
              <a:solidFill>
                <a:srgbClr val="0000FF"/>
              </a:solidFill>
            </a:endParaRPr>
          </a:p>
          <a:p>
            <a:pPr marL="0" indent="0">
              <a:buNone/>
            </a:pPr>
            <a:r>
              <a:rPr lang="en-US" sz="3300" b="1" dirty="0">
                <a:solidFill>
                  <a:srgbClr val="0000FF"/>
                </a:solidFill>
              </a:rPr>
              <a:t>Find:</a:t>
            </a:r>
            <a:r>
              <a:rPr lang="en-US" sz="3300" dirty="0">
                <a:solidFill>
                  <a:srgbClr val="0000FF"/>
                </a:solidFill>
              </a:rPr>
              <a:t> Size reaction wheels (find required torque and angular momentum storage)</a:t>
            </a:r>
          </a:p>
          <a:p>
            <a:endParaRPr lang="en-US" dirty="0"/>
          </a:p>
        </p:txBody>
      </p:sp>
    </p:spTree>
    <p:extLst>
      <p:ext uri="{BB962C8B-B14F-4D97-AF65-F5344CB8AC3E}">
        <p14:creationId xmlns:p14="http://schemas.microsoft.com/office/powerpoint/2010/main" val="2213548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sp>
        <p:nvSpPr>
          <p:cNvPr id="3" name="Content Placeholder 2"/>
          <p:cNvSpPr>
            <a:spLocks noGrp="1"/>
          </p:cNvSpPr>
          <p:nvPr>
            <p:ph idx="1"/>
          </p:nvPr>
        </p:nvSpPr>
        <p:spPr/>
        <p:txBody>
          <a:bodyPr/>
          <a:lstStyle/>
          <a:p>
            <a:pPr marL="0" indent="0">
              <a:buNone/>
            </a:pPr>
            <a:endParaRPr lang="en-US" dirty="0">
              <a:solidFill>
                <a:srgbClr val="0000FF"/>
              </a:solidFill>
            </a:endParaRPr>
          </a:p>
          <a:p>
            <a:pPr marL="0" indent="0">
              <a:buNone/>
            </a:pPr>
            <a:r>
              <a:rPr lang="en-US" dirty="0">
                <a:solidFill>
                  <a:srgbClr val="0000FF"/>
                </a:solidFill>
              </a:rPr>
              <a:t>Approach: Look at all of the limitations discussed and see which requires the most momentum storage</a:t>
            </a:r>
          </a:p>
          <a:p>
            <a:endParaRPr lang="en-US" dirty="0">
              <a:solidFill>
                <a:srgbClr val="0000FF"/>
              </a:solidFill>
            </a:endParaRPr>
          </a:p>
          <a:p>
            <a:pPr marL="914400" lvl="2" indent="0">
              <a:buNone/>
            </a:pPr>
            <a:r>
              <a:rPr lang="en-US" sz="2400" dirty="0">
                <a:solidFill>
                  <a:srgbClr val="0000FF"/>
                </a:solidFill>
              </a:rPr>
              <a:t>Torque Capability (</a:t>
            </a:r>
            <a:r>
              <a:rPr lang="en-US" sz="2400" dirty="0" err="1">
                <a:solidFill>
                  <a:srgbClr val="0000FF"/>
                </a:solidFill>
              </a:rPr>
              <a:t>N·m</a:t>
            </a:r>
            <a:r>
              <a:rPr lang="en-US" sz="2400" dirty="0">
                <a:solidFill>
                  <a:srgbClr val="0000FF"/>
                </a:solidFill>
              </a:rPr>
              <a:t>)</a:t>
            </a:r>
          </a:p>
          <a:p>
            <a:pPr marL="1428750" lvl="2" indent="-514350">
              <a:buFont typeface="+mj-lt"/>
              <a:buAutoNum type="arabicPeriod"/>
            </a:pPr>
            <a:r>
              <a:rPr lang="en-US" sz="2400" dirty="0">
                <a:solidFill>
                  <a:srgbClr val="0000FF"/>
                </a:solidFill>
              </a:rPr>
              <a:t>Disturbance rejection</a:t>
            </a:r>
          </a:p>
          <a:p>
            <a:pPr marL="1428750" lvl="2" indent="-514350">
              <a:buFont typeface="+mj-lt"/>
              <a:buAutoNum type="arabicPeriod"/>
            </a:pPr>
            <a:r>
              <a:rPr lang="en-US" sz="2400" dirty="0">
                <a:solidFill>
                  <a:srgbClr val="0000FF"/>
                </a:solidFill>
              </a:rPr>
              <a:t>Slew maneuver</a:t>
            </a:r>
          </a:p>
          <a:p>
            <a:pPr marL="914400" lvl="2" indent="0">
              <a:buNone/>
            </a:pPr>
            <a:r>
              <a:rPr lang="en-US" sz="2400" dirty="0">
                <a:solidFill>
                  <a:srgbClr val="0000FF"/>
                </a:solidFill>
              </a:rPr>
              <a:t>Momentum Storage Capacity (</a:t>
            </a:r>
            <a:r>
              <a:rPr lang="en-US" sz="2400" dirty="0" err="1">
                <a:solidFill>
                  <a:srgbClr val="0000FF"/>
                </a:solidFill>
              </a:rPr>
              <a:t>N·m·s</a:t>
            </a:r>
            <a:r>
              <a:rPr lang="en-US" sz="2400" dirty="0">
                <a:solidFill>
                  <a:srgbClr val="0000FF"/>
                </a:solidFill>
              </a:rPr>
              <a:t>)</a:t>
            </a:r>
          </a:p>
          <a:p>
            <a:pPr marL="1428750" lvl="2" indent="-514350">
              <a:buAutoNum type="arabicPeriod" startAt="3"/>
            </a:pPr>
            <a:r>
              <a:rPr lang="en-US" sz="2400" dirty="0">
                <a:solidFill>
                  <a:srgbClr val="0000FF"/>
                </a:solidFill>
              </a:rPr>
              <a:t>Disturbance rejection over an orbit</a:t>
            </a:r>
          </a:p>
          <a:p>
            <a:pPr marL="1428750" lvl="2" indent="-514350">
              <a:buAutoNum type="arabicPeriod" startAt="3"/>
            </a:pPr>
            <a:r>
              <a:rPr lang="en-US" sz="2400" dirty="0">
                <a:solidFill>
                  <a:srgbClr val="0000FF"/>
                </a:solidFill>
              </a:rPr>
              <a:t>Slew maneuver</a:t>
            </a:r>
          </a:p>
        </p:txBody>
      </p:sp>
    </p:spTree>
    <p:extLst>
      <p:ext uri="{BB962C8B-B14F-4D97-AF65-F5344CB8AC3E}">
        <p14:creationId xmlns:p14="http://schemas.microsoft.com/office/powerpoint/2010/main" val="1326279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5492" y="1289376"/>
                <a:ext cx="8793015" cy="5227553"/>
              </a:xfrm>
            </p:spPr>
            <p:txBody>
              <a:bodyPr/>
              <a:lstStyle/>
              <a:p>
                <a:pPr marL="0" indent="0">
                  <a:buNone/>
                </a:pPr>
                <a:r>
                  <a:rPr lang="en-US" sz="2400" dirty="0">
                    <a:solidFill>
                      <a:srgbClr val="0000FF"/>
                    </a:solidFill>
                  </a:rPr>
                  <a:t>Find external disturbance torques that reaction wheels must counteract for disturbance rejection.</a:t>
                </a:r>
              </a:p>
              <a:p>
                <a:pPr marL="0" indent="0">
                  <a:buNone/>
                </a:pPr>
                <a:endParaRPr lang="en-US" sz="2400" dirty="0">
                  <a:solidFill>
                    <a:srgbClr val="0000FF"/>
                  </a:solidFill>
                </a:endParaRPr>
              </a:p>
              <a:p>
                <a:pPr marL="0" indent="0">
                  <a:buNone/>
                </a:pPr>
                <a:r>
                  <a:rPr lang="en-US" sz="2000" u="sng" dirty="0">
                    <a:solidFill>
                      <a:srgbClr val="0000FF"/>
                    </a:solidFill>
                  </a:rPr>
                  <a:t>Gravity gradient</a:t>
                </a:r>
                <a:r>
                  <a:rPr lang="en-US" sz="2000" dirty="0">
                    <a:solidFill>
                      <a:srgbClr val="0000FF"/>
                    </a:solidFill>
                  </a:rPr>
                  <a:t>:</a:t>
                </a:r>
              </a:p>
              <a:p>
                <a:pPr marL="0" indent="0">
                  <a:buNone/>
                </a:pPr>
                <a:r>
                  <a:rPr lang="en-US" sz="2000" dirty="0">
                    <a:solidFill>
                      <a:srgbClr val="0000FF"/>
                    </a:solidFill>
                  </a:rPr>
                  <a:t>Assume worst case deviation from nadir-pointing for theta</a:t>
                </a:r>
              </a:p>
              <a:p>
                <a:pPr marL="0" indent="0">
                  <a:buNone/>
                </a:pPr>
                <a:endParaRPr lang="en-US" sz="2000"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𝑇</m:t>
                          </m:r>
                        </m:e>
                        <m:sub>
                          <m:r>
                            <a:rPr lang="en-US" sz="2000" i="1">
                              <a:solidFill>
                                <a:srgbClr val="0000FF"/>
                              </a:solidFill>
                              <a:latin typeface="Cambria Math" panose="02040503050406030204" pitchFamily="18" charset="0"/>
                            </a:rPr>
                            <m:t>𝑔</m:t>
                          </m:r>
                        </m:sub>
                      </m:sSub>
                      <m:r>
                        <a:rPr lang="en-US" sz="2000" i="1">
                          <a:solidFill>
                            <a:srgbClr val="0000FF"/>
                          </a:solidFill>
                          <a:latin typeface="Cambria Math" panose="02040503050406030204" pitchFamily="18" charset="0"/>
                        </a:rPr>
                        <m:t>=</m:t>
                      </m:r>
                      <m:f>
                        <m:fPr>
                          <m:ctrlPr>
                            <a:rPr lang="en-US" sz="2000" i="1">
                              <a:solidFill>
                                <a:srgbClr val="0000FF"/>
                              </a:solidFill>
                              <a:latin typeface="Cambria Math" panose="02040503050406030204" pitchFamily="18" charset="0"/>
                            </a:rPr>
                          </m:ctrlPr>
                        </m:fPr>
                        <m:num>
                          <m:r>
                            <a:rPr lang="en-US" sz="2000" i="1">
                              <a:solidFill>
                                <a:srgbClr val="0000FF"/>
                              </a:solidFill>
                              <a:latin typeface="Cambria Math" panose="02040503050406030204" pitchFamily="18" charset="0"/>
                            </a:rPr>
                            <m:t>3</m:t>
                          </m:r>
                          <m:r>
                            <a:rPr lang="en-US" sz="2000" i="1">
                              <a:solidFill>
                                <a:srgbClr val="0000FF"/>
                              </a:solidFill>
                              <a:latin typeface="Cambria Math" panose="02040503050406030204" pitchFamily="18" charset="0"/>
                            </a:rPr>
                            <m:t>𝜇</m:t>
                          </m:r>
                        </m:num>
                        <m:den>
                          <m:r>
                            <a:rPr lang="en-US" sz="2000" i="1">
                              <a:solidFill>
                                <a:srgbClr val="0000FF"/>
                              </a:solidFill>
                              <a:latin typeface="Cambria Math" panose="02040503050406030204" pitchFamily="18" charset="0"/>
                            </a:rPr>
                            <m:t>2</m:t>
                          </m:r>
                          <m:sSup>
                            <m:sSupPr>
                              <m:ctrlPr>
                                <a:rPr lang="en-US" sz="2000" i="1">
                                  <a:solidFill>
                                    <a:srgbClr val="0000FF"/>
                                  </a:solidFill>
                                  <a:latin typeface="Cambria Math" panose="02040503050406030204" pitchFamily="18" charset="0"/>
                                </a:rPr>
                              </m:ctrlPr>
                            </m:sSupPr>
                            <m:e>
                              <m:r>
                                <a:rPr lang="en-US" sz="2000" i="1">
                                  <a:solidFill>
                                    <a:srgbClr val="0000FF"/>
                                  </a:solidFill>
                                  <a:latin typeface="Cambria Math" panose="02040503050406030204" pitchFamily="18" charset="0"/>
                                </a:rPr>
                                <m:t>𝑅</m:t>
                              </m:r>
                            </m:e>
                            <m:sup>
                              <m:r>
                                <a:rPr lang="en-US" sz="2000" i="1">
                                  <a:solidFill>
                                    <a:srgbClr val="0000FF"/>
                                  </a:solidFill>
                                  <a:latin typeface="Cambria Math" panose="02040503050406030204" pitchFamily="18" charset="0"/>
                                </a:rPr>
                                <m:t>3</m:t>
                              </m:r>
                            </m:sup>
                          </m:sSup>
                        </m:den>
                      </m:f>
                      <m:d>
                        <m:dPr>
                          <m:begChr m:val="|"/>
                          <m:endChr m:val="|"/>
                          <m:ctrlPr>
                            <a:rPr lang="en-US" sz="2000" i="1">
                              <a:solidFill>
                                <a:srgbClr val="0000FF"/>
                              </a:solidFill>
                              <a:latin typeface="Cambria Math" panose="02040503050406030204" pitchFamily="18" charset="0"/>
                            </a:rPr>
                          </m:ctrlPr>
                        </m:d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𝐼</m:t>
                              </m:r>
                            </m:e>
                            <m:sub>
                              <m:r>
                                <a:rPr lang="en-US" sz="2000" i="1">
                                  <a:solidFill>
                                    <a:srgbClr val="0000FF"/>
                                  </a:solidFill>
                                  <a:latin typeface="Cambria Math" panose="02040503050406030204" pitchFamily="18" charset="0"/>
                                </a:rPr>
                                <m:t>𝑦𝑎𝑤</m:t>
                              </m:r>
                            </m:sub>
                          </m:sSub>
                          <m:r>
                            <a:rPr lang="en-US" sz="2000" i="1">
                              <a:solidFill>
                                <a:srgbClr val="0000FF"/>
                              </a:solidFill>
                              <a:latin typeface="Cambria Math" panose="02040503050406030204" pitchFamily="18" charset="0"/>
                            </a:rPr>
                            <m:t>−</m:t>
                          </m:r>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𝐼</m:t>
                              </m:r>
                            </m:e>
                            <m:sub>
                              <m:r>
                                <a:rPr lang="en-US" sz="2000" i="1">
                                  <a:solidFill>
                                    <a:srgbClr val="0000FF"/>
                                  </a:solidFill>
                                  <a:latin typeface="Cambria Math" panose="02040503050406030204" pitchFamily="18" charset="0"/>
                                </a:rPr>
                                <m:t>𝑜𝑡</m:t>
                              </m:r>
                              <m:r>
                                <a:rPr lang="en-US" sz="2000" i="1">
                                  <a:solidFill>
                                    <a:srgbClr val="0000FF"/>
                                  </a:solidFill>
                                  <a:latin typeface="Cambria Math" panose="02040503050406030204" pitchFamily="18" charset="0"/>
                                </a:rPr>
                                <m:t>h</m:t>
                              </m:r>
                              <m:r>
                                <a:rPr lang="en-US" sz="2000" i="1">
                                  <a:solidFill>
                                    <a:srgbClr val="0000FF"/>
                                  </a:solidFill>
                                  <a:latin typeface="Cambria Math" panose="02040503050406030204" pitchFamily="18" charset="0"/>
                                </a:rPr>
                                <m:t>𝑒𝑟</m:t>
                              </m:r>
                            </m:sub>
                          </m:sSub>
                        </m:e>
                      </m:d>
                      <m:r>
                        <a:rPr lang="en-US" sz="2000" i="1">
                          <a:solidFill>
                            <a:srgbClr val="0000FF"/>
                          </a:solidFill>
                          <a:latin typeface="Cambria Math" panose="02040503050406030204" pitchFamily="18" charset="0"/>
                        </a:rPr>
                        <m:t>𝑠𝑖𝑛</m:t>
                      </m:r>
                      <m:d>
                        <m:dPr>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2</m:t>
                          </m:r>
                          <m:r>
                            <a:rPr lang="en-US" sz="2000" i="1">
                              <a:solidFill>
                                <a:srgbClr val="0000FF"/>
                              </a:solidFill>
                              <a:latin typeface="Cambria Math" panose="02040503050406030204" pitchFamily="18" charset="0"/>
                            </a:rPr>
                            <m:t>𝜃</m:t>
                          </m:r>
                        </m:e>
                      </m:d>
                    </m:oMath>
                  </m:oMathPara>
                </a14:m>
                <a:endParaRPr lang="en-US" sz="2000" dirty="0">
                  <a:solidFill>
                    <a:srgbClr val="0000FF"/>
                  </a:solidFill>
                </a:endParaRPr>
              </a:p>
              <a:p>
                <a:pPr marL="0" indent="0">
                  <a:buNone/>
                </a:pPr>
                <a:endParaRPr lang="en-US" sz="2000"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r>
                        <a:rPr lang="en-US" sz="1800" i="1">
                          <a:solidFill>
                            <a:srgbClr val="0000FF"/>
                          </a:solidFill>
                          <a:latin typeface="Cambria Math" panose="02040503050406030204" pitchFamily="18" charset="0"/>
                        </a:rPr>
                        <m:t>=</m:t>
                      </m:r>
                      <m:f>
                        <m:fPr>
                          <m:ctrlPr>
                            <a:rPr lang="en-US" sz="1800" i="1">
                              <a:solidFill>
                                <a:srgbClr val="0000FF"/>
                              </a:solidFill>
                              <a:latin typeface="Cambria Math" panose="02040503050406030204" pitchFamily="18" charset="0"/>
                            </a:rPr>
                          </m:ctrlPr>
                        </m:fPr>
                        <m:num>
                          <m:r>
                            <a:rPr lang="en-US" sz="1800" i="1">
                              <a:solidFill>
                                <a:srgbClr val="0000FF"/>
                              </a:solidFill>
                              <a:latin typeface="Cambria Math" panose="02040503050406030204" pitchFamily="18" charset="0"/>
                            </a:rPr>
                            <m:t>3</m:t>
                          </m:r>
                          <m:d>
                            <m:dPr>
                              <m:ctrlPr>
                                <a:rPr lang="en-US" sz="1800" i="1">
                                  <a:solidFill>
                                    <a:srgbClr val="0000FF"/>
                                  </a:solidFill>
                                  <a:latin typeface="Cambria Math" panose="02040503050406030204" pitchFamily="18" charset="0"/>
                                </a:rPr>
                              </m:ctrlPr>
                            </m:dPr>
                            <m:e>
                              <m:r>
                                <a:rPr lang="en-US" sz="1800" i="1">
                                  <a:solidFill>
                                    <a:srgbClr val="0000FF"/>
                                  </a:solidFill>
                                  <a:latin typeface="Cambria Math" panose="02040503050406030204" pitchFamily="18" charset="0"/>
                                </a:rPr>
                                <m:t>398600</m:t>
                              </m:r>
                              <m:r>
                                <a:rPr lang="en-US" sz="1800" i="1">
                                  <a:solidFill>
                                    <a:srgbClr val="0000FF"/>
                                  </a:solidFill>
                                  <a:latin typeface="Cambria Math" panose="02040503050406030204" pitchFamily="18" charset="0"/>
                                </a:rPr>
                                <m:t>.</m:t>
                              </m:r>
                              <m:r>
                                <a:rPr lang="en-US" sz="1800" i="1">
                                  <a:solidFill>
                                    <a:srgbClr val="0000FF"/>
                                  </a:solidFill>
                                  <a:latin typeface="Cambria Math" panose="02040503050406030204" pitchFamily="18" charset="0"/>
                                </a:rPr>
                                <m:t>5</m:t>
                              </m:r>
                              <m:r>
                                <a:rPr lang="en-US" sz="1800" i="1">
                                  <a:solidFill>
                                    <a:srgbClr val="0000FF"/>
                                  </a:solidFill>
                                  <a:latin typeface="Cambria Math" panose="02040503050406030204" pitchFamily="18" charset="0"/>
                                </a:rPr>
                                <m:t> </m:t>
                              </m:r>
                              <m:sSup>
                                <m:sSupPr>
                                  <m:ctrlPr>
                                    <a:rPr lang="en-US" sz="1800" i="1">
                                      <a:solidFill>
                                        <a:srgbClr val="0000FF"/>
                                      </a:solidFill>
                                      <a:latin typeface="Cambria Math" panose="02040503050406030204" pitchFamily="18" charset="0"/>
                                    </a:rPr>
                                  </m:ctrlPr>
                                </m:sSupPr>
                                <m:e>
                                  <m:r>
                                    <a:rPr lang="en-US" sz="1800" i="1">
                                      <a:solidFill>
                                        <a:srgbClr val="0000FF"/>
                                      </a:solidFill>
                                      <a:latin typeface="Cambria Math" panose="02040503050406030204" pitchFamily="18" charset="0"/>
                                    </a:rPr>
                                    <m:t>𝑘𝑚</m:t>
                                  </m:r>
                                </m:e>
                                <m:sup>
                                  <m:r>
                                    <a:rPr lang="en-US" sz="1800" i="1">
                                      <a:solidFill>
                                        <a:srgbClr val="0000FF"/>
                                      </a:solidFill>
                                      <a:latin typeface="Cambria Math" panose="02040503050406030204" pitchFamily="18" charset="0"/>
                                    </a:rPr>
                                    <m:t>3</m:t>
                                  </m:r>
                                </m:sup>
                              </m:sSup>
                              <m:r>
                                <a:rPr lang="en-US" sz="1800" i="1">
                                  <a:solidFill>
                                    <a:srgbClr val="0000FF"/>
                                  </a:solidFill>
                                  <a:latin typeface="Cambria Math" panose="02040503050406030204" pitchFamily="18" charset="0"/>
                                </a:rPr>
                                <m:t>/</m:t>
                              </m:r>
                              <m:sSup>
                                <m:sSupPr>
                                  <m:ctrlPr>
                                    <a:rPr lang="en-US" sz="1800" i="1">
                                      <a:solidFill>
                                        <a:srgbClr val="0000FF"/>
                                      </a:solidFill>
                                      <a:latin typeface="Cambria Math" panose="02040503050406030204" pitchFamily="18" charset="0"/>
                                    </a:rPr>
                                  </m:ctrlPr>
                                </m:sSupPr>
                                <m:e>
                                  <m:r>
                                    <a:rPr lang="en-US" sz="1800" i="1">
                                      <a:solidFill>
                                        <a:srgbClr val="0000FF"/>
                                      </a:solidFill>
                                      <a:latin typeface="Cambria Math" panose="02040503050406030204" pitchFamily="18" charset="0"/>
                                    </a:rPr>
                                    <m:t>𝑠</m:t>
                                  </m:r>
                                </m:e>
                                <m:sup>
                                  <m:r>
                                    <a:rPr lang="en-US" sz="1800" i="1">
                                      <a:solidFill>
                                        <a:srgbClr val="0000FF"/>
                                      </a:solidFill>
                                      <a:latin typeface="Cambria Math" panose="02040503050406030204" pitchFamily="18" charset="0"/>
                                    </a:rPr>
                                    <m:t>2</m:t>
                                  </m:r>
                                </m:sup>
                              </m:sSup>
                            </m:e>
                          </m:d>
                        </m:num>
                        <m:den>
                          <m:r>
                            <a:rPr lang="en-US" sz="1800" i="1">
                              <a:solidFill>
                                <a:srgbClr val="0000FF"/>
                              </a:solidFill>
                              <a:latin typeface="Cambria Math" panose="02040503050406030204" pitchFamily="18" charset="0"/>
                            </a:rPr>
                            <m:t>2</m:t>
                          </m:r>
                          <m:sSup>
                            <m:sSupPr>
                              <m:ctrlPr>
                                <a:rPr lang="en-US" sz="1800" i="1">
                                  <a:solidFill>
                                    <a:srgbClr val="0000FF"/>
                                  </a:solidFill>
                                  <a:latin typeface="Cambria Math" panose="02040503050406030204" pitchFamily="18" charset="0"/>
                                </a:rPr>
                              </m:ctrlPr>
                            </m:sSupPr>
                            <m:e>
                              <m:d>
                                <m:dPr>
                                  <m:ctrlPr>
                                    <a:rPr lang="en-US" sz="1800" i="1">
                                      <a:solidFill>
                                        <a:srgbClr val="0000FF"/>
                                      </a:solidFill>
                                      <a:latin typeface="Cambria Math" panose="02040503050406030204" pitchFamily="18" charset="0"/>
                                    </a:rPr>
                                  </m:ctrlPr>
                                </m:dPr>
                                <m:e>
                                  <m:r>
                                    <a:rPr lang="en-US" sz="1800" i="1">
                                      <a:solidFill>
                                        <a:srgbClr val="0000FF"/>
                                      </a:solidFill>
                                      <a:latin typeface="Cambria Math" panose="02040503050406030204" pitchFamily="18" charset="0"/>
                                    </a:rPr>
                                    <m:t>7078</m:t>
                                  </m:r>
                                  <m:r>
                                    <a:rPr lang="en-US" sz="1800" i="1">
                                      <a:solidFill>
                                        <a:srgbClr val="0000FF"/>
                                      </a:solidFill>
                                      <a:latin typeface="Cambria Math" panose="02040503050406030204" pitchFamily="18" charset="0"/>
                                    </a:rPr>
                                    <m:t>.</m:t>
                                  </m:r>
                                  <m:r>
                                    <a:rPr lang="en-US" sz="1800" i="1">
                                      <a:solidFill>
                                        <a:srgbClr val="0000FF"/>
                                      </a:solidFill>
                                      <a:latin typeface="Cambria Math" panose="02040503050406030204" pitchFamily="18" charset="0"/>
                                    </a:rPr>
                                    <m:t>137</m:t>
                                  </m:r>
                                  <m:r>
                                    <a:rPr lang="en-US" sz="1800" i="1">
                                      <a:solidFill>
                                        <a:srgbClr val="0000FF"/>
                                      </a:solidFill>
                                      <a:latin typeface="Cambria Math" panose="02040503050406030204" pitchFamily="18" charset="0"/>
                                    </a:rPr>
                                    <m:t> </m:t>
                                  </m:r>
                                  <m:r>
                                    <a:rPr lang="en-US" sz="1800" i="1">
                                      <a:solidFill>
                                        <a:srgbClr val="0000FF"/>
                                      </a:solidFill>
                                      <a:latin typeface="Cambria Math" panose="02040503050406030204" pitchFamily="18" charset="0"/>
                                    </a:rPr>
                                    <m:t>𝑘𝑚</m:t>
                                  </m:r>
                                </m:e>
                              </m:d>
                            </m:e>
                            <m:sup>
                              <m:r>
                                <a:rPr lang="en-US" sz="1800" i="1">
                                  <a:solidFill>
                                    <a:srgbClr val="0000FF"/>
                                  </a:solidFill>
                                  <a:latin typeface="Cambria Math" panose="02040503050406030204" pitchFamily="18" charset="0"/>
                                </a:rPr>
                                <m:t>3</m:t>
                              </m:r>
                            </m:sup>
                          </m:sSup>
                        </m:den>
                      </m:f>
                      <m:d>
                        <m:dPr>
                          <m:begChr m:val="|"/>
                          <m:endChr m:val="|"/>
                          <m:ctrlPr>
                            <a:rPr lang="en-US" sz="1800" i="1">
                              <a:solidFill>
                                <a:srgbClr val="0000FF"/>
                              </a:solidFill>
                              <a:latin typeface="Cambria Math" panose="02040503050406030204" pitchFamily="18" charset="0"/>
                            </a:rPr>
                          </m:ctrlPr>
                        </m:dPr>
                        <m:e>
                          <m:r>
                            <a:rPr lang="en-US" sz="1800" i="1">
                              <a:solidFill>
                                <a:srgbClr val="0000FF"/>
                              </a:solidFill>
                              <a:latin typeface="Cambria Math" panose="02040503050406030204" pitchFamily="18" charset="0"/>
                            </a:rPr>
                            <m:t>75</m:t>
                          </m:r>
                          <m:r>
                            <a:rPr lang="en-US" sz="1800" i="1">
                              <a:solidFill>
                                <a:srgbClr val="0000FF"/>
                              </a:solidFill>
                              <a:latin typeface="Cambria Math" panose="02040503050406030204" pitchFamily="18" charset="0"/>
                            </a:rPr>
                            <m:t>−</m:t>
                          </m:r>
                          <m:r>
                            <a:rPr lang="en-US" sz="1800" i="1">
                              <a:solidFill>
                                <a:srgbClr val="0000FF"/>
                              </a:solidFill>
                              <a:latin typeface="Cambria Math" panose="02040503050406030204" pitchFamily="18" charset="0"/>
                            </a:rPr>
                            <m:t>45</m:t>
                          </m:r>
                          <m:r>
                            <a:rPr lang="en-US" sz="1800" i="1">
                              <a:solidFill>
                                <a:srgbClr val="0000FF"/>
                              </a:solidFill>
                              <a:latin typeface="Cambria Math" panose="02040503050406030204" pitchFamily="18" charset="0"/>
                            </a:rPr>
                            <m:t> </m:t>
                          </m:r>
                          <m:r>
                            <a:rPr lang="en-US" sz="1800" i="1">
                              <a:solidFill>
                                <a:srgbClr val="0000FF"/>
                              </a:solidFill>
                              <a:latin typeface="Cambria Math" panose="02040503050406030204" pitchFamily="18" charset="0"/>
                            </a:rPr>
                            <m:t>𝑘𝑔</m:t>
                          </m:r>
                          <m:r>
                            <a:rPr lang="en-US" sz="1800" i="1">
                              <a:solidFill>
                                <a:srgbClr val="0000FF"/>
                              </a:solidFill>
                              <a:latin typeface="Cambria Math" panose="02040503050406030204" pitchFamily="18" charset="0"/>
                            </a:rPr>
                            <m:t>∙</m:t>
                          </m:r>
                          <m:sSup>
                            <m:sSupPr>
                              <m:ctrlPr>
                                <a:rPr lang="en-US" sz="1800" i="1">
                                  <a:solidFill>
                                    <a:srgbClr val="0000FF"/>
                                  </a:solidFill>
                                  <a:latin typeface="Cambria Math" panose="02040503050406030204" pitchFamily="18" charset="0"/>
                                </a:rPr>
                              </m:ctrlPr>
                            </m:sSupPr>
                            <m:e>
                              <m:r>
                                <a:rPr lang="en-US" sz="1800" i="1">
                                  <a:solidFill>
                                    <a:srgbClr val="0000FF"/>
                                  </a:solidFill>
                                  <a:latin typeface="Cambria Math" panose="02040503050406030204" pitchFamily="18" charset="0"/>
                                </a:rPr>
                                <m:t>𝑚</m:t>
                              </m:r>
                            </m:e>
                            <m:sup>
                              <m:r>
                                <a:rPr lang="en-US" sz="1800" i="1">
                                  <a:solidFill>
                                    <a:srgbClr val="0000FF"/>
                                  </a:solidFill>
                                  <a:latin typeface="Cambria Math" panose="02040503050406030204" pitchFamily="18" charset="0"/>
                                </a:rPr>
                                <m:t>2</m:t>
                              </m:r>
                            </m:sup>
                          </m:sSup>
                        </m:e>
                      </m:d>
                      <m:r>
                        <a:rPr lang="en-US" sz="1800" i="1">
                          <a:solidFill>
                            <a:srgbClr val="0000FF"/>
                          </a:solidFill>
                          <a:latin typeface="Cambria Math" panose="02040503050406030204" pitchFamily="18" charset="0"/>
                        </a:rPr>
                        <m:t>𝑠𝑖𝑛</m:t>
                      </m:r>
                      <m:d>
                        <m:dPr>
                          <m:ctrlPr>
                            <a:rPr lang="en-US" sz="1800" i="1" smtClean="0">
                              <a:solidFill>
                                <a:srgbClr val="0000FF"/>
                              </a:solidFill>
                              <a:latin typeface="Cambria Math" panose="02040503050406030204" pitchFamily="18" charset="0"/>
                            </a:rPr>
                          </m:ctrlPr>
                        </m:dPr>
                        <m:e>
                          <m:r>
                            <a:rPr lang="en-US" sz="1800" i="1">
                              <a:solidFill>
                                <a:srgbClr val="0000FF"/>
                              </a:solidFill>
                              <a:latin typeface="Cambria Math" panose="02040503050406030204" pitchFamily="18" charset="0"/>
                            </a:rPr>
                            <m:t>2</m:t>
                          </m:r>
                          <m:r>
                            <a:rPr lang="en-US" sz="1800" b="0" i="1" smtClean="0">
                              <a:solidFill>
                                <a:srgbClr val="0000FF"/>
                              </a:solidFill>
                              <a:latin typeface="Cambria Math" panose="02040503050406030204" pitchFamily="18" charset="0"/>
                            </a:rPr>
                            <m:t>(</m:t>
                          </m:r>
                          <m:r>
                            <a:rPr lang="en-US" sz="1800" b="0" i="1" smtClean="0">
                              <a:solidFill>
                                <a:srgbClr val="0000FF"/>
                              </a:solidFill>
                              <a:latin typeface="Cambria Math" panose="02040503050406030204" pitchFamily="18" charset="0"/>
                            </a:rPr>
                            <m:t>30</m:t>
                          </m:r>
                          <m:r>
                            <a:rPr lang="en-US" sz="1800" b="0" i="1" smtClean="0">
                              <a:solidFill>
                                <a:srgbClr val="0000FF"/>
                              </a:solidFill>
                              <a:latin typeface="Cambria Math" panose="02040503050406030204" pitchFamily="18" charset="0"/>
                              <a:ea typeface="Cambria Math" panose="02040503050406030204" pitchFamily="18" charset="0"/>
                            </a:rPr>
                            <m:t>°</m:t>
                          </m:r>
                        </m:e>
                      </m:d>
                      <m:r>
                        <a:rPr lang="en-US" sz="1800" b="0" i="1" smtClean="0">
                          <a:solidFill>
                            <a:srgbClr val="0000FF"/>
                          </a:solidFill>
                          <a:latin typeface="Cambria Math" panose="02040503050406030204" pitchFamily="18" charset="0"/>
                        </a:rPr>
                        <m:t>=</m:t>
                      </m:r>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4</m:t>
                      </m:r>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38</m:t>
                      </m:r>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10</m:t>
                          </m:r>
                        </m:e>
                        <m:sup>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5</m:t>
                          </m:r>
                        </m:sup>
                      </m:sSup>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FF"/>
                          </a:solidFill>
                          <a:latin typeface="Cambria Math" panose="02040503050406030204" pitchFamily="18" charset="0"/>
                          <a:ea typeface="Times New Roman" panose="02020603050405020304" pitchFamily="18" charset="0"/>
                          <a:cs typeface="Times New Roman" panose="02020603050405020304" pitchFamily="18" charset="0"/>
                        </a:rPr>
                        <m:t>𝑁𝑚</m:t>
                      </m:r>
                    </m:oMath>
                  </m:oMathPara>
                </a14:m>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5492" y="1289376"/>
                <a:ext cx="8793015" cy="5227553"/>
              </a:xfrm>
              <a:blipFill>
                <a:blip r:embed="rId2"/>
                <a:stretch>
                  <a:fillRect l="-1110" t="-1517"/>
                </a:stretch>
              </a:blipFill>
            </p:spPr>
            <p:txBody>
              <a:bodyPr/>
              <a:lstStyle/>
              <a:p>
                <a:r>
                  <a:rPr lang="en-US">
                    <a:noFill/>
                  </a:rPr>
                  <a:t> </a:t>
                </a:r>
              </a:p>
            </p:txBody>
          </p:sp>
        </mc:Fallback>
      </mc:AlternateContent>
    </p:spTree>
    <p:extLst>
      <p:ext uri="{BB962C8B-B14F-4D97-AF65-F5344CB8AC3E}">
        <p14:creationId xmlns:p14="http://schemas.microsoft.com/office/powerpoint/2010/main" val="192615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1012" y="1075765"/>
                <a:ext cx="8578663" cy="5649049"/>
              </a:xfrm>
            </p:spPr>
            <p:txBody>
              <a:bodyPr>
                <a:normAutofit fontScale="92500" lnSpcReduction="20000"/>
              </a:bodyPr>
              <a:lstStyle/>
              <a:p>
                <a:pPr marL="0" indent="0">
                  <a:buNone/>
                </a:pPr>
                <a:r>
                  <a:rPr lang="en-US" sz="2400" u="sng" dirty="0">
                    <a:solidFill>
                      <a:srgbClr val="0000FF"/>
                    </a:solidFill>
                  </a:rPr>
                  <a:t>Solar radiation pressure</a:t>
                </a:r>
                <a:r>
                  <a:rPr lang="en-US" sz="2400" dirty="0">
                    <a:solidFill>
                      <a:srgbClr val="0000FF"/>
                    </a:solidFill>
                  </a:rPr>
                  <a:t>:</a:t>
                </a:r>
              </a:p>
              <a:p>
                <a:pPr marL="0" indent="0">
                  <a:buNone/>
                </a:pPr>
                <a14:m>
                  <m:oMathPara xmlns:m="http://schemas.openxmlformats.org/officeDocument/2006/math">
                    <m:oMathParaPr>
                      <m:jc m:val="centerGroup"/>
                    </m:oMathParaPr>
                    <m:oMath xmlns:m="http://schemas.openxmlformats.org/officeDocument/2006/math">
                      <m:sSub>
                        <m:sSubPr>
                          <m:ctrlPr>
                            <a:rPr lang="en-US" sz="2000" i="1" smtClean="0">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𝑇</m:t>
                          </m:r>
                        </m:e>
                        <m:sub>
                          <m:r>
                            <a:rPr lang="en-US" sz="2000" i="1">
                              <a:solidFill>
                                <a:srgbClr val="0000FF"/>
                              </a:solidFill>
                              <a:latin typeface="Cambria Math" panose="02040503050406030204" pitchFamily="18" charset="0"/>
                            </a:rPr>
                            <m:t>𝑠𝑝</m:t>
                          </m:r>
                        </m:sub>
                      </m:sSub>
                      <m:r>
                        <a:rPr lang="en-US" sz="2000" i="1">
                          <a:solidFill>
                            <a:srgbClr val="0000FF"/>
                          </a:solidFill>
                          <a:latin typeface="Cambria Math" panose="02040503050406030204" pitchFamily="18" charset="0"/>
                        </a:rPr>
                        <m:t>=</m:t>
                      </m:r>
                      <m:f>
                        <m:fPr>
                          <m:ctrlPr>
                            <a:rPr lang="en-US" sz="2000" i="1">
                              <a:solidFill>
                                <a:srgbClr val="0000FF"/>
                              </a:solidFill>
                              <a:latin typeface="Cambria Math" panose="02040503050406030204" pitchFamily="18" charset="0"/>
                            </a:rPr>
                          </m:ctrlPr>
                        </m:fPr>
                        <m:num>
                          <m:r>
                            <a:rPr lang="en-US" sz="2000" i="1">
                              <a:solidFill>
                                <a:srgbClr val="0000FF"/>
                              </a:solidFill>
                              <a:latin typeface="Cambria Math" panose="02040503050406030204" pitchFamily="18" charset="0"/>
                            </a:rPr>
                            <m:t>1</m:t>
                          </m:r>
                        </m:num>
                        <m:den>
                          <m:r>
                            <a:rPr lang="en-US" sz="2000" i="1">
                              <a:solidFill>
                                <a:srgbClr val="0000FF"/>
                              </a:solidFill>
                              <a:latin typeface="Cambria Math" panose="02040503050406030204" pitchFamily="18" charset="0"/>
                            </a:rPr>
                            <m:t>𝑐</m:t>
                          </m:r>
                        </m:den>
                      </m:f>
                      <m:d>
                        <m:dPr>
                          <m:begChr m:val="["/>
                          <m:endChr m:val="]"/>
                          <m:ctrlPr>
                            <a:rPr lang="en-US" sz="2000" i="1">
                              <a:solidFill>
                                <a:srgbClr val="0000FF"/>
                              </a:solidFill>
                              <a:latin typeface="Cambria Math" panose="02040503050406030204" pitchFamily="18" charset="0"/>
                            </a:rPr>
                          </m:ctrlPr>
                        </m:d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𝐹</m:t>
                              </m:r>
                            </m:e>
                            <m:sub>
                              <m:r>
                                <a:rPr lang="en-US" sz="2000" i="1">
                                  <a:solidFill>
                                    <a:srgbClr val="0000FF"/>
                                  </a:solidFill>
                                  <a:latin typeface="Cambria Math" panose="02040503050406030204" pitchFamily="18" charset="0"/>
                                </a:rPr>
                                <m:t>𝑠</m:t>
                              </m:r>
                            </m:sub>
                          </m:sSub>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𝐴</m:t>
                              </m:r>
                            </m:e>
                            <m:sub>
                              <m:r>
                                <a:rPr lang="en-US" sz="2000" i="1">
                                  <a:solidFill>
                                    <a:srgbClr val="0000FF"/>
                                  </a:solidFill>
                                  <a:latin typeface="Cambria Math" panose="02040503050406030204" pitchFamily="18" charset="0"/>
                                </a:rPr>
                                <m:t>𝑠</m:t>
                              </m:r>
                            </m:sub>
                          </m:sSub>
                          <m:d>
                            <m:dPr>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1</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𝑞</m:t>
                              </m:r>
                            </m:e>
                          </m:d>
                          <m:func>
                            <m:funcPr>
                              <m:ctrlPr>
                                <a:rPr lang="en-US" sz="2000" i="1">
                                  <a:solidFill>
                                    <a:srgbClr val="0000FF"/>
                                  </a:solidFill>
                                  <a:latin typeface="Cambria Math" panose="02040503050406030204" pitchFamily="18" charset="0"/>
                                </a:rPr>
                              </m:ctrlPr>
                            </m:funcPr>
                            <m:fName>
                              <m:r>
                                <m:rPr>
                                  <m:sty m:val="p"/>
                                </m:rPr>
                                <a:rPr lang="en-US" sz="2000">
                                  <a:solidFill>
                                    <a:srgbClr val="0000FF"/>
                                  </a:solidFill>
                                  <a:latin typeface="Cambria Math" panose="02040503050406030204" pitchFamily="18" charset="0"/>
                                </a:rPr>
                                <m:t>cos</m:t>
                              </m:r>
                            </m:fName>
                            <m:e>
                              <m:r>
                                <a:rPr lang="en-US" sz="2000" i="1">
                                  <a:solidFill>
                                    <a:srgbClr val="0000FF"/>
                                  </a:solidFill>
                                  <a:latin typeface="Cambria Math" panose="02040503050406030204" pitchFamily="18" charset="0"/>
                                </a:rPr>
                                <m:t>𝑖</m:t>
                              </m:r>
                            </m:e>
                          </m:func>
                        </m:e>
                      </m:d>
                      <m:d>
                        <m:dPr>
                          <m:ctrlPr>
                            <a:rPr lang="en-US" sz="2000" i="1">
                              <a:solidFill>
                                <a:srgbClr val="0000FF"/>
                              </a:solidFill>
                              <a:latin typeface="Cambria Math" panose="02040503050406030204" pitchFamily="18" charset="0"/>
                            </a:rPr>
                          </m:ctrlPr>
                        </m:d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𝑐</m:t>
                              </m:r>
                            </m:e>
                            <m:sub>
                              <m:r>
                                <a:rPr lang="en-US" sz="2000" i="1">
                                  <a:solidFill>
                                    <a:srgbClr val="0000FF"/>
                                  </a:solidFill>
                                  <a:latin typeface="Cambria Math" panose="02040503050406030204" pitchFamily="18" charset="0"/>
                                </a:rPr>
                                <m:t>𝑝𝑠</m:t>
                              </m:r>
                            </m:sub>
                          </m:sSub>
                          <m:r>
                            <a:rPr lang="en-US" sz="2000" i="1">
                              <a:solidFill>
                                <a:srgbClr val="0000FF"/>
                              </a:solidFill>
                              <a:latin typeface="Cambria Math" panose="02040503050406030204" pitchFamily="18" charset="0"/>
                            </a:rPr>
                            <m:t>−</m:t>
                          </m:r>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𝑐</m:t>
                              </m:r>
                            </m:e>
                            <m:sub>
                              <m:r>
                                <a:rPr lang="en-US" sz="2000" i="1">
                                  <a:solidFill>
                                    <a:srgbClr val="0000FF"/>
                                  </a:solidFill>
                                  <a:latin typeface="Cambria Math" panose="02040503050406030204" pitchFamily="18" charset="0"/>
                                </a:rPr>
                                <m:t>𝑚</m:t>
                              </m:r>
                            </m:sub>
                          </m:sSub>
                        </m:e>
                      </m:d>
                    </m:oMath>
                  </m:oMathPara>
                </a14:m>
                <a:endParaRPr lang="en-US" sz="2000" dirty="0">
                  <a:solidFill>
                    <a:srgbClr val="0000FF"/>
                  </a:solidFill>
                </a:endParaRPr>
              </a:p>
              <a:p>
                <a:pPr marL="0" indent="0">
                  <a:buNone/>
                </a:pPr>
                <a:r>
                  <a:rPr lang="en-US" sz="2000" dirty="0">
                    <a:solidFill>
                      <a:srgbClr val="0000FF"/>
                    </a:solidFill>
                  </a:rPr>
                  <a:t>assume worst case incidence angle, </a:t>
                </a:r>
                <a14:m>
                  <m:oMath xmlns:m="http://schemas.openxmlformats.org/officeDocument/2006/math">
                    <m:r>
                      <a:rPr lang="en-US" sz="2000" i="1">
                        <a:solidFill>
                          <a:srgbClr val="0000FF"/>
                        </a:solidFill>
                        <a:latin typeface="Cambria Math" panose="02040503050406030204" pitchFamily="18" charset="0"/>
                      </a:rPr>
                      <m:t>𝑖</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0</m:t>
                    </m:r>
                    <m:r>
                      <a:rPr lang="en-US" sz="2000" i="1">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𝑑𝑒𝑔</m:t>
                    </m:r>
                  </m:oMath>
                </a14:m>
                <a:endParaRPr lang="en-US" sz="2000"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𝑇</m:t>
                          </m:r>
                        </m:e>
                        <m:sub>
                          <m:r>
                            <a:rPr lang="en-US" sz="2000" i="1">
                              <a:solidFill>
                                <a:srgbClr val="0000FF"/>
                              </a:solidFill>
                              <a:latin typeface="Cambria Math" panose="02040503050406030204" pitchFamily="18" charset="0"/>
                            </a:rPr>
                            <m:t>𝑠𝑝</m:t>
                          </m:r>
                        </m:sub>
                      </m:sSub>
                      <m:r>
                        <a:rPr lang="en-US" sz="2000" i="1">
                          <a:solidFill>
                            <a:srgbClr val="0000FF"/>
                          </a:solidFill>
                          <a:latin typeface="Cambria Math" panose="02040503050406030204" pitchFamily="18" charset="0"/>
                        </a:rPr>
                        <m:t>= </m:t>
                      </m:r>
                      <m:f>
                        <m:fPr>
                          <m:ctrlPr>
                            <a:rPr lang="en-US" sz="2000" i="1">
                              <a:solidFill>
                                <a:srgbClr val="0000FF"/>
                              </a:solidFill>
                              <a:latin typeface="Cambria Math" panose="02040503050406030204" pitchFamily="18" charset="0"/>
                            </a:rPr>
                          </m:ctrlPr>
                        </m:fPr>
                        <m:num>
                          <m:r>
                            <a:rPr lang="en-US" sz="2000" i="1">
                              <a:solidFill>
                                <a:srgbClr val="0000FF"/>
                              </a:solidFill>
                              <a:latin typeface="Cambria Math" panose="02040503050406030204" pitchFamily="18" charset="0"/>
                            </a:rPr>
                            <m:t>1</m:t>
                          </m:r>
                        </m:num>
                        <m:den>
                          <m:r>
                            <a:rPr lang="en-US" sz="2000" i="1">
                              <a:solidFill>
                                <a:srgbClr val="0000FF"/>
                              </a:solidFill>
                              <a:latin typeface="Cambria Math" panose="02040503050406030204" pitchFamily="18" charset="0"/>
                            </a:rPr>
                            <m:t>3</m:t>
                          </m:r>
                          <m:r>
                            <a:rPr lang="en-US" sz="2000" i="1">
                              <a:solidFill>
                                <a:srgbClr val="0000FF"/>
                              </a:solidFill>
                              <a:latin typeface="Cambria Math" panose="02040503050406030204" pitchFamily="18" charset="0"/>
                            </a:rPr>
                            <m:t>𝑥</m:t>
                          </m:r>
                          <m:sSup>
                            <m:sSupPr>
                              <m:ctrlPr>
                                <a:rPr lang="en-US" sz="2000" i="1">
                                  <a:solidFill>
                                    <a:srgbClr val="0000FF"/>
                                  </a:solidFill>
                                  <a:latin typeface="Cambria Math" panose="02040503050406030204" pitchFamily="18" charset="0"/>
                                </a:rPr>
                              </m:ctrlPr>
                            </m:sSupPr>
                            <m:e>
                              <m:r>
                                <a:rPr lang="en-US" sz="2000" i="1">
                                  <a:solidFill>
                                    <a:srgbClr val="0000FF"/>
                                  </a:solidFill>
                                  <a:latin typeface="Cambria Math" panose="02040503050406030204" pitchFamily="18" charset="0"/>
                                </a:rPr>
                                <m:t>10</m:t>
                              </m:r>
                            </m:e>
                            <m:sup>
                              <m:r>
                                <a:rPr lang="en-US" sz="2000" i="1">
                                  <a:solidFill>
                                    <a:srgbClr val="0000FF"/>
                                  </a:solidFill>
                                  <a:latin typeface="Cambria Math" panose="02040503050406030204" pitchFamily="18" charset="0"/>
                                </a:rPr>
                                <m:t>8</m:t>
                              </m:r>
                            </m:sup>
                          </m:sSup>
                          <m:r>
                            <a:rPr lang="en-US" sz="2000" i="1">
                              <a:solidFill>
                                <a:srgbClr val="0000FF"/>
                              </a:solidFill>
                              <a:latin typeface="Cambria Math" panose="02040503050406030204" pitchFamily="18" charset="0"/>
                            </a:rPr>
                            <m:t>𝑚</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𝑠</m:t>
                          </m:r>
                        </m:den>
                      </m:f>
                      <m:d>
                        <m:dPr>
                          <m:begChr m:val="["/>
                          <m:endChr m:val="]"/>
                          <m:ctrlPr>
                            <a:rPr lang="en-US" sz="2000" i="1">
                              <a:solidFill>
                                <a:srgbClr val="0000FF"/>
                              </a:solidFill>
                              <a:latin typeface="Cambria Math" panose="02040503050406030204" pitchFamily="18" charset="0"/>
                            </a:rPr>
                          </m:ctrlPr>
                        </m:dPr>
                        <m:e>
                          <m:d>
                            <m:dPr>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1367</m:t>
                              </m:r>
                              <m:r>
                                <a:rPr lang="en-US" sz="2000" i="1">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𝑊</m:t>
                              </m:r>
                              <m:r>
                                <a:rPr lang="en-US" sz="2000" i="1">
                                  <a:solidFill>
                                    <a:srgbClr val="0000FF"/>
                                  </a:solidFill>
                                  <a:latin typeface="Cambria Math" panose="02040503050406030204" pitchFamily="18" charset="0"/>
                                </a:rPr>
                                <m:t>/</m:t>
                              </m:r>
                              <m:sSup>
                                <m:sSupPr>
                                  <m:ctrlPr>
                                    <a:rPr lang="en-US" sz="2000" i="1">
                                      <a:solidFill>
                                        <a:srgbClr val="0000FF"/>
                                      </a:solidFill>
                                      <a:latin typeface="Cambria Math" panose="02040503050406030204" pitchFamily="18" charset="0"/>
                                    </a:rPr>
                                  </m:ctrlPr>
                                </m:sSupPr>
                                <m:e>
                                  <m:r>
                                    <a:rPr lang="en-US" sz="2000" i="1">
                                      <a:solidFill>
                                        <a:srgbClr val="0000FF"/>
                                      </a:solidFill>
                                      <a:latin typeface="Cambria Math" panose="02040503050406030204" pitchFamily="18" charset="0"/>
                                    </a:rPr>
                                    <m:t>𝑚</m:t>
                                  </m:r>
                                </m:e>
                                <m:sup>
                                  <m:r>
                                    <a:rPr lang="en-US" sz="2000" i="1">
                                      <a:solidFill>
                                        <a:srgbClr val="0000FF"/>
                                      </a:solidFill>
                                      <a:latin typeface="Cambria Math" panose="02040503050406030204" pitchFamily="18" charset="0"/>
                                    </a:rPr>
                                    <m:t>2</m:t>
                                  </m:r>
                                </m:sup>
                              </m:sSup>
                            </m:e>
                          </m:d>
                          <m:d>
                            <m:dPr>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2</m:t>
                              </m:r>
                              <m:r>
                                <a:rPr lang="en-US" sz="2000" i="1">
                                  <a:solidFill>
                                    <a:srgbClr val="0000FF"/>
                                  </a:solidFill>
                                  <a:latin typeface="Cambria Math" panose="02040503050406030204" pitchFamily="18" charset="0"/>
                                </a:rPr>
                                <m:t> </m:t>
                              </m:r>
                              <m:sSup>
                                <m:sSupPr>
                                  <m:ctrlPr>
                                    <a:rPr lang="en-US" sz="2000" i="1">
                                      <a:solidFill>
                                        <a:srgbClr val="0000FF"/>
                                      </a:solidFill>
                                      <a:latin typeface="Cambria Math" panose="02040503050406030204" pitchFamily="18" charset="0"/>
                                    </a:rPr>
                                  </m:ctrlPr>
                                </m:sSupPr>
                                <m:e>
                                  <m:r>
                                    <a:rPr lang="en-US" sz="2000" i="1">
                                      <a:solidFill>
                                        <a:srgbClr val="0000FF"/>
                                      </a:solidFill>
                                      <a:latin typeface="Cambria Math" panose="02040503050406030204" pitchFamily="18" charset="0"/>
                                    </a:rPr>
                                    <m:t>𝑚</m:t>
                                  </m:r>
                                </m:e>
                                <m:sup>
                                  <m:r>
                                    <a:rPr lang="en-US" sz="2000" i="1">
                                      <a:solidFill>
                                        <a:srgbClr val="0000FF"/>
                                      </a:solidFill>
                                      <a:latin typeface="Cambria Math" panose="02040503050406030204" pitchFamily="18" charset="0"/>
                                    </a:rPr>
                                    <m:t>2</m:t>
                                  </m:r>
                                </m:sup>
                              </m:sSup>
                            </m:e>
                          </m:d>
                          <m:d>
                            <m:dPr>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1</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0</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6</m:t>
                              </m:r>
                            </m:e>
                          </m:d>
                          <m:func>
                            <m:funcPr>
                              <m:ctrlPr>
                                <a:rPr lang="en-US" sz="2000" i="1">
                                  <a:solidFill>
                                    <a:srgbClr val="0000FF"/>
                                  </a:solidFill>
                                  <a:latin typeface="Cambria Math" panose="02040503050406030204" pitchFamily="18" charset="0"/>
                                </a:rPr>
                              </m:ctrlPr>
                            </m:funcPr>
                            <m:fName>
                              <m:r>
                                <m:rPr>
                                  <m:sty m:val="p"/>
                                </m:rPr>
                                <a:rPr lang="en-US" sz="2000">
                                  <a:solidFill>
                                    <a:srgbClr val="0000FF"/>
                                  </a:solidFill>
                                  <a:latin typeface="Cambria Math" panose="02040503050406030204" pitchFamily="18" charset="0"/>
                                </a:rPr>
                                <m:t>cos</m:t>
                              </m:r>
                            </m:fName>
                            <m:e>
                              <m:r>
                                <a:rPr lang="en-US" sz="2000" i="1">
                                  <a:solidFill>
                                    <a:srgbClr val="0000FF"/>
                                  </a:solidFill>
                                  <a:latin typeface="Cambria Math" panose="02040503050406030204" pitchFamily="18" charset="0"/>
                                </a:rPr>
                                <m:t>0</m:t>
                              </m:r>
                            </m:e>
                          </m:func>
                        </m:e>
                      </m:d>
                      <m:d>
                        <m:dPr>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0</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3</m:t>
                          </m:r>
                          <m:r>
                            <a:rPr lang="en-US" sz="2000" i="1">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𝑚</m:t>
                          </m:r>
                        </m:e>
                      </m:d>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4</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37</m:t>
                      </m:r>
                      <m:r>
                        <a:rPr lang="en-US" sz="2000" i="1">
                          <a:solidFill>
                            <a:srgbClr val="0000FF"/>
                          </a:solidFill>
                          <a:latin typeface="Cambria Math" panose="02040503050406030204" pitchFamily="18" charset="0"/>
                        </a:rPr>
                        <m:t>𝑥</m:t>
                      </m:r>
                      <m:sSup>
                        <m:sSupPr>
                          <m:ctrlPr>
                            <a:rPr lang="en-US" sz="2000" i="1">
                              <a:solidFill>
                                <a:srgbClr val="0000FF"/>
                              </a:solidFill>
                              <a:latin typeface="Cambria Math" panose="02040503050406030204" pitchFamily="18" charset="0"/>
                            </a:rPr>
                          </m:ctrlPr>
                        </m:sSupPr>
                        <m:e>
                          <m:r>
                            <a:rPr lang="en-US" sz="2000" i="1">
                              <a:solidFill>
                                <a:srgbClr val="0000FF"/>
                              </a:solidFill>
                              <a:latin typeface="Cambria Math" panose="02040503050406030204" pitchFamily="18" charset="0"/>
                            </a:rPr>
                            <m:t>10</m:t>
                          </m:r>
                        </m:e>
                        <m:sup>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6</m:t>
                          </m:r>
                        </m:sup>
                      </m:sSup>
                      <m:r>
                        <a:rPr lang="en-US" sz="2000" i="1">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𝑁𝑚</m:t>
                      </m:r>
                    </m:oMath>
                  </m:oMathPara>
                </a14:m>
                <a:endParaRPr lang="en-US" sz="2000" dirty="0">
                  <a:solidFill>
                    <a:srgbClr val="0000FF"/>
                  </a:solidFill>
                </a:endParaRPr>
              </a:p>
              <a:p>
                <a:pPr marL="0" indent="0">
                  <a:buNone/>
                </a:pPr>
                <a:r>
                  <a:rPr lang="en-US" sz="2000" dirty="0">
                    <a:solidFill>
                      <a:srgbClr val="0000FF"/>
                    </a:solidFill>
                  </a:rPr>
                  <a:t>Note:  </a:t>
                </a:r>
                <a14:m>
                  <m:oMath xmlns:m="http://schemas.openxmlformats.org/officeDocument/2006/math">
                    <m:r>
                      <a:rPr lang="en-US" sz="2000" i="1">
                        <a:solidFill>
                          <a:srgbClr val="0000FF"/>
                        </a:solidFill>
                        <a:latin typeface="Cambria Math" panose="02040503050406030204" pitchFamily="18" charset="0"/>
                      </a:rPr>
                      <m:t>𝑊𝑎𝑡𝑡</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𝑘𝑔</m:t>
                    </m:r>
                    <m:r>
                      <a:rPr lang="en-US" sz="2000" i="1">
                        <a:solidFill>
                          <a:srgbClr val="0000FF"/>
                        </a:solidFill>
                        <a:latin typeface="Cambria Math" panose="02040503050406030204" pitchFamily="18" charset="0"/>
                      </a:rPr>
                      <m:t>∙</m:t>
                    </m:r>
                    <m:sSup>
                      <m:sSupPr>
                        <m:ctrlPr>
                          <a:rPr lang="en-US" sz="2000" i="1">
                            <a:solidFill>
                              <a:srgbClr val="0000FF"/>
                            </a:solidFill>
                            <a:latin typeface="Cambria Math" panose="02040503050406030204" pitchFamily="18" charset="0"/>
                          </a:rPr>
                        </m:ctrlPr>
                      </m:sSupPr>
                      <m:e>
                        <m:r>
                          <a:rPr lang="en-US" sz="2000" i="1">
                            <a:solidFill>
                              <a:srgbClr val="0000FF"/>
                            </a:solidFill>
                            <a:latin typeface="Cambria Math" panose="02040503050406030204" pitchFamily="18" charset="0"/>
                          </a:rPr>
                          <m:t>𝑚</m:t>
                        </m:r>
                      </m:e>
                      <m:sup>
                        <m:r>
                          <a:rPr lang="en-US" sz="2000" i="1">
                            <a:solidFill>
                              <a:srgbClr val="0000FF"/>
                            </a:solidFill>
                            <a:latin typeface="Cambria Math" panose="02040503050406030204" pitchFamily="18" charset="0"/>
                          </a:rPr>
                          <m:t>2</m:t>
                        </m:r>
                      </m:sup>
                    </m:sSup>
                    <m:r>
                      <a:rPr lang="en-US" sz="2000" i="1">
                        <a:solidFill>
                          <a:srgbClr val="0000FF"/>
                        </a:solidFill>
                        <a:latin typeface="Cambria Math" panose="02040503050406030204" pitchFamily="18" charset="0"/>
                      </a:rPr>
                      <m:t>/</m:t>
                    </m:r>
                    <m:sSup>
                      <m:sSupPr>
                        <m:ctrlPr>
                          <a:rPr lang="en-US" sz="2000" i="1">
                            <a:solidFill>
                              <a:srgbClr val="0000FF"/>
                            </a:solidFill>
                            <a:latin typeface="Cambria Math" panose="02040503050406030204" pitchFamily="18" charset="0"/>
                          </a:rPr>
                        </m:ctrlPr>
                      </m:sSupPr>
                      <m:e>
                        <m:r>
                          <a:rPr lang="en-US" sz="2000" i="1">
                            <a:solidFill>
                              <a:srgbClr val="0000FF"/>
                            </a:solidFill>
                            <a:latin typeface="Cambria Math" panose="02040503050406030204" pitchFamily="18" charset="0"/>
                          </a:rPr>
                          <m:t>𝑠</m:t>
                        </m:r>
                      </m:e>
                      <m:sup>
                        <m:r>
                          <a:rPr lang="en-US" sz="2000" i="1">
                            <a:solidFill>
                              <a:srgbClr val="0000FF"/>
                            </a:solidFill>
                            <a:latin typeface="Cambria Math" panose="02040503050406030204" pitchFamily="18" charset="0"/>
                          </a:rPr>
                          <m:t>3</m:t>
                        </m:r>
                      </m:sup>
                    </m:sSup>
                  </m:oMath>
                </a14:m>
                <a:endParaRPr lang="en-US" dirty="0"/>
              </a:p>
              <a:p>
                <a:pPr marL="0" indent="0">
                  <a:buNone/>
                </a:pPr>
                <a:endParaRPr lang="en-US" dirty="0"/>
              </a:p>
              <a:p>
                <a:pPr marL="0" indent="0">
                  <a:buNone/>
                </a:pPr>
                <a:r>
                  <a:rPr lang="en-US" sz="2400" u="sng" dirty="0">
                    <a:solidFill>
                      <a:srgbClr val="0000FF"/>
                    </a:solidFill>
                  </a:rPr>
                  <a:t>Magnetic disturbance</a:t>
                </a:r>
                <a:r>
                  <a:rPr lang="en-US" sz="2400" dirty="0">
                    <a:solidFill>
                      <a:srgbClr val="0000FF"/>
                    </a:solidFill>
                  </a:rPr>
                  <a:t>:</a:t>
                </a:r>
              </a:p>
              <a:p>
                <a:pPr marL="0" indent="0">
                  <a:buNone/>
                </a:pPr>
                <a14:m>
                  <m:oMathPara xmlns:m="http://schemas.openxmlformats.org/officeDocument/2006/math">
                    <m:oMathParaPr>
                      <m:jc m:val="centerGroup"/>
                    </m:oMathParaPr>
                    <m:oMath xmlns:m="http://schemas.openxmlformats.org/officeDocument/2006/math">
                      <m:sSub>
                        <m:sSubPr>
                          <m:ctrlPr>
                            <a:rPr lang="en-US" sz="2600" i="1">
                              <a:solidFill>
                                <a:srgbClr val="0000FF"/>
                              </a:solidFill>
                              <a:latin typeface="Cambria Math" panose="02040503050406030204" pitchFamily="18" charset="0"/>
                            </a:rPr>
                          </m:ctrlPr>
                        </m:sSubPr>
                        <m:e>
                          <m:r>
                            <a:rPr lang="en-US" sz="2600" i="1">
                              <a:solidFill>
                                <a:srgbClr val="0000FF"/>
                              </a:solidFill>
                              <a:latin typeface="Cambria Math" panose="02040503050406030204" pitchFamily="18" charset="0"/>
                            </a:rPr>
                            <m:t>𝑇</m:t>
                          </m:r>
                        </m:e>
                        <m:sub>
                          <m:r>
                            <a:rPr lang="en-US" sz="2600" i="1">
                              <a:solidFill>
                                <a:srgbClr val="0000FF"/>
                              </a:solidFill>
                              <a:latin typeface="Cambria Math" panose="02040503050406030204" pitchFamily="18" charset="0"/>
                            </a:rPr>
                            <m:t>𝑚</m:t>
                          </m:r>
                        </m:sub>
                      </m:sSub>
                      <m:r>
                        <a:rPr lang="en-US" sz="2600" i="1">
                          <a:solidFill>
                            <a:srgbClr val="0000FF"/>
                          </a:solidFill>
                          <a:latin typeface="Cambria Math" panose="02040503050406030204" pitchFamily="18" charset="0"/>
                        </a:rPr>
                        <m:t>=</m:t>
                      </m:r>
                      <m:f>
                        <m:fPr>
                          <m:type m:val="skw"/>
                          <m:ctrlPr>
                            <a:rPr lang="en-US" sz="2600" i="1">
                              <a:solidFill>
                                <a:srgbClr val="0000FF"/>
                              </a:solidFill>
                              <a:latin typeface="Cambria Math" panose="02040503050406030204" pitchFamily="18" charset="0"/>
                            </a:rPr>
                          </m:ctrlPr>
                        </m:fPr>
                        <m:num>
                          <m:r>
                            <a:rPr lang="en-US" sz="2600" i="1">
                              <a:solidFill>
                                <a:srgbClr val="0000FF"/>
                              </a:solidFill>
                              <a:latin typeface="Cambria Math" panose="02040503050406030204" pitchFamily="18" charset="0"/>
                            </a:rPr>
                            <m:t>2</m:t>
                          </m:r>
                          <m:r>
                            <a:rPr lang="en-US" sz="2600" i="1">
                              <a:solidFill>
                                <a:srgbClr val="0000FF"/>
                              </a:solidFill>
                              <a:latin typeface="Cambria Math" panose="02040503050406030204" pitchFamily="18" charset="0"/>
                            </a:rPr>
                            <m:t>𝐷𝑀</m:t>
                          </m:r>
                        </m:num>
                        <m:den>
                          <m:sSup>
                            <m:sSupPr>
                              <m:ctrlPr>
                                <a:rPr lang="en-US" sz="2600" i="1">
                                  <a:solidFill>
                                    <a:srgbClr val="0000FF"/>
                                  </a:solidFill>
                                  <a:latin typeface="Cambria Math" panose="02040503050406030204" pitchFamily="18" charset="0"/>
                                </a:rPr>
                              </m:ctrlPr>
                            </m:sSupPr>
                            <m:e>
                              <m:r>
                                <a:rPr lang="en-US" sz="2600" i="1">
                                  <a:solidFill>
                                    <a:srgbClr val="0000FF"/>
                                  </a:solidFill>
                                  <a:latin typeface="Cambria Math" panose="02040503050406030204" pitchFamily="18" charset="0"/>
                                </a:rPr>
                                <m:t>𝑅</m:t>
                              </m:r>
                            </m:e>
                            <m:sup>
                              <m:r>
                                <a:rPr lang="en-US" sz="2600" i="1">
                                  <a:solidFill>
                                    <a:srgbClr val="0000FF"/>
                                  </a:solidFill>
                                  <a:latin typeface="Cambria Math" panose="02040503050406030204" pitchFamily="18" charset="0"/>
                                </a:rPr>
                                <m:t>3</m:t>
                              </m:r>
                            </m:sup>
                          </m:sSup>
                        </m:den>
                      </m:f>
                    </m:oMath>
                  </m:oMathPara>
                </a14:m>
                <a:endParaRPr lang="en-US" dirty="0">
                  <a:solidFill>
                    <a:srgbClr val="0000FF"/>
                  </a:solidFill>
                </a:endParaRPr>
              </a:p>
              <a:p>
                <a:pPr marL="0" indent="0">
                  <a:buNone/>
                </a:pPr>
                <a:r>
                  <a:rPr lang="en-US" sz="2300" dirty="0">
                    <a:solidFill>
                      <a:srgbClr val="0000FF"/>
                    </a:solidFill>
                  </a:rPr>
                  <a:t>assume worst case polar magnetic field</a:t>
                </a:r>
              </a:p>
              <a:p>
                <a:pPr marL="0" indent="0">
                  <a:buNone/>
                </a:pPr>
                <a:endParaRPr lang="en-US"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100" i="1">
                              <a:solidFill>
                                <a:srgbClr val="0000FF"/>
                              </a:solidFill>
                              <a:latin typeface="Cambria Math" panose="02040503050406030204" pitchFamily="18" charset="0"/>
                            </a:rPr>
                          </m:ctrlPr>
                        </m:sSubPr>
                        <m:e>
                          <m:r>
                            <a:rPr lang="en-US" sz="2100" i="1">
                              <a:solidFill>
                                <a:srgbClr val="0000FF"/>
                              </a:solidFill>
                              <a:latin typeface="Cambria Math" panose="02040503050406030204" pitchFamily="18" charset="0"/>
                            </a:rPr>
                            <m:t>𝑇</m:t>
                          </m:r>
                        </m:e>
                        <m:sub>
                          <m:r>
                            <a:rPr lang="en-US" sz="2100" i="1">
                              <a:solidFill>
                                <a:srgbClr val="0000FF"/>
                              </a:solidFill>
                              <a:latin typeface="Cambria Math" panose="02040503050406030204" pitchFamily="18" charset="0"/>
                            </a:rPr>
                            <m:t>𝑚</m:t>
                          </m:r>
                        </m:sub>
                      </m:sSub>
                      <m:r>
                        <a:rPr lang="en-US" sz="2100" i="1">
                          <a:solidFill>
                            <a:srgbClr val="0000FF"/>
                          </a:solidFill>
                          <a:latin typeface="Cambria Math" panose="02040503050406030204" pitchFamily="18" charset="0"/>
                        </a:rPr>
                        <m:t>=</m:t>
                      </m:r>
                      <m:f>
                        <m:fPr>
                          <m:type m:val="skw"/>
                          <m:ctrlPr>
                            <a:rPr lang="en-US" sz="2100" i="1">
                              <a:solidFill>
                                <a:srgbClr val="0000FF"/>
                              </a:solidFill>
                              <a:latin typeface="Cambria Math" panose="02040503050406030204" pitchFamily="18" charset="0"/>
                            </a:rPr>
                          </m:ctrlPr>
                        </m:fPr>
                        <m:num>
                          <m:r>
                            <a:rPr lang="en-US" sz="2100" i="1">
                              <a:solidFill>
                                <a:srgbClr val="0000FF"/>
                              </a:solidFill>
                              <a:latin typeface="Cambria Math" panose="02040503050406030204" pitchFamily="18" charset="0"/>
                            </a:rPr>
                            <m:t>2</m:t>
                          </m:r>
                          <m:d>
                            <m:dPr>
                              <m:ctrlPr>
                                <a:rPr lang="en-US" sz="2100" i="1">
                                  <a:solidFill>
                                    <a:srgbClr val="0000FF"/>
                                  </a:solidFill>
                                  <a:latin typeface="Cambria Math" panose="02040503050406030204" pitchFamily="18" charset="0"/>
                                </a:rPr>
                              </m:ctrlPr>
                            </m:dPr>
                            <m:e>
                              <m:r>
                                <a:rPr lang="en-US" sz="2100" i="1">
                                  <a:solidFill>
                                    <a:srgbClr val="0000FF"/>
                                  </a:solidFill>
                                  <a:latin typeface="Cambria Math" panose="02040503050406030204" pitchFamily="18" charset="0"/>
                                </a:rPr>
                                <m:t>1</m:t>
                              </m:r>
                              <m:r>
                                <a:rPr lang="en-US" sz="2100" i="1">
                                  <a:solidFill>
                                    <a:srgbClr val="0000FF"/>
                                  </a:solidFill>
                                  <a:latin typeface="Cambria Math" panose="02040503050406030204" pitchFamily="18" charset="0"/>
                                </a:rPr>
                                <m:t> </m:t>
                              </m:r>
                              <m:r>
                                <a:rPr lang="en-US" sz="2100" i="1">
                                  <a:solidFill>
                                    <a:srgbClr val="0000FF"/>
                                  </a:solidFill>
                                  <a:latin typeface="Cambria Math" panose="02040503050406030204" pitchFamily="18" charset="0"/>
                                </a:rPr>
                                <m:t>𝐴</m:t>
                              </m:r>
                              <m:r>
                                <a:rPr lang="en-US" sz="2100" i="1">
                                  <a:solidFill>
                                    <a:srgbClr val="0000FF"/>
                                  </a:solidFill>
                                  <a:latin typeface="Cambria Math" panose="02040503050406030204" pitchFamily="18" charset="0"/>
                                </a:rPr>
                                <m:t>∙</m:t>
                              </m:r>
                              <m:sSup>
                                <m:sSupPr>
                                  <m:ctrlPr>
                                    <a:rPr lang="en-US" sz="2100" i="1">
                                      <a:solidFill>
                                        <a:srgbClr val="0000FF"/>
                                      </a:solidFill>
                                      <a:latin typeface="Cambria Math" panose="02040503050406030204" pitchFamily="18" charset="0"/>
                                    </a:rPr>
                                  </m:ctrlPr>
                                </m:sSupPr>
                                <m:e>
                                  <m:r>
                                    <a:rPr lang="en-US" sz="2100" i="1">
                                      <a:solidFill>
                                        <a:srgbClr val="0000FF"/>
                                      </a:solidFill>
                                      <a:latin typeface="Cambria Math" panose="02040503050406030204" pitchFamily="18" charset="0"/>
                                    </a:rPr>
                                    <m:t>𝑚</m:t>
                                  </m:r>
                                </m:e>
                                <m:sup>
                                  <m:r>
                                    <a:rPr lang="en-US" sz="2100" i="1">
                                      <a:solidFill>
                                        <a:srgbClr val="0000FF"/>
                                      </a:solidFill>
                                      <a:latin typeface="Cambria Math" panose="02040503050406030204" pitchFamily="18" charset="0"/>
                                    </a:rPr>
                                    <m:t>2</m:t>
                                  </m:r>
                                </m:sup>
                              </m:sSup>
                            </m:e>
                          </m:d>
                          <m:d>
                            <m:dPr>
                              <m:ctrlPr>
                                <a:rPr lang="en-US" sz="2100" i="1">
                                  <a:solidFill>
                                    <a:srgbClr val="0000FF"/>
                                  </a:solidFill>
                                  <a:latin typeface="Cambria Math" panose="02040503050406030204" pitchFamily="18" charset="0"/>
                                </a:rPr>
                              </m:ctrlPr>
                            </m:dPr>
                            <m:e>
                              <m:r>
                                <a:rPr lang="en-US" sz="2100" i="1">
                                  <a:solidFill>
                                    <a:srgbClr val="0000FF"/>
                                  </a:solidFill>
                                  <a:latin typeface="Cambria Math" panose="02040503050406030204" pitchFamily="18" charset="0"/>
                                </a:rPr>
                                <m:t>7</m:t>
                              </m:r>
                              <m:r>
                                <a:rPr lang="en-US" sz="2100" i="1">
                                  <a:solidFill>
                                    <a:srgbClr val="0000FF"/>
                                  </a:solidFill>
                                  <a:latin typeface="Cambria Math" panose="02040503050406030204" pitchFamily="18" charset="0"/>
                                </a:rPr>
                                <m:t>.</m:t>
                              </m:r>
                              <m:r>
                                <a:rPr lang="en-US" sz="2100" i="1">
                                  <a:solidFill>
                                    <a:srgbClr val="0000FF"/>
                                  </a:solidFill>
                                  <a:latin typeface="Cambria Math" panose="02040503050406030204" pitchFamily="18" charset="0"/>
                                </a:rPr>
                                <m:t>96</m:t>
                              </m:r>
                              <m:r>
                                <a:rPr lang="en-US" sz="2100" i="1">
                                  <a:solidFill>
                                    <a:srgbClr val="0000FF"/>
                                  </a:solidFill>
                                  <a:latin typeface="Cambria Math" panose="02040503050406030204" pitchFamily="18" charset="0"/>
                                </a:rPr>
                                <m:t>𝑥</m:t>
                              </m:r>
                              <m:sSup>
                                <m:sSupPr>
                                  <m:ctrlPr>
                                    <a:rPr lang="en-US" sz="2100" i="1">
                                      <a:solidFill>
                                        <a:srgbClr val="0000FF"/>
                                      </a:solidFill>
                                      <a:latin typeface="Cambria Math" panose="02040503050406030204" pitchFamily="18" charset="0"/>
                                    </a:rPr>
                                  </m:ctrlPr>
                                </m:sSupPr>
                                <m:e>
                                  <m:r>
                                    <a:rPr lang="en-US" sz="2100" i="1">
                                      <a:solidFill>
                                        <a:srgbClr val="0000FF"/>
                                      </a:solidFill>
                                      <a:latin typeface="Cambria Math" panose="02040503050406030204" pitchFamily="18" charset="0"/>
                                    </a:rPr>
                                    <m:t>10</m:t>
                                  </m:r>
                                </m:e>
                                <m:sup>
                                  <m:r>
                                    <a:rPr lang="en-US" sz="2100" i="1">
                                      <a:solidFill>
                                        <a:srgbClr val="0000FF"/>
                                      </a:solidFill>
                                      <a:latin typeface="Cambria Math" panose="02040503050406030204" pitchFamily="18" charset="0"/>
                                    </a:rPr>
                                    <m:t>15</m:t>
                                  </m:r>
                                </m:sup>
                              </m:sSup>
                              <m:r>
                                <a:rPr lang="en-US" sz="2100" i="1">
                                  <a:solidFill>
                                    <a:srgbClr val="0000FF"/>
                                  </a:solidFill>
                                  <a:latin typeface="Cambria Math" panose="02040503050406030204" pitchFamily="18" charset="0"/>
                                </a:rPr>
                                <m:t> </m:t>
                              </m:r>
                              <m:r>
                                <a:rPr lang="en-US" sz="2100" i="1">
                                  <a:solidFill>
                                    <a:srgbClr val="0000FF"/>
                                  </a:solidFill>
                                  <a:latin typeface="Cambria Math" panose="02040503050406030204" pitchFamily="18" charset="0"/>
                                </a:rPr>
                                <m:t>𝑡𝑒𝑠𝑙𝑎</m:t>
                              </m:r>
                              <m:r>
                                <a:rPr lang="en-US" sz="2100" i="1">
                                  <a:solidFill>
                                    <a:srgbClr val="0000FF"/>
                                  </a:solidFill>
                                  <a:latin typeface="Cambria Math" panose="02040503050406030204" pitchFamily="18" charset="0"/>
                                </a:rPr>
                                <m:t>⋅</m:t>
                              </m:r>
                              <m:sSup>
                                <m:sSupPr>
                                  <m:ctrlPr>
                                    <a:rPr lang="en-US" sz="2100" i="1">
                                      <a:solidFill>
                                        <a:srgbClr val="0000FF"/>
                                      </a:solidFill>
                                      <a:latin typeface="Cambria Math" panose="02040503050406030204" pitchFamily="18" charset="0"/>
                                    </a:rPr>
                                  </m:ctrlPr>
                                </m:sSupPr>
                                <m:e>
                                  <m:r>
                                    <a:rPr lang="en-US" sz="2100" i="1">
                                      <a:solidFill>
                                        <a:srgbClr val="0000FF"/>
                                      </a:solidFill>
                                      <a:latin typeface="Cambria Math" panose="02040503050406030204" pitchFamily="18" charset="0"/>
                                    </a:rPr>
                                    <m:t>𝑚</m:t>
                                  </m:r>
                                </m:e>
                                <m:sup>
                                  <m:r>
                                    <a:rPr lang="en-US" sz="2100" i="1">
                                      <a:solidFill>
                                        <a:srgbClr val="0000FF"/>
                                      </a:solidFill>
                                      <a:latin typeface="Cambria Math" panose="02040503050406030204" pitchFamily="18" charset="0"/>
                                    </a:rPr>
                                    <m:t>3</m:t>
                                  </m:r>
                                </m:sup>
                              </m:sSup>
                            </m:e>
                          </m:d>
                        </m:num>
                        <m:den>
                          <m:sSup>
                            <m:sSupPr>
                              <m:ctrlPr>
                                <a:rPr lang="en-US" sz="2100" i="1">
                                  <a:solidFill>
                                    <a:srgbClr val="0000FF"/>
                                  </a:solidFill>
                                  <a:latin typeface="Cambria Math" panose="02040503050406030204" pitchFamily="18" charset="0"/>
                                </a:rPr>
                              </m:ctrlPr>
                            </m:sSupPr>
                            <m:e>
                              <m:d>
                                <m:dPr>
                                  <m:ctrlPr>
                                    <a:rPr lang="en-US" sz="2100" i="1">
                                      <a:solidFill>
                                        <a:srgbClr val="0000FF"/>
                                      </a:solidFill>
                                      <a:latin typeface="Cambria Math" panose="02040503050406030204" pitchFamily="18" charset="0"/>
                                    </a:rPr>
                                  </m:ctrlPr>
                                </m:dPr>
                                <m:e>
                                  <m:d>
                                    <m:dPr>
                                      <m:ctrlPr>
                                        <a:rPr lang="en-US" sz="2100" i="1">
                                          <a:solidFill>
                                            <a:srgbClr val="0000FF"/>
                                          </a:solidFill>
                                          <a:latin typeface="Cambria Math" panose="02040503050406030204" pitchFamily="18" charset="0"/>
                                        </a:rPr>
                                      </m:ctrlPr>
                                    </m:dPr>
                                    <m:e>
                                      <m:r>
                                        <a:rPr lang="en-US" sz="2100" i="1">
                                          <a:solidFill>
                                            <a:srgbClr val="0000FF"/>
                                          </a:solidFill>
                                          <a:latin typeface="Cambria Math" panose="02040503050406030204" pitchFamily="18" charset="0"/>
                                        </a:rPr>
                                        <m:t>7078</m:t>
                                      </m:r>
                                      <m:r>
                                        <a:rPr lang="en-US" sz="2100" i="1">
                                          <a:solidFill>
                                            <a:srgbClr val="0000FF"/>
                                          </a:solidFill>
                                          <a:latin typeface="Cambria Math" panose="02040503050406030204" pitchFamily="18" charset="0"/>
                                        </a:rPr>
                                        <m:t>.</m:t>
                                      </m:r>
                                      <m:r>
                                        <a:rPr lang="en-US" sz="2100" i="1">
                                          <a:solidFill>
                                            <a:srgbClr val="0000FF"/>
                                          </a:solidFill>
                                          <a:latin typeface="Cambria Math" panose="02040503050406030204" pitchFamily="18" charset="0"/>
                                        </a:rPr>
                                        <m:t>137</m:t>
                                      </m:r>
                                      <m:r>
                                        <a:rPr lang="en-US" sz="2100" i="1">
                                          <a:solidFill>
                                            <a:srgbClr val="0000FF"/>
                                          </a:solidFill>
                                          <a:latin typeface="Cambria Math" panose="02040503050406030204" pitchFamily="18" charset="0"/>
                                        </a:rPr>
                                        <m:t> </m:t>
                                      </m:r>
                                      <m:r>
                                        <a:rPr lang="en-US" sz="2100" i="1">
                                          <a:solidFill>
                                            <a:srgbClr val="0000FF"/>
                                          </a:solidFill>
                                          <a:latin typeface="Cambria Math" panose="02040503050406030204" pitchFamily="18" charset="0"/>
                                        </a:rPr>
                                        <m:t>𝑘𝑚</m:t>
                                      </m:r>
                                      <m:r>
                                        <a:rPr lang="en-US" sz="2100" i="1">
                                          <a:solidFill>
                                            <a:srgbClr val="0000FF"/>
                                          </a:solidFill>
                                          <a:latin typeface="Cambria Math" panose="02040503050406030204" pitchFamily="18" charset="0"/>
                                        </a:rPr>
                                        <m:t> </m:t>
                                      </m:r>
                                    </m:e>
                                  </m:d>
                                  <m:d>
                                    <m:dPr>
                                      <m:ctrlPr>
                                        <a:rPr lang="en-US" sz="2100" i="1">
                                          <a:solidFill>
                                            <a:srgbClr val="0000FF"/>
                                          </a:solidFill>
                                          <a:latin typeface="Cambria Math" panose="02040503050406030204" pitchFamily="18" charset="0"/>
                                        </a:rPr>
                                      </m:ctrlPr>
                                    </m:dPr>
                                    <m:e>
                                      <m:f>
                                        <m:fPr>
                                          <m:ctrlPr>
                                            <a:rPr lang="en-US" sz="2100" i="1">
                                              <a:solidFill>
                                                <a:srgbClr val="0000FF"/>
                                              </a:solidFill>
                                              <a:latin typeface="Cambria Math" panose="02040503050406030204" pitchFamily="18" charset="0"/>
                                            </a:rPr>
                                          </m:ctrlPr>
                                        </m:fPr>
                                        <m:num>
                                          <m:r>
                                            <a:rPr lang="en-US" sz="2100" i="1">
                                              <a:solidFill>
                                                <a:srgbClr val="0000FF"/>
                                              </a:solidFill>
                                              <a:latin typeface="Cambria Math" panose="02040503050406030204" pitchFamily="18" charset="0"/>
                                            </a:rPr>
                                            <m:t>1000</m:t>
                                          </m:r>
                                          <m:r>
                                            <a:rPr lang="en-US" sz="2100" i="1">
                                              <a:solidFill>
                                                <a:srgbClr val="0000FF"/>
                                              </a:solidFill>
                                              <a:latin typeface="Cambria Math" panose="02040503050406030204" pitchFamily="18" charset="0"/>
                                            </a:rPr>
                                            <m:t> </m:t>
                                          </m:r>
                                          <m:r>
                                            <a:rPr lang="en-US" sz="2100" i="1">
                                              <a:solidFill>
                                                <a:srgbClr val="0000FF"/>
                                              </a:solidFill>
                                              <a:latin typeface="Cambria Math" panose="02040503050406030204" pitchFamily="18" charset="0"/>
                                            </a:rPr>
                                            <m:t>𝑚</m:t>
                                          </m:r>
                                        </m:num>
                                        <m:den>
                                          <m:r>
                                            <a:rPr lang="en-US" sz="2100" i="1">
                                              <a:solidFill>
                                                <a:srgbClr val="0000FF"/>
                                              </a:solidFill>
                                              <a:latin typeface="Cambria Math" panose="02040503050406030204" pitchFamily="18" charset="0"/>
                                            </a:rPr>
                                            <m:t>1</m:t>
                                          </m:r>
                                          <m:r>
                                            <a:rPr lang="en-US" sz="2100" i="1">
                                              <a:solidFill>
                                                <a:srgbClr val="0000FF"/>
                                              </a:solidFill>
                                              <a:latin typeface="Cambria Math" panose="02040503050406030204" pitchFamily="18" charset="0"/>
                                            </a:rPr>
                                            <m:t> </m:t>
                                          </m:r>
                                          <m:r>
                                            <a:rPr lang="en-US" sz="2100" i="1">
                                              <a:solidFill>
                                                <a:srgbClr val="0000FF"/>
                                              </a:solidFill>
                                              <a:latin typeface="Cambria Math" panose="02040503050406030204" pitchFamily="18" charset="0"/>
                                            </a:rPr>
                                            <m:t>𝑘𝑚</m:t>
                                          </m:r>
                                        </m:den>
                                      </m:f>
                                    </m:e>
                                  </m:d>
                                </m:e>
                              </m:d>
                            </m:e>
                            <m:sup>
                              <m:r>
                                <a:rPr lang="en-US" sz="2100" i="1">
                                  <a:solidFill>
                                    <a:srgbClr val="0000FF"/>
                                  </a:solidFill>
                                  <a:latin typeface="Cambria Math" panose="02040503050406030204" pitchFamily="18" charset="0"/>
                                </a:rPr>
                                <m:t>3</m:t>
                              </m:r>
                            </m:sup>
                          </m:sSup>
                        </m:den>
                      </m:f>
                      <m:r>
                        <a:rPr lang="en-US" sz="2100" i="1">
                          <a:solidFill>
                            <a:srgbClr val="0000FF"/>
                          </a:solidFill>
                          <a:latin typeface="Cambria Math" panose="02040503050406030204" pitchFamily="18" charset="0"/>
                        </a:rPr>
                        <m:t>=</m:t>
                      </m:r>
                      <m:r>
                        <a:rPr lang="en-US" sz="2100" i="1">
                          <a:solidFill>
                            <a:srgbClr val="0000FF"/>
                          </a:solidFill>
                          <a:latin typeface="Cambria Math" panose="02040503050406030204" pitchFamily="18" charset="0"/>
                        </a:rPr>
                        <m:t>4</m:t>
                      </m:r>
                      <m:r>
                        <a:rPr lang="en-US" sz="2100" i="1">
                          <a:solidFill>
                            <a:srgbClr val="0000FF"/>
                          </a:solidFill>
                          <a:latin typeface="Cambria Math" panose="02040503050406030204" pitchFamily="18" charset="0"/>
                        </a:rPr>
                        <m:t>.</m:t>
                      </m:r>
                      <m:r>
                        <a:rPr lang="en-US" sz="2100" i="1">
                          <a:solidFill>
                            <a:srgbClr val="0000FF"/>
                          </a:solidFill>
                          <a:latin typeface="Cambria Math" panose="02040503050406030204" pitchFamily="18" charset="0"/>
                        </a:rPr>
                        <m:t>49</m:t>
                      </m:r>
                      <m:r>
                        <a:rPr lang="en-US" sz="2100" i="1">
                          <a:solidFill>
                            <a:srgbClr val="0000FF"/>
                          </a:solidFill>
                          <a:latin typeface="Cambria Math" panose="02040503050406030204" pitchFamily="18" charset="0"/>
                        </a:rPr>
                        <m:t>𝑥</m:t>
                      </m:r>
                      <m:sSup>
                        <m:sSupPr>
                          <m:ctrlPr>
                            <a:rPr lang="en-US" sz="2100" i="1">
                              <a:solidFill>
                                <a:srgbClr val="0000FF"/>
                              </a:solidFill>
                              <a:latin typeface="Cambria Math" panose="02040503050406030204" pitchFamily="18" charset="0"/>
                            </a:rPr>
                          </m:ctrlPr>
                        </m:sSupPr>
                        <m:e>
                          <m:r>
                            <a:rPr lang="en-US" sz="2100" i="1">
                              <a:solidFill>
                                <a:srgbClr val="0000FF"/>
                              </a:solidFill>
                              <a:latin typeface="Cambria Math" panose="02040503050406030204" pitchFamily="18" charset="0"/>
                            </a:rPr>
                            <m:t>10</m:t>
                          </m:r>
                        </m:e>
                        <m:sup>
                          <m:r>
                            <a:rPr lang="en-US" sz="2100" i="1">
                              <a:solidFill>
                                <a:srgbClr val="0000FF"/>
                              </a:solidFill>
                              <a:latin typeface="Cambria Math" panose="02040503050406030204" pitchFamily="18" charset="0"/>
                            </a:rPr>
                            <m:t>−</m:t>
                          </m:r>
                          <m:r>
                            <a:rPr lang="en-US" sz="2100" i="1">
                              <a:solidFill>
                                <a:srgbClr val="0000FF"/>
                              </a:solidFill>
                              <a:latin typeface="Cambria Math" panose="02040503050406030204" pitchFamily="18" charset="0"/>
                            </a:rPr>
                            <m:t>5</m:t>
                          </m:r>
                        </m:sup>
                      </m:sSup>
                      <m:r>
                        <a:rPr lang="en-US" sz="2100" i="1">
                          <a:solidFill>
                            <a:srgbClr val="0000FF"/>
                          </a:solidFill>
                          <a:latin typeface="Cambria Math" panose="02040503050406030204" pitchFamily="18" charset="0"/>
                        </a:rPr>
                        <m:t> </m:t>
                      </m:r>
                      <m:r>
                        <a:rPr lang="en-US" sz="2100" i="1">
                          <a:solidFill>
                            <a:srgbClr val="0000FF"/>
                          </a:solidFill>
                          <a:latin typeface="Cambria Math" panose="02040503050406030204" pitchFamily="18" charset="0"/>
                        </a:rPr>
                        <m:t>𝑁𝑚</m:t>
                      </m:r>
                    </m:oMath>
                  </m:oMathPara>
                </a14:m>
                <a:endParaRPr lang="en-US" sz="2100" dirty="0">
                  <a:solidFill>
                    <a:srgbClr val="0000FF"/>
                  </a:solidFill>
                </a:endParaRPr>
              </a:p>
              <a:p>
                <a:pPr marL="0" indent="0">
                  <a:buNone/>
                </a:pPr>
                <a:r>
                  <a:rPr lang="en-US" sz="2000" dirty="0">
                    <a:solidFill>
                      <a:srgbClr val="0000FF"/>
                    </a:solidFill>
                  </a:rPr>
                  <a:t>Note:  </a:t>
                </a:r>
                <a14:m>
                  <m:oMath xmlns:m="http://schemas.openxmlformats.org/officeDocument/2006/math">
                    <m:r>
                      <a:rPr lang="en-US" sz="2000" i="1">
                        <a:solidFill>
                          <a:srgbClr val="0000FF"/>
                        </a:solidFill>
                        <a:latin typeface="Cambria Math" panose="02040503050406030204" pitchFamily="18" charset="0"/>
                      </a:rPr>
                      <m:t>𝑡𝑒𝑠𝑙𝑎</m:t>
                    </m:r>
                    <m:r>
                      <a:rPr lang="en-US" sz="2000" i="1">
                        <a:solidFill>
                          <a:srgbClr val="0000FF"/>
                        </a:solidFill>
                        <a:latin typeface="Cambria Math" panose="02040503050406030204" pitchFamily="18" charset="0"/>
                      </a:rPr>
                      <m:t>=</m:t>
                    </m:r>
                    <m:f>
                      <m:fPr>
                        <m:ctrlPr>
                          <a:rPr lang="en-US" sz="2000" i="1">
                            <a:solidFill>
                              <a:srgbClr val="0000FF"/>
                            </a:solidFill>
                            <a:latin typeface="Cambria Math" panose="02040503050406030204" pitchFamily="18" charset="0"/>
                          </a:rPr>
                        </m:ctrlPr>
                      </m:fPr>
                      <m:num>
                        <m:r>
                          <a:rPr lang="en-US" sz="2000" i="1">
                            <a:solidFill>
                              <a:srgbClr val="0000FF"/>
                            </a:solidFill>
                            <a:latin typeface="Cambria Math" panose="02040503050406030204" pitchFamily="18" charset="0"/>
                          </a:rPr>
                          <m:t>𝑘𝑔</m:t>
                        </m:r>
                      </m:num>
                      <m:den>
                        <m:sSup>
                          <m:sSupPr>
                            <m:ctrlPr>
                              <a:rPr lang="en-US" sz="2000" i="1">
                                <a:solidFill>
                                  <a:srgbClr val="0000FF"/>
                                </a:solidFill>
                                <a:latin typeface="Cambria Math" panose="02040503050406030204" pitchFamily="18" charset="0"/>
                              </a:rPr>
                            </m:ctrlPr>
                          </m:sSupPr>
                          <m:e>
                            <m:r>
                              <a:rPr lang="en-US" sz="2000" i="1">
                                <a:solidFill>
                                  <a:srgbClr val="0000FF"/>
                                </a:solidFill>
                                <a:latin typeface="Cambria Math" panose="02040503050406030204" pitchFamily="18" charset="0"/>
                              </a:rPr>
                              <m:t>𝑠</m:t>
                            </m:r>
                          </m:e>
                          <m:sup>
                            <m:r>
                              <a:rPr lang="en-US" sz="2000" i="1">
                                <a:solidFill>
                                  <a:srgbClr val="0000FF"/>
                                </a:solidFill>
                                <a:latin typeface="Cambria Math" panose="02040503050406030204" pitchFamily="18" charset="0"/>
                              </a:rPr>
                              <m:t>2</m:t>
                            </m:r>
                          </m:sup>
                        </m:sSup>
                        <m:r>
                          <a:rPr lang="en-US" sz="2000" i="1">
                            <a:solidFill>
                              <a:srgbClr val="0000FF"/>
                            </a:solidFill>
                            <a:latin typeface="Cambria Math" panose="02040503050406030204" pitchFamily="18" charset="0"/>
                          </a:rPr>
                          <m:t>𝐴</m:t>
                        </m:r>
                      </m:den>
                    </m:f>
                  </m:oMath>
                </a14:m>
                <a:endParaRPr lang="en-US" sz="2100" dirty="0">
                  <a:solidFill>
                    <a:srgbClr val="0000FF"/>
                  </a:solidFill>
                </a:endParaRPr>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1012" y="1075765"/>
                <a:ext cx="8578663" cy="5649049"/>
              </a:xfrm>
              <a:blipFill>
                <a:blip r:embed="rId2"/>
                <a:stretch>
                  <a:fillRect l="-924" t="-2265" b="-26214"/>
                </a:stretch>
              </a:blipFill>
            </p:spPr>
            <p:txBody>
              <a:bodyPr/>
              <a:lstStyle/>
              <a:p>
                <a:r>
                  <a:rPr lang="en-US">
                    <a:noFill/>
                  </a:rPr>
                  <a:t> </a:t>
                </a:r>
              </a:p>
            </p:txBody>
          </p:sp>
        </mc:Fallback>
      </mc:AlternateContent>
    </p:spTree>
    <p:extLst>
      <p:ext uri="{BB962C8B-B14F-4D97-AF65-F5344CB8AC3E}">
        <p14:creationId xmlns:p14="http://schemas.microsoft.com/office/powerpoint/2010/main" val="35087944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33082" y="1272988"/>
                <a:ext cx="8282268" cy="5390571"/>
              </a:xfrm>
            </p:spPr>
            <p:txBody>
              <a:bodyPr>
                <a:normAutofit fontScale="77500" lnSpcReduction="20000"/>
              </a:bodyPr>
              <a:lstStyle/>
              <a:p>
                <a:pPr marL="0" indent="0">
                  <a:buNone/>
                </a:pPr>
                <a:r>
                  <a:rPr lang="en-US" u="sng" dirty="0">
                    <a:solidFill>
                      <a:srgbClr val="0000FF"/>
                    </a:solidFill>
                  </a:rPr>
                  <a:t>Aerodynamic drag</a:t>
                </a:r>
                <a:r>
                  <a:rPr lang="en-US" dirty="0">
                    <a:solidFill>
                      <a:srgbClr val="0000FF"/>
                    </a:solidFill>
                  </a:rPr>
                  <a:t>:</a:t>
                </a:r>
              </a:p>
              <a:p>
                <a:pPr marL="0" indent="0">
                  <a:buNone/>
                </a:pPr>
                <a14:m>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b="0" i="1" smtClean="0">
                            <a:solidFill>
                              <a:srgbClr val="0000FF"/>
                            </a:solidFill>
                            <a:latin typeface="Cambria Math" panose="02040503050406030204" pitchFamily="18" charset="0"/>
                          </a:rPr>
                          <m:t>𝑑𝑟𝑎𝑔</m:t>
                        </m:r>
                      </m:sub>
                    </m:sSub>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0</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5</m:t>
                    </m:r>
                    <m:r>
                      <a:rPr lang="en-US" i="1">
                        <a:solidFill>
                          <a:srgbClr val="0000FF"/>
                        </a:solidFill>
                        <a:latin typeface="Cambria Math" panose="02040503050406030204" pitchFamily="18" charset="0"/>
                      </a:rPr>
                      <m:t>𝜌</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𝐶</m:t>
                        </m:r>
                      </m:e>
                      <m:sub>
                        <m:r>
                          <a:rPr lang="en-US" i="1">
                            <a:solidFill>
                              <a:srgbClr val="0000FF"/>
                            </a:solidFill>
                            <a:latin typeface="Cambria Math" panose="02040503050406030204" pitchFamily="18" charset="0"/>
                          </a:rPr>
                          <m:t>𝑑</m:t>
                        </m:r>
                      </m:sub>
                    </m:sSub>
                    <m:r>
                      <a:rPr lang="en-US" i="1">
                        <a:solidFill>
                          <a:srgbClr val="0000FF"/>
                        </a:solidFill>
                        <a:latin typeface="Cambria Math" panose="02040503050406030204" pitchFamily="18" charset="0"/>
                      </a:rPr>
                      <m:t>𝐴</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𝑉</m:t>
                        </m:r>
                      </m:e>
                      <m:sup>
                        <m:r>
                          <a:rPr lang="en-US" i="1">
                            <a:solidFill>
                              <a:srgbClr val="0000FF"/>
                            </a:solidFill>
                            <a:latin typeface="Cambria Math" panose="02040503050406030204" pitchFamily="18" charset="0"/>
                          </a:rPr>
                          <m:t>2</m:t>
                        </m:r>
                      </m:sup>
                    </m:sSup>
                    <m:d>
                      <m:dPr>
                        <m:ctrlPr>
                          <a:rPr lang="en-US" i="1">
                            <a:solidFill>
                              <a:srgbClr val="0000FF"/>
                            </a:solidFill>
                            <a:latin typeface="Cambria Math" panose="02040503050406030204" pitchFamily="18" charset="0"/>
                          </a:rPr>
                        </m:ctrlPr>
                      </m:dPr>
                      <m:e>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𝑐</m:t>
                            </m:r>
                          </m:e>
                          <m:sub>
                            <m:r>
                              <a:rPr lang="en-US" i="1">
                                <a:solidFill>
                                  <a:srgbClr val="0000FF"/>
                                </a:solidFill>
                                <a:latin typeface="Cambria Math" panose="02040503050406030204" pitchFamily="18" charset="0"/>
                              </a:rPr>
                              <m:t>𝑝𝑎</m:t>
                            </m:r>
                          </m:sub>
                        </m:sSub>
                        <m:r>
                          <a:rPr lang="en-US" i="1">
                            <a:solidFill>
                              <a:srgbClr val="0000FF"/>
                            </a:solidFill>
                            <a:latin typeface="Cambria Math" panose="02040503050406030204" pitchFamily="18" charset="0"/>
                          </a:rPr>
                          <m:t>−</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𝑐</m:t>
                            </m:r>
                          </m:e>
                          <m:sub>
                            <m:r>
                              <a:rPr lang="en-US" i="1">
                                <a:solidFill>
                                  <a:srgbClr val="0000FF"/>
                                </a:solidFill>
                                <a:latin typeface="Cambria Math" panose="02040503050406030204" pitchFamily="18" charset="0"/>
                              </a:rPr>
                              <m:t>𝑚</m:t>
                            </m:r>
                          </m:sub>
                        </m:sSub>
                      </m:e>
                    </m:d>
                  </m:oMath>
                </a14:m>
                <a:r>
                  <a:rPr lang="en-US" dirty="0">
                    <a:solidFill>
                      <a:srgbClr val="0000FF"/>
                    </a:solidFill>
                  </a:rPr>
                  <a:t>	</a:t>
                </a:r>
                <a14:m>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𝑉</m:t>
                        </m:r>
                      </m:e>
                      <m:sub>
                        <m:r>
                          <a:rPr lang="en-US" i="1">
                            <a:solidFill>
                              <a:srgbClr val="0000FF"/>
                            </a:solidFill>
                            <a:latin typeface="Cambria Math" panose="02040503050406030204" pitchFamily="18" charset="0"/>
                          </a:rPr>
                          <m:t>𝑐𝑖𝑟𝑐</m:t>
                        </m:r>
                      </m:sub>
                    </m:sSub>
                    <m:r>
                      <a:rPr lang="en-US" i="1">
                        <a:solidFill>
                          <a:srgbClr val="0000FF"/>
                        </a:solidFill>
                        <a:latin typeface="Cambria Math" panose="02040503050406030204" pitchFamily="18" charset="0"/>
                      </a:rPr>
                      <m:t>=</m:t>
                    </m:r>
                    <m:rad>
                      <m:radPr>
                        <m:degHide m:val="on"/>
                        <m:ctrlPr>
                          <a:rPr lang="en-US" i="1">
                            <a:solidFill>
                              <a:srgbClr val="0000FF"/>
                            </a:solidFill>
                            <a:latin typeface="Cambria Math" panose="02040503050406030204" pitchFamily="18" charset="0"/>
                          </a:rPr>
                        </m:ctrlPr>
                      </m:radPr>
                      <m:deg/>
                      <m:e>
                        <m:f>
                          <m:fPr>
                            <m:type m:val="skw"/>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𝜇</m:t>
                            </m:r>
                          </m:num>
                          <m:den>
                            <m:r>
                              <a:rPr lang="en-US" i="1">
                                <a:solidFill>
                                  <a:srgbClr val="0000FF"/>
                                </a:solidFill>
                                <a:latin typeface="Cambria Math" panose="02040503050406030204" pitchFamily="18" charset="0"/>
                              </a:rPr>
                              <m:t>𝑅</m:t>
                            </m:r>
                          </m:den>
                        </m:f>
                      </m:e>
                    </m:rad>
                  </m:oMath>
                </a14:m>
                <a:endParaRPr lang="en-US"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𝑉</m:t>
                          </m:r>
                        </m:e>
                        <m:sub>
                          <m:r>
                            <a:rPr lang="en-US" i="1">
                              <a:solidFill>
                                <a:srgbClr val="0000FF"/>
                              </a:solidFill>
                              <a:latin typeface="Cambria Math" panose="02040503050406030204" pitchFamily="18" charset="0"/>
                            </a:rPr>
                            <m:t>𝑐𝑖𝑟𝑐</m:t>
                          </m:r>
                        </m:sub>
                      </m:sSub>
                      <m:r>
                        <a:rPr lang="en-US" i="1">
                          <a:solidFill>
                            <a:srgbClr val="0000FF"/>
                          </a:solidFill>
                          <a:latin typeface="Cambria Math" panose="02040503050406030204" pitchFamily="18" charset="0"/>
                        </a:rPr>
                        <m:t>=</m:t>
                      </m:r>
                      <m:rad>
                        <m:radPr>
                          <m:degHide m:val="on"/>
                          <m:ctrlPr>
                            <a:rPr lang="en-US" i="1">
                              <a:solidFill>
                                <a:srgbClr val="0000FF"/>
                              </a:solidFill>
                              <a:latin typeface="Cambria Math" panose="02040503050406030204" pitchFamily="18" charset="0"/>
                            </a:rPr>
                          </m:ctrlPr>
                        </m:radPr>
                        <m:deg/>
                        <m:e>
                          <m:f>
                            <m:fPr>
                              <m:type m:val="skw"/>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𝜇</m:t>
                              </m:r>
                            </m:num>
                            <m:den>
                              <m:r>
                                <a:rPr lang="en-US" i="1">
                                  <a:solidFill>
                                    <a:srgbClr val="0000FF"/>
                                  </a:solidFill>
                                  <a:latin typeface="Cambria Math" panose="02040503050406030204" pitchFamily="18" charset="0"/>
                                </a:rPr>
                                <m:t>𝑅</m:t>
                              </m:r>
                            </m:den>
                          </m:f>
                        </m:e>
                      </m:rad>
                      <m:r>
                        <a:rPr lang="en-US" i="1">
                          <a:solidFill>
                            <a:srgbClr val="0000FF"/>
                          </a:solidFill>
                          <a:latin typeface="Cambria Math" panose="02040503050406030204" pitchFamily="18" charset="0"/>
                        </a:rPr>
                        <m:t>=</m:t>
                      </m:r>
                      <m:rad>
                        <m:radPr>
                          <m:degHide m:val="on"/>
                          <m:ctrlPr>
                            <a:rPr lang="en-US" i="1">
                              <a:solidFill>
                                <a:srgbClr val="0000FF"/>
                              </a:solidFill>
                              <a:latin typeface="Cambria Math" panose="02040503050406030204" pitchFamily="18" charset="0"/>
                            </a:rPr>
                          </m:ctrlPr>
                        </m:radPr>
                        <m:deg/>
                        <m:e>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398600</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5</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𝑘𝑚</m:t>
                                  </m:r>
                                </m:e>
                                <m:sup>
                                  <m:r>
                                    <a:rPr lang="en-US" i="1">
                                      <a:solidFill>
                                        <a:srgbClr val="0000FF"/>
                                      </a:solidFill>
                                      <a:latin typeface="Cambria Math" panose="02040503050406030204" pitchFamily="18" charset="0"/>
                                    </a:rPr>
                                    <m:t>3</m:t>
                                  </m:r>
                                </m:sup>
                              </m:sSup>
                              <m:r>
                                <a:rPr lang="en-US" i="1">
                                  <a:solidFill>
                                    <a:srgbClr val="0000FF"/>
                                  </a:solidFill>
                                  <a:latin typeface="Cambria Math" panose="02040503050406030204" pitchFamily="18" charset="0"/>
                                </a:rPr>
                                <m:t>/</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𝑠</m:t>
                                  </m:r>
                                </m:e>
                                <m:sup>
                                  <m:r>
                                    <a:rPr lang="en-US" i="1">
                                      <a:solidFill>
                                        <a:srgbClr val="0000FF"/>
                                      </a:solidFill>
                                      <a:latin typeface="Cambria Math" panose="02040503050406030204" pitchFamily="18" charset="0"/>
                                    </a:rPr>
                                    <m:t>2</m:t>
                                  </m:r>
                                </m:sup>
                              </m:sSup>
                            </m:num>
                            <m:den>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7078</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137</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𝑘𝑚</m:t>
                                  </m:r>
                                </m:e>
                              </m:d>
                            </m:den>
                          </m:f>
                        </m:e>
                      </m:rad>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1000</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𝑚</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𝑘𝑚</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7504</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3</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𝑚</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𝑠</m:t>
                      </m:r>
                    </m:oMath>
                  </m:oMathPara>
                </a14:m>
                <a:endParaRPr lang="en-US"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b="0" i="1" smtClean="0">
                              <a:solidFill>
                                <a:srgbClr val="0000FF"/>
                              </a:solidFill>
                              <a:latin typeface="Cambria Math" panose="02040503050406030204" pitchFamily="18" charset="0"/>
                            </a:rPr>
                            <m:t>𝑑𝑟𝑎𝑔</m:t>
                          </m:r>
                        </m:sub>
                      </m:sSub>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0</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5</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47</m:t>
                          </m:r>
                          <m:r>
                            <a:rPr lang="en-US" i="1">
                              <a:solidFill>
                                <a:srgbClr val="0000FF"/>
                              </a:solidFill>
                              <a:latin typeface="Cambria Math" panose="02040503050406030204" pitchFamily="18" charset="0"/>
                            </a:rPr>
                            <m:t>𝑥</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10</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13</m:t>
                              </m:r>
                            </m:sup>
                          </m:sSup>
                          <m:f>
                            <m:fPr>
                              <m:type m:val="skw"/>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𝑘𝑔</m:t>
                              </m:r>
                            </m:num>
                            <m:den>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𝑚</m:t>
                                  </m:r>
                                </m:e>
                                <m:sup>
                                  <m:r>
                                    <a:rPr lang="en-US" i="1">
                                      <a:solidFill>
                                        <a:srgbClr val="0000FF"/>
                                      </a:solidFill>
                                      <a:latin typeface="Cambria Math" panose="02040503050406030204" pitchFamily="18" charset="0"/>
                                    </a:rPr>
                                    <m:t>3</m:t>
                                  </m:r>
                                </m:sup>
                              </m:sSup>
                            </m:den>
                          </m:f>
                        </m:e>
                      </m:d>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2</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5</m:t>
                          </m:r>
                        </m:e>
                      </m:d>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2</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𝑚</m:t>
                              </m:r>
                            </m:e>
                            <m:sup>
                              <m:r>
                                <a:rPr lang="en-US" i="1">
                                  <a:solidFill>
                                    <a:srgbClr val="0000FF"/>
                                  </a:solidFill>
                                  <a:latin typeface="Cambria Math" panose="02040503050406030204" pitchFamily="18" charset="0"/>
                                </a:rPr>
                                <m:t>2</m:t>
                              </m:r>
                            </m:sup>
                          </m:sSup>
                        </m:e>
                      </m:d>
                      <m:sSup>
                        <m:sSupPr>
                          <m:ctrlPr>
                            <a:rPr lang="en-US" i="1">
                              <a:solidFill>
                                <a:srgbClr val="0000FF"/>
                              </a:solidFill>
                              <a:latin typeface="Cambria Math" panose="02040503050406030204" pitchFamily="18" charset="0"/>
                            </a:rPr>
                          </m:ctrlPr>
                        </m:sSupPr>
                        <m:e>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7504</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3</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𝑚</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𝑠</m:t>
                              </m:r>
                            </m:e>
                          </m:d>
                        </m:e>
                        <m:sup>
                          <m:r>
                            <a:rPr lang="en-US" i="1">
                              <a:solidFill>
                                <a:srgbClr val="0000FF"/>
                              </a:solidFill>
                              <a:latin typeface="Cambria Math" panose="02040503050406030204" pitchFamily="18" charset="0"/>
                            </a:rPr>
                            <m:t>2</m:t>
                          </m:r>
                        </m:sup>
                      </m:sSup>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0</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3</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𝑚</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6</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21</m:t>
                      </m:r>
                      <m:r>
                        <a:rPr lang="en-US" i="1">
                          <a:solidFill>
                            <a:srgbClr val="0000FF"/>
                          </a:solidFill>
                          <a:latin typeface="Cambria Math" panose="02040503050406030204" pitchFamily="18" charset="0"/>
                        </a:rPr>
                        <m:t>𝑥</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10</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6</m:t>
                          </m:r>
                        </m:sup>
                      </m:sSup>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𝑁𝑚</m:t>
                      </m:r>
                    </m:oMath>
                  </m:oMathPara>
                </a14:m>
                <a:endParaRPr lang="en-US" dirty="0">
                  <a:solidFill>
                    <a:srgbClr val="0000FF"/>
                  </a:solidFill>
                </a:endParaRPr>
              </a:p>
              <a:p>
                <a:pPr marL="0" indent="0">
                  <a:buNone/>
                </a:pPr>
                <a:endParaRPr lang="en-US" dirty="0">
                  <a:solidFill>
                    <a:srgbClr val="0000FF"/>
                  </a:solidFill>
                </a:endParaRPr>
              </a:p>
              <a:p>
                <a:pPr marL="0" indent="0">
                  <a:buNone/>
                </a:pPr>
                <a:r>
                  <a:rPr lang="en-US" u="sng" dirty="0">
                    <a:solidFill>
                      <a:srgbClr val="0000FF"/>
                    </a:solidFill>
                  </a:rPr>
                  <a:t>Total external disturbance torque</a:t>
                </a:r>
                <a:r>
                  <a:rPr lang="en-US" dirty="0">
                    <a:solidFill>
                      <a:srgbClr val="0000FF"/>
                    </a:solidFill>
                  </a:rPr>
                  <a:t>:</a:t>
                </a:r>
              </a:p>
              <a:p>
                <a:pPr marL="0" indent="0">
                  <a:buNone/>
                </a:pPr>
                <a:endParaRPr lang="en-US"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𝐷</m:t>
                          </m:r>
                        </m:sub>
                      </m:sSub>
                      <m:r>
                        <a:rPr lang="en-US" i="1">
                          <a:solidFill>
                            <a:srgbClr val="0000FF"/>
                          </a:solidFill>
                          <a:latin typeface="Cambria Math" panose="02040503050406030204" pitchFamily="18" charset="0"/>
                        </a:rPr>
                        <m:t>=</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𝑔</m:t>
                          </m:r>
                        </m:sub>
                      </m:sSub>
                      <m:r>
                        <a:rPr lang="en-US" i="1">
                          <a:solidFill>
                            <a:srgbClr val="0000FF"/>
                          </a:solidFill>
                          <a:latin typeface="Cambria Math" panose="02040503050406030204" pitchFamily="18" charset="0"/>
                        </a:rPr>
                        <m:t>+</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𝑆𝑅𝑃</m:t>
                          </m:r>
                        </m:sub>
                      </m:sSub>
                      <m:r>
                        <a:rPr lang="en-US" i="1">
                          <a:solidFill>
                            <a:srgbClr val="0000FF"/>
                          </a:solidFill>
                          <a:latin typeface="Cambria Math" panose="02040503050406030204" pitchFamily="18" charset="0"/>
                        </a:rPr>
                        <m:t>+</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𝑚</m:t>
                          </m:r>
                        </m:sub>
                      </m:sSub>
                      <m:r>
                        <a:rPr lang="en-US" i="1">
                          <a:solidFill>
                            <a:srgbClr val="0000FF"/>
                          </a:solidFill>
                          <a:latin typeface="Cambria Math" panose="02040503050406030204" pitchFamily="18" charset="0"/>
                        </a:rPr>
                        <m:t>+</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𝐷𝑟𝑎𝑔</m:t>
                          </m:r>
                        </m:sub>
                      </m:sSub>
                    </m:oMath>
                  </m:oMathPara>
                </a14:m>
                <a:endParaRPr lang="en-US"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𝐷</m:t>
                          </m:r>
                        </m:sub>
                      </m:sSub>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4</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38</m:t>
                      </m:r>
                      <m:r>
                        <a:rPr lang="en-US" b="0" i="1" smtClean="0">
                          <a:solidFill>
                            <a:srgbClr val="0000FF"/>
                          </a:solidFill>
                          <a:latin typeface="Cambria Math" panose="02040503050406030204" pitchFamily="18" charset="0"/>
                        </a:rPr>
                        <m:t> </m:t>
                      </m:r>
                      <m:r>
                        <a:rPr lang="en-US" b="0" i="1" smtClean="0">
                          <a:solidFill>
                            <a:srgbClr val="0000FF"/>
                          </a:solidFill>
                          <a:latin typeface="Cambria Math" panose="02040503050406030204" pitchFamily="18" charset="0"/>
                        </a:rPr>
                        <m:t>𝑥</m:t>
                      </m:r>
                      <m:r>
                        <a:rPr lang="en-US" b="0" i="1" smtClean="0">
                          <a:solidFill>
                            <a:srgbClr val="0000FF"/>
                          </a:solidFill>
                          <a:latin typeface="Cambria Math" panose="02040503050406030204" pitchFamily="18" charset="0"/>
                        </a:rPr>
                        <m:t> </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10</m:t>
                          </m:r>
                        </m:e>
                        <m:sup>
                          <m:r>
                            <a:rPr lang="en-US" b="0" i="1" smtClean="0">
                              <a:solidFill>
                                <a:srgbClr val="0000FF"/>
                              </a:solidFill>
                              <a:latin typeface="Cambria Math" panose="02040503050406030204" pitchFamily="18" charset="0"/>
                            </a:rPr>
                            <m:t>5</m:t>
                          </m:r>
                        </m:sup>
                      </m:sSup>
                      <m:r>
                        <a:rPr lang="en-US" b="0" i="1" smtClean="0">
                          <a:solidFill>
                            <a:srgbClr val="0000FF"/>
                          </a:solidFill>
                          <a:latin typeface="Cambria Math" panose="02040503050406030204" pitchFamily="18" charset="0"/>
                        </a:rPr>
                        <m:t> </m:t>
                      </m:r>
                      <m:r>
                        <a:rPr lang="en-US" b="0" i="1" smtClean="0">
                          <a:solidFill>
                            <a:srgbClr val="0000FF"/>
                          </a:solidFill>
                          <a:latin typeface="Cambria Math" panose="02040503050406030204" pitchFamily="18" charset="0"/>
                        </a:rPr>
                        <m:t>𝑁</m:t>
                      </m:r>
                      <m:r>
                        <a:rPr lang="en-US" b="0" i="1" smtClean="0">
                          <a:solidFill>
                            <a:srgbClr val="0000FF"/>
                          </a:solidFill>
                          <a:latin typeface="Cambria Math" panose="02040503050406030204" pitchFamily="18" charset="0"/>
                          <a:ea typeface="Cambria Math" panose="02040503050406030204" pitchFamily="18" charset="0"/>
                        </a:rPr>
                        <m:t>∙</m:t>
                      </m:r>
                      <m:r>
                        <a:rPr lang="en-US" b="0" i="1" smtClean="0">
                          <a:solidFill>
                            <a:srgbClr val="0000FF"/>
                          </a:solidFill>
                          <a:latin typeface="Cambria Math" panose="02040503050406030204" pitchFamily="18" charset="0"/>
                          <a:ea typeface="Cambria Math" panose="02040503050406030204" pitchFamily="18" charset="0"/>
                        </a:rPr>
                        <m:t>𝑚</m:t>
                      </m:r>
                    </m:oMath>
                  </m:oMathPara>
                </a14:m>
                <a:endParaRPr lang="en-US" dirty="0">
                  <a:solidFill>
                    <a:srgbClr val="0000FF"/>
                  </a:solidFill>
                </a:endParaRPr>
              </a:p>
              <a:p>
                <a:pPr marL="0" indent="0">
                  <a:buNone/>
                </a:pPr>
                <a:endParaRPr lang="en-US" dirty="0">
                  <a:solidFill>
                    <a:srgbClr val="0000FF"/>
                  </a:solidFill>
                </a:endParaRPr>
              </a:p>
              <a:p>
                <a:pPr marL="0" indent="0">
                  <a:buNone/>
                </a:pPr>
                <a:r>
                  <a:rPr lang="en-US" dirty="0">
                    <a:solidFill>
                      <a:srgbClr val="0000FF"/>
                    </a:solidFill>
                  </a:rPr>
                  <a:t>As it turns out, gravity gradient disturbance dominates in this particular example (but that’s not always true).</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33082" y="1272988"/>
                <a:ext cx="8282268" cy="5390571"/>
              </a:xfrm>
              <a:blipFill>
                <a:blip r:embed="rId2"/>
                <a:stretch>
                  <a:fillRect l="-957" t="-2489"/>
                </a:stretch>
              </a:blipFill>
            </p:spPr>
            <p:txBody>
              <a:bodyPr/>
              <a:lstStyle/>
              <a:p>
                <a:r>
                  <a:rPr lang="en-US">
                    <a:noFill/>
                  </a:rPr>
                  <a:t> </a:t>
                </a:r>
              </a:p>
            </p:txBody>
          </p:sp>
        </mc:Fallback>
      </mc:AlternateContent>
    </p:spTree>
    <p:extLst>
      <p:ext uri="{BB962C8B-B14F-4D97-AF65-F5344CB8AC3E}">
        <p14:creationId xmlns:p14="http://schemas.microsoft.com/office/powerpoint/2010/main" val="6095277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047" y="-169425"/>
            <a:ext cx="7886700" cy="1325563"/>
          </a:xfrm>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4325" y="1156138"/>
                <a:ext cx="8515350" cy="5701862"/>
              </a:xfrm>
            </p:spPr>
            <p:txBody>
              <a:bodyPr>
                <a:normAutofit fontScale="62500" lnSpcReduction="20000"/>
              </a:bodyPr>
              <a:lstStyle/>
              <a:p>
                <a:pPr marL="0" indent="0">
                  <a:buNone/>
                </a:pPr>
                <a:r>
                  <a:rPr lang="en-US" sz="3600" b="1" dirty="0">
                    <a:solidFill>
                      <a:srgbClr val="0000FF"/>
                    </a:solidFill>
                  </a:rPr>
                  <a:t>Torque Capability (</a:t>
                </a:r>
                <a:r>
                  <a:rPr lang="en-US" sz="3600" b="1" dirty="0" err="1">
                    <a:solidFill>
                      <a:srgbClr val="0000FF"/>
                    </a:solidFill>
                  </a:rPr>
                  <a:t>N·m</a:t>
                </a:r>
                <a:r>
                  <a:rPr lang="en-US" sz="3600" b="1" dirty="0">
                    <a:solidFill>
                      <a:srgbClr val="0000FF"/>
                    </a:solidFill>
                  </a:rPr>
                  <a:t>)</a:t>
                </a:r>
              </a:p>
              <a:p>
                <a:pPr marL="0" lvl="0" indent="0">
                  <a:buNone/>
                </a:pPr>
                <a:r>
                  <a:rPr lang="en-US" dirty="0">
                    <a:solidFill>
                      <a:srgbClr val="0000FF"/>
                    </a:solidFill>
                  </a:rPr>
                  <a:t>1. Disturbance Rejection</a:t>
                </a:r>
              </a:p>
              <a:p>
                <a:r>
                  <a:rPr lang="en-US" dirty="0">
                    <a:solidFill>
                      <a:srgbClr val="0000FF"/>
                    </a:solidFill>
                  </a:rPr>
                  <a:t>Worst case:  assume one wheel must reject disturbance torques</a:t>
                </a:r>
              </a:p>
              <a:p>
                <a:r>
                  <a:rPr lang="en-US" dirty="0">
                    <a:solidFill>
                      <a:srgbClr val="0000FF"/>
                    </a:solidFill>
                  </a:rPr>
                  <a:t>Assume margin factor of 20%</a:t>
                </a:r>
              </a:p>
              <a:p>
                <a:r>
                  <a:rPr lang="en-US" dirty="0">
                    <a:solidFill>
                      <a:srgbClr val="0000FF"/>
                    </a:solidFill>
                  </a:rPr>
                  <a:t>T</a:t>
                </a:r>
                <a:r>
                  <a:rPr lang="en-US" baseline="-25000" dirty="0">
                    <a:solidFill>
                      <a:srgbClr val="0000FF"/>
                    </a:solidFill>
                  </a:rPr>
                  <a:t>RW_D</a:t>
                </a:r>
                <a:r>
                  <a:rPr lang="en-US" dirty="0">
                    <a:solidFill>
                      <a:srgbClr val="0000FF"/>
                    </a:solidFill>
                  </a:rPr>
                  <a:t> is moment reaction wheel must supply to overcome disturbance torque</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𝑅</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𝑊</m:t>
                              </m:r>
                            </m:e>
                            <m:sub>
                              <m:r>
                                <a:rPr lang="en-US" i="1">
                                  <a:solidFill>
                                    <a:srgbClr val="0000FF"/>
                                  </a:solidFill>
                                  <a:latin typeface="Cambria Math" panose="02040503050406030204" pitchFamily="18" charset="0"/>
                                </a:rPr>
                                <m:t>𝐷</m:t>
                              </m:r>
                            </m:sub>
                          </m:sSub>
                        </m:sub>
                      </m:sSub>
                      <m:r>
                        <a:rPr lang="en-US" i="1">
                          <a:solidFill>
                            <a:srgbClr val="0000FF"/>
                          </a:solidFill>
                          <a:latin typeface="Cambria Math" panose="02040503050406030204" pitchFamily="18" charset="0"/>
                        </a:rPr>
                        <m:t>=</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𝐷𝑡𝑜𝑡𝑎𝑙</m:t>
                          </m:r>
                        </m:sub>
                      </m:sSub>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𝑀𝑎𝑟𝑔𝑖𝑛</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𝐹𝑎𝑐𝑡𝑜𝑟</m:t>
                          </m:r>
                        </m:e>
                      </m:d>
                    </m:oMath>
                  </m:oMathPara>
                </a14:m>
                <a:endParaRPr lang="en-US" dirty="0">
                  <a:solidFill>
                    <a:srgbClr val="0000FF"/>
                  </a:solidFill>
                </a:endParaRPr>
              </a:p>
              <a:p>
                <a:pPr marL="0" indent="0">
                  <a:buNone/>
                </a:pPr>
                <a14:m>
                  <m:oMathPara xmlns:m="http://schemas.openxmlformats.org/officeDocument/2006/math">
                    <m:oMathParaPr>
                      <m:jc m:val="centerGroup"/>
                    </m:oMathParaPr>
                    <m:oMath xmlns:m="http://schemas.openxmlformats.org/officeDocument/2006/math">
                      <m:r>
                        <a:rPr lang="en-US" i="1">
                          <a:solidFill>
                            <a:srgbClr val="0000FF"/>
                          </a:solidFill>
                          <a:latin typeface="Cambria Math" panose="02040503050406030204" pitchFamily="18" charset="0"/>
                        </a:rPr>
                        <m:t>=</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6</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3</m:t>
                          </m:r>
                          <m:r>
                            <a:rPr lang="en-US" i="1">
                              <a:solidFill>
                                <a:srgbClr val="0000FF"/>
                              </a:solidFill>
                              <a:latin typeface="Cambria Math" panose="02040503050406030204" pitchFamily="18" charset="0"/>
                            </a:rPr>
                            <m:t>𝑥</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10</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5</m:t>
                              </m:r>
                            </m:sup>
                          </m:sSup>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𝑁𝑚</m:t>
                          </m:r>
                        </m:e>
                      </m:d>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2</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7</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6</m:t>
                      </m:r>
                      <m:r>
                        <a:rPr lang="en-US" i="1">
                          <a:solidFill>
                            <a:srgbClr val="0000FF"/>
                          </a:solidFill>
                          <a:latin typeface="Cambria Math" panose="02040503050406030204" pitchFamily="18" charset="0"/>
                        </a:rPr>
                        <m:t>𝑥</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10</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5</m:t>
                          </m:r>
                        </m:sup>
                      </m:sSup>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𝑁𝑚</m:t>
                      </m:r>
                    </m:oMath>
                  </m:oMathPara>
                </a14:m>
                <a:endParaRPr lang="en-US" dirty="0">
                  <a:solidFill>
                    <a:srgbClr val="0000FF"/>
                  </a:solidFill>
                </a:endParaRPr>
              </a:p>
              <a:p>
                <a:pPr marL="0" indent="0">
                  <a:buNone/>
                </a:pPr>
                <a:r>
                  <a:rPr lang="en-US" dirty="0">
                    <a:solidFill>
                      <a:srgbClr val="0000FF"/>
                    </a:solidFill>
                  </a:rPr>
                  <a:t> </a:t>
                </a:r>
              </a:p>
              <a:p>
                <a:pPr marL="0" lvl="0" indent="0">
                  <a:buNone/>
                </a:pPr>
                <a:r>
                  <a:rPr lang="en-US" dirty="0">
                    <a:solidFill>
                      <a:srgbClr val="0000FF"/>
                    </a:solidFill>
                  </a:rPr>
                  <a:t>2. Slew Maneuver</a:t>
                </a:r>
              </a:p>
              <a:p>
                <a:r>
                  <a:rPr lang="en-US" dirty="0">
                    <a:solidFill>
                      <a:srgbClr val="0000FF"/>
                    </a:solidFill>
                  </a:rPr>
                  <a:t>Assume maximum acceleration slew (wheel accelerates vehicle during first half of maneuver and decelerates it for second half)  (half slew angle in half slew time)</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𝑅</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𝑊</m:t>
                              </m:r>
                            </m:e>
                            <m:sub>
                              <m:r>
                                <a:rPr lang="en-US" i="1">
                                  <a:solidFill>
                                    <a:srgbClr val="0000FF"/>
                                  </a:solidFill>
                                  <a:latin typeface="Cambria Math" panose="02040503050406030204" pitchFamily="18" charset="0"/>
                                </a:rPr>
                                <m:t>𝑠𝑙𝑒𝑤</m:t>
                              </m:r>
                            </m:sub>
                          </m:sSub>
                        </m:sub>
                      </m:sSub>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4</m:t>
                          </m:r>
                          <m:r>
                            <a:rPr lang="en-US" i="1">
                              <a:solidFill>
                                <a:srgbClr val="0000FF"/>
                              </a:solidFill>
                              <a:latin typeface="Cambria Math" panose="02040503050406030204" pitchFamily="18" charset="0"/>
                            </a:rPr>
                            <m:t>𝐼</m:t>
                          </m:r>
                          <m:r>
                            <a:rPr lang="en-US" i="1">
                              <a:solidFill>
                                <a:srgbClr val="0000FF"/>
                              </a:solidFill>
                              <a:latin typeface="Cambria Math" panose="02040503050406030204" pitchFamily="18" charset="0"/>
                            </a:rPr>
                            <m:t>𝜃</m:t>
                          </m:r>
                        </m:num>
                        <m:den>
                          <m:sSup>
                            <m:sSupPr>
                              <m:ctrlPr>
                                <a:rPr lang="en-US" i="1">
                                  <a:solidFill>
                                    <a:srgbClr val="0000FF"/>
                                  </a:solidFill>
                                  <a:latin typeface="Cambria Math" panose="02040503050406030204" pitchFamily="18" charset="0"/>
                                </a:rPr>
                              </m:ctrlPr>
                            </m:sSupPr>
                            <m:e>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𝑡</m:t>
                                  </m:r>
                                </m:e>
                                <m:sub>
                                  <m:r>
                                    <a:rPr lang="en-US" i="1">
                                      <a:solidFill>
                                        <a:srgbClr val="0000FF"/>
                                      </a:solidFill>
                                      <a:latin typeface="Cambria Math" panose="02040503050406030204" pitchFamily="18" charset="0"/>
                                    </a:rPr>
                                    <m:t>𝑠𝑙𝑒𝑤</m:t>
                                  </m:r>
                                </m:sub>
                              </m:sSub>
                            </m:e>
                            <m:sup>
                              <m:r>
                                <a:rPr lang="en-US" i="1">
                                  <a:solidFill>
                                    <a:srgbClr val="0000FF"/>
                                  </a:solidFill>
                                  <a:latin typeface="Cambria Math" panose="02040503050406030204" pitchFamily="18" charset="0"/>
                                </a:rPr>
                                <m:t>2</m:t>
                              </m:r>
                            </m:sup>
                          </m:sSup>
                        </m:den>
                      </m:f>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4</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75</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𝑘𝑔</m:t>
                              </m:r>
                              <m:r>
                                <a:rPr lang="en-US" i="1">
                                  <a:solidFill>
                                    <a:srgbClr val="0000FF"/>
                                  </a:solidFill>
                                  <a:latin typeface="Cambria Math" panose="02040503050406030204" pitchFamily="18" charset="0"/>
                                </a:rPr>
                                <m:t>⋅</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𝑚</m:t>
                                  </m:r>
                                </m:e>
                                <m:sup>
                                  <m:r>
                                    <a:rPr lang="en-US" i="1">
                                      <a:solidFill>
                                        <a:srgbClr val="0000FF"/>
                                      </a:solidFill>
                                      <a:latin typeface="Cambria Math" panose="02040503050406030204" pitchFamily="18" charset="0"/>
                                    </a:rPr>
                                    <m:t>2</m:t>
                                  </m:r>
                                </m:sup>
                              </m:sSup>
                            </m:e>
                          </m:d>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30</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𝑑𝑒𝑔</m:t>
                              </m:r>
                            </m:e>
                          </m:d>
                          <m:d>
                            <m:dPr>
                              <m:ctrlPr>
                                <a:rPr lang="en-US" i="1">
                                  <a:solidFill>
                                    <a:srgbClr val="0000FF"/>
                                  </a:solidFill>
                                  <a:latin typeface="Cambria Math" panose="02040503050406030204" pitchFamily="18" charset="0"/>
                                </a:rPr>
                              </m:ctrlPr>
                            </m:dPr>
                            <m:e>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𝜋</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𝑟𝑎𝑑</m:t>
                                  </m:r>
                                </m:num>
                                <m:den>
                                  <m:r>
                                    <a:rPr lang="en-US" i="1">
                                      <a:solidFill>
                                        <a:srgbClr val="0000FF"/>
                                      </a:solidFill>
                                      <a:latin typeface="Cambria Math" panose="02040503050406030204" pitchFamily="18" charset="0"/>
                                    </a:rPr>
                                    <m:t>180</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𝑑𝑒𝑔</m:t>
                                  </m:r>
                                </m:den>
                              </m:f>
                            </m:e>
                          </m:d>
                        </m:num>
                        <m:den>
                          <m:sSup>
                            <m:sSupPr>
                              <m:ctrlPr>
                                <a:rPr lang="en-US" i="1">
                                  <a:solidFill>
                                    <a:srgbClr val="0000FF"/>
                                  </a:solidFill>
                                  <a:latin typeface="Cambria Math" panose="02040503050406030204" pitchFamily="18" charset="0"/>
                                </a:rPr>
                              </m:ctrlPr>
                            </m:sSupPr>
                            <m:e>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600</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𝑠𝑒𝑐</m:t>
                                  </m:r>
                                </m:e>
                              </m:d>
                            </m:e>
                            <m:sup>
                              <m:r>
                                <a:rPr lang="en-US" i="1">
                                  <a:solidFill>
                                    <a:srgbClr val="0000FF"/>
                                  </a:solidFill>
                                  <a:latin typeface="Cambria Math" panose="02040503050406030204" pitchFamily="18" charset="0"/>
                                </a:rPr>
                                <m:t>2</m:t>
                              </m:r>
                            </m:sup>
                          </m:sSup>
                        </m:den>
                      </m:f>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4</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4</m:t>
                      </m:r>
                      <m:r>
                        <a:rPr lang="en-US" i="1">
                          <a:solidFill>
                            <a:srgbClr val="0000FF"/>
                          </a:solidFill>
                          <a:latin typeface="Cambria Math" panose="02040503050406030204" pitchFamily="18" charset="0"/>
                        </a:rPr>
                        <m:t>𝑥</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10</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4</m:t>
                          </m:r>
                        </m:sup>
                      </m:sSup>
                      <m:r>
                        <a:rPr lang="en-US" i="1">
                          <a:solidFill>
                            <a:srgbClr val="0000FF"/>
                          </a:solidFill>
                          <a:latin typeface="Cambria Math" panose="02040503050406030204" pitchFamily="18" charset="0"/>
                        </a:rPr>
                        <m:t>𝑁𝑚</m:t>
                      </m:r>
                    </m:oMath>
                  </m:oMathPara>
                </a14:m>
                <a:endParaRPr lang="en-US" dirty="0">
                  <a:solidFill>
                    <a:srgbClr val="0000FF"/>
                  </a:solidFill>
                </a:endParaRPr>
              </a:p>
              <a:p>
                <a:r>
                  <a:rPr lang="en-US" dirty="0">
                    <a:solidFill>
                      <a:srgbClr val="0000FF"/>
                    </a:solidFill>
                  </a:rPr>
                  <a:t>Slew maneuver needs larger reaction wheel moment than rejecting disturbance torque</a:t>
                </a:r>
              </a:p>
              <a:p>
                <a:pPr marL="0" indent="0">
                  <a:buNone/>
                </a:pPr>
                <a:endParaRPr lang="en-US" i="1" dirty="0">
                  <a:solidFill>
                    <a:srgbClr val="0000FF"/>
                  </a:solidFill>
                </a:endParaRPr>
              </a:p>
              <a:p>
                <a:pPr marL="0" indent="0" algn="ctr">
                  <a:buNone/>
                </a:pPr>
                <a14:m>
                  <m:oMath xmlns:m="http://schemas.openxmlformats.org/officeDocument/2006/math">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𝑅</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𝑊</m:t>
                            </m:r>
                          </m:e>
                          <m:sub>
                            <m:r>
                              <a:rPr lang="en-US" i="1">
                                <a:solidFill>
                                  <a:srgbClr val="0000FF"/>
                                </a:solidFill>
                                <a:latin typeface="Cambria Math" panose="02040503050406030204" pitchFamily="18" charset="0"/>
                              </a:rPr>
                              <m:t>𝑠𝑙𝑒𝑤</m:t>
                            </m:r>
                          </m:sub>
                        </m:sSub>
                      </m:sub>
                    </m:sSub>
                    <m:r>
                      <a:rPr lang="en-US" i="1">
                        <a:solidFill>
                          <a:srgbClr val="0000FF"/>
                        </a:solidFill>
                        <a:latin typeface="Cambria Math" panose="02040503050406030204" pitchFamily="18" charset="0"/>
                      </a:rPr>
                      <m:t>&gt;</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𝑇</m:t>
                        </m:r>
                      </m:e>
                      <m:sub>
                        <m:r>
                          <a:rPr lang="en-US" i="1">
                            <a:solidFill>
                              <a:srgbClr val="0000FF"/>
                            </a:solidFill>
                            <a:latin typeface="Cambria Math" panose="02040503050406030204" pitchFamily="18" charset="0"/>
                          </a:rPr>
                          <m:t>𝑅</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𝑊</m:t>
                            </m:r>
                          </m:e>
                          <m:sub>
                            <m:r>
                              <a:rPr lang="en-US" i="1">
                                <a:solidFill>
                                  <a:srgbClr val="0000FF"/>
                                </a:solidFill>
                                <a:latin typeface="Cambria Math" panose="02040503050406030204" pitchFamily="18" charset="0"/>
                              </a:rPr>
                              <m:t>𝐷</m:t>
                            </m:r>
                          </m:sub>
                        </m:sSub>
                      </m:sub>
                    </m:sSub>
                  </m:oMath>
                </a14:m>
                <a:r>
                  <a:rPr lang="en-US" dirty="0">
                    <a:solidFill>
                      <a:srgbClr val="0000FF"/>
                    </a:solidFill>
                  </a:rPr>
                  <a:t>     ⸫ size torque capability for slew maneuver case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4325" y="1156138"/>
                <a:ext cx="8515350" cy="5701862"/>
              </a:xfrm>
              <a:blipFill>
                <a:blip r:embed="rId2"/>
                <a:stretch>
                  <a:fillRect l="-1074" t="-2674"/>
                </a:stretch>
              </a:blipFill>
            </p:spPr>
            <p:txBody>
              <a:bodyPr/>
              <a:lstStyle/>
              <a:p>
                <a:r>
                  <a:rPr lang="en-US">
                    <a:noFill/>
                  </a:rPr>
                  <a:t> </a:t>
                </a:r>
              </a:p>
            </p:txBody>
          </p:sp>
        </mc:Fallback>
      </mc:AlternateContent>
    </p:spTree>
    <p:extLst>
      <p:ext uri="{BB962C8B-B14F-4D97-AF65-F5344CB8AC3E}">
        <p14:creationId xmlns:p14="http://schemas.microsoft.com/office/powerpoint/2010/main" val="605942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8941" y="1183342"/>
                <a:ext cx="8790975" cy="5674658"/>
              </a:xfrm>
            </p:spPr>
            <p:txBody>
              <a:bodyPr>
                <a:normAutofit fontScale="92500" lnSpcReduction="10000"/>
              </a:bodyPr>
              <a:lstStyle/>
              <a:p>
                <a:pPr marL="0" indent="0">
                  <a:buNone/>
                </a:pPr>
                <a:r>
                  <a:rPr lang="en-US" sz="2900" b="1" dirty="0">
                    <a:solidFill>
                      <a:srgbClr val="0000FF"/>
                    </a:solidFill>
                  </a:rPr>
                  <a:t>Momentum Storage Capacity (</a:t>
                </a:r>
                <a:r>
                  <a:rPr lang="en-US" sz="2900" b="1" dirty="0" err="1">
                    <a:solidFill>
                      <a:srgbClr val="0000FF"/>
                    </a:solidFill>
                  </a:rPr>
                  <a:t>N·m·s</a:t>
                </a:r>
                <a:r>
                  <a:rPr lang="en-US" sz="2900" b="1" dirty="0">
                    <a:solidFill>
                      <a:srgbClr val="0000FF"/>
                    </a:solidFill>
                  </a:rPr>
                  <a:t>):</a:t>
                </a:r>
              </a:p>
              <a:p>
                <a:pPr marL="0" lvl="0" indent="0">
                  <a:buNone/>
                </a:pPr>
                <a:r>
                  <a:rPr lang="en-US" sz="2300" dirty="0">
                    <a:solidFill>
                      <a:srgbClr val="0000FF"/>
                    </a:solidFill>
                  </a:rPr>
                  <a:t>1. Disturbance Rejection</a:t>
                </a:r>
              </a:p>
              <a:p>
                <a:pPr marL="0" indent="0">
                  <a:buNone/>
                </a:pPr>
                <a14:m>
                  <m:oMathPara xmlns:m="http://schemas.openxmlformats.org/officeDocument/2006/math">
                    <m:oMathParaPr>
                      <m:jc m:val="centerGroup"/>
                    </m:oMathParaPr>
                    <m:oMath xmlns:m="http://schemas.openxmlformats.org/officeDocument/2006/math">
                      <m:r>
                        <a:rPr lang="en-US" sz="2300" i="1">
                          <a:solidFill>
                            <a:srgbClr val="0000FF"/>
                          </a:solidFill>
                          <a:latin typeface="Cambria Math" panose="02040503050406030204" pitchFamily="18" charset="0"/>
                        </a:rPr>
                        <m:t>h</m:t>
                      </m:r>
                      <m:r>
                        <a:rPr lang="en-US" sz="2300" i="1">
                          <a:solidFill>
                            <a:srgbClr val="0000FF"/>
                          </a:solidFill>
                          <a:latin typeface="Cambria Math" panose="02040503050406030204" pitchFamily="18" charset="0"/>
                        </a:rPr>
                        <m:t>=0.707</m:t>
                      </m:r>
                      <m:f>
                        <m:fPr>
                          <m:ctrlPr>
                            <a:rPr lang="en-US" sz="2300" i="1">
                              <a:solidFill>
                                <a:srgbClr val="0000FF"/>
                              </a:solidFill>
                              <a:latin typeface="Cambria Math" panose="02040503050406030204" pitchFamily="18" charset="0"/>
                            </a:rPr>
                          </m:ctrlPr>
                        </m:fPr>
                        <m:num>
                          <m:d>
                            <m:dPr>
                              <m:ctrlPr>
                                <a:rPr lang="en-US" sz="2300" i="1">
                                  <a:solidFill>
                                    <a:srgbClr val="0000FF"/>
                                  </a:solidFill>
                                  <a:latin typeface="Cambria Math" panose="02040503050406030204" pitchFamily="18" charset="0"/>
                                </a:rPr>
                              </m:ctrlPr>
                            </m:dPr>
                            <m:e>
                              <m:r>
                                <a:rPr lang="en-US" sz="2300" i="1">
                                  <a:solidFill>
                                    <a:srgbClr val="0000FF"/>
                                  </a:solidFill>
                                  <a:latin typeface="Cambria Math" panose="02040503050406030204" pitchFamily="18" charset="0"/>
                                </a:rPr>
                                <m:t>6.3</m:t>
                              </m:r>
                              <m:r>
                                <a:rPr lang="en-US" sz="2300" i="1">
                                  <a:solidFill>
                                    <a:srgbClr val="0000FF"/>
                                  </a:solidFill>
                                  <a:latin typeface="Cambria Math" panose="02040503050406030204" pitchFamily="18" charset="0"/>
                                </a:rPr>
                                <m:t>𝑥</m:t>
                              </m:r>
                              <m:sSup>
                                <m:sSupPr>
                                  <m:ctrlPr>
                                    <a:rPr lang="en-US" sz="2300" i="1">
                                      <a:solidFill>
                                        <a:srgbClr val="0000FF"/>
                                      </a:solidFill>
                                      <a:latin typeface="Cambria Math" panose="02040503050406030204" pitchFamily="18" charset="0"/>
                                    </a:rPr>
                                  </m:ctrlPr>
                                </m:sSupPr>
                                <m:e>
                                  <m:r>
                                    <a:rPr lang="en-US" sz="2300" i="1">
                                      <a:solidFill>
                                        <a:srgbClr val="0000FF"/>
                                      </a:solidFill>
                                      <a:latin typeface="Cambria Math" panose="02040503050406030204" pitchFamily="18" charset="0"/>
                                    </a:rPr>
                                    <m:t>10</m:t>
                                  </m:r>
                                </m:e>
                                <m:sup>
                                  <m:r>
                                    <a:rPr lang="en-US" sz="2300" i="1">
                                      <a:solidFill>
                                        <a:srgbClr val="0000FF"/>
                                      </a:solidFill>
                                      <a:latin typeface="Cambria Math" panose="02040503050406030204" pitchFamily="18" charset="0"/>
                                    </a:rPr>
                                    <m:t>−5</m:t>
                                  </m:r>
                                </m:sup>
                              </m:sSup>
                              <m:r>
                                <a:rPr lang="en-US" sz="2300" i="1">
                                  <a:solidFill>
                                    <a:srgbClr val="0000FF"/>
                                  </a:solidFill>
                                  <a:latin typeface="Cambria Math" panose="02040503050406030204" pitchFamily="18" charset="0"/>
                                </a:rPr>
                                <m:t> </m:t>
                              </m:r>
                              <m:r>
                                <a:rPr lang="en-US" sz="2300" i="1">
                                  <a:solidFill>
                                    <a:srgbClr val="0000FF"/>
                                  </a:solidFill>
                                  <a:latin typeface="Cambria Math" panose="02040503050406030204" pitchFamily="18" charset="0"/>
                                </a:rPr>
                                <m:t>𝑁𝑚</m:t>
                              </m:r>
                            </m:e>
                          </m:d>
                        </m:num>
                        <m:den>
                          <m:r>
                            <a:rPr lang="en-US" sz="2300" i="1">
                              <a:solidFill>
                                <a:srgbClr val="0000FF"/>
                              </a:solidFill>
                              <a:latin typeface="Cambria Math" panose="02040503050406030204" pitchFamily="18" charset="0"/>
                            </a:rPr>
                            <m:t>4</m:t>
                          </m:r>
                        </m:den>
                      </m:f>
                      <m:d>
                        <m:dPr>
                          <m:ctrlPr>
                            <a:rPr lang="en-US" sz="2300" i="1">
                              <a:solidFill>
                                <a:srgbClr val="0000FF"/>
                              </a:solidFill>
                              <a:latin typeface="Cambria Math" panose="02040503050406030204" pitchFamily="18" charset="0"/>
                            </a:rPr>
                          </m:ctrlPr>
                        </m:dPr>
                        <m:e>
                          <m:r>
                            <a:rPr lang="en-US" sz="2300" i="1">
                              <a:solidFill>
                                <a:srgbClr val="0000FF"/>
                              </a:solidFill>
                              <a:latin typeface="Cambria Math" panose="02040503050406030204" pitchFamily="18" charset="0"/>
                            </a:rPr>
                            <m:t>2</m:t>
                          </m:r>
                          <m:r>
                            <a:rPr lang="en-US" sz="2300" i="1">
                              <a:solidFill>
                                <a:srgbClr val="0000FF"/>
                              </a:solidFill>
                              <a:latin typeface="Cambria Math" panose="02040503050406030204" pitchFamily="18" charset="0"/>
                            </a:rPr>
                            <m:t>𝜋</m:t>
                          </m:r>
                          <m:rad>
                            <m:radPr>
                              <m:degHide m:val="on"/>
                              <m:ctrlPr>
                                <a:rPr lang="en-US" sz="2300" i="1">
                                  <a:solidFill>
                                    <a:srgbClr val="0000FF"/>
                                  </a:solidFill>
                                  <a:latin typeface="Cambria Math" panose="02040503050406030204" pitchFamily="18" charset="0"/>
                                </a:rPr>
                              </m:ctrlPr>
                            </m:radPr>
                            <m:deg/>
                            <m:e>
                              <m:f>
                                <m:fPr>
                                  <m:ctrlPr>
                                    <a:rPr lang="en-US" sz="2300" i="1">
                                      <a:solidFill>
                                        <a:srgbClr val="0000FF"/>
                                      </a:solidFill>
                                      <a:latin typeface="Cambria Math" panose="02040503050406030204" pitchFamily="18" charset="0"/>
                                    </a:rPr>
                                  </m:ctrlPr>
                                </m:fPr>
                                <m:num>
                                  <m:sSup>
                                    <m:sSupPr>
                                      <m:ctrlPr>
                                        <a:rPr lang="en-US" sz="2300" i="1">
                                          <a:solidFill>
                                            <a:srgbClr val="0000FF"/>
                                          </a:solidFill>
                                          <a:latin typeface="Cambria Math" panose="02040503050406030204" pitchFamily="18" charset="0"/>
                                        </a:rPr>
                                      </m:ctrlPr>
                                    </m:sSupPr>
                                    <m:e>
                                      <m:d>
                                        <m:dPr>
                                          <m:ctrlPr>
                                            <a:rPr lang="en-US" sz="2300" i="1">
                                              <a:solidFill>
                                                <a:srgbClr val="0000FF"/>
                                              </a:solidFill>
                                              <a:latin typeface="Cambria Math" panose="02040503050406030204" pitchFamily="18" charset="0"/>
                                            </a:rPr>
                                          </m:ctrlPr>
                                        </m:dPr>
                                        <m:e>
                                          <m:r>
                                            <a:rPr lang="en-US" sz="2300" i="1">
                                              <a:solidFill>
                                                <a:srgbClr val="0000FF"/>
                                              </a:solidFill>
                                              <a:latin typeface="Cambria Math" panose="02040503050406030204" pitchFamily="18" charset="0"/>
                                            </a:rPr>
                                            <m:t>7078.137 </m:t>
                                          </m:r>
                                          <m:r>
                                            <a:rPr lang="en-US" sz="2300" i="1">
                                              <a:solidFill>
                                                <a:srgbClr val="0000FF"/>
                                              </a:solidFill>
                                              <a:latin typeface="Cambria Math" panose="02040503050406030204" pitchFamily="18" charset="0"/>
                                            </a:rPr>
                                            <m:t>𝑘𝑚</m:t>
                                          </m:r>
                                        </m:e>
                                      </m:d>
                                    </m:e>
                                    <m:sup>
                                      <m:r>
                                        <a:rPr lang="en-US" sz="2300" i="1">
                                          <a:solidFill>
                                            <a:srgbClr val="0000FF"/>
                                          </a:solidFill>
                                          <a:latin typeface="Cambria Math" panose="02040503050406030204" pitchFamily="18" charset="0"/>
                                        </a:rPr>
                                        <m:t>3</m:t>
                                      </m:r>
                                    </m:sup>
                                  </m:sSup>
                                </m:num>
                                <m:den>
                                  <m:r>
                                    <a:rPr lang="en-US" sz="2300" i="1">
                                      <a:solidFill>
                                        <a:srgbClr val="0000FF"/>
                                      </a:solidFill>
                                      <a:latin typeface="Cambria Math" panose="02040503050406030204" pitchFamily="18" charset="0"/>
                                    </a:rPr>
                                    <m:t>398600.5 </m:t>
                                  </m:r>
                                  <m:f>
                                    <m:fPr>
                                      <m:type m:val="skw"/>
                                      <m:ctrlPr>
                                        <a:rPr lang="en-US" sz="2300" i="1">
                                          <a:solidFill>
                                            <a:srgbClr val="0000FF"/>
                                          </a:solidFill>
                                          <a:latin typeface="Cambria Math" panose="02040503050406030204" pitchFamily="18" charset="0"/>
                                        </a:rPr>
                                      </m:ctrlPr>
                                    </m:fPr>
                                    <m:num>
                                      <m:sSup>
                                        <m:sSupPr>
                                          <m:ctrlPr>
                                            <a:rPr lang="en-US" sz="2300" i="1">
                                              <a:solidFill>
                                                <a:srgbClr val="0000FF"/>
                                              </a:solidFill>
                                              <a:latin typeface="Cambria Math" panose="02040503050406030204" pitchFamily="18" charset="0"/>
                                            </a:rPr>
                                          </m:ctrlPr>
                                        </m:sSupPr>
                                        <m:e>
                                          <m:r>
                                            <a:rPr lang="en-US" sz="2300" i="1">
                                              <a:solidFill>
                                                <a:srgbClr val="0000FF"/>
                                              </a:solidFill>
                                              <a:latin typeface="Cambria Math" panose="02040503050406030204" pitchFamily="18" charset="0"/>
                                            </a:rPr>
                                            <m:t>𝑘𝑚</m:t>
                                          </m:r>
                                        </m:e>
                                        <m:sup>
                                          <m:r>
                                            <a:rPr lang="en-US" sz="2300" i="1">
                                              <a:solidFill>
                                                <a:srgbClr val="0000FF"/>
                                              </a:solidFill>
                                              <a:latin typeface="Cambria Math" panose="02040503050406030204" pitchFamily="18" charset="0"/>
                                            </a:rPr>
                                            <m:t>3</m:t>
                                          </m:r>
                                        </m:sup>
                                      </m:sSup>
                                    </m:num>
                                    <m:den>
                                      <m:sSup>
                                        <m:sSupPr>
                                          <m:ctrlPr>
                                            <a:rPr lang="en-US" sz="2300" i="1">
                                              <a:solidFill>
                                                <a:srgbClr val="0000FF"/>
                                              </a:solidFill>
                                              <a:latin typeface="Cambria Math" panose="02040503050406030204" pitchFamily="18" charset="0"/>
                                            </a:rPr>
                                          </m:ctrlPr>
                                        </m:sSupPr>
                                        <m:e>
                                          <m:r>
                                            <a:rPr lang="en-US" sz="2300" i="1">
                                              <a:solidFill>
                                                <a:srgbClr val="0000FF"/>
                                              </a:solidFill>
                                              <a:latin typeface="Cambria Math" panose="02040503050406030204" pitchFamily="18" charset="0"/>
                                            </a:rPr>
                                            <m:t>𝑠</m:t>
                                          </m:r>
                                        </m:e>
                                        <m:sup>
                                          <m:r>
                                            <a:rPr lang="en-US" sz="2300" i="1">
                                              <a:solidFill>
                                                <a:srgbClr val="0000FF"/>
                                              </a:solidFill>
                                              <a:latin typeface="Cambria Math" panose="02040503050406030204" pitchFamily="18" charset="0"/>
                                            </a:rPr>
                                            <m:t>2</m:t>
                                          </m:r>
                                        </m:sup>
                                      </m:sSup>
                                    </m:den>
                                  </m:f>
                                </m:den>
                              </m:f>
                            </m:e>
                          </m:rad>
                        </m:e>
                      </m:d>
                      <m:r>
                        <a:rPr lang="en-US" sz="2300" i="1">
                          <a:solidFill>
                            <a:srgbClr val="0000FF"/>
                          </a:solidFill>
                          <a:latin typeface="Cambria Math" panose="02040503050406030204" pitchFamily="18" charset="0"/>
                        </a:rPr>
                        <m:t>=0.0660 </m:t>
                      </m:r>
                      <m:r>
                        <a:rPr lang="en-US" sz="2300" i="1">
                          <a:solidFill>
                            <a:srgbClr val="0000FF"/>
                          </a:solidFill>
                          <a:latin typeface="Cambria Math" panose="02040503050406030204" pitchFamily="18" charset="0"/>
                        </a:rPr>
                        <m:t>𝑁𝑚𝑠</m:t>
                      </m:r>
                    </m:oMath>
                  </m:oMathPara>
                </a14:m>
                <a:endParaRPr lang="en-US" sz="2300" dirty="0">
                  <a:solidFill>
                    <a:srgbClr val="0000FF"/>
                  </a:solidFill>
                </a:endParaRPr>
              </a:p>
              <a:p>
                <a:pPr marL="0" indent="0">
                  <a:buNone/>
                </a:pPr>
                <a:r>
                  <a:rPr lang="en-US" sz="2300" dirty="0">
                    <a:solidFill>
                      <a:srgbClr val="0000FF"/>
                    </a:solidFill>
                  </a:rPr>
                  <a:t> </a:t>
                </a:r>
              </a:p>
              <a:p>
                <a:pPr marL="0" lvl="0" indent="0">
                  <a:buNone/>
                </a:pPr>
                <a:r>
                  <a:rPr lang="en-US" sz="2300" dirty="0">
                    <a:solidFill>
                      <a:srgbClr val="0000FF"/>
                    </a:solidFill>
                  </a:rPr>
                  <a:t>2.  Slew Maneuver</a:t>
                </a:r>
              </a:p>
              <a:p>
                <a:r>
                  <a:rPr lang="en-US" sz="2300" dirty="0">
                    <a:solidFill>
                      <a:srgbClr val="0000FF"/>
                    </a:solidFill>
                  </a:rPr>
                  <a:t>Wheel speeds up for half the maneuver then slows down so maximum change in wheel angular momentum occurs at halfway point of slew maneuver</a:t>
                </a:r>
              </a:p>
              <a:p>
                <a:pPr marL="0" indent="0">
                  <a:buNone/>
                </a:pPr>
                <a14:m>
                  <m:oMathPara xmlns:m="http://schemas.openxmlformats.org/officeDocument/2006/math">
                    <m:oMathParaPr>
                      <m:jc m:val="centerGroup"/>
                    </m:oMathParaPr>
                    <m:oMath xmlns:m="http://schemas.openxmlformats.org/officeDocument/2006/math">
                      <m:sSub>
                        <m:sSubPr>
                          <m:ctrlPr>
                            <a:rPr lang="en-US" sz="2300" i="1">
                              <a:solidFill>
                                <a:srgbClr val="0000FF"/>
                              </a:solidFill>
                              <a:latin typeface="Cambria Math" panose="02040503050406030204" pitchFamily="18" charset="0"/>
                            </a:rPr>
                          </m:ctrlPr>
                        </m:sSubPr>
                        <m:e>
                          <m:r>
                            <a:rPr lang="en-US" sz="2300" i="1">
                              <a:solidFill>
                                <a:srgbClr val="0000FF"/>
                              </a:solidFill>
                              <a:latin typeface="Cambria Math" panose="02040503050406030204" pitchFamily="18" charset="0"/>
                            </a:rPr>
                            <m:t>h</m:t>
                          </m:r>
                        </m:e>
                        <m:sub>
                          <m:r>
                            <a:rPr lang="en-US" sz="2300" i="1">
                              <a:solidFill>
                                <a:srgbClr val="0000FF"/>
                              </a:solidFill>
                              <a:latin typeface="Cambria Math" panose="02040503050406030204" pitchFamily="18" charset="0"/>
                            </a:rPr>
                            <m:t>𝑠𝑙𝑒𝑤</m:t>
                          </m:r>
                        </m:sub>
                      </m:sSub>
                      <m:r>
                        <a:rPr lang="en-US" sz="2300" i="1">
                          <a:solidFill>
                            <a:srgbClr val="0000FF"/>
                          </a:solidFill>
                          <a:latin typeface="Cambria Math" panose="02040503050406030204" pitchFamily="18" charset="0"/>
                        </a:rPr>
                        <m:t>=</m:t>
                      </m:r>
                      <m:sSub>
                        <m:sSubPr>
                          <m:ctrlPr>
                            <a:rPr lang="en-US" sz="2300" i="1">
                              <a:solidFill>
                                <a:srgbClr val="0000FF"/>
                              </a:solidFill>
                              <a:latin typeface="Cambria Math" panose="02040503050406030204" pitchFamily="18" charset="0"/>
                            </a:rPr>
                          </m:ctrlPr>
                        </m:sSubPr>
                        <m:e>
                          <m:r>
                            <a:rPr lang="en-US" sz="2300" i="1">
                              <a:solidFill>
                                <a:srgbClr val="0000FF"/>
                              </a:solidFill>
                              <a:latin typeface="Cambria Math" panose="02040503050406030204" pitchFamily="18" charset="0"/>
                            </a:rPr>
                            <m:t>𝑇</m:t>
                          </m:r>
                        </m:e>
                        <m:sub>
                          <m:r>
                            <a:rPr lang="en-US" sz="2300" i="1">
                              <a:solidFill>
                                <a:srgbClr val="0000FF"/>
                              </a:solidFill>
                              <a:latin typeface="Cambria Math" panose="02040503050406030204" pitchFamily="18" charset="0"/>
                            </a:rPr>
                            <m:t>𝑅</m:t>
                          </m:r>
                          <m:sSub>
                            <m:sSubPr>
                              <m:ctrlPr>
                                <a:rPr lang="en-US" sz="2300" i="1">
                                  <a:solidFill>
                                    <a:srgbClr val="0000FF"/>
                                  </a:solidFill>
                                  <a:latin typeface="Cambria Math" panose="02040503050406030204" pitchFamily="18" charset="0"/>
                                </a:rPr>
                              </m:ctrlPr>
                            </m:sSubPr>
                            <m:e>
                              <m:r>
                                <a:rPr lang="en-US" sz="2300" i="1">
                                  <a:solidFill>
                                    <a:srgbClr val="0000FF"/>
                                  </a:solidFill>
                                  <a:latin typeface="Cambria Math" panose="02040503050406030204" pitchFamily="18" charset="0"/>
                                </a:rPr>
                                <m:t>𝑊</m:t>
                              </m:r>
                            </m:e>
                            <m:sub>
                              <m:r>
                                <a:rPr lang="en-US" sz="2300" i="1">
                                  <a:solidFill>
                                    <a:srgbClr val="0000FF"/>
                                  </a:solidFill>
                                  <a:latin typeface="Cambria Math" panose="02040503050406030204" pitchFamily="18" charset="0"/>
                                </a:rPr>
                                <m:t>𝑠𝑙𝑒𝑤</m:t>
                              </m:r>
                            </m:sub>
                          </m:sSub>
                        </m:sub>
                      </m:sSub>
                      <m:f>
                        <m:fPr>
                          <m:ctrlPr>
                            <a:rPr lang="en-US" sz="2300" i="1">
                              <a:solidFill>
                                <a:srgbClr val="0000FF"/>
                              </a:solidFill>
                              <a:latin typeface="Cambria Math" panose="02040503050406030204" pitchFamily="18" charset="0"/>
                            </a:rPr>
                          </m:ctrlPr>
                        </m:fPr>
                        <m:num>
                          <m:sSub>
                            <m:sSubPr>
                              <m:ctrlPr>
                                <a:rPr lang="en-US" sz="2300" i="1">
                                  <a:solidFill>
                                    <a:srgbClr val="0000FF"/>
                                  </a:solidFill>
                                  <a:latin typeface="Cambria Math" panose="02040503050406030204" pitchFamily="18" charset="0"/>
                                </a:rPr>
                              </m:ctrlPr>
                            </m:sSubPr>
                            <m:e>
                              <m:r>
                                <a:rPr lang="en-US" sz="2300" i="1">
                                  <a:solidFill>
                                    <a:srgbClr val="0000FF"/>
                                  </a:solidFill>
                                  <a:latin typeface="Cambria Math" panose="02040503050406030204" pitchFamily="18" charset="0"/>
                                </a:rPr>
                                <m:t>𝑡</m:t>
                              </m:r>
                            </m:e>
                            <m:sub>
                              <m:r>
                                <a:rPr lang="en-US" sz="2300" i="1">
                                  <a:solidFill>
                                    <a:srgbClr val="0000FF"/>
                                  </a:solidFill>
                                  <a:latin typeface="Cambria Math" panose="02040503050406030204" pitchFamily="18" charset="0"/>
                                </a:rPr>
                                <m:t>𝑠𝑙𝑒𝑤</m:t>
                              </m:r>
                            </m:sub>
                          </m:sSub>
                        </m:num>
                        <m:den>
                          <m:r>
                            <a:rPr lang="en-US" sz="2300" i="1">
                              <a:solidFill>
                                <a:srgbClr val="0000FF"/>
                              </a:solidFill>
                              <a:latin typeface="Cambria Math" panose="02040503050406030204" pitchFamily="18" charset="0"/>
                            </a:rPr>
                            <m:t>2</m:t>
                          </m:r>
                        </m:den>
                      </m:f>
                      <m:r>
                        <a:rPr lang="en-US" sz="2300" i="1">
                          <a:solidFill>
                            <a:srgbClr val="0000FF"/>
                          </a:solidFill>
                          <a:latin typeface="Cambria Math" panose="02040503050406030204" pitchFamily="18" charset="0"/>
                        </a:rPr>
                        <m:t>=</m:t>
                      </m:r>
                      <m:d>
                        <m:dPr>
                          <m:ctrlPr>
                            <a:rPr lang="en-US" sz="2300" i="1">
                              <a:solidFill>
                                <a:srgbClr val="0000FF"/>
                              </a:solidFill>
                              <a:latin typeface="Cambria Math" panose="02040503050406030204" pitchFamily="18" charset="0"/>
                            </a:rPr>
                          </m:ctrlPr>
                        </m:dPr>
                        <m:e>
                          <m:r>
                            <a:rPr lang="en-US" sz="2300" i="1">
                              <a:solidFill>
                                <a:srgbClr val="0000FF"/>
                              </a:solidFill>
                              <a:latin typeface="Cambria Math" panose="02040503050406030204" pitchFamily="18" charset="0"/>
                            </a:rPr>
                            <m:t>4.4</m:t>
                          </m:r>
                          <m:r>
                            <a:rPr lang="en-US" sz="2300" i="1">
                              <a:solidFill>
                                <a:srgbClr val="0000FF"/>
                              </a:solidFill>
                              <a:latin typeface="Cambria Math" panose="02040503050406030204" pitchFamily="18" charset="0"/>
                            </a:rPr>
                            <m:t>𝑥</m:t>
                          </m:r>
                          <m:sSup>
                            <m:sSupPr>
                              <m:ctrlPr>
                                <a:rPr lang="en-US" sz="2300" i="1">
                                  <a:solidFill>
                                    <a:srgbClr val="0000FF"/>
                                  </a:solidFill>
                                  <a:latin typeface="Cambria Math" panose="02040503050406030204" pitchFamily="18" charset="0"/>
                                </a:rPr>
                              </m:ctrlPr>
                            </m:sSupPr>
                            <m:e>
                              <m:r>
                                <a:rPr lang="en-US" sz="2300" i="1">
                                  <a:solidFill>
                                    <a:srgbClr val="0000FF"/>
                                  </a:solidFill>
                                  <a:latin typeface="Cambria Math" panose="02040503050406030204" pitchFamily="18" charset="0"/>
                                </a:rPr>
                                <m:t>10</m:t>
                              </m:r>
                            </m:e>
                            <m:sup>
                              <m:r>
                                <a:rPr lang="en-US" sz="2300" i="1">
                                  <a:solidFill>
                                    <a:srgbClr val="0000FF"/>
                                  </a:solidFill>
                                  <a:latin typeface="Cambria Math" panose="02040503050406030204" pitchFamily="18" charset="0"/>
                                </a:rPr>
                                <m:t>−4</m:t>
                              </m:r>
                            </m:sup>
                          </m:sSup>
                          <m:r>
                            <a:rPr lang="en-US" sz="2300" i="1">
                              <a:solidFill>
                                <a:srgbClr val="0000FF"/>
                              </a:solidFill>
                              <a:latin typeface="Cambria Math" panose="02040503050406030204" pitchFamily="18" charset="0"/>
                            </a:rPr>
                            <m:t>𝑁𝑚</m:t>
                          </m:r>
                        </m:e>
                      </m:d>
                      <m:f>
                        <m:fPr>
                          <m:ctrlPr>
                            <a:rPr lang="en-US" sz="2300" i="1">
                              <a:solidFill>
                                <a:srgbClr val="0000FF"/>
                              </a:solidFill>
                              <a:latin typeface="Cambria Math" panose="02040503050406030204" pitchFamily="18" charset="0"/>
                            </a:rPr>
                          </m:ctrlPr>
                        </m:fPr>
                        <m:num>
                          <m:r>
                            <a:rPr lang="en-US" sz="2300" i="1">
                              <a:solidFill>
                                <a:srgbClr val="0000FF"/>
                              </a:solidFill>
                              <a:latin typeface="Cambria Math" panose="02040503050406030204" pitchFamily="18" charset="0"/>
                            </a:rPr>
                            <m:t>600 </m:t>
                          </m:r>
                          <m:r>
                            <a:rPr lang="en-US" sz="2300" i="1">
                              <a:solidFill>
                                <a:srgbClr val="0000FF"/>
                              </a:solidFill>
                              <a:latin typeface="Cambria Math" panose="02040503050406030204" pitchFamily="18" charset="0"/>
                            </a:rPr>
                            <m:t>𝑠𝑒𝑐</m:t>
                          </m:r>
                        </m:num>
                        <m:den>
                          <m:r>
                            <a:rPr lang="en-US" sz="2300" i="1">
                              <a:solidFill>
                                <a:srgbClr val="0000FF"/>
                              </a:solidFill>
                              <a:latin typeface="Cambria Math" panose="02040503050406030204" pitchFamily="18" charset="0"/>
                            </a:rPr>
                            <m:t>2</m:t>
                          </m:r>
                        </m:den>
                      </m:f>
                      <m:r>
                        <a:rPr lang="en-US" sz="2300" i="1">
                          <a:solidFill>
                            <a:srgbClr val="0000FF"/>
                          </a:solidFill>
                          <a:latin typeface="Cambria Math" panose="02040503050406030204" pitchFamily="18" charset="0"/>
                        </a:rPr>
                        <m:t>=0.132 </m:t>
                      </m:r>
                      <m:r>
                        <a:rPr lang="en-US" sz="2300" i="1">
                          <a:solidFill>
                            <a:srgbClr val="0000FF"/>
                          </a:solidFill>
                          <a:latin typeface="Cambria Math" panose="02040503050406030204" pitchFamily="18" charset="0"/>
                        </a:rPr>
                        <m:t>𝑁𝑚𝑠</m:t>
                      </m:r>
                    </m:oMath>
                  </m:oMathPara>
                </a14:m>
                <a:endParaRPr lang="en-US" sz="2300" dirty="0">
                  <a:solidFill>
                    <a:srgbClr val="0000FF"/>
                  </a:solidFill>
                </a:endParaRPr>
              </a:p>
              <a:p>
                <a:r>
                  <a:rPr lang="en-US" sz="2300" dirty="0">
                    <a:solidFill>
                      <a:srgbClr val="0000FF"/>
                    </a:solidFill>
                  </a:rPr>
                  <a:t>Slew maneuver needs more momentum capacity than disturbance rejection</a:t>
                </a:r>
              </a:p>
              <a:p>
                <a:pPr marL="0" indent="0">
                  <a:buNone/>
                </a:pPr>
                <a:endParaRPr lang="en-US" sz="2600" dirty="0">
                  <a:solidFill>
                    <a:srgbClr val="0000FF"/>
                  </a:solidFill>
                </a:endParaRPr>
              </a:p>
              <a:p>
                <a:pPr marL="0" indent="0">
                  <a:buNone/>
                </a:pPr>
                <a14:m>
                  <m:oMath xmlns:m="http://schemas.openxmlformats.org/officeDocument/2006/math">
                    <m:sSub>
                      <m:sSubPr>
                        <m:ctrlPr>
                          <a:rPr lang="en-US" sz="2300" i="1">
                            <a:solidFill>
                              <a:srgbClr val="0000FF"/>
                            </a:solidFill>
                            <a:latin typeface="Cambria Math" panose="02040503050406030204" pitchFamily="18" charset="0"/>
                          </a:rPr>
                        </m:ctrlPr>
                      </m:sSubPr>
                      <m:e>
                        <m:r>
                          <a:rPr lang="en-US" sz="2300" i="1">
                            <a:solidFill>
                              <a:srgbClr val="0000FF"/>
                            </a:solidFill>
                            <a:latin typeface="Cambria Math" panose="02040503050406030204" pitchFamily="18" charset="0"/>
                          </a:rPr>
                          <m:t>h</m:t>
                        </m:r>
                      </m:e>
                      <m:sub>
                        <m:r>
                          <a:rPr lang="en-US" sz="2300" i="1">
                            <a:solidFill>
                              <a:srgbClr val="0000FF"/>
                            </a:solidFill>
                            <a:latin typeface="Cambria Math" panose="02040503050406030204" pitchFamily="18" charset="0"/>
                          </a:rPr>
                          <m:t>𝑠𝑙𝑒𝑤</m:t>
                        </m:r>
                      </m:sub>
                    </m:sSub>
                    <m:r>
                      <a:rPr lang="en-US" sz="2300" i="1">
                        <a:solidFill>
                          <a:srgbClr val="0000FF"/>
                        </a:solidFill>
                        <a:latin typeface="Cambria Math" panose="02040503050406030204" pitchFamily="18" charset="0"/>
                      </a:rPr>
                      <m:t>&gt;</m:t>
                    </m:r>
                    <m:sSub>
                      <m:sSubPr>
                        <m:ctrlPr>
                          <a:rPr lang="en-US" sz="2300" i="1">
                            <a:solidFill>
                              <a:srgbClr val="0000FF"/>
                            </a:solidFill>
                            <a:latin typeface="Cambria Math" panose="02040503050406030204" pitchFamily="18" charset="0"/>
                          </a:rPr>
                        </m:ctrlPr>
                      </m:sSubPr>
                      <m:e>
                        <m:r>
                          <a:rPr lang="en-US" sz="2300" i="1">
                            <a:solidFill>
                              <a:srgbClr val="0000FF"/>
                            </a:solidFill>
                            <a:latin typeface="Cambria Math" panose="02040503050406030204" pitchFamily="18" charset="0"/>
                          </a:rPr>
                          <m:t>h</m:t>
                        </m:r>
                      </m:e>
                      <m:sub>
                        <m:r>
                          <a:rPr lang="en-US" sz="2300" i="1">
                            <a:solidFill>
                              <a:srgbClr val="0000FF"/>
                            </a:solidFill>
                            <a:latin typeface="Cambria Math" panose="02040503050406030204" pitchFamily="18" charset="0"/>
                          </a:rPr>
                          <m:t>𝐷</m:t>
                        </m:r>
                      </m:sub>
                    </m:sSub>
                  </m:oMath>
                </a14:m>
                <a:r>
                  <a:rPr lang="en-US" sz="2300" dirty="0">
                    <a:solidFill>
                      <a:srgbClr val="0000FF"/>
                    </a:solidFill>
                  </a:rPr>
                  <a:t>     ⸫ </a:t>
                </a:r>
                <a:r>
                  <a:rPr lang="en-US" sz="2100" dirty="0">
                    <a:solidFill>
                      <a:srgbClr val="0000FF"/>
                    </a:solidFill>
                  </a:rPr>
                  <a:t>size momentum storage capability for slew maneuver case</a:t>
                </a:r>
              </a:p>
              <a:p>
                <a:endParaRPr lang="en-US" dirty="0">
                  <a:solidFill>
                    <a:srgbClr val="0000FF"/>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8941" y="1183342"/>
                <a:ext cx="8790975" cy="5674658"/>
              </a:xfrm>
              <a:blipFill>
                <a:blip r:embed="rId2"/>
                <a:stretch>
                  <a:fillRect l="-1318" t="-2470" r="-139"/>
                </a:stretch>
              </a:blipFill>
            </p:spPr>
            <p:txBody>
              <a:bodyPr/>
              <a:lstStyle/>
              <a:p>
                <a:r>
                  <a:rPr lang="en-US">
                    <a:noFill/>
                  </a:rPr>
                  <a:t> </a:t>
                </a:r>
              </a:p>
            </p:txBody>
          </p:sp>
        </mc:Fallback>
      </mc:AlternateContent>
    </p:spTree>
    <p:extLst>
      <p:ext uri="{BB962C8B-B14F-4D97-AF65-F5344CB8AC3E}">
        <p14:creationId xmlns:p14="http://schemas.microsoft.com/office/powerpoint/2010/main" val="17206464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solidFill>
                      <a:srgbClr val="0000FF"/>
                    </a:solidFill>
                  </a:rPr>
                  <a:t>Final answer:</a:t>
                </a:r>
              </a:p>
              <a:p>
                <a:pPr marL="0" indent="0">
                  <a:buNone/>
                </a:pPr>
                <a:endParaRPr lang="en-US" dirty="0">
                  <a:solidFill>
                    <a:srgbClr val="0000FF"/>
                  </a:solidFill>
                </a:endParaRPr>
              </a:p>
              <a:p>
                <a:pPr marL="457200" lvl="1" indent="0">
                  <a:buNone/>
                </a:pPr>
                <a:r>
                  <a:rPr lang="en-US" sz="3200" dirty="0">
                    <a:solidFill>
                      <a:srgbClr val="0000FF"/>
                    </a:solidFill>
                  </a:rPr>
                  <a:t>Reaction wheels must have at least</a:t>
                </a:r>
              </a:p>
              <a:p>
                <a:pPr lvl="2"/>
                <a14:m>
                  <m:oMath xmlns:m="http://schemas.openxmlformats.org/officeDocument/2006/math">
                    <m:r>
                      <a:rPr lang="en-US" sz="2800" i="1">
                        <a:solidFill>
                          <a:srgbClr val="0000FF"/>
                        </a:solidFill>
                        <a:latin typeface="Cambria Math" panose="02040503050406030204" pitchFamily="18" charset="0"/>
                      </a:rPr>
                      <m:t>4</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4</m:t>
                    </m:r>
                    <m:r>
                      <a:rPr lang="en-US" sz="2800" i="1">
                        <a:solidFill>
                          <a:srgbClr val="0000FF"/>
                        </a:solidFill>
                        <a:latin typeface="Cambria Math" panose="02040503050406030204" pitchFamily="18" charset="0"/>
                      </a:rPr>
                      <m:t>𝑥</m:t>
                    </m:r>
                    <m:sSup>
                      <m:sSupPr>
                        <m:ctrlPr>
                          <a:rPr lang="en-US" sz="2800" i="1">
                            <a:solidFill>
                              <a:srgbClr val="0000FF"/>
                            </a:solidFill>
                            <a:latin typeface="Cambria Math" panose="02040503050406030204" pitchFamily="18" charset="0"/>
                          </a:rPr>
                        </m:ctrlPr>
                      </m:sSupPr>
                      <m:e>
                        <m:r>
                          <a:rPr lang="en-US" sz="2800" i="1">
                            <a:solidFill>
                              <a:srgbClr val="0000FF"/>
                            </a:solidFill>
                            <a:latin typeface="Cambria Math" panose="02040503050406030204" pitchFamily="18" charset="0"/>
                          </a:rPr>
                          <m:t>10</m:t>
                        </m:r>
                      </m:e>
                      <m:sup>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4</m:t>
                        </m:r>
                      </m:sup>
                    </m:sSup>
                    <m:r>
                      <a:rPr lang="en-US" sz="2800" i="1">
                        <a:solidFill>
                          <a:srgbClr val="0000FF"/>
                        </a:solidFill>
                        <a:latin typeface="Cambria Math" panose="02040503050406030204" pitchFamily="18" charset="0"/>
                      </a:rPr>
                      <m:t>𝑁𝑚</m:t>
                    </m:r>
                  </m:oMath>
                </a14:m>
                <a:r>
                  <a:rPr lang="en-US" sz="2800" dirty="0">
                    <a:solidFill>
                      <a:srgbClr val="0000FF"/>
                    </a:solidFill>
                  </a:rPr>
                  <a:t> of torque capability</a:t>
                </a:r>
              </a:p>
              <a:p>
                <a:pPr lvl="2"/>
                <a14:m>
                  <m:oMath xmlns:m="http://schemas.openxmlformats.org/officeDocument/2006/math">
                    <m:r>
                      <a:rPr lang="en-US" sz="2800" i="1">
                        <a:solidFill>
                          <a:srgbClr val="0000FF"/>
                        </a:solidFill>
                        <a:latin typeface="Cambria Math" panose="02040503050406030204" pitchFamily="18" charset="0"/>
                      </a:rPr>
                      <m:t>0</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132</m:t>
                    </m:r>
                    <m:r>
                      <a:rPr lang="en-US" sz="2800" i="1">
                        <a:solidFill>
                          <a:srgbClr val="0000FF"/>
                        </a:solidFill>
                        <a:latin typeface="Cambria Math" panose="02040503050406030204" pitchFamily="18" charset="0"/>
                      </a:rPr>
                      <m:t> </m:t>
                    </m:r>
                    <m:r>
                      <a:rPr lang="en-US" sz="2800" i="1">
                        <a:solidFill>
                          <a:srgbClr val="0000FF"/>
                        </a:solidFill>
                        <a:latin typeface="Cambria Math" panose="02040503050406030204" pitchFamily="18" charset="0"/>
                      </a:rPr>
                      <m:t>𝑁𝑚𝑠</m:t>
                    </m:r>
                  </m:oMath>
                </a14:m>
                <a:r>
                  <a:rPr lang="en-US" sz="2800" dirty="0">
                    <a:solidFill>
                      <a:srgbClr val="0000FF"/>
                    </a:solidFill>
                  </a:rPr>
                  <a:t> of angular momentum storage</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56" t="-1981"/>
                </a:stretch>
              </a:blipFill>
            </p:spPr>
            <p:txBody>
              <a:bodyPr/>
              <a:lstStyle/>
              <a:p>
                <a:r>
                  <a:rPr lang="en-US">
                    <a:noFill/>
                  </a:rPr>
                  <a:t> </a:t>
                </a:r>
              </a:p>
            </p:txBody>
          </p:sp>
        </mc:Fallback>
      </mc:AlternateContent>
    </p:spTree>
    <p:extLst>
      <p:ext uri="{BB962C8B-B14F-4D97-AF65-F5344CB8AC3E}">
        <p14:creationId xmlns:p14="http://schemas.microsoft.com/office/powerpoint/2010/main" val="2242704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26B4DC-C870-C9E2-9C03-93082217AB3F}"/>
              </a:ext>
            </a:extLst>
          </p:cNvPr>
          <p:cNvSpPr>
            <a:spLocks noGrp="1"/>
          </p:cNvSpPr>
          <p:nvPr>
            <p:ph type="title"/>
          </p:nvPr>
        </p:nvSpPr>
        <p:spPr/>
        <p:txBody>
          <a:bodyPr/>
          <a:lstStyle/>
          <a:p>
            <a:r>
              <a:rPr lang="en-US" dirty="0"/>
              <a:t>Extra Topics</a:t>
            </a:r>
          </a:p>
        </p:txBody>
      </p:sp>
      <p:sp>
        <p:nvSpPr>
          <p:cNvPr id="6" name="Text Placeholder 5">
            <a:extLst>
              <a:ext uri="{FF2B5EF4-FFF2-40B4-BE49-F238E27FC236}">
                <a16:creationId xmlns:a16="http://schemas.microsoft.com/office/drawing/2014/main" id="{B72FD69E-4B53-C26F-F213-74C3B6422D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A6E850-1A7F-BE3F-35EA-8CF836B12CA8}"/>
              </a:ext>
            </a:extLst>
          </p:cNvPr>
          <p:cNvSpPr>
            <a:spLocks noGrp="1"/>
          </p:cNvSpPr>
          <p:nvPr>
            <p:ph type="sldNum" sz="quarter" idx="12"/>
          </p:nvPr>
        </p:nvSpPr>
        <p:spPr/>
        <p:txBody>
          <a:bodyPr/>
          <a:lstStyle/>
          <a:p>
            <a:fld id="{9A3029B7-FE6B-4680-9049-80E8298A0825}" type="slidenum">
              <a:rPr lang="en-US" smtClean="0"/>
              <a:t>45</a:t>
            </a:fld>
            <a:endParaRPr lang="en-US"/>
          </a:p>
        </p:txBody>
      </p:sp>
    </p:spTree>
    <p:extLst>
      <p:ext uri="{BB962C8B-B14F-4D97-AF65-F5344CB8AC3E}">
        <p14:creationId xmlns:p14="http://schemas.microsoft.com/office/powerpoint/2010/main" val="2609766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Thruster Sizing (3/3)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075766"/>
                <a:ext cx="8515350" cy="5561340"/>
              </a:xfrm>
            </p:spPr>
            <p:txBody>
              <a:bodyPr>
                <a:normAutofit lnSpcReduction="10000"/>
              </a:bodyPr>
              <a:lstStyle/>
              <a:p>
                <a:pPr marL="0" lvl="0" indent="0" fontAlgn="base">
                  <a:buNone/>
                </a:pPr>
                <a:r>
                  <a:rPr lang="en-US" dirty="0"/>
                  <a:t>To size thrusters for a slew (rotation) maneuver:</a:t>
                </a:r>
              </a:p>
              <a:p>
                <a:pPr lvl="0" fontAlgn="base"/>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𝑠𝑙𝑒𝑤</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𝐼</m:t>
                          </m:r>
                          <m:acc>
                            <m:accPr>
                              <m:chr m:val="̈"/>
                              <m:ctrlPr>
                                <a:rPr lang="en-US" i="1">
                                  <a:latin typeface="Cambria Math" panose="02040503050406030204" pitchFamily="18" charset="0"/>
                                </a:rPr>
                              </m:ctrlPr>
                            </m:accPr>
                            <m:e>
                              <m:r>
                                <a:rPr lang="en-US" i="1">
                                  <a:latin typeface="Cambria Math" panose="02040503050406030204" pitchFamily="18" charset="0"/>
                                </a:rPr>
                                <m:t>𝜃</m:t>
                              </m:r>
                            </m:e>
                          </m:acc>
                        </m:num>
                        <m:den>
                          <m:r>
                            <a:rPr lang="en-US" i="1">
                              <a:latin typeface="Cambria Math" panose="02040503050406030204" pitchFamily="18" charset="0"/>
                            </a:rPr>
                            <m:t>𝐿</m:t>
                          </m:r>
                        </m:den>
                      </m:f>
                      <m:r>
                        <m:rPr>
                          <m:nor/>
                        </m:rPr>
                        <a:rPr lang="en-US"/>
                        <m:t> </m:t>
                      </m:r>
                      <m:r>
                        <m:rPr>
                          <m:nor/>
                        </m:rPr>
                        <a:rPr lang="en-US"/>
                        <m:t>for</m:t>
                      </m:r>
                      <m:r>
                        <m:rPr>
                          <m:nor/>
                        </m:rPr>
                        <a:rPr lang="en-US"/>
                        <m:t> </m:t>
                      </m:r>
                      <m:r>
                        <m:rPr>
                          <m:nor/>
                        </m:rPr>
                        <a:rPr lang="en-US"/>
                        <m:t>zero</m:t>
                      </m:r>
                      <m:r>
                        <m:rPr>
                          <m:nor/>
                        </m:rPr>
                        <a:rPr lang="en-US"/>
                        <m:t> </m:t>
                      </m:r>
                      <m:r>
                        <m:rPr>
                          <m:nor/>
                        </m:rPr>
                        <a:rPr lang="en-US"/>
                        <m:t>momentum</m:t>
                      </m:r>
                      <m:r>
                        <m:rPr>
                          <m:nor/>
                        </m:rPr>
                        <a:rPr lang="en-US"/>
                        <m:t> </m:t>
                      </m:r>
                      <m:r>
                        <m:rPr>
                          <m:nor/>
                        </m:rPr>
                        <a:rPr lang="en-US"/>
                        <m:t>S</m:t>
                      </m:r>
                      <m:r>
                        <m:rPr>
                          <m:nor/>
                        </m:rPr>
                        <a:rPr lang="en-US"/>
                        <m:t>/</m:t>
                      </m:r>
                      <m:r>
                        <m:rPr>
                          <m:nor/>
                        </m:rPr>
                        <a:rPr lang="en-US"/>
                        <m:t>C</m:t>
                      </m:r>
                    </m:oMath>
                  </m:oMathPara>
                </a14:m>
                <a:endParaRPr lang="en-US" dirty="0"/>
              </a:p>
              <a:p>
                <a:pPr marL="0" indent="0">
                  <a:buNone/>
                </a:pPr>
                <a:endParaRPr lang="en-US" dirty="0"/>
              </a:p>
              <a:p>
                <a:pPr marL="0" indent="0" algn="ctr">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𝑠𝑙𝑒𝑤</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h</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sub>
                            <m:r>
                              <a:rPr lang="en-US" i="1">
                                <a:latin typeface="Cambria Math" panose="02040503050406030204" pitchFamily="18" charset="0"/>
                              </a:rPr>
                              <m:t>𝑠𝑙𝑒𝑤</m:t>
                            </m:r>
                          </m:sub>
                        </m:sSub>
                      </m:num>
                      <m:den>
                        <m:r>
                          <a:rPr lang="en-US" i="1">
                            <a:latin typeface="Cambria Math" panose="02040503050406030204" pitchFamily="18" charset="0"/>
                          </a:rPr>
                          <m:t>𝐿𝑑</m:t>
                        </m:r>
                      </m:den>
                    </m:f>
                  </m:oMath>
                </a14:m>
                <a:r>
                  <a:rPr lang="en-US" dirty="0"/>
                  <a:t> for momentum biased S/C</a:t>
                </a:r>
              </a:p>
              <a:p>
                <a:pPr marL="0" indent="0">
                  <a:buNone/>
                </a:pPr>
                <a:r>
                  <a:rPr lang="en-US" sz="2000" dirty="0"/>
                  <a:t>Where:</a:t>
                </a:r>
              </a:p>
              <a:p>
                <a:pPr marL="0" indent="0">
                  <a:buNone/>
                </a:pPr>
                <a:r>
                  <a:rPr lang="en-US" sz="1900" dirty="0" err="1"/>
                  <a:t>F</a:t>
                </a:r>
                <a:r>
                  <a:rPr lang="en-US" sz="1900" baseline="-25000" dirty="0" err="1"/>
                  <a:t>slew</a:t>
                </a:r>
                <a:r>
                  <a:rPr lang="en-US" sz="1900" dirty="0"/>
                  <a:t> = force required by thruster to complete slew maneuver (N)</a:t>
                </a:r>
              </a:p>
              <a:p>
                <a:pPr marL="0" indent="0">
                  <a:buNone/>
                </a:pPr>
                <a:r>
                  <a:rPr lang="en-US" sz="1900" dirty="0"/>
                  <a:t>I = mass moment of inertia about axis of slew maneuver (kg·m</a:t>
                </a:r>
                <a:r>
                  <a:rPr lang="en-US" sz="1900" baseline="30000" dirty="0"/>
                  <a:t>2</a:t>
                </a:r>
                <a:r>
                  <a:rPr lang="en-US" sz="1900" dirty="0"/>
                  <a:t>)</a:t>
                </a:r>
              </a:p>
              <a:p>
                <a:pPr marL="0" indent="0">
                  <a:buNone/>
                </a:pPr>
                <a:r>
                  <a:rPr lang="en-US" sz="1900" dirty="0"/>
                  <a:t>L = thruster’s moment arm (m)</a:t>
                </a:r>
              </a:p>
              <a:p>
                <a:pPr marL="0" indent="0">
                  <a:buNone/>
                </a:pPr>
                <a:r>
                  <a:rPr lang="en-US" sz="1900" dirty="0"/>
                  <a:t>h = stored angular momentum (</a:t>
                </a:r>
                <a:r>
                  <a:rPr lang="en-US" sz="1900" dirty="0" err="1"/>
                  <a:t>N·m·s</a:t>
                </a:r>
                <a:r>
                  <a:rPr lang="en-US" sz="1900" dirty="0"/>
                  <a:t>)</a:t>
                </a:r>
              </a:p>
              <a:p>
                <a:pPr marL="0" indent="0">
                  <a:buNone/>
                </a:pPr>
                <a14:m>
                  <m:oMath xmlns:m="http://schemas.openxmlformats.org/officeDocument/2006/math">
                    <m:sSub>
                      <m:sSubPr>
                        <m:ctrlPr>
                          <a:rPr lang="en-US" sz="1900" i="1">
                            <a:latin typeface="Cambria Math" panose="02040503050406030204" pitchFamily="18" charset="0"/>
                          </a:rPr>
                        </m:ctrlPr>
                      </m:sSubPr>
                      <m:e>
                        <m:acc>
                          <m:accPr>
                            <m:chr m:val="̇"/>
                            <m:ctrlPr>
                              <a:rPr lang="en-US" sz="1900" i="1">
                                <a:latin typeface="Cambria Math" panose="02040503050406030204" pitchFamily="18" charset="0"/>
                              </a:rPr>
                            </m:ctrlPr>
                          </m:accPr>
                          <m:e>
                            <m:r>
                              <a:rPr lang="en-US" sz="1900" i="1">
                                <a:latin typeface="Cambria Math" panose="02040503050406030204" pitchFamily="18" charset="0"/>
                              </a:rPr>
                              <m:t>𝜃</m:t>
                            </m:r>
                          </m:e>
                        </m:acc>
                      </m:e>
                      <m:sub>
                        <m:r>
                          <a:rPr lang="en-US" sz="1900" i="1">
                            <a:latin typeface="Cambria Math" panose="02040503050406030204" pitchFamily="18" charset="0"/>
                          </a:rPr>
                          <m:t>𝑠𝑙𝑒𝑤</m:t>
                        </m:r>
                      </m:sub>
                    </m:sSub>
                  </m:oMath>
                </a14:m>
                <a:r>
                  <a:rPr lang="en-US" sz="1900" dirty="0"/>
                  <a:t> = slew rate (rad/s)</a:t>
                </a:r>
              </a:p>
              <a:p>
                <a:pPr marL="0" indent="0">
                  <a:buNone/>
                </a:pPr>
                <a:r>
                  <a:rPr lang="en-US" sz="1900" dirty="0"/>
                  <a:t>d = thruster duty cycle (fraction of spin period) (</a:t>
                </a:r>
                <a:r>
                  <a:rPr lang="en-US" sz="1900" dirty="0" err="1"/>
                  <a:t>unitless</a:t>
                </a:r>
                <a:r>
                  <a:rPr lang="en-US" sz="1900" dirty="0"/>
                  <a:t>)</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075766"/>
                <a:ext cx="8515350" cy="5561340"/>
              </a:xfrm>
              <a:blipFill>
                <a:blip r:embed="rId2"/>
                <a:stretch>
                  <a:fillRect l="-1432" t="-2629"/>
                </a:stretch>
              </a:blipFill>
            </p:spPr>
            <p:txBody>
              <a:bodyPr/>
              <a:lstStyle/>
              <a:p>
                <a:r>
                  <a:rPr lang="en-US">
                    <a:noFill/>
                  </a:rPr>
                  <a:t> </a:t>
                </a:r>
              </a:p>
            </p:txBody>
          </p:sp>
        </mc:Fallback>
      </mc:AlternateContent>
    </p:spTree>
    <p:extLst>
      <p:ext uri="{BB962C8B-B14F-4D97-AF65-F5344CB8AC3E}">
        <p14:creationId xmlns:p14="http://schemas.microsoft.com/office/powerpoint/2010/main" val="10739154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86B8C-FFD3-47CE-9E8F-4104A49DEB88}">
  <ds:schemaRefs>
    <ds:schemaRef ds:uri="http://schemas.microsoft.com/sharepoint/v3/contenttype/forms"/>
  </ds:schemaRefs>
</ds:datastoreItem>
</file>

<file path=customXml/itemProps2.xml><?xml version="1.0" encoding="utf-8"?>
<ds:datastoreItem xmlns:ds="http://schemas.openxmlformats.org/officeDocument/2006/customXml" ds:itemID="{0996DB7C-76B3-472D-8F6F-C8E69FE568F8}">
  <ds:schemaRefs>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723aa48c-73f2-40da-86b1-f1ae286477fe"/>
    <ds:schemaRef ds:uri="http://purl.org/dc/elements/1.1/"/>
    <ds:schemaRef ds:uri="http://schemas.microsoft.com/office/2006/metadata/properties"/>
    <ds:schemaRef ds:uri="http://schemas.microsoft.com/sharepoint/v3"/>
    <ds:schemaRef ds:uri="7584c457-6b5a-4caa-be47-be979cbe6555"/>
    <ds:schemaRef ds:uri="http://www.w3.org/XML/1998/namespace"/>
    <ds:schemaRef ds:uri="http://purl.org/dc/dcmitype/"/>
  </ds:schemaRefs>
</ds:datastoreItem>
</file>

<file path=customXml/itemProps3.xml><?xml version="1.0" encoding="utf-8"?>
<ds:datastoreItem xmlns:ds="http://schemas.openxmlformats.org/officeDocument/2006/customXml" ds:itemID="{B5B705C4-42D7-4B29-B4AD-86771998DC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30486</TotalTime>
  <Words>3594</Words>
  <Application>Microsoft Office PowerPoint</Application>
  <PresentationFormat>Letter Paper (8.5x11 in)</PresentationFormat>
  <Paragraphs>513</Paragraphs>
  <Slides>46</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-apple-system</vt:lpstr>
      <vt:lpstr>Aptos</vt:lpstr>
      <vt:lpstr>Arial</vt:lpstr>
      <vt:lpstr>Calibri</vt:lpstr>
      <vt:lpstr>Cambria Math</vt:lpstr>
      <vt:lpstr>CIDFont+F1</vt:lpstr>
      <vt:lpstr>Segoe UI</vt:lpstr>
      <vt:lpstr>Wingdings</vt:lpstr>
      <vt:lpstr>Office Theme</vt:lpstr>
      <vt:lpstr>Lesson 10</vt:lpstr>
      <vt:lpstr>Definition: Spacecraft Attitude</vt:lpstr>
      <vt:lpstr>Common Attitude Parametrizations</vt:lpstr>
      <vt:lpstr>Attitude Dynamics Fundamentals</vt:lpstr>
      <vt:lpstr>Attitude Dynamics Fundamentals (2)</vt:lpstr>
      <vt:lpstr>Control Systems</vt:lpstr>
      <vt:lpstr>Guidance, Navigation &amp; Control (GNC)</vt:lpstr>
      <vt:lpstr>Attitude Determination &amp; Control Subsystem (ADCS)</vt:lpstr>
      <vt:lpstr>ADCS: Performance Requirements</vt:lpstr>
      <vt:lpstr>Tracking Modes</vt:lpstr>
      <vt:lpstr>ADCS: Sensors</vt:lpstr>
      <vt:lpstr>ADCS: Sensors (2)</vt:lpstr>
      <vt:lpstr>ADCS: Actuators</vt:lpstr>
      <vt:lpstr>ADCS: Actuators (2)</vt:lpstr>
      <vt:lpstr>External Attitude Disturbance Torques</vt:lpstr>
      <vt:lpstr>External Attitude Disturbance Torques (2)</vt:lpstr>
      <vt:lpstr>External Disturbance Torques – Gravity Gradient</vt:lpstr>
      <vt:lpstr>External Disturbance Torques – Magnetic</vt:lpstr>
      <vt:lpstr>External Disturbance Torques –   Solar Radiation Pressure (SRP)</vt:lpstr>
      <vt:lpstr>External Disturbance Torques – Drag</vt:lpstr>
      <vt:lpstr>Other Disturbance Torques</vt:lpstr>
      <vt:lpstr>Reaction Wheels</vt:lpstr>
      <vt:lpstr>Reaction Wheels</vt:lpstr>
      <vt:lpstr>Slew Rate Example</vt:lpstr>
      <vt:lpstr>Saturation</vt:lpstr>
      <vt:lpstr>Desaturation</vt:lpstr>
      <vt:lpstr>Desaturation (2)</vt:lpstr>
      <vt:lpstr>ADCS Sizing</vt:lpstr>
      <vt:lpstr>ADCS Sizing Requirements</vt:lpstr>
      <vt:lpstr>Countering Disturbances</vt:lpstr>
      <vt:lpstr>Reaction Wheel Sizing –   Countering Disturbance Torques</vt:lpstr>
      <vt:lpstr>Reaction Wheel Sizing –   Momentum Storage </vt:lpstr>
      <vt:lpstr>Reaction Wheel Sizing –   Slew Maneuver Capability </vt:lpstr>
      <vt:lpstr>Thruster Sizing (1/3)</vt:lpstr>
      <vt:lpstr>Thruster Sizing (2/3)</vt:lpstr>
      <vt:lpstr>ADCS Sizing Summary</vt:lpstr>
      <vt:lpstr>Example</vt:lpstr>
      <vt:lpstr>Solution</vt:lpstr>
      <vt:lpstr>Solution</vt:lpstr>
      <vt:lpstr>Solution</vt:lpstr>
      <vt:lpstr>Solution</vt:lpstr>
      <vt:lpstr>Solution</vt:lpstr>
      <vt:lpstr>Solution</vt:lpstr>
      <vt:lpstr>Solution</vt:lpstr>
      <vt:lpstr>Extra Topics</vt:lpstr>
      <vt:lpstr>Thruster Sizing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Wyatt Harris</cp:lastModifiedBy>
  <cp:revision>4</cp:revision>
  <cp:lastPrinted>2025-08-01T16:37:26Z</cp:lastPrinted>
  <dcterms:created xsi:type="dcterms:W3CDTF">2025-07-17T17:53:42Z</dcterms:created>
  <dcterms:modified xsi:type="dcterms:W3CDTF">2026-02-24T02:44:04Z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