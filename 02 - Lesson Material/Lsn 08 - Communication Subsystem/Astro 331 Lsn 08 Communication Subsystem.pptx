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8"/>
  </p:notesMasterIdLst>
  <p:sldIdLst>
    <p:sldId id="256" r:id="rId5"/>
    <p:sldId id="275" r:id="rId6"/>
    <p:sldId id="257" r:id="rId7"/>
    <p:sldId id="281" r:id="rId8"/>
    <p:sldId id="278" r:id="rId9"/>
    <p:sldId id="282" r:id="rId10"/>
    <p:sldId id="258" r:id="rId11"/>
    <p:sldId id="277" r:id="rId12"/>
    <p:sldId id="259" r:id="rId13"/>
    <p:sldId id="266" r:id="rId14"/>
    <p:sldId id="264" r:id="rId15"/>
    <p:sldId id="262" r:id="rId16"/>
    <p:sldId id="271" r:id="rId17"/>
    <p:sldId id="276" r:id="rId18"/>
    <p:sldId id="263" r:id="rId19"/>
    <p:sldId id="261" r:id="rId20"/>
    <p:sldId id="280" r:id="rId21"/>
    <p:sldId id="272" r:id="rId22"/>
    <p:sldId id="274" r:id="rId23"/>
    <p:sldId id="273" r:id="rId24"/>
    <p:sldId id="267" r:id="rId25"/>
    <p:sldId id="268" r:id="rId26"/>
    <p:sldId id="269" r:id="rId27"/>
    <p:sldId id="270" r:id="rId28"/>
    <p:sldId id="265" r:id="rId29"/>
    <p:sldId id="279" r:id="rId30"/>
    <p:sldId id="283" r:id="rId31"/>
    <p:sldId id="284" r:id="rId32"/>
    <p:sldId id="285" r:id="rId33"/>
    <p:sldId id="286" r:id="rId34"/>
    <p:sldId id="288" r:id="rId35"/>
    <p:sldId id="291" r:id="rId36"/>
    <p:sldId id="290" r:id="rId3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B97FF-02DB-47BB-86F0-3AA545759416}" v="74" dt="2026-02-04T18:44:43.7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5" autoAdjust="0"/>
    <p:restoredTop sz="74118" autoAdjust="0"/>
  </p:normalViewPr>
  <p:slideViewPr>
    <p:cSldViewPr snapToGrid="0">
      <p:cViewPr varScale="1">
        <p:scale>
          <a:sx n="111" d="100"/>
          <a:sy n="111" d="100"/>
        </p:scale>
        <p:origin x="3328" y="2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delSld modSld">
      <pc:chgData name="Harris, Wyatt J Lt Col USAF USAFA DF/DFAS" userId="768bfb95-c272-4014-8fa2-010c15306053" providerId="ADAL" clId="{E18DAD13-4A53-44B8-9F3F-46E167733190}" dt="2026-02-04T18:58:49.745" v="128" actId="20577"/>
      <pc:docMkLst>
        <pc:docMk/>
      </pc:docMkLst>
      <pc:sldChg chg="modNotesTx">
        <pc:chgData name="Harris, Wyatt J Lt Col USAF USAFA DF/DFAS" userId="768bfb95-c272-4014-8fa2-010c15306053" providerId="ADAL" clId="{E18DAD13-4A53-44B8-9F3F-46E167733190}" dt="2026-01-27T15:42:47.401" v="79" actId="113"/>
        <pc:sldMkLst>
          <pc:docMk/>
          <pc:sldMk cId="3449516453" sldId="266"/>
        </pc:sldMkLst>
      </pc:sldChg>
      <pc:sldChg chg="modSp mod">
        <pc:chgData name="Harris, Wyatt J Lt Col USAF USAFA DF/DFAS" userId="768bfb95-c272-4014-8fa2-010c15306053" providerId="ADAL" clId="{E18DAD13-4A53-44B8-9F3F-46E167733190}" dt="2026-01-26T21:28:21.120" v="36" actId="207"/>
        <pc:sldMkLst>
          <pc:docMk/>
          <pc:sldMk cId="3993716596" sldId="267"/>
        </pc:sldMkLst>
        <pc:spChg chg="mod">
          <ac:chgData name="Harris, Wyatt J Lt Col USAF USAFA DF/DFAS" userId="768bfb95-c272-4014-8fa2-010c15306053" providerId="ADAL" clId="{E18DAD13-4A53-44B8-9F3F-46E167733190}" dt="2026-01-26T21:28:21.120" v="36" actId="207"/>
          <ac:spMkLst>
            <pc:docMk/>
            <pc:sldMk cId="3993716596" sldId="267"/>
            <ac:spMk id="2" creationId="{BD4B3A50-DE89-D955-D058-2DE33DDE4F9D}"/>
          </ac:spMkLst>
        </pc:spChg>
        <pc:spChg chg="mod">
          <ac:chgData name="Harris, Wyatt J Lt Col USAF USAFA DF/DFAS" userId="768bfb95-c272-4014-8fa2-010c15306053" providerId="ADAL" clId="{E18DAD13-4A53-44B8-9F3F-46E167733190}" dt="2026-01-26T21:28:12.121" v="34" actId="207"/>
          <ac:spMkLst>
            <pc:docMk/>
            <pc:sldMk cId="3993716596" sldId="267"/>
            <ac:spMk id="5" creationId="{AB485E77-9D44-9E80-8FDC-D1B79E3E3DE5}"/>
          </ac:spMkLst>
        </pc:spChg>
        <pc:spChg chg="mod">
          <ac:chgData name="Harris, Wyatt J Lt Col USAF USAFA DF/DFAS" userId="768bfb95-c272-4014-8fa2-010c15306053" providerId="ADAL" clId="{E18DAD13-4A53-44B8-9F3F-46E167733190}" dt="2026-01-26T21:28:17.116" v="35" actId="207"/>
          <ac:spMkLst>
            <pc:docMk/>
            <pc:sldMk cId="3993716596" sldId="267"/>
            <ac:spMk id="6" creationId="{B99C862E-C9C3-7A67-01EF-AF2AA81DFFFA}"/>
          </ac:spMkLst>
        </pc:spChg>
        <pc:picChg chg="mod">
          <ac:chgData name="Harris, Wyatt J Lt Col USAF USAFA DF/DFAS" userId="768bfb95-c272-4014-8fa2-010c15306053" providerId="ADAL" clId="{E18DAD13-4A53-44B8-9F3F-46E167733190}" dt="2026-01-26T21:28:07.634" v="33" actId="1076"/>
          <ac:picMkLst>
            <pc:docMk/>
            <pc:sldMk cId="3993716596" sldId="267"/>
            <ac:picMk id="4098" creationId="{0214DF03-FBBE-D17C-CAFC-3820605CDAF2}"/>
          </ac:picMkLst>
        </pc:picChg>
      </pc:sldChg>
      <pc:sldChg chg="modSp mod">
        <pc:chgData name="Harris, Wyatt J Lt Col USAF USAFA DF/DFAS" userId="768bfb95-c272-4014-8fa2-010c15306053" providerId="ADAL" clId="{E18DAD13-4A53-44B8-9F3F-46E167733190}" dt="2026-01-26T21:28:45.395" v="40" actId="207"/>
        <pc:sldMkLst>
          <pc:docMk/>
          <pc:sldMk cId="1825216925" sldId="268"/>
        </pc:sldMkLst>
        <pc:spChg chg="mod">
          <ac:chgData name="Harris, Wyatt J Lt Col USAF USAFA DF/DFAS" userId="768bfb95-c272-4014-8fa2-010c15306053" providerId="ADAL" clId="{E18DAD13-4A53-44B8-9F3F-46E167733190}" dt="2026-01-26T21:28:41.730" v="39" actId="207"/>
          <ac:spMkLst>
            <pc:docMk/>
            <pc:sldMk cId="1825216925" sldId="268"/>
            <ac:spMk id="2" creationId="{6737EA05-63BF-F049-24F4-54759EE253F0}"/>
          </ac:spMkLst>
        </pc:spChg>
        <pc:spChg chg="mod">
          <ac:chgData name="Harris, Wyatt J Lt Col USAF USAFA DF/DFAS" userId="768bfb95-c272-4014-8fa2-010c15306053" providerId="ADAL" clId="{E18DAD13-4A53-44B8-9F3F-46E167733190}" dt="2026-01-26T21:28:45.395" v="40" actId="207"/>
          <ac:spMkLst>
            <pc:docMk/>
            <pc:sldMk cId="1825216925" sldId="268"/>
            <ac:spMk id="3" creationId="{5423D73C-922D-B893-24E8-B998F9479F90}"/>
          </ac:spMkLst>
        </pc:spChg>
      </pc:sldChg>
      <pc:sldChg chg="modSp mod">
        <pc:chgData name="Harris, Wyatt J Lt Col USAF USAFA DF/DFAS" userId="768bfb95-c272-4014-8fa2-010c15306053" providerId="ADAL" clId="{E18DAD13-4A53-44B8-9F3F-46E167733190}" dt="2026-01-26T21:29:03.749" v="44" actId="207"/>
        <pc:sldMkLst>
          <pc:docMk/>
          <pc:sldMk cId="3437600120" sldId="269"/>
        </pc:sldMkLst>
        <pc:spChg chg="mod">
          <ac:chgData name="Harris, Wyatt J Lt Col USAF USAFA DF/DFAS" userId="768bfb95-c272-4014-8fa2-010c15306053" providerId="ADAL" clId="{E18DAD13-4A53-44B8-9F3F-46E167733190}" dt="2026-01-26T21:29:03.749" v="44" actId="207"/>
          <ac:spMkLst>
            <pc:docMk/>
            <pc:sldMk cId="3437600120" sldId="269"/>
            <ac:spMk id="2" creationId="{DE49B170-B237-4807-841E-F83973C2C2DE}"/>
          </ac:spMkLst>
        </pc:spChg>
        <pc:spChg chg="mod">
          <ac:chgData name="Harris, Wyatt J Lt Col USAF USAFA DF/DFAS" userId="768bfb95-c272-4014-8fa2-010c15306053" providerId="ADAL" clId="{E18DAD13-4A53-44B8-9F3F-46E167733190}" dt="2026-01-26T21:29:01.390" v="43" actId="207"/>
          <ac:spMkLst>
            <pc:docMk/>
            <pc:sldMk cId="3437600120" sldId="269"/>
            <ac:spMk id="3" creationId="{74FCE14C-F708-12A9-9810-D110377E7C7D}"/>
          </ac:spMkLst>
        </pc:spChg>
      </pc:sldChg>
      <pc:sldChg chg="modSp mod">
        <pc:chgData name="Harris, Wyatt J Lt Col USAF USAFA DF/DFAS" userId="768bfb95-c272-4014-8fa2-010c15306053" providerId="ADAL" clId="{E18DAD13-4A53-44B8-9F3F-46E167733190}" dt="2026-01-26T21:30:17.710" v="75" actId="207"/>
        <pc:sldMkLst>
          <pc:docMk/>
          <pc:sldMk cId="1954226288" sldId="270"/>
        </pc:sldMkLst>
        <pc:spChg chg="mod">
          <ac:chgData name="Harris, Wyatt J Lt Col USAF USAFA DF/DFAS" userId="768bfb95-c272-4014-8fa2-010c15306053" providerId="ADAL" clId="{E18DAD13-4A53-44B8-9F3F-46E167733190}" dt="2026-01-26T21:30:17.710" v="75" actId="207"/>
          <ac:spMkLst>
            <pc:docMk/>
            <pc:sldMk cId="1954226288" sldId="270"/>
            <ac:spMk id="2" creationId="{C542176E-4DC5-549B-AD3F-9A16135C9BDF}"/>
          </ac:spMkLst>
        </pc:spChg>
        <pc:spChg chg="mod">
          <ac:chgData name="Harris, Wyatt J Lt Col USAF USAFA DF/DFAS" userId="768bfb95-c272-4014-8fa2-010c15306053" providerId="ADAL" clId="{E18DAD13-4A53-44B8-9F3F-46E167733190}" dt="2026-01-26T21:29:19.817" v="47" actId="207"/>
          <ac:spMkLst>
            <pc:docMk/>
            <pc:sldMk cId="1954226288" sldId="270"/>
            <ac:spMk id="3" creationId="{2CB1E9C5-AC0D-BB3E-ADF4-F1BA2B9EC6BE}"/>
          </ac:spMkLst>
        </pc:spChg>
        <pc:picChg chg="mod">
          <ac:chgData name="Harris, Wyatt J Lt Col USAF USAFA DF/DFAS" userId="768bfb95-c272-4014-8fa2-010c15306053" providerId="ADAL" clId="{E18DAD13-4A53-44B8-9F3F-46E167733190}" dt="2026-01-26T21:30:02.376" v="74"/>
          <ac:picMkLst>
            <pc:docMk/>
            <pc:sldMk cId="1954226288" sldId="270"/>
            <ac:picMk id="7" creationId="{7C87D5C0-44F7-6DDB-8687-3C90CA1C3282}"/>
          </ac:picMkLst>
        </pc:picChg>
      </pc:sldChg>
      <pc:sldChg chg="modSp mod">
        <pc:chgData name="Harris, Wyatt J Lt Col USAF USAFA DF/DFAS" userId="768bfb95-c272-4014-8fa2-010c15306053" providerId="ADAL" clId="{E18DAD13-4A53-44B8-9F3F-46E167733190}" dt="2026-01-26T21:26:24.540" v="4" actId="115"/>
        <pc:sldMkLst>
          <pc:docMk/>
          <pc:sldMk cId="48464550" sldId="272"/>
        </pc:sldMkLst>
        <pc:spChg chg="mod">
          <ac:chgData name="Harris, Wyatt J Lt Col USAF USAFA DF/DFAS" userId="768bfb95-c272-4014-8fa2-010c15306053" providerId="ADAL" clId="{E18DAD13-4A53-44B8-9F3F-46E167733190}" dt="2026-01-26T21:26:24.540" v="4" actId="115"/>
          <ac:spMkLst>
            <pc:docMk/>
            <pc:sldMk cId="48464550" sldId="272"/>
            <ac:spMk id="5" creationId="{E68444DB-B620-0DEE-BB3D-862EBC09D682}"/>
          </ac:spMkLst>
        </pc:spChg>
      </pc:sldChg>
      <pc:sldChg chg="modSp mod">
        <pc:chgData name="Harris, Wyatt J Lt Col USAF USAFA DF/DFAS" userId="768bfb95-c272-4014-8fa2-010c15306053" providerId="ADAL" clId="{E18DAD13-4A53-44B8-9F3F-46E167733190}" dt="2026-01-26T21:29:14.862" v="46" actId="207"/>
        <pc:sldMkLst>
          <pc:docMk/>
          <pc:sldMk cId="415849614" sldId="273"/>
        </pc:sldMkLst>
        <pc:spChg chg="mod">
          <ac:chgData name="Harris, Wyatt J Lt Col USAF USAFA DF/DFAS" userId="768bfb95-c272-4014-8fa2-010c15306053" providerId="ADAL" clId="{E18DAD13-4A53-44B8-9F3F-46E167733190}" dt="2026-01-26T21:29:14.862" v="46" actId="207"/>
          <ac:spMkLst>
            <pc:docMk/>
            <pc:sldMk cId="415849614" sldId="273"/>
            <ac:spMk id="3" creationId="{C82E0470-AB8E-0C6D-F3A4-89685D51BA5A}"/>
          </ac:spMkLst>
        </pc:spChg>
      </pc:sldChg>
      <pc:sldChg chg="addSp delSp modSp mod">
        <pc:chgData name="Harris, Wyatt J Lt Col USAF USAFA DF/DFAS" userId="768bfb95-c272-4014-8fa2-010c15306053" providerId="ADAL" clId="{E18DAD13-4A53-44B8-9F3F-46E167733190}" dt="2026-02-04T18:58:49.745" v="128" actId="20577"/>
        <pc:sldMkLst>
          <pc:docMk/>
          <pc:sldMk cId="3202748659" sldId="279"/>
        </pc:sldMkLst>
        <pc:spChg chg="del">
          <ac:chgData name="Harris, Wyatt J Lt Col USAF USAFA DF/DFAS" userId="768bfb95-c272-4014-8fa2-010c15306053" providerId="ADAL" clId="{E18DAD13-4A53-44B8-9F3F-46E167733190}" dt="2026-02-03T22:46:38.818" v="80" actId="478"/>
          <ac:spMkLst>
            <pc:docMk/>
            <pc:sldMk cId="3202748659" sldId="279"/>
            <ac:spMk id="3" creationId="{9129F4C4-5D40-C5DC-B57B-002EC94E40E0}"/>
          </ac:spMkLst>
        </pc:spChg>
        <pc:spChg chg="add del mod">
          <ac:chgData name="Harris, Wyatt J Lt Col USAF USAFA DF/DFAS" userId="768bfb95-c272-4014-8fa2-010c15306053" providerId="ADAL" clId="{E18DAD13-4A53-44B8-9F3F-46E167733190}" dt="2026-02-03T22:46:44.075" v="81" actId="478"/>
          <ac:spMkLst>
            <pc:docMk/>
            <pc:sldMk cId="3202748659" sldId="279"/>
            <ac:spMk id="6" creationId="{A785769B-FEFF-8146-214F-5D91029798FA}"/>
          </ac:spMkLst>
        </pc:spChg>
        <pc:spChg chg="add mod">
          <ac:chgData name="Harris, Wyatt J Lt Col USAF USAFA DF/DFAS" userId="768bfb95-c272-4014-8fa2-010c15306053" providerId="ADAL" clId="{E18DAD13-4A53-44B8-9F3F-46E167733190}" dt="2026-02-04T18:58:49.745" v="128" actId="20577"/>
          <ac:spMkLst>
            <pc:docMk/>
            <pc:sldMk cId="3202748659" sldId="279"/>
            <ac:spMk id="7" creationId="{16E6279E-6BD5-2E6C-B2A4-6DB27DCD46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GPS IIIF</a:t>
                </a:r>
              </a:p>
              <a:p>
                <a:endParaRPr lang="en-US" dirty="0"/>
              </a:p>
              <a:p>
                <a:r>
                  <a:rPr lang="en-US" dirty="0"/>
                  <a:t>https://www.lockheedmartin.com/en-us/products/gps.html</a:t>
                </a:r>
              </a:p>
              <a:p>
                <a:endParaRPr lang="en-US" dirty="0"/>
              </a:p>
              <a:p>
                <a:r>
                  <a:rPr lang="en-US" b="1" dirty="0"/>
                  <a:t>GPS signals as received at the Earth’s surface have an SNR (in the conventional sense) far below 1</a:t>
                </a:r>
                <a:r>
                  <a:rPr lang="en-US" dirty="0"/>
                  <a:t>.</a:t>
                </a:r>
              </a:p>
              <a:p>
                <a:endParaRPr lang="en-US" dirty="0"/>
              </a:p>
              <a:p>
                <a:r>
                  <a:rPr lang="en-US" dirty="0"/>
                  <a:t>Here’s why:</a:t>
                </a:r>
              </a:p>
              <a:p>
                <a:endParaRPr lang="en-US" dirty="0"/>
              </a:p>
              <a:p>
                <a:r>
                  <a:rPr lang="en-US" b="1" dirty="0"/>
                  <a:t>1. Received GPS Signal Power</a:t>
                </a:r>
              </a:p>
              <a:p>
                <a:r>
                  <a:rPr lang="en-US" dirty="0"/>
                  <a:t>GPS satellites transmit around </a:t>
                </a:r>
                <a:r>
                  <a:rPr lang="en-US" b="1" dirty="0"/>
                  <a:t>25–50 W</a:t>
                </a:r>
                <a:r>
                  <a:rPr lang="en-US" dirty="0"/>
                  <a:t> in the L-band (~1.5 GHz).</a:t>
                </a:r>
              </a:p>
              <a:p>
                <a:r>
                  <a:rPr lang="en-US" dirty="0"/>
                  <a:t>By the time the signal reaches Earth, it has spread over ~20,000 km and the </a:t>
                </a:r>
                <a:r>
                  <a:rPr lang="en-US" b="1" dirty="0"/>
                  <a:t>received power is only about −160 </a:t>
                </a:r>
                <a:r>
                  <a:rPr lang="en-US" b="1" dirty="0" err="1"/>
                  <a:t>dBW</a:t>
                </a:r>
                <a:r>
                  <a:rPr lang="en-US" b="1" dirty="0"/>
                  <a:t> to −130 </a:t>
                </a:r>
                <a:r>
                  <a:rPr lang="en-US" b="1" dirty="0" err="1"/>
                  <a:t>dBW</a:t>
                </a:r>
                <a:r>
                  <a:rPr lang="en-US" dirty="0"/>
                  <a:t> (that’s roughly </a:t>
                </a:r>
                <a:r>
                  <a:rPr lang="en-US" b="1" dirty="0"/>
                  <a:t>10⁻¹⁶ W</a:t>
                </a:r>
                <a:r>
                  <a:rPr lang="en-US" dirty="0"/>
                  <a:t>!).</a:t>
                </a:r>
              </a:p>
              <a:p>
                <a:endParaRPr lang="en-US" dirty="0"/>
              </a:p>
              <a:p>
                <a:r>
                  <a:rPr lang="en-US" b="1" dirty="0"/>
                  <a:t>2. Thermal Noise Floor</a:t>
                </a:r>
              </a:p>
              <a:p>
                <a:r>
                  <a:rPr lang="en-US" dirty="0"/>
                  <a:t>Thermal noise density at room temperature:</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𝑁</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𝑘𝑇</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174</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dBm</m:t>
                      </m:r>
                      <m:r>
                        <m:rPr>
                          <m:nor/>
                        </m:rPr>
                        <a:rPr lang="en-US" sz="1200" b="0" i="1" kern="1200">
                          <a:solidFill>
                            <a:schemeClr val="tx1"/>
                          </a:solidFill>
                          <a:latin typeface="+mn-lt"/>
                          <a:ea typeface="+mn-ea"/>
                          <a:cs typeface="+mn-cs"/>
                        </a:rPr>
                        <m:t>/</m:t>
                      </m:r>
                      <m:r>
                        <m:rPr>
                          <m:nor/>
                        </m:rPr>
                        <a:rPr lang="en-US" sz="1200" b="0" i="1" kern="1200">
                          <a:solidFill>
                            <a:schemeClr val="tx1"/>
                          </a:solidFill>
                          <a:latin typeface="+mn-lt"/>
                          <a:ea typeface="+mn-ea"/>
                          <a:cs typeface="+mn-cs"/>
                        </a:rPr>
                        <m:t>Hz</m:t>
                      </m:r>
                    </m:oMath>
                  </m:oMathPara>
                </a14:m>
                <a:endParaRPr lang="en-US" b="0" dirty="0"/>
              </a:p>
              <a:p>
                <a:r>
                  <a:rPr lang="en-US" dirty="0"/>
                  <a:t>In a typical GPS receiver:</a:t>
                </a:r>
              </a:p>
              <a:p>
                <a:r>
                  <a:rPr lang="en-US" dirty="0"/>
                  <a:t>With ~2 MHz bandwidth (C/A code), total noise power is about </a:t>
                </a:r>
                <a:r>
                  <a:rPr lang="en-US" b="1" dirty="0"/>
                  <a:t>−111 dBm</a:t>
                </a:r>
                <a:r>
                  <a:rPr lang="en-US" dirty="0"/>
                  <a:t>.</a:t>
                </a:r>
              </a:p>
              <a:p>
                <a:r>
                  <a:rPr lang="en-US" dirty="0"/>
                  <a:t>GPS signal power is around </a:t>
                </a:r>
                <a:r>
                  <a:rPr lang="en-US" b="1" dirty="0"/>
                  <a:t>−160 </a:t>
                </a:r>
                <a:r>
                  <a:rPr lang="en-US" b="1" dirty="0" err="1"/>
                  <a:t>dBW</a:t>
                </a:r>
                <a:r>
                  <a:rPr lang="en-US" b="1" dirty="0"/>
                  <a:t> = −130 dBm</a:t>
                </a:r>
                <a:r>
                  <a:rPr lang="en-US" dirty="0"/>
                  <a:t>.</a:t>
                </a:r>
              </a:p>
              <a:p>
                <a:r>
                  <a:rPr lang="en-US" dirty="0"/>
                  <a:t>So the </a:t>
                </a:r>
                <a:r>
                  <a:rPr lang="en-US" b="1" dirty="0"/>
                  <a:t>signal is ~20 dB weaker than the noise</a:t>
                </a:r>
                <a:r>
                  <a:rPr lang="en-US" dirty="0"/>
                  <a:t> in the raw RF channel.</a:t>
                </a:r>
              </a:p>
              <a:p>
                <a:endParaRPr lang="en-US" dirty="0"/>
              </a:p>
              <a:p>
                <a:r>
                  <a:rPr lang="en-US" b="1" dirty="0"/>
                  <a:t>3. How GPS Still Works</a:t>
                </a:r>
              </a:p>
              <a:p>
                <a:r>
                  <a:rPr lang="en-US" dirty="0"/>
                  <a:t>Even though the signal is “buried in noise”:</a:t>
                </a:r>
              </a:p>
              <a:p>
                <a:r>
                  <a:rPr lang="en-US" dirty="0"/>
                  <a:t>GPS uses </a:t>
                </a:r>
                <a:r>
                  <a:rPr lang="en-US" b="1" dirty="0"/>
                  <a:t>spread spectrum CDMA</a:t>
                </a:r>
                <a:r>
                  <a:rPr lang="en-US" dirty="0"/>
                  <a:t> (direct-sequence).</a:t>
                </a:r>
              </a:p>
              <a:p>
                <a:r>
                  <a:rPr lang="en-US" dirty="0"/>
                  <a:t>The satellite transmits a pseudorandom noise (PRN) code at 1.023 Mbps (C/A code).</a:t>
                </a:r>
              </a:p>
              <a:p>
                <a:r>
                  <a:rPr lang="en-US" dirty="0"/>
                  <a:t>The receiver generates the same PRN sequence locally and correlates it with the incoming signal.</a:t>
                </a:r>
              </a:p>
              <a:p>
                <a:r>
                  <a:rPr lang="en-US" dirty="0"/>
                  <a:t>This </a:t>
                </a:r>
                <a:r>
                  <a:rPr lang="en-US" b="1" dirty="0" err="1"/>
                  <a:t>despreading</a:t>
                </a:r>
                <a:r>
                  <a:rPr lang="en-US" b="1" dirty="0"/>
                  <a:t> process concentrates the signal energy</a:t>
                </a:r>
                <a:r>
                  <a:rPr lang="en-US" dirty="0"/>
                  <a:t> while spreading the noise, effectively raising the post-correlation SNR to a usable level (&gt;40 dB-Hz for tracking).</a:t>
                </a:r>
              </a:p>
              <a:p>
                <a:endParaRPr lang="en-US" dirty="0"/>
              </a:p>
              <a:p>
                <a:r>
                  <a:rPr lang="en-US" b="1" dirty="0"/>
                  <a:t>4. SNR Metrics in GPS</a:t>
                </a:r>
              </a:p>
              <a:p>
                <a:r>
                  <a:rPr lang="en-US" dirty="0"/>
                  <a:t>Raw RF: SNR &lt;&lt; 1 (the signal is below noise).</a:t>
                </a:r>
              </a:p>
              <a:p>
                <a:r>
                  <a:rPr lang="en-US" dirty="0"/>
                  <a:t>After correlation: we talk about </a:t>
                </a:r>
                <a:r>
                  <a:rPr lang="en-US" b="1" dirty="0"/>
                  <a:t>Carrier-to-Noise Density (C/N₀)</a:t>
                </a:r>
                <a:r>
                  <a:rPr lang="en-US" dirty="0"/>
                  <a:t> in </a:t>
                </a:r>
                <a:r>
                  <a:rPr lang="en-US" b="1" dirty="0"/>
                  <a:t>dB-Hz</a:t>
                </a:r>
                <a:r>
                  <a:rPr lang="en-US" dirty="0"/>
                  <a:t>, typically </a:t>
                </a:r>
                <a:r>
                  <a:rPr lang="en-US" b="1" dirty="0"/>
                  <a:t>35–50 dB-Hz</a:t>
                </a:r>
                <a:r>
                  <a:rPr lang="en-US" dirty="0"/>
                  <a:t> for a strong GPS signal.</a:t>
                </a:r>
              </a:p>
              <a:p>
                <a:pPr lvl="1"/>
                <a:r>
                  <a:rPr lang="en-US" dirty="0"/>
                  <a:t>Example: 45 dB-Hz means the effective SNR in a 1 Hz bandwidth is 45 </a:t>
                </a:r>
                <a:r>
                  <a:rPr lang="en-US" dirty="0" err="1"/>
                  <a:t>dB.</a:t>
                </a:r>
                <a:endParaRPr lang="en-US" dirty="0"/>
              </a:p>
              <a:p>
                <a:endParaRPr lang="en-US" dirty="0"/>
              </a:p>
              <a:p>
                <a:r>
                  <a:rPr lang="en-US" dirty="0"/>
                  <a:t>✅ </a:t>
                </a:r>
                <a:r>
                  <a:rPr lang="en-US" b="1" dirty="0"/>
                  <a:t>So in summary:</a:t>
                </a:r>
                <a:br>
                  <a:rPr lang="en-US" dirty="0"/>
                </a:br>
                <a:r>
                  <a:rPr lang="en-US" dirty="0"/>
                  <a:t>GPS signals as received at Earth have an SNR far less than 1 (they’re below the noise floor). But correlation processing allows receivers to recover and track them reliably.</a:t>
                </a:r>
              </a:p>
              <a:p>
                <a:endParaRPr lang="en-US" dirty="0"/>
              </a:p>
              <a:p>
                <a:endParaRPr lang="en-US" dirty="0"/>
              </a:p>
            </p:txBody>
          </p:sp>
        </mc:Choice>
        <mc:Fallback xmlns="">
          <p:sp>
            <p:nvSpPr>
              <p:cNvPr id="3" name="Notes Placeholder 2"/>
              <p:cNvSpPr>
                <a:spLocks noGrp="1"/>
              </p:cNvSpPr>
              <p:nvPr>
                <p:ph type="body" idx="1"/>
              </p:nvPr>
            </p:nvSpPr>
            <p:spPr/>
            <p:txBody>
              <a:bodyPr/>
              <a:lstStyle/>
              <a:p>
                <a:r>
                  <a:rPr lang="en-US" dirty="0"/>
                  <a:t>GPS IIIF</a:t>
                </a:r>
              </a:p>
              <a:p>
                <a:endParaRPr lang="en-US" dirty="0"/>
              </a:p>
              <a:p>
                <a:r>
                  <a:rPr lang="en-US" dirty="0"/>
                  <a:t>https://www.lockheedmartin.com/en-us/products/gps.html</a:t>
                </a:r>
              </a:p>
              <a:p>
                <a:endParaRPr lang="en-US" dirty="0"/>
              </a:p>
              <a:p>
                <a:r>
                  <a:rPr lang="en-US" b="1" dirty="0"/>
                  <a:t>GPS signals as received at the Earth’s surface have an SNR (in the conventional sense) far below 1</a:t>
                </a:r>
                <a:r>
                  <a:rPr lang="en-US" dirty="0"/>
                  <a:t>.</a:t>
                </a:r>
              </a:p>
              <a:p>
                <a:endParaRPr lang="en-US" dirty="0"/>
              </a:p>
              <a:p>
                <a:r>
                  <a:rPr lang="en-US" dirty="0"/>
                  <a:t>Here’s why:</a:t>
                </a:r>
              </a:p>
              <a:p>
                <a:endParaRPr lang="en-US" dirty="0"/>
              </a:p>
              <a:p>
                <a:r>
                  <a:rPr lang="en-US" b="1" dirty="0"/>
                  <a:t>1. Received GPS Signal Power</a:t>
                </a:r>
              </a:p>
              <a:p>
                <a:r>
                  <a:rPr lang="en-US" dirty="0"/>
                  <a:t>GPS satellites transmit around </a:t>
                </a:r>
                <a:r>
                  <a:rPr lang="en-US" b="1" dirty="0"/>
                  <a:t>25–50 W</a:t>
                </a:r>
                <a:r>
                  <a:rPr lang="en-US" dirty="0"/>
                  <a:t> in the L-band (~1.5 GHz).</a:t>
                </a:r>
              </a:p>
              <a:p>
                <a:r>
                  <a:rPr lang="en-US" dirty="0"/>
                  <a:t>By the time the signal reaches Earth, it has spread over ~20,000 km and the </a:t>
                </a:r>
                <a:r>
                  <a:rPr lang="en-US" b="1" dirty="0"/>
                  <a:t>received power is only about −160 </a:t>
                </a:r>
                <a:r>
                  <a:rPr lang="en-US" b="1" dirty="0" err="1"/>
                  <a:t>dBW</a:t>
                </a:r>
                <a:r>
                  <a:rPr lang="en-US" b="1" dirty="0"/>
                  <a:t> to −130 </a:t>
                </a:r>
                <a:r>
                  <a:rPr lang="en-US" b="1" dirty="0" err="1"/>
                  <a:t>dBW</a:t>
                </a:r>
                <a:r>
                  <a:rPr lang="en-US" dirty="0"/>
                  <a:t> (that’s roughly </a:t>
                </a:r>
                <a:r>
                  <a:rPr lang="en-US" b="1" dirty="0"/>
                  <a:t>10⁻¹⁶ W</a:t>
                </a:r>
                <a:r>
                  <a:rPr lang="en-US" dirty="0"/>
                  <a:t>!).</a:t>
                </a:r>
              </a:p>
              <a:p>
                <a:endParaRPr lang="en-US" dirty="0"/>
              </a:p>
              <a:p>
                <a:r>
                  <a:rPr lang="en-US" b="1" dirty="0"/>
                  <a:t>2. Thermal Noise Floor</a:t>
                </a:r>
              </a:p>
              <a:p>
                <a:r>
                  <a:rPr lang="en-US" dirty="0"/>
                  <a:t>Thermal noise density at room temperature:</a:t>
                </a:r>
              </a:p>
              <a:p>
                <a:r>
                  <a:rPr lang="ar-AE" sz="1200" i="0" kern="1200">
                    <a:solidFill>
                      <a:schemeClr val="tx1"/>
                    </a:solidFill>
                    <a:latin typeface="+mn-lt"/>
                    <a:ea typeface="+mn-ea"/>
                    <a:cs typeface="+mn-cs"/>
                  </a:rPr>
                  <a:t>𝑁_0=𝑘𝑇≈−174</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dBm/Hz</a:t>
                </a:r>
                <a:r>
                  <a:rPr lang="en-US" sz="1200" b="0" i="0" kern="1200">
                    <a:solidFill>
                      <a:schemeClr val="tx1"/>
                    </a:solidFill>
                    <a:latin typeface="+mn-lt"/>
                    <a:ea typeface="+mn-ea"/>
                    <a:cs typeface="+mn-cs"/>
                  </a:rPr>
                  <a:t>"</a:t>
                </a:r>
                <a:endParaRPr lang="en-US" b="0" dirty="0"/>
              </a:p>
              <a:p>
                <a:r>
                  <a:rPr lang="en-US" dirty="0"/>
                  <a:t>In a typical GPS receiver:</a:t>
                </a:r>
              </a:p>
              <a:p>
                <a:r>
                  <a:rPr lang="en-US" dirty="0"/>
                  <a:t>With ~2 MHz bandwidth (C/A code), total noise power is about </a:t>
                </a:r>
                <a:r>
                  <a:rPr lang="en-US" b="1" dirty="0"/>
                  <a:t>−111 dBm</a:t>
                </a:r>
                <a:r>
                  <a:rPr lang="en-US" dirty="0"/>
                  <a:t>.</a:t>
                </a:r>
              </a:p>
              <a:p>
                <a:r>
                  <a:rPr lang="en-US" dirty="0"/>
                  <a:t>GPS signal power is around </a:t>
                </a:r>
                <a:r>
                  <a:rPr lang="en-US" b="1" dirty="0"/>
                  <a:t>−160 </a:t>
                </a:r>
                <a:r>
                  <a:rPr lang="en-US" b="1" dirty="0" err="1"/>
                  <a:t>dBW</a:t>
                </a:r>
                <a:r>
                  <a:rPr lang="en-US" b="1" dirty="0"/>
                  <a:t> = −130 dBm</a:t>
                </a:r>
                <a:r>
                  <a:rPr lang="en-US" dirty="0"/>
                  <a:t>.</a:t>
                </a:r>
              </a:p>
              <a:p>
                <a:r>
                  <a:rPr lang="en-US" dirty="0"/>
                  <a:t>So the </a:t>
                </a:r>
                <a:r>
                  <a:rPr lang="en-US" b="1" dirty="0"/>
                  <a:t>signal is ~20 dB weaker than the noise</a:t>
                </a:r>
                <a:r>
                  <a:rPr lang="en-US" dirty="0"/>
                  <a:t> in the raw RF channel.</a:t>
                </a:r>
              </a:p>
              <a:p>
                <a:endParaRPr lang="en-US" dirty="0"/>
              </a:p>
              <a:p>
                <a:r>
                  <a:rPr lang="en-US" b="1" dirty="0"/>
                  <a:t>3. How GPS Still Works</a:t>
                </a:r>
              </a:p>
              <a:p>
                <a:r>
                  <a:rPr lang="en-US" dirty="0"/>
                  <a:t>Even though the signal is “buried in noise”:</a:t>
                </a:r>
              </a:p>
              <a:p>
                <a:r>
                  <a:rPr lang="en-US" dirty="0"/>
                  <a:t>GPS uses </a:t>
                </a:r>
                <a:r>
                  <a:rPr lang="en-US" b="1" dirty="0"/>
                  <a:t>spread spectrum CDMA</a:t>
                </a:r>
                <a:r>
                  <a:rPr lang="en-US" dirty="0"/>
                  <a:t> (direct-sequence).</a:t>
                </a:r>
              </a:p>
              <a:p>
                <a:r>
                  <a:rPr lang="en-US" dirty="0"/>
                  <a:t>The satellite transmits a pseudorandom noise (PRN) code at 1.023 Mbps (C/A code).</a:t>
                </a:r>
              </a:p>
              <a:p>
                <a:r>
                  <a:rPr lang="en-US" dirty="0"/>
                  <a:t>The receiver generates the same PRN sequence locally and correlates it with the incoming signal.</a:t>
                </a:r>
              </a:p>
              <a:p>
                <a:r>
                  <a:rPr lang="en-US" dirty="0"/>
                  <a:t>This </a:t>
                </a:r>
                <a:r>
                  <a:rPr lang="en-US" b="1" dirty="0" err="1"/>
                  <a:t>despreading</a:t>
                </a:r>
                <a:r>
                  <a:rPr lang="en-US" b="1" dirty="0"/>
                  <a:t> process concentrates the signal energy</a:t>
                </a:r>
                <a:r>
                  <a:rPr lang="en-US" dirty="0"/>
                  <a:t> while spreading the noise, effectively raising the post-correlation SNR to a usable level (&gt;40 dB-Hz for tracking).</a:t>
                </a:r>
              </a:p>
              <a:p>
                <a:endParaRPr lang="en-US" dirty="0"/>
              </a:p>
              <a:p>
                <a:r>
                  <a:rPr lang="en-US" b="1" dirty="0"/>
                  <a:t>4. SNR Metrics in GPS</a:t>
                </a:r>
              </a:p>
              <a:p>
                <a:r>
                  <a:rPr lang="en-US" dirty="0"/>
                  <a:t>Raw RF: SNR &lt;&lt; 1 (the signal is below noise).</a:t>
                </a:r>
              </a:p>
              <a:p>
                <a:r>
                  <a:rPr lang="en-US" dirty="0"/>
                  <a:t>After correlation: we talk about </a:t>
                </a:r>
                <a:r>
                  <a:rPr lang="en-US" b="1" dirty="0"/>
                  <a:t>Carrier-to-Noise Density (C/N₀)</a:t>
                </a:r>
                <a:r>
                  <a:rPr lang="en-US" dirty="0"/>
                  <a:t> in </a:t>
                </a:r>
                <a:r>
                  <a:rPr lang="en-US" b="1" dirty="0"/>
                  <a:t>dB-Hz</a:t>
                </a:r>
                <a:r>
                  <a:rPr lang="en-US" dirty="0"/>
                  <a:t>, typically </a:t>
                </a:r>
                <a:r>
                  <a:rPr lang="en-US" b="1" dirty="0"/>
                  <a:t>35–50 dB-Hz</a:t>
                </a:r>
                <a:r>
                  <a:rPr lang="en-US" dirty="0"/>
                  <a:t> for a strong GPS signal.</a:t>
                </a:r>
              </a:p>
              <a:p>
                <a:pPr lvl="1"/>
                <a:r>
                  <a:rPr lang="en-US" dirty="0"/>
                  <a:t>Example: 45 dB-Hz means the effective SNR in a 1 Hz bandwidth is 45 </a:t>
                </a:r>
                <a:r>
                  <a:rPr lang="en-US" dirty="0" err="1"/>
                  <a:t>dB.</a:t>
                </a:r>
                <a:endParaRPr lang="en-US" dirty="0"/>
              </a:p>
              <a:p>
                <a:endParaRPr lang="en-US" dirty="0"/>
              </a:p>
              <a:p>
                <a:r>
                  <a:rPr lang="en-US" dirty="0"/>
                  <a:t>✅ </a:t>
                </a:r>
                <a:r>
                  <a:rPr lang="en-US" b="1" dirty="0"/>
                  <a:t>So in summary:</a:t>
                </a:r>
                <a:br>
                  <a:rPr lang="en-US" dirty="0"/>
                </a:br>
                <a:r>
                  <a:rPr lang="en-US" dirty="0"/>
                  <a:t>GPS signals as received at Earth have an SNR far less than 1 (they’re below the noise floor). But correlation processing allows receivers to recover and track them reliably.</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291887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https://www.nasa.gov/smallsat-institute/sst-soa/soa-communications/</a:t>
            </a:r>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41362300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Antenna – Transmits and receives signals, usually to and from a specific direction</a:t>
            </a:r>
          </a:p>
          <a:p>
            <a:pPr lvl="0"/>
            <a:r>
              <a:rPr lang="en-US" sz="1200" kern="1200" dirty="0">
                <a:solidFill>
                  <a:schemeClr val="tx1"/>
                </a:solidFill>
                <a:effectLst/>
                <a:latin typeface="+mn-lt"/>
                <a:ea typeface="+mn-ea"/>
                <a:cs typeface="+mn-cs"/>
              </a:rPr>
              <a:t>Transceiver – A combination of a transmitter and receiver, it amplifies and broadcasts a signal or detects and amplifies a received signal</a:t>
            </a:r>
          </a:p>
          <a:p>
            <a:pPr lvl="0"/>
            <a:r>
              <a:rPr lang="en-US" sz="1200" kern="1200" dirty="0">
                <a:solidFill>
                  <a:schemeClr val="tx1"/>
                </a:solidFill>
                <a:effectLst/>
                <a:latin typeface="+mn-lt"/>
                <a:ea typeface="+mn-ea"/>
                <a:cs typeface="+mn-cs"/>
              </a:rPr>
              <a:t>Modulator/Demodulator – Encodes data onto a carrier signal to be transmitted and extracts (decodes) data from a received signal</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2666947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Industrial, Scientific, and Medical (ISM) radio bands:</a:t>
            </a:r>
            <a:r>
              <a:rPr lang="en-US" dirty="0"/>
              <a:t> These are special chunks of the radio spectrum set aside internationally for low-power, license-free use.</a:t>
            </a:r>
          </a:p>
        </p:txBody>
      </p:sp>
      <p:sp>
        <p:nvSpPr>
          <p:cNvPr id="4" name="Slide Number Placeholder 3"/>
          <p:cNvSpPr>
            <a:spLocks noGrp="1"/>
          </p:cNvSpPr>
          <p:nvPr>
            <p:ph type="sldNum" sz="quarter" idx="5"/>
          </p:nvPr>
        </p:nvSpPr>
        <p:spPr/>
        <p:txBody>
          <a:bodyPr/>
          <a:lstStyle/>
          <a:p>
            <a:fld id="{9EB4C982-825B-414E-ABB9-79AB251390A5}" type="slidenum">
              <a:rPr lang="en-US" smtClean="0"/>
              <a:t>7</a:t>
            </a:fld>
            <a:endParaRPr lang="en-US"/>
          </a:p>
        </p:txBody>
      </p:sp>
    </p:spTree>
    <p:extLst>
      <p:ext uri="{BB962C8B-B14F-4D97-AF65-F5344CB8AC3E}">
        <p14:creationId xmlns:p14="http://schemas.microsoft.com/office/powerpoint/2010/main" val="560637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 is congested! </a:t>
            </a:r>
          </a:p>
        </p:txBody>
      </p:sp>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1440316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Amplitude Modulation (AM)</a:t>
            </a:r>
          </a:p>
          <a:p>
            <a:r>
              <a:rPr lang="en-US" b="1" dirty="0"/>
              <a:t>Principle:</a:t>
            </a:r>
            <a:r>
              <a:rPr lang="en-US" dirty="0"/>
              <a:t> Vary the amplitude of the carrier proportional to the message signal.</a:t>
            </a:r>
          </a:p>
          <a:p>
            <a:r>
              <a:rPr lang="en-US" b="1" dirty="0"/>
              <a:t>Variants:</a:t>
            </a:r>
            <a:r>
              <a:rPr lang="en-US" dirty="0"/>
              <a:t> Double-sideband (DSB), single-sideband (SSB).</a:t>
            </a:r>
          </a:p>
          <a:p>
            <a:r>
              <a:rPr lang="en-US" b="1" dirty="0"/>
              <a:t>Pros:</a:t>
            </a:r>
            <a:r>
              <a:rPr lang="en-US" dirty="0"/>
              <a:t> Simple to implement, narrowband SSB saves power and spectrum.</a:t>
            </a:r>
          </a:p>
          <a:p>
            <a:r>
              <a:rPr lang="en-US" b="1" dirty="0"/>
              <a:t>Cons:</a:t>
            </a:r>
            <a:r>
              <a:rPr lang="en-US" dirty="0"/>
              <a:t> Susceptible to noise and fading.</a:t>
            </a:r>
          </a:p>
          <a:p>
            <a:r>
              <a:rPr lang="en-US" b="1" dirty="0"/>
              <a:t>Space Use:</a:t>
            </a:r>
            <a:r>
              <a:rPr lang="en-US" dirty="0"/>
              <a:t> Rare in modern spacecraft, but early missions used AM for analog telemetry.</a:t>
            </a:r>
            <a:br>
              <a:rPr lang="en-US" dirty="0"/>
            </a:br>
            <a:endParaRPr lang="en-US" dirty="0"/>
          </a:p>
          <a:p>
            <a:r>
              <a:rPr lang="en-US" b="1" dirty="0"/>
              <a:t>2. Frequency Modulation (FM)</a:t>
            </a:r>
          </a:p>
          <a:p>
            <a:r>
              <a:rPr lang="en-US" b="1" dirty="0"/>
              <a:t>Principle:</a:t>
            </a:r>
            <a:r>
              <a:rPr lang="en-US" dirty="0"/>
              <a:t> Vary the carrier </a:t>
            </a:r>
            <a:r>
              <a:rPr lang="en-US" b="1" dirty="0"/>
              <a:t>frequency</a:t>
            </a:r>
            <a:r>
              <a:rPr lang="en-US" dirty="0"/>
              <a:t> according to the signal.</a:t>
            </a:r>
          </a:p>
          <a:p>
            <a:r>
              <a:rPr lang="en-US" b="1" dirty="0"/>
              <a:t>Pros:</a:t>
            </a:r>
            <a:r>
              <a:rPr lang="en-US" dirty="0"/>
              <a:t> Good noise immunity, robust for analog telemetry (voice, video).</a:t>
            </a:r>
          </a:p>
          <a:p>
            <a:r>
              <a:rPr lang="en-US" b="1" dirty="0"/>
              <a:t>Cons:</a:t>
            </a:r>
            <a:r>
              <a:rPr lang="en-US" dirty="0"/>
              <a:t> Requires larger bandwidth than AM.</a:t>
            </a:r>
          </a:p>
          <a:p>
            <a:r>
              <a:rPr lang="en-US" b="1" dirty="0"/>
              <a:t>Space Use:</a:t>
            </a:r>
            <a:r>
              <a:rPr lang="en-US" dirty="0"/>
              <a:t> Widely used in early space missions for voice and analog telemetry.</a:t>
            </a:r>
            <a:br>
              <a:rPr lang="en-US" dirty="0"/>
            </a:br>
            <a:endParaRPr lang="en-US" dirty="0"/>
          </a:p>
          <a:p>
            <a:r>
              <a:rPr lang="en-US" b="1" dirty="0"/>
              <a:t>3. Phase Shift Keying (PSK)</a:t>
            </a:r>
          </a:p>
          <a:p>
            <a:r>
              <a:rPr lang="en-US" b="1" dirty="0"/>
              <a:t>Principle:</a:t>
            </a:r>
            <a:r>
              <a:rPr lang="en-US" dirty="0"/>
              <a:t> Change the </a:t>
            </a:r>
            <a:r>
              <a:rPr lang="en-US" b="1" dirty="0"/>
              <a:t>phase</a:t>
            </a:r>
            <a:r>
              <a:rPr lang="en-US" dirty="0"/>
              <a:t> of the carrier to represent digital data.</a:t>
            </a:r>
          </a:p>
          <a:p>
            <a:r>
              <a:rPr lang="en-US" b="1" dirty="0"/>
              <a:t>Variants:</a:t>
            </a:r>
            <a:endParaRPr lang="en-US" dirty="0"/>
          </a:p>
          <a:p>
            <a:pPr lvl="1"/>
            <a:r>
              <a:rPr lang="en-US" b="1" dirty="0"/>
              <a:t>BPSK (Binary PSK):</a:t>
            </a:r>
            <a:r>
              <a:rPr lang="en-US" dirty="0"/>
              <a:t> 0° or 180° → very robust, low spectral efficiency.</a:t>
            </a:r>
          </a:p>
          <a:p>
            <a:pPr lvl="1"/>
            <a:r>
              <a:rPr lang="en-US" b="1" dirty="0"/>
              <a:t>QPSK (Quadrature PSK):</a:t>
            </a:r>
            <a:r>
              <a:rPr lang="en-US" dirty="0"/>
              <a:t> Four phase states (0°, 90°, 180°, 270°) → doubles bit rate.</a:t>
            </a:r>
          </a:p>
          <a:p>
            <a:pPr lvl="1"/>
            <a:r>
              <a:rPr lang="en-US" b="1" dirty="0"/>
              <a:t>8-PSK, 16-PSK:</a:t>
            </a:r>
            <a:r>
              <a:rPr lang="en-US" dirty="0"/>
              <a:t> Higher data rates but more susceptible to noise.</a:t>
            </a:r>
          </a:p>
          <a:p>
            <a:r>
              <a:rPr lang="en-US" b="1" dirty="0"/>
              <a:t>Space Use:</a:t>
            </a:r>
            <a:r>
              <a:rPr lang="en-US" dirty="0"/>
              <a:t> Common in telemetry links; </a:t>
            </a:r>
            <a:r>
              <a:rPr lang="en-US" b="1" dirty="0"/>
              <a:t>BPSK/QPSK</a:t>
            </a:r>
            <a:r>
              <a:rPr lang="en-US" dirty="0"/>
              <a:t> are NASA/ESA standards for deep space comms.</a:t>
            </a:r>
          </a:p>
          <a:p>
            <a:endParaRPr lang="en-US" dirty="0"/>
          </a:p>
          <a:p>
            <a:r>
              <a:rPr lang="en-US" b="1" dirty="0"/>
              <a:t>4. Quadrature Amplitude Modulation (QAM)</a:t>
            </a:r>
          </a:p>
          <a:p>
            <a:r>
              <a:rPr lang="en-US" b="1" dirty="0"/>
              <a:t>Principle:</a:t>
            </a:r>
            <a:r>
              <a:rPr lang="en-US" dirty="0"/>
              <a:t> Combines both amplitude and phase modulation.</a:t>
            </a:r>
          </a:p>
          <a:p>
            <a:r>
              <a:rPr lang="en-US" b="1" dirty="0"/>
              <a:t>Variants:</a:t>
            </a:r>
            <a:r>
              <a:rPr lang="en-US" dirty="0"/>
              <a:t> 16-QAM, 64-QAM, etc. (higher order = higher data rate).</a:t>
            </a:r>
          </a:p>
          <a:p>
            <a:r>
              <a:rPr lang="en-US" b="1" dirty="0"/>
              <a:t>Pros:</a:t>
            </a:r>
            <a:r>
              <a:rPr lang="en-US" dirty="0"/>
              <a:t> Very spectrally efficient.</a:t>
            </a:r>
          </a:p>
          <a:p>
            <a:r>
              <a:rPr lang="en-US" b="1" dirty="0"/>
              <a:t>Cons:</a:t>
            </a:r>
            <a:r>
              <a:rPr lang="en-US" dirty="0"/>
              <a:t> Sensitive to noise and non-linearities, requires high SNR.</a:t>
            </a:r>
          </a:p>
          <a:p>
            <a:r>
              <a:rPr lang="en-US" b="1" dirty="0"/>
              <a:t>Space Use:</a:t>
            </a:r>
            <a:r>
              <a:rPr lang="en-US" dirty="0"/>
              <a:t> Emerging in high-rate downlinks (e.g., Ka-band Earth observation satellites).</a:t>
            </a:r>
          </a:p>
          <a:p>
            <a:endParaRPr lang="en-US" dirty="0"/>
          </a:p>
          <a:p>
            <a:r>
              <a:rPr lang="en-US" b="1" dirty="0"/>
              <a:t>5. Frequency Shift Keying (FSK)</a:t>
            </a:r>
          </a:p>
          <a:p>
            <a:r>
              <a:rPr lang="en-US" b="1" dirty="0"/>
              <a:t>Principle:</a:t>
            </a:r>
            <a:r>
              <a:rPr lang="en-US" dirty="0"/>
              <a:t> Digital data transmitted by switching between discrete frequencies.</a:t>
            </a:r>
          </a:p>
          <a:p>
            <a:r>
              <a:rPr lang="en-US" b="1" dirty="0"/>
              <a:t>Variants:</a:t>
            </a:r>
            <a:r>
              <a:rPr lang="en-US" dirty="0"/>
              <a:t> BFSK, MFSK.</a:t>
            </a:r>
          </a:p>
          <a:p>
            <a:r>
              <a:rPr lang="en-US" b="1" dirty="0"/>
              <a:t>Pros:</a:t>
            </a:r>
            <a:r>
              <a:rPr lang="en-US" dirty="0"/>
              <a:t> Simple, robust to noise.</a:t>
            </a:r>
          </a:p>
          <a:p>
            <a:r>
              <a:rPr lang="en-US" b="1" dirty="0"/>
              <a:t>Cons:</a:t>
            </a:r>
            <a:r>
              <a:rPr lang="en-US" dirty="0"/>
              <a:t> Less bandwidth efficient.</a:t>
            </a:r>
          </a:p>
          <a:p>
            <a:r>
              <a:rPr lang="en-US" b="1" dirty="0"/>
              <a:t>Space Use:</a:t>
            </a:r>
            <a:r>
              <a:rPr lang="en-US" dirty="0"/>
              <a:t> Used in some low-data-rate beacon or CubeSat comm systems.</a:t>
            </a:r>
            <a:br>
              <a:rPr lang="en-US" dirty="0"/>
            </a:br>
            <a:endParaRPr lang="en-US" dirty="0"/>
          </a:p>
          <a:p>
            <a:r>
              <a:rPr lang="en-US" b="1" dirty="0"/>
              <a:t>6. Spread Spectrum Techniques</a:t>
            </a:r>
          </a:p>
          <a:p>
            <a:r>
              <a:rPr lang="en-US" b="1" dirty="0"/>
              <a:t>DSSS (Direct Sequence Spread Spectrum)</a:t>
            </a:r>
            <a:endParaRPr lang="en-US" dirty="0"/>
          </a:p>
          <a:p>
            <a:r>
              <a:rPr lang="en-US" b="1" dirty="0"/>
              <a:t>FHSS (Frequency Hopping Spread Spectrum)</a:t>
            </a:r>
            <a:endParaRPr lang="en-US" dirty="0"/>
          </a:p>
          <a:p>
            <a:r>
              <a:rPr lang="en-US" b="1" dirty="0"/>
              <a:t>CDMA (Code Division Multiple Access)</a:t>
            </a:r>
            <a:endParaRPr lang="en-US" dirty="0"/>
          </a:p>
          <a:p>
            <a:r>
              <a:rPr lang="en-US" dirty="0"/>
              <a:t>Pros: Resistance to jamming, multipath, and interception.</a:t>
            </a:r>
          </a:p>
          <a:p>
            <a:r>
              <a:rPr lang="en-US" dirty="0"/>
              <a:t>Space Use: GPS uses DSSS/CDMA for navigation signals.</a:t>
            </a:r>
          </a:p>
          <a:p>
            <a:endParaRPr lang="en-US" dirty="0"/>
          </a:p>
          <a:p>
            <a:r>
              <a:rPr lang="en-US" b="1" dirty="0"/>
              <a:t>Spacecraft Applications</a:t>
            </a:r>
          </a:p>
          <a:p>
            <a:r>
              <a:rPr lang="en-US" b="1" dirty="0"/>
              <a:t>BPSK/QPSK:</a:t>
            </a:r>
            <a:r>
              <a:rPr lang="en-US" dirty="0"/>
              <a:t> Standard for deep-space telemetry (Voyager, Mars missions).</a:t>
            </a:r>
          </a:p>
          <a:p>
            <a:r>
              <a:rPr lang="en-US" b="1" dirty="0"/>
              <a:t>QAM:</a:t>
            </a:r>
            <a:r>
              <a:rPr lang="en-US" dirty="0"/>
              <a:t> Earth-observation satellites with high data downlinks.</a:t>
            </a:r>
          </a:p>
          <a:p>
            <a:r>
              <a:rPr lang="en-US" b="1" dirty="0"/>
              <a:t>FSK:</a:t>
            </a:r>
            <a:r>
              <a:rPr lang="en-US" dirty="0"/>
              <a:t> CubeSat beacons.</a:t>
            </a:r>
          </a:p>
          <a:p>
            <a:r>
              <a:rPr lang="en-US" b="1" dirty="0"/>
              <a:t>Spread Spectrum (CDMA):</a:t>
            </a:r>
            <a:r>
              <a:rPr lang="en-US" dirty="0"/>
              <a:t> GPS and GNSS systems.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2926479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SNR tells you how loud the signal is.</a:t>
            </a:r>
            <a:br>
              <a:rPr lang="en-US" b="1" dirty="0"/>
            </a:br>
            <a:r>
              <a:rPr lang="en-US" b="1" dirty="0"/>
              <a:t>Eb/No tells you how efficiently you communicate.</a:t>
            </a:r>
          </a:p>
          <a:p>
            <a:endParaRPr lang="en-US" b="1" dirty="0"/>
          </a:p>
          <a:p>
            <a:endParaRPr lang="en-US" b="1" dirty="0"/>
          </a:p>
          <a:p>
            <a:r>
              <a:rPr lang="en-US" b="1" dirty="0"/>
              <a:t>Link Margin = What you </a:t>
            </a:r>
            <a:r>
              <a:rPr lang="en-US" b="1" i="1" dirty="0"/>
              <a:t>have</a:t>
            </a:r>
            <a:r>
              <a:rPr lang="en-US" dirty="0"/>
              <a:t> → extra “headroom” in your designed link.</a:t>
            </a:r>
          </a:p>
          <a:p>
            <a:r>
              <a:rPr lang="en-US" b="1" dirty="0"/>
              <a:t>Fade Margin = What you </a:t>
            </a:r>
            <a:r>
              <a:rPr lang="en-US" b="1" i="1" dirty="0"/>
              <a:t>add</a:t>
            </a:r>
            <a:r>
              <a:rPr lang="en-US" dirty="0"/>
              <a:t> → intentional safety buffer to handle fading events.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____________________________________________________________________________________</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Communication can have a signal-to-noise ratio (SNR) of less than 1, and this is common in certain systems. An SNR of less than 1 simply means the power of the noise is greater than the power of the desired signal. While this makes communication challenging, it is not impossible due to advanced signal processing techniques.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When a ratio is expressed in decibels (dB), an SNR of less than 1 corresponds to a negative dB value. For example, an SNR of 0.01 is equivalent to -20 </a:t>
            </a:r>
            <a:r>
              <a:rPr lang="en-US" sz="1200" b="0" i="0" kern="1200" dirty="0" err="1">
                <a:solidFill>
                  <a:schemeClr val="tx1"/>
                </a:solidFill>
                <a:effectLst/>
                <a:latin typeface="+mn-lt"/>
                <a:ea typeface="+mn-ea"/>
                <a:cs typeface="+mn-cs"/>
              </a:rPr>
              <a:t>dB.</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How communication is possible with low SNR</a:t>
            </a:r>
          </a:p>
          <a:p>
            <a:r>
              <a:rPr lang="en-US" sz="1200" b="0" i="0" kern="1200" dirty="0">
                <a:solidFill>
                  <a:schemeClr val="tx1"/>
                </a:solidFill>
                <a:effectLst/>
                <a:latin typeface="+mn-lt"/>
                <a:ea typeface="+mn-ea"/>
                <a:cs typeface="+mn-cs"/>
              </a:rPr>
              <a:t>Several sophisticated methods allow for reliable data extraction even when the signal is "buried in the noise".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Spread spectrum communication</a:t>
            </a:r>
          </a:p>
          <a:p>
            <a:r>
              <a:rPr lang="en-US" sz="1200" b="0" i="0" kern="1200" dirty="0">
                <a:solidFill>
                  <a:schemeClr val="tx1"/>
                </a:solidFill>
                <a:effectLst/>
                <a:latin typeface="+mn-lt"/>
                <a:ea typeface="+mn-ea"/>
                <a:cs typeface="+mn-cs"/>
              </a:rPr>
              <a:t>This technique, used in technologies like GPS and CDMA cellular networks, spreads the signal over a much wider bandwidth than necessary. The receiver, knowing the spreading code, can "de-spread" the signal, recovering the original data while the broadband noise is averaged out. </a:t>
            </a:r>
          </a:p>
          <a:p>
            <a:r>
              <a:rPr lang="en-US" sz="1200" b="0" i="0" kern="1200" dirty="0">
                <a:solidFill>
                  <a:schemeClr val="tx1"/>
                </a:solidFill>
                <a:effectLst/>
                <a:latin typeface="+mn-lt"/>
                <a:ea typeface="+mn-ea"/>
                <a:cs typeface="+mn-cs"/>
              </a:rPr>
              <a:t>	GPS: Satellite navigation signals are a well-known example of communication that operates with an extremely low SNR, often around -26 </a:t>
            </a:r>
            <a:r>
              <a:rPr lang="en-US" sz="1200" b="0" i="0" kern="1200" dirty="0" err="1">
                <a:solidFill>
                  <a:schemeClr val="tx1"/>
                </a:solidFill>
                <a:effectLst/>
                <a:latin typeface="+mn-lt"/>
                <a:ea typeface="+mn-ea"/>
                <a:cs typeface="+mn-cs"/>
              </a:rPr>
              <a:t>dB.</a:t>
            </a:r>
            <a:r>
              <a:rPr lang="en-US" sz="1200" b="0" i="0" kern="1200" dirty="0">
                <a:solidFill>
                  <a:schemeClr val="tx1"/>
                </a:solidFill>
                <a:effectLst/>
                <a:latin typeface="+mn-lt"/>
                <a:ea typeface="+mn-ea"/>
                <a:cs typeface="+mn-cs"/>
              </a:rPr>
              <a:t>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Coding gain</a:t>
            </a:r>
          </a:p>
          <a:p>
            <a:r>
              <a:rPr lang="en-US" sz="1200" b="0" i="0" kern="1200" dirty="0">
                <a:solidFill>
                  <a:schemeClr val="tx1"/>
                </a:solidFill>
                <a:effectLst/>
                <a:latin typeface="+mn-lt"/>
                <a:ea typeface="+mn-ea"/>
                <a:cs typeface="+mn-cs"/>
              </a:rPr>
              <a:t>Forward Error Correction (FEC) codes add redundancy to the data stream. By encoding the information in a redundant way, the receiver can: </a:t>
            </a:r>
          </a:p>
          <a:p>
            <a:r>
              <a:rPr lang="en-US" sz="1200" b="0" i="0" kern="1200" dirty="0">
                <a:solidFill>
                  <a:schemeClr val="tx1"/>
                </a:solidFill>
                <a:effectLst/>
                <a:latin typeface="+mn-lt"/>
                <a:ea typeface="+mn-ea"/>
                <a:cs typeface="+mn-cs"/>
              </a:rPr>
              <a:t>	Use the redundant bits to detect and correct errors caused by the noise.</a:t>
            </a:r>
          </a:p>
          <a:p>
            <a:r>
              <a:rPr lang="en-US" sz="1200" b="0" i="0" kern="1200" dirty="0">
                <a:solidFill>
                  <a:schemeClr val="tx1"/>
                </a:solidFill>
                <a:effectLst/>
                <a:latin typeface="+mn-lt"/>
                <a:ea typeface="+mn-ea"/>
                <a:cs typeface="+mn-cs"/>
              </a:rPr>
              <a:t>	Combine multiple noisy signal samples to "integrate" the weak signal out of the noise. The noise, being random, tends to average out, while the repeating signal reinforces itself.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Processing gain</a:t>
            </a:r>
          </a:p>
          <a:p>
            <a:r>
              <a:rPr lang="en-US" sz="1200" b="0" i="0" kern="1200" dirty="0">
                <a:solidFill>
                  <a:schemeClr val="tx1"/>
                </a:solidFill>
                <a:effectLst/>
                <a:latin typeface="+mn-lt"/>
                <a:ea typeface="+mn-ea"/>
                <a:cs typeface="+mn-cs"/>
              </a:rPr>
              <a:t>Used in spread spectrum systems, processing gain is the benefit achieved by spreading the signal. It allows the receiver to effectively integrate the low-power signal over time, boosting its relative power compared to the noise within the target bandwidth.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Analogy</a:t>
            </a:r>
          </a:p>
          <a:p>
            <a:r>
              <a:rPr lang="en-US" sz="1200" b="0" i="0" kern="1200" dirty="0">
                <a:solidFill>
                  <a:schemeClr val="tx1"/>
                </a:solidFill>
                <a:effectLst/>
                <a:latin typeface="+mn-lt"/>
                <a:ea typeface="+mn-ea"/>
                <a:cs typeface="+mn-cs"/>
              </a:rPr>
              <a:t>Imagine trying to hear a person's voice (the signal) in a crowded, noisy room (the noise).</a:t>
            </a:r>
          </a:p>
          <a:p>
            <a:pPr lvl="1"/>
            <a:r>
              <a:rPr lang="en-US" sz="1200" b="0" i="0" kern="1200" dirty="0">
                <a:solidFill>
                  <a:schemeClr val="tx1"/>
                </a:solidFill>
                <a:effectLst/>
                <a:latin typeface="+mn-lt"/>
                <a:ea typeface="+mn-ea"/>
                <a:cs typeface="+mn-cs"/>
              </a:rPr>
              <a:t>High SNR: The person is shouting directly in your ear, and the room is quiet. It is easy to hear them.</a:t>
            </a:r>
          </a:p>
          <a:p>
            <a:pPr lvl="1"/>
            <a:r>
              <a:rPr lang="en-US" sz="1200" b="0" i="0" kern="1200" dirty="0">
                <a:solidFill>
                  <a:schemeClr val="tx1"/>
                </a:solidFill>
                <a:effectLst/>
                <a:latin typeface="+mn-lt"/>
                <a:ea typeface="+mn-ea"/>
                <a:cs typeface="+mn-cs"/>
              </a:rPr>
              <a:t>Low SNR (less than 1): The person is whispering, and everyone else is also shouting. Hearing the whisper is impossible without help.</a:t>
            </a:r>
          </a:p>
          <a:p>
            <a:pPr lvl="1"/>
            <a:r>
              <a:rPr lang="en-US" sz="1200" b="0" i="0" kern="1200" dirty="0">
                <a:solidFill>
                  <a:schemeClr val="tx1"/>
                </a:solidFill>
                <a:effectLst/>
                <a:latin typeface="+mn-lt"/>
                <a:ea typeface="+mn-ea"/>
                <a:cs typeface="+mn-cs"/>
              </a:rPr>
              <a:t>Solution (with coding and processing gain): You record the sound with multiple high-quality microphones at once. By running the recording through special software, you can filter out the random shouting and amplify the repeating, structured whisper, allowing you to "hear" the message despite the dominant noise.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Consequences of low SNR</a:t>
            </a:r>
          </a:p>
          <a:p>
            <a:r>
              <a:rPr lang="en-US" sz="1200" b="0" i="0" kern="1200" dirty="0">
                <a:solidFill>
                  <a:schemeClr val="tx1"/>
                </a:solidFill>
                <a:effectLst/>
                <a:latin typeface="+mn-lt"/>
                <a:ea typeface="+mn-ea"/>
                <a:cs typeface="+mn-cs"/>
              </a:rPr>
              <a:t>Even with advanced techniques, operating at a low SNR has trade-offs: </a:t>
            </a:r>
          </a:p>
          <a:p>
            <a:r>
              <a:rPr lang="en-US" sz="1200" b="0" i="0" kern="1200" dirty="0">
                <a:solidFill>
                  <a:schemeClr val="tx1"/>
                </a:solidFill>
                <a:effectLst/>
                <a:latin typeface="+mn-lt"/>
                <a:ea typeface="+mn-ea"/>
                <a:cs typeface="+mn-cs"/>
              </a:rPr>
              <a:t>Lower data rates: To maintain reliability, the system must transmit data slower.</a:t>
            </a:r>
          </a:p>
          <a:p>
            <a:r>
              <a:rPr lang="en-US" sz="1200" b="0" i="0" kern="1200" dirty="0">
                <a:solidFill>
                  <a:schemeClr val="tx1"/>
                </a:solidFill>
                <a:effectLst/>
                <a:latin typeface="+mn-lt"/>
                <a:ea typeface="+mn-ea"/>
                <a:cs typeface="+mn-cs"/>
              </a:rPr>
              <a:t>Higher power or bandwidth: To overcome low SNR, the system may need to use more power or spread the signal over a wider bandwidth.</a:t>
            </a:r>
          </a:p>
          <a:p>
            <a:r>
              <a:rPr lang="en-US" sz="1200" b="0" i="0" kern="1200" dirty="0">
                <a:solidFill>
                  <a:schemeClr val="tx1"/>
                </a:solidFill>
                <a:effectLst/>
                <a:latin typeface="+mn-lt"/>
                <a:ea typeface="+mn-ea"/>
                <a:cs typeface="+mn-cs"/>
              </a:rPr>
              <a:t>Increased complexity: The signal processing equipment at the receiver becomes much more complex and expensive. </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10</a:t>
            </a:fld>
            <a:endParaRPr lang="en-US"/>
          </a:p>
        </p:txBody>
      </p:sp>
    </p:spTree>
    <p:extLst>
      <p:ext uri="{BB962C8B-B14F-4D97-AF65-F5344CB8AC3E}">
        <p14:creationId xmlns:p14="http://schemas.microsoft.com/office/powerpoint/2010/main" val="731709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12</a:t>
            </a:fld>
            <a:endParaRPr lang="en-US"/>
          </a:p>
        </p:txBody>
      </p:sp>
    </p:spTree>
    <p:extLst>
      <p:ext uri="{BB962C8B-B14F-4D97-AF65-F5344CB8AC3E}">
        <p14:creationId xmlns:p14="http://schemas.microsoft.com/office/powerpoint/2010/main" val="4106171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b="1" dirty="0"/>
              </a:p>
              <a:p>
                <a:r>
                  <a:rPr lang="en-US" b="1" dirty="0"/>
                  <a:t>📘 Typical Eb/N₀ Ranges</a:t>
                </a:r>
              </a:p>
              <a:p>
                <a:r>
                  <a:rPr lang="en-US" b="1" dirty="0"/>
                  <a:t>BPSK / QPSK (uncoded):</a:t>
                </a:r>
                <a:endParaRPr lang="en-US" dirty="0"/>
              </a:p>
              <a:p>
                <a:pPr lvl="1"/>
                <a:r>
                  <a:rPr lang="en-US" dirty="0"/>
                  <a:t>Minimum ≈ </a:t>
                </a:r>
                <a:r>
                  <a:rPr lang="en-US" b="1" dirty="0"/>
                  <a:t>9–10 dB</a:t>
                </a:r>
                <a:r>
                  <a:rPr lang="en-US" dirty="0"/>
                  <a:t> for a BER of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m:t>
                        </m:r>
                      </m:sup>
                    </m:sSup>
                  </m:oMath>
                </a14:m>
                <a:r>
                  <a:rPr lang="ar-AE" dirty="0"/>
                  <a:t>.</a:t>
                </a:r>
              </a:p>
              <a:p>
                <a:pPr lvl="1"/>
                <a:r>
                  <a:rPr lang="en-US" dirty="0"/>
                  <a:t>With error-correcting codes, can operate as low as </a:t>
                </a:r>
                <a:r>
                  <a:rPr lang="en-US" b="1" dirty="0"/>
                  <a:t>~4–6 </a:t>
                </a:r>
                <a:r>
                  <a:rPr lang="en-US" b="1" dirty="0" err="1"/>
                  <a:t>dB</a:t>
                </a:r>
                <a:r>
                  <a:rPr lang="en-US" dirty="0" err="1"/>
                  <a:t>.</a:t>
                </a:r>
                <a:endParaRPr lang="en-US" dirty="0"/>
              </a:p>
              <a:p>
                <a:r>
                  <a:rPr lang="en-US" b="1" dirty="0"/>
                  <a:t>8-PSK / 16-PSK (higher-order PSK):</a:t>
                </a:r>
                <a:endParaRPr lang="en-US" dirty="0"/>
              </a:p>
              <a:p>
                <a:pPr lvl="1"/>
                <a:r>
                  <a:rPr lang="en-US" dirty="0"/>
                  <a:t>Require more Eb/N₀: ~12–15 dB for BER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m:t>
                        </m:r>
                      </m:sup>
                    </m:sSup>
                  </m:oMath>
                </a14:m>
                <a:r>
                  <a:rPr lang="ar-AE" dirty="0"/>
                  <a:t>.</a:t>
                </a:r>
              </a:p>
              <a:p>
                <a:r>
                  <a:rPr lang="en-US" b="1" dirty="0"/>
                  <a:t>QAM (16-QAM, 64-QAM, etc.):</a:t>
                </a:r>
                <a:endParaRPr lang="en-US" dirty="0"/>
              </a:p>
              <a:p>
                <a:pPr lvl="1"/>
                <a:r>
                  <a:rPr lang="en-US" dirty="0"/>
                  <a:t>Very spectrally efficient, but BER performance is worse.</a:t>
                </a:r>
              </a:p>
              <a:p>
                <a:pPr lvl="1"/>
                <a:r>
                  <a:rPr lang="en-US" dirty="0"/>
                  <a:t>16-QAM: ~12 dB for BER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m:t>
                        </m:r>
                      </m:sup>
                    </m:sSup>
                  </m:oMath>
                </a14:m>
                <a:r>
                  <a:rPr lang="ar-AE" dirty="0"/>
                  <a:t>.</a:t>
                </a:r>
              </a:p>
              <a:p>
                <a:pPr lvl="1"/>
                <a:r>
                  <a:rPr lang="ar-AE" dirty="0"/>
                  <a:t>64-</a:t>
                </a:r>
                <a:r>
                  <a:rPr lang="en-US" dirty="0"/>
                  <a:t>QAM: ~18 dB for BER </a:t>
                </a:r>
                <a14:m>
                  <m:oMath xmlns:m="http://schemas.openxmlformats.org/officeDocument/2006/math">
                    <m:sSup>
                      <m:sSupPr>
                        <m:ctrlPr>
                          <a:rPr lang="ar-AE" sz="1200" i="1" kern="1200">
                            <a:solidFill>
                              <a:schemeClr val="tx1"/>
                            </a:solidFill>
                            <a:latin typeface="Cambria Math" panose="02040503050406030204" pitchFamily="18" charset="0"/>
                            <a:ea typeface="+mn-ea"/>
                            <a:cs typeface="+mn-cs"/>
                          </a:rPr>
                        </m:ctrlPr>
                      </m:sSupPr>
                      <m:e>
                        <m:r>
                          <a:rPr lang="ar-AE" sz="120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m:t>
                        </m:r>
                      </m:sup>
                    </m:sSup>
                  </m:oMath>
                </a14:m>
                <a:r>
                  <a:rPr lang="ar-AE" dirty="0"/>
                  <a:t>.</a:t>
                </a:r>
              </a:p>
              <a:p>
                <a:r>
                  <a:rPr lang="en-US" b="1" dirty="0"/>
                  <a:t>With Modern Coding (Turbo, LDPC, Reed-Solomon):</a:t>
                </a:r>
                <a:endParaRPr lang="en-US" dirty="0"/>
              </a:p>
              <a:p>
                <a:pPr lvl="1"/>
                <a:r>
                  <a:rPr lang="en-US" dirty="0"/>
                  <a:t>Can push reliable operation down to </a:t>
                </a:r>
                <a:r>
                  <a:rPr lang="en-US" b="1" dirty="0"/>
                  <a:t>0–3 dB</a:t>
                </a:r>
                <a:r>
                  <a:rPr lang="en-US" dirty="0"/>
                  <a:t> Eb/N₀, depending on scheme and BER target.</a:t>
                </a:r>
              </a:p>
              <a:p>
                <a:pPr lvl="1"/>
                <a:r>
                  <a:rPr lang="en-US" dirty="0"/>
                  <a:t>Deep-space missions often operate at surprisingly low </a:t>
                </a:r>
                <a:r>
                  <a:rPr lang="en-US" b="1" dirty="0"/>
                  <a:t>SNRs</a:t>
                </a:r>
                <a:r>
                  <a:rPr lang="en-US" dirty="0"/>
                  <a:t>, relying on coding gain.</a:t>
                </a:r>
              </a:p>
              <a:p>
                <a:br>
                  <a:rPr lang="en-US" dirty="0"/>
                </a:br>
                <a:endParaRPr lang="en-US" dirty="0"/>
              </a:p>
              <a:p>
                <a:r>
                  <a:rPr lang="en-US" b="1" dirty="0"/>
                  <a:t>🚀 Spacecraft Standards</a:t>
                </a:r>
              </a:p>
              <a:p>
                <a:r>
                  <a:rPr lang="en-US" b="1" dirty="0"/>
                  <a:t>CubeSat UHF/S-band links:</a:t>
                </a:r>
                <a:r>
                  <a:rPr lang="en-US" dirty="0"/>
                  <a:t> Aim for </a:t>
                </a:r>
                <a:r>
                  <a:rPr lang="en-US" b="1" dirty="0"/>
                  <a:t>6–10 dB Eb/N₀</a:t>
                </a:r>
                <a:r>
                  <a:rPr lang="en-US" dirty="0"/>
                  <a:t> for robust operation with simple coding.</a:t>
                </a:r>
              </a:p>
              <a:p>
                <a:r>
                  <a:rPr lang="en-US" b="1" dirty="0"/>
                  <a:t>Deep Space Network (DSN):</a:t>
                </a:r>
                <a:r>
                  <a:rPr lang="en-US" dirty="0"/>
                  <a:t> Often targets </a:t>
                </a:r>
                <a:r>
                  <a:rPr lang="en-US" b="1" dirty="0"/>
                  <a:t>0–3 dB Eb/N₀</a:t>
                </a:r>
                <a:r>
                  <a:rPr lang="en-US" dirty="0"/>
                  <a:t> with heavy error correction, since received power is extremely weak (e.g., Voyager at –160 dBm).</a:t>
                </a:r>
              </a:p>
              <a:p>
                <a:r>
                  <a:rPr lang="en-US" b="1" dirty="0"/>
                  <a:t>Earth observation downlinks (X/Ka-band):</a:t>
                </a:r>
                <a:r>
                  <a:rPr lang="en-US" dirty="0"/>
                  <a:t> Typically require </a:t>
                </a:r>
                <a:r>
                  <a:rPr lang="en-US" b="1" dirty="0"/>
                  <a:t>&gt;10 dB Eb/N₀</a:t>
                </a:r>
                <a:r>
                  <a:rPr lang="en-US" dirty="0"/>
                  <a:t> for high-rate, high-order modulation schemes.</a:t>
                </a:r>
              </a:p>
              <a:p>
                <a:endParaRPr lang="en-US" dirty="0"/>
              </a:p>
              <a:p>
                <a:endParaRPr lang="en-US" dirty="0"/>
              </a:p>
            </p:txBody>
          </p:sp>
        </mc:Choice>
        <mc:Fallback xmlns="">
          <p:sp>
            <p:nvSpPr>
              <p:cNvPr id="3" name="Notes Placeholder 2"/>
              <p:cNvSpPr>
                <a:spLocks noGrp="1"/>
              </p:cNvSpPr>
              <p:nvPr>
                <p:ph type="body" idx="1"/>
              </p:nvPr>
            </p:nvSpPr>
            <p:spPr/>
            <p:txBody>
              <a:bodyPr/>
              <a:lstStyle/>
              <a:p>
                <a:endParaRPr lang="en-US" b="1" dirty="0"/>
              </a:p>
              <a:p>
                <a:r>
                  <a:rPr lang="en-US" b="1" dirty="0"/>
                  <a:t>📘 Typical Eb/N₀ Ranges</a:t>
                </a:r>
              </a:p>
              <a:p>
                <a:r>
                  <a:rPr lang="en-US" b="1" dirty="0"/>
                  <a:t>BPSK / QPSK (uncoded):</a:t>
                </a:r>
                <a:endParaRPr lang="en-US" dirty="0"/>
              </a:p>
              <a:p>
                <a:pPr lvl="1"/>
                <a:r>
                  <a:rPr lang="en-US" dirty="0"/>
                  <a:t>Minimum ≈ </a:t>
                </a:r>
                <a:r>
                  <a:rPr lang="en-US" b="1" dirty="0"/>
                  <a:t>9–10 dB</a:t>
                </a:r>
                <a:r>
                  <a:rPr lang="en-US" dirty="0"/>
                  <a:t> for a BER of </a:t>
                </a:r>
                <a:r>
                  <a:rPr lang="ar-AE" sz="1200" i="0" kern="1200">
                    <a:solidFill>
                      <a:schemeClr val="tx1"/>
                    </a:solidFill>
                    <a:latin typeface="Cambria Math" panose="02040503050406030204" pitchFamily="18" charset="0"/>
                    <a:ea typeface="+mn-ea"/>
                    <a:cs typeface="+mn-cs"/>
                  </a:rPr>
                  <a:t>10^(−6)</a:t>
                </a:r>
                <a:r>
                  <a:rPr lang="ar-AE" dirty="0"/>
                  <a:t>.</a:t>
                </a:r>
              </a:p>
              <a:p>
                <a:pPr lvl="1"/>
                <a:r>
                  <a:rPr lang="en-US" dirty="0"/>
                  <a:t>With error-correcting codes, can operate as low as </a:t>
                </a:r>
                <a:r>
                  <a:rPr lang="en-US" b="1" dirty="0"/>
                  <a:t>~4–6 </a:t>
                </a:r>
                <a:r>
                  <a:rPr lang="en-US" b="1" dirty="0" err="1"/>
                  <a:t>dB</a:t>
                </a:r>
                <a:r>
                  <a:rPr lang="en-US" dirty="0" err="1"/>
                  <a:t>.</a:t>
                </a:r>
                <a:endParaRPr lang="en-US" dirty="0"/>
              </a:p>
              <a:p>
                <a:r>
                  <a:rPr lang="en-US" b="1" dirty="0"/>
                  <a:t>8-PSK / 16-PSK (higher-order PSK):</a:t>
                </a:r>
                <a:endParaRPr lang="en-US" dirty="0"/>
              </a:p>
              <a:p>
                <a:pPr lvl="1"/>
                <a:r>
                  <a:rPr lang="en-US" dirty="0"/>
                  <a:t>Require more Eb/N₀: ~12–15 dB for BER </a:t>
                </a:r>
                <a:r>
                  <a:rPr lang="ar-AE" sz="1200" i="0" kern="1200">
                    <a:solidFill>
                      <a:schemeClr val="tx1"/>
                    </a:solidFill>
                    <a:latin typeface="Cambria Math" panose="02040503050406030204" pitchFamily="18" charset="0"/>
                    <a:ea typeface="+mn-ea"/>
                    <a:cs typeface="+mn-cs"/>
                  </a:rPr>
                  <a:t>10^(−6)</a:t>
                </a:r>
                <a:r>
                  <a:rPr lang="ar-AE" dirty="0"/>
                  <a:t>.</a:t>
                </a:r>
              </a:p>
              <a:p>
                <a:r>
                  <a:rPr lang="en-US" b="1" dirty="0"/>
                  <a:t>QAM (16-QAM, 64-QAM, etc.):</a:t>
                </a:r>
                <a:endParaRPr lang="en-US" dirty="0"/>
              </a:p>
              <a:p>
                <a:pPr lvl="1"/>
                <a:r>
                  <a:rPr lang="en-US" dirty="0"/>
                  <a:t>Very spectrally efficient, but BER performance is worse.</a:t>
                </a:r>
              </a:p>
              <a:p>
                <a:pPr lvl="1"/>
                <a:r>
                  <a:rPr lang="en-US" dirty="0"/>
                  <a:t>16-QAM: ~12 dB for BER </a:t>
                </a:r>
                <a:r>
                  <a:rPr lang="ar-AE" sz="1200" i="0" kern="1200">
                    <a:solidFill>
                      <a:schemeClr val="tx1"/>
                    </a:solidFill>
                    <a:latin typeface="Cambria Math" panose="02040503050406030204" pitchFamily="18" charset="0"/>
                    <a:ea typeface="+mn-ea"/>
                    <a:cs typeface="+mn-cs"/>
                  </a:rPr>
                  <a:t>10^(−6)</a:t>
                </a:r>
                <a:r>
                  <a:rPr lang="ar-AE" dirty="0"/>
                  <a:t>.</a:t>
                </a:r>
              </a:p>
              <a:p>
                <a:pPr lvl="1"/>
                <a:r>
                  <a:rPr lang="ar-AE" dirty="0"/>
                  <a:t>64-</a:t>
                </a:r>
                <a:r>
                  <a:rPr lang="en-US" dirty="0"/>
                  <a:t>QAM: ~18 dB for BER </a:t>
                </a:r>
                <a:r>
                  <a:rPr lang="ar-AE" sz="1200" i="0" kern="1200">
                    <a:solidFill>
                      <a:schemeClr val="tx1"/>
                    </a:solidFill>
                    <a:latin typeface="Cambria Math" panose="02040503050406030204" pitchFamily="18" charset="0"/>
                    <a:ea typeface="+mn-ea"/>
                    <a:cs typeface="+mn-cs"/>
                  </a:rPr>
                  <a:t>10^(−6)</a:t>
                </a:r>
                <a:r>
                  <a:rPr lang="ar-AE" dirty="0"/>
                  <a:t>.</a:t>
                </a:r>
              </a:p>
              <a:p>
                <a:r>
                  <a:rPr lang="en-US" b="1" dirty="0"/>
                  <a:t>With Modern Coding (Turbo, LDPC, Reed-Solomon):</a:t>
                </a:r>
                <a:endParaRPr lang="en-US" dirty="0"/>
              </a:p>
              <a:p>
                <a:pPr lvl="1"/>
                <a:r>
                  <a:rPr lang="en-US" dirty="0"/>
                  <a:t>Can push reliable operation down to </a:t>
                </a:r>
                <a:r>
                  <a:rPr lang="en-US" b="1" dirty="0"/>
                  <a:t>0–3 dB</a:t>
                </a:r>
                <a:r>
                  <a:rPr lang="en-US" dirty="0"/>
                  <a:t> Eb/N₀, depending on scheme and BER target.</a:t>
                </a:r>
              </a:p>
              <a:p>
                <a:pPr lvl="1"/>
                <a:r>
                  <a:rPr lang="en-US" dirty="0"/>
                  <a:t>Deep-space missions often operate at surprisingly low </a:t>
                </a:r>
                <a:r>
                  <a:rPr lang="en-US" b="1" dirty="0"/>
                  <a:t>SNRs</a:t>
                </a:r>
                <a:r>
                  <a:rPr lang="en-US" dirty="0"/>
                  <a:t>, relying on coding gain.</a:t>
                </a:r>
              </a:p>
              <a:p>
                <a:br>
                  <a:rPr lang="en-US" dirty="0"/>
                </a:br>
                <a:endParaRPr lang="en-US" dirty="0"/>
              </a:p>
              <a:p>
                <a:r>
                  <a:rPr lang="en-US" b="1" dirty="0"/>
                  <a:t>🚀 Spacecraft Standards</a:t>
                </a:r>
              </a:p>
              <a:p>
                <a:r>
                  <a:rPr lang="en-US" b="1" dirty="0"/>
                  <a:t>CubeSat UHF/S-band links:</a:t>
                </a:r>
                <a:r>
                  <a:rPr lang="en-US" dirty="0"/>
                  <a:t> Aim for </a:t>
                </a:r>
                <a:r>
                  <a:rPr lang="en-US" b="1" dirty="0"/>
                  <a:t>6–10 dB Eb/N₀</a:t>
                </a:r>
                <a:r>
                  <a:rPr lang="en-US" dirty="0"/>
                  <a:t> for robust operation with simple coding.</a:t>
                </a:r>
              </a:p>
              <a:p>
                <a:r>
                  <a:rPr lang="en-US" b="1" dirty="0"/>
                  <a:t>Deep Space Network (DSN):</a:t>
                </a:r>
                <a:r>
                  <a:rPr lang="en-US" dirty="0"/>
                  <a:t> Often targets </a:t>
                </a:r>
                <a:r>
                  <a:rPr lang="en-US" b="1" dirty="0"/>
                  <a:t>0–3 dB Eb/N₀</a:t>
                </a:r>
                <a:r>
                  <a:rPr lang="en-US" dirty="0"/>
                  <a:t> with heavy error correction, since received power is extremely weak (e.g., Voyager at –160 dBm).</a:t>
                </a:r>
              </a:p>
              <a:p>
                <a:r>
                  <a:rPr lang="en-US" b="1" dirty="0"/>
                  <a:t>Earth observation downlinks (X/Ka-band):</a:t>
                </a:r>
                <a:r>
                  <a:rPr lang="en-US" dirty="0"/>
                  <a:t> Typically require </a:t>
                </a:r>
                <a:r>
                  <a:rPr lang="en-US" b="1" dirty="0"/>
                  <a:t>&gt;10 dB Eb/N₀</a:t>
                </a:r>
                <a:r>
                  <a:rPr lang="en-US" dirty="0"/>
                  <a:t> for high-rate, high-order modulation schemes.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13</a:t>
            </a:fld>
            <a:endParaRPr lang="en-US"/>
          </a:p>
        </p:txBody>
      </p:sp>
    </p:spTree>
    <p:extLst>
      <p:ext uri="{BB962C8B-B14F-4D97-AF65-F5344CB8AC3E}">
        <p14:creationId xmlns:p14="http://schemas.microsoft.com/office/powerpoint/2010/main" val="27305328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quality of a communication channel is affected by several factors that can corrupt data and increase the BER: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Noise and interference: Unwanted signals can alter the voltage levels of bits, causing the receiver to interpret a "0" as a "1" or vice versa.</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Signal strength: A stronger signal relative to the background noise (a higher signal-to-noise ratio, or SNR) results in a lower BER. The closer a signal is to the noise floor, the less stable it becomes.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Modulation and coding: More robust modulation schemes sacrifice data rate for better error performance. Channel coding, such as Forward Error Correction (FEC), adds redundancy to the data stream to help detect and correct errors without retransmission.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Synchronization issues: If the receiver's clock is not perfectly synchronized with the transmitter, it may sample the incoming bits at the wrong moment, leading to errors. </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14</a:t>
            </a:fld>
            <a:endParaRPr lang="en-US"/>
          </a:p>
        </p:txBody>
      </p:sp>
    </p:spTree>
    <p:extLst>
      <p:ext uri="{BB962C8B-B14F-4D97-AF65-F5344CB8AC3E}">
        <p14:creationId xmlns:p14="http://schemas.microsoft.com/office/powerpoint/2010/main" val="3225603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Assumes an ideal case: </a:t>
            </a:r>
            <a:r>
              <a:rPr lang="en-US" b="1" dirty="0"/>
              <a:t>vacuum propagation, no obstacles, no absorption, no scattering</a:t>
            </a:r>
            <a:r>
              <a:rPr lang="en-US" dirty="0"/>
              <a:t> — only geometric spreading.</a:t>
            </a:r>
          </a:p>
        </p:txBody>
      </p:sp>
      <p:sp>
        <p:nvSpPr>
          <p:cNvPr id="4" name="Slide Number Placeholder 3"/>
          <p:cNvSpPr>
            <a:spLocks noGrp="1"/>
          </p:cNvSpPr>
          <p:nvPr>
            <p:ph type="sldNum" sz="quarter" idx="5"/>
          </p:nvPr>
        </p:nvSpPr>
        <p:spPr/>
        <p:txBody>
          <a:bodyPr/>
          <a:lstStyle/>
          <a:p>
            <a:fld id="{9EB4C982-825B-414E-ABB9-79AB251390A5}" type="slidenum">
              <a:rPr lang="en-US" smtClean="0"/>
              <a:t>15</a:t>
            </a:fld>
            <a:endParaRPr lang="en-US"/>
          </a:p>
        </p:txBody>
      </p:sp>
    </p:spTree>
    <p:extLst>
      <p:ext uri="{BB962C8B-B14F-4D97-AF65-F5344CB8AC3E}">
        <p14:creationId xmlns:p14="http://schemas.microsoft.com/office/powerpoint/2010/main" val="10768185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a:t>dBi</a:t>
            </a:r>
            <a:r>
              <a:rPr lang="en-US" b="1" dirty="0"/>
              <a:t> (decibels over isotropic):</a:t>
            </a:r>
            <a:r>
              <a:rPr lang="en-US" dirty="0"/>
              <a:t> Compared to a theoretical isotropic antenna that radiates equally in all directions.</a:t>
            </a:r>
          </a:p>
        </p:txBody>
      </p:sp>
      <p:sp>
        <p:nvSpPr>
          <p:cNvPr id="4" name="Slide Number Placeholder 3"/>
          <p:cNvSpPr>
            <a:spLocks noGrp="1"/>
          </p:cNvSpPr>
          <p:nvPr>
            <p:ph type="sldNum" sz="quarter" idx="5"/>
          </p:nvPr>
        </p:nvSpPr>
        <p:spPr/>
        <p:txBody>
          <a:bodyPr/>
          <a:lstStyle/>
          <a:p>
            <a:fld id="{9EB4C982-825B-414E-ABB9-79AB251390A5}" type="slidenum">
              <a:rPr lang="en-US" smtClean="0"/>
              <a:t>16</a:t>
            </a:fld>
            <a:endParaRPr lang="en-US"/>
          </a:p>
        </p:txBody>
      </p:sp>
    </p:spTree>
    <p:extLst>
      <p:ext uri="{BB962C8B-B14F-4D97-AF65-F5344CB8AC3E}">
        <p14:creationId xmlns:p14="http://schemas.microsoft.com/office/powerpoint/2010/main" val="790696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17</a:t>
            </a:fld>
            <a:endParaRPr lang="en-US"/>
          </a:p>
        </p:txBody>
      </p:sp>
    </p:spTree>
    <p:extLst>
      <p:ext uri="{BB962C8B-B14F-4D97-AF65-F5344CB8AC3E}">
        <p14:creationId xmlns:p14="http://schemas.microsoft.com/office/powerpoint/2010/main" val="2637632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18</a:t>
            </a:fld>
            <a:endParaRPr lang="en-US"/>
          </a:p>
        </p:txBody>
      </p:sp>
    </p:spTree>
    <p:extLst>
      <p:ext uri="{BB962C8B-B14F-4D97-AF65-F5344CB8AC3E}">
        <p14:creationId xmlns:p14="http://schemas.microsoft.com/office/powerpoint/2010/main" val="917548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Linear Polarization</a:t>
            </a:r>
            <a:endParaRPr lang="en-US" dirty="0"/>
          </a:p>
          <a:p>
            <a:r>
              <a:rPr lang="en-US" dirty="0"/>
              <a:t>Electric field stays in a straight line (horizontal or vertical).</a:t>
            </a:r>
          </a:p>
          <a:p>
            <a:r>
              <a:rPr lang="en-US" dirty="0"/>
              <a:t>Simple to implement, but polarization mismatch (e.g., horizontal TX vs vertical RX) can cause up to </a:t>
            </a:r>
            <a:r>
              <a:rPr lang="en-US" b="1" dirty="0"/>
              <a:t>20–30 dB loss</a:t>
            </a:r>
            <a:r>
              <a:rPr lang="en-US" dirty="0"/>
              <a:t>.</a:t>
            </a:r>
          </a:p>
          <a:p>
            <a:r>
              <a:rPr lang="en-US" dirty="0"/>
              <a:t>Common in ground stations and many CubeSat links.</a:t>
            </a:r>
          </a:p>
          <a:p>
            <a:r>
              <a:rPr lang="en-US" b="1" dirty="0"/>
              <a:t>Circular Polarization</a:t>
            </a:r>
            <a:endParaRPr lang="en-US" dirty="0"/>
          </a:p>
          <a:p>
            <a:r>
              <a:rPr lang="en-US" dirty="0"/>
              <a:t>Electric field rotates in a circle as the wave propagates.</a:t>
            </a:r>
          </a:p>
          <a:p>
            <a:r>
              <a:rPr lang="en-US" dirty="0"/>
              <a:t>Two senses: </a:t>
            </a:r>
            <a:r>
              <a:rPr lang="en-US" b="1" dirty="0"/>
              <a:t>Right-Hand Circular Polarization (RHCP)</a:t>
            </a:r>
            <a:r>
              <a:rPr lang="en-US" dirty="0"/>
              <a:t> and </a:t>
            </a:r>
            <a:r>
              <a:rPr lang="en-US" b="1" dirty="0"/>
              <a:t>Left-Hand Circular Polarization (LHCP)</a:t>
            </a:r>
            <a:r>
              <a:rPr lang="en-US" dirty="0"/>
              <a:t>.</a:t>
            </a:r>
          </a:p>
          <a:p>
            <a:r>
              <a:rPr lang="en-US" dirty="0"/>
              <a:t>Advantage: Less sensitive to rotation/misalignment between antennas.</a:t>
            </a:r>
          </a:p>
          <a:p>
            <a:r>
              <a:rPr lang="en-US" dirty="0"/>
              <a:t>Common in satellite comms, GPS uses RHCP.</a:t>
            </a:r>
          </a:p>
          <a:p>
            <a:r>
              <a:rPr lang="en-US" b="1" dirty="0"/>
              <a:t>Elliptical Polarization</a:t>
            </a:r>
            <a:endParaRPr lang="en-US" dirty="0"/>
          </a:p>
          <a:p>
            <a:r>
              <a:rPr lang="en-US" dirty="0"/>
              <a:t>General case between linear and circular.</a:t>
            </a:r>
          </a:p>
          <a:p>
            <a:r>
              <a:rPr lang="en-US" dirty="0"/>
              <a:t>Often a result of imperfect antenna design or propagation effects.</a:t>
            </a:r>
          </a:p>
          <a:p>
            <a:endParaRPr lang="en-US" dirty="0"/>
          </a:p>
          <a:p>
            <a:r>
              <a:rPr lang="en-US" b="1" dirty="0"/>
              <a:t>Spacecraft Applications</a:t>
            </a:r>
          </a:p>
          <a:p>
            <a:r>
              <a:rPr lang="en-US" b="1" dirty="0"/>
              <a:t>CubeSats in LEO:</a:t>
            </a:r>
            <a:r>
              <a:rPr lang="en-US" dirty="0"/>
              <a:t> Often use circularly polarized ground antennas to avoid polarization loss as the satellite tumbles.</a:t>
            </a:r>
          </a:p>
          <a:p>
            <a:r>
              <a:rPr lang="en-US" b="1" dirty="0"/>
              <a:t>Deep Space Missions:</a:t>
            </a:r>
            <a:r>
              <a:rPr lang="en-US" dirty="0"/>
              <a:t> High-gain antennas usually linearly polarized, but require careful alignment.</a:t>
            </a:r>
          </a:p>
          <a:p>
            <a:r>
              <a:rPr lang="en-US" b="1" dirty="0"/>
              <a:t>GPS:</a:t>
            </a:r>
            <a:r>
              <a:rPr lang="en-US" dirty="0"/>
              <a:t> Uses RHCP to distinguish direct signals from reflected multipath signals (reflections flip polarization).</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25392928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Factors Influencing Rain Losses</a:t>
            </a:r>
          </a:p>
          <a:p>
            <a:r>
              <a:rPr lang="en-US" b="1" dirty="0"/>
              <a:t>Rain rate (mm/</a:t>
            </a:r>
            <a:r>
              <a:rPr lang="en-US" b="1" dirty="0" err="1"/>
              <a:t>hr</a:t>
            </a:r>
            <a:r>
              <a:rPr lang="en-US" b="1" dirty="0"/>
              <a:t>):</a:t>
            </a:r>
            <a:r>
              <a:rPr lang="en-US" dirty="0"/>
              <a:t> Heavier rainfall → higher attenuation.</a:t>
            </a:r>
          </a:p>
          <a:p>
            <a:r>
              <a:rPr lang="en-US" b="1" dirty="0"/>
              <a:t>Frequency:</a:t>
            </a:r>
            <a:r>
              <a:rPr lang="en-US" dirty="0"/>
              <a:t> Higher frequency → more affected.</a:t>
            </a:r>
          </a:p>
          <a:p>
            <a:r>
              <a:rPr lang="en-US" b="1" dirty="0"/>
              <a:t>Path length through rain:</a:t>
            </a:r>
            <a:r>
              <a:rPr lang="en-US" dirty="0"/>
              <a:t> Longer slant paths (low elevation angles) increase losses.</a:t>
            </a:r>
          </a:p>
          <a:p>
            <a:r>
              <a:rPr lang="en-US" b="1" dirty="0"/>
              <a:t>Raindrop size distribution:</a:t>
            </a:r>
            <a:r>
              <a:rPr lang="en-US" dirty="0"/>
              <a:t> Larger drops scatter more strongly.</a:t>
            </a:r>
          </a:p>
          <a:p>
            <a:endParaRPr lang="en-US" dirty="0"/>
          </a:p>
          <a:p>
            <a:r>
              <a:rPr lang="en-US" b="1" dirty="0"/>
              <a:t>Mitigation Techniques</a:t>
            </a:r>
          </a:p>
          <a:p>
            <a:r>
              <a:rPr lang="en-US" b="1" dirty="0"/>
              <a:t>Fade Margin:</a:t>
            </a:r>
            <a:r>
              <a:rPr lang="en-US" dirty="0"/>
              <a:t> Extra link budget power to handle expected rain losses.</a:t>
            </a:r>
          </a:p>
          <a:p>
            <a:r>
              <a:rPr lang="en-US" b="1" dirty="0"/>
              <a:t>Diversity:</a:t>
            </a:r>
            <a:r>
              <a:rPr lang="en-US" dirty="0"/>
              <a:t> Multiple ground stations in different climates to ensure coverage.</a:t>
            </a:r>
          </a:p>
          <a:p>
            <a:r>
              <a:rPr lang="en-US" b="1" dirty="0"/>
              <a:t>Adaptive Coding &amp; Modulation (ACM):</a:t>
            </a:r>
            <a:r>
              <a:rPr lang="en-US" dirty="0"/>
              <a:t> Reduce data rate temporarily during fades to maintain link.</a:t>
            </a:r>
          </a:p>
          <a:p>
            <a:r>
              <a:rPr lang="en-US" b="1" dirty="0"/>
              <a:t>Site Selection:</a:t>
            </a:r>
            <a:r>
              <a:rPr lang="en-US" dirty="0"/>
              <a:t> Locate ground stations in arid regions (e.g., NASA’s DSN sites in Goldstone, Madrid, Canberra).</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24</a:t>
            </a:fld>
            <a:endParaRPr lang="en-US"/>
          </a:p>
        </p:txBody>
      </p:sp>
    </p:spTree>
    <p:extLst>
      <p:ext uri="{BB962C8B-B14F-4D97-AF65-F5344CB8AC3E}">
        <p14:creationId xmlns:p14="http://schemas.microsoft.com/office/powerpoint/2010/main" val="28959329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200" b="1" i="0" u="none" strike="noStrike" cap="none" normalizeH="0" baseline="0" dirty="0">
                <a:ln>
                  <a:noFill/>
                </a:ln>
                <a:solidFill>
                  <a:schemeClr val="tx1"/>
                </a:solidFill>
                <a:effectLst/>
                <a:latin typeface="Arial" panose="020B0604020202020204" pitchFamily="34" charset="0"/>
              </a:rPr>
              <a:t>Examples:</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https://spacenews.com/spacex-satellites-with-tesat-terminals-achieve-first-laser-data-exchange-for-u-s-military/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NASA’s Lunar Laser Communication Demonstration (LLCD, 2013).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ESA’s EDRS (European Data Relay System) optical links.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Arial" panose="020B0604020202020204" pitchFamily="34" charset="0"/>
              </a:rPr>
              <a:t>NASA’s Psyche mission is carrying a deep-space laser comm experiment (DSOC).</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27</a:t>
            </a:fld>
            <a:endParaRPr lang="en-US"/>
          </a:p>
        </p:txBody>
      </p:sp>
    </p:spTree>
    <p:extLst>
      <p:ext uri="{BB962C8B-B14F-4D97-AF65-F5344CB8AC3E}">
        <p14:creationId xmlns:p14="http://schemas.microsoft.com/office/powerpoint/2010/main" val="3432852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28</a:t>
            </a:fld>
            <a:endParaRPr lang="en-US"/>
          </a:p>
        </p:txBody>
      </p:sp>
    </p:spTree>
    <p:extLst>
      <p:ext uri="{BB962C8B-B14F-4D97-AF65-F5344CB8AC3E}">
        <p14:creationId xmlns:p14="http://schemas.microsoft.com/office/powerpoint/2010/main" val="727782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29</a:t>
            </a:fld>
            <a:endParaRPr lang="en-US"/>
          </a:p>
        </p:txBody>
      </p:sp>
    </p:spTree>
    <p:extLst>
      <p:ext uri="{BB962C8B-B14F-4D97-AF65-F5344CB8AC3E}">
        <p14:creationId xmlns:p14="http://schemas.microsoft.com/office/powerpoint/2010/main" val="3870335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3BC1A-CA41-0CC1-B3F7-4EE05F305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3B017-EDF1-A0A1-9113-5DF8D3F193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04EA09-B351-AD35-CA74-EF7F136A47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851178-4218-FE3C-B934-E7A93FD619DD}"/>
              </a:ext>
            </a:extLst>
          </p:cNvPr>
          <p:cNvSpPr>
            <a:spLocks noGrp="1"/>
          </p:cNvSpPr>
          <p:nvPr>
            <p:ph type="sldNum" sz="quarter" idx="5"/>
          </p:nvPr>
        </p:nvSpPr>
        <p:spPr/>
        <p:txBody>
          <a:bodyPr/>
          <a:lstStyle/>
          <a:p>
            <a:fld id="{9EB4C982-825B-414E-ABB9-79AB251390A5}" type="slidenum">
              <a:rPr lang="en-US" smtClean="0"/>
              <a:t>30</a:t>
            </a:fld>
            <a:endParaRPr lang="en-US"/>
          </a:p>
        </p:txBody>
      </p:sp>
    </p:spTree>
    <p:extLst>
      <p:ext uri="{BB962C8B-B14F-4D97-AF65-F5344CB8AC3E}">
        <p14:creationId xmlns:p14="http://schemas.microsoft.com/office/powerpoint/2010/main" val="21892466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E8D10-4AEF-4E84-1874-AB8BB0CBA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6F617-2A0B-CB5F-4954-D7AE197DFF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2A6A5A-7900-B6E6-B04E-B1D657FB0D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1A8DA8-F513-1D12-EF1F-E3EE424584B6}"/>
              </a:ext>
            </a:extLst>
          </p:cNvPr>
          <p:cNvSpPr>
            <a:spLocks noGrp="1"/>
          </p:cNvSpPr>
          <p:nvPr>
            <p:ph type="sldNum" sz="quarter" idx="5"/>
          </p:nvPr>
        </p:nvSpPr>
        <p:spPr/>
        <p:txBody>
          <a:bodyPr/>
          <a:lstStyle/>
          <a:p>
            <a:fld id="{9EB4C982-825B-414E-ABB9-79AB251390A5}" type="slidenum">
              <a:rPr lang="en-US" smtClean="0"/>
              <a:t>31</a:t>
            </a:fld>
            <a:endParaRPr lang="en-US"/>
          </a:p>
        </p:txBody>
      </p:sp>
    </p:spTree>
    <p:extLst>
      <p:ext uri="{BB962C8B-B14F-4D97-AF65-F5344CB8AC3E}">
        <p14:creationId xmlns:p14="http://schemas.microsoft.com/office/powerpoint/2010/main" val="10432642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a:t>
                </a:r>
                <a:r>
                  <a:rPr lang="en-US" b="1" dirty="0"/>
                  <a:t>Shannon limit</a:t>
                </a:r>
                <a:r>
                  <a:rPr lang="en-US" dirty="0"/>
                  <a:t> (sometimes called the </a:t>
                </a:r>
                <a:r>
                  <a:rPr lang="en-US" b="1" dirty="0"/>
                  <a:t>Shannon capacity limit</a:t>
                </a:r>
                <a:r>
                  <a:rPr lang="en-US" dirty="0"/>
                  <a:t>) is a fundamental concept from Claude Shannon’s information theory that tells us the maximum rate at which we can reliably transmit information over a communication channel in the presence of noise.</a:t>
                </a:r>
                <a:br>
                  <a:rPr lang="en-US" dirty="0"/>
                </a:br>
                <a:endParaRPr lang="en-US" dirty="0"/>
              </a:p>
              <a:p>
                <a:r>
                  <a:rPr lang="en-US" b="1" dirty="0"/>
                  <a:t>The Shannon–Hartley Theorem</a:t>
                </a:r>
              </a:p>
              <a:p>
                <a:r>
                  <a:rPr lang="en-US" dirty="0"/>
                  <a:t>For a channel with </a:t>
                </a:r>
                <a:r>
                  <a:rPr lang="en-US" b="1" dirty="0"/>
                  <a:t>bandwidth</a:t>
                </a:r>
                <a:r>
                  <a:rPr lang="en-US"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𝐵</m:t>
                    </m:r>
                  </m:oMath>
                </a14:m>
                <a:r>
                  <a:rPr lang="en-US" dirty="0"/>
                  <a:t>(in Hz) and a </a:t>
                </a:r>
                <a:r>
                  <a:rPr lang="en-US" b="1" dirty="0"/>
                  <a:t>signal-to-noise ratio</a:t>
                </a:r>
                <a:r>
                  <a:rPr lang="en-US" dirty="0"/>
                  <a:t> (SNR), the maximum achievable data rate (capacity) is: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f>
                            <m:fPr>
                              <m:ctrlPr>
                                <a:rPr lang="ar-AE" sz="1200" i="1" kern="1200">
                                  <a:solidFill>
                                    <a:schemeClr val="tx1"/>
                                  </a:solidFill>
                                  <a:latin typeface="Cambria Math" panose="02040503050406030204" pitchFamily="18" charset="0"/>
                                  <a:ea typeface="+mn-ea"/>
                                  <a:cs typeface="+mn-cs"/>
                                </a:rPr>
                              </m:ctrlPr>
                            </m:fPr>
                            <m:num>
                              <m:r>
                                <a:rPr lang="ar-AE" sz="1200" i="1" kern="1200">
                                  <a:solidFill>
                                    <a:schemeClr val="tx1"/>
                                  </a:solidFill>
                                  <a:latin typeface="Cambria Math" panose="02040503050406030204" pitchFamily="18" charset="0"/>
                                  <a:ea typeface="+mn-ea"/>
                                  <a:cs typeface="+mn-cs"/>
                                </a:rPr>
                                <m:t>𝑆</m:t>
                              </m:r>
                            </m:num>
                            <m:den>
                              <m:r>
                                <a:rPr lang="ar-AE" sz="1200" i="1" kern="1200">
                                  <a:solidFill>
                                    <a:schemeClr val="tx1"/>
                                  </a:solidFill>
                                  <a:latin typeface="Cambria Math" panose="02040503050406030204" pitchFamily="18" charset="0"/>
                                  <a:ea typeface="+mn-ea"/>
                                  <a:cs typeface="+mn-cs"/>
                                </a:rPr>
                                <m:t>𝑁</m:t>
                              </m:r>
                            </m:den>
                          </m:f>
                        </m:e>
                      </m:d>
                      <m:r>
                        <a:rPr lang="ar-AE" sz="1200" i="0" kern="1200">
                          <a:solidFill>
                            <a:schemeClr val="tx1"/>
                          </a:solidFill>
                          <a:latin typeface="Cambria Math" panose="02040503050406030204" pitchFamily="18" charset="0"/>
                          <a:ea typeface="+mn-ea"/>
                          <a:cs typeface="+mn-cs"/>
                        </a:rPr>
                        <m:t> </m:t>
                      </m:r>
                      <m:r>
                        <m:rPr>
                          <m:nor/>
                        </m:rPr>
                        <a:rPr lang="en-US" sz="1200" b="0" i="1" kern="1200">
                          <a:solidFill>
                            <a:schemeClr val="tx1"/>
                          </a:solidFill>
                          <a:latin typeface="+mn-lt"/>
                          <a:ea typeface="+mn-ea"/>
                          <a:cs typeface="+mn-cs"/>
                        </a:rPr>
                        <m:t>bits</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per</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second</m:t>
                      </m:r>
                    </m:oMath>
                  </m:oMathPara>
                </a14:m>
                <a:endParaRPr lang="en-US" b="0" dirty="0"/>
              </a:p>
              <a:p>
                <a:r>
                  <a:rPr lang="en-US" dirty="0"/>
                  <a:t>Where:</a:t>
                </a:r>
              </a:p>
              <a:p>
                <a14:m>
                  <m:oMath xmlns:m="http://schemas.openxmlformats.org/officeDocument/2006/math">
                    <m:r>
                      <a:rPr lang="en-US" sz="1200" i="1" kern="1200">
                        <a:solidFill>
                          <a:schemeClr val="tx1"/>
                        </a:solidFill>
                        <a:latin typeface="Cambria Math" panose="02040503050406030204" pitchFamily="18" charset="0"/>
                        <a:ea typeface="+mn-ea"/>
                        <a:cs typeface="+mn-cs"/>
                      </a:rPr>
                      <m:t>𝐶</m:t>
                    </m:r>
                  </m:oMath>
                </a14:m>
                <a:r>
                  <a:rPr lang="en-US" dirty="0"/>
                  <a:t>= channel capacity (bits/s)</a:t>
                </a:r>
              </a:p>
              <a:p>
                <a14:m>
                  <m:oMath xmlns:m="http://schemas.openxmlformats.org/officeDocument/2006/math">
                    <m:r>
                      <a:rPr lang="en-US" sz="1200" i="1" kern="1200">
                        <a:solidFill>
                          <a:schemeClr val="tx1"/>
                        </a:solidFill>
                        <a:latin typeface="Cambria Math" panose="02040503050406030204" pitchFamily="18" charset="0"/>
                        <a:ea typeface="+mn-ea"/>
                        <a:cs typeface="+mn-cs"/>
                      </a:rPr>
                      <m:t>𝐵</m:t>
                    </m:r>
                  </m:oMath>
                </a14:m>
                <a:r>
                  <a:rPr lang="en-US" dirty="0"/>
                  <a:t>= channel bandwidth (Hz)</a:t>
                </a:r>
              </a:p>
              <a:p>
                <a14:m>
                  <m:oMath xmlns:m="http://schemas.openxmlformats.org/officeDocument/2006/math">
                    <m:r>
                      <a:rPr lang="en-US" sz="1200" i="1" kern="1200">
                        <a:solidFill>
                          <a:schemeClr val="tx1"/>
                        </a:solidFill>
                        <a:latin typeface="Cambria Math" panose="02040503050406030204" pitchFamily="18" charset="0"/>
                        <a:ea typeface="+mn-ea"/>
                        <a:cs typeface="+mn-cs"/>
                      </a:rPr>
                      <m:t>𝑆</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𝑁</m:t>
                    </m:r>
                  </m:oMath>
                </a14:m>
                <a:r>
                  <a:rPr lang="en-US" dirty="0"/>
                  <a:t>= signal-to-noise ratio (linear, not in dB)</a:t>
                </a:r>
              </a:p>
              <a:p>
                <a:endParaRPr lang="en-US" dirty="0"/>
              </a:p>
              <a:p>
                <a:r>
                  <a:rPr lang="en-US" b="1" dirty="0"/>
                  <a:t>What It Means</a:t>
                </a:r>
              </a:p>
              <a:p>
                <a:r>
                  <a:rPr lang="en-US" dirty="0"/>
                  <a:t>If you try to transmit </a:t>
                </a:r>
                <a:r>
                  <a:rPr lang="en-US" b="1" dirty="0"/>
                  <a:t>faster than </a:t>
                </a:r>
                <a14:m>
                  <m:oMath xmlns:m="http://schemas.openxmlformats.org/officeDocument/2006/math">
                    <m:r>
                      <a:rPr lang="en-US" sz="1200" i="1" kern="1200">
                        <a:solidFill>
                          <a:schemeClr val="tx1"/>
                        </a:solidFill>
                        <a:latin typeface="Cambria Math" panose="02040503050406030204" pitchFamily="18" charset="0"/>
                        <a:ea typeface="+mn-ea"/>
                        <a:cs typeface="+mn-cs"/>
                      </a:rPr>
                      <m:t>𝐶</m:t>
                    </m:r>
                  </m:oMath>
                </a14:m>
                <a:r>
                  <a:rPr lang="en-US" dirty="0"/>
                  <a:t>, errors will inevitably overwhelm you—no coding scheme can prevent it.</a:t>
                </a:r>
              </a:p>
              <a:p>
                <a:r>
                  <a:rPr lang="en-US" dirty="0"/>
                  <a:t>If you transmit </a:t>
                </a:r>
                <a:r>
                  <a:rPr lang="en-US" b="1" dirty="0"/>
                  <a:t>at or below </a:t>
                </a:r>
                <a14:m>
                  <m:oMath xmlns:m="http://schemas.openxmlformats.org/officeDocument/2006/math">
                    <m:r>
                      <a:rPr lang="en-US" sz="1200" i="1" kern="1200">
                        <a:solidFill>
                          <a:schemeClr val="tx1"/>
                        </a:solidFill>
                        <a:latin typeface="Cambria Math" panose="02040503050406030204" pitchFamily="18" charset="0"/>
                        <a:ea typeface="+mn-ea"/>
                        <a:cs typeface="+mn-cs"/>
                      </a:rPr>
                      <m:t>𝐶</m:t>
                    </m:r>
                  </m:oMath>
                </a14:m>
                <a:r>
                  <a:rPr lang="en-US" dirty="0"/>
                  <a:t>, in theory, there exist clever coding methods that can get arbitrarily close to error-free communication.</a:t>
                </a:r>
              </a:p>
              <a:p>
                <a:r>
                  <a:rPr lang="en-US" dirty="0"/>
                  <a:t>This sets an </a:t>
                </a:r>
                <a:r>
                  <a:rPr lang="en-US" b="1" dirty="0"/>
                  <a:t>absolute physical limit</a:t>
                </a:r>
                <a:r>
                  <a:rPr lang="en-US" dirty="0"/>
                  <a:t>, dictated by noise and bandwidth.</a:t>
                </a:r>
              </a:p>
              <a:p>
                <a:endParaRPr lang="en-US" dirty="0"/>
              </a:p>
              <a:p>
                <a:r>
                  <a:rPr lang="en-US" b="1" dirty="0"/>
                  <a:t>Connection to Noise</a:t>
                </a:r>
              </a:p>
              <a:p>
                <a:r>
                  <a:rPr lang="en-US" dirty="0"/>
                  <a:t>Noise (thermal noise, interference, etc.) is what caps the information capacity.</a:t>
                </a:r>
              </a:p>
              <a:p>
                <a:r>
                  <a:rPr lang="en-US" dirty="0"/>
                  <a:t>With </a:t>
                </a:r>
                <a:r>
                  <a:rPr lang="en-US" b="1" dirty="0"/>
                  <a:t>more bandwidth</a:t>
                </a:r>
                <a:r>
                  <a:rPr lang="en-US" dirty="0"/>
                  <a:t>, you can pack more symbols per second.</a:t>
                </a:r>
              </a:p>
              <a:p>
                <a:r>
                  <a:rPr lang="en-US" dirty="0"/>
                  <a:t>With </a:t>
                </a:r>
                <a:r>
                  <a:rPr lang="en-US" b="1" dirty="0"/>
                  <a:t>higher SNR</a:t>
                </a:r>
                <a:r>
                  <a:rPr lang="en-US" dirty="0"/>
                  <a:t>, you can distinguish more reliably between symbols.</a:t>
                </a:r>
              </a:p>
              <a:p>
                <a:r>
                  <a:rPr lang="en-US" dirty="0"/>
                  <a:t>With </a:t>
                </a:r>
                <a:r>
                  <a:rPr lang="en-US" b="1" dirty="0"/>
                  <a:t>low SNR</a:t>
                </a:r>
                <a:r>
                  <a:rPr lang="en-US" dirty="0"/>
                  <a:t>, capacity shrinks—at very low SNR, the system becomes noise-limited.</a:t>
                </a:r>
              </a:p>
              <a:p>
                <a:endParaRPr lang="en-US" dirty="0"/>
              </a:p>
              <a:p>
                <a:r>
                  <a:rPr lang="en-US" b="1" dirty="0"/>
                  <a:t>Example</a:t>
                </a:r>
              </a:p>
              <a:p>
                <a:r>
                  <a:rPr lang="en-US" dirty="0"/>
                  <a:t>Suppose you have:</a:t>
                </a:r>
              </a:p>
              <a:p>
                <a:r>
                  <a:rPr lang="en-US" dirty="0"/>
                  <a:t>Bandwidth </a:t>
                </a:r>
                <a14:m>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MHz</m:t>
                    </m:r>
                  </m:oMath>
                </a14:m>
                <a:endParaRPr lang="en-US" dirty="0"/>
              </a:p>
              <a:p>
                <a:r>
                  <a:rPr lang="en-US" dirty="0"/>
                  <a:t>SNR = 10 (10:1 linear = 10 dB)</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m:t>
                      </m:r>
                      <m:r>
                        <a:rPr lang="en-US"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6</m:t>
                          </m:r>
                        </m:sup>
                      </m:sSup>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46</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Mbps</m:t>
                      </m:r>
                    </m:oMath>
                  </m:oMathPara>
                </a14:m>
                <a:endParaRPr lang="en-US" b="0" dirty="0"/>
              </a:p>
              <a:p>
                <a:r>
                  <a:rPr lang="en-US" dirty="0"/>
                  <a:t>So no matter what modulation/coding you invent, you can’t exceed ~3.46 Mbps on that channel.</a:t>
                </a:r>
              </a:p>
              <a:p>
                <a:endParaRPr lang="en-US" dirty="0"/>
              </a:p>
              <a:p>
                <a:r>
                  <a:rPr lang="en-US" b="1" dirty="0"/>
                  <a:t>In short:</a:t>
                </a:r>
                <a:br>
                  <a:rPr lang="en-US" dirty="0"/>
                </a:br>
                <a:r>
                  <a:rPr lang="en-US" dirty="0"/>
                  <a:t>The Shannon limit defines the </a:t>
                </a:r>
                <a:r>
                  <a:rPr lang="en-US" b="1" dirty="0"/>
                  <a:t>maximum achievable information rate</a:t>
                </a:r>
                <a:r>
                  <a:rPr lang="en-US" dirty="0"/>
                  <a:t> over a noisy channel, given its bandwidth and SNR. It’s the ultimate yardstick for communications performance—every real-world system is measured against it.</a:t>
                </a:r>
              </a:p>
              <a:p>
                <a:br>
                  <a:rPr lang="en-US" dirty="0"/>
                </a:br>
                <a:endParaRPr lang="en-US" dirty="0"/>
              </a:p>
              <a:p>
                <a:endParaRPr lang="en-US" dirty="0"/>
              </a:p>
              <a:p>
                <a:r>
                  <a:rPr lang="en-US" dirty="0"/>
                  <a:t>GPS is a </a:t>
                </a:r>
                <a:r>
                  <a:rPr lang="en-US" b="1" dirty="0"/>
                  <a:t>perfect real-world example</a:t>
                </a:r>
                <a:r>
                  <a:rPr lang="en-US" dirty="0"/>
                  <a:t> of the Shannon limit in action, because GPS signals are </a:t>
                </a:r>
                <a:r>
                  <a:rPr lang="en-US" i="1" dirty="0"/>
                  <a:t>incredibly weak</a:t>
                </a:r>
                <a:r>
                  <a:rPr lang="en-US" dirty="0"/>
                  <a:t> when they reach Earth, often </a:t>
                </a:r>
                <a:r>
                  <a:rPr lang="en-US" b="1" dirty="0"/>
                  <a:t>below the noise floor</a:t>
                </a:r>
                <a:r>
                  <a:rPr lang="en-US" dirty="0"/>
                  <a:t>. Let’s walk through it step by step.</a:t>
                </a:r>
              </a:p>
              <a:p>
                <a:endParaRPr lang="en-US" dirty="0"/>
              </a:p>
              <a:p>
                <a:r>
                  <a:rPr lang="en-US" b="1" dirty="0"/>
                  <a:t>1. GPS Signal at the Receiver</a:t>
                </a:r>
              </a:p>
              <a:p>
                <a:r>
                  <a:rPr lang="en-US" dirty="0"/>
                  <a:t>GPS satellites transmit around </a:t>
                </a:r>
                <a:r>
                  <a:rPr lang="en-US" b="1" dirty="0"/>
                  <a:t>20–30 W</a:t>
                </a:r>
                <a:r>
                  <a:rPr lang="en-US" dirty="0"/>
                  <a:t> at L-band (e.g., 1575.42 MHz for L1).</a:t>
                </a:r>
              </a:p>
              <a:p>
                <a:r>
                  <a:rPr lang="en-US" dirty="0"/>
                  <a:t>By the time the signal arrives at Earth, it has spread over ~20,000 km of free-space path loss.</a:t>
                </a:r>
              </a:p>
              <a:p>
                <a:r>
                  <a:rPr lang="en-US" dirty="0"/>
                  <a:t>The received signal power is only about:</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𝑃</m:t>
                          </m:r>
                        </m:e>
                        <m:sub>
                          <m:r>
                            <a:rPr lang="ar-AE" sz="1200" i="1" kern="1200">
                              <a:solidFill>
                                <a:schemeClr val="tx1"/>
                              </a:solidFill>
                              <a:latin typeface="Cambria Math" panose="02040503050406030204" pitchFamily="18" charset="0"/>
                              <a:ea typeface="+mn-ea"/>
                              <a:cs typeface="+mn-cs"/>
                            </a:rPr>
                            <m:t>𝑟𝑥</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160</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dBW</m:t>
                      </m:r>
                      <m:r>
                        <a:rPr lang="en-US" sz="1200" b="0" i="0" kern="1200">
                          <a:solidFill>
                            <a:schemeClr val="tx1"/>
                          </a:solidFill>
                          <a:latin typeface="Cambria Math" panose="02040503050406030204" pitchFamily="18" charset="0"/>
                          <a:ea typeface="+mn-ea"/>
                          <a:cs typeface="+mn-cs"/>
                        </a:rPr>
                        <m:t>=−</m:t>
                      </m:r>
                      <m:r>
                        <a:rPr lang="en-US" sz="1200" b="0" i="0" kern="1200">
                          <a:solidFill>
                            <a:schemeClr val="tx1"/>
                          </a:solidFill>
                          <a:latin typeface="Cambria Math" panose="02040503050406030204" pitchFamily="18" charset="0"/>
                          <a:ea typeface="+mn-ea"/>
                          <a:cs typeface="+mn-cs"/>
                        </a:rPr>
                        <m:t>130</m:t>
                      </m:r>
                      <m:r>
                        <m:rPr>
                          <m:nor/>
                        </m:rPr>
                        <a:rPr lang="en-US"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dBm</m:t>
                      </m:r>
                    </m:oMath>
                  </m:oMathPara>
                </a14:m>
                <a:endParaRPr lang="en-US" b="0" dirty="0"/>
              </a:p>
              <a:p>
                <a:r>
                  <a:rPr lang="en-US" dirty="0"/>
                  <a:t>which is </a:t>
                </a:r>
                <a:r>
                  <a:rPr lang="en-US" b="1" dirty="0"/>
                  <a:t>far weaker than thermal noise</a:t>
                </a:r>
                <a:r>
                  <a:rPr lang="en-US" dirty="0"/>
                  <a:t> in the receiver.</a:t>
                </a:r>
                <a:br>
                  <a:rPr lang="en-US" dirty="0"/>
                </a:br>
                <a:endParaRPr lang="en-US" dirty="0"/>
              </a:p>
              <a:p>
                <a:r>
                  <a:rPr lang="en-US" b="1" dirty="0"/>
                  <a:t>2. Noise Power in GPS Bandwidth</a:t>
                </a:r>
              </a:p>
              <a:p>
                <a:r>
                  <a:rPr lang="en-US" dirty="0"/>
                  <a:t>Thermal noise density is:</a:t>
                </a:r>
              </a:p>
              <a:p>
                <a:pPr/>
                <a14:m>
                  <m:oMathPara xmlns:m="http://schemas.openxmlformats.org/officeDocument/2006/math">
                    <m:oMathParaPr>
                      <m:jc m:val="centerGroup"/>
                    </m:oMathParaPr>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𝑁</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174</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dBm</m:t>
                      </m:r>
                      <m:r>
                        <m:rPr>
                          <m:nor/>
                        </m:rPr>
                        <a:rPr lang="en-US" sz="1200" b="0" i="1" kern="1200">
                          <a:solidFill>
                            <a:schemeClr val="tx1"/>
                          </a:solidFill>
                          <a:latin typeface="+mn-lt"/>
                          <a:ea typeface="+mn-ea"/>
                          <a:cs typeface="+mn-cs"/>
                        </a:rPr>
                        <m:t>/</m:t>
                      </m:r>
                      <m:r>
                        <m:rPr>
                          <m:nor/>
                        </m:rPr>
                        <a:rPr lang="en-US" sz="1200" b="0" i="1" kern="1200">
                          <a:solidFill>
                            <a:schemeClr val="tx1"/>
                          </a:solidFill>
                          <a:latin typeface="+mn-lt"/>
                          <a:ea typeface="+mn-ea"/>
                          <a:cs typeface="+mn-cs"/>
                        </a:rPr>
                        <m:t>Hz</m:t>
                      </m:r>
                    </m:oMath>
                  </m:oMathPara>
                </a14:m>
                <a:endParaRPr lang="en-US" b="0" dirty="0"/>
              </a:p>
              <a:p>
                <a:r>
                  <a:rPr lang="en-US" dirty="0"/>
                  <a:t>For GPS L1 C/A:</a:t>
                </a:r>
              </a:p>
              <a:p>
                <a:r>
                  <a:rPr lang="en-US" dirty="0"/>
                  <a:t>Bandwidth ≈ 2 MHz</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𝑁</m:t>
                      </m:r>
                      <m:r>
                        <a:rPr lang="en-US"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𝑁</m:t>
                          </m:r>
                        </m:e>
                        <m:sub>
                          <m:r>
                            <a:rPr lang="ar-AE" sz="1200" i="0" kern="1200">
                              <a:solidFill>
                                <a:schemeClr val="tx1"/>
                              </a:solidFill>
                              <a:latin typeface="Cambria Math" panose="02040503050406030204" pitchFamily="18" charset="0"/>
                              <a:ea typeface="+mn-ea"/>
                              <a:cs typeface="+mn-cs"/>
                            </a:rPr>
                            <m:t>0</m:t>
                          </m:r>
                        </m:sub>
                      </m:sSub>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10</m:t>
                      </m:r>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10</m:t>
                          </m:r>
                        </m:sub>
                      </m:sSub>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𝐵</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174</m:t>
                      </m:r>
                      <m:r>
                        <m:rPr>
                          <m:nor/>
                        </m:rPr>
                        <a:rPr lang="ar-AE" sz="1200" b="0" i="1" kern="1200">
                          <a:solidFill>
                            <a:schemeClr val="tx1"/>
                          </a:solidFill>
                          <a:latin typeface="+mn-lt"/>
                          <a:ea typeface="+mn-ea"/>
                          <a:cs typeface="+mn-cs"/>
                        </a:rPr>
                        <m:t> </m:t>
                      </m:r>
                      <m:r>
                        <a:rPr lang="ar-AE" sz="1200" b="0" i="0" kern="1200">
                          <a:solidFill>
                            <a:schemeClr val="tx1"/>
                          </a:solidFill>
                          <a:latin typeface="Cambria Math" panose="02040503050406030204" pitchFamily="18" charset="0"/>
                          <a:ea typeface="+mn-ea"/>
                          <a:cs typeface="+mn-cs"/>
                        </a:rPr>
                        <m:t>+</m:t>
                      </m:r>
                      <m:r>
                        <m:rPr>
                          <m:nor/>
                        </m:rPr>
                        <a:rPr lang="ar-AE" sz="1200" b="0" i="1" kern="1200">
                          <a:solidFill>
                            <a:schemeClr val="tx1"/>
                          </a:solidFill>
                          <a:latin typeface="+mn-lt"/>
                          <a:ea typeface="+mn-ea"/>
                          <a:cs typeface="+mn-cs"/>
                        </a:rPr>
                        <m:t> </m:t>
                      </m:r>
                      <m:r>
                        <a:rPr lang="ar-AE" sz="1200" b="0" i="0" kern="1200">
                          <a:solidFill>
                            <a:schemeClr val="tx1"/>
                          </a:solidFill>
                          <a:latin typeface="Cambria Math" panose="02040503050406030204" pitchFamily="18" charset="0"/>
                          <a:ea typeface="+mn-ea"/>
                          <a:cs typeface="+mn-cs"/>
                        </a:rPr>
                        <m:t>10</m:t>
                      </m:r>
                      <m:sSub>
                        <m:sSubPr>
                          <m:ctrlPr>
                            <a:rPr lang="ar-AE" sz="1200" b="0" i="1" kern="1200">
                              <a:solidFill>
                                <a:schemeClr val="tx1"/>
                              </a:solidFill>
                              <a:latin typeface="Cambria Math" panose="02040503050406030204" pitchFamily="18" charset="0"/>
                              <a:ea typeface="+mn-ea"/>
                              <a:cs typeface="+mn-cs"/>
                            </a:rPr>
                          </m:ctrlPr>
                        </m:sSubPr>
                        <m:e>
                          <m:func>
                            <m:funcPr>
                              <m:ctrlPr>
                                <a:rPr lang="ar-AE" sz="1200" b="0" i="1" kern="1200">
                                  <a:solidFill>
                                    <a:schemeClr val="tx1"/>
                                  </a:solidFill>
                                  <a:latin typeface="Cambria Math" panose="02040503050406030204" pitchFamily="18" charset="0"/>
                                  <a:ea typeface="+mn-ea"/>
                                  <a:cs typeface="+mn-cs"/>
                                </a:rPr>
                              </m:ctrlPr>
                            </m:funcPr>
                            <m:fName>
                              <m:r>
                                <m:rPr>
                                  <m:sty m:val="p"/>
                                </m:rPr>
                                <a:rPr lang="en-US" sz="1200" b="0" i="0" kern="1200">
                                  <a:solidFill>
                                    <a:schemeClr val="tx1"/>
                                  </a:solidFill>
                                  <a:latin typeface="Cambria Math" panose="02040503050406030204" pitchFamily="18" charset="0"/>
                                  <a:ea typeface="+mn-ea"/>
                                  <a:cs typeface="+mn-cs"/>
                                </a:rPr>
                                <m:t>log</m:t>
                              </m:r>
                            </m:fName>
                            <m:e/>
                          </m:func>
                        </m:e>
                        <m:sub>
                          <m:r>
                            <a:rPr lang="ar-AE" sz="1200" b="0" i="0" kern="1200">
                              <a:solidFill>
                                <a:schemeClr val="tx1"/>
                              </a:solidFill>
                              <a:latin typeface="Cambria Math" panose="02040503050406030204" pitchFamily="18" charset="0"/>
                              <a:ea typeface="+mn-ea"/>
                              <a:cs typeface="+mn-cs"/>
                            </a:rPr>
                            <m:t>10</m:t>
                          </m:r>
                        </m:sub>
                      </m:sSub>
                      <m:d>
                        <m:dPr>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2</m:t>
                          </m:r>
                          <m:r>
                            <a:rPr lang="ar-AE" sz="1200" b="0" i="0" kern="1200">
                              <a:solidFill>
                                <a:schemeClr val="tx1"/>
                              </a:solidFill>
                              <a:latin typeface="Cambria Math" panose="02040503050406030204" pitchFamily="18" charset="0"/>
                              <a:ea typeface="+mn-ea"/>
                              <a:cs typeface="+mn-cs"/>
                            </a:rPr>
                            <m:t>×</m:t>
                          </m:r>
                          <m:sSup>
                            <m:sSupPr>
                              <m:ctrlPr>
                                <a:rPr lang="ar-AE" sz="1200" b="0" i="1" kern="1200">
                                  <a:solidFill>
                                    <a:schemeClr val="tx1"/>
                                  </a:solidFill>
                                  <a:latin typeface="Cambria Math" panose="02040503050406030204" pitchFamily="18" charset="0"/>
                                  <a:ea typeface="+mn-ea"/>
                                  <a:cs typeface="+mn-cs"/>
                                </a:rPr>
                              </m:ctrlPr>
                            </m:sSupPr>
                            <m:e>
                              <m:r>
                                <a:rPr lang="ar-AE" sz="1200" b="0" i="0" kern="1200">
                                  <a:solidFill>
                                    <a:schemeClr val="tx1"/>
                                  </a:solidFill>
                                  <a:latin typeface="Cambria Math" panose="02040503050406030204" pitchFamily="18" charset="0"/>
                                  <a:ea typeface="+mn-ea"/>
                                  <a:cs typeface="+mn-cs"/>
                                </a:rPr>
                                <m:t>10</m:t>
                              </m:r>
                            </m:e>
                            <m:sup>
                              <m:r>
                                <a:rPr lang="ar-AE" sz="1200" b="0" i="0" kern="1200">
                                  <a:solidFill>
                                    <a:schemeClr val="tx1"/>
                                  </a:solidFill>
                                  <a:latin typeface="Cambria Math" panose="02040503050406030204" pitchFamily="18" charset="0"/>
                                  <a:ea typeface="+mn-ea"/>
                                  <a:cs typeface="+mn-cs"/>
                                </a:rPr>
                                <m:t>6</m:t>
                              </m:r>
                            </m:sup>
                          </m:sSup>
                        </m:e>
                      </m:d>
                    </m:oMath>
                  </m:oMathPara>
                </a14:m>
                <a:endParaRPr lang="ar-AE" b="0" dirty="0"/>
              </a:p>
              <a:p>
                <a:pPr/>
                <a14:m>
                  <m:oMathPara xmlns:m="http://schemas.openxmlformats.org/officeDocument/2006/math">
                    <m:oMathParaPr>
                      <m:jc m:val="centerGroup"/>
                    </m:oMathParaPr>
                    <m:oMath xmlns:m="http://schemas.openxmlformats.org/officeDocument/2006/math">
                      <m:r>
                        <a:rPr lang="ar-AE" sz="1200" i="1" kern="1200">
                          <a:solidFill>
                            <a:schemeClr val="tx1"/>
                          </a:solidFill>
                          <a:latin typeface="Cambria Math" panose="02040503050406030204" pitchFamily="18" charset="0"/>
                          <a:ea typeface="+mn-ea"/>
                          <a:cs typeface="+mn-cs"/>
                        </a:rPr>
                        <m:t>𝑁</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174</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63</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111</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dBm</m:t>
                      </m:r>
                    </m:oMath>
                  </m:oMathPara>
                </a14:m>
                <a:endParaRPr lang="en-US" b="0" dirty="0"/>
              </a:p>
              <a:p>
                <a:r>
                  <a:rPr lang="en-US" dirty="0"/>
                  <a:t>So the </a:t>
                </a:r>
                <a:r>
                  <a:rPr lang="en-US" b="1" dirty="0"/>
                  <a:t>signal-to-noise ratio</a:t>
                </a:r>
                <a:r>
                  <a:rPr lang="en-US" dirty="0"/>
                  <a:t> in that bandwidth is: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𝑆𝑁𝑅</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130</m:t>
                      </m:r>
                      <m:r>
                        <a:rPr lang="en-US" sz="1200" i="0" kern="1200">
                          <a:solidFill>
                            <a:schemeClr val="tx1"/>
                          </a:solidFill>
                          <a:latin typeface="Cambria Math" panose="02040503050406030204" pitchFamily="18" charset="0"/>
                          <a:ea typeface="+mn-ea"/>
                          <a:cs typeface="+mn-cs"/>
                        </a:rPr>
                        <m:t>−</m:t>
                      </m:r>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111</m:t>
                          </m:r>
                        </m:e>
                      </m:d>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19</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dB</m:t>
                      </m:r>
                    </m:oMath>
                  </m:oMathPara>
                </a14:m>
                <a:endParaRPr lang="en-US" b="0" dirty="0"/>
              </a:p>
              <a:p>
                <a:r>
                  <a:rPr lang="en-US" dirty="0"/>
                  <a:t>That means the GPS signal is </a:t>
                </a:r>
                <a:r>
                  <a:rPr lang="en-US" b="1" dirty="0"/>
                  <a:t>~80× weaker than the noise power</a:t>
                </a:r>
                <a:r>
                  <a:rPr lang="en-US" dirty="0"/>
                  <a:t>!</a:t>
                </a:r>
              </a:p>
              <a:p>
                <a:endParaRPr lang="en-US" dirty="0"/>
              </a:p>
              <a:p>
                <a:r>
                  <a:rPr lang="en-US" b="1" dirty="0"/>
                  <a:t>3. Shannon Capacity</a:t>
                </a:r>
              </a:p>
              <a:p>
                <a:r>
                  <a:rPr lang="en-US" dirty="0"/>
                  <a:t>The Shannon–Hartley theorem:</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𝑆</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𝑁</m:t>
                          </m:r>
                        </m:e>
                      </m:d>
                    </m:oMath>
                  </m:oMathPara>
                </a14:m>
                <a:endParaRPr lang="ar-AE" dirty="0"/>
              </a:p>
              <a:p>
                <a:r>
                  <a:rPr lang="en-US" dirty="0"/>
                  <a:t>In linear terms:</a:t>
                </a:r>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𝑆</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𝑁</m:t>
                      </m:r>
                      <m:r>
                        <a:rPr lang="en-US"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10</m:t>
                          </m:r>
                        </m:e>
                        <m:sup>
                          <m:f>
                            <m:fPr>
                              <m:ctrlPr>
                                <a:rPr lang="ar-AE" sz="1200" i="1" kern="1200">
                                  <a:solidFill>
                                    <a:schemeClr val="tx1"/>
                                  </a:solidFill>
                                  <a:latin typeface="Cambria Math" panose="02040503050406030204" pitchFamily="18" charset="0"/>
                                  <a:ea typeface="+mn-ea"/>
                                  <a:cs typeface="+mn-cs"/>
                                </a:rPr>
                              </m:ctrlPr>
                            </m:fPr>
                            <m:num>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19</m:t>
                              </m:r>
                            </m:num>
                            <m:den>
                              <m:r>
                                <a:rPr lang="ar-AE" sz="1200" i="0" kern="1200">
                                  <a:solidFill>
                                    <a:schemeClr val="tx1"/>
                                  </a:solidFill>
                                  <a:latin typeface="Cambria Math" panose="02040503050406030204" pitchFamily="18" charset="0"/>
                                  <a:ea typeface="+mn-ea"/>
                                  <a:cs typeface="+mn-cs"/>
                                </a:rPr>
                                <m:t>10</m:t>
                              </m:r>
                            </m:den>
                          </m:f>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0126</m:t>
                      </m:r>
                    </m:oMath>
                  </m:oMathPara>
                </a14:m>
                <a:endParaRPr lang="ar-AE" dirty="0"/>
              </a:p>
              <a:p>
                <a:r>
                  <a:rPr lang="en-US" dirty="0"/>
                  <a:t>Bandwidth </a:t>
                </a:r>
                <a14:m>
                  <m:oMath xmlns:m="http://schemas.openxmlformats.org/officeDocument/2006/math">
                    <m:r>
                      <a:rPr lang="en-US" sz="1200" i="1" kern="1200">
                        <a:solidFill>
                          <a:schemeClr val="tx1"/>
                        </a:solidFill>
                        <a:latin typeface="Cambria Math" panose="02040503050406030204" pitchFamily="18" charset="0"/>
                        <a:ea typeface="+mn-ea"/>
                        <a:cs typeface="+mn-cs"/>
                      </a:rPr>
                      <m:t>𝐵</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m:t>
                    </m:r>
                    <m:r>
                      <a:rPr lang="en-US"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6</m:t>
                        </m:r>
                      </m:sup>
                    </m:sSup>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Hz</m:t>
                    </m:r>
                  </m:oMath>
                </a14:m>
                <a:endParaRPr lang="en-US" dirty="0"/>
              </a:p>
              <a:p>
                <a:pPr/>
                <a14:m>
                  <m:oMathPara xmlns:m="http://schemas.openxmlformats.org/officeDocument/2006/math">
                    <m:oMathParaPr>
                      <m:jc m:val="centerGroup"/>
                    </m:oMathParaPr>
                    <m:oMath xmlns:m="http://schemas.openxmlformats.org/officeDocument/2006/math">
                      <m:r>
                        <a:rPr lang="en-US" sz="1200" i="1" kern="1200">
                          <a:solidFill>
                            <a:schemeClr val="tx1"/>
                          </a:solidFill>
                          <a:latin typeface="Cambria Math" panose="02040503050406030204" pitchFamily="18" charset="0"/>
                          <a:ea typeface="+mn-ea"/>
                          <a:cs typeface="+mn-cs"/>
                        </a:rPr>
                        <m:t>𝐶</m:t>
                      </m:r>
                      <m:r>
                        <a:rPr lang="en-US" sz="1200" i="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2</m:t>
                      </m:r>
                      <m:r>
                        <a:rPr lang="en-US"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6</m:t>
                          </m:r>
                        </m:sup>
                      </m:sSup>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func>
                            <m:funcPr>
                              <m:ctrlPr>
                                <a:rPr lang="ar-AE" sz="1200" i="1" kern="1200">
                                  <a:solidFill>
                                    <a:schemeClr val="tx1"/>
                                  </a:solidFill>
                                  <a:latin typeface="Cambria Math" panose="02040503050406030204" pitchFamily="18" charset="0"/>
                                  <a:ea typeface="+mn-ea"/>
                                  <a:cs typeface="+mn-cs"/>
                                </a:rPr>
                              </m:ctrlPr>
                            </m:funcPr>
                            <m:fName>
                              <m:r>
                                <m:rPr>
                                  <m:sty m:val="p"/>
                                </m:rPr>
                                <a:rPr lang="en-US" sz="1200" i="0" kern="1200">
                                  <a:solidFill>
                                    <a:schemeClr val="tx1"/>
                                  </a:solidFill>
                                  <a:latin typeface="Cambria Math" panose="02040503050406030204" pitchFamily="18" charset="0"/>
                                  <a:ea typeface="+mn-ea"/>
                                  <a:cs typeface="+mn-cs"/>
                                </a:rPr>
                                <m:t>log</m:t>
                              </m:r>
                            </m:fName>
                            <m:e/>
                          </m:func>
                        </m:e>
                        <m:sub>
                          <m:r>
                            <a:rPr lang="ar-AE" sz="1200" i="0" kern="1200">
                              <a:solidFill>
                                <a:schemeClr val="tx1"/>
                              </a:solidFill>
                              <a:latin typeface="Cambria Math" panose="02040503050406030204" pitchFamily="18" charset="0"/>
                              <a:ea typeface="+mn-ea"/>
                              <a:cs typeface="+mn-cs"/>
                            </a:rPr>
                            <m:t>2</m:t>
                          </m:r>
                        </m:sub>
                      </m:sSub>
                      <m:d>
                        <m:dPr>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0126</m:t>
                          </m:r>
                        </m:e>
                      </m:d>
                    </m:oMath>
                  </m:oMathPara>
                </a14:m>
                <a:endParaRPr lang="ar-AE" dirty="0"/>
              </a:p>
              <a:p>
                <a:pPr/>
                <a14:m>
                  <m:oMathPara xmlns:m="http://schemas.openxmlformats.org/officeDocument/2006/math">
                    <m:oMathParaPr>
                      <m:jc m:val="centerGroup"/>
                    </m:oMathParaPr>
                    <m:oMath xmlns:m="http://schemas.openxmlformats.org/officeDocument/2006/math">
                      <m:r>
                        <a:rPr lang="ar-AE" sz="1200" i="1" kern="1200">
                          <a:solidFill>
                            <a:schemeClr val="tx1"/>
                          </a:solidFill>
                          <a:latin typeface="Cambria Math" panose="02040503050406030204" pitchFamily="18" charset="0"/>
                          <a:ea typeface="+mn-ea"/>
                          <a:cs typeface="+mn-cs"/>
                        </a:rPr>
                        <m:t>𝐶</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m:t>
                      </m:r>
                      <m:r>
                        <a:rPr lang="ar-AE" sz="1200" i="0" kern="1200">
                          <a:solidFill>
                            <a:schemeClr val="tx1"/>
                          </a:solidFill>
                          <a:latin typeface="Cambria Math" panose="02040503050406030204" pitchFamily="18" charset="0"/>
                          <a:ea typeface="+mn-ea"/>
                          <a:cs typeface="+mn-cs"/>
                        </a:rPr>
                        <m:t>×</m:t>
                      </m:r>
                      <m:sSup>
                        <m:sSupPr>
                          <m:ctrlPr>
                            <a:rPr lang="ar-AE" sz="1200" i="1" kern="1200">
                              <a:solidFill>
                                <a:schemeClr val="tx1"/>
                              </a:solidFill>
                              <a:latin typeface="Cambria Math" panose="02040503050406030204" pitchFamily="18" charset="0"/>
                              <a:ea typeface="+mn-ea"/>
                              <a:cs typeface="+mn-cs"/>
                            </a:rPr>
                          </m:ctrlPr>
                        </m:sSupPr>
                        <m:e>
                          <m:r>
                            <a:rPr lang="ar-AE" sz="1200" i="0" kern="1200">
                              <a:solidFill>
                                <a:schemeClr val="tx1"/>
                              </a:solidFill>
                              <a:latin typeface="Cambria Math" panose="02040503050406030204" pitchFamily="18" charset="0"/>
                              <a:ea typeface="+mn-ea"/>
                              <a:cs typeface="+mn-cs"/>
                            </a:rPr>
                            <m:t>10</m:t>
                          </m:r>
                        </m:e>
                        <m:sup>
                          <m:r>
                            <a:rPr lang="ar-AE" sz="1200" i="0" kern="1200">
                              <a:solidFill>
                                <a:schemeClr val="tx1"/>
                              </a:solidFill>
                              <a:latin typeface="Cambria Math" panose="02040503050406030204" pitchFamily="18" charset="0"/>
                              <a:ea typeface="+mn-ea"/>
                              <a:cs typeface="+mn-cs"/>
                            </a:rPr>
                            <m:t>6</m:t>
                          </m:r>
                        </m:sup>
                      </m:sSup>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0181</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36</m:t>
                      </m:r>
                      <m:r>
                        <m:rPr>
                          <m:nor/>
                        </m:rPr>
                        <a:rPr lang="ar-AE" sz="1200" b="0" i="1" kern="1200">
                          <a:solidFill>
                            <a:schemeClr val="tx1"/>
                          </a:solidFill>
                          <a:latin typeface="+mn-lt"/>
                          <a:ea typeface="+mn-ea"/>
                          <a:cs typeface="+mn-cs"/>
                        </a:rPr>
                        <m:t> </m:t>
                      </m:r>
                      <m:r>
                        <m:rPr>
                          <m:nor/>
                        </m:rPr>
                        <a:rPr lang="en-US" sz="1200" b="0" i="1" kern="1200">
                          <a:solidFill>
                            <a:schemeClr val="tx1"/>
                          </a:solidFill>
                          <a:latin typeface="+mn-lt"/>
                          <a:ea typeface="+mn-ea"/>
                          <a:cs typeface="+mn-cs"/>
                        </a:rPr>
                        <m:t>kbps</m:t>
                      </m:r>
                    </m:oMath>
                  </m:oMathPara>
                </a14:m>
                <a:endParaRPr lang="en-US" b="0" dirty="0"/>
              </a:p>
              <a:p>
                <a:r>
                  <a:rPr lang="en-US" dirty="0"/>
                  <a:t>So even though the GPS signal is </a:t>
                </a:r>
                <a:r>
                  <a:rPr lang="en-US" i="1" dirty="0"/>
                  <a:t>below the noise floor</a:t>
                </a:r>
                <a:r>
                  <a:rPr lang="en-US" dirty="0"/>
                  <a:t>, the Shannon limit still allows about </a:t>
                </a:r>
                <a:r>
                  <a:rPr lang="en-US" b="1" dirty="0"/>
                  <a:t>36 kbps</a:t>
                </a:r>
                <a:r>
                  <a:rPr lang="en-US" dirty="0"/>
                  <a:t> of capacity in that channel.</a:t>
                </a:r>
                <a:br>
                  <a:rPr lang="en-US" dirty="0"/>
                </a:br>
                <a:endParaRPr lang="en-US" dirty="0"/>
              </a:p>
              <a:p>
                <a:r>
                  <a:rPr lang="en-US" b="1" dirty="0"/>
                  <a:t>4. Reality of GPS</a:t>
                </a:r>
              </a:p>
              <a:p>
                <a:r>
                  <a:rPr lang="en-US" dirty="0"/>
                  <a:t>The </a:t>
                </a:r>
                <a:r>
                  <a:rPr lang="en-US" b="1" dirty="0"/>
                  <a:t>GPS C/A code data rate</a:t>
                </a:r>
                <a:r>
                  <a:rPr lang="en-US" dirty="0"/>
                  <a:t> is only </a:t>
                </a:r>
                <a:r>
                  <a:rPr lang="en-US" b="1" dirty="0"/>
                  <a:t>50 bps</a:t>
                </a:r>
                <a:r>
                  <a:rPr lang="en-US" dirty="0"/>
                  <a:t> (yes, just 50 bits per second).</a:t>
                </a:r>
              </a:p>
              <a:p>
                <a:r>
                  <a:rPr lang="en-US" dirty="0"/>
                  <a:t>That’s </a:t>
                </a:r>
                <a:r>
                  <a:rPr lang="en-US" b="1" dirty="0"/>
                  <a:t>orders of magnitude below</a:t>
                </a:r>
                <a:r>
                  <a:rPr lang="en-US" dirty="0"/>
                  <a:t> the Shannon capacity (36 kbps).</a:t>
                </a:r>
              </a:p>
              <a:p>
                <a:r>
                  <a:rPr lang="en-US" dirty="0"/>
                  <a:t>Why so low? Because GPS needs extremely robust reception with minimal errors, even in urban canyons or with cheap receivers.</a:t>
                </a:r>
              </a:p>
              <a:p>
                <a:r>
                  <a:rPr lang="en-US" dirty="0"/>
                  <a:t>GPS uses </a:t>
                </a:r>
                <a:r>
                  <a:rPr lang="en-US" b="1" dirty="0"/>
                  <a:t>spread-spectrum (CDMA)</a:t>
                </a:r>
                <a:r>
                  <a:rPr lang="en-US" dirty="0"/>
                  <a:t>:</a:t>
                </a:r>
              </a:p>
              <a:p>
                <a:r>
                  <a:rPr lang="en-US" dirty="0"/>
                  <a:t>The C/A code spreads 50 bps data over a 1.023 MHz pseudorandom code.</a:t>
                </a:r>
              </a:p>
              <a:p>
                <a:r>
                  <a:rPr lang="en-US" dirty="0"/>
                  <a:t>This allows the receiver to use </a:t>
                </a:r>
                <a:r>
                  <a:rPr lang="en-US" b="1" dirty="0"/>
                  <a:t>correlation processing gain</a:t>
                </a:r>
                <a:r>
                  <a:rPr lang="en-US" dirty="0"/>
                  <a:t> to pull the signal out of the noise.</a:t>
                </a:r>
              </a:p>
              <a:p>
                <a:r>
                  <a:rPr lang="en-US" dirty="0"/>
                  <a:t>In effect, the system exploits Shannon’s limit by trading bandwidth for processing gain.</a:t>
                </a:r>
                <a:br>
                  <a:rPr lang="en-US" dirty="0"/>
                </a:br>
                <a:endParaRPr lang="en-US" dirty="0"/>
              </a:p>
              <a:p>
                <a:r>
                  <a:rPr lang="en-US" b="1" dirty="0"/>
                  <a:t>✅ Key Insight</a:t>
                </a:r>
              </a:p>
              <a:p>
                <a:r>
                  <a:rPr lang="en-US" b="1" dirty="0"/>
                  <a:t>Shannon says</a:t>
                </a:r>
                <a:r>
                  <a:rPr lang="en-US" dirty="0"/>
                  <a:t>: even at –19 dB SNR, you can theoretically get ~36 kbps through the channel.</a:t>
                </a:r>
              </a:p>
              <a:p>
                <a:r>
                  <a:rPr lang="en-US" b="1" dirty="0"/>
                  <a:t>GPS designers</a:t>
                </a:r>
                <a:r>
                  <a:rPr lang="en-US" dirty="0"/>
                  <a:t> chose </a:t>
                </a:r>
                <a:r>
                  <a:rPr lang="en-US" b="1" dirty="0"/>
                  <a:t>50 bps</a:t>
                </a:r>
                <a:r>
                  <a:rPr lang="en-US" dirty="0"/>
                  <a:t>, giving a huge margin for robustness, synchronization, and global availability.</a:t>
                </a:r>
              </a:p>
              <a:p>
                <a:r>
                  <a:rPr lang="en-US" dirty="0"/>
                  <a:t>This is why your phone can lock onto GPS even though the signal looks like “noise” on a spectrum analyzer.</a:t>
                </a:r>
              </a:p>
              <a:p>
                <a:endParaRPr lang="en-US" dirty="0"/>
              </a:p>
            </p:txBody>
          </p:sp>
        </mc:Choice>
        <mc:Fallback xmlns="">
          <p:sp>
            <p:nvSpPr>
              <p:cNvPr id="3" name="Notes Placeholder 2"/>
              <p:cNvSpPr>
                <a:spLocks noGrp="1"/>
              </p:cNvSpPr>
              <p:nvPr>
                <p:ph type="body" idx="1"/>
              </p:nvPr>
            </p:nvSpPr>
            <p:spPr/>
            <p:txBody>
              <a:bodyPr/>
              <a:lstStyle/>
              <a:p>
                <a:r>
                  <a:rPr lang="en-US" dirty="0"/>
                  <a:t>The </a:t>
                </a:r>
                <a:r>
                  <a:rPr lang="en-US" b="1" dirty="0"/>
                  <a:t>Shannon limit</a:t>
                </a:r>
                <a:r>
                  <a:rPr lang="en-US" dirty="0"/>
                  <a:t> (sometimes called the </a:t>
                </a:r>
                <a:r>
                  <a:rPr lang="en-US" b="1" dirty="0"/>
                  <a:t>Shannon capacity limit</a:t>
                </a:r>
                <a:r>
                  <a:rPr lang="en-US" dirty="0"/>
                  <a:t>) is a fundamental concept from Claude Shannon’s information theory that tells us the maximum rate at which we can reliably transmit information over a communication channel in the presence of noise.</a:t>
                </a:r>
                <a:br>
                  <a:rPr lang="en-US" dirty="0"/>
                </a:br>
                <a:endParaRPr lang="en-US" dirty="0"/>
              </a:p>
              <a:p>
                <a:r>
                  <a:rPr lang="en-US" b="1" dirty="0"/>
                  <a:t>The Shannon–Hartley Theorem</a:t>
                </a:r>
              </a:p>
              <a:p>
                <a:r>
                  <a:rPr lang="en-US" dirty="0"/>
                  <a:t>For a channel with </a:t>
                </a:r>
                <a:r>
                  <a:rPr lang="en-US" b="1" dirty="0"/>
                  <a:t>bandwidth</a:t>
                </a:r>
                <a:r>
                  <a:rPr lang="en-US" dirty="0"/>
                  <a:t> </a:t>
                </a:r>
                <a:r>
                  <a:rPr lang="en-US" sz="1200" i="0" kern="1200">
                    <a:solidFill>
                      <a:schemeClr val="tx1"/>
                    </a:solidFill>
                    <a:latin typeface="+mn-lt"/>
                    <a:ea typeface="+mn-ea"/>
                    <a:cs typeface="+mn-cs"/>
                  </a:rPr>
                  <a:t>𝐵</a:t>
                </a:r>
                <a:r>
                  <a:rPr lang="en-US" dirty="0"/>
                  <a:t>(in Hz) and a </a:t>
                </a:r>
                <a:r>
                  <a:rPr lang="en-US" b="1" dirty="0"/>
                  <a:t>signal-to-noise ratio</a:t>
                </a:r>
                <a:r>
                  <a:rPr lang="en-US" dirty="0"/>
                  <a:t> (SNR), the maximum achievable data rate (capacity) is:</a:t>
                </a:r>
              </a:p>
              <a:p>
                <a:r>
                  <a:rPr lang="en-US" sz="1200" i="0" kern="1200">
                    <a:solidFill>
                      <a:schemeClr val="tx1"/>
                    </a:solidFill>
                    <a:latin typeface="+mn-lt"/>
                    <a:ea typeface="+mn-ea"/>
                    <a:cs typeface="+mn-cs"/>
                  </a:rPr>
                  <a:t>𝐶=𝐵⋅</a:t>
                </a:r>
                <a:r>
                  <a:rPr lang="ar-AE" sz="1200" i="0" kern="1200">
                    <a:solidFill>
                      <a:schemeClr val="tx1"/>
                    </a:solidFill>
                    <a:latin typeface="+mn-lt"/>
                    <a:ea typeface="+mn-ea"/>
                    <a:cs typeface="+mn-cs"/>
                  </a:rPr>
                  <a:t>〖</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(1+𝑆/𝑁)  </a:t>
                </a:r>
                <a:r>
                  <a:rPr lang="en-US" sz="1200" b="0" i="0" kern="1200">
                    <a:solidFill>
                      <a:schemeClr val="tx1"/>
                    </a:solidFill>
                    <a:latin typeface="Cambria Math" panose="02040503050406030204" pitchFamily="18" charset="0"/>
                    <a:ea typeface="+mn-ea"/>
                    <a:cs typeface="+mn-cs"/>
                  </a:rPr>
                  <a:t>"bits per second</a:t>
                </a:r>
                <a:r>
                  <a:rPr lang="en-US" sz="1200" b="0" i="0" kern="1200">
                    <a:solidFill>
                      <a:schemeClr val="tx1"/>
                    </a:solidFill>
                    <a:latin typeface="+mn-lt"/>
                    <a:ea typeface="+mn-ea"/>
                    <a:cs typeface="+mn-cs"/>
                  </a:rPr>
                  <a:t>"</a:t>
                </a:r>
                <a:endParaRPr lang="en-US" b="0" dirty="0"/>
              </a:p>
              <a:p>
                <a:r>
                  <a:rPr lang="en-US" dirty="0"/>
                  <a:t>Where:</a:t>
                </a:r>
              </a:p>
              <a:p>
                <a:r>
                  <a:rPr lang="en-US" sz="1200" i="0" kern="1200">
                    <a:solidFill>
                      <a:schemeClr val="tx1"/>
                    </a:solidFill>
                    <a:latin typeface="+mn-lt"/>
                    <a:ea typeface="+mn-ea"/>
                    <a:cs typeface="+mn-cs"/>
                  </a:rPr>
                  <a:t>𝐶</a:t>
                </a:r>
                <a:r>
                  <a:rPr lang="en-US" dirty="0"/>
                  <a:t>= channel capacity (bits/s)</a:t>
                </a:r>
              </a:p>
              <a:p>
                <a:r>
                  <a:rPr lang="en-US" sz="1200" i="0" kern="1200">
                    <a:solidFill>
                      <a:schemeClr val="tx1"/>
                    </a:solidFill>
                    <a:latin typeface="+mn-lt"/>
                    <a:ea typeface="+mn-ea"/>
                    <a:cs typeface="+mn-cs"/>
                  </a:rPr>
                  <a:t>𝐵</a:t>
                </a:r>
                <a:r>
                  <a:rPr lang="en-US" dirty="0"/>
                  <a:t>= channel bandwidth (Hz)</a:t>
                </a:r>
              </a:p>
              <a:p>
                <a:r>
                  <a:rPr lang="en-US" sz="1200" i="0" kern="1200">
                    <a:solidFill>
                      <a:schemeClr val="tx1"/>
                    </a:solidFill>
                    <a:latin typeface="+mn-lt"/>
                    <a:ea typeface="+mn-ea"/>
                    <a:cs typeface="+mn-cs"/>
                  </a:rPr>
                  <a:t>𝑆/𝑁</a:t>
                </a:r>
                <a:r>
                  <a:rPr lang="en-US" dirty="0"/>
                  <a:t>= signal-to-noise ratio (linear, not in dB)</a:t>
                </a:r>
              </a:p>
              <a:p>
                <a:endParaRPr lang="en-US" dirty="0"/>
              </a:p>
              <a:p>
                <a:r>
                  <a:rPr lang="en-US" b="1" dirty="0"/>
                  <a:t>What It Means</a:t>
                </a:r>
              </a:p>
              <a:p>
                <a:r>
                  <a:rPr lang="en-US" dirty="0"/>
                  <a:t>If you try to transmit </a:t>
                </a:r>
                <a:r>
                  <a:rPr lang="en-US" b="1" dirty="0"/>
                  <a:t>faster than </a:t>
                </a:r>
                <a:r>
                  <a:rPr lang="en-US" sz="1200" i="0" kern="1200">
                    <a:solidFill>
                      <a:schemeClr val="tx1"/>
                    </a:solidFill>
                    <a:latin typeface="+mn-lt"/>
                    <a:ea typeface="+mn-ea"/>
                    <a:cs typeface="+mn-cs"/>
                  </a:rPr>
                  <a:t>𝐶</a:t>
                </a:r>
                <a:r>
                  <a:rPr lang="en-US" dirty="0"/>
                  <a:t>, errors will inevitably overwhelm you—no coding scheme can prevent it.</a:t>
                </a:r>
              </a:p>
              <a:p>
                <a:r>
                  <a:rPr lang="en-US" dirty="0"/>
                  <a:t>If you transmit </a:t>
                </a:r>
                <a:r>
                  <a:rPr lang="en-US" b="1" dirty="0"/>
                  <a:t>at or below </a:t>
                </a:r>
                <a:r>
                  <a:rPr lang="en-US" sz="1200" i="0" kern="1200">
                    <a:solidFill>
                      <a:schemeClr val="tx1"/>
                    </a:solidFill>
                    <a:latin typeface="+mn-lt"/>
                    <a:ea typeface="+mn-ea"/>
                    <a:cs typeface="+mn-cs"/>
                  </a:rPr>
                  <a:t>𝐶</a:t>
                </a:r>
                <a:r>
                  <a:rPr lang="en-US" dirty="0"/>
                  <a:t>, in theory, there exist clever coding methods that can get arbitrarily close to error-free communication.</a:t>
                </a:r>
              </a:p>
              <a:p>
                <a:r>
                  <a:rPr lang="en-US" dirty="0"/>
                  <a:t>This sets an </a:t>
                </a:r>
                <a:r>
                  <a:rPr lang="en-US" b="1" dirty="0"/>
                  <a:t>absolute physical limit</a:t>
                </a:r>
                <a:r>
                  <a:rPr lang="en-US" dirty="0"/>
                  <a:t>, dictated by noise and bandwidth.</a:t>
                </a:r>
              </a:p>
              <a:p>
                <a:endParaRPr lang="en-US" dirty="0"/>
              </a:p>
              <a:p>
                <a:r>
                  <a:rPr lang="en-US" b="1" dirty="0"/>
                  <a:t>Connection to Noise</a:t>
                </a:r>
              </a:p>
              <a:p>
                <a:r>
                  <a:rPr lang="en-US" dirty="0"/>
                  <a:t>Noise (thermal noise, interference, etc.) is what caps the information capacity.</a:t>
                </a:r>
              </a:p>
              <a:p>
                <a:r>
                  <a:rPr lang="en-US" dirty="0"/>
                  <a:t>With </a:t>
                </a:r>
                <a:r>
                  <a:rPr lang="en-US" b="1" dirty="0"/>
                  <a:t>more bandwidth</a:t>
                </a:r>
                <a:r>
                  <a:rPr lang="en-US" dirty="0"/>
                  <a:t>, you can pack more symbols per second.</a:t>
                </a:r>
              </a:p>
              <a:p>
                <a:r>
                  <a:rPr lang="en-US" dirty="0"/>
                  <a:t>With </a:t>
                </a:r>
                <a:r>
                  <a:rPr lang="en-US" b="1" dirty="0"/>
                  <a:t>higher SNR</a:t>
                </a:r>
                <a:r>
                  <a:rPr lang="en-US" dirty="0"/>
                  <a:t>, you can distinguish more reliably between symbols.</a:t>
                </a:r>
              </a:p>
              <a:p>
                <a:r>
                  <a:rPr lang="en-US" dirty="0"/>
                  <a:t>With </a:t>
                </a:r>
                <a:r>
                  <a:rPr lang="en-US" b="1" dirty="0"/>
                  <a:t>low SNR</a:t>
                </a:r>
                <a:r>
                  <a:rPr lang="en-US" dirty="0"/>
                  <a:t>, capacity shrinks—at very low SNR, the system becomes noise-limited.</a:t>
                </a:r>
              </a:p>
              <a:p>
                <a:endParaRPr lang="en-US" dirty="0"/>
              </a:p>
              <a:p>
                <a:r>
                  <a:rPr lang="en-US" b="1" dirty="0"/>
                  <a:t>Example</a:t>
                </a:r>
              </a:p>
              <a:p>
                <a:r>
                  <a:rPr lang="en-US" dirty="0"/>
                  <a:t>Suppose you have:</a:t>
                </a:r>
              </a:p>
              <a:p>
                <a:r>
                  <a:rPr lang="en-US" dirty="0"/>
                  <a:t>Bandwidth </a:t>
                </a:r>
                <a:r>
                  <a:rPr lang="en-US" sz="1200" i="0" kern="1200">
                    <a:solidFill>
                      <a:schemeClr val="tx1"/>
                    </a:solidFill>
                    <a:latin typeface="+mn-lt"/>
                    <a:ea typeface="+mn-ea"/>
                    <a:cs typeface="+mn-cs"/>
                  </a:rPr>
                  <a:t>𝐵=1</a:t>
                </a:r>
                <a:r>
                  <a:rPr lang="en-US" sz="1200" b="0" i="0" kern="1200">
                    <a:solidFill>
                      <a:schemeClr val="tx1"/>
                    </a:solidFill>
                    <a:latin typeface="Cambria Math" panose="02040503050406030204" pitchFamily="18" charset="0"/>
                    <a:ea typeface="+mn-ea"/>
                    <a:cs typeface="+mn-cs"/>
                  </a:rPr>
                  <a:t>" MHz</a:t>
                </a:r>
                <a:r>
                  <a:rPr lang="en-US" sz="1200" b="0" i="0" kern="1200">
                    <a:solidFill>
                      <a:schemeClr val="tx1"/>
                    </a:solidFill>
                    <a:latin typeface="+mn-lt"/>
                    <a:ea typeface="+mn-ea"/>
                    <a:cs typeface="+mn-cs"/>
                  </a:rPr>
                  <a:t>"</a:t>
                </a:r>
                <a:endParaRPr lang="en-US" dirty="0"/>
              </a:p>
              <a:p>
                <a:r>
                  <a:rPr lang="en-US" dirty="0"/>
                  <a:t>SNR = 10 (10:1 linear = 10 dB)</a:t>
                </a:r>
              </a:p>
              <a:p>
                <a:r>
                  <a:rPr lang="en-US" sz="1200" i="0" kern="1200">
                    <a:solidFill>
                      <a:schemeClr val="tx1"/>
                    </a:solidFill>
                    <a:latin typeface="+mn-lt"/>
                    <a:ea typeface="+mn-ea"/>
                    <a:cs typeface="+mn-cs"/>
                  </a:rPr>
                  <a:t>𝐶=1×</a:t>
                </a:r>
                <a:r>
                  <a:rPr lang="ar-AE" sz="1200" i="0" kern="1200">
                    <a:solidFill>
                      <a:schemeClr val="tx1"/>
                    </a:solidFill>
                    <a:latin typeface="+mn-lt"/>
                    <a:ea typeface="+mn-ea"/>
                    <a:cs typeface="+mn-cs"/>
                  </a:rPr>
                  <a:t>10^6⋅〖</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(1+10)≈3.46</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Mbps</a:t>
                </a:r>
                <a:r>
                  <a:rPr lang="en-US" sz="1200" b="0" i="0" kern="1200">
                    <a:solidFill>
                      <a:schemeClr val="tx1"/>
                    </a:solidFill>
                    <a:latin typeface="+mn-lt"/>
                    <a:ea typeface="+mn-ea"/>
                    <a:cs typeface="+mn-cs"/>
                  </a:rPr>
                  <a:t>"</a:t>
                </a:r>
                <a:endParaRPr lang="en-US" b="0" dirty="0"/>
              </a:p>
              <a:p>
                <a:r>
                  <a:rPr lang="en-US" dirty="0"/>
                  <a:t>So no matter what modulation/coding you invent, you can’t exceed ~3.46 Mbps on that channel.</a:t>
                </a:r>
              </a:p>
              <a:p>
                <a:endParaRPr lang="en-US" dirty="0"/>
              </a:p>
              <a:p>
                <a:r>
                  <a:rPr lang="en-US" b="1" dirty="0"/>
                  <a:t>In short:</a:t>
                </a:r>
                <a:br>
                  <a:rPr lang="en-US" dirty="0"/>
                </a:br>
                <a:r>
                  <a:rPr lang="en-US" dirty="0"/>
                  <a:t>The Shannon limit defines the </a:t>
                </a:r>
                <a:r>
                  <a:rPr lang="en-US" b="1" dirty="0"/>
                  <a:t>maximum achievable information rate</a:t>
                </a:r>
                <a:r>
                  <a:rPr lang="en-US" dirty="0"/>
                  <a:t> over a noisy channel, given its bandwidth and SNR. It’s the ultimate yardstick for communications performance—every real-world system is measured against it.</a:t>
                </a:r>
              </a:p>
              <a:p>
                <a:br>
                  <a:rPr lang="en-US" dirty="0"/>
                </a:br>
                <a:endParaRPr lang="en-US" dirty="0"/>
              </a:p>
              <a:p>
                <a:endParaRPr lang="en-US" dirty="0"/>
              </a:p>
              <a:p>
                <a:r>
                  <a:rPr lang="en-US" dirty="0"/>
                  <a:t>GPS is a </a:t>
                </a:r>
                <a:r>
                  <a:rPr lang="en-US" b="1" dirty="0"/>
                  <a:t>perfect real-world example</a:t>
                </a:r>
                <a:r>
                  <a:rPr lang="en-US" dirty="0"/>
                  <a:t> of the Shannon limit in action, because GPS signals are </a:t>
                </a:r>
                <a:r>
                  <a:rPr lang="en-US" i="1" dirty="0"/>
                  <a:t>incredibly weak</a:t>
                </a:r>
                <a:r>
                  <a:rPr lang="en-US" dirty="0"/>
                  <a:t> when they reach Earth, often </a:t>
                </a:r>
                <a:r>
                  <a:rPr lang="en-US" b="1" dirty="0"/>
                  <a:t>below the noise floor</a:t>
                </a:r>
                <a:r>
                  <a:rPr lang="en-US" dirty="0"/>
                  <a:t>. Let’s walk through it step by step.</a:t>
                </a:r>
              </a:p>
              <a:p>
                <a:endParaRPr lang="en-US" dirty="0"/>
              </a:p>
              <a:p>
                <a:r>
                  <a:rPr lang="en-US" b="1" dirty="0"/>
                  <a:t>1. GPS Signal at the Receiver</a:t>
                </a:r>
              </a:p>
              <a:p>
                <a:r>
                  <a:rPr lang="en-US" dirty="0"/>
                  <a:t>GPS satellites transmit around </a:t>
                </a:r>
                <a:r>
                  <a:rPr lang="en-US" b="1" dirty="0"/>
                  <a:t>20–30 W</a:t>
                </a:r>
                <a:r>
                  <a:rPr lang="en-US" dirty="0"/>
                  <a:t> at L-band (e.g., 1575.42 MHz for L1).</a:t>
                </a:r>
              </a:p>
              <a:p>
                <a:r>
                  <a:rPr lang="en-US" dirty="0"/>
                  <a:t>By the time the signal arrives at Earth, it has spread over ~20,000 km of free-space path loss.</a:t>
                </a:r>
              </a:p>
              <a:p>
                <a:r>
                  <a:rPr lang="en-US" dirty="0"/>
                  <a:t>The received signal power is only about:</a:t>
                </a:r>
              </a:p>
              <a:p>
                <a:r>
                  <a:rPr lang="ar-AE" sz="1200" i="0" kern="1200">
                    <a:solidFill>
                      <a:schemeClr val="tx1"/>
                    </a:solidFill>
                    <a:latin typeface="+mn-lt"/>
                    <a:ea typeface="+mn-ea"/>
                    <a:cs typeface="+mn-cs"/>
                  </a:rPr>
                  <a:t>𝑃_𝑟𝑥≈−160</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dBW</a:t>
                </a:r>
                <a:r>
                  <a:rPr lang="en-US" sz="1200" b="0" i="0" kern="1200">
                    <a:solidFill>
                      <a:schemeClr val="tx1"/>
                    </a:solidFill>
                    <a:latin typeface="+mn-lt"/>
                    <a:ea typeface="+mn-ea"/>
                    <a:cs typeface="+mn-cs"/>
                  </a:rPr>
                  <a:t>"=−130</a:t>
                </a:r>
                <a:r>
                  <a:rPr lang="en-US" sz="1200" b="0" i="0" kern="1200">
                    <a:solidFill>
                      <a:schemeClr val="tx1"/>
                    </a:solidFill>
                    <a:latin typeface="Cambria Math" panose="02040503050406030204" pitchFamily="18" charset="0"/>
                    <a:ea typeface="+mn-ea"/>
                    <a:cs typeface="+mn-cs"/>
                  </a:rPr>
                  <a:t>" dBm</a:t>
                </a:r>
                <a:r>
                  <a:rPr lang="en-US" sz="1200" b="0" i="0" kern="1200">
                    <a:solidFill>
                      <a:schemeClr val="tx1"/>
                    </a:solidFill>
                    <a:latin typeface="+mn-lt"/>
                    <a:ea typeface="+mn-ea"/>
                    <a:cs typeface="+mn-cs"/>
                  </a:rPr>
                  <a:t>"</a:t>
                </a:r>
                <a:endParaRPr lang="en-US" b="0" dirty="0"/>
              </a:p>
              <a:p>
                <a:r>
                  <a:rPr lang="en-US" dirty="0"/>
                  <a:t>which is </a:t>
                </a:r>
                <a:r>
                  <a:rPr lang="en-US" b="1" dirty="0"/>
                  <a:t>far weaker than thermal noise</a:t>
                </a:r>
                <a:r>
                  <a:rPr lang="en-US" dirty="0"/>
                  <a:t> in the receiver.</a:t>
                </a:r>
                <a:br>
                  <a:rPr lang="en-US" dirty="0"/>
                </a:br>
                <a:endParaRPr lang="en-US" dirty="0"/>
              </a:p>
              <a:p>
                <a:r>
                  <a:rPr lang="en-US" b="1" dirty="0"/>
                  <a:t>2. Noise Power in GPS Bandwidth</a:t>
                </a:r>
              </a:p>
              <a:p>
                <a:r>
                  <a:rPr lang="en-US" dirty="0"/>
                  <a:t>Thermal noise density is:</a:t>
                </a:r>
              </a:p>
              <a:p>
                <a:r>
                  <a:rPr lang="ar-AE" sz="1200" i="0" kern="1200">
                    <a:solidFill>
                      <a:schemeClr val="tx1"/>
                    </a:solidFill>
                    <a:latin typeface="+mn-lt"/>
                    <a:ea typeface="+mn-ea"/>
                    <a:cs typeface="+mn-cs"/>
                  </a:rPr>
                  <a:t>𝑁_0=−174</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dBm/Hz</a:t>
                </a:r>
                <a:r>
                  <a:rPr lang="en-US" sz="1200" b="0" i="0" kern="1200">
                    <a:solidFill>
                      <a:schemeClr val="tx1"/>
                    </a:solidFill>
                    <a:latin typeface="+mn-lt"/>
                    <a:ea typeface="+mn-ea"/>
                    <a:cs typeface="+mn-cs"/>
                  </a:rPr>
                  <a:t>"</a:t>
                </a:r>
                <a:endParaRPr lang="en-US" b="0" dirty="0"/>
              </a:p>
              <a:p>
                <a:r>
                  <a:rPr lang="en-US" dirty="0"/>
                  <a:t>For GPS L1 C/A:</a:t>
                </a:r>
              </a:p>
              <a:p>
                <a:r>
                  <a:rPr lang="en-US" dirty="0"/>
                  <a:t>Bandwidth ≈ 2 MHz</a:t>
                </a:r>
              </a:p>
              <a:p>
                <a:r>
                  <a:rPr lang="en-US" sz="1200" i="0" kern="1200">
                    <a:solidFill>
                      <a:schemeClr val="tx1"/>
                    </a:solidFill>
                    <a:latin typeface="+mn-lt"/>
                    <a:ea typeface="+mn-ea"/>
                    <a:cs typeface="+mn-cs"/>
                  </a:rPr>
                  <a:t>𝑁=</a:t>
                </a:r>
                <a:r>
                  <a:rPr lang="ar-AE" sz="1200" i="0" kern="1200">
                    <a:solidFill>
                      <a:schemeClr val="tx1"/>
                    </a:solidFill>
                    <a:latin typeface="+mn-lt"/>
                    <a:ea typeface="+mn-ea"/>
                    <a:cs typeface="+mn-cs"/>
                  </a:rPr>
                  <a:t>𝑁_0+10〖</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〗_10 (𝐵)=−174</a:t>
                </a:r>
                <a:r>
                  <a:rPr lang="ar-AE"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mn-lt"/>
                    <a:ea typeface="+mn-ea"/>
                    <a:cs typeface="+mn-cs"/>
                  </a:rPr>
                  <a:t>"+</a:t>
                </a:r>
                <a:r>
                  <a:rPr lang="ar-AE" sz="1200" b="0" i="0" kern="1200">
                    <a:solidFill>
                      <a:schemeClr val="tx1"/>
                    </a:solidFill>
                    <a:latin typeface="Cambria Math" panose="02040503050406030204" pitchFamily="18" charset="0"/>
                    <a:ea typeface="+mn-ea"/>
                    <a:cs typeface="+mn-cs"/>
                  </a:rPr>
                  <a:t>" </a:t>
                </a:r>
                <a:r>
                  <a:rPr lang="ar-AE" sz="1200" b="0" i="0" kern="1200">
                    <a:solidFill>
                      <a:schemeClr val="tx1"/>
                    </a:solidFill>
                    <a:latin typeface="+mn-lt"/>
                    <a:ea typeface="+mn-ea"/>
                    <a:cs typeface="+mn-cs"/>
                  </a:rPr>
                  <a:t>" 10〖</a:t>
                </a:r>
                <a:r>
                  <a:rPr lang="en-US" sz="1200" b="0" i="0" kern="1200">
                    <a:solidFill>
                      <a:schemeClr val="tx1"/>
                    </a:solidFill>
                    <a:latin typeface="+mn-lt"/>
                    <a:ea typeface="+mn-ea"/>
                    <a:cs typeface="+mn-cs"/>
                  </a:rPr>
                  <a:t>log</a:t>
                </a:r>
                <a:r>
                  <a:rPr lang="ar-AE" sz="1200" b="0" i="0" kern="1200">
                    <a:solidFill>
                      <a:schemeClr val="tx1"/>
                    </a:solidFill>
                    <a:latin typeface="+mn-lt"/>
                    <a:ea typeface="+mn-ea"/>
                    <a:cs typeface="+mn-cs"/>
                  </a:rPr>
                  <a:t>⁡ 〗_10 (2×10^6 )</a:t>
                </a:r>
                <a:endParaRPr lang="ar-AE" b="0" dirty="0"/>
              </a:p>
              <a:p>
                <a:r>
                  <a:rPr lang="ar-AE" sz="1200" i="0" kern="1200">
                    <a:solidFill>
                      <a:schemeClr val="tx1"/>
                    </a:solidFill>
                    <a:latin typeface="+mn-lt"/>
                    <a:ea typeface="+mn-ea"/>
                    <a:cs typeface="+mn-cs"/>
                  </a:rPr>
                  <a:t>𝑁≈−174+63=−111</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dBm</a:t>
                </a:r>
                <a:r>
                  <a:rPr lang="en-US" sz="1200" b="0" i="0" kern="1200">
                    <a:solidFill>
                      <a:schemeClr val="tx1"/>
                    </a:solidFill>
                    <a:latin typeface="+mn-lt"/>
                    <a:ea typeface="+mn-ea"/>
                    <a:cs typeface="+mn-cs"/>
                  </a:rPr>
                  <a:t>"</a:t>
                </a:r>
                <a:endParaRPr lang="en-US" b="0" dirty="0"/>
              </a:p>
              <a:p>
                <a:r>
                  <a:rPr lang="en-US" dirty="0"/>
                  <a:t>So the </a:t>
                </a:r>
                <a:r>
                  <a:rPr lang="en-US" b="1" dirty="0"/>
                  <a:t>signal-to-noise ratio</a:t>
                </a:r>
                <a:r>
                  <a:rPr lang="en-US" dirty="0"/>
                  <a:t> in that bandwidth is:</a:t>
                </a:r>
              </a:p>
              <a:p>
                <a:r>
                  <a:rPr lang="en-US" sz="1200" i="0" kern="1200">
                    <a:solidFill>
                      <a:schemeClr val="tx1"/>
                    </a:solidFill>
                    <a:latin typeface="+mn-lt"/>
                    <a:ea typeface="+mn-ea"/>
                    <a:cs typeface="+mn-cs"/>
                  </a:rPr>
                  <a:t>𝑆𝑁𝑅=−130−</a:t>
                </a:r>
                <a:r>
                  <a:rPr lang="ar-AE" sz="1200" i="0" kern="1200">
                    <a:solidFill>
                      <a:schemeClr val="tx1"/>
                    </a:solidFill>
                    <a:latin typeface="+mn-lt"/>
                    <a:ea typeface="+mn-ea"/>
                    <a:cs typeface="+mn-cs"/>
                  </a:rPr>
                  <a:t>(−111)=−19</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a:t>
                </a:r>
                <a:r>
                  <a:rPr lang="en-US" sz="1200" b="0" i="0" kern="1200">
                    <a:solidFill>
                      <a:schemeClr val="tx1"/>
                    </a:solidFill>
                    <a:latin typeface="+mn-lt"/>
                    <a:ea typeface="+mn-ea"/>
                    <a:cs typeface="+mn-cs"/>
                  </a:rPr>
                  <a:t>"</a:t>
                </a:r>
                <a:endParaRPr lang="en-US" b="0" dirty="0"/>
              </a:p>
              <a:p>
                <a:r>
                  <a:rPr lang="en-US" dirty="0"/>
                  <a:t>That means the GPS signal is </a:t>
                </a:r>
                <a:r>
                  <a:rPr lang="en-US" b="1" dirty="0"/>
                  <a:t>~80× weaker than the noise power</a:t>
                </a:r>
                <a:r>
                  <a:rPr lang="en-US" dirty="0"/>
                  <a:t>!</a:t>
                </a:r>
              </a:p>
              <a:p>
                <a:endParaRPr lang="en-US" dirty="0"/>
              </a:p>
              <a:p>
                <a:r>
                  <a:rPr lang="en-US" b="1" dirty="0"/>
                  <a:t>3. Shannon Capacity</a:t>
                </a:r>
              </a:p>
              <a:p>
                <a:r>
                  <a:rPr lang="en-US" dirty="0"/>
                  <a:t>The Shannon–Hartley theorem:</a:t>
                </a:r>
              </a:p>
              <a:p>
                <a:r>
                  <a:rPr lang="en-US" sz="1200" i="0" kern="1200">
                    <a:solidFill>
                      <a:schemeClr val="tx1"/>
                    </a:solidFill>
                    <a:latin typeface="+mn-lt"/>
                    <a:ea typeface="+mn-ea"/>
                    <a:cs typeface="+mn-cs"/>
                  </a:rPr>
                  <a:t>𝐶=𝐵⋅</a:t>
                </a:r>
                <a:r>
                  <a:rPr lang="ar-AE" sz="1200" i="0" kern="1200">
                    <a:solidFill>
                      <a:schemeClr val="tx1"/>
                    </a:solidFill>
                    <a:latin typeface="+mn-lt"/>
                    <a:ea typeface="+mn-ea"/>
                    <a:cs typeface="+mn-cs"/>
                  </a:rPr>
                  <a:t>〖</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(1+𝑆/𝑁)</a:t>
                </a:r>
                <a:endParaRPr lang="ar-AE" dirty="0"/>
              </a:p>
              <a:p>
                <a:r>
                  <a:rPr lang="en-US" dirty="0"/>
                  <a:t>In linear terms:</a:t>
                </a:r>
              </a:p>
              <a:p>
                <a:r>
                  <a:rPr lang="en-US" sz="1200" i="0" kern="1200">
                    <a:solidFill>
                      <a:schemeClr val="tx1"/>
                    </a:solidFill>
                    <a:latin typeface="+mn-lt"/>
                    <a:ea typeface="+mn-ea"/>
                    <a:cs typeface="+mn-cs"/>
                  </a:rPr>
                  <a:t>𝑆/𝑁=</a:t>
                </a:r>
                <a:r>
                  <a:rPr lang="ar-AE" sz="1200" i="0" kern="1200">
                    <a:solidFill>
                      <a:schemeClr val="tx1"/>
                    </a:solidFill>
                    <a:latin typeface="+mn-lt"/>
                    <a:ea typeface="+mn-ea"/>
                    <a:cs typeface="+mn-cs"/>
                  </a:rPr>
                  <a:t>10^((−19)/10)≈0.0126</a:t>
                </a:r>
                <a:endParaRPr lang="ar-AE" dirty="0"/>
              </a:p>
              <a:p>
                <a:r>
                  <a:rPr lang="en-US" dirty="0"/>
                  <a:t>Bandwidth </a:t>
                </a:r>
                <a:r>
                  <a:rPr lang="en-US" sz="1200" i="0" kern="1200">
                    <a:solidFill>
                      <a:schemeClr val="tx1"/>
                    </a:solidFill>
                    <a:latin typeface="+mn-lt"/>
                    <a:ea typeface="+mn-ea"/>
                    <a:cs typeface="+mn-cs"/>
                  </a:rPr>
                  <a:t>𝐵=2×</a:t>
                </a:r>
                <a:r>
                  <a:rPr lang="ar-AE" sz="1200" i="0" kern="1200">
                    <a:solidFill>
                      <a:schemeClr val="tx1"/>
                    </a:solidFill>
                    <a:latin typeface="+mn-lt"/>
                    <a:ea typeface="+mn-ea"/>
                    <a:cs typeface="+mn-cs"/>
                  </a:rPr>
                  <a:t>10^6</a:t>
                </a:r>
                <a:r>
                  <a:rPr lang="ar-AE" sz="1200" b="0" i="0" kern="1200">
                    <a:solidFill>
                      <a:schemeClr val="tx1"/>
                    </a:solidFill>
                    <a:latin typeface="+mn-lt"/>
                    <a:ea typeface="+mn-ea"/>
                    <a:cs typeface="+mn-cs"/>
                  </a:rPr>
                  <a:t> </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Hz</a:t>
                </a:r>
                <a:r>
                  <a:rPr lang="en-US" sz="1200" b="0" i="0" kern="1200">
                    <a:solidFill>
                      <a:schemeClr val="tx1"/>
                    </a:solidFill>
                    <a:latin typeface="+mn-lt"/>
                    <a:ea typeface="+mn-ea"/>
                    <a:cs typeface="+mn-cs"/>
                  </a:rPr>
                  <a:t>"</a:t>
                </a:r>
                <a:endParaRPr lang="en-US" dirty="0"/>
              </a:p>
              <a:p>
                <a:r>
                  <a:rPr lang="en-US" sz="1200" i="0" kern="1200">
                    <a:solidFill>
                      <a:schemeClr val="tx1"/>
                    </a:solidFill>
                    <a:latin typeface="+mn-lt"/>
                    <a:ea typeface="+mn-ea"/>
                    <a:cs typeface="+mn-cs"/>
                  </a:rPr>
                  <a:t>𝐶=2×</a:t>
                </a:r>
                <a:r>
                  <a:rPr lang="ar-AE" sz="1200" i="0" kern="1200">
                    <a:solidFill>
                      <a:schemeClr val="tx1"/>
                    </a:solidFill>
                    <a:latin typeface="+mn-lt"/>
                    <a:ea typeface="+mn-ea"/>
                    <a:cs typeface="+mn-cs"/>
                  </a:rPr>
                  <a:t>10^6⋅〖</a:t>
                </a:r>
                <a:r>
                  <a:rPr lang="en-US" sz="1200" i="0" kern="1200">
                    <a:solidFill>
                      <a:schemeClr val="tx1"/>
                    </a:solidFill>
                    <a:latin typeface="+mn-lt"/>
                    <a:ea typeface="+mn-ea"/>
                    <a:cs typeface="+mn-cs"/>
                  </a:rPr>
                  <a:t>log</a:t>
                </a:r>
                <a:r>
                  <a:rPr lang="ar-AE" sz="1200" i="0" kern="1200">
                    <a:solidFill>
                      <a:schemeClr val="tx1"/>
                    </a:solidFill>
                    <a:latin typeface="+mn-lt"/>
                    <a:ea typeface="+mn-ea"/>
                    <a:cs typeface="+mn-cs"/>
                  </a:rPr>
                  <a:t>⁡ 〗_2 (1+0.0126)</a:t>
                </a:r>
                <a:endParaRPr lang="ar-AE" dirty="0"/>
              </a:p>
              <a:p>
                <a:r>
                  <a:rPr lang="ar-AE" sz="1200" i="0" kern="1200">
                    <a:solidFill>
                      <a:schemeClr val="tx1"/>
                    </a:solidFill>
                    <a:latin typeface="+mn-lt"/>
                    <a:ea typeface="+mn-ea"/>
                    <a:cs typeface="+mn-cs"/>
                  </a:rPr>
                  <a:t>𝐶≈2×10^6⋅0.0181=36</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kbps</a:t>
                </a:r>
                <a:r>
                  <a:rPr lang="en-US" sz="1200" b="0" i="0" kern="1200">
                    <a:solidFill>
                      <a:schemeClr val="tx1"/>
                    </a:solidFill>
                    <a:latin typeface="+mn-lt"/>
                    <a:ea typeface="+mn-ea"/>
                    <a:cs typeface="+mn-cs"/>
                  </a:rPr>
                  <a:t>"</a:t>
                </a:r>
                <a:endParaRPr lang="en-US" b="0" dirty="0"/>
              </a:p>
              <a:p>
                <a:r>
                  <a:rPr lang="en-US" dirty="0"/>
                  <a:t>So even though the GPS signal is </a:t>
                </a:r>
                <a:r>
                  <a:rPr lang="en-US" i="1" dirty="0"/>
                  <a:t>below the noise floor</a:t>
                </a:r>
                <a:r>
                  <a:rPr lang="en-US" dirty="0"/>
                  <a:t>, the Shannon limit still allows about </a:t>
                </a:r>
                <a:r>
                  <a:rPr lang="en-US" b="1" dirty="0"/>
                  <a:t>36 kbps</a:t>
                </a:r>
                <a:r>
                  <a:rPr lang="en-US" dirty="0"/>
                  <a:t> of capacity in that channel.</a:t>
                </a:r>
                <a:br>
                  <a:rPr lang="en-US" dirty="0"/>
                </a:br>
                <a:endParaRPr lang="en-US" dirty="0"/>
              </a:p>
              <a:p>
                <a:r>
                  <a:rPr lang="en-US" b="1" dirty="0"/>
                  <a:t>4. Reality of GPS</a:t>
                </a:r>
              </a:p>
              <a:p>
                <a:r>
                  <a:rPr lang="en-US" dirty="0"/>
                  <a:t>The </a:t>
                </a:r>
                <a:r>
                  <a:rPr lang="en-US" b="1" dirty="0"/>
                  <a:t>GPS C/A code data rate</a:t>
                </a:r>
                <a:r>
                  <a:rPr lang="en-US" dirty="0"/>
                  <a:t> is only </a:t>
                </a:r>
                <a:r>
                  <a:rPr lang="en-US" b="1" dirty="0"/>
                  <a:t>50 bps</a:t>
                </a:r>
                <a:r>
                  <a:rPr lang="en-US" dirty="0"/>
                  <a:t> (yes, just 50 bits per second).</a:t>
                </a:r>
              </a:p>
              <a:p>
                <a:r>
                  <a:rPr lang="en-US" dirty="0"/>
                  <a:t>That’s </a:t>
                </a:r>
                <a:r>
                  <a:rPr lang="en-US" b="1" dirty="0"/>
                  <a:t>orders of magnitude below</a:t>
                </a:r>
                <a:r>
                  <a:rPr lang="en-US" dirty="0"/>
                  <a:t> the Shannon capacity (36 kbps).</a:t>
                </a:r>
              </a:p>
              <a:p>
                <a:r>
                  <a:rPr lang="en-US" dirty="0"/>
                  <a:t>Why so low? Because GPS needs extremely robust reception with minimal errors, even in urban canyons or with cheap receivers.</a:t>
                </a:r>
              </a:p>
              <a:p>
                <a:r>
                  <a:rPr lang="en-US" dirty="0"/>
                  <a:t>GPS uses </a:t>
                </a:r>
                <a:r>
                  <a:rPr lang="en-US" b="1" dirty="0"/>
                  <a:t>spread-spectrum (CDMA)</a:t>
                </a:r>
                <a:r>
                  <a:rPr lang="en-US" dirty="0"/>
                  <a:t>:</a:t>
                </a:r>
              </a:p>
              <a:p>
                <a:r>
                  <a:rPr lang="en-US" dirty="0"/>
                  <a:t>The C/A code spreads 50 bps data over a 1.023 MHz pseudorandom code.</a:t>
                </a:r>
              </a:p>
              <a:p>
                <a:r>
                  <a:rPr lang="en-US" dirty="0"/>
                  <a:t>This allows the receiver to use </a:t>
                </a:r>
                <a:r>
                  <a:rPr lang="en-US" b="1" dirty="0"/>
                  <a:t>correlation processing gain</a:t>
                </a:r>
                <a:r>
                  <a:rPr lang="en-US" dirty="0"/>
                  <a:t> to pull the signal out of the noise.</a:t>
                </a:r>
              </a:p>
              <a:p>
                <a:r>
                  <a:rPr lang="en-US" dirty="0"/>
                  <a:t>In effect, the system exploits Shannon’s limit by trading bandwidth for processing gain.</a:t>
                </a:r>
                <a:br>
                  <a:rPr lang="en-US" dirty="0"/>
                </a:br>
                <a:endParaRPr lang="en-US" dirty="0"/>
              </a:p>
              <a:p>
                <a:r>
                  <a:rPr lang="en-US" b="1" dirty="0"/>
                  <a:t>✅ Key Insight</a:t>
                </a:r>
              </a:p>
              <a:p>
                <a:r>
                  <a:rPr lang="en-US" b="1" dirty="0"/>
                  <a:t>Shannon says</a:t>
                </a:r>
                <a:r>
                  <a:rPr lang="en-US" dirty="0"/>
                  <a:t>: even at –19 dB SNR, you can theoretically get ~36 kbps through the channel.</a:t>
                </a:r>
              </a:p>
              <a:p>
                <a:r>
                  <a:rPr lang="en-US" b="1" dirty="0"/>
                  <a:t>GPS designers</a:t>
                </a:r>
                <a:r>
                  <a:rPr lang="en-US" dirty="0"/>
                  <a:t> chose </a:t>
                </a:r>
                <a:r>
                  <a:rPr lang="en-US" b="1" dirty="0"/>
                  <a:t>50 bps</a:t>
                </a:r>
                <a:r>
                  <a:rPr lang="en-US" dirty="0"/>
                  <a:t>, giving a huge margin for robustness, synchronization, and global availability.</a:t>
                </a:r>
              </a:p>
              <a:p>
                <a:r>
                  <a:rPr lang="en-US" dirty="0"/>
                  <a:t>This is why your phone can lock onto GPS even though the signal looks like “noise” on a spectrum analyzer.</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33</a:t>
            </a:fld>
            <a:endParaRPr lang="en-US"/>
          </a:p>
        </p:txBody>
      </p:sp>
    </p:spTree>
    <p:extLst>
      <p:ext uri="{BB962C8B-B14F-4D97-AF65-F5344CB8AC3E}">
        <p14:creationId xmlns:p14="http://schemas.microsoft.com/office/powerpoint/2010/main" val="1012470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2/4/2026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2/4/2026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2/4/2026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2/4/2026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2/4/2026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2/4/2026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2/4/2026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2/4/2026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2/4/2026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2/4/2026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2/4/2026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2/4/2026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bookstore.gpo.gov/products/united-states-frequency-allocations-radio-spectrum-poster"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em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28.xml.rels><?xml version="1.0" encoding="UTF-8" standalone="yes"?>
<Relationships xmlns="http://schemas.openxmlformats.org/package/2006/relationships"><Relationship Id="rId3" Type="http://schemas.openxmlformats.org/officeDocument/2006/relationships/image" Target="../media/image4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0.png"/><Relationship Id="rId7"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3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420.png"/><Relationship Id="rId7" Type="http://schemas.openxmlformats.org/officeDocument/2006/relationships/image" Target="../media/image54.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31.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420.png"/><Relationship Id="rId7"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Lesson 8</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Communication Subsystem</a:t>
            </a:r>
            <a:endParaRPr lang="en-US" b="1" dirty="0"/>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E022-496B-45E9-EE47-B3946C01E892}"/>
              </a:ext>
            </a:extLst>
          </p:cNvPr>
          <p:cNvSpPr>
            <a:spLocks noGrp="1"/>
          </p:cNvSpPr>
          <p:nvPr>
            <p:ph type="title"/>
          </p:nvPr>
        </p:nvSpPr>
        <p:spPr/>
        <p:txBody>
          <a:bodyPr/>
          <a:lstStyle/>
          <a:p>
            <a:r>
              <a:rPr lang="en-US" dirty="0"/>
              <a:t>What satellite is this?</a:t>
            </a:r>
          </a:p>
        </p:txBody>
      </p:sp>
      <p:sp>
        <p:nvSpPr>
          <p:cNvPr id="4" name="Slide Number Placeholder 3">
            <a:extLst>
              <a:ext uri="{FF2B5EF4-FFF2-40B4-BE49-F238E27FC236}">
                <a16:creationId xmlns:a16="http://schemas.microsoft.com/office/drawing/2014/main" id="{30863F05-AF6A-B250-F070-9BA32E83D1C9}"/>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2052" name="Picture 4">
            <a:extLst>
              <a:ext uri="{FF2B5EF4-FFF2-40B4-BE49-F238E27FC236}">
                <a16:creationId xmlns:a16="http://schemas.microsoft.com/office/drawing/2014/main" id="{0477D555-0D5A-9DB3-BF76-F36F6EE74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3711" y="1044691"/>
            <a:ext cx="7045225" cy="5602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35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87516-79A5-7220-914A-6E5F10496403}"/>
              </a:ext>
            </a:extLst>
          </p:cNvPr>
          <p:cNvSpPr>
            <a:spLocks noGrp="1"/>
          </p:cNvSpPr>
          <p:nvPr>
            <p:ph type="title"/>
          </p:nvPr>
        </p:nvSpPr>
        <p:spPr/>
        <p:txBody>
          <a:bodyPr/>
          <a:lstStyle/>
          <a:p>
            <a:r>
              <a:rPr lang="en-US" dirty="0"/>
              <a:t>Satellite Communication (Satcom)</a:t>
            </a:r>
          </a:p>
        </p:txBody>
      </p:sp>
      <p:sp>
        <p:nvSpPr>
          <p:cNvPr id="3" name="Content Placeholder 2">
            <a:extLst>
              <a:ext uri="{FF2B5EF4-FFF2-40B4-BE49-F238E27FC236}">
                <a16:creationId xmlns:a16="http://schemas.microsoft.com/office/drawing/2014/main" id="{4DDA77CF-9D61-6AA0-B7A8-A3BBF7C02854}"/>
              </a:ext>
            </a:extLst>
          </p:cNvPr>
          <p:cNvSpPr>
            <a:spLocks noGrp="1"/>
          </p:cNvSpPr>
          <p:nvPr>
            <p:ph idx="1"/>
          </p:nvPr>
        </p:nvSpPr>
        <p:spPr>
          <a:xfrm>
            <a:off x="200025" y="1002506"/>
            <a:ext cx="8793015" cy="3143609"/>
          </a:xfrm>
        </p:spPr>
        <p:txBody>
          <a:bodyPr>
            <a:normAutofit/>
          </a:bodyPr>
          <a:lstStyle/>
          <a:p>
            <a:pPr marL="0" indent="0">
              <a:buNone/>
            </a:pPr>
            <a:r>
              <a:rPr lang="en-US" sz="2000" b="1" dirty="0"/>
              <a:t>Shannon–Weaver model (1948): </a:t>
            </a:r>
            <a:r>
              <a:rPr lang="en-US" sz="2000" dirty="0"/>
              <a:t>published in “Mathematical Theory of Communication” (1948) </a:t>
            </a:r>
            <a:r>
              <a:rPr lang="en-US" sz="2000" dirty="0">
                <a:sym typeface="Wingdings" panose="05000000000000000000" pitchFamily="2" charset="2"/>
              </a:rPr>
              <a:t> </a:t>
            </a:r>
            <a:r>
              <a:rPr lang="en-US" sz="2000" dirty="0"/>
              <a:t>One of the first models of communication</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FFD70DAD-4E1F-7DCA-F4AD-471DEA0BB939}"/>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5" name="AutoShape 2" descr="Shannon–Weaver model - Wikipedia">
            <a:extLst>
              <a:ext uri="{FF2B5EF4-FFF2-40B4-BE49-F238E27FC236}">
                <a16:creationId xmlns:a16="http://schemas.microsoft.com/office/drawing/2014/main" id="{9CC819BB-828F-8ECF-AE5E-6EB69A230A97}"/>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BDF158D6-7C07-580A-7A39-D738E777F08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794921" y="1692386"/>
            <a:ext cx="5554157" cy="2670852"/>
          </a:xfrm>
          <a:prstGeom prst="rect">
            <a:avLst/>
          </a:prstGeom>
        </p:spPr>
      </p:pic>
      <p:sp>
        <p:nvSpPr>
          <p:cNvPr id="10" name="TextBox 9">
            <a:extLst>
              <a:ext uri="{FF2B5EF4-FFF2-40B4-BE49-F238E27FC236}">
                <a16:creationId xmlns:a16="http://schemas.microsoft.com/office/drawing/2014/main" id="{0F2D76A5-EB5A-BD21-23D7-B46DA6E001E6}"/>
              </a:ext>
            </a:extLst>
          </p:cNvPr>
          <p:cNvSpPr txBox="1"/>
          <p:nvPr/>
        </p:nvSpPr>
        <p:spPr>
          <a:xfrm>
            <a:off x="200025" y="4286709"/>
            <a:ext cx="8553641" cy="2462213"/>
          </a:xfrm>
          <a:prstGeom prst="rect">
            <a:avLst/>
          </a:prstGeom>
          <a:noFill/>
        </p:spPr>
        <p:txBody>
          <a:bodyPr wrap="square">
            <a:spAutoFit/>
          </a:bodyPr>
          <a:lstStyle/>
          <a:p>
            <a:r>
              <a:rPr lang="en-US" sz="2000" dirty="0"/>
              <a:t>For spacecraft, the primary method of </a:t>
            </a:r>
            <a:r>
              <a:rPr lang="en-US" sz="2000" b="1" dirty="0"/>
              <a:t>Telemetry, Tracking, and Command (TT&amp;C</a:t>
            </a:r>
            <a:r>
              <a:rPr lang="en-US" sz="2000" dirty="0"/>
              <a:t>) is RF communication.</a:t>
            </a:r>
          </a:p>
          <a:p>
            <a:pPr marL="800100" lvl="1" indent="-342900">
              <a:buFont typeface="Arial" panose="020B0604020202020204" pitchFamily="34" charset="0"/>
              <a:buChar char="•"/>
            </a:pPr>
            <a:r>
              <a:rPr lang="en-US" sz="2000" b="1" dirty="0"/>
              <a:t>RF Communication</a:t>
            </a:r>
            <a:r>
              <a:rPr lang="en-US" sz="2000" dirty="0"/>
              <a:t>: method of transmitting data wirelessly using electromagnetic waves in the RF spectrum, typically between 3 kHz and 300 GHz</a:t>
            </a:r>
          </a:p>
          <a:p>
            <a:pPr marL="742950" lvl="1" indent="-285750">
              <a:buFont typeface="Arial" panose="020B0604020202020204" pitchFamily="34" charset="0"/>
              <a:buChar char="•"/>
            </a:pPr>
            <a:r>
              <a:rPr lang="en-US" sz="1800" b="1" dirty="0"/>
              <a:t>Optical (laser) Communication: </a:t>
            </a:r>
            <a:r>
              <a:rPr lang="en-US" sz="1800" dirty="0"/>
              <a:t>An emerging alternative uses optical wavelengths of electromagnetic radiation to transmit messages wirelessly between user terminals</a:t>
            </a:r>
            <a:endParaRPr lang="en-US" sz="1200" dirty="0"/>
          </a:p>
        </p:txBody>
      </p:sp>
    </p:spTree>
    <p:extLst>
      <p:ext uri="{BB962C8B-B14F-4D97-AF65-F5344CB8AC3E}">
        <p14:creationId xmlns:p14="http://schemas.microsoft.com/office/powerpoint/2010/main" val="3640569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7CAA-0428-64E2-83CB-F2522111E3DC}"/>
              </a:ext>
            </a:extLst>
          </p:cNvPr>
          <p:cNvSpPr>
            <a:spLocks noGrp="1"/>
          </p:cNvSpPr>
          <p:nvPr>
            <p:ph type="title"/>
          </p:nvPr>
        </p:nvSpPr>
        <p:spPr/>
        <p:txBody>
          <a:bodyPr/>
          <a:lstStyle/>
          <a:p>
            <a:r>
              <a:rPr lang="en-US" dirty="0"/>
              <a:t>Satcom Parameters</a:t>
            </a:r>
          </a:p>
        </p:txBody>
      </p:sp>
      <p:sp>
        <p:nvSpPr>
          <p:cNvPr id="4" name="Slide Number Placeholder 3">
            <a:extLst>
              <a:ext uri="{FF2B5EF4-FFF2-40B4-BE49-F238E27FC236}">
                <a16:creationId xmlns:a16="http://schemas.microsoft.com/office/drawing/2014/main" id="{8B03F9C0-6925-9B11-0B59-F0F4D925B549}"/>
              </a:ext>
            </a:extLst>
          </p:cNvPr>
          <p:cNvSpPr>
            <a:spLocks noGrp="1"/>
          </p:cNvSpPr>
          <p:nvPr>
            <p:ph type="sldNum" sz="quarter" idx="12"/>
          </p:nvPr>
        </p:nvSpPr>
        <p:spPr/>
        <p:txBody>
          <a:bodyPr/>
          <a:lstStyle/>
          <a:p>
            <a:fld id="{9A3029B7-FE6B-4680-9049-80E8298A0825}" type="slidenum">
              <a:rPr lang="en-US" smtClean="0"/>
              <a:t>4</a:t>
            </a:fld>
            <a:endParaRPr lang="en-US"/>
          </a:p>
        </p:txBody>
      </p:sp>
      <p:grpSp>
        <p:nvGrpSpPr>
          <p:cNvPr id="5" name="Group 4">
            <a:extLst>
              <a:ext uri="{FF2B5EF4-FFF2-40B4-BE49-F238E27FC236}">
                <a16:creationId xmlns:a16="http://schemas.microsoft.com/office/drawing/2014/main" id="{4C99FDAA-735F-D26D-8426-AA176E310811}"/>
              </a:ext>
            </a:extLst>
          </p:cNvPr>
          <p:cNvGrpSpPr/>
          <p:nvPr/>
        </p:nvGrpSpPr>
        <p:grpSpPr>
          <a:xfrm>
            <a:off x="789140" y="917142"/>
            <a:ext cx="7565720" cy="4531120"/>
            <a:chOff x="541744" y="1295400"/>
            <a:chExt cx="8060512" cy="4603850"/>
          </a:xfrm>
        </p:grpSpPr>
        <p:pic>
          <p:nvPicPr>
            <p:cNvPr id="6" name="Picture 5" descr="A diagram of a sound wave&#10;&#10;AI-generated content may be incorrect.">
              <a:extLst>
                <a:ext uri="{FF2B5EF4-FFF2-40B4-BE49-F238E27FC236}">
                  <a16:creationId xmlns:a16="http://schemas.microsoft.com/office/drawing/2014/main" id="{E2F94A31-693D-9E35-74E9-6EB292F89BDD}"/>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1744" y="1295400"/>
              <a:ext cx="8060512" cy="4603850"/>
            </a:xfrm>
            <a:prstGeom prst="rect">
              <a:avLst/>
            </a:prstGeom>
          </p:spPr>
        </p:pic>
        <p:sp>
          <p:nvSpPr>
            <p:cNvPr id="7" name="TextBox 6">
              <a:extLst>
                <a:ext uri="{FF2B5EF4-FFF2-40B4-BE49-F238E27FC236}">
                  <a16:creationId xmlns:a16="http://schemas.microsoft.com/office/drawing/2014/main" id="{292F1894-FD70-BA7F-A9AC-F4914DC497C3}"/>
                </a:ext>
              </a:extLst>
            </p:cNvPr>
            <p:cNvSpPr txBox="1"/>
            <p:nvPr/>
          </p:nvSpPr>
          <p:spPr>
            <a:xfrm>
              <a:off x="7231368" y="5668418"/>
              <a:ext cx="1370888" cy="230832"/>
            </a:xfrm>
            <a:prstGeom prst="rect">
              <a:avLst/>
            </a:prstGeom>
            <a:noFill/>
          </p:spPr>
          <p:txBody>
            <a:bodyPr wrap="none" rtlCol="0">
              <a:spAutoFit/>
            </a:bodyPr>
            <a:lstStyle/>
            <a:p>
              <a:r>
                <a:rPr lang="en-US" sz="900" dirty="0"/>
                <a:t>(Understanding Space)</a:t>
              </a:r>
            </a:p>
          </p:txBody>
        </p:sp>
      </p:grpSp>
      <p:pic>
        <p:nvPicPr>
          <p:cNvPr id="3" name="Picture 2">
            <a:extLst>
              <a:ext uri="{FF2B5EF4-FFF2-40B4-BE49-F238E27FC236}">
                <a16:creationId xmlns:a16="http://schemas.microsoft.com/office/drawing/2014/main" id="{063E2776-0E00-E8E7-25C4-D2398146A2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2011" y="5347195"/>
            <a:ext cx="5594094" cy="1356200"/>
          </a:xfrm>
          <a:prstGeom prst="rect">
            <a:avLst/>
          </a:prstGeom>
        </p:spPr>
      </p:pic>
    </p:spTree>
    <p:extLst>
      <p:ext uri="{BB962C8B-B14F-4D97-AF65-F5344CB8AC3E}">
        <p14:creationId xmlns:p14="http://schemas.microsoft.com/office/powerpoint/2010/main" val="173437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08D07-5854-67AC-0E30-5B55EF73540D}"/>
              </a:ext>
            </a:extLst>
          </p:cNvPr>
          <p:cNvSpPr>
            <a:spLocks noGrp="1"/>
          </p:cNvSpPr>
          <p:nvPr>
            <p:ph type="title"/>
          </p:nvPr>
        </p:nvSpPr>
        <p:spPr/>
        <p:txBody>
          <a:bodyPr/>
          <a:lstStyle/>
          <a:p>
            <a:r>
              <a:rPr lang="en-US" dirty="0"/>
              <a:t>Electromagnetic Spectrum</a:t>
            </a:r>
          </a:p>
        </p:txBody>
      </p:sp>
      <p:sp>
        <p:nvSpPr>
          <p:cNvPr id="3" name="Content Placeholder 2">
            <a:extLst>
              <a:ext uri="{FF2B5EF4-FFF2-40B4-BE49-F238E27FC236}">
                <a16:creationId xmlns:a16="http://schemas.microsoft.com/office/drawing/2014/main" id="{50ADA40E-F7B3-F239-32FF-8FA0A1F9518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9685CEED-387F-F8F0-0F59-09D8157B6409}"/>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6" name="Picture 5">
            <a:extLst>
              <a:ext uri="{FF2B5EF4-FFF2-40B4-BE49-F238E27FC236}">
                <a16:creationId xmlns:a16="http://schemas.microsoft.com/office/drawing/2014/main" id="{AD045B76-6143-4168-1881-A2BEDB8406D9}"/>
              </a:ext>
            </a:extLst>
          </p:cNvPr>
          <p:cNvPicPr>
            <a:picLocks noChangeAspect="1"/>
          </p:cNvPicPr>
          <p:nvPr/>
        </p:nvPicPr>
        <p:blipFill>
          <a:blip r:embed="rId2"/>
          <a:stretch>
            <a:fillRect/>
          </a:stretch>
        </p:blipFill>
        <p:spPr>
          <a:xfrm>
            <a:off x="0" y="785383"/>
            <a:ext cx="9144000" cy="5895473"/>
          </a:xfrm>
          <a:prstGeom prst="rect">
            <a:avLst/>
          </a:prstGeom>
        </p:spPr>
      </p:pic>
    </p:spTree>
    <p:extLst>
      <p:ext uri="{BB962C8B-B14F-4D97-AF65-F5344CB8AC3E}">
        <p14:creationId xmlns:p14="http://schemas.microsoft.com/office/powerpoint/2010/main" val="2213596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C02E4-77E4-2081-B458-17DCC8FFC19E}"/>
              </a:ext>
            </a:extLst>
          </p:cNvPr>
          <p:cNvSpPr>
            <a:spLocks noGrp="1"/>
          </p:cNvSpPr>
          <p:nvPr>
            <p:ph type="title"/>
          </p:nvPr>
        </p:nvSpPr>
        <p:spPr/>
        <p:txBody>
          <a:bodyPr/>
          <a:lstStyle/>
          <a:p>
            <a:r>
              <a:rPr lang="en-US" dirty="0"/>
              <a:t>Atmospheric Windows</a:t>
            </a:r>
          </a:p>
        </p:txBody>
      </p:sp>
      <p:sp>
        <p:nvSpPr>
          <p:cNvPr id="4" name="Slide Number Placeholder 3">
            <a:extLst>
              <a:ext uri="{FF2B5EF4-FFF2-40B4-BE49-F238E27FC236}">
                <a16:creationId xmlns:a16="http://schemas.microsoft.com/office/drawing/2014/main" id="{97AE1BE9-8FCF-E400-AA85-A967C274BB37}"/>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2050" name="Picture 2">
            <a:extLst>
              <a:ext uri="{FF2B5EF4-FFF2-40B4-BE49-F238E27FC236}">
                <a16:creationId xmlns:a16="http://schemas.microsoft.com/office/drawing/2014/main" id="{5FD64DDB-640E-D2E2-81B2-FF8FFAA4A71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11" r="4269"/>
          <a:stretch>
            <a:fillRect/>
          </a:stretch>
        </p:blipFill>
        <p:spPr bwMode="auto">
          <a:xfrm>
            <a:off x="0" y="1650837"/>
            <a:ext cx="9134024" cy="3556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34645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ADC7E-08DB-8D74-B87D-907AC785B321}"/>
              </a:ext>
            </a:extLst>
          </p:cNvPr>
          <p:cNvSpPr>
            <a:spLocks noGrp="1"/>
          </p:cNvSpPr>
          <p:nvPr>
            <p:ph type="title"/>
          </p:nvPr>
        </p:nvSpPr>
        <p:spPr/>
        <p:txBody>
          <a:bodyPr/>
          <a:lstStyle/>
          <a:p>
            <a:r>
              <a:rPr lang="en-US" dirty="0"/>
              <a:t>Radio Frequencies</a:t>
            </a:r>
          </a:p>
        </p:txBody>
      </p:sp>
      <p:sp>
        <p:nvSpPr>
          <p:cNvPr id="4" name="Slide Number Placeholder 3">
            <a:extLst>
              <a:ext uri="{FF2B5EF4-FFF2-40B4-BE49-F238E27FC236}">
                <a16:creationId xmlns:a16="http://schemas.microsoft.com/office/drawing/2014/main" id="{4FD93DCF-45A4-13B7-DE99-95A0849C47A9}"/>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6" name="Picture 5">
            <a:extLst>
              <a:ext uri="{FF2B5EF4-FFF2-40B4-BE49-F238E27FC236}">
                <a16:creationId xmlns:a16="http://schemas.microsoft.com/office/drawing/2014/main" id="{1031AFE2-38A1-36C1-C99E-CB80570AD069}"/>
              </a:ext>
            </a:extLst>
          </p:cNvPr>
          <p:cNvPicPr>
            <a:picLocks noChangeAspect="1"/>
          </p:cNvPicPr>
          <p:nvPr/>
        </p:nvPicPr>
        <p:blipFill>
          <a:blip r:embed="rId3"/>
          <a:stretch>
            <a:fillRect/>
          </a:stretch>
        </p:blipFill>
        <p:spPr>
          <a:xfrm>
            <a:off x="88900" y="1041400"/>
            <a:ext cx="6395198" cy="4656225"/>
          </a:xfrm>
          <a:prstGeom prst="rect">
            <a:avLst/>
          </a:prstGeom>
        </p:spPr>
      </p:pic>
      <p:sp>
        <p:nvSpPr>
          <p:cNvPr id="7" name="TextBox 6">
            <a:extLst>
              <a:ext uri="{FF2B5EF4-FFF2-40B4-BE49-F238E27FC236}">
                <a16:creationId xmlns:a16="http://schemas.microsoft.com/office/drawing/2014/main" id="{C3D3AF3F-CFE9-7556-6545-3F5CE8A53FC0}"/>
              </a:ext>
            </a:extLst>
          </p:cNvPr>
          <p:cNvSpPr txBox="1"/>
          <p:nvPr/>
        </p:nvSpPr>
        <p:spPr>
          <a:xfrm>
            <a:off x="6395198" y="957230"/>
            <a:ext cx="2748802" cy="1569660"/>
          </a:xfrm>
          <a:prstGeom prst="rect">
            <a:avLst/>
          </a:prstGeom>
          <a:noFill/>
        </p:spPr>
        <p:txBody>
          <a:bodyPr wrap="square" rtlCol="0">
            <a:spAutoFit/>
          </a:bodyPr>
          <a:lstStyle/>
          <a:p>
            <a:r>
              <a:rPr lang="en-US" sz="1600" u="sng" dirty="0">
                <a:latin typeface="Segoe UI" panose="020B0502040204020203" pitchFamily="34" charset="0"/>
                <a:cs typeface="Segoe UI" panose="020B0502040204020203" pitchFamily="34" charset="0"/>
              </a:rPr>
              <a:t>Common RF:</a:t>
            </a:r>
          </a:p>
          <a:p>
            <a:endParaRPr lang="en-US" sz="1600" dirty="0">
              <a:latin typeface="Segoe UI" panose="020B0502040204020203" pitchFamily="34" charset="0"/>
              <a:cs typeface="Segoe UI" panose="020B0502040204020203" pitchFamily="34" charset="0"/>
            </a:endParaRPr>
          </a:p>
          <a:p>
            <a:r>
              <a:rPr lang="en-US" sz="1600" dirty="0" err="1">
                <a:latin typeface="Segoe UI" panose="020B0502040204020203" pitchFamily="34" charset="0"/>
                <a:cs typeface="Segoe UI" panose="020B0502040204020203" pitchFamily="34" charset="0"/>
              </a:rPr>
              <a:t>WiFi</a:t>
            </a:r>
            <a:r>
              <a:rPr lang="en-US" sz="1600" dirty="0">
                <a:latin typeface="Segoe UI" panose="020B0502040204020203" pitchFamily="34" charset="0"/>
                <a:cs typeface="Segoe UI" panose="020B0502040204020203" pitchFamily="34" charset="0"/>
              </a:rPr>
              <a:t>: 2.4 / 5 </a:t>
            </a:r>
            <a:r>
              <a:rPr lang="en-US" sz="1600" dirty="0" err="1">
                <a:latin typeface="Segoe UI" panose="020B0502040204020203" pitchFamily="34" charset="0"/>
                <a:cs typeface="Segoe UI" panose="020B0502040204020203" pitchFamily="34" charset="0"/>
              </a:rPr>
              <a:t>Ghz</a:t>
            </a:r>
            <a:r>
              <a:rPr lang="en-US" sz="1600" dirty="0">
                <a:latin typeface="Segoe UI" panose="020B0502040204020203" pitchFamily="34" charset="0"/>
                <a:cs typeface="Segoe UI" panose="020B0502040204020203" pitchFamily="34" charset="0"/>
              </a:rPr>
              <a:t> (S/C band)</a:t>
            </a:r>
          </a:p>
          <a:p>
            <a:endParaRPr lang="en-US" sz="1600" dirty="0">
              <a:latin typeface="Segoe UI" panose="020B0502040204020203" pitchFamily="34" charset="0"/>
              <a:cs typeface="Segoe UI" panose="020B0502040204020203" pitchFamily="34" charset="0"/>
            </a:endParaRPr>
          </a:p>
          <a:p>
            <a:r>
              <a:rPr lang="en-US" sz="1600" dirty="0">
                <a:latin typeface="Segoe UI" panose="020B0502040204020203" pitchFamily="34" charset="0"/>
                <a:cs typeface="Segoe UI" panose="020B0502040204020203" pitchFamily="34" charset="0"/>
              </a:rPr>
              <a:t>GPS L1: 1.575 </a:t>
            </a:r>
            <a:r>
              <a:rPr lang="en-US" sz="1600" dirty="0" err="1">
                <a:latin typeface="Segoe UI" panose="020B0502040204020203" pitchFamily="34" charset="0"/>
                <a:cs typeface="Segoe UI" panose="020B0502040204020203" pitchFamily="34" charset="0"/>
              </a:rPr>
              <a:t>Ghz</a:t>
            </a:r>
            <a:r>
              <a:rPr lang="en-US" sz="1600" dirty="0">
                <a:latin typeface="Segoe UI" panose="020B0502040204020203" pitchFamily="34" charset="0"/>
                <a:cs typeface="Segoe UI" panose="020B0502040204020203" pitchFamily="34" charset="0"/>
              </a:rPr>
              <a:t> (L Band)</a:t>
            </a:r>
          </a:p>
          <a:p>
            <a:endParaRPr lang="en-US" sz="1600" dirty="0">
              <a:latin typeface="Segoe UI" panose="020B0502040204020203" pitchFamily="34" charset="0"/>
              <a:cs typeface="Segoe UI" panose="020B0502040204020203" pitchFamily="34" charset="0"/>
            </a:endParaRPr>
          </a:p>
        </p:txBody>
      </p:sp>
      <p:pic>
        <p:nvPicPr>
          <p:cNvPr id="5122" name="Picture 2" descr="Cables, Coaxial Cable, Cable Connectors, Adapters ...">
            <a:extLst>
              <a:ext uri="{FF2B5EF4-FFF2-40B4-BE49-F238E27FC236}">
                <a16:creationId xmlns:a16="http://schemas.microsoft.com/office/drawing/2014/main" id="{2A2C388D-9C1F-D6D8-75C9-DBF470DA0C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1786" y="2711534"/>
            <a:ext cx="1915314" cy="378950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39236A-BB8D-F0F3-F6B2-2A287C253E1D}"/>
              </a:ext>
            </a:extLst>
          </p:cNvPr>
          <p:cNvSpPr txBox="1"/>
          <p:nvPr/>
        </p:nvSpPr>
        <p:spPr>
          <a:xfrm>
            <a:off x="688186" y="5882269"/>
            <a:ext cx="5943600" cy="369332"/>
          </a:xfrm>
          <a:prstGeom prst="rect">
            <a:avLst/>
          </a:prstGeom>
          <a:noFill/>
        </p:spPr>
        <p:txBody>
          <a:bodyPr wrap="square" rtlCol="0">
            <a:spAutoFit/>
          </a:bodyPr>
          <a:lstStyle/>
          <a:p>
            <a:pPr algn="r"/>
            <a:r>
              <a:rPr lang="en-US" b="1" dirty="0">
                <a:solidFill>
                  <a:srgbClr val="00B0F0"/>
                </a:solidFill>
              </a:rPr>
              <a:t>Industrial, Scientific and Medical (ISM) Bands </a:t>
            </a:r>
            <a:r>
              <a:rPr lang="en-US" b="1" dirty="0">
                <a:solidFill>
                  <a:srgbClr val="00B0F0"/>
                </a:solidFill>
                <a:sym typeface="Wingdings" panose="05000000000000000000" pitchFamily="2" charset="2"/>
              </a:rPr>
              <a:t></a:t>
            </a:r>
            <a:endParaRPr lang="en-US" b="1" dirty="0">
              <a:solidFill>
                <a:srgbClr val="00B0F0"/>
              </a:solidFill>
            </a:endParaRPr>
          </a:p>
        </p:txBody>
      </p:sp>
    </p:spTree>
    <p:extLst>
      <p:ext uri="{BB962C8B-B14F-4D97-AF65-F5344CB8AC3E}">
        <p14:creationId xmlns:p14="http://schemas.microsoft.com/office/powerpoint/2010/main" val="4195393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584F0-2F9C-2B78-21C0-0638EBB84EA4}"/>
              </a:ext>
            </a:extLst>
          </p:cNvPr>
          <p:cNvSpPr>
            <a:spLocks noGrp="1"/>
          </p:cNvSpPr>
          <p:nvPr>
            <p:ph type="title"/>
          </p:nvPr>
        </p:nvSpPr>
        <p:spPr/>
        <p:txBody>
          <a:bodyPr/>
          <a:lstStyle/>
          <a:p>
            <a:r>
              <a:rPr lang="en-US" dirty="0"/>
              <a:t>US RF Allocation</a:t>
            </a:r>
          </a:p>
        </p:txBody>
      </p:sp>
      <p:sp>
        <p:nvSpPr>
          <p:cNvPr id="4" name="Slide Number Placeholder 3">
            <a:extLst>
              <a:ext uri="{FF2B5EF4-FFF2-40B4-BE49-F238E27FC236}">
                <a16:creationId xmlns:a16="http://schemas.microsoft.com/office/drawing/2014/main" id="{A17EE85C-0497-7D36-F5C3-3ED999AA95C3}"/>
              </a:ext>
            </a:extLst>
          </p:cNvPr>
          <p:cNvSpPr>
            <a:spLocks noGrp="1"/>
          </p:cNvSpPr>
          <p:nvPr>
            <p:ph type="sldNum" sz="quarter" idx="12"/>
          </p:nvPr>
        </p:nvSpPr>
        <p:spPr/>
        <p:txBody>
          <a:bodyPr/>
          <a:lstStyle/>
          <a:p>
            <a:fld id="{9A3029B7-FE6B-4680-9049-80E8298A0825}" type="slidenum">
              <a:rPr lang="en-US" smtClean="0"/>
              <a:t>8</a:t>
            </a:fld>
            <a:endParaRPr lang="en-US"/>
          </a:p>
        </p:txBody>
      </p:sp>
      <p:pic>
        <p:nvPicPr>
          <p:cNvPr id="4098" name="Picture 2" descr="File:United States Frequency Allocations Chart 2016 - The Radio Spectrum.pdf">
            <a:extLst>
              <a:ext uri="{FF2B5EF4-FFF2-40B4-BE49-F238E27FC236}">
                <a16:creationId xmlns:a16="http://schemas.microsoft.com/office/drawing/2014/main" id="{8A91B530-FE37-DDB6-F734-806FC4FC9E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25181"/>
            <a:ext cx="9097636" cy="582248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6B388FA-DEBC-87BC-D15C-028C5529FF1C}"/>
              </a:ext>
            </a:extLst>
          </p:cNvPr>
          <p:cNvSpPr txBox="1"/>
          <p:nvPr/>
        </p:nvSpPr>
        <p:spPr>
          <a:xfrm>
            <a:off x="0" y="6465106"/>
            <a:ext cx="9791700" cy="338554"/>
          </a:xfrm>
          <a:prstGeom prst="rect">
            <a:avLst/>
          </a:prstGeom>
          <a:noFill/>
        </p:spPr>
        <p:txBody>
          <a:bodyPr wrap="square">
            <a:spAutoFit/>
          </a:bodyPr>
          <a:lstStyle/>
          <a:p>
            <a:r>
              <a:rPr lang="en-US" sz="1600" dirty="0">
                <a:hlinkClick r:id="rId4"/>
              </a:rPr>
              <a:t>https://bookstore.gpo.gov/products/united-states-frequency-allocations-radio-spectrum-poster</a:t>
            </a:r>
            <a:r>
              <a:rPr lang="en-US" sz="1600" dirty="0"/>
              <a:t> </a:t>
            </a:r>
          </a:p>
        </p:txBody>
      </p:sp>
    </p:spTree>
    <p:extLst>
      <p:ext uri="{BB962C8B-B14F-4D97-AF65-F5344CB8AC3E}">
        <p14:creationId xmlns:p14="http://schemas.microsoft.com/office/powerpoint/2010/main" val="2965925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40920-FDFB-650F-E752-5479E76F99AA}"/>
              </a:ext>
            </a:extLst>
          </p:cNvPr>
          <p:cNvSpPr>
            <a:spLocks noGrp="1"/>
          </p:cNvSpPr>
          <p:nvPr>
            <p:ph type="title"/>
          </p:nvPr>
        </p:nvSpPr>
        <p:spPr/>
        <p:txBody>
          <a:bodyPr/>
          <a:lstStyle/>
          <a:p>
            <a:r>
              <a:rPr lang="en-US" dirty="0"/>
              <a:t>Modulation</a:t>
            </a:r>
          </a:p>
        </p:txBody>
      </p:sp>
      <p:sp>
        <p:nvSpPr>
          <p:cNvPr id="3" name="Content Placeholder 2">
            <a:extLst>
              <a:ext uri="{FF2B5EF4-FFF2-40B4-BE49-F238E27FC236}">
                <a16:creationId xmlns:a16="http://schemas.microsoft.com/office/drawing/2014/main" id="{3787B1B6-71D5-92E6-B4EA-672F40E12808}"/>
              </a:ext>
            </a:extLst>
          </p:cNvPr>
          <p:cNvSpPr>
            <a:spLocks noGrp="1"/>
          </p:cNvSpPr>
          <p:nvPr>
            <p:ph idx="1"/>
          </p:nvPr>
        </p:nvSpPr>
        <p:spPr>
          <a:xfrm>
            <a:off x="200025" y="1002506"/>
            <a:ext cx="4711740" cy="5227553"/>
          </a:xfrm>
        </p:spPr>
        <p:txBody>
          <a:bodyPr>
            <a:normAutofit lnSpcReduction="10000"/>
          </a:bodyPr>
          <a:lstStyle/>
          <a:p>
            <a:pPr marL="0" indent="0">
              <a:buNone/>
            </a:pPr>
            <a:r>
              <a:rPr lang="en-US" sz="2000" dirty="0"/>
              <a:t>Process of varying a carrier wave (usually sinusoidal) in amplitude, frequency, or phase to transmit information.</a:t>
            </a:r>
          </a:p>
          <a:p>
            <a:pPr marL="0" indent="0">
              <a:buNone/>
            </a:pPr>
            <a:endParaRPr lang="en-US" sz="2000" dirty="0"/>
          </a:p>
          <a:p>
            <a:pPr marL="0" indent="0">
              <a:buNone/>
            </a:pPr>
            <a:r>
              <a:rPr lang="en-US" sz="2000" b="1" dirty="0"/>
              <a:t>Amplitude Modulation (AM)</a:t>
            </a:r>
          </a:p>
          <a:p>
            <a:pPr marL="0" indent="0">
              <a:buNone/>
            </a:pPr>
            <a:r>
              <a:rPr lang="en-US" sz="2000" dirty="0"/>
              <a:t>Vary the amplitude of the carrier proportional to the message signal.</a:t>
            </a:r>
          </a:p>
          <a:p>
            <a:pPr marL="0" indent="0">
              <a:buNone/>
            </a:pPr>
            <a:endParaRPr lang="en-US" sz="2000" dirty="0"/>
          </a:p>
          <a:p>
            <a:pPr marL="0" indent="0">
              <a:buNone/>
            </a:pPr>
            <a:r>
              <a:rPr lang="en-US" sz="2000" b="1" dirty="0"/>
              <a:t>Frequency Modulation (FM)</a:t>
            </a:r>
          </a:p>
          <a:p>
            <a:pPr marL="0" indent="0">
              <a:buNone/>
            </a:pPr>
            <a:r>
              <a:rPr lang="en-US" sz="2000" dirty="0"/>
              <a:t>Vary the carrier frequency according to the signal.</a:t>
            </a:r>
          </a:p>
          <a:p>
            <a:pPr marL="0" indent="0">
              <a:buNone/>
            </a:pPr>
            <a:endParaRPr lang="en-US" sz="2000" dirty="0"/>
          </a:p>
          <a:p>
            <a:pPr marL="0" indent="0">
              <a:buNone/>
            </a:pPr>
            <a:r>
              <a:rPr lang="en-US" sz="2000" b="1" dirty="0"/>
              <a:t>Phase Shift Keying (PSK)</a:t>
            </a:r>
          </a:p>
          <a:p>
            <a:pPr marL="0" indent="0">
              <a:buNone/>
            </a:pPr>
            <a:r>
              <a:rPr lang="en-US" sz="2000" dirty="0"/>
              <a:t>Change the phase of the carrier to represent digital data.</a:t>
            </a:r>
          </a:p>
          <a:p>
            <a:pPr marL="0" indent="0">
              <a:buNone/>
            </a:pPr>
            <a:endParaRPr lang="en-US" sz="2000" dirty="0"/>
          </a:p>
        </p:txBody>
      </p:sp>
      <p:sp>
        <p:nvSpPr>
          <p:cNvPr id="4" name="Slide Number Placeholder 3">
            <a:extLst>
              <a:ext uri="{FF2B5EF4-FFF2-40B4-BE49-F238E27FC236}">
                <a16:creationId xmlns:a16="http://schemas.microsoft.com/office/drawing/2014/main" id="{0371176C-53D1-9135-798F-02782307B8FF}"/>
              </a:ext>
            </a:extLst>
          </p:cNvPr>
          <p:cNvSpPr>
            <a:spLocks noGrp="1"/>
          </p:cNvSpPr>
          <p:nvPr>
            <p:ph type="sldNum" sz="quarter" idx="12"/>
          </p:nvPr>
        </p:nvSpPr>
        <p:spPr/>
        <p:txBody>
          <a:bodyPr/>
          <a:lstStyle/>
          <a:p>
            <a:fld id="{9A3029B7-FE6B-4680-9049-80E8298A0825}" type="slidenum">
              <a:rPr lang="en-US" smtClean="0"/>
              <a:t>9</a:t>
            </a:fld>
            <a:endParaRPr lang="en-US"/>
          </a:p>
        </p:txBody>
      </p:sp>
      <p:grpSp>
        <p:nvGrpSpPr>
          <p:cNvPr id="6" name="Group 5">
            <a:extLst>
              <a:ext uri="{FF2B5EF4-FFF2-40B4-BE49-F238E27FC236}">
                <a16:creationId xmlns:a16="http://schemas.microsoft.com/office/drawing/2014/main" id="{FFD96413-335F-121A-ED1E-B530B78410E6}"/>
              </a:ext>
            </a:extLst>
          </p:cNvPr>
          <p:cNvGrpSpPr/>
          <p:nvPr/>
        </p:nvGrpSpPr>
        <p:grpSpPr>
          <a:xfrm>
            <a:off x="4911765" y="1073813"/>
            <a:ext cx="4232235" cy="5227552"/>
            <a:chOff x="152400" y="1206365"/>
            <a:chExt cx="4799888" cy="5539421"/>
          </a:xfrm>
        </p:grpSpPr>
        <p:pic>
          <p:nvPicPr>
            <p:cNvPr id="7" name="Picture 6" descr="A diagram of a waveform&#10;&#10;AI-generated content may be incorrect.">
              <a:extLst>
                <a:ext uri="{FF2B5EF4-FFF2-40B4-BE49-F238E27FC236}">
                  <a16:creationId xmlns:a16="http://schemas.microsoft.com/office/drawing/2014/main" id="{37524135-32DD-30D0-1040-DFA4ECD1D77F}"/>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52400" y="1206365"/>
              <a:ext cx="4730962" cy="5510951"/>
            </a:xfrm>
            <a:prstGeom prst="rect">
              <a:avLst/>
            </a:prstGeom>
          </p:spPr>
        </p:pic>
        <p:sp>
          <p:nvSpPr>
            <p:cNvPr id="8" name="TextBox 7">
              <a:extLst>
                <a:ext uri="{FF2B5EF4-FFF2-40B4-BE49-F238E27FC236}">
                  <a16:creationId xmlns:a16="http://schemas.microsoft.com/office/drawing/2014/main" id="{6796168D-0B68-5411-993C-6D7B36572D44}"/>
                </a:ext>
              </a:extLst>
            </p:cNvPr>
            <p:cNvSpPr txBox="1"/>
            <p:nvPr/>
          </p:nvSpPr>
          <p:spPr>
            <a:xfrm>
              <a:off x="3581400" y="6514954"/>
              <a:ext cx="1370888" cy="230832"/>
            </a:xfrm>
            <a:prstGeom prst="rect">
              <a:avLst/>
            </a:prstGeom>
            <a:noFill/>
          </p:spPr>
          <p:txBody>
            <a:bodyPr wrap="none" rtlCol="0">
              <a:spAutoFit/>
            </a:bodyPr>
            <a:lstStyle/>
            <a:p>
              <a:r>
                <a:rPr lang="en-US" sz="900" dirty="0"/>
                <a:t>(Understanding Space)</a:t>
              </a:r>
            </a:p>
          </p:txBody>
        </p:sp>
      </p:grpSp>
    </p:spTree>
    <p:extLst>
      <p:ext uri="{BB962C8B-B14F-4D97-AF65-F5344CB8AC3E}">
        <p14:creationId xmlns:p14="http://schemas.microsoft.com/office/powerpoint/2010/main" val="1954900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B3D44-1762-241F-8614-6190F5450ECD}"/>
              </a:ext>
            </a:extLst>
          </p:cNvPr>
          <p:cNvSpPr>
            <a:spLocks noGrp="1"/>
          </p:cNvSpPr>
          <p:nvPr>
            <p:ph type="title"/>
          </p:nvPr>
        </p:nvSpPr>
        <p:spPr/>
        <p:txBody>
          <a:bodyPr/>
          <a:lstStyle/>
          <a:p>
            <a:r>
              <a:rPr lang="en-US" dirty="0"/>
              <a:t>Link Budget</a:t>
            </a:r>
          </a:p>
        </p:txBody>
      </p:sp>
      <p:sp>
        <p:nvSpPr>
          <p:cNvPr id="3" name="Content Placeholder 2">
            <a:extLst>
              <a:ext uri="{FF2B5EF4-FFF2-40B4-BE49-F238E27FC236}">
                <a16:creationId xmlns:a16="http://schemas.microsoft.com/office/drawing/2014/main" id="{1760EB73-789F-7ACC-B5C7-DEACDC9D294A}"/>
              </a:ext>
            </a:extLst>
          </p:cNvPr>
          <p:cNvSpPr>
            <a:spLocks noGrp="1"/>
          </p:cNvSpPr>
          <p:nvPr>
            <p:ph idx="1"/>
          </p:nvPr>
        </p:nvSpPr>
        <p:spPr/>
        <p:txBody>
          <a:bodyPr>
            <a:normAutofit/>
          </a:bodyPr>
          <a:lstStyle/>
          <a:p>
            <a:pPr marL="0" indent="0">
              <a:buNone/>
            </a:pPr>
            <a:r>
              <a:rPr lang="en-US" sz="2000" b="1" dirty="0"/>
              <a:t>Link budget</a:t>
            </a:r>
            <a:r>
              <a:rPr lang="en-US" sz="2000" dirty="0"/>
              <a:t>: An accounting of gains and losses in a communication system. Used to predicts the received signal quality at the ground station or spacecraft.</a:t>
            </a:r>
          </a:p>
          <a:p>
            <a:pPr marL="0" indent="0">
              <a:buNone/>
            </a:pPr>
            <a:r>
              <a:rPr lang="en-US" sz="2000" b="1" dirty="0"/>
              <a:t>Link Margin</a:t>
            </a:r>
            <a:r>
              <a:rPr lang="en-US" sz="2000" dirty="0"/>
              <a:t>: difference between the actual received signal power and the minimum required signal power for a reliable connection.</a:t>
            </a:r>
          </a:p>
        </p:txBody>
      </p:sp>
      <p:sp>
        <p:nvSpPr>
          <p:cNvPr id="4" name="Slide Number Placeholder 3">
            <a:extLst>
              <a:ext uri="{FF2B5EF4-FFF2-40B4-BE49-F238E27FC236}">
                <a16:creationId xmlns:a16="http://schemas.microsoft.com/office/drawing/2014/main" id="{F578EFA0-2A4E-2A1F-C9D5-F9A1E6B407B9}"/>
              </a:ext>
            </a:extLst>
          </p:cNvPr>
          <p:cNvSpPr>
            <a:spLocks noGrp="1"/>
          </p:cNvSpPr>
          <p:nvPr>
            <p:ph type="sldNum" sz="quarter" idx="12"/>
          </p:nvPr>
        </p:nvSpPr>
        <p:spPr/>
        <p:txBody>
          <a:bodyPr/>
          <a:lstStyle/>
          <a:p>
            <a:fld id="{9A3029B7-FE6B-4680-9049-80E8298A0825}" type="slidenum">
              <a:rPr lang="en-US" smtClean="0"/>
              <a:t>10</a:t>
            </a:fld>
            <a:endParaRPr lang="en-US"/>
          </a:p>
        </p:txBody>
      </p:sp>
      <p:pic>
        <p:nvPicPr>
          <p:cNvPr id="6" name="Picture 5">
            <a:extLst>
              <a:ext uri="{FF2B5EF4-FFF2-40B4-BE49-F238E27FC236}">
                <a16:creationId xmlns:a16="http://schemas.microsoft.com/office/drawing/2014/main" id="{78575A4B-F6EB-8448-5558-C5256C4B3047}"/>
              </a:ext>
            </a:extLst>
          </p:cNvPr>
          <p:cNvPicPr>
            <a:picLocks noChangeAspect="1"/>
          </p:cNvPicPr>
          <p:nvPr/>
        </p:nvPicPr>
        <p:blipFill>
          <a:blip r:embed="rId3"/>
          <a:stretch>
            <a:fillRect/>
          </a:stretch>
        </p:blipFill>
        <p:spPr>
          <a:xfrm>
            <a:off x="79291" y="3314603"/>
            <a:ext cx="4648849" cy="2610214"/>
          </a:xfrm>
          <a:prstGeom prst="rect">
            <a:avLst/>
          </a:prstGeom>
        </p:spPr>
      </p:pic>
      <p:pic>
        <p:nvPicPr>
          <p:cNvPr id="8" name="Picture 7">
            <a:extLst>
              <a:ext uri="{FF2B5EF4-FFF2-40B4-BE49-F238E27FC236}">
                <a16:creationId xmlns:a16="http://schemas.microsoft.com/office/drawing/2014/main" id="{630439AD-E6C7-FC53-0B36-FCB8D57727CB}"/>
              </a:ext>
            </a:extLst>
          </p:cNvPr>
          <p:cNvPicPr>
            <a:picLocks noChangeAspect="1"/>
          </p:cNvPicPr>
          <p:nvPr/>
        </p:nvPicPr>
        <p:blipFill>
          <a:blip r:embed="rId4"/>
          <a:stretch>
            <a:fillRect/>
          </a:stretch>
        </p:blipFill>
        <p:spPr>
          <a:xfrm>
            <a:off x="5015763" y="3429000"/>
            <a:ext cx="4048946" cy="2613877"/>
          </a:xfrm>
          <a:prstGeom prst="rect">
            <a:avLst/>
          </a:prstGeom>
        </p:spPr>
      </p:pic>
      <p:sp>
        <p:nvSpPr>
          <p:cNvPr id="7" name="TextBox 6">
            <a:extLst>
              <a:ext uri="{FF2B5EF4-FFF2-40B4-BE49-F238E27FC236}">
                <a16:creationId xmlns:a16="http://schemas.microsoft.com/office/drawing/2014/main" id="{09BE799B-FD74-C64E-52B6-D4BA73E20931}"/>
              </a:ext>
            </a:extLst>
          </p:cNvPr>
          <p:cNvSpPr txBox="1"/>
          <p:nvPr/>
        </p:nvSpPr>
        <p:spPr>
          <a:xfrm>
            <a:off x="5654544" y="2893040"/>
            <a:ext cx="2771384" cy="369332"/>
          </a:xfrm>
          <a:prstGeom prst="rect">
            <a:avLst/>
          </a:prstGeom>
          <a:noFill/>
        </p:spPr>
        <p:txBody>
          <a:bodyPr wrap="square">
            <a:spAutoFit/>
          </a:bodyPr>
          <a:lstStyle/>
          <a:p>
            <a:pPr algn="ctr"/>
            <a:r>
              <a:rPr lang="en-US" b="1" dirty="0">
                <a:latin typeface="Segoe UI" panose="020B0502040204020203" pitchFamily="34" charset="0"/>
                <a:cs typeface="Segoe UI" panose="020B0502040204020203" pitchFamily="34" charset="0"/>
              </a:rPr>
              <a:t>Astro 331/332: Eb/N0</a:t>
            </a:r>
          </a:p>
        </p:txBody>
      </p:sp>
      <p:sp>
        <p:nvSpPr>
          <p:cNvPr id="10" name="TextBox 9">
            <a:extLst>
              <a:ext uri="{FF2B5EF4-FFF2-40B4-BE49-F238E27FC236}">
                <a16:creationId xmlns:a16="http://schemas.microsoft.com/office/drawing/2014/main" id="{D2CB4FEB-1B15-C659-3190-01C89BDF0106}"/>
              </a:ext>
            </a:extLst>
          </p:cNvPr>
          <p:cNvSpPr txBox="1"/>
          <p:nvPr/>
        </p:nvSpPr>
        <p:spPr>
          <a:xfrm>
            <a:off x="587684" y="6077850"/>
            <a:ext cx="8405356" cy="369332"/>
          </a:xfrm>
          <a:prstGeom prst="rect">
            <a:avLst/>
          </a:prstGeom>
          <a:noFill/>
        </p:spPr>
        <p:txBody>
          <a:bodyPr wrap="square">
            <a:spAutoFit/>
          </a:bodyPr>
          <a:lstStyle/>
          <a:p>
            <a:r>
              <a:rPr lang="en-US" b="1" dirty="0">
                <a:solidFill>
                  <a:srgbClr val="00B0F0"/>
                </a:solidFill>
              </a:rPr>
              <a:t>SNR is a </a:t>
            </a:r>
            <a:r>
              <a:rPr lang="en-US" b="1" i="1" dirty="0">
                <a:solidFill>
                  <a:srgbClr val="00B0F0"/>
                </a:solidFill>
              </a:rPr>
              <a:t>signal-to-noise power ratio</a:t>
            </a:r>
            <a:r>
              <a:rPr lang="en-US" b="1" dirty="0">
                <a:solidFill>
                  <a:srgbClr val="00B0F0"/>
                </a:solidFill>
              </a:rPr>
              <a:t>,  Eb/No </a:t>
            </a:r>
            <a:r>
              <a:rPr lang="en-US" b="1" i="1" dirty="0">
                <a:solidFill>
                  <a:srgbClr val="00B0F0"/>
                </a:solidFill>
              </a:rPr>
              <a:t>normalizes SNR by data rate</a:t>
            </a:r>
            <a:endParaRPr lang="en-US" b="1" dirty="0">
              <a:solidFill>
                <a:srgbClr val="00B0F0"/>
              </a:solidFill>
            </a:endParaRPr>
          </a:p>
        </p:txBody>
      </p:sp>
      <p:sp>
        <p:nvSpPr>
          <p:cNvPr id="11" name="TextBox 10">
            <a:extLst>
              <a:ext uri="{FF2B5EF4-FFF2-40B4-BE49-F238E27FC236}">
                <a16:creationId xmlns:a16="http://schemas.microsoft.com/office/drawing/2014/main" id="{0F03F872-6BC3-891A-93CD-ABAA349946AA}"/>
              </a:ext>
            </a:extLst>
          </p:cNvPr>
          <p:cNvSpPr txBox="1"/>
          <p:nvPr/>
        </p:nvSpPr>
        <p:spPr>
          <a:xfrm>
            <a:off x="718072" y="2893841"/>
            <a:ext cx="2771384" cy="369332"/>
          </a:xfrm>
          <a:prstGeom prst="rect">
            <a:avLst/>
          </a:prstGeom>
          <a:noFill/>
        </p:spPr>
        <p:txBody>
          <a:bodyPr wrap="square">
            <a:spAutoFit/>
          </a:bodyPr>
          <a:lstStyle/>
          <a:p>
            <a:pPr algn="ctr"/>
            <a:r>
              <a:rPr lang="en-US" b="1" dirty="0">
                <a:latin typeface="Segoe UI" panose="020B0502040204020203" pitchFamily="34" charset="0"/>
                <a:cs typeface="Segoe UI" panose="020B0502040204020203" pitchFamily="34" charset="0"/>
              </a:rPr>
              <a:t>Astro 310: SNR</a:t>
            </a:r>
          </a:p>
        </p:txBody>
      </p:sp>
    </p:spTree>
    <p:extLst>
      <p:ext uri="{BB962C8B-B14F-4D97-AF65-F5344CB8AC3E}">
        <p14:creationId xmlns:p14="http://schemas.microsoft.com/office/powerpoint/2010/main" val="344951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E76C1-978A-00DF-D1D4-B4EF5A3A9FBB}"/>
              </a:ext>
            </a:extLst>
          </p:cNvPr>
          <p:cNvSpPr>
            <a:spLocks noGrp="1"/>
          </p:cNvSpPr>
          <p:nvPr>
            <p:ph type="title"/>
          </p:nvPr>
        </p:nvSpPr>
        <p:spPr/>
        <p:txBody>
          <a:bodyPr/>
          <a:lstStyle/>
          <a:p>
            <a:r>
              <a:rPr lang="en-US" dirty="0"/>
              <a:t>Decibels</a:t>
            </a:r>
          </a:p>
        </p:txBody>
      </p:sp>
      <p:sp>
        <p:nvSpPr>
          <p:cNvPr id="3" name="Content Placeholder 2">
            <a:extLst>
              <a:ext uri="{FF2B5EF4-FFF2-40B4-BE49-F238E27FC236}">
                <a16:creationId xmlns:a16="http://schemas.microsoft.com/office/drawing/2014/main" id="{B35F9375-437D-800A-24CD-637764B4C10D}"/>
              </a:ext>
            </a:extLst>
          </p:cNvPr>
          <p:cNvSpPr>
            <a:spLocks noGrp="1"/>
          </p:cNvSpPr>
          <p:nvPr>
            <p:ph idx="1"/>
          </p:nvPr>
        </p:nvSpPr>
        <p:spPr>
          <a:xfrm>
            <a:off x="200025" y="1002507"/>
            <a:ext cx="8793015" cy="4466236"/>
          </a:xfrm>
        </p:spPr>
        <p:txBody>
          <a:bodyPr>
            <a:normAutofit fontScale="70000" lnSpcReduction="20000"/>
          </a:bodyPr>
          <a:lstStyle/>
          <a:p>
            <a:pPr marL="0" indent="0">
              <a:buNone/>
            </a:pPr>
            <a:r>
              <a:rPr lang="en-US" b="1" dirty="0"/>
              <a:t>Logarithms</a:t>
            </a:r>
            <a:r>
              <a:rPr lang="en-US" dirty="0"/>
              <a:t>: </a:t>
            </a:r>
          </a:p>
          <a:p>
            <a:r>
              <a:rPr lang="en-US" dirty="0"/>
              <a:t>Turn multiplication into addition </a:t>
            </a:r>
          </a:p>
          <a:p>
            <a:r>
              <a:rPr lang="en-US" dirty="0"/>
              <a:t>Turn division into subtraction</a:t>
            </a:r>
          </a:p>
          <a:p>
            <a:r>
              <a:rPr lang="en-US" dirty="0"/>
              <a:t>Map enormous ranges onto a smaller space</a:t>
            </a:r>
          </a:p>
          <a:p>
            <a:pPr marL="0" indent="0">
              <a:buNone/>
            </a:pPr>
            <a:endParaRPr lang="en-US" dirty="0"/>
          </a:p>
          <a:p>
            <a:pPr marL="0" indent="0">
              <a:buNone/>
            </a:pPr>
            <a:r>
              <a:rPr lang="en-US" b="1" dirty="0"/>
              <a:t>Decibels (dB)</a:t>
            </a:r>
            <a:r>
              <a:rPr lang="en-US" dirty="0"/>
              <a:t>:</a:t>
            </a:r>
          </a:p>
          <a:p>
            <a:r>
              <a:rPr lang="en-US" dirty="0"/>
              <a:t>Logarithmic unit expressing ratio between two values of power. </a:t>
            </a:r>
          </a:p>
          <a:p>
            <a:r>
              <a:rPr lang="en-US" dirty="0"/>
              <a:t>In linear terms, multiplying by 1 causes no change </a:t>
            </a:r>
            <a:r>
              <a:rPr lang="en-US" dirty="0">
                <a:sym typeface="Wingdings" panose="05000000000000000000" pitchFamily="2" charset="2"/>
              </a:rPr>
              <a:t></a:t>
            </a:r>
            <a:r>
              <a:rPr lang="en-US" dirty="0"/>
              <a:t> decibel equivalent is adding 0. </a:t>
            </a:r>
          </a:p>
          <a:p>
            <a:r>
              <a:rPr lang="en-US" dirty="0"/>
              <a:t>Adding 3 dB doubles signal strength. </a:t>
            </a:r>
          </a:p>
          <a:p>
            <a:r>
              <a:rPr lang="en-US" dirty="0"/>
              <a:t>Subtract 3 dB halves signal strength. </a:t>
            </a:r>
          </a:p>
          <a:p>
            <a:r>
              <a:rPr lang="en-US" dirty="0"/>
              <a:t>dBm: decibels relative to 1 </a:t>
            </a:r>
            <a:r>
              <a:rPr lang="en-US" dirty="0" err="1"/>
              <a:t>mW</a:t>
            </a:r>
            <a:endParaRPr lang="en-US" dirty="0"/>
          </a:p>
          <a:p>
            <a:r>
              <a:rPr lang="en-US" dirty="0" err="1"/>
              <a:t>dBW</a:t>
            </a:r>
            <a:r>
              <a:rPr lang="en-US" dirty="0"/>
              <a:t>: decibels relative to 1 W</a:t>
            </a:r>
          </a:p>
        </p:txBody>
      </p:sp>
      <p:sp>
        <p:nvSpPr>
          <p:cNvPr id="4" name="Slide Number Placeholder 3">
            <a:extLst>
              <a:ext uri="{FF2B5EF4-FFF2-40B4-BE49-F238E27FC236}">
                <a16:creationId xmlns:a16="http://schemas.microsoft.com/office/drawing/2014/main" id="{3A1060A0-4CF2-1B05-4808-B59AE6935134}"/>
              </a:ext>
            </a:extLst>
          </p:cNvPr>
          <p:cNvSpPr>
            <a:spLocks noGrp="1"/>
          </p:cNvSpPr>
          <p:nvPr>
            <p:ph type="sldNum" sz="quarter" idx="12"/>
          </p:nvPr>
        </p:nvSpPr>
        <p:spPr/>
        <p:txBody>
          <a:bodyPr/>
          <a:lstStyle/>
          <a:p>
            <a:fld id="{9A3029B7-FE6B-4680-9049-80E8298A0825}" type="slidenum">
              <a:rPr lang="en-US" smtClean="0"/>
              <a:t>11</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72D43A3-01AB-090E-A67C-9B31F1EC1E23}"/>
                  </a:ext>
                </a:extLst>
              </p:cNvPr>
              <p:cNvSpPr txBox="1"/>
              <p:nvPr/>
            </p:nvSpPr>
            <p:spPr>
              <a:xfrm>
                <a:off x="1236520" y="5357311"/>
                <a:ext cx="6670959" cy="996363"/>
              </a:xfrm>
              <a:prstGeom prst="rect">
                <a:avLst/>
              </a:prstGeom>
              <a:noFill/>
            </p:spPr>
            <p:txBody>
              <a:bodyPr wrap="square">
                <a:spAutoFit/>
              </a:bodyPr>
              <a:lstStyle/>
              <a:p>
                <a:pPr marL="0" indent="0" algn="ctr">
                  <a:buNone/>
                </a:pPr>
                <a:r>
                  <a:rPr lang="en-US" sz="2400" b="1" dirty="0">
                    <a:solidFill>
                      <a:srgbClr val="0000FF"/>
                    </a:solidFill>
                    <a:latin typeface="Cambria Math" panose="02040503050406030204" pitchFamily="18" charset="0"/>
                  </a:rPr>
                  <a:t>Conversions:</a:t>
                </a:r>
              </a:p>
              <a:p>
                <a:pPr marL="0" indent="0">
                  <a:buNone/>
                </a:pPr>
                <a14:m>
                  <m:oMath xmlns:m="http://schemas.openxmlformats.org/officeDocument/2006/math">
                    <m:sSub>
                      <m:sSubPr>
                        <m:ctrlPr>
                          <a:rPr lang="en-US" sz="2400" b="1" i="1" smtClean="0">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𝑿</m:t>
                        </m:r>
                      </m:e>
                      <m:sub>
                        <m:r>
                          <a:rPr lang="en-US" sz="2400" b="1" i="1">
                            <a:solidFill>
                              <a:srgbClr val="0000FF"/>
                            </a:solidFill>
                            <a:latin typeface="Cambria Math" panose="02040503050406030204" pitchFamily="18" charset="0"/>
                          </a:rPr>
                          <m:t>𝒅𝒃</m:t>
                        </m:r>
                      </m:sub>
                    </m:sSub>
                    <m:r>
                      <a:rPr lang="en-US" sz="2400" b="1" i="1">
                        <a:solidFill>
                          <a:srgbClr val="0000FF"/>
                        </a:solidFill>
                        <a:latin typeface="Cambria Math" panose="02040503050406030204" pitchFamily="18" charset="0"/>
                      </a:rPr>
                      <m:t>=</m:t>
                    </m:r>
                    <m:r>
                      <a:rPr lang="en-US" sz="2400" b="1" i="1">
                        <a:solidFill>
                          <a:srgbClr val="0000FF"/>
                        </a:solidFill>
                        <a:latin typeface="Cambria Math" panose="02040503050406030204" pitchFamily="18" charset="0"/>
                      </a:rPr>
                      <m:t>𝟏𝟎</m:t>
                    </m:r>
                    <m:sSub>
                      <m:sSubPr>
                        <m:ctrlPr>
                          <a:rPr lang="en-US" sz="2400" b="1" i="1">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𝒍𝒐𝒈</m:t>
                        </m:r>
                      </m:e>
                      <m:sub>
                        <m:r>
                          <a:rPr lang="en-US" sz="2400" b="1" i="1">
                            <a:solidFill>
                              <a:srgbClr val="0000FF"/>
                            </a:solidFill>
                            <a:latin typeface="Cambria Math" panose="02040503050406030204" pitchFamily="18" charset="0"/>
                          </a:rPr>
                          <m:t>𝟏𝟎</m:t>
                        </m:r>
                      </m:sub>
                    </m:sSub>
                    <m:sSub>
                      <m:sSubPr>
                        <m:ctrlPr>
                          <a:rPr lang="en-US" sz="2400" b="1" i="1" smtClean="0">
                            <a:solidFill>
                              <a:srgbClr val="0000FF"/>
                            </a:solidFill>
                            <a:latin typeface="Cambria Math" panose="02040503050406030204" pitchFamily="18" charset="0"/>
                          </a:rPr>
                        </m:ctrlPr>
                      </m:sSubPr>
                      <m:e>
                        <m:r>
                          <a:rPr lang="en-US" sz="2400" b="1" i="1">
                            <a:solidFill>
                              <a:srgbClr val="0000FF"/>
                            </a:solidFill>
                            <a:latin typeface="Cambria Math" panose="02040503050406030204" pitchFamily="18" charset="0"/>
                          </a:rPr>
                          <m:t>𝑿</m:t>
                        </m:r>
                      </m:e>
                      <m:sub>
                        <m:r>
                          <a:rPr lang="en-US" sz="2400" b="1" i="1" smtClean="0">
                            <a:solidFill>
                              <a:srgbClr val="0000FF"/>
                            </a:solidFill>
                            <a:latin typeface="Cambria Math" panose="02040503050406030204" pitchFamily="18" charset="0"/>
                          </a:rPr>
                          <m:t>𝒍𝒊𝒏𝒆𝒂𝒓</m:t>
                        </m:r>
                      </m:sub>
                    </m:sSub>
                  </m:oMath>
                </a14:m>
                <a:r>
                  <a:rPr lang="en-US" sz="2400" b="1" dirty="0">
                    <a:solidFill>
                      <a:srgbClr val="0000FF"/>
                    </a:solidFill>
                  </a:rPr>
                  <a:t>		 </a:t>
                </a:r>
                <a14:m>
                  <m:oMath xmlns:m="http://schemas.openxmlformats.org/officeDocument/2006/math">
                    <m:r>
                      <a:rPr lang="en-US" sz="2400" b="1" i="1" dirty="0" smtClean="0">
                        <a:solidFill>
                          <a:srgbClr val="0000FF"/>
                        </a:solidFill>
                        <a:latin typeface="Cambria Math" panose="02040503050406030204" pitchFamily="18" charset="0"/>
                      </a:rPr>
                      <m:t>𝟏</m:t>
                    </m:r>
                    <m:sSup>
                      <m:sSupPr>
                        <m:ctrlPr>
                          <a:rPr lang="en-US" sz="2400" b="1" i="1" dirty="0" smtClean="0">
                            <a:solidFill>
                              <a:srgbClr val="0000FF"/>
                            </a:solidFill>
                            <a:latin typeface="Cambria Math" panose="02040503050406030204" pitchFamily="18" charset="0"/>
                          </a:rPr>
                        </m:ctrlPr>
                      </m:sSupPr>
                      <m:e>
                        <m:r>
                          <a:rPr lang="en-US" sz="2400" b="1" i="1" dirty="0" smtClean="0">
                            <a:solidFill>
                              <a:srgbClr val="0000FF"/>
                            </a:solidFill>
                            <a:latin typeface="Cambria Math" panose="02040503050406030204" pitchFamily="18" charset="0"/>
                          </a:rPr>
                          <m:t>𝟎</m:t>
                        </m:r>
                      </m:e>
                      <m:sup>
                        <m:f>
                          <m:fPr>
                            <m:ctrlPr>
                              <a:rPr lang="en-US" sz="2400" b="1" i="1" dirty="0" smtClean="0">
                                <a:solidFill>
                                  <a:srgbClr val="0000FF"/>
                                </a:solidFill>
                                <a:latin typeface="Cambria Math" panose="02040503050406030204" pitchFamily="18" charset="0"/>
                              </a:rPr>
                            </m:ctrlPr>
                          </m:fPr>
                          <m:num>
                            <m:sSub>
                              <m:sSubPr>
                                <m:ctrlPr>
                                  <a:rPr lang="en-US" sz="2400" b="1" i="1" dirty="0" smtClean="0">
                                    <a:solidFill>
                                      <a:srgbClr val="0000FF"/>
                                    </a:solidFill>
                                    <a:latin typeface="Cambria Math" panose="02040503050406030204" pitchFamily="18" charset="0"/>
                                  </a:rPr>
                                </m:ctrlPr>
                              </m:sSubPr>
                              <m:e>
                                <m:r>
                                  <a:rPr lang="en-US" sz="2400" b="1" i="1" dirty="0" smtClean="0">
                                    <a:solidFill>
                                      <a:srgbClr val="0000FF"/>
                                    </a:solidFill>
                                    <a:latin typeface="Cambria Math" panose="02040503050406030204" pitchFamily="18" charset="0"/>
                                  </a:rPr>
                                  <m:t>𝑿</m:t>
                                </m:r>
                              </m:e>
                              <m:sub>
                                <m:r>
                                  <a:rPr lang="en-US" sz="2400" b="1" i="1" dirty="0" smtClean="0">
                                    <a:solidFill>
                                      <a:srgbClr val="0000FF"/>
                                    </a:solidFill>
                                    <a:latin typeface="Cambria Math" panose="02040503050406030204" pitchFamily="18" charset="0"/>
                                  </a:rPr>
                                  <m:t>𝒅𝒃</m:t>
                                </m:r>
                              </m:sub>
                            </m:sSub>
                          </m:num>
                          <m:den>
                            <m:r>
                              <a:rPr lang="en-US" sz="2400" b="1" i="1" dirty="0" smtClean="0">
                                <a:solidFill>
                                  <a:srgbClr val="0000FF"/>
                                </a:solidFill>
                                <a:latin typeface="Cambria Math" panose="02040503050406030204" pitchFamily="18" charset="0"/>
                              </a:rPr>
                              <m:t>𝟏𝟎</m:t>
                            </m:r>
                          </m:den>
                        </m:f>
                      </m:sup>
                    </m:sSup>
                    <m:r>
                      <a:rPr lang="en-US" sz="2400" b="1" i="1" dirty="0" smtClean="0">
                        <a:solidFill>
                          <a:srgbClr val="0000FF"/>
                        </a:solidFill>
                        <a:latin typeface="Cambria Math" panose="02040503050406030204" pitchFamily="18" charset="0"/>
                      </a:rPr>
                      <m:t>=</m:t>
                    </m:r>
                    <m:sSub>
                      <m:sSubPr>
                        <m:ctrlPr>
                          <a:rPr lang="en-US" sz="2400" b="1" i="1" dirty="0" smtClean="0">
                            <a:solidFill>
                              <a:srgbClr val="0000FF"/>
                            </a:solidFill>
                            <a:latin typeface="Cambria Math" panose="02040503050406030204" pitchFamily="18" charset="0"/>
                          </a:rPr>
                        </m:ctrlPr>
                      </m:sSubPr>
                      <m:e>
                        <m:r>
                          <a:rPr lang="en-US" sz="2400" b="1" i="1" dirty="0" smtClean="0">
                            <a:solidFill>
                              <a:srgbClr val="0000FF"/>
                            </a:solidFill>
                            <a:latin typeface="Cambria Math" panose="02040503050406030204" pitchFamily="18" charset="0"/>
                          </a:rPr>
                          <m:t>𝑿</m:t>
                        </m:r>
                      </m:e>
                      <m:sub>
                        <m:r>
                          <a:rPr lang="en-US" sz="2400" b="1" i="1" dirty="0" smtClean="0">
                            <a:solidFill>
                              <a:srgbClr val="0000FF"/>
                            </a:solidFill>
                            <a:latin typeface="Cambria Math" panose="02040503050406030204" pitchFamily="18" charset="0"/>
                          </a:rPr>
                          <m:t>𝒍𝒊𝒏𝒆𝒂𝒓</m:t>
                        </m:r>
                      </m:sub>
                    </m:sSub>
                  </m:oMath>
                </a14:m>
                <a:r>
                  <a:rPr lang="en-US" sz="2400" b="1" dirty="0">
                    <a:solidFill>
                      <a:srgbClr val="0000FF"/>
                    </a:solidFill>
                  </a:rPr>
                  <a:t> </a:t>
                </a:r>
                <a:endParaRPr lang="en-US" sz="2400" dirty="0"/>
              </a:p>
            </p:txBody>
          </p:sp>
        </mc:Choice>
        <mc:Fallback xmlns="">
          <p:sp>
            <p:nvSpPr>
              <p:cNvPr id="6" name="TextBox 5">
                <a:extLst>
                  <a:ext uri="{FF2B5EF4-FFF2-40B4-BE49-F238E27FC236}">
                    <a16:creationId xmlns:a16="http://schemas.microsoft.com/office/drawing/2014/main" id="{E72D43A3-01AB-090E-A67C-9B31F1EC1E23}"/>
                  </a:ext>
                </a:extLst>
              </p:cNvPr>
              <p:cNvSpPr txBox="1">
                <a:spLocks noRot="1" noChangeAspect="1" noMove="1" noResize="1" noEditPoints="1" noAdjustHandles="1" noChangeArrowheads="1" noChangeShapeType="1" noTextEdit="1"/>
              </p:cNvSpPr>
              <p:nvPr/>
            </p:nvSpPr>
            <p:spPr>
              <a:xfrm>
                <a:off x="1236520" y="5357311"/>
                <a:ext cx="6670959" cy="996363"/>
              </a:xfrm>
              <a:prstGeom prst="rect">
                <a:avLst/>
              </a:prstGeom>
              <a:blipFill>
                <a:blip r:embed="rId2"/>
                <a:stretch>
                  <a:fillRect t="-4908"/>
                </a:stretch>
              </a:blipFill>
            </p:spPr>
            <p:txBody>
              <a:bodyPr/>
              <a:lstStyle/>
              <a:p>
                <a:r>
                  <a:rPr lang="en-US">
                    <a:noFill/>
                  </a:rPr>
                  <a:t> </a:t>
                </a:r>
              </a:p>
            </p:txBody>
          </p:sp>
        </mc:Fallback>
      </mc:AlternateContent>
    </p:spTree>
    <p:extLst>
      <p:ext uri="{BB962C8B-B14F-4D97-AF65-F5344CB8AC3E}">
        <p14:creationId xmlns:p14="http://schemas.microsoft.com/office/powerpoint/2010/main" val="567582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52533-847C-EAC3-1DF0-F9DCAB43CC38}"/>
              </a:ext>
            </a:extLst>
          </p:cNvPr>
          <p:cNvSpPr>
            <a:spLocks noGrp="1"/>
          </p:cNvSpPr>
          <p:nvPr>
            <p:ph type="title"/>
          </p:nvPr>
        </p:nvSpPr>
        <p:spPr/>
        <p:txBody>
          <a:bodyPr/>
          <a:lstStyle/>
          <a:p>
            <a:r>
              <a:rPr lang="en-US" dirty="0"/>
              <a:t>Eb/N0 (linear units)</a:t>
            </a:r>
          </a:p>
        </p:txBody>
      </p:sp>
      <p:sp>
        <p:nvSpPr>
          <p:cNvPr id="4" name="Slide Number Placeholder 3">
            <a:extLst>
              <a:ext uri="{FF2B5EF4-FFF2-40B4-BE49-F238E27FC236}">
                <a16:creationId xmlns:a16="http://schemas.microsoft.com/office/drawing/2014/main" id="{27DC6F58-40BC-516A-1B23-3A7D923672DF}"/>
              </a:ext>
            </a:extLst>
          </p:cNvPr>
          <p:cNvSpPr>
            <a:spLocks noGrp="1"/>
          </p:cNvSpPr>
          <p:nvPr>
            <p:ph type="sldNum" sz="quarter" idx="12"/>
          </p:nvPr>
        </p:nvSpPr>
        <p:spPr/>
        <p:txBody>
          <a:bodyPr/>
          <a:lstStyle/>
          <a:p>
            <a:fld id="{9A3029B7-FE6B-4680-9049-80E8298A0825}" type="slidenum">
              <a:rPr lang="en-US" smtClean="0"/>
              <a:t>12</a:t>
            </a:fld>
            <a:endParaRPr lang="en-US"/>
          </a:p>
        </p:txBody>
      </p:sp>
      <mc:AlternateContent xmlns:mc="http://schemas.openxmlformats.org/markup-compatibility/2006" xmlns:a14="http://schemas.microsoft.com/office/drawing/2010/main">
        <mc:Choice Requires="a14">
          <p:sp>
            <p:nvSpPr>
              <p:cNvPr id="5" name="Content Placeholder 5">
                <a:extLst>
                  <a:ext uri="{FF2B5EF4-FFF2-40B4-BE49-F238E27FC236}">
                    <a16:creationId xmlns:a16="http://schemas.microsoft.com/office/drawing/2014/main" id="{AC660692-D916-59BD-2A30-14C192C1AF70}"/>
                  </a:ext>
                </a:extLst>
              </p:cNvPr>
              <p:cNvSpPr>
                <a:spLocks noGrp="1"/>
              </p:cNvSpPr>
              <p:nvPr>
                <p:ph idx="1"/>
              </p:nvPr>
            </p:nvSpPr>
            <p:spPr>
              <a:xfrm>
                <a:off x="175418" y="1027754"/>
                <a:ext cx="8793163" cy="5619914"/>
              </a:xfrm>
            </p:spPr>
            <p:txBody>
              <a:bodyPr>
                <a:normAutofit fontScale="70000" lnSpcReduction="20000"/>
              </a:bodyPr>
              <a:lstStyle/>
              <a:p>
                <a:pPr marL="0" indent="0">
                  <a:buNone/>
                </a:pPr>
                <a14:m>
                  <m:oMath xmlns:m="http://schemas.openxmlformats.org/officeDocument/2006/math">
                    <m:sSub>
                      <m:sSubPr>
                        <m:ctrlPr>
                          <a:rPr lang="en-US" sz="3400" b="0" i="1" kern="0" smtClean="0">
                            <a:latin typeface="Cambria Math" panose="02040503050406030204" pitchFamily="18" charset="0"/>
                          </a:rPr>
                        </m:ctrlPr>
                      </m:sSubPr>
                      <m:e>
                        <m:r>
                          <a:rPr lang="en-US" sz="3400" b="0" i="1" kern="0" smtClean="0">
                            <a:latin typeface="Cambria Math" panose="02040503050406030204" pitchFamily="18" charset="0"/>
                          </a:rPr>
                          <m:t>𝐸</m:t>
                        </m:r>
                      </m:e>
                      <m:sub>
                        <m:r>
                          <a:rPr lang="en-US" sz="3400" b="0" i="1" kern="0" smtClean="0">
                            <a:latin typeface="Cambria Math" panose="02040503050406030204" pitchFamily="18" charset="0"/>
                          </a:rPr>
                          <m:t>𝑏</m:t>
                        </m:r>
                      </m:sub>
                    </m:sSub>
                    <m:r>
                      <a:rPr lang="en-US" sz="3400" b="0" i="1" kern="0" smtClean="0">
                        <a:latin typeface="Cambria Math" panose="02040503050406030204" pitchFamily="18" charset="0"/>
                      </a:rPr>
                      <m:t>/</m:t>
                    </m:r>
                    <m:sSub>
                      <m:sSubPr>
                        <m:ctrlPr>
                          <a:rPr lang="en-US" sz="3400" b="0" i="1" kern="0" smtClean="0">
                            <a:latin typeface="Cambria Math" panose="02040503050406030204" pitchFamily="18" charset="0"/>
                          </a:rPr>
                        </m:ctrlPr>
                      </m:sSubPr>
                      <m:e>
                        <m:r>
                          <a:rPr lang="en-US" sz="3400" b="0" i="1" kern="0" smtClean="0">
                            <a:latin typeface="Cambria Math" panose="02040503050406030204" pitchFamily="18" charset="0"/>
                          </a:rPr>
                          <m:t>𝑁</m:t>
                        </m:r>
                      </m:e>
                      <m:sub>
                        <m:r>
                          <a:rPr lang="en-US" sz="3400" b="0" i="1" kern="0" smtClean="0">
                            <a:latin typeface="Cambria Math" panose="02040503050406030204" pitchFamily="18" charset="0"/>
                          </a:rPr>
                          <m:t>0</m:t>
                        </m:r>
                      </m:sub>
                    </m:sSub>
                  </m:oMath>
                </a14:m>
                <a:r>
                  <a:rPr lang="en-US" sz="3400" kern="0" dirty="0"/>
                  <a:t> is the “SNR” used in digital satcom</a:t>
                </a:r>
                <a:endParaRPr lang="en-US" sz="2900" i="1" dirty="0">
                  <a:latin typeface="Cambria Math" panose="02040503050406030204" pitchFamily="18" charset="0"/>
                </a:endParaRPr>
              </a:p>
              <a:p>
                <a:pPr marL="0" indent="0">
                  <a:buNone/>
                </a:pPr>
                <a:endParaRPr lang="en-US" sz="45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
                        <m:fPr>
                          <m:ctrlPr>
                            <a:rPr lang="en-US" sz="4500" i="1" smtClean="0">
                              <a:latin typeface="Cambria Math" panose="02040503050406030204" pitchFamily="18" charset="0"/>
                            </a:rPr>
                          </m:ctrlPr>
                        </m:fPr>
                        <m:num>
                          <m:sSub>
                            <m:sSubPr>
                              <m:ctrlPr>
                                <a:rPr lang="en-US" sz="4500" i="1">
                                  <a:latin typeface="Cambria Math" panose="02040503050406030204" pitchFamily="18" charset="0"/>
                                </a:rPr>
                              </m:ctrlPr>
                            </m:sSubPr>
                            <m:e>
                              <m:r>
                                <m:rPr>
                                  <m:sty m:val="p"/>
                                </m:rPr>
                                <a:rPr lang="en-US" sz="4500">
                                  <a:latin typeface="Cambria Math" panose="02040503050406030204" pitchFamily="18" charset="0"/>
                                </a:rPr>
                                <m:t>E</m:t>
                              </m:r>
                            </m:e>
                            <m:sub>
                              <m:r>
                                <m:rPr>
                                  <m:sty m:val="p"/>
                                </m:rPr>
                                <a:rPr lang="en-US" sz="4500">
                                  <a:latin typeface="Cambria Math" panose="02040503050406030204" pitchFamily="18" charset="0"/>
                                </a:rPr>
                                <m:t>b</m:t>
                              </m:r>
                            </m:sub>
                          </m:sSub>
                        </m:num>
                        <m:den>
                          <m:sSub>
                            <m:sSubPr>
                              <m:ctrlPr>
                                <a:rPr lang="en-US" sz="4500" i="1">
                                  <a:latin typeface="Cambria Math" panose="02040503050406030204" pitchFamily="18" charset="0"/>
                                </a:rPr>
                              </m:ctrlPr>
                            </m:sSubPr>
                            <m:e>
                              <m:r>
                                <m:rPr>
                                  <m:sty m:val="p"/>
                                </m:rPr>
                                <a:rPr lang="en-US" sz="4500">
                                  <a:latin typeface="Cambria Math" panose="02040503050406030204" pitchFamily="18" charset="0"/>
                                </a:rPr>
                                <m:t>N</m:t>
                              </m:r>
                            </m:e>
                            <m:sub>
                              <m:r>
                                <a:rPr lang="en-US" sz="4500">
                                  <a:latin typeface="Cambria Math" panose="02040503050406030204" pitchFamily="18" charset="0"/>
                                </a:rPr>
                                <m:t>0</m:t>
                              </m:r>
                            </m:sub>
                          </m:sSub>
                        </m:den>
                      </m:f>
                      <m:r>
                        <a:rPr lang="en-US" sz="4500">
                          <a:latin typeface="Cambria Math" panose="02040503050406030204" pitchFamily="18" charset="0"/>
                        </a:rPr>
                        <m:t>=</m:t>
                      </m:r>
                      <m:f>
                        <m:fPr>
                          <m:ctrlPr>
                            <a:rPr lang="en-US" sz="4500" i="1">
                              <a:latin typeface="Cambria Math" panose="02040503050406030204" pitchFamily="18" charset="0"/>
                            </a:rPr>
                          </m:ctrlPr>
                        </m:fPr>
                        <m:num>
                          <m:r>
                            <a:rPr lang="en-US" sz="4500" i="1">
                              <a:latin typeface="Cambria Math" panose="02040503050406030204" pitchFamily="18" charset="0"/>
                            </a:rPr>
                            <m:t>𝑃</m:t>
                          </m:r>
                          <m:sSub>
                            <m:sSubPr>
                              <m:ctrlPr>
                                <a:rPr lang="en-US" sz="4500" i="1">
                                  <a:latin typeface="Cambria Math" panose="02040503050406030204" pitchFamily="18" charset="0"/>
                                </a:rPr>
                              </m:ctrlPr>
                            </m:sSubPr>
                            <m:e>
                              <m:r>
                                <a:rPr lang="en-US" sz="4500" i="1">
                                  <a:latin typeface="Cambria Math" panose="02040503050406030204" pitchFamily="18" charset="0"/>
                                </a:rPr>
                                <m:t>𝐿</m:t>
                              </m:r>
                            </m:e>
                            <m:sub>
                              <m:r>
                                <a:rPr lang="en-US" sz="4500" i="1">
                                  <a:latin typeface="Cambria Math" panose="02040503050406030204" pitchFamily="18" charset="0"/>
                                </a:rPr>
                                <m:t>𝑙</m:t>
                              </m:r>
                            </m:sub>
                          </m:sSub>
                          <m:sSub>
                            <m:sSubPr>
                              <m:ctrlPr>
                                <a:rPr lang="en-US" sz="4500" i="1">
                                  <a:latin typeface="Cambria Math" panose="02040503050406030204" pitchFamily="18" charset="0"/>
                                </a:rPr>
                              </m:ctrlPr>
                            </m:sSubPr>
                            <m:e>
                              <m:r>
                                <a:rPr lang="en-US" sz="4500" i="1">
                                  <a:latin typeface="Cambria Math" panose="02040503050406030204" pitchFamily="18" charset="0"/>
                                </a:rPr>
                                <m:t>𝐺</m:t>
                              </m:r>
                            </m:e>
                            <m:sub>
                              <m:r>
                                <a:rPr lang="en-US" sz="4500" i="1">
                                  <a:latin typeface="Cambria Math" panose="02040503050406030204" pitchFamily="18" charset="0"/>
                                </a:rPr>
                                <m:t>𝑡</m:t>
                              </m:r>
                            </m:sub>
                          </m:sSub>
                          <m:sSub>
                            <m:sSubPr>
                              <m:ctrlPr>
                                <a:rPr lang="en-US" sz="4500" i="1">
                                  <a:latin typeface="Cambria Math" panose="02040503050406030204" pitchFamily="18" charset="0"/>
                                </a:rPr>
                              </m:ctrlPr>
                            </m:sSubPr>
                            <m:e>
                              <m:r>
                                <a:rPr lang="en-US" sz="4500" i="1">
                                  <a:latin typeface="Cambria Math" panose="02040503050406030204" pitchFamily="18" charset="0"/>
                                </a:rPr>
                                <m:t>𝐿</m:t>
                              </m:r>
                            </m:e>
                            <m:sub>
                              <m:r>
                                <a:rPr lang="en-US" sz="4500" i="1">
                                  <a:latin typeface="Cambria Math" panose="02040503050406030204" pitchFamily="18" charset="0"/>
                                </a:rPr>
                                <m:t>𝑠</m:t>
                              </m:r>
                            </m:sub>
                          </m:sSub>
                          <m:sSub>
                            <m:sSubPr>
                              <m:ctrlPr>
                                <a:rPr lang="en-US" sz="4500" i="1">
                                  <a:latin typeface="Cambria Math" panose="02040503050406030204" pitchFamily="18" charset="0"/>
                                </a:rPr>
                              </m:ctrlPr>
                            </m:sSubPr>
                            <m:e>
                              <m:r>
                                <a:rPr lang="en-US" sz="4500" i="1">
                                  <a:latin typeface="Cambria Math" panose="02040503050406030204" pitchFamily="18" charset="0"/>
                                </a:rPr>
                                <m:t>𝐿</m:t>
                              </m:r>
                            </m:e>
                            <m:sub>
                              <m:r>
                                <a:rPr lang="en-US" sz="4500" i="1">
                                  <a:latin typeface="Cambria Math" panose="02040503050406030204" pitchFamily="18" charset="0"/>
                                </a:rPr>
                                <m:t>𝑚</m:t>
                              </m:r>
                            </m:sub>
                          </m:sSub>
                          <m:sSub>
                            <m:sSubPr>
                              <m:ctrlPr>
                                <a:rPr lang="en-US" sz="4500" i="1">
                                  <a:latin typeface="Cambria Math" panose="02040503050406030204" pitchFamily="18" charset="0"/>
                                </a:rPr>
                              </m:ctrlPr>
                            </m:sSubPr>
                            <m:e>
                              <m:r>
                                <a:rPr lang="en-US" sz="4500" i="1">
                                  <a:latin typeface="Cambria Math" panose="02040503050406030204" pitchFamily="18" charset="0"/>
                                </a:rPr>
                                <m:t>𝐺</m:t>
                              </m:r>
                            </m:e>
                            <m:sub>
                              <m:r>
                                <a:rPr lang="en-US" sz="4500" i="1">
                                  <a:latin typeface="Cambria Math" panose="02040503050406030204" pitchFamily="18" charset="0"/>
                                </a:rPr>
                                <m:t>𝑟</m:t>
                              </m:r>
                            </m:sub>
                          </m:sSub>
                        </m:num>
                        <m:den>
                          <m:r>
                            <a:rPr lang="en-US" sz="4500" i="1">
                              <a:latin typeface="Cambria Math" panose="02040503050406030204" pitchFamily="18" charset="0"/>
                            </a:rPr>
                            <m:t>𝑘</m:t>
                          </m:r>
                          <m:sSub>
                            <m:sSubPr>
                              <m:ctrlPr>
                                <a:rPr lang="en-US" sz="4500" i="1">
                                  <a:latin typeface="Cambria Math" panose="02040503050406030204" pitchFamily="18" charset="0"/>
                                </a:rPr>
                              </m:ctrlPr>
                            </m:sSubPr>
                            <m:e>
                              <m:r>
                                <a:rPr lang="en-US" sz="4500" i="1">
                                  <a:latin typeface="Cambria Math" panose="02040503050406030204" pitchFamily="18" charset="0"/>
                                </a:rPr>
                                <m:t>𝑇</m:t>
                              </m:r>
                            </m:e>
                            <m:sub>
                              <m:r>
                                <a:rPr lang="en-US" sz="4500" i="1">
                                  <a:latin typeface="Cambria Math" panose="02040503050406030204" pitchFamily="18" charset="0"/>
                                </a:rPr>
                                <m:t>𝑠</m:t>
                              </m:r>
                            </m:sub>
                          </m:sSub>
                          <m:r>
                            <a:rPr lang="en-US" sz="4500" i="1">
                              <a:latin typeface="Cambria Math" panose="02040503050406030204" pitchFamily="18" charset="0"/>
                            </a:rPr>
                            <m:t>𝑅</m:t>
                          </m:r>
                        </m:den>
                      </m:f>
                    </m:oMath>
                  </m:oMathPara>
                </a14:m>
                <a:endParaRPr lang="en-US" dirty="0"/>
              </a:p>
              <a:p>
                <a:pPr marL="0" indent="0">
                  <a:buNone/>
                </a:pPr>
                <a:r>
                  <a:rPr lang="en-US" dirty="0"/>
                  <a:t> </a:t>
                </a:r>
              </a:p>
              <a:p>
                <a:pPr marL="0" indent="0">
                  <a:buNone/>
                </a:pPr>
                <a14:m>
                  <m:oMath xmlns:m="http://schemas.openxmlformats.org/officeDocument/2006/math">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𝑬</m:t>
                            </m:r>
                          </m:e>
                          <m:sub>
                            <m:r>
                              <a:rPr lang="en-US" b="1" i="1">
                                <a:latin typeface="Cambria Math" panose="02040503050406030204" pitchFamily="18" charset="0"/>
                              </a:rPr>
                              <m:t>𝒃</m:t>
                            </m:r>
                          </m:sub>
                        </m:sSub>
                      </m:num>
                      <m:den>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smtClean="0">
                                <a:latin typeface="Cambria Math" panose="02040503050406030204" pitchFamily="18" charset="0"/>
                              </a:rPr>
                              <m:t>𝟎</m:t>
                            </m:r>
                          </m:sub>
                        </m:sSub>
                      </m:den>
                    </m:f>
                  </m:oMath>
                </a14:m>
                <a:r>
                  <a:rPr lang="en-US" b="1" dirty="0"/>
                  <a:t> = ratio of received energy-per-bit to noise-density</a:t>
                </a:r>
              </a:p>
              <a:p>
                <a:pPr marL="0" indent="0">
                  <a:buNone/>
                </a:pPr>
                <a:r>
                  <a:rPr lang="en-US" dirty="0"/>
                  <a:t>P = transmitted power (W)</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𝑙</m:t>
                        </m:r>
                      </m:sub>
                    </m:sSub>
                  </m:oMath>
                </a14:m>
                <a:r>
                  <a:rPr lang="en-US" dirty="0"/>
                  <a:t> = transmitter to antenna line loss (</a:t>
                </a:r>
                <a:r>
                  <a:rPr lang="en-US" dirty="0" err="1"/>
                  <a:t>unitless</a:t>
                </a:r>
                <a:r>
                  <a:rPr lang="en-US" dirty="0"/>
                  <a:t> &lt; 1)</a:t>
                </a:r>
              </a:p>
              <a:p>
                <a:pPr marL="0" indent="0">
                  <a:buNone/>
                </a:pPr>
                <a:r>
                  <a:rPr lang="en-US" dirty="0"/>
                  <a:t>G</a:t>
                </a:r>
                <a:r>
                  <a:rPr lang="en-US" baseline="-25000" dirty="0"/>
                  <a:t>t</a:t>
                </a:r>
                <a:r>
                  <a:rPr lang="en-US" dirty="0"/>
                  <a:t> = transmitter antenna gain (</a:t>
                </a:r>
                <a:r>
                  <a:rPr lang="en-US" dirty="0" err="1"/>
                  <a:t>unitless</a:t>
                </a:r>
                <a:r>
                  <a:rPr lang="en-US" dirty="0"/>
                  <a:t>)</a:t>
                </a:r>
              </a:p>
              <a:p>
                <a:pPr marL="0" indent="0">
                  <a:buNone/>
                </a:pPr>
                <a:r>
                  <a:rPr lang="en-US" dirty="0"/>
                  <a:t>L</a:t>
                </a:r>
                <a:r>
                  <a:rPr lang="en-US" baseline="-25000" dirty="0"/>
                  <a:t>s</a:t>
                </a:r>
                <a:r>
                  <a:rPr lang="en-US" dirty="0"/>
                  <a:t> = free space path loss (</a:t>
                </a:r>
                <a:r>
                  <a:rPr lang="en-US" dirty="0" err="1"/>
                  <a:t>unitless</a:t>
                </a:r>
                <a:r>
                  <a:rPr lang="en-US" dirty="0"/>
                  <a:t> &lt; 1)</a:t>
                </a:r>
              </a:p>
              <a:p>
                <a:pPr marL="0" indent="0">
                  <a:buNone/>
                </a:pPr>
                <a:r>
                  <a:rPr lang="en-US" dirty="0"/>
                  <a:t>L</a:t>
                </a:r>
                <a:r>
                  <a:rPr lang="en-US" baseline="-25000" dirty="0"/>
                  <a:t>m</a:t>
                </a:r>
                <a:r>
                  <a:rPr lang="en-US" dirty="0"/>
                  <a:t> = miscellaneous loss (unitless &lt; 1)</a:t>
                </a:r>
              </a:p>
              <a:p>
                <a:pPr marL="0" indent="0">
                  <a:buNone/>
                </a:pPr>
                <a:r>
                  <a:rPr lang="en-US" dirty="0"/>
                  <a:t>G</a:t>
                </a:r>
                <a:r>
                  <a:rPr lang="en-US" baseline="-25000" dirty="0"/>
                  <a:t>r</a:t>
                </a:r>
                <a:r>
                  <a:rPr lang="en-US" dirty="0"/>
                  <a:t> = receiver antenna gain (</a:t>
                </a:r>
                <a:r>
                  <a:rPr lang="en-US" dirty="0" err="1"/>
                  <a:t>unitless</a:t>
                </a:r>
                <a:r>
                  <a:rPr lang="en-US" dirty="0"/>
                  <a:t>)</a:t>
                </a:r>
              </a:p>
              <a:p>
                <a:pPr marL="0" indent="0">
                  <a:buNone/>
                </a:pPr>
                <a:r>
                  <a:rPr lang="en-US" dirty="0"/>
                  <a:t>k = Boltzmann’s constant (1.38 * 10</a:t>
                </a:r>
                <a:r>
                  <a:rPr lang="en-US" baseline="30000" dirty="0"/>
                  <a:t>-23</a:t>
                </a:r>
                <a:r>
                  <a:rPr lang="en-US" dirty="0"/>
                  <a:t> J/K) </a:t>
                </a:r>
              </a:p>
              <a:p>
                <a:pPr marL="0" indent="0">
                  <a:buNone/>
                </a:pPr>
                <a:r>
                  <a:rPr lang="en-US" dirty="0" err="1"/>
                  <a:t>T</a:t>
                </a:r>
                <a:r>
                  <a:rPr lang="en-US" baseline="-25000" dirty="0" err="1"/>
                  <a:t>s</a:t>
                </a:r>
                <a:r>
                  <a:rPr lang="en-US" dirty="0"/>
                  <a:t> = temperature of receiver system (K)</a:t>
                </a:r>
              </a:p>
              <a:p>
                <a:pPr marL="0" indent="0">
                  <a:buNone/>
                </a:pPr>
                <a:r>
                  <a:rPr lang="en-US" dirty="0"/>
                  <a:t>R = data rate (bits per second)</a:t>
                </a:r>
              </a:p>
            </p:txBody>
          </p:sp>
        </mc:Choice>
        <mc:Fallback xmlns="">
          <p:sp>
            <p:nvSpPr>
              <p:cNvPr id="5" name="Content Placeholder 5">
                <a:extLst>
                  <a:ext uri="{FF2B5EF4-FFF2-40B4-BE49-F238E27FC236}">
                    <a16:creationId xmlns:a16="http://schemas.microsoft.com/office/drawing/2014/main" id="{AC660692-D916-59BD-2A30-14C192C1AF70}"/>
                  </a:ext>
                </a:extLst>
              </p:cNvPr>
              <p:cNvSpPr>
                <a:spLocks noGrp="1" noRot="1" noChangeAspect="1" noMove="1" noResize="1" noEditPoints="1" noAdjustHandles="1" noChangeArrowheads="1" noChangeShapeType="1" noTextEdit="1"/>
              </p:cNvSpPr>
              <p:nvPr>
                <p:ph idx="1"/>
              </p:nvPr>
            </p:nvSpPr>
            <p:spPr>
              <a:xfrm>
                <a:off x="175418" y="1027754"/>
                <a:ext cx="8793163" cy="5619914"/>
              </a:xfrm>
              <a:blipFill>
                <a:blip r:embed="rId3"/>
                <a:stretch>
                  <a:fillRect l="-763" t="-2606" b="-76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6667C3D-EC0E-8876-5A1E-0FA9500A1839}"/>
              </a:ext>
            </a:extLst>
          </p:cNvPr>
          <p:cNvSpPr/>
          <p:nvPr/>
        </p:nvSpPr>
        <p:spPr>
          <a:xfrm>
            <a:off x="0" y="0"/>
            <a:ext cx="9144000" cy="6858000"/>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978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66B95-1DE8-1964-A51B-9FE06381BEB2}"/>
              </a:ext>
            </a:extLst>
          </p:cNvPr>
          <p:cNvSpPr>
            <a:spLocks noGrp="1"/>
          </p:cNvSpPr>
          <p:nvPr>
            <p:ph type="title"/>
          </p:nvPr>
        </p:nvSpPr>
        <p:spPr/>
        <p:txBody>
          <a:bodyPr/>
          <a:lstStyle/>
          <a:p>
            <a:r>
              <a:rPr lang="en-US" dirty="0"/>
              <a:t>Eb/No (Decibels)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FA04FA-7D9E-8071-60EB-58B734D2CB4E}"/>
                  </a:ext>
                </a:extLst>
              </p:cNvPr>
              <p:cNvSpPr>
                <a:spLocks noGrp="1"/>
              </p:cNvSpPr>
              <p:nvPr>
                <p:ph idx="1"/>
              </p:nvPr>
            </p:nvSpPr>
            <p:spPr>
              <a:xfrm>
                <a:off x="200025" y="1002506"/>
                <a:ext cx="8793015" cy="5462600"/>
              </a:xfrm>
            </p:spPr>
            <p:txBody>
              <a:bodyPr>
                <a:normAutofit fontScale="77500" lnSpcReduction="20000"/>
              </a:bodyPr>
              <a:lstStyle/>
              <a:p>
                <a:pPr marL="0" indent="0">
                  <a:buNone/>
                </a:pPr>
                <a:r>
                  <a:rPr lang="en-US" b="1" dirty="0">
                    <a:solidFill>
                      <a:srgbClr val="0000FF"/>
                    </a:solidFill>
                  </a:rPr>
                  <a:t>In decibels: </a:t>
                </a:r>
                <a14:m>
                  <m:oMath xmlns:m="http://schemas.openxmlformats.org/officeDocument/2006/math">
                    <m:sSub>
                      <m:sSubPr>
                        <m:ctrlPr>
                          <a:rPr lang="en-US" b="1" i="1">
                            <a:solidFill>
                              <a:srgbClr val="0000FF"/>
                            </a:solidFill>
                            <a:latin typeface="Cambria Math" panose="02040503050406030204" pitchFamily="18" charset="0"/>
                          </a:rPr>
                        </m:ctrlPr>
                      </m:sSubPr>
                      <m:e>
                        <m:r>
                          <a:rPr lang="en-US" b="1" i="1">
                            <a:solidFill>
                              <a:srgbClr val="0000FF"/>
                            </a:solidFill>
                            <a:latin typeface="Cambria Math" panose="02040503050406030204" pitchFamily="18" charset="0"/>
                          </a:rPr>
                          <m:t>𝑿</m:t>
                        </m:r>
                      </m:e>
                      <m:sub>
                        <m:r>
                          <a:rPr lang="en-US" b="1" i="1">
                            <a:solidFill>
                              <a:srgbClr val="0000FF"/>
                            </a:solidFill>
                            <a:latin typeface="Cambria Math" panose="02040503050406030204" pitchFamily="18" charset="0"/>
                          </a:rPr>
                          <m:t>𝒅𝒃</m:t>
                        </m:r>
                      </m:sub>
                    </m:sSub>
                    <m:r>
                      <a:rPr lang="en-US" b="1" i="1">
                        <a:solidFill>
                          <a:srgbClr val="0000FF"/>
                        </a:solidFill>
                        <a:latin typeface="Cambria Math" panose="02040503050406030204" pitchFamily="18" charset="0"/>
                      </a:rPr>
                      <m:t>=</m:t>
                    </m:r>
                    <m:r>
                      <a:rPr lang="en-US" b="1" i="1">
                        <a:solidFill>
                          <a:srgbClr val="0000FF"/>
                        </a:solidFill>
                        <a:latin typeface="Cambria Math" panose="02040503050406030204" pitchFamily="18" charset="0"/>
                      </a:rPr>
                      <m:t>𝟏𝟎</m:t>
                    </m:r>
                    <m:sSub>
                      <m:sSubPr>
                        <m:ctrlPr>
                          <a:rPr lang="en-US" b="1" i="1">
                            <a:solidFill>
                              <a:srgbClr val="0000FF"/>
                            </a:solidFill>
                            <a:latin typeface="Cambria Math" panose="02040503050406030204" pitchFamily="18" charset="0"/>
                          </a:rPr>
                        </m:ctrlPr>
                      </m:sSubPr>
                      <m:e>
                        <m:r>
                          <a:rPr lang="en-US" b="1" i="1">
                            <a:solidFill>
                              <a:srgbClr val="0000FF"/>
                            </a:solidFill>
                            <a:latin typeface="Cambria Math" panose="02040503050406030204" pitchFamily="18" charset="0"/>
                          </a:rPr>
                          <m:t>𝒍𝒐𝒈</m:t>
                        </m:r>
                      </m:e>
                      <m:sub>
                        <m:r>
                          <a:rPr lang="en-US" b="1" i="1">
                            <a:solidFill>
                              <a:srgbClr val="0000FF"/>
                            </a:solidFill>
                            <a:latin typeface="Cambria Math" panose="02040503050406030204" pitchFamily="18" charset="0"/>
                          </a:rPr>
                          <m:t>𝟏𝟎</m:t>
                        </m:r>
                      </m:sub>
                    </m:sSub>
                    <m:sSub>
                      <m:sSubPr>
                        <m:ctrlPr>
                          <a:rPr lang="en-US" b="1" i="1" smtClean="0">
                            <a:solidFill>
                              <a:srgbClr val="0000FF"/>
                            </a:solidFill>
                            <a:latin typeface="Cambria Math" panose="02040503050406030204" pitchFamily="18" charset="0"/>
                          </a:rPr>
                        </m:ctrlPr>
                      </m:sSubPr>
                      <m:e>
                        <m:r>
                          <a:rPr lang="en-US" b="1" i="1">
                            <a:solidFill>
                              <a:srgbClr val="0000FF"/>
                            </a:solidFill>
                            <a:latin typeface="Cambria Math" panose="02040503050406030204" pitchFamily="18" charset="0"/>
                          </a:rPr>
                          <m:t>𝑿</m:t>
                        </m:r>
                      </m:e>
                      <m:sub>
                        <m:r>
                          <a:rPr lang="en-US" b="1" i="1" smtClean="0">
                            <a:solidFill>
                              <a:srgbClr val="0000FF"/>
                            </a:solidFill>
                            <a:latin typeface="Cambria Math" panose="02040503050406030204" pitchFamily="18" charset="0"/>
                          </a:rPr>
                          <m:t>𝒍𝒊𝒏𝒆𝒂𝒓</m:t>
                        </m:r>
                      </m:sub>
                    </m:sSub>
                  </m:oMath>
                </a14:m>
                <a:r>
                  <a:rPr lang="en-US" b="1" dirty="0">
                    <a:solidFill>
                      <a:srgbClr val="0000FF"/>
                    </a:solidFill>
                  </a:rPr>
                  <a:t> </a:t>
                </a:r>
                <a:endParaRPr lang="en-US" dirty="0"/>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sz="2600" i="1">
                              <a:latin typeface="Cambria Math" panose="02040503050406030204" pitchFamily="18" charset="0"/>
                            </a:rPr>
                          </m:ctrlPr>
                        </m:sSubPr>
                        <m:e>
                          <m:f>
                            <m:fPr>
                              <m:ctrlPr>
                                <a:rPr lang="en-US" sz="2600" i="1">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𝐸</m:t>
                                  </m:r>
                                </m:e>
                                <m:sub>
                                  <m:r>
                                    <a:rPr lang="en-US" sz="2600" i="1">
                                      <a:latin typeface="Cambria Math" panose="02040503050406030204" pitchFamily="18" charset="0"/>
                                    </a:rPr>
                                    <m:t>𝑏</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𝑁</m:t>
                                  </m:r>
                                </m:e>
                                <m:sub>
                                  <m:r>
                                    <a:rPr lang="en-US" sz="2600" i="1">
                                      <a:latin typeface="Cambria Math" panose="02040503050406030204" pitchFamily="18" charset="0"/>
                                    </a:rPr>
                                    <m:t>0</m:t>
                                  </m:r>
                                </m:sub>
                              </m:sSub>
                            </m:den>
                          </m:f>
                        </m:e>
                        <m:sub>
                          <m:r>
                            <a:rPr lang="en-US" sz="2600" i="1">
                              <a:latin typeface="Cambria Math" panose="02040503050406030204" pitchFamily="18" charset="0"/>
                            </a:rPr>
                            <m:t>𝑑𝐵</m:t>
                          </m:r>
                        </m:sub>
                      </m:sSub>
                      <m:r>
                        <a:rPr lang="en-US" sz="2600" i="1">
                          <a:latin typeface="Cambria Math" panose="02040503050406030204" pitchFamily="18" charset="0"/>
                        </a:rPr>
                        <m:t>=</m:t>
                      </m:r>
                      <m:r>
                        <a:rPr lang="en-US" sz="2600" i="1">
                          <a:latin typeface="Cambria Math" panose="02040503050406030204" pitchFamily="18" charset="0"/>
                        </a:rPr>
                        <m:t>𝑃</m:t>
                      </m:r>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𝐿</m:t>
                          </m:r>
                        </m:e>
                        <m:sub>
                          <m:r>
                            <a:rPr lang="en-US" sz="2600" i="1">
                              <a:latin typeface="Cambria Math" panose="02040503050406030204" pitchFamily="18" charset="0"/>
                            </a:rPr>
                            <m:t>𝑙</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i="1">
                              <a:latin typeface="Cambria Math" panose="02040503050406030204" pitchFamily="18" charset="0"/>
                            </a:rPr>
                            <m:t>𝑡</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𝐿</m:t>
                          </m:r>
                        </m:e>
                        <m:sub>
                          <m:r>
                            <a:rPr lang="en-US" sz="2600" i="1">
                              <a:latin typeface="Cambria Math" panose="02040503050406030204" pitchFamily="18" charset="0"/>
                            </a:rPr>
                            <m:t>𝑠</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𝐿</m:t>
                          </m:r>
                        </m:e>
                        <m:sub>
                          <m:r>
                            <a:rPr lang="en-US" sz="2600" i="1">
                              <a:latin typeface="Cambria Math" panose="02040503050406030204" pitchFamily="18" charset="0"/>
                            </a:rPr>
                            <m:t>𝑚</m:t>
                          </m:r>
                        </m:sub>
                      </m:sSub>
                      <m:r>
                        <a:rPr lang="en-US" sz="2600" i="1">
                          <a:latin typeface="Cambria Math" panose="02040503050406030204" pitchFamily="18" charset="0"/>
                        </a:rPr>
                        <m:t>+</m:t>
                      </m:r>
                      <m:sSub>
                        <m:sSubPr>
                          <m:ctrlPr>
                            <a:rPr lang="en-US" sz="2600" i="1">
                              <a:latin typeface="Cambria Math" panose="02040503050406030204" pitchFamily="18" charset="0"/>
                            </a:rPr>
                          </m:ctrlPr>
                        </m:sSubPr>
                        <m:e>
                          <m:r>
                            <a:rPr lang="en-US" sz="2600" i="1">
                              <a:latin typeface="Cambria Math" panose="02040503050406030204" pitchFamily="18" charset="0"/>
                            </a:rPr>
                            <m:t>𝐺</m:t>
                          </m:r>
                        </m:e>
                        <m:sub>
                          <m:r>
                            <a:rPr lang="en-US" sz="2600" i="1">
                              <a:latin typeface="Cambria Math" panose="02040503050406030204" pitchFamily="18" charset="0"/>
                            </a:rPr>
                            <m:t>𝑟</m:t>
                          </m:r>
                        </m:sub>
                      </m:sSub>
                      <m:r>
                        <a:rPr lang="en-US" sz="2600" i="1">
                          <a:latin typeface="Cambria Math" panose="02040503050406030204" pitchFamily="18" charset="0"/>
                        </a:rPr>
                        <m:t>+</m:t>
                      </m:r>
                      <m:r>
                        <a:rPr lang="en-US" sz="2600" i="1">
                          <a:latin typeface="Cambria Math" panose="02040503050406030204" pitchFamily="18" charset="0"/>
                        </a:rPr>
                        <m:t>228</m:t>
                      </m:r>
                      <m:r>
                        <a:rPr lang="en-US" sz="2600" i="1">
                          <a:latin typeface="Cambria Math" panose="02040503050406030204" pitchFamily="18" charset="0"/>
                        </a:rPr>
                        <m:t>.</m:t>
                      </m:r>
                      <m:r>
                        <a:rPr lang="en-US" sz="2600" i="1">
                          <a:latin typeface="Cambria Math" panose="02040503050406030204" pitchFamily="18" charset="0"/>
                        </a:rPr>
                        <m:t>6</m:t>
                      </m:r>
                      <m:r>
                        <a:rPr lang="en-US" sz="2600" i="1">
                          <a:latin typeface="Cambria Math" panose="02040503050406030204" pitchFamily="18" charset="0"/>
                        </a:rPr>
                        <m:t>−</m:t>
                      </m:r>
                      <m:r>
                        <a:rPr lang="en-US" sz="2600" i="1">
                          <a:latin typeface="Cambria Math" panose="02040503050406030204" pitchFamily="18" charset="0"/>
                        </a:rPr>
                        <m:t>10</m:t>
                      </m:r>
                      <m:func>
                        <m:funcPr>
                          <m:ctrlPr>
                            <a:rPr lang="en-US" sz="2600" i="1">
                              <a:latin typeface="Cambria Math" panose="02040503050406030204" pitchFamily="18" charset="0"/>
                            </a:rPr>
                          </m:ctrlPr>
                        </m:funcPr>
                        <m:fName>
                          <m:r>
                            <m:rPr>
                              <m:sty m:val="p"/>
                            </m:rPr>
                            <a:rPr lang="en-US" sz="2600">
                              <a:latin typeface="Cambria Math" panose="02040503050406030204" pitchFamily="18" charset="0"/>
                            </a:rPr>
                            <m:t>log</m:t>
                          </m:r>
                        </m:fName>
                        <m:e>
                          <m:sSub>
                            <m:sSubPr>
                              <m:ctrlPr>
                                <a:rPr lang="en-US" sz="2600" i="1">
                                  <a:latin typeface="Cambria Math" panose="02040503050406030204" pitchFamily="18" charset="0"/>
                                </a:rPr>
                              </m:ctrlPr>
                            </m:sSubPr>
                            <m:e>
                              <m:r>
                                <a:rPr lang="en-US" sz="2600" i="1">
                                  <a:latin typeface="Cambria Math" panose="02040503050406030204" pitchFamily="18" charset="0"/>
                                </a:rPr>
                                <m:t>𝑇</m:t>
                              </m:r>
                            </m:e>
                            <m:sub>
                              <m:r>
                                <a:rPr lang="en-US" sz="2600" i="1">
                                  <a:latin typeface="Cambria Math" panose="02040503050406030204" pitchFamily="18" charset="0"/>
                                </a:rPr>
                                <m:t>𝑠</m:t>
                              </m:r>
                            </m:sub>
                          </m:sSub>
                        </m:e>
                      </m:func>
                      <m:r>
                        <a:rPr lang="en-US" sz="2600" i="1">
                          <a:latin typeface="Cambria Math" panose="02040503050406030204" pitchFamily="18" charset="0"/>
                        </a:rPr>
                        <m:t>−</m:t>
                      </m:r>
                      <m:r>
                        <a:rPr lang="en-US" sz="2600" i="1">
                          <a:latin typeface="Cambria Math" panose="02040503050406030204" pitchFamily="18" charset="0"/>
                        </a:rPr>
                        <m:t>10</m:t>
                      </m:r>
                      <m:func>
                        <m:funcPr>
                          <m:ctrlPr>
                            <a:rPr lang="en-US" sz="2600" i="1">
                              <a:latin typeface="Cambria Math" panose="02040503050406030204" pitchFamily="18" charset="0"/>
                            </a:rPr>
                          </m:ctrlPr>
                        </m:funcPr>
                        <m:fName>
                          <m:r>
                            <m:rPr>
                              <m:sty m:val="p"/>
                            </m:rPr>
                            <a:rPr lang="en-US" sz="2600">
                              <a:latin typeface="Cambria Math" panose="02040503050406030204" pitchFamily="18" charset="0"/>
                            </a:rPr>
                            <m:t>log</m:t>
                          </m:r>
                        </m:fName>
                        <m:e>
                          <m:r>
                            <a:rPr lang="en-US" sz="2600" i="1">
                              <a:latin typeface="Cambria Math" panose="02040503050406030204" pitchFamily="18" charset="0"/>
                            </a:rPr>
                            <m:t>𝑅</m:t>
                          </m:r>
                        </m:e>
                      </m:func>
                      <m:r>
                        <a:rPr lang="en-US" sz="2600" i="1">
                          <a:latin typeface="Cambria Math" panose="02040503050406030204" pitchFamily="18" charset="0"/>
                        </a:rPr>
                        <m:t>   </m:t>
                      </m:r>
                      <m:d>
                        <m:dPr>
                          <m:ctrlPr>
                            <a:rPr lang="en-US" sz="2600" i="1">
                              <a:latin typeface="Cambria Math" panose="02040503050406030204" pitchFamily="18" charset="0"/>
                            </a:rPr>
                          </m:ctrlPr>
                        </m:dPr>
                        <m:e>
                          <m:r>
                            <a:rPr lang="en-US" sz="2600" i="1">
                              <a:latin typeface="Cambria Math" panose="02040503050406030204" pitchFamily="18" charset="0"/>
                            </a:rPr>
                            <m:t>𝑑𝐵</m:t>
                          </m:r>
                        </m:e>
                      </m:d>
                    </m:oMath>
                  </m:oMathPara>
                </a14:m>
                <a:endParaRPr lang="en-US" dirty="0"/>
              </a:p>
              <a:p>
                <a:pPr marL="0" indent="0">
                  <a:buNone/>
                </a:pPr>
                <a:endParaRPr lang="en-US" dirty="0"/>
              </a:p>
              <a:p>
                <a:pPr marL="0" indent="0">
                  <a:buNone/>
                </a:pPr>
                <a14:m>
                  <m:oMath xmlns:m="http://schemas.openxmlformats.org/officeDocument/2006/math">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panose="02040503050406030204" pitchFamily="18" charset="0"/>
                              </a:rPr>
                              <m:t>𝑬</m:t>
                            </m:r>
                          </m:e>
                          <m:sub>
                            <m:r>
                              <a:rPr lang="en-US" b="1" i="1">
                                <a:latin typeface="Cambria Math" panose="02040503050406030204" pitchFamily="18" charset="0"/>
                              </a:rPr>
                              <m:t>𝒃</m:t>
                            </m:r>
                          </m:sub>
                        </m:sSub>
                      </m:num>
                      <m:den>
                        <m:sSub>
                          <m:sSubPr>
                            <m:ctrlPr>
                              <a:rPr lang="en-US" b="1" i="1">
                                <a:latin typeface="Cambria Math" panose="02040503050406030204" pitchFamily="18" charset="0"/>
                              </a:rPr>
                            </m:ctrlPr>
                          </m:sSubPr>
                          <m:e>
                            <m:r>
                              <a:rPr lang="en-US" b="1" i="1">
                                <a:latin typeface="Cambria Math" panose="02040503050406030204" pitchFamily="18" charset="0"/>
                              </a:rPr>
                              <m:t>𝑵</m:t>
                            </m:r>
                          </m:e>
                          <m:sub>
                            <m:r>
                              <a:rPr lang="en-US" b="1" i="1" smtClean="0">
                                <a:latin typeface="Cambria Math" panose="02040503050406030204" pitchFamily="18" charset="0"/>
                              </a:rPr>
                              <m:t>𝟎</m:t>
                            </m:r>
                          </m:sub>
                        </m:sSub>
                      </m:den>
                    </m:f>
                  </m:oMath>
                </a14:m>
                <a:r>
                  <a:rPr lang="en-US" b="1" dirty="0"/>
                  <a:t> = ratio of received energy-per-bit to noise-density (</a:t>
                </a:r>
                <a:r>
                  <a:rPr lang="en-US" b="1" dirty="0" err="1"/>
                  <a:t>db</a:t>
                </a:r>
                <a:r>
                  <a:rPr lang="en-US" b="1" dirty="0"/>
                  <a:t>)</a:t>
                </a:r>
              </a:p>
              <a:p>
                <a:pPr marL="0" indent="0">
                  <a:buNone/>
                </a:pPr>
                <a:r>
                  <a:rPr lang="en-US" dirty="0"/>
                  <a:t>P = transmitted power (</a:t>
                </a:r>
                <a:r>
                  <a:rPr lang="en-US" dirty="0" err="1"/>
                  <a:t>dBW</a:t>
                </a:r>
                <a:r>
                  <a:rPr lang="en-US" dirty="0"/>
                  <a:t>)</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𝑙</m:t>
                        </m:r>
                      </m:sub>
                    </m:sSub>
                  </m:oMath>
                </a14:m>
                <a:r>
                  <a:rPr lang="en-US" dirty="0"/>
                  <a:t> = antenna line losses for transmitter and receiver (dB &lt; 0)</a:t>
                </a:r>
              </a:p>
              <a:p>
                <a:pPr marL="0" indent="0">
                  <a:buNone/>
                </a:pPr>
                <a:r>
                  <a:rPr lang="en-US" dirty="0"/>
                  <a:t>G</a:t>
                </a:r>
                <a:r>
                  <a:rPr lang="en-US" baseline="-25000" dirty="0"/>
                  <a:t>t</a:t>
                </a:r>
                <a:r>
                  <a:rPr lang="en-US" dirty="0"/>
                  <a:t> = transmitter antenna gain (dB)</a:t>
                </a:r>
              </a:p>
              <a:p>
                <a:pPr marL="0" indent="0">
                  <a:buNone/>
                </a:pPr>
                <a:r>
                  <a:rPr lang="en-US" dirty="0"/>
                  <a:t>L</a:t>
                </a:r>
                <a:r>
                  <a:rPr lang="en-US" baseline="-25000" dirty="0"/>
                  <a:t>s</a:t>
                </a:r>
                <a:r>
                  <a:rPr lang="en-US" dirty="0"/>
                  <a:t> = free space path loss (dB &lt; 0)</a:t>
                </a:r>
              </a:p>
              <a:p>
                <a:pPr marL="0" indent="0">
                  <a:buNone/>
                </a:pPr>
                <a:r>
                  <a:rPr lang="en-US" dirty="0"/>
                  <a:t>L</a:t>
                </a:r>
                <a:r>
                  <a:rPr lang="en-US" baseline="-25000" dirty="0"/>
                  <a:t>m</a:t>
                </a:r>
                <a:r>
                  <a:rPr lang="en-US" dirty="0"/>
                  <a:t> = miscellaneous loss (dB &lt; 0)</a:t>
                </a:r>
              </a:p>
              <a:p>
                <a:pPr marL="0" indent="0">
                  <a:buNone/>
                </a:pPr>
                <a:r>
                  <a:rPr lang="en-US" dirty="0"/>
                  <a:t>G</a:t>
                </a:r>
                <a:r>
                  <a:rPr lang="en-US" baseline="-25000" dirty="0"/>
                  <a:t>r</a:t>
                </a:r>
                <a:r>
                  <a:rPr lang="en-US" dirty="0"/>
                  <a:t> = receiver antenna gain (dB)</a:t>
                </a:r>
              </a:p>
              <a:p>
                <a:pPr marL="0" indent="0">
                  <a:buNone/>
                </a:pPr>
                <a:r>
                  <a:rPr lang="en-US" dirty="0" err="1"/>
                  <a:t>T</a:t>
                </a:r>
                <a:r>
                  <a:rPr lang="en-US" baseline="-25000" dirty="0" err="1"/>
                  <a:t>s</a:t>
                </a:r>
                <a:r>
                  <a:rPr lang="en-US" dirty="0"/>
                  <a:t> = temperature of receiver system (K)</a:t>
                </a:r>
              </a:p>
              <a:p>
                <a:pPr marL="0" indent="0">
                  <a:buNone/>
                </a:pPr>
                <a:r>
                  <a:rPr lang="en-US" dirty="0"/>
                  <a:t>R = data rate (bits per second)</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5EFA04FA-7D9E-8071-60EB-58B734D2CB4E}"/>
                  </a:ext>
                </a:extLst>
              </p:cNvPr>
              <p:cNvSpPr>
                <a:spLocks noGrp="1" noRot="1" noChangeAspect="1" noMove="1" noResize="1" noEditPoints="1" noAdjustHandles="1" noChangeArrowheads="1" noChangeShapeType="1" noTextEdit="1"/>
              </p:cNvSpPr>
              <p:nvPr>
                <p:ph idx="1"/>
              </p:nvPr>
            </p:nvSpPr>
            <p:spPr>
              <a:xfrm>
                <a:off x="200025" y="1002506"/>
                <a:ext cx="8793015" cy="5462600"/>
              </a:xfrm>
              <a:blipFill>
                <a:blip r:embed="rId3"/>
                <a:stretch>
                  <a:fillRect l="-902" t="-2341"/>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875722F-A706-9E81-6532-9B2FF14BA2D8}"/>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5" name="Rectangle 4">
            <a:extLst>
              <a:ext uri="{FF2B5EF4-FFF2-40B4-BE49-F238E27FC236}">
                <a16:creationId xmlns:a16="http://schemas.microsoft.com/office/drawing/2014/main" id="{6376379A-36A3-1680-9987-E496CCF20940}"/>
              </a:ext>
            </a:extLst>
          </p:cNvPr>
          <p:cNvSpPr/>
          <p:nvPr/>
        </p:nvSpPr>
        <p:spPr>
          <a:xfrm>
            <a:off x="0" y="0"/>
            <a:ext cx="9144000" cy="6858000"/>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2086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84CD-EAAB-DDC2-062E-BB58B7D14DDA}"/>
              </a:ext>
            </a:extLst>
          </p:cNvPr>
          <p:cNvSpPr>
            <a:spLocks noGrp="1"/>
          </p:cNvSpPr>
          <p:nvPr>
            <p:ph type="title"/>
          </p:nvPr>
        </p:nvSpPr>
        <p:spPr/>
        <p:txBody>
          <a:bodyPr/>
          <a:lstStyle/>
          <a:p>
            <a:r>
              <a:rPr lang="en-US" dirty="0"/>
              <a:t>Bit Error Rate</a:t>
            </a:r>
          </a:p>
        </p:txBody>
      </p:sp>
      <p:sp>
        <p:nvSpPr>
          <p:cNvPr id="3" name="Content Placeholder 2">
            <a:extLst>
              <a:ext uri="{FF2B5EF4-FFF2-40B4-BE49-F238E27FC236}">
                <a16:creationId xmlns:a16="http://schemas.microsoft.com/office/drawing/2014/main" id="{659BC6EE-BF47-D7A8-04FB-BD8E42BE4252}"/>
              </a:ext>
            </a:extLst>
          </p:cNvPr>
          <p:cNvSpPr>
            <a:spLocks noGrp="1"/>
          </p:cNvSpPr>
          <p:nvPr>
            <p:ph idx="1"/>
          </p:nvPr>
        </p:nvSpPr>
        <p:spPr/>
        <p:txBody>
          <a:bodyPr>
            <a:normAutofit/>
          </a:bodyPr>
          <a:lstStyle/>
          <a:p>
            <a:pPr marL="0" indent="0">
              <a:buNone/>
            </a:pPr>
            <a:r>
              <a:rPr lang="en-US" sz="2000" b="1" dirty="0">
                <a:solidFill>
                  <a:srgbClr val="00B0F0"/>
                </a:solidFill>
              </a:rPr>
              <a:t>Q: How do we know if a given Eb/N0 is good? </a:t>
            </a:r>
          </a:p>
          <a:p>
            <a:pPr marL="0" indent="0">
              <a:buNone/>
            </a:pPr>
            <a:r>
              <a:rPr lang="en-US" sz="2000" b="1" dirty="0">
                <a:solidFill>
                  <a:srgbClr val="00B0F0"/>
                </a:solidFill>
                <a:sym typeface="Wingdings" panose="05000000000000000000" pitchFamily="2" charset="2"/>
              </a:rPr>
              <a:t>	A: Choose an acceptable Bit </a:t>
            </a:r>
            <a:r>
              <a:rPr lang="en-US" sz="2000" b="1">
                <a:solidFill>
                  <a:srgbClr val="00B0F0"/>
                </a:solidFill>
                <a:sym typeface="Wingdings" panose="05000000000000000000" pitchFamily="2" charset="2"/>
              </a:rPr>
              <a:t>Error Rate!</a:t>
            </a:r>
            <a:endParaRPr lang="en-US" sz="2000" b="1" dirty="0"/>
          </a:p>
          <a:p>
            <a:pPr marL="0" indent="0">
              <a:buNone/>
            </a:pPr>
            <a:r>
              <a:rPr lang="en-US" sz="2000" b="1" dirty="0"/>
              <a:t>Bit error rate (BER): </a:t>
            </a:r>
            <a:r>
              <a:rPr lang="en-US" sz="2000" dirty="0"/>
              <a:t>a performance metric that measures the number of bit errors that occur during data transmission, expressed as the ratio of incorrect bits to the total number of transferred bits.</a:t>
            </a:r>
          </a:p>
          <a:p>
            <a:pPr marL="0" indent="0">
              <a:buNone/>
            </a:pPr>
            <a:r>
              <a:rPr lang="en-US" sz="2000" b="1" dirty="0">
                <a:sym typeface="Wingdings" panose="05000000000000000000" pitchFamily="2" charset="2"/>
              </a:rPr>
              <a:t>	 </a:t>
            </a:r>
            <a:r>
              <a:rPr lang="en-US" sz="2000" b="1" dirty="0"/>
              <a:t>BER = how reliable a digital communication signal is.</a:t>
            </a:r>
          </a:p>
        </p:txBody>
      </p:sp>
      <p:sp>
        <p:nvSpPr>
          <p:cNvPr id="4" name="Slide Number Placeholder 3">
            <a:extLst>
              <a:ext uri="{FF2B5EF4-FFF2-40B4-BE49-F238E27FC236}">
                <a16:creationId xmlns:a16="http://schemas.microsoft.com/office/drawing/2014/main" id="{5CB2DD4D-8466-FDA4-02DD-00E3291AEDB0}"/>
              </a:ext>
            </a:extLst>
          </p:cNvPr>
          <p:cNvSpPr>
            <a:spLocks noGrp="1"/>
          </p:cNvSpPr>
          <p:nvPr>
            <p:ph type="sldNum" sz="quarter" idx="12"/>
          </p:nvPr>
        </p:nvSpPr>
        <p:spPr/>
        <p:txBody>
          <a:bodyPr/>
          <a:lstStyle/>
          <a:p>
            <a:fld id="{9A3029B7-FE6B-4680-9049-80E8298A0825}" type="slidenum">
              <a:rPr lang="en-US" smtClean="0"/>
              <a:t>14</a:t>
            </a:fld>
            <a:endParaRPr lang="en-US"/>
          </a:p>
        </p:txBody>
      </p:sp>
      <p:pic>
        <p:nvPicPr>
          <p:cNvPr id="6" name="Picture 5">
            <a:extLst>
              <a:ext uri="{FF2B5EF4-FFF2-40B4-BE49-F238E27FC236}">
                <a16:creationId xmlns:a16="http://schemas.microsoft.com/office/drawing/2014/main" id="{C5E99670-F9F0-D66F-FFF0-6F7D9A141584}"/>
              </a:ext>
            </a:extLst>
          </p:cNvPr>
          <p:cNvPicPr>
            <a:picLocks noChangeAspect="1"/>
          </p:cNvPicPr>
          <p:nvPr/>
        </p:nvPicPr>
        <p:blipFill>
          <a:blip r:embed="rId3"/>
          <a:stretch>
            <a:fillRect/>
          </a:stretch>
        </p:blipFill>
        <p:spPr>
          <a:xfrm>
            <a:off x="3805564" y="3226978"/>
            <a:ext cx="5338436" cy="3279887"/>
          </a:xfrm>
          <a:prstGeom prst="rect">
            <a:avLst/>
          </a:prstGeom>
        </p:spPr>
      </p:pic>
      <p:pic>
        <p:nvPicPr>
          <p:cNvPr id="8" name="Picture 7">
            <a:extLst>
              <a:ext uri="{FF2B5EF4-FFF2-40B4-BE49-F238E27FC236}">
                <a16:creationId xmlns:a16="http://schemas.microsoft.com/office/drawing/2014/main" id="{4F65C9D8-E4BE-7B2C-93E1-8305A8BD22F7}"/>
              </a:ext>
            </a:extLst>
          </p:cNvPr>
          <p:cNvPicPr>
            <a:picLocks noChangeAspect="1"/>
          </p:cNvPicPr>
          <p:nvPr/>
        </p:nvPicPr>
        <p:blipFill>
          <a:blip r:embed="rId4"/>
          <a:stretch>
            <a:fillRect/>
          </a:stretch>
        </p:blipFill>
        <p:spPr>
          <a:xfrm>
            <a:off x="0" y="4216597"/>
            <a:ext cx="3835050" cy="688107"/>
          </a:xfrm>
          <a:prstGeom prst="rect">
            <a:avLst/>
          </a:prstGeom>
        </p:spPr>
      </p:pic>
    </p:spTree>
    <p:extLst>
      <p:ext uri="{BB962C8B-B14F-4D97-AF65-F5344CB8AC3E}">
        <p14:creationId xmlns:p14="http://schemas.microsoft.com/office/powerpoint/2010/main" val="3525427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CE60-8EEE-F1C1-DFC8-25164F16DA14}"/>
              </a:ext>
            </a:extLst>
          </p:cNvPr>
          <p:cNvSpPr>
            <a:spLocks noGrp="1"/>
          </p:cNvSpPr>
          <p:nvPr>
            <p:ph type="title"/>
          </p:nvPr>
        </p:nvSpPr>
        <p:spPr/>
        <p:txBody>
          <a:bodyPr/>
          <a:lstStyle/>
          <a:p>
            <a:r>
              <a:rPr lang="en-US" dirty="0"/>
              <a:t>Free Space Path Loss, L</a:t>
            </a:r>
            <a:r>
              <a:rPr lang="en-US" baseline="-25000" dirty="0"/>
              <a:t>s</a:t>
            </a:r>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C0BB429-6912-776E-9C9F-8749913061F3}"/>
                  </a:ext>
                </a:extLst>
              </p:cNvPr>
              <p:cNvSpPr>
                <a:spLocks noGrp="1"/>
              </p:cNvSpPr>
              <p:nvPr>
                <p:ph idx="1"/>
              </p:nvPr>
            </p:nvSpPr>
            <p:spPr>
              <a:xfrm>
                <a:off x="200025" y="1011382"/>
                <a:ext cx="8793015" cy="5218677"/>
              </a:xfrm>
            </p:spPr>
            <p:txBody>
              <a:bodyPr>
                <a:normAutofit/>
              </a:bodyPr>
              <a:lstStyle/>
              <a:p>
                <a:pPr marL="0" indent="0">
                  <a:buNone/>
                </a:pPr>
                <a:r>
                  <a:rPr lang="en-US" sz="2000" b="1" dirty="0"/>
                  <a:t>Weakening of a radio signal as it travels through space, caused by the spreading out of electromagnetic waves</a:t>
                </a:r>
                <a:endParaRPr lang="en-US" sz="2000" b="1" i="1" dirty="0">
                  <a:latin typeface="Cambria Math" panose="02040503050406030204" pitchFamily="18" charset="0"/>
                </a:endParaRPr>
              </a:p>
              <a:p>
                <a:pPr marL="0" indent="0">
                  <a:buNone/>
                </a:pP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𝑠</m:t>
                        </m:r>
                      </m:sub>
                    </m:sSub>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𝜆</m:t>
                                </m:r>
                              </m:num>
                              <m:den>
                                <m:r>
                                  <a:rPr lang="en-US" sz="2400" i="1">
                                    <a:latin typeface="Cambria Math" panose="02040503050406030204" pitchFamily="18" charset="0"/>
                                  </a:rPr>
                                  <m:t>4</m:t>
                                </m:r>
                                <m:r>
                                  <a:rPr lang="en-US" sz="2400" i="1">
                                    <a:latin typeface="Cambria Math" panose="02040503050406030204" pitchFamily="18" charset="0"/>
                                  </a:rPr>
                                  <m:t>𝜋</m:t>
                                </m:r>
                                <m:r>
                                  <a:rPr lang="en-US" sz="2400" i="1">
                                    <a:latin typeface="Cambria Math" panose="02040503050406030204" pitchFamily="18" charset="0"/>
                                  </a:rPr>
                                  <m:t>𝑆</m:t>
                                </m:r>
                              </m:den>
                            </m:f>
                          </m:e>
                        </m:d>
                      </m:e>
                      <m:sup>
                        <m:r>
                          <a:rPr lang="en-US" sz="2400" i="1">
                            <a:latin typeface="Cambria Math" panose="02040503050406030204" pitchFamily="18" charset="0"/>
                          </a:rPr>
                          <m:t>2</m:t>
                        </m:r>
                      </m:sup>
                    </m:sSup>
                  </m:oMath>
                </a14:m>
                <a:r>
                  <a:rPr lang="en-US" sz="2400" dirty="0"/>
                  <a:t>   (unitless)</a:t>
                </a:r>
                <a:endParaRPr lang="en-US" sz="1600" dirty="0"/>
              </a:p>
              <a:p>
                <a:pPr marL="0" indent="0">
                  <a:buNone/>
                </a:pPr>
                <a14:m>
                  <m:oMath xmlns:m="http://schemas.openxmlformats.org/officeDocument/2006/math">
                    <m:r>
                      <a:rPr lang="en-US" sz="1800" i="1">
                        <a:latin typeface="Cambria Math" panose="02040503050406030204" pitchFamily="18" charset="0"/>
                      </a:rPr>
                      <m:t>𝜆</m:t>
                    </m:r>
                  </m:oMath>
                </a14:m>
                <a:r>
                  <a:rPr lang="en-US" sz="1800" dirty="0"/>
                  <a:t> = signal wavelength (m)</a:t>
                </a:r>
              </a:p>
              <a:p>
                <a:pPr marL="0" indent="0">
                  <a:buNone/>
                </a:pPr>
                <a:r>
                  <a:rPr lang="en-US" sz="1800" dirty="0"/>
                  <a:t>S = signal path distance (range between </a:t>
                </a:r>
                <a:r>
                  <a:rPr lang="en-US" sz="1800" dirty="0" err="1"/>
                  <a:t>tx</a:t>
                </a:r>
                <a:r>
                  <a:rPr lang="en-US" sz="1800" dirty="0"/>
                  <a:t> &amp; </a:t>
                </a:r>
                <a:r>
                  <a:rPr lang="en-US" sz="1800" dirty="0" err="1"/>
                  <a:t>rx</a:t>
                </a:r>
                <a:r>
                  <a:rPr lang="en-US" sz="1800" dirty="0"/>
                  <a:t>)       </a:t>
                </a:r>
              </a:p>
              <a:p>
                <a:pPr marL="0" indent="0">
                  <a:buNone/>
                </a:pPr>
                <a:r>
                  <a:rPr lang="en-US" sz="1800" dirty="0"/>
                  <a:t>(careful of units:  m vs km) </a:t>
                </a:r>
              </a:p>
              <a:p>
                <a:pPr marL="0" indent="0">
                  <a:buNone/>
                </a:pPr>
                <a:endParaRPr lang="en-US" sz="1800" dirty="0"/>
              </a:p>
              <a:p>
                <a:pPr marL="0" indent="0">
                  <a:buNone/>
                </a:pPr>
                <a14:m>
                  <m:oMathPara xmlns:m="http://schemas.openxmlformats.org/officeDocument/2006/math">
                    <m:oMathParaPr>
                      <m:jc m:val="left"/>
                    </m:oMathParaPr>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𝑆</m:t>
                          </m:r>
                        </m:e>
                        <m:sub>
                          <m:r>
                            <a:rPr lang="en-US" sz="1800" i="1">
                              <a:latin typeface="Cambria Math" panose="02040503050406030204" pitchFamily="18" charset="0"/>
                            </a:rPr>
                            <m:t>𝑚𝑎𝑥</m:t>
                          </m:r>
                        </m:sub>
                      </m:sSub>
                      <m:r>
                        <a:rPr lang="en-US" sz="1800" i="1">
                          <a:latin typeface="Cambria Math" panose="02040503050406030204" pitchFamily="18" charset="0"/>
                        </a:rPr>
                        <m:t>= </m:t>
                      </m:r>
                      <m:rad>
                        <m:radPr>
                          <m:degHide m:val="on"/>
                          <m:ctrlPr>
                            <a:rPr lang="en-US" sz="1800" i="1">
                              <a:latin typeface="Cambria Math" panose="02040503050406030204" pitchFamily="18" charset="0"/>
                            </a:rPr>
                          </m:ctrlPr>
                        </m:radPr>
                        <m:deg/>
                        <m:e>
                          <m:sSup>
                            <m:sSupPr>
                              <m:ctrlPr>
                                <a:rPr lang="en-US" sz="1800" i="1">
                                  <a:latin typeface="Cambria Math" panose="02040503050406030204" pitchFamily="18" charset="0"/>
                                </a:rPr>
                              </m:ctrlPr>
                            </m:sSupPr>
                            <m:e>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sin</m:t>
                                      </m:r>
                                    </m:fName>
                                    <m:e>
                                      <m:sSub>
                                        <m:sSubPr>
                                          <m:ctrlPr>
                                            <a:rPr lang="en-US" sz="1800" i="1">
                                              <a:latin typeface="Cambria Math" panose="02040503050406030204" pitchFamily="18" charset="0"/>
                                            </a:rPr>
                                          </m:ctrlPr>
                                        </m:sSubPr>
                                        <m:e>
                                          <m:r>
                                            <a:rPr lang="en-US" sz="1800" i="1">
                                              <a:latin typeface="Cambria Math" panose="02040503050406030204" pitchFamily="18" charset="0"/>
                                            </a:rPr>
                                            <m:t>𝜀</m:t>
                                          </m:r>
                                        </m:e>
                                        <m:sub>
                                          <m:r>
                                            <a:rPr lang="en-US" sz="1800" i="1">
                                              <a:latin typeface="Cambria Math" panose="02040503050406030204" pitchFamily="18" charset="0"/>
                                            </a:rPr>
                                            <m:t>𝑚𝑖𝑛</m:t>
                                          </m:r>
                                        </m:sub>
                                      </m:sSub>
                                    </m:e>
                                  </m:func>
                                </m:e>
                              </m:d>
                            </m:e>
                            <m:sup>
                              <m:r>
                                <a:rPr lang="en-US" sz="1800" i="1">
                                  <a:latin typeface="Cambria Math" panose="02040503050406030204" pitchFamily="18" charset="0"/>
                                </a:rPr>
                                <m:t>2</m:t>
                              </m:r>
                            </m:sup>
                          </m:sSup>
                          <m:r>
                            <a:rPr lang="en-US" sz="1800" i="1">
                              <a:latin typeface="Cambria Math" panose="02040503050406030204" pitchFamily="18" charset="0"/>
                            </a:rPr>
                            <m:t>+</m:t>
                          </m:r>
                          <m:sSup>
                            <m:sSupPr>
                              <m:ctrlPr>
                                <a:rPr lang="en-US" sz="1800" i="1">
                                  <a:latin typeface="Cambria Math" panose="02040503050406030204" pitchFamily="18" charset="0"/>
                                </a:rPr>
                              </m:ctrlPr>
                            </m:sSupPr>
                            <m:e>
                              <m:r>
                                <a:rPr lang="en-US" sz="1800" i="1">
                                  <a:latin typeface="Cambria Math" panose="02040503050406030204" pitchFamily="18" charset="0"/>
                                </a:rPr>
                                <m:t>h</m:t>
                              </m:r>
                            </m:e>
                            <m:sup>
                              <m:r>
                                <a:rPr lang="en-US" sz="1800" i="1">
                                  <a:latin typeface="Cambria Math" panose="02040503050406030204" pitchFamily="18" charset="0"/>
                                </a:rPr>
                                <m:t>2</m:t>
                              </m:r>
                            </m:sup>
                          </m:sSup>
                          <m:r>
                            <a:rPr lang="en-US" sz="1800" i="1">
                              <a:latin typeface="Cambria Math" panose="02040503050406030204" pitchFamily="18" charset="0"/>
                            </a:rPr>
                            <m:t>+2</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m:t>
                              </m:r>
                            </m:sub>
                          </m:sSub>
                          <m:r>
                            <a:rPr lang="en-US" sz="1800" i="1">
                              <a:latin typeface="Cambria Math" panose="02040503050406030204" pitchFamily="18" charset="0"/>
                            </a:rPr>
                            <m:t>h</m:t>
                          </m:r>
                        </m:e>
                      </m:rad>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m:t>
                          </m:r>
                        </m:sub>
                      </m:sSub>
                      <m:func>
                        <m:funcPr>
                          <m:ctrlPr>
                            <a:rPr lang="en-US" sz="1800" i="1">
                              <a:latin typeface="Cambria Math" panose="02040503050406030204" pitchFamily="18" charset="0"/>
                            </a:rPr>
                          </m:ctrlPr>
                        </m:funcPr>
                        <m:fName>
                          <m:r>
                            <m:rPr>
                              <m:sty m:val="p"/>
                            </m:rPr>
                            <a:rPr lang="en-US" sz="1800">
                              <a:latin typeface="Cambria Math" panose="02040503050406030204" pitchFamily="18" charset="0"/>
                            </a:rPr>
                            <m:t>sin</m:t>
                          </m:r>
                        </m:fName>
                        <m:e>
                          <m:sSub>
                            <m:sSubPr>
                              <m:ctrlPr>
                                <a:rPr lang="en-US" sz="1800" i="1">
                                  <a:latin typeface="Cambria Math" panose="02040503050406030204" pitchFamily="18" charset="0"/>
                                </a:rPr>
                              </m:ctrlPr>
                            </m:sSubPr>
                            <m:e>
                              <m:r>
                                <a:rPr lang="en-US" sz="1800" i="1">
                                  <a:latin typeface="Cambria Math" panose="02040503050406030204" pitchFamily="18" charset="0"/>
                                </a:rPr>
                                <m:t>𝜀</m:t>
                              </m:r>
                            </m:e>
                            <m:sub>
                              <m:r>
                                <a:rPr lang="en-US" sz="1800" i="1">
                                  <a:latin typeface="Cambria Math" panose="02040503050406030204" pitchFamily="18" charset="0"/>
                                </a:rPr>
                                <m:t>𝑚𝑖𝑛</m:t>
                              </m:r>
                            </m:sub>
                          </m:sSub>
                        </m:e>
                      </m:func>
                    </m:oMath>
                  </m:oMathPara>
                </a14:m>
                <a:endParaRPr lang="en-US" sz="1800" dirty="0"/>
              </a:p>
              <a:p>
                <a:pPr marL="0" indent="0">
                  <a:buNone/>
                </a:pPr>
                <a:endParaRPr lang="en-US" sz="1800" dirty="0"/>
              </a:p>
              <a:p>
                <a:pPr marL="0" indent="0">
                  <a:buNone/>
                </a:pPr>
                <a:endParaRPr lang="en-US" sz="1800" dirty="0"/>
              </a:p>
            </p:txBody>
          </p:sp>
        </mc:Choice>
        <mc:Fallback xmlns="">
          <p:sp>
            <p:nvSpPr>
              <p:cNvPr id="3" name="Content Placeholder 2">
                <a:extLst>
                  <a:ext uri="{FF2B5EF4-FFF2-40B4-BE49-F238E27FC236}">
                    <a16:creationId xmlns:a16="http://schemas.microsoft.com/office/drawing/2014/main" id="{CC0BB429-6912-776E-9C9F-8749913061F3}"/>
                  </a:ext>
                </a:extLst>
              </p:cNvPr>
              <p:cNvSpPr>
                <a:spLocks noGrp="1" noRot="1" noChangeAspect="1" noMove="1" noResize="1" noEditPoints="1" noAdjustHandles="1" noChangeArrowheads="1" noChangeShapeType="1" noTextEdit="1"/>
              </p:cNvSpPr>
              <p:nvPr>
                <p:ph idx="1"/>
              </p:nvPr>
            </p:nvSpPr>
            <p:spPr>
              <a:xfrm>
                <a:off x="200025" y="1011382"/>
                <a:ext cx="8793015" cy="5218677"/>
              </a:xfrm>
              <a:blipFill>
                <a:blip r:embed="rId3"/>
                <a:stretch>
                  <a:fillRect l="-763" t="-116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7929300-6586-AD95-075F-F31210E3A654}"/>
              </a:ext>
            </a:extLst>
          </p:cNvPr>
          <p:cNvSpPr>
            <a:spLocks noGrp="1"/>
          </p:cNvSpPr>
          <p:nvPr>
            <p:ph type="sldNum" sz="quarter" idx="12"/>
          </p:nvPr>
        </p:nvSpPr>
        <p:spPr/>
        <p:txBody>
          <a:bodyPr/>
          <a:lstStyle/>
          <a:p>
            <a:fld id="{9A3029B7-FE6B-4680-9049-80E8298A0825}" type="slidenum">
              <a:rPr lang="en-US" smtClean="0"/>
              <a:t>15</a:t>
            </a:fld>
            <a:endParaRPr lang="en-US"/>
          </a:p>
        </p:txBody>
      </p:sp>
      <p:pic>
        <p:nvPicPr>
          <p:cNvPr id="5" name="Picture 4">
            <a:extLst>
              <a:ext uri="{FF2B5EF4-FFF2-40B4-BE49-F238E27FC236}">
                <a16:creationId xmlns:a16="http://schemas.microsoft.com/office/drawing/2014/main" id="{045A9D3F-A866-001E-0149-79DF3B12AC70}"/>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51146" y="4483020"/>
            <a:ext cx="5118340" cy="2241794"/>
          </a:xfrm>
          <a:prstGeom prst="rect">
            <a:avLst/>
          </a:prstGeom>
          <a:noFill/>
        </p:spPr>
      </p:pic>
      <p:pic>
        <p:nvPicPr>
          <p:cNvPr id="7" name="Picture 6">
            <a:extLst>
              <a:ext uri="{FF2B5EF4-FFF2-40B4-BE49-F238E27FC236}">
                <a16:creationId xmlns:a16="http://schemas.microsoft.com/office/drawing/2014/main" id="{D8C714A2-1BDC-7D8A-C8F9-F80D569E3504}"/>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242687" y="2094403"/>
            <a:ext cx="3998295" cy="2660434"/>
          </a:xfrm>
          <a:prstGeom prst="rect">
            <a:avLst/>
          </a:prstGeom>
        </p:spPr>
      </p:pic>
      <p:sp>
        <p:nvSpPr>
          <p:cNvPr id="8" name="TextBox 7">
            <a:extLst>
              <a:ext uri="{FF2B5EF4-FFF2-40B4-BE49-F238E27FC236}">
                <a16:creationId xmlns:a16="http://schemas.microsoft.com/office/drawing/2014/main" id="{D13627D9-CC7E-78D4-EDC0-5E17B8FA17ED}"/>
              </a:ext>
            </a:extLst>
          </p:cNvPr>
          <p:cNvSpPr txBox="1"/>
          <p:nvPr/>
        </p:nvSpPr>
        <p:spPr>
          <a:xfrm>
            <a:off x="3488672" y="2057128"/>
            <a:ext cx="1506073" cy="369332"/>
          </a:xfrm>
          <a:prstGeom prst="rect">
            <a:avLst/>
          </a:prstGeom>
          <a:solidFill>
            <a:srgbClr val="FFFF00"/>
          </a:solidFill>
          <a:ln>
            <a:solidFill>
              <a:srgbClr val="FF0000"/>
            </a:solidFill>
          </a:ln>
        </p:spPr>
        <p:txBody>
          <a:bodyPr wrap="square">
            <a:spAutoFit/>
          </a:bodyPr>
          <a:lstStyle/>
          <a:p>
            <a:r>
              <a:rPr lang="en-US" sz="1800" b="1" dirty="0">
                <a:solidFill>
                  <a:srgbClr val="FF0000"/>
                </a:solidFill>
              </a:rPr>
              <a:t>Linear units!</a:t>
            </a:r>
            <a:endParaRPr lang="en-US" dirty="0">
              <a:solidFill>
                <a:srgbClr val="FF0000"/>
              </a:solidFill>
            </a:endParaRPr>
          </a:p>
        </p:txBody>
      </p:sp>
    </p:spTree>
    <p:extLst>
      <p:ext uri="{BB962C8B-B14F-4D97-AF65-F5344CB8AC3E}">
        <p14:creationId xmlns:p14="http://schemas.microsoft.com/office/powerpoint/2010/main" val="2442770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AFD31-4AD6-49B2-9AE4-39B0F234787A}"/>
              </a:ext>
            </a:extLst>
          </p:cNvPr>
          <p:cNvSpPr>
            <a:spLocks noGrp="1"/>
          </p:cNvSpPr>
          <p:nvPr>
            <p:ph type="title"/>
          </p:nvPr>
        </p:nvSpPr>
        <p:spPr/>
        <p:txBody>
          <a:bodyPr/>
          <a:lstStyle/>
          <a:p>
            <a:r>
              <a:rPr lang="en-US" dirty="0"/>
              <a:t>Antenna Gain</a:t>
            </a:r>
          </a:p>
        </p:txBody>
      </p:sp>
      <p:sp>
        <p:nvSpPr>
          <p:cNvPr id="4" name="Slide Number Placeholder 3">
            <a:extLst>
              <a:ext uri="{FF2B5EF4-FFF2-40B4-BE49-F238E27FC236}">
                <a16:creationId xmlns:a16="http://schemas.microsoft.com/office/drawing/2014/main" id="{A65EF3C3-9D88-2526-B3DD-3E7A93AD8B46}"/>
              </a:ext>
            </a:extLst>
          </p:cNvPr>
          <p:cNvSpPr>
            <a:spLocks noGrp="1"/>
          </p:cNvSpPr>
          <p:nvPr>
            <p:ph type="sldNum" sz="quarter" idx="12"/>
          </p:nvPr>
        </p:nvSpPr>
        <p:spPr/>
        <p:txBody>
          <a:bodyPr/>
          <a:lstStyle/>
          <a:p>
            <a:fld id="{9A3029B7-FE6B-4680-9049-80E8298A0825}" type="slidenum">
              <a:rPr lang="en-US" smtClean="0"/>
              <a:t>16</a:t>
            </a:fld>
            <a:endParaRPr lang="en-US"/>
          </a:p>
        </p:txBody>
      </p:sp>
      <mc:AlternateContent xmlns:mc="http://schemas.openxmlformats.org/markup-compatibility/2006" xmlns:a14="http://schemas.microsoft.com/office/drawing/2010/main">
        <mc:Choice Requires="a14">
          <p:sp>
            <p:nvSpPr>
              <p:cNvPr id="6" name="Content Placeholder 3">
                <a:extLst>
                  <a:ext uri="{FF2B5EF4-FFF2-40B4-BE49-F238E27FC236}">
                    <a16:creationId xmlns:a16="http://schemas.microsoft.com/office/drawing/2014/main" id="{AD399085-D1B8-EDFC-1162-46A59493CA33}"/>
                  </a:ext>
                </a:extLst>
              </p:cNvPr>
              <p:cNvSpPr txBox="1">
                <a:spLocks/>
              </p:cNvSpPr>
              <p:nvPr/>
            </p:nvSpPr>
            <p:spPr>
              <a:xfrm>
                <a:off x="170474" y="2622062"/>
                <a:ext cx="3404558" cy="410275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𝐺</m:t>
                          </m:r>
                        </m:e>
                        <m:sub>
                          <m:r>
                            <a:rPr lang="en-US" b="0" i="1" smtClean="0">
                              <a:latin typeface="Cambria Math" panose="02040503050406030204" pitchFamily="18" charset="0"/>
                            </a:rPr>
                            <m:t>𝑝𝑎𝑟</m:t>
                          </m:r>
                        </m:sub>
                      </m:sSub>
                      <m:r>
                        <a:rPr lang="en-US"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𝑝𝑎𝑟</m:t>
                                      </m:r>
                                    </m:sub>
                                  </m:sSub>
                                </m:num>
                                <m:den>
                                  <m:r>
                                    <a:rPr lang="en-US" i="1">
                                      <a:latin typeface="Cambria Math" panose="02040503050406030204" pitchFamily="18" charset="0"/>
                                    </a:rPr>
                                    <m:t>𝜆</m:t>
                                  </m:r>
                                </m:den>
                              </m:f>
                            </m:e>
                          </m:d>
                        </m:e>
                        <m:sup>
                          <m:r>
                            <a:rPr lang="en-US" i="1">
                              <a:latin typeface="Cambria Math" panose="02040503050406030204" pitchFamily="18" charset="0"/>
                            </a:rPr>
                            <m:t>2</m:t>
                          </m:r>
                        </m:sup>
                      </m:sSup>
                      <m:r>
                        <a:rPr lang="en-US" i="1">
                          <a:latin typeface="Cambria Math" panose="02040503050406030204" pitchFamily="18" charset="0"/>
                        </a:rPr>
                        <m:t>𝜂</m:t>
                      </m:r>
                    </m:oMath>
                  </m:oMathPara>
                </a14:m>
                <a:endParaRPr lang="en-US" dirty="0"/>
              </a:p>
              <a:p>
                <a:pPr marL="0" indent="0">
                  <a:buFont typeface="Arial" panose="020B0604020202020204" pitchFamily="34" charset="0"/>
                  <a:buNone/>
                </a:pPr>
                <a:endParaRPr lang="en-US" dirty="0"/>
              </a:p>
              <a:p>
                <a:r>
                  <a:rPr lang="en-US" sz="1800" dirty="0"/>
                  <a:t>G = parabolic antenna gain (unitless)</a:t>
                </a:r>
              </a:p>
              <a:p>
                <a:r>
                  <a:rPr lang="en-US" sz="1800" dirty="0" err="1"/>
                  <a:t>D</a:t>
                </a:r>
                <a:r>
                  <a:rPr lang="en-US" sz="1800" baseline="-25000" dirty="0" err="1"/>
                  <a:t>r</a:t>
                </a:r>
                <a:r>
                  <a:rPr lang="en-US" sz="1800" dirty="0"/>
                  <a:t> = receiver antenna diameter (m)</a:t>
                </a:r>
              </a:p>
              <a:p>
                <a14:m>
                  <m:oMath xmlns:m="http://schemas.openxmlformats.org/officeDocument/2006/math">
                    <m:r>
                      <a:rPr lang="en-US" sz="1800" i="1">
                        <a:latin typeface="Cambria Math" panose="02040503050406030204" pitchFamily="18" charset="0"/>
                      </a:rPr>
                      <m:t>𝜆</m:t>
                    </m:r>
                  </m:oMath>
                </a14:m>
                <a:r>
                  <a:rPr lang="en-US" sz="1800" dirty="0"/>
                  <a:t> = signal wavelength (m)</a:t>
                </a:r>
              </a:p>
              <a:p>
                <a14:m>
                  <m:oMath xmlns:m="http://schemas.openxmlformats.org/officeDocument/2006/math">
                    <m:r>
                      <a:rPr lang="en-US" sz="1800" i="1">
                        <a:latin typeface="Cambria Math" panose="02040503050406030204" pitchFamily="18" charset="0"/>
                      </a:rPr>
                      <m:t>𝜂</m:t>
                    </m:r>
                  </m:oMath>
                </a14:m>
                <a:r>
                  <a:rPr lang="en-US" sz="1800" dirty="0"/>
                  <a:t> = antenna efficiency (typically 0.55-0.7 for parabolic dishes)</a:t>
                </a:r>
              </a:p>
              <a:p>
                <a:pPr marL="0" indent="0">
                  <a:buFont typeface="Arial" panose="020B0604020202020204" pitchFamily="34" charset="0"/>
                  <a:buNone/>
                </a:pPr>
                <a:endParaRPr lang="en-US" dirty="0"/>
              </a:p>
            </p:txBody>
          </p:sp>
        </mc:Choice>
        <mc:Fallback xmlns="">
          <p:sp>
            <p:nvSpPr>
              <p:cNvPr id="6" name="Content Placeholder 3">
                <a:extLst>
                  <a:ext uri="{FF2B5EF4-FFF2-40B4-BE49-F238E27FC236}">
                    <a16:creationId xmlns:a16="http://schemas.microsoft.com/office/drawing/2014/main" id="{AD399085-D1B8-EDFC-1162-46A59493CA33}"/>
                  </a:ext>
                </a:extLst>
              </p:cNvPr>
              <p:cNvSpPr txBox="1">
                <a:spLocks noRot="1" noChangeAspect="1" noMove="1" noResize="1" noEditPoints="1" noAdjustHandles="1" noChangeArrowheads="1" noChangeShapeType="1" noTextEdit="1"/>
              </p:cNvSpPr>
              <p:nvPr/>
            </p:nvSpPr>
            <p:spPr>
              <a:xfrm>
                <a:off x="170474" y="2622062"/>
                <a:ext cx="3404558" cy="4102751"/>
              </a:xfrm>
              <a:prstGeom prst="rect">
                <a:avLst/>
              </a:prstGeom>
              <a:blipFill>
                <a:blip r:embed="rId3"/>
                <a:stretch>
                  <a:fillRect l="-1254" b="-594"/>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64CEDEDD-84E5-260C-7391-49F695A59D0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020322" y="1703723"/>
            <a:ext cx="4953204" cy="2633939"/>
          </a:xfrm>
          <a:prstGeom prst="rect">
            <a:avLst/>
          </a:prstGeom>
        </p:spPr>
      </p:pic>
      <p:pic>
        <p:nvPicPr>
          <p:cNvPr id="10" name="Picture 9">
            <a:extLst>
              <a:ext uri="{FF2B5EF4-FFF2-40B4-BE49-F238E27FC236}">
                <a16:creationId xmlns:a16="http://schemas.microsoft.com/office/drawing/2014/main" id="{4BA5DC14-53AD-580D-88C3-3FDC225151CD}"/>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4940432" y="3809106"/>
            <a:ext cx="3933864" cy="3184557"/>
          </a:xfrm>
          <a:prstGeom prst="rect">
            <a:avLst/>
          </a:prstGeom>
        </p:spPr>
      </p:pic>
      <p:sp>
        <p:nvSpPr>
          <p:cNvPr id="3" name="TextBox 2">
            <a:extLst>
              <a:ext uri="{FF2B5EF4-FFF2-40B4-BE49-F238E27FC236}">
                <a16:creationId xmlns:a16="http://schemas.microsoft.com/office/drawing/2014/main" id="{96E5B0AF-CB8E-23D6-48FD-6C428E2F0D7E}"/>
              </a:ext>
            </a:extLst>
          </p:cNvPr>
          <p:cNvSpPr txBox="1"/>
          <p:nvPr/>
        </p:nvSpPr>
        <p:spPr>
          <a:xfrm>
            <a:off x="2383012" y="3792598"/>
            <a:ext cx="1506073" cy="369332"/>
          </a:xfrm>
          <a:prstGeom prst="rect">
            <a:avLst/>
          </a:prstGeom>
          <a:solidFill>
            <a:srgbClr val="FFFF00"/>
          </a:solidFill>
          <a:ln>
            <a:solidFill>
              <a:srgbClr val="FF0000"/>
            </a:solidFill>
          </a:ln>
        </p:spPr>
        <p:txBody>
          <a:bodyPr wrap="square">
            <a:spAutoFit/>
          </a:bodyPr>
          <a:lstStyle/>
          <a:p>
            <a:r>
              <a:rPr lang="en-US" sz="1800" b="1" dirty="0">
                <a:solidFill>
                  <a:srgbClr val="FF0000"/>
                </a:solidFill>
              </a:rPr>
              <a:t>Linear units!</a:t>
            </a:r>
            <a:endParaRPr lang="en-US" dirty="0">
              <a:solidFill>
                <a:srgbClr val="FF0000"/>
              </a:solidFill>
            </a:endParaRPr>
          </a:p>
        </p:txBody>
      </p:sp>
      <p:sp>
        <p:nvSpPr>
          <p:cNvPr id="7" name="TextBox 6">
            <a:extLst>
              <a:ext uri="{FF2B5EF4-FFF2-40B4-BE49-F238E27FC236}">
                <a16:creationId xmlns:a16="http://schemas.microsoft.com/office/drawing/2014/main" id="{A9AFD3A7-237C-4201-1402-5A89DB359D85}"/>
              </a:ext>
            </a:extLst>
          </p:cNvPr>
          <p:cNvSpPr txBox="1"/>
          <p:nvPr/>
        </p:nvSpPr>
        <p:spPr>
          <a:xfrm>
            <a:off x="0" y="965059"/>
            <a:ext cx="9144000" cy="1477328"/>
          </a:xfrm>
          <a:prstGeom prst="rect">
            <a:avLst/>
          </a:prstGeom>
          <a:noFill/>
        </p:spPr>
        <p:txBody>
          <a:bodyPr wrap="square">
            <a:spAutoFit/>
          </a:bodyPr>
          <a:lstStyle/>
          <a:p>
            <a:r>
              <a:rPr lang="en-US" b="1" dirty="0"/>
              <a:t>A measure of how effectively an antenna focuses radio energy in a particular direction compared to a theoretical isotropic antenna.</a:t>
            </a:r>
          </a:p>
          <a:p>
            <a:pPr lvl="1"/>
            <a:r>
              <a:rPr lang="en-US" b="1" dirty="0"/>
              <a:t>Isotropic</a:t>
            </a:r>
            <a:r>
              <a:rPr lang="en-US" dirty="0"/>
              <a:t>: having the same property in all directions (</a:t>
            </a:r>
            <a:r>
              <a:rPr lang="en-US" dirty="0" err="1"/>
              <a:t>ie</a:t>
            </a:r>
            <a:r>
              <a:rPr lang="en-US" dirty="0"/>
              <a:t>, transmitting in all directions with same power level)</a:t>
            </a:r>
          </a:p>
          <a:p>
            <a:endParaRPr lang="en-US" b="1" dirty="0"/>
          </a:p>
        </p:txBody>
      </p:sp>
      <p:sp>
        <p:nvSpPr>
          <p:cNvPr id="11" name="TextBox 10">
            <a:extLst>
              <a:ext uri="{FF2B5EF4-FFF2-40B4-BE49-F238E27FC236}">
                <a16:creationId xmlns:a16="http://schemas.microsoft.com/office/drawing/2014/main" id="{FE9E2D30-A09D-D5E3-E3A2-7C75591D81CC}"/>
              </a:ext>
            </a:extLst>
          </p:cNvPr>
          <p:cNvSpPr txBox="1"/>
          <p:nvPr/>
        </p:nvSpPr>
        <p:spPr>
          <a:xfrm>
            <a:off x="55449" y="2196577"/>
            <a:ext cx="4655126" cy="400110"/>
          </a:xfrm>
          <a:prstGeom prst="rect">
            <a:avLst/>
          </a:prstGeom>
          <a:noFill/>
        </p:spPr>
        <p:txBody>
          <a:bodyPr wrap="square">
            <a:spAutoFit/>
          </a:bodyPr>
          <a:lstStyle/>
          <a:p>
            <a:r>
              <a:rPr lang="en-US" sz="2000" b="1" dirty="0">
                <a:solidFill>
                  <a:srgbClr val="00B0F0"/>
                </a:solidFill>
              </a:rPr>
              <a:t>For parabolic antenna:</a:t>
            </a:r>
          </a:p>
        </p:txBody>
      </p:sp>
    </p:spTree>
    <p:extLst>
      <p:ext uri="{BB962C8B-B14F-4D97-AF65-F5344CB8AC3E}">
        <p14:creationId xmlns:p14="http://schemas.microsoft.com/office/powerpoint/2010/main" val="1773408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animBg="1"/>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E058F-0910-9ED7-1AE5-233F16CF69A0}"/>
              </a:ext>
            </a:extLst>
          </p:cNvPr>
          <p:cNvSpPr>
            <a:spLocks noGrp="1"/>
          </p:cNvSpPr>
          <p:nvPr>
            <p:ph type="title"/>
          </p:nvPr>
        </p:nvSpPr>
        <p:spPr/>
        <p:txBody>
          <a:bodyPr/>
          <a:lstStyle/>
          <a:p>
            <a:r>
              <a:rPr lang="en-US" dirty="0"/>
              <a:t>Common Antennas for SATCOM</a:t>
            </a:r>
          </a:p>
        </p:txBody>
      </p:sp>
      <p:sp>
        <p:nvSpPr>
          <p:cNvPr id="3" name="Content Placeholder 2">
            <a:extLst>
              <a:ext uri="{FF2B5EF4-FFF2-40B4-BE49-F238E27FC236}">
                <a16:creationId xmlns:a16="http://schemas.microsoft.com/office/drawing/2014/main" id="{3ACE2AF8-D02C-2724-66ED-18BB9EE280DF}"/>
              </a:ext>
            </a:extLst>
          </p:cNvPr>
          <p:cNvSpPr>
            <a:spLocks noGrp="1"/>
          </p:cNvSpPr>
          <p:nvPr>
            <p:ph idx="1"/>
          </p:nvPr>
        </p:nvSpPr>
        <p:spPr/>
        <p:txBody>
          <a:bodyPr/>
          <a:lstStyle/>
          <a:p>
            <a:pPr marL="0" indent="0">
              <a:buNone/>
            </a:pPr>
            <a:endParaRPr lang="en-US" b="1" kern="0" dirty="0"/>
          </a:p>
          <a:p>
            <a:pPr marL="0" indent="0">
              <a:buNone/>
            </a:pPr>
            <a:endParaRPr lang="en-US" b="1" kern="0" dirty="0"/>
          </a:p>
          <a:p>
            <a:endParaRPr lang="en-US" b="1" kern="0" dirty="0"/>
          </a:p>
          <a:p>
            <a:pPr marL="0" indent="0">
              <a:buNone/>
            </a:pPr>
            <a:endParaRPr lang="en-US" b="1" kern="0" dirty="0"/>
          </a:p>
          <a:p>
            <a:endParaRPr lang="en-US" b="1" kern="0" dirty="0"/>
          </a:p>
          <a:p>
            <a:pPr marL="0" indent="0">
              <a:buNone/>
            </a:pPr>
            <a:endParaRPr lang="en-US" b="1" kern="0" dirty="0"/>
          </a:p>
          <a:p>
            <a:endParaRPr lang="en-US" b="1" kern="0" dirty="0"/>
          </a:p>
          <a:p>
            <a:pPr marL="0" indent="0">
              <a:buNone/>
            </a:pPr>
            <a:endParaRPr lang="en-US" b="1" kern="0" dirty="0"/>
          </a:p>
          <a:p>
            <a:endParaRPr lang="en-US" b="1" kern="0" dirty="0"/>
          </a:p>
          <a:p>
            <a:endParaRPr lang="en-US" b="1" dirty="0"/>
          </a:p>
        </p:txBody>
      </p:sp>
      <p:sp>
        <p:nvSpPr>
          <p:cNvPr id="4" name="Slide Number Placeholder 3">
            <a:extLst>
              <a:ext uri="{FF2B5EF4-FFF2-40B4-BE49-F238E27FC236}">
                <a16:creationId xmlns:a16="http://schemas.microsoft.com/office/drawing/2014/main" id="{62BF46DC-7C84-7EDE-65B1-839C12376853}"/>
              </a:ext>
            </a:extLst>
          </p:cNvPr>
          <p:cNvSpPr>
            <a:spLocks noGrp="1"/>
          </p:cNvSpPr>
          <p:nvPr>
            <p:ph type="sldNum" sz="quarter" idx="12"/>
          </p:nvPr>
        </p:nvSpPr>
        <p:spPr/>
        <p:txBody>
          <a:bodyPr/>
          <a:lstStyle/>
          <a:p>
            <a:fld id="{9A3029B7-FE6B-4680-9049-80E8298A0825}" type="slidenum">
              <a:rPr lang="en-US" smtClean="0"/>
              <a:t>17</a:t>
            </a:fld>
            <a:endParaRPr lang="en-US"/>
          </a:p>
        </p:txBody>
      </p:sp>
      <p:pic>
        <p:nvPicPr>
          <p:cNvPr id="5" name="Picture 4" descr="A picture containing sky, outdoor, tree, road&#10;&#10;Description automatically generated">
            <a:extLst>
              <a:ext uri="{FF2B5EF4-FFF2-40B4-BE49-F238E27FC236}">
                <a16:creationId xmlns:a16="http://schemas.microsoft.com/office/drawing/2014/main" id="{A8F7E256-219B-9945-CA22-BC9E9ACB6E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3283" y="3579230"/>
            <a:ext cx="1990383" cy="2650829"/>
          </a:xfrm>
          <a:prstGeom prst="rect">
            <a:avLst/>
          </a:prstGeom>
        </p:spPr>
      </p:pic>
      <p:pic>
        <p:nvPicPr>
          <p:cNvPr id="6" name="Picture 2" descr="2m XPOL EME MS Yagi Antenna 144MHz WSJT- Antennas-Amplifiers">
            <a:extLst>
              <a:ext uri="{FF2B5EF4-FFF2-40B4-BE49-F238E27FC236}">
                <a16:creationId xmlns:a16="http://schemas.microsoft.com/office/drawing/2014/main" id="{2D303E2A-B6F4-87A7-F548-0D2076ACF8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3778" y="1029571"/>
            <a:ext cx="2722002" cy="194428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Horn Antenna : Working, Types, Radiation Pattern &amp; Its Applications">
            <a:extLst>
              <a:ext uri="{FF2B5EF4-FFF2-40B4-BE49-F238E27FC236}">
                <a16:creationId xmlns:a16="http://schemas.microsoft.com/office/drawing/2014/main" id="{224A15FC-E640-7516-BA45-8562049E9A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83934" y="1601225"/>
            <a:ext cx="2315414" cy="144713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0" descr="Parabolic antenna - Wikipedia">
            <a:extLst>
              <a:ext uri="{FF2B5EF4-FFF2-40B4-BE49-F238E27FC236}">
                <a16:creationId xmlns:a16="http://schemas.microsoft.com/office/drawing/2014/main" id="{7AB7AAD5-4644-F9C5-96CE-72F6FA86A97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0025" y="3483322"/>
            <a:ext cx="2631925" cy="237217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1">
            <a:extLst>
              <a:ext uri="{FF2B5EF4-FFF2-40B4-BE49-F238E27FC236}">
                <a16:creationId xmlns:a16="http://schemas.microsoft.com/office/drawing/2014/main" id="{8A87314B-21C8-F04D-C361-A3BD0D6D9061}"/>
              </a:ext>
            </a:extLst>
          </p:cNvPr>
          <p:cNvPicPr>
            <a:picLocks noChangeAspect="1" noChangeArrowheads="1"/>
          </p:cNvPicPr>
          <p:nvPr/>
        </p:nvPicPr>
        <p:blipFill>
          <a:blip r:embed="rId7"/>
          <a:srcRect/>
          <a:stretch>
            <a:fillRect/>
          </a:stretch>
        </p:blipFill>
        <p:spPr bwMode="auto">
          <a:xfrm>
            <a:off x="3429627" y="3949367"/>
            <a:ext cx="2686914" cy="2398216"/>
          </a:xfrm>
          <a:prstGeom prst="rect">
            <a:avLst/>
          </a:prstGeom>
          <a:ln w="88900" cap="sq" cmpd="thickThin">
            <a:noFill/>
            <a:prstDash val="solid"/>
            <a:miter lim="800000"/>
          </a:ln>
          <a:effectLst>
            <a:innerShdw blurRad="76200">
              <a:srgbClr val="000000"/>
            </a:innerShdw>
          </a:effectLst>
        </p:spPr>
      </p:pic>
      <p:sp>
        <p:nvSpPr>
          <p:cNvPr id="12" name="TextBox 11">
            <a:extLst>
              <a:ext uri="{FF2B5EF4-FFF2-40B4-BE49-F238E27FC236}">
                <a16:creationId xmlns:a16="http://schemas.microsoft.com/office/drawing/2014/main" id="{2F97837A-4CD6-8919-99F8-95A5B82D0CD9}"/>
              </a:ext>
            </a:extLst>
          </p:cNvPr>
          <p:cNvSpPr txBox="1"/>
          <p:nvPr/>
        </p:nvSpPr>
        <p:spPr>
          <a:xfrm>
            <a:off x="2234059" y="1002506"/>
            <a:ext cx="1060720" cy="461665"/>
          </a:xfrm>
          <a:prstGeom prst="rect">
            <a:avLst/>
          </a:prstGeom>
          <a:noFill/>
        </p:spPr>
        <p:txBody>
          <a:bodyPr wrap="square">
            <a:spAutoFit/>
          </a:bodyPr>
          <a:lstStyle>
            <a:defPPr>
              <a:defRPr lang="en-US"/>
            </a:defPPr>
            <a:lvl1pPr>
              <a:defRPr sz="2400" b="1" kern="0">
                <a:solidFill>
                  <a:srgbClr val="00B0F0"/>
                </a:solidFill>
              </a:defRPr>
            </a:lvl1pPr>
          </a:lstStyle>
          <a:p>
            <a:r>
              <a:rPr lang="en-US" dirty="0">
                <a:solidFill>
                  <a:srgbClr val="0070C0"/>
                </a:solidFill>
              </a:rPr>
              <a:t>Yagi</a:t>
            </a:r>
          </a:p>
        </p:txBody>
      </p:sp>
      <p:sp>
        <p:nvSpPr>
          <p:cNvPr id="14" name="TextBox 13">
            <a:extLst>
              <a:ext uri="{FF2B5EF4-FFF2-40B4-BE49-F238E27FC236}">
                <a16:creationId xmlns:a16="http://schemas.microsoft.com/office/drawing/2014/main" id="{59071DB5-661D-84E0-023C-42AFE4F2FA26}"/>
              </a:ext>
            </a:extLst>
          </p:cNvPr>
          <p:cNvSpPr txBox="1"/>
          <p:nvPr/>
        </p:nvSpPr>
        <p:spPr>
          <a:xfrm>
            <a:off x="6206622" y="1283294"/>
            <a:ext cx="1021996" cy="461665"/>
          </a:xfrm>
          <a:prstGeom prst="rect">
            <a:avLst/>
          </a:prstGeom>
          <a:noFill/>
        </p:spPr>
        <p:txBody>
          <a:bodyPr wrap="square">
            <a:spAutoFit/>
          </a:bodyPr>
          <a:lstStyle>
            <a:defPPr>
              <a:defRPr lang="en-US"/>
            </a:defPPr>
            <a:lvl1pPr>
              <a:defRPr sz="2400" b="1" kern="0">
                <a:solidFill>
                  <a:srgbClr val="00B0F0"/>
                </a:solidFill>
              </a:defRPr>
            </a:lvl1pPr>
          </a:lstStyle>
          <a:p>
            <a:r>
              <a:rPr lang="en-US" dirty="0"/>
              <a:t>Horn</a:t>
            </a:r>
          </a:p>
        </p:txBody>
      </p:sp>
      <p:sp>
        <p:nvSpPr>
          <p:cNvPr id="16" name="TextBox 15">
            <a:extLst>
              <a:ext uri="{FF2B5EF4-FFF2-40B4-BE49-F238E27FC236}">
                <a16:creationId xmlns:a16="http://schemas.microsoft.com/office/drawing/2014/main" id="{B5C7162F-8D2B-51CA-610B-BE012BD19883}"/>
              </a:ext>
            </a:extLst>
          </p:cNvPr>
          <p:cNvSpPr txBox="1"/>
          <p:nvPr/>
        </p:nvSpPr>
        <p:spPr>
          <a:xfrm>
            <a:off x="297698" y="3410981"/>
            <a:ext cx="1950973" cy="461665"/>
          </a:xfrm>
          <a:prstGeom prst="rect">
            <a:avLst/>
          </a:prstGeom>
          <a:noFill/>
        </p:spPr>
        <p:txBody>
          <a:bodyPr wrap="square">
            <a:spAutoFit/>
          </a:bodyPr>
          <a:lstStyle/>
          <a:p>
            <a:r>
              <a:rPr lang="en-US" sz="2400" b="1" kern="0" dirty="0">
                <a:solidFill>
                  <a:srgbClr val="00B0F0"/>
                </a:solidFill>
              </a:rPr>
              <a:t>Parabolic</a:t>
            </a:r>
            <a:endParaRPr lang="en-US" sz="2400" dirty="0">
              <a:solidFill>
                <a:srgbClr val="00B0F0"/>
              </a:solidFill>
            </a:endParaRPr>
          </a:p>
        </p:txBody>
      </p:sp>
      <p:sp>
        <p:nvSpPr>
          <p:cNvPr id="18" name="TextBox 17">
            <a:extLst>
              <a:ext uri="{FF2B5EF4-FFF2-40B4-BE49-F238E27FC236}">
                <a16:creationId xmlns:a16="http://schemas.microsoft.com/office/drawing/2014/main" id="{5E9CBF2E-3B26-DBC6-4414-3DA1881E561E}"/>
              </a:ext>
            </a:extLst>
          </p:cNvPr>
          <p:cNvSpPr txBox="1"/>
          <p:nvPr/>
        </p:nvSpPr>
        <p:spPr>
          <a:xfrm>
            <a:off x="7154970" y="6161723"/>
            <a:ext cx="1408387" cy="461665"/>
          </a:xfrm>
          <a:prstGeom prst="rect">
            <a:avLst/>
          </a:prstGeom>
          <a:noFill/>
        </p:spPr>
        <p:txBody>
          <a:bodyPr wrap="square">
            <a:spAutoFit/>
          </a:bodyPr>
          <a:lstStyle>
            <a:defPPr>
              <a:defRPr lang="en-US"/>
            </a:defPPr>
            <a:lvl1pPr>
              <a:defRPr sz="2400" b="1" kern="0">
                <a:solidFill>
                  <a:srgbClr val="00B0F0"/>
                </a:solidFill>
              </a:defRPr>
            </a:lvl1pPr>
          </a:lstStyle>
          <a:p>
            <a:r>
              <a:rPr lang="en-US" dirty="0"/>
              <a:t>Helical</a:t>
            </a:r>
          </a:p>
        </p:txBody>
      </p:sp>
      <p:sp>
        <p:nvSpPr>
          <p:cNvPr id="20" name="TextBox 19">
            <a:extLst>
              <a:ext uri="{FF2B5EF4-FFF2-40B4-BE49-F238E27FC236}">
                <a16:creationId xmlns:a16="http://schemas.microsoft.com/office/drawing/2014/main" id="{F8B3A721-C987-9166-8016-510A57909615}"/>
              </a:ext>
            </a:extLst>
          </p:cNvPr>
          <p:cNvSpPr txBox="1"/>
          <p:nvPr/>
        </p:nvSpPr>
        <p:spPr>
          <a:xfrm>
            <a:off x="3487246" y="3990308"/>
            <a:ext cx="2417244" cy="461665"/>
          </a:xfrm>
          <a:prstGeom prst="rect">
            <a:avLst/>
          </a:prstGeom>
          <a:noFill/>
        </p:spPr>
        <p:txBody>
          <a:bodyPr wrap="square">
            <a:spAutoFit/>
          </a:bodyPr>
          <a:lstStyle>
            <a:defPPr>
              <a:defRPr lang="en-US"/>
            </a:defPPr>
            <a:lvl1pPr>
              <a:defRPr sz="2400" b="1" kern="0">
                <a:solidFill>
                  <a:srgbClr val="00B0F0"/>
                </a:solidFill>
              </a:defRPr>
            </a:lvl1pPr>
          </a:lstStyle>
          <a:p>
            <a:r>
              <a:rPr lang="en-US" dirty="0"/>
              <a:t>Phase Array</a:t>
            </a:r>
          </a:p>
        </p:txBody>
      </p:sp>
    </p:spTree>
    <p:extLst>
      <p:ext uri="{BB962C8B-B14F-4D97-AF65-F5344CB8AC3E}">
        <p14:creationId xmlns:p14="http://schemas.microsoft.com/office/powerpoint/2010/main" val="2941833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CD719-B60E-50BD-7703-72FF49A93C57}"/>
              </a:ext>
            </a:extLst>
          </p:cNvPr>
          <p:cNvSpPr>
            <a:spLocks noGrp="1"/>
          </p:cNvSpPr>
          <p:nvPr>
            <p:ph type="title"/>
          </p:nvPr>
        </p:nvSpPr>
        <p:spPr/>
        <p:txBody>
          <a:bodyPr/>
          <a:lstStyle/>
          <a:p>
            <a:r>
              <a:rPr lang="en-US" dirty="0"/>
              <a:t>Antenna Beamwidth</a:t>
            </a:r>
          </a:p>
        </p:txBody>
      </p:sp>
      <p:sp>
        <p:nvSpPr>
          <p:cNvPr id="4" name="Slide Number Placeholder 3">
            <a:extLst>
              <a:ext uri="{FF2B5EF4-FFF2-40B4-BE49-F238E27FC236}">
                <a16:creationId xmlns:a16="http://schemas.microsoft.com/office/drawing/2014/main" id="{1B515745-D834-FB52-CB11-A3EE4200B8E0}"/>
              </a:ext>
            </a:extLst>
          </p:cNvPr>
          <p:cNvSpPr>
            <a:spLocks noGrp="1"/>
          </p:cNvSpPr>
          <p:nvPr>
            <p:ph type="sldNum" sz="quarter" idx="12"/>
          </p:nvPr>
        </p:nvSpPr>
        <p:spPr/>
        <p:txBody>
          <a:bodyPr/>
          <a:lstStyle/>
          <a:p>
            <a:fld id="{9A3029B7-FE6B-4680-9049-80E8298A0825}" type="slidenum">
              <a:rPr lang="en-US" smtClean="0"/>
              <a:t>18</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E68444DB-B620-0DEE-BB3D-862EBC09D682}"/>
                  </a:ext>
                </a:extLst>
              </p:cNvPr>
              <p:cNvSpPr txBox="1">
                <a:spLocks/>
              </p:cNvSpPr>
              <p:nvPr/>
            </p:nvSpPr>
            <p:spPr>
              <a:xfrm>
                <a:off x="678263" y="3803592"/>
                <a:ext cx="8075403" cy="2573396"/>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For a </a:t>
                </a:r>
                <a:r>
                  <a:rPr lang="en-US" b="1" u="sng" dirty="0"/>
                  <a:t>parabolic antenna</a:t>
                </a:r>
                <a:r>
                  <a:rPr lang="en-US" dirty="0"/>
                  <a:t>, an estimate of the half-power beamwidth is:</a:t>
                </a:r>
              </a:p>
              <a:p>
                <a:pPr marL="0" indent="0">
                  <a:buFont typeface="Arial" panose="020B0604020202020204" pitchFamily="34" charset="0"/>
                  <a:buNone/>
                </a:pPr>
                <a:endParaRPr lang="en-US"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3</m:t>
                          </m:r>
                          <m:r>
                            <a:rPr lang="en-US" i="1">
                              <a:latin typeface="Cambria Math" panose="02040503050406030204" pitchFamily="18" charset="0"/>
                            </a:rPr>
                            <m:t>𝑑𝑏</m:t>
                          </m:r>
                          <m:r>
                            <a:rPr lang="en-US" b="0" i="1" smtClean="0">
                              <a:latin typeface="Cambria Math" panose="02040503050406030204" pitchFamily="18" charset="0"/>
                            </a:rPr>
                            <m:t>, </m:t>
                          </m:r>
                          <m:r>
                            <a:rPr lang="en-US" b="0" i="1" smtClean="0">
                              <a:latin typeface="Cambria Math" panose="02040503050406030204" pitchFamily="18" charset="0"/>
                            </a:rPr>
                            <m:t>𝑝𝑎𝑟</m:t>
                          </m:r>
                        </m:sub>
                      </m:sSub>
                      <m:r>
                        <a:rPr lang="en-US" i="1">
                          <a:latin typeface="Cambria Math" panose="02040503050406030204" pitchFamily="18" charset="0"/>
                        </a:rPr>
                        <m:t>=</m:t>
                      </m:r>
                      <m:r>
                        <a:rPr lang="en-US" b="0" i="1" smtClean="0">
                          <a:latin typeface="Cambria Math" panose="02040503050406030204" pitchFamily="18" charset="0"/>
                        </a:rPr>
                        <m:t>70</m:t>
                      </m:r>
                      <m:f>
                        <m:fPr>
                          <m:ctrlPr>
                            <a:rPr lang="en-US" i="1">
                              <a:latin typeface="Cambria Math" panose="02040503050406030204" pitchFamily="18" charset="0"/>
                            </a:rPr>
                          </m:ctrlPr>
                        </m:fPr>
                        <m:num>
                          <m:r>
                            <a:rPr lang="en-US" b="0" i="1" smtClean="0">
                              <a:latin typeface="Cambria Math" panose="02040503050406030204" pitchFamily="18" charset="0"/>
                            </a:rPr>
                            <m:t>𝜆</m:t>
                          </m:r>
                        </m:num>
                        <m:den>
                          <m:sSub>
                            <m:sSubPr>
                              <m:ctrlPr>
                                <a:rPr lang="en-US" b="0" i="1" smtClean="0">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𝑝</m:t>
                              </m:r>
                            </m:sub>
                          </m:sSub>
                        </m:den>
                      </m:f>
                      <m:r>
                        <a:rPr lang="en-US" i="1">
                          <a:latin typeface="Cambria Math" panose="02040503050406030204" pitchFamily="18" charset="0"/>
                        </a:rPr>
                        <m:t>    (</m:t>
                      </m:r>
                      <m:r>
                        <m:rPr>
                          <m:sty m:val="p"/>
                        </m:rPr>
                        <a:rPr lang="en-US">
                          <a:latin typeface="Cambria Math" panose="02040503050406030204" pitchFamily="18" charset="0"/>
                        </a:rPr>
                        <m:t>degrees</m:t>
                      </m:r>
                      <m:r>
                        <a:rPr lang="en-US" i="1">
                          <a:latin typeface="Cambria Math" panose="02040503050406030204" pitchFamily="18" charset="0"/>
                        </a:rPr>
                        <m:t>)</m:t>
                      </m:r>
                    </m:oMath>
                  </m:oMathPara>
                </a14:m>
                <a:endParaRPr lang="en-US" dirty="0"/>
              </a:p>
              <a:p>
                <a:pPr marL="0" indent="0">
                  <a:buFont typeface="Arial" panose="020B0604020202020204" pitchFamily="34" charset="0"/>
                  <a:buNone/>
                </a:pPr>
                <a14:m>
                  <m:oMath xmlns:m="http://schemas.openxmlformats.org/officeDocument/2006/math">
                    <m:r>
                      <a:rPr lang="en-US" b="0" i="1" smtClean="0">
                        <a:latin typeface="Cambria Math" panose="02040503050406030204" pitchFamily="18" charset="0"/>
                      </a:rPr>
                      <m:t>𝜆</m:t>
                    </m:r>
                  </m:oMath>
                </a14:m>
                <a:r>
                  <a:rPr lang="en-US" dirty="0"/>
                  <a:t> = wavelength (m)</a:t>
                </a:r>
              </a:p>
              <a:p>
                <a:pPr marL="0" indent="0">
                  <a:buFont typeface="Arial" panose="020B0604020202020204" pitchFamily="34" charse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𝑝</m:t>
                        </m:r>
                      </m:sub>
                    </m:sSub>
                  </m:oMath>
                </a14:m>
                <a:r>
                  <a:rPr lang="en-US" dirty="0"/>
                  <a:t> = antenna diameter (m)</a:t>
                </a:r>
              </a:p>
              <a:p>
                <a:pPr marL="0" indent="0">
                  <a:buNone/>
                </a:pPr>
                <a:r>
                  <a:rPr lang="en-US" dirty="0"/>
                  <a:t>Note: as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𝑝</m:t>
                        </m:r>
                      </m:sub>
                    </m:sSub>
                    <m:r>
                      <a:rPr lang="en-US" i="1">
                        <a:latin typeface="Cambria Math" panose="02040503050406030204" pitchFamily="18" charset="0"/>
                      </a:rPr>
                      <m:t> </m:t>
                    </m:r>
                  </m:oMath>
                </a14:m>
                <a:r>
                  <a:rPr lang="en-US" dirty="0"/>
                  <a:t>↑:  G↑ but </a:t>
                </a:r>
                <a14:m>
                  <m:oMath xmlns:m="http://schemas.openxmlformats.org/officeDocument/2006/math">
                    <m:r>
                      <a:rPr lang="en-US" i="1">
                        <a:latin typeface="Cambria Math" panose="02040503050406030204" pitchFamily="18" charset="0"/>
                      </a:rPr>
                      <m:t>𝜃</m:t>
                    </m:r>
                    <m:r>
                      <a:rPr lang="en-US" i="1">
                        <a:latin typeface="Cambria Math" panose="02040503050406030204" pitchFamily="18" charset="0"/>
                      </a:rPr>
                      <m:t> </m:t>
                    </m:r>
                  </m:oMath>
                </a14:m>
                <a:r>
                  <a:rPr lang="en-US" baseline="-25000" dirty="0"/>
                  <a:t>3db</a:t>
                </a:r>
                <a:r>
                  <a:rPr lang="en-US" dirty="0"/>
                  <a:t>↓  </a:t>
                </a:r>
              </a:p>
              <a:p>
                <a:pPr marL="0" indent="0">
                  <a:buNone/>
                </a:pPr>
                <a:r>
                  <a:rPr lang="en-US" dirty="0"/>
                  <a:t>(transmit power doesn’t change but is concentrated in smaller area)</a:t>
                </a:r>
              </a:p>
              <a:p>
                <a:pPr marL="0" indent="0">
                  <a:buFont typeface="Arial" panose="020B0604020202020204" pitchFamily="34" charset="0"/>
                  <a:buNone/>
                </a:pPr>
                <a:endParaRPr lang="en-US" dirty="0"/>
              </a:p>
            </p:txBody>
          </p:sp>
        </mc:Choice>
        <mc:Fallback xmlns="">
          <p:sp>
            <p:nvSpPr>
              <p:cNvPr id="5" name="Content Placeholder 2">
                <a:extLst>
                  <a:ext uri="{FF2B5EF4-FFF2-40B4-BE49-F238E27FC236}">
                    <a16:creationId xmlns:a16="http://schemas.microsoft.com/office/drawing/2014/main" id="{E68444DB-B620-0DEE-BB3D-862EBC09D682}"/>
                  </a:ext>
                </a:extLst>
              </p:cNvPr>
              <p:cNvSpPr txBox="1">
                <a:spLocks noRot="1" noChangeAspect="1" noMove="1" noResize="1" noEditPoints="1" noAdjustHandles="1" noChangeArrowheads="1" noChangeShapeType="1" noTextEdit="1"/>
              </p:cNvSpPr>
              <p:nvPr/>
            </p:nvSpPr>
            <p:spPr>
              <a:xfrm>
                <a:off x="678263" y="3803592"/>
                <a:ext cx="8075403" cy="2573396"/>
              </a:xfrm>
              <a:prstGeom prst="rect">
                <a:avLst/>
              </a:prstGeom>
              <a:blipFill>
                <a:blip r:embed="rId3"/>
                <a:stretch>
                  <a:fillRect l="-604" t="-426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1DE5B285-9A7A-A22A-0509-96D8BE2FE4BF}"/>
              </a:ext>
            </a:extLst>
          </p:cNvPr>
          <p:cNvPicPr/>
          <p:nvPr/>
        </p:nvPicPr>
        <p:blipFill>
          <a:blip r:embed="rId4"/>
          <a:stretch>
            <a:fillRect/>
          </a:stretch>
        </p:blipFill>
        <p:spPr>
          <a:xfrm>
            <a:off x="1083485" y="1142078"/>
            <a:ext cx="6977029" cy="2573396"/>
          </a:xfrm>
          <a:prstGeom prst="rect">
            <a:avLst/>
          </a:prstGeom>
        </p:spPr>
      </p:pic>
    </p:spTree>
    <p:extLst>
      <p:ext uri="{BB962C8B-B14F-4D97-AF65-F5344CB8AC3E}">
        <p14:creationId xmlns:p14="http://schemas.microsoft.com/office/powerpoint/2010/main" val="48464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E7C2D-7F3B-3AB4-8A52-A30D1C0598BD}"/>
              </a:ext>
            </a:extLst>
          </p:cNvPr>
          <p:cNvSpPr>
            <a:spLocks noGrp="1"/>
          </p:cNvSpPr>
          <p:nvPr>
            <p:ph type="title"/>
          </p:nvPr>
        </p:nvSpPr>
        <p:spPr/>
        <p:txBody>
          <a:bodyPr/>
          <a:lstStyle/>
          <a:p>
            <a:r>
              <a:rPr lang="en-US" dirty="0"/>
              <a:t>Antenna Polarization</a:t>
            </a:r>
          </a:p>
        </p:txBody>
      </p:sp>
      <p:sp>
        <p:nvSpPr>
          <p:cNvPr id="4" name="Slide Number Placeholder 3">
            <a:extLst>
              <a:ext uri="{FF2B5EF4-FFF2-40B4-BE49-F238E27FC236}">
                <a16:creationId xmlns:a16="http://schemas.microsoft.com/office/drawing/2014/main" id="{6E5D7DEB-D03B-B2A2-4334-34654874B885}"/>
              </a:ext>
            </a:extLst>
          </p:cNvPr>
          <p:cNvSpPr>
            <a:spLocks noGrp="1"/>
          </p:cNvSpPr>
          <p:nvPr>
            <p:ph type="sldNum" sz="quarter" idx="12"/>
          </p:nvPr>
        </p:nvSpPr>
        <p:spPr/>
        <p:txBody>
          <a:bodyPr/>
          <a:lstStyle/>
          <a:p>
            <a:fld id="{9A3029B7-FE6B-4680-9049-80E8298A0825}" type="slidenum">
              <a:rPr lang="en-US" smtClean="0"/>
              <a:t>19</a:t>
            </a:fld>
            <a:endParaRPr lang="en-US"/>
          </a:p>
        </p:txBody>
      </p:sp>
      <p:sp>
        <p:nvSpPr>
          <p:cNvPr id="6" name="Rectangle 1">
            <a:extLst>
              <a:ext uri="{FF2B5EF4-FFF2-40B4-BE49-F238E27FC236}">
                <a16:creationId xmlns:a16="http://schemas.microsoft.com/office/drawing/2014/main" id="{D18D8A2E-7CE6-14DD-4F67-A8C4D6003159}"/>
              </a:ext>
            </a:extLst>
          </p:cNvPr>
          <p:cNvSpPr>
            <a:spLocks noGrp="1" noChangeArrowheads="1"/>
          </p:cNvSpPr>
          <p:nvPr>
            <p:ph idx="1"/>
          </p:nvPr>
        </p:nvSpPr>
        <p:spPr bwMode="auto">
          <a:xfrm>
            <a:off x="200025" y="993755"/>
            <a:ext cx="8553641"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Antenna polarization</a:t>
            </a:r>
            <a:r>
              <a:rPr kumimoji="0" lang="en-US" altLang="en-US" sz="1800" b="0" i="0" u="none" strike="noStrike" cap="none" normalizeH="0" baseline="0" dirty="0">
                <a:ln>
                  <a:noFill/>
                </a:ln>
                <a:solidFill>
                  <a:schemeClr val="tx1"/>
                </a:solidFill>
                <a:effectLst/>
                <a:latin typeface="Arial" panose="020B0604020202020204" pitchFamily="34" charset="0"/>
              </a:rPr>
              <a:t> describes the </a:t>
            </a:r>
            <a:r>
              <a:rPr kumimoji="0" lang="en-US" altLang="en-US" sz="1800" i="0" u="none" strike="noStrike" cap="none" normalizeH="0" baseline="0" dirty="0">
                <a:ln>
                  <a:noFill/>
                </a:ln>
                <a:solidFill>
                  <a:schemeClr val="tx1"/>
                </a:solidFill>
                <a:effectLst/>
                <a:latin typeface="Arial" panose="020B0604020202020204" pitchFamily="34" charset="0"/>
              </a:rPr>
              <a:t>orientation of the electric field vector </a:t>
            </a:r>
            <a:r>
              <a:rPr kumimoji="0" lang="en-US" altLang="en-US" sz="1800" b="0" i="0" u="none" strike="noStrike" cap="none" normalizeH="0" baseline="0" dirty="0">
                <a:ln>
                  <a:noFill/>
                </a:ln>
                <a:solidFill>
                  <a:schemeClr val="tx1"/>
                </a:solidFill>
                <a:effectLst/>
                <a:latin typeface="Arial" panose="020B0604020202020204" pitchFamily="34" charset="0"/>
              </a:rPr>
              <a:t>of the radiated electromagnetic wave.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It must match between transmitting and receiving antennas for maximum signal transfer.</a:t>
            </a:r>
            <a:endParaRPr lang="en-US" altLang="en-US" sz="1800" dirty="0">
              <a:latin typeface="Arial" panose="020B0604020202020204" pitchFamily="34" charset="0"/>
            </a:endParaRPr>
          </a:p>
          <a:p>
            <a:pPr eaLnBrk="0" fontAlgn="base" hangingPunct="0">
              <a:lnSpc>
                <a:spcPct val="100000"/>
              </a:lnSpc>
              <a:spcBef>
                <a:spcPct val="0"/>
              </a:spcBef>
              <a:spcAft>
                <a:spcPct val="0"/>
              </a:spcAft>
            </a:pPr>
            <a:r>
              <a:rPr lang="en-US" sz="1800" dirty="0"/>
              <a:t>If TX and RX polarizations mismatch, significant signal loss occurs.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051" name="Picture 3" descr="Intro to Antenna Polarization - JEM Engineering Blog">
            <a:extLst>
              <a:ext uri="{FF2B5EF4-FFF2-40B4-BE49-F238E27FC236}">
                <a16:creationId xmlns:a16="http://schemas.microsoft.com/office/drawing/2014/main" id="{BDEC54F3-D873-5092-2309-508FCF78C721}"/>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155" y="3005140"/>
            <a:ext cx="4572000" cy="257175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Intro to Antenna Polarization - JEM Engineering Blog">
            <a:extLst>
              <a:ext uri="{FF2B5EF4-FFF2-40B4-BE49-F238E27FC236}">
                <a16:creationId xmlns:a16="http://schemas.microsoft.com/office/drawing/2014/main" id="{AE61F708-8E35-DE4A-170A-3EB3B9199EF8}"/>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53411" y="4453721"/>
            <a:ext cx="5044225" cy="2011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2831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3FA68-CF8B-4F9A-4CC1-C75A3BCB6153}"/>
              </a:ext>
            </a:extLst>
          </p:cNvPr>
          <p:cNvSpPr>
            <a:spLocks noGrp="1"/>
          </p:cNvSpPr>
          <p:nvPr>
            <p:ph type="title"/>
          </p:nvPr>
        </p:nvSpPr>
        <p:spPr/>
        <p:txBody>
          <a:bodyPr/>
          <a:lstStyle/>
          <a:p>
            <a:r>
              <a:rPr lang="en-US" dirty="0"/>
              <a:t>Miscellaneous Losses, </a:t>
            </a:r>
            <a:r>
              <a:rPr lang="en-US" dirty="0" err="1"/>
              <a:t>L</a:t>
            </a:r>
            <a:r>
              <a:rPr lang="en-US" baseline="-25000" dirty="0" err="1"/>
              <a:t>m</a:t>
            </a:r>
            <a:r>
              <a:rPr lang="en-US" dirty="0"/>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2E0470-AB8E-0C6D-F3A4-89685D51BA5A}"/>
                  </a:ext>
                </a:extLst>
              </p:cNvPr>
              <p:cNvSpPr>
                <a:spLocks noGrp="1"/>
              </p:cNvSpPr>
              <p:nvPr>
                <p:ph idx="1"/>
              </p:nvPr>
            </p:nvSpPr>
            <p:spPr/>
            <p:txBody>
              <a:bodyPr>
                <a:normAutofit/>
              </a:bodyPr>
              <a:lstStyle/>
              <a:p>
                <a:pPr marL="0" indent="0">
                  <a:buNone/>
                </a:pPr>
                <a:endParaRPr lang="en-US" sz="2400" i="1" dirty="0">
                  <a:latin typeface="Cambria Math" panose="02040503050406030204" pitchFamily="18" charset="0"/>
                </a:endParaRPr>
              </a:p>
              <a:p>
                <a:pPr marL="0" indent="0">
                  <a:buNone/>
                </a:pPr>
                <a:endParaRPr lang="en-US" sz="24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𝐿</m:t>
                          </m:r>
                        </m:e>
                        <m:sub>
                          <m:r>
                            <a:rPr lang="en-US" sz="2400" i="1">
                              <a:latin typeface="Cambria Math" panose="02040503050406030204" pitchFamily="18" charset="0"/>
                            </a:rPr>
                            <m:t>𝑚</m:t>
                          </m:r>
                        </m:sub>
                      </m:sSub>
                      <m:r>
                        <a:rPr lang="en-US" sz="2400" i="1">
                          <a:latin typeface="Cambria Math" panose="02040503050406030204" pitchFamily="18" charset="0"/>
                        </a:rPr>
                        <m:t>=</m:t>
                      </m:r>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𝐿</m:t>
                          </m:r>
                        </m:e>
                        <m:sub>
                          <m:r>
                            <a:rPr lang="en-US" sz="2400" i="1">
                              <a:solidFill>
                                <a:srgbClr val="FF0000"/>
                              </a:solidFill>
                              <a:latin typeface="Cambria Math" panose="02040503050406030204" pitchFamily="18" charset="0"/>
                            </a:rPr>
                            <m:t>𝑝</m:t>
                          </m:r>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𝑡𝑥</m:t>
                          </m:r>
                        </m:sub>
                      </m:sSub>
                      <m:r>
                        <a:rPr lang="en-US" sz="2400" i="1">
                          <a:latin typeface="Cambria Math" panose="02040503050406030204" pitchFamily="18" charset="0"/>
                        </a:rPr>
                        <m:t>+</m:t>
                      </m:r>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𝐿</m:t>
                          </m:r>
                        </m:e>
                        <m:sub>
                          <m:r>
                            <a:rPr lang="en-US" sz="2400" i="1">
                              <a:solidFill>
                                <a:srgbClr val="FF0000"/>
                              </a:solidFill>
                              <a:latin typeface="Cambria Math" panose="02040503050406030204" pitchFamily="18" charset="0"/>
                            </a:rPr>
                            <m:t>𝑝</m:t>
                          </m:r>
                          <m:r>
                            <a:rPr lang="en-US" sz="2400" b="0" i="1" smtClean="0">
                              <a:solidFill>
                                <a:srgbClr val="FF0000"/>
                              </a:solidFill>
                              <a:latin typeface="Cambria Math" panose="02040503050406030204" pitchFamily="18" charset="0"/>
                            </a:rPr>
                            <m:t>𝑡</m:t>
                          </m:r>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𝑟𝑥</m:t>
                          </m:r>
                        </m:sub>
                      </m:sSub>
                      <m:r>
                        <a:rPr lang="en-US" sz="2400" i="1">
                          <a:latin typeface="Cambria Math" panose="02040503050406030204" pitchFamily="18" charset="0"/>
                        </a:rPr>
                        <m:t>+</m:t>
                      </m:r>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𝐿</m:t>
                          </m:r>
                        </m:e>
                        <m:sub>
                          <m:r>
                            <a:rPr lang="en-US" sz="2400" i="1">
                              <a:solidFill>
                                <a:srgbClr val="00B050"/>
                              </a:solidFill>
                              <a:latin typeface="Cambria Math" panose="02040503050406030204" pitchFamily="18" charset="0"/>
                            </a:rPr>
                            <m:t>𝑝𝑜𝑙</m:t>
                          </m:r>
                        </m:sub>
                      </m:sSub>
                      <m:r>
                        <a:rPr lang="en-US" sz="2400" i="1">
                          <a:latin typeface="Cambria Math" panose="02040503050406030204" pitchFamily="18" charset="0"/>
                        </a:rPr>
                        <m:t>+</m:t>
                      </m:r>
                      <m:sSub>
                        <m:sSubPr>
                          <m:ctrlPr>
                            <a:rPr lang="en-US" sz="2400" i="1" smtClean="0">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𝐿</m:t>
                          </m:r>
                        </m:e>
                        <m:sub>
                          <m:r>
                            <a:rPr lang="en-US" sz="2400" i="1">
                              <a:solidFill>
                                <a:srgbClr val="0070C0"/>
                              </a:solidFill>
                              <a:latin typeface="Cambria Math" panose="02040503050406030204" pitchFamily="18" charset="0"/>
                            </a:rPr>
                            <m:t>𝑎𝑡𝑚</m:t>
                          </m:r>
                        </m:sub>
                      </m:sSub>
                      <m:r>
                        <a:rPr lang="en-US" sz="2400" i="1">
                          <a:latin typeface="Cambria Math" panose="02040503050406030204" pitchFamily="18" charset="0"/>
                        </a:rPr>
                        <m:t>+</m:t>
                      </m:r>
                      <m:sSub>
                        <m:sSubPr>
                          <m:ctrlPr>
                            <a:rPr lang="en-US" sz="2400" i="1" smtClean="0">
                              <a:solidFill>
                                <a:srgbClr val="7030A0"/>
                              </a:solidFill>
                              <a:latin typeface="Cambria Math" panose="02040503050406030204" pitchFamily="18" charset="0"/>
                            </a:rPr>
                          </m:ctrlPr>
                        </m:sSubPr>
                        <m:e>
                          <m:r>
                            <a:rPr lang="en-US" sz="2400" i="1">
                              <a:solidFill>
                                <a:srgbClr val="7030A0"/>
                              </a:solidFill>
                              <a:latin typeface="Cambria Math" panose="02040503050406030204" pitchFamily="18" charset="0"/>
                            </a:rPr>
                            <m:t>𝐿</m:t>
                          </m:r>
                        </m:e>
                        <m:sub>
                          <m:r>
                            <a:rPr lang="en-US" sz="2400" i="1">
                              <a:solidFill>
                                <a:srgbClr val="7030A0"/>
                              </a:solidFill>
                              <a:latin typeface="Cambria Math" panose="02040503050406030204" pitchFamily="18" charset="0"/>
                            </a:rPr>
                            <m:t>𝑟𝑎𝑖𝑛</m:t>
                          </m:r>
                        </m:sub>
                      </m:sSub>
                      <m:r>
                        <a:rPr lang="en-US" sz="2400" i="1">
                          <a:latin typeface="Cambria Math" panose="02040503050406030204" pitchFamily="18" charset="0"/>
                        </a:rPr>
                        <m:t>  </m:t>
                      </m:r>
                      <m:r>
                        <a:rPr lang="en-US" sz="2400" b="0" i="1" smtClean="0">
                          <a:latin typeface="Cambria Math" panose="02040503050406030204" pitchFamily="18" charset="0"/>
                        </a:rPr>
                        <m:t> </m:t>
                      </m:r>
                      <m:r>
                        <a:rPr lang="en-US" sz="2400" i="1">
                          <a:latin typeface="Cambria Math" panose="02040503050406030204" pitchFamily="18" charset="0"/>
                        </a:rPr>
                        <m:t>(</m:t>
                      </m:r>
                      <m:r>
                        <a:rPr lang="en-US" sz="2400" i="1">
                          <a:latin typeface="Cambria Math" panose="02040503050406030204" pitchFamily="18" charset="0"/>
                        </a:rPr>
                        <m:t>𝑑𝐵</m:t>
                      </m:r>
                      <m:r>
                        <a:rPr lang="en-US" sz="2400" i="1">
                          <a:latin typeface="Cambria Math" panose="02040503050406030204" pitchFamily="18" charset="0"/>
                        </a:rPr>
                        <m:t>)</m:t>
                      </m:r>
                    </m:oMath>
                  </m:oMathPara>
                </a14:m>
                <a:endParaRPr lang="en-US" sz="2400" dirty="0"/>
              </a:p>
              <a:p>
                <a:pPr marL="0" indent="0">
                  <a:buNone/>
                </a:pPr>
                <a:endParaRPr lang="en-US" sz="2400" dirty="0"/>
              </a:p>
              <a:p>
                <a:pPr marL="0" indent="0">
                  <a:buNone/>
                </a:pPr>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𝐿</m:t>
                        </m:r>
                      </m:e>
                      <m:sub>
                        <m:r>
                          <a:rPr lang="en-US" sz="2400" i="1">
                            <a:solidFill>
                              <a:srgbClr val="FF0000"/>
                            </a:solidFill>
                            <a:latin typeface="Cambria Math" panose="02040503050406030204" pitchFamily="18" charset="0"/>
                          </a:rPr>
                          <m:t>𝑝𝑡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𝑡𝑥</m:t>
                        </m:r>
                      </m:sub>
                    </m:sSub>
                    <m:r>
                      <a:rPr lang="en-US" sz="2400" i="1">
                        <a:solidFill>
                          <a:srgbClr val="FF0000"/>
                        </a:solidFill>
                        <a:latin typeface="Cambria Math" panose="02040503050406030204" pitchFamily="18" charset="0"/>
                      </a:rPr>
                      <m:t> </m:t>
                    </m:r>
                  </m:oMath>
                </a14:m>
                <a:r>
                  <a:rPr lang="en-US" sz="2400" dirty="0">
                    <a:solidFill>
                      <a:srgbClr val="FF0000"/>
                    </a:solidFill>
                  </a:rPr>
                  <a:t>= Pointing loss due to transmitter (dB)</a:t>
                </a:r>
              </a:p>
              <a:p>
                <a:pPr marL="0" indent="0">
                  <a:buNone/>
                </a:pPr>
                <a14:m>
                  <m:oMath xmlns:m="http://schemas.openxmlformats.org/officeDocument/2006/math">
                    <m:sSub>
                      <m:sSubPr>
                        <m:ctrlPr>
                          <a:rPr lang="en-US" sz="2400" i="1" smtClean="0">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𝐿</m:t>
                        </m:r>
                      </m:e>
                      <m:sub>
                        <m:r>
                          <a:rPr lang="en-US" sz="2400" i="1">
                            <a:solidFill>
                              <a:srgbClr val="FF0000"/>
                            </a:solidFill>
                            <a:latin typeface="Cambria Math" panose="02040503050406030204" pitchFamily="18" charset="0"/>
                          </a:rPr>
                          <m:t>𝑝𝑡</m:t>
                        </m:r>
                        <m:r>
                          <a:rPr lang="en-US" sz="2400" i="1">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𝑟𝑥</m:t>
                        </m:r>
                      </m:sub>
                    </m:sSub>
                    <m:r>
                      <a:rPr lang="en-US" sz="2400" i="1">
                        <a:solidFill>
                          <a:srgbClr val="FF0000"/>
                        </a:solidFill>
                        <a:latin typeface="Cambria Math" panose="02040503050406030204" pitchFamily="18" charset="0"/>
                      </a:rPr>
                      <m:t> </m:t>
                    </m:r>
                  </m:oMath>
                </a14:m>
                <a:r>
                  <a:rPr lang="en-US" sz="2400" dirty="0">
                    <a:solidFill>
                      <a:srgbClr val="FF0000"/>
                    </a:solidFill>
                  </a:rPr>
                  <a:t>= Pointing loss due to receiver (dB)</a:t>
                </a:r>
              </a:p>
              <a:p>
                <a:pPr marL="0" indent="0">
                  <a:buNone/>
                </a:pPr>
                <a14:m>
                  <m:oMath xmlns:m="http://schemas.openxmlformats.org/officeDocument/2006/math">
                    <m:sSub>
                      <m:sSubPr>
                        <m:ctrlPr>
                          <a:rPr lang="en-US" sz="2400" i="1" smtClean="0">
                            <a:solidFill>
                              <a:srgbClr val="00B050"/>
                            </a:solidFill>
                            <a:latin typeface="Cambria Math" panose="02040503050406030204" pitchFamily="18" charset="0"/>
                          </a:rPr>
                        </m:ctrlPr>
                      </m:sSubPr>
                      <m:e>
                        <m:r>
                          <a:rPr lang="en-US" sz="2400" i="1">
                            <a:solidFill>
                              <a:srgbClr val="00B050"/>
                            </a:solidFill>
                            <a:latin typeface="Cambria Math" panose="02040503050406030204" pitchFamily="18" charset="0"/>
                          </a:rPr>
                          <m:t>𝐿</m:t>
                        </m:r>
                      </m:e>
                      <m:sub>
                        <m:r>
                          <a:rPr lang="en-US" sz="2400" i="1">
                            <a:solidFill>
                              <a:srgbClr val="00B050"/>
                            </a:solidFill>
                            <a:latin typeface="Cambria Math" panose="02040503050406030204" pitchFamily="18" charset="0"/>
                          </a:rPr>
                          <m:t>𝑝𝑜𝑙</m:t>
                        </m:r>
                      </m:sub>
                    </m:sSub>
                    <m:r>
                      <a:rPr lang="en-US" sz="2400" i="1">
                        <a:solidFill>
                          <a:srgbClr val="00B050"/>
                        </a:solidFill>
                        <a:latin typeface="Cambria Math" panose="02040503050406030204" pitchFamily="18" charset="0"/>
                      </a:rPr>
                      <m:t> </m:t>
                    </m:r>
                  </m:oMath>
                </a14:m>
                <a:r>
                  <a:rPr lang="en-US" sz="2400" dirty="0">
                    <a:solidFill>
                      <a:srgbClr val="00B050"/>
                    </a:solidFill>
                  </a:rPr>
                  <a:t>= Polarization losses (dB)</a:t>
                </a:r>
              </a:p>
              <a:p>
                <a:pPr marL="0" indent="0">
                  <a:buNone/>
                </a:pPr>
                <a14:m>
                  <m:oMath xmlns:m="http://schemas.openxmlformats.org/officeDocument/2006/math">
                    <m:sSub>
                      <m:sSubPr>
                        <m:ctrlPr>
                          <a:rPr lang="en-US" sz="2400" i="1" smtClean="0">
                            <a:solidFill>
                              <a:srgbClr val="0070C0"/>
                            </a:solidFill>
                            <a:latin typeface="Cambria Math" panose="02040503050406030204" pitchFamily="18" charset="0"/>
                          </a:rPr>
                        </m:ctrlPr>
                      </m:sSubPr>
                      <m:e>
                        <m:r>
                          <a:rPr lang="en-US" sz="2400" i="1">
                            <a:solidFill>
                              <a:srgbClr val="0070C0"/>
                            </a:solidFill>
                            <a:latin typeface="Cambria Math" panose="02040503050406030204" pitchFamily="18" charset="0"/>
                          </a:rPr>
                          <m:t>𝐿</m:t>
                        </m:r>
                      </m:e>
                      <m:sub>
                        <m:r>
                          <a:rPr lang="en-US" sz="2400" i="1">
                            <a:solidFill>
                              <a:srgbClr val="0070C0"/>
                            </a:solidFill>
                            <a:latin typeface="Cambria Math" panose="02040503050406030204" pitchFamily="18" charset="0"/>
                          </a:rPr>
                          <m:t>𝑎𝑡𝑚</m:t>
                        </m:r>
                      </m:sub>
                    </m:sSub>
                    <m:r>
                      <a:rPr lang="en-US" sz="2400" i="1">
                        <a:solidFill>
                          <a:srgbClr val="0070C0"/>
                        </a:solidFill>
                        <a:latin typeface="Cambria Math" panose="02040503050406030204" pitchFamily="18" charset="0"/>
                      </a:rPr>
                      <m:t> </m:t>
                    </m:r>
                  </m:oMath>
                </a14:m>
                <a:r>
                  <a:rPr lang="en-US" sz="2400" dirty="0">
                    <a:solidFill>
                      <a:srgbClr val="0070C0"/>
                    </a:solidFill>
                  </a:rPr>
                  <a:t>= Atmospheric losses (dB)</a:t>
                </a:r>
              </a:p>
              <a:p>
                <a:pPr marL="0" indent="0">
                  <a:buNone/>
                </a:pPr>
                <a14:m>
                  <m:oMath xmlns:m="http://schemas.openxmlformats.org/officeDocument/2006/math">
                    <m:sSub>
                      <m:sSubPr>
                        <m:ctrlPr>
                          <a:rPr lang="en-US" sz="2400" i="1" smtClean="0">
                            <a:solidFill>
                              <a:srgbClr val="7030A0"/>
                            </a:solidFill>
                            <a:latin typeface="Cambria Math" panose="02040503050406030204" pitchFamily="18" charset="0"/>
                          </a:rPr>
                        </m:ctrlPr>
                      </m:sSubPr>
                      <m:e>
                        <m:r>
                          <a:rPr lang="en-US" sz="2400" i="1">
                            <a:solidFill>
                              <a:srgbClr val="7030A0"/>
                            </a:solidFill>
                            <a:latin typeface="Cambria Math" panose="02040503050406030204" pitchFamily="18" charset="0"/>
                          </a:rPr>
                          <m:t>𝐿</m:t>
                        </m:r>
                      </m:e>
                      <m:sub>
                        <m:r>
                          <a:rPr lang="en-US" sz="2400" i="1">
                            <a:solidFill>
                              <a:srgbClr val="7030A0"/>
                            </a:solidFill>
                            <a:latin typeface="Cambria Math" panose="02040503050406030204" pitchFamily="18" charset="0"/>
                          </a:rPr>
                          <m:t>𝑟𝑎𝑖𝑛</m:t>
                        </m:r>
                      </m:sub>
                    </m:sSub>
                    <m:r>
                      <a:rPr lang="en-US" sz="2400" i="1">
                        <a:solidFill>
                          <a:srgbClr val="7030A0"/>
                        </a:solidFill>
                        <a:latin typeface="Cambria Math" panose="02040503050406030204" pitchFamily="18" charset="0"/>
                      </a:rPr>
                      <m:t> </m:t>
                    </m:r>
                  </m:oMath>
                </a14:m>
                <a:r>
                  <a:rPr lang="en-US" sz="2400" dirty="0">
                    <a:solidFill>
                      <a:srgbClr val="7030A0"/>
                    </a:solidFill>
                  </a:rPr>
                  <a:t>= Rain losses (dB)</a:t>
                </a:r>
              </a:p>
              <a:p>
                <a:pPr marL="0" indent="0">
                  <a:buNone/>
                </a:pPr>
                <a:endParaRPr lang="en-US" sz="2400" dirty="0"/>
              </a:p>
            </p:txBody>
          </p:sp>
        </mc:Choice>
        <mc:Fallback xmlns="">
          <p:sp>
            <p:nvSpPr>
              <p:cNvPr id="3" name="Content Placeholder 2">
                <a:extLst>
                  <a:ext uri="{FF2B5EF4-FFF2-40B4-BE49-F238E27FC236}">
                    <a16:creationId xmlns:a16="http://schemas.microsoft.com/office/drawing/2014/main" id="{C82E0470-AB8E-0C6D-F3A4-89685D51BA5A}"/>
                  </a:ext>
                </a:extLst>
              </p:cNvPr>
              <p:cNvSpPr>
                <a:spLocks noGrp="1" noRot="1" noChangeAspect="1" noMove="1" noResize="1" noEditPoints="1" noAdjustHandles="1" noChangeArrowheads="1" noChangeShapeType="1" noTextEdit="1"/>
              </p:cNvSpPr>
              <p:nvPr>
                <p:ph idx="1"/>
              </p:nvPr>
            </p:nvSpPr>
            <p:spPr>
              <a:blipFill>
                <a:blip r:embed="rId2"/>
                <a:stretch>
                  <a:fillRect l="-2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53EB1CBB-A5F2-A603-E83B-2687761A543F}"/>
              </a:ext>
            </a:extLst>
          </p:cNvPr>
          <p:cNvSpPr>
            <a:spLocks noGrp="1"/>
          </p:cNvSpPr>
          <p:nvPr>
            <p:ph type="sldNum" sz="quarter" idx="12"/>
          </p:nvPr>
        </p:nvSpPr>
        <p:spPr/>
        <p:txBody>
          <a:bodyPr/>
          <a:lstStyle/>
          <a:p>
            <a:fld id="{9A3029B7-FE6B-4680-9049-80E8298A0825}" type="slidenum">
              <a:rPr lang="en-US" smtClean="0"/>
              <a:t>20</a:t>
            </a:fld>
            <a:endParaRPr lang="en-US"/>
          </a:p>
        </p:txBody>
      </p:sp>
    </p:spTree>
    <p:extLst>
      <p:ext uri="{BB962C8B-B14F-4D97-AF65-F5344CB8AC3E}">
        <p14:creationId xmlns:p14="http://schemas.microsoft.com/office/powerpoint/2010/main" val="415849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B3A50-DE89-D955-D058-2DE33DDE4F9D}"/>
              </a:ext>
            </a:extLst>
          </p:cNvPr>
          <p:cNvSpPr>
            <a:spLocks noGrp="1"/>
          </p:cNvSpPr>
          <p:nvPr>
            <p:ph type="title"/>
          </p:nvPr>
        </p:nvSpPr>
        <p:spPr/>
        <p:txBody>
          <a:bodyPr/>
          <a:lstStyle/>
          <a:p>
            <a:r>
              <a:rPr lang="en-US" dirty="0">
                <a:solidFill>
                  <a:srgbClr val="FF0000"/>
                </a:solidFill>
              </a:rPr>
              <a:t>Antenna Pointing Loss, </a:t>
            </a:r>
            <a:r>
              <a:rPr lang="en-US" dirty="0" err="1">
                <a:solidFill>
                  <a:srgbClr val="FF0000"/>
                </a:solidFill>
              </a:rPr>
              <a:t>L</a:t>
            </a:r>
            <a:r>
              <a:rPr lang="en-US" baseline="-25000" dirty="0" err="1">
                <a:solidFill>
                  <a:srgbClr val="FF0000"/>
                </a:solidFill>
              </a:rPr>
              <a:t>pt</a:t>
            </a:r>
            <a:endParaRPr lang="en-US" dirty="0">
              <a:solidFill>
                <a:srgbClr val="FF0000"/>
              </a:solidFill>
            </a:endParaRPr>
          </a:p>
        </p:txBody>
      </p:sp>
      <p:sp>
        <p:nvSpPr>
          <p:cNvPr id="4" name="Slide Number Placeholder 3">
            <a:extLst>
              <a:ext uri="{FF2B5EF4-FFF2-40B4-BE49-F238E27FC236}">
                <a16:creationId xmlns:a16="http://schemas.microsoft.com/office/drawing/2014/main" id="{1B3D1654-5F9D-4A70-20AB-40EA2A3082D8}"/>
              </a:ext>
            </a:extLst>
          </p:cNvPr>
          <p:cNvSpPr>
            <a:spLocks noGrp="1"/>
          </p:cNvSpPr>
          <p:nvPr>
            <p:ph type="sldNum" sz="quarter" idx="12"/>
          </p:nvPr>
        </p:nvSpPr>
        <p:spPr/>
        <p:txBody>
          <a:bodyPr/>
          <a:lstStyle/>
          <a:p>
            <a:fld id="{9A3029B7-FE6B-4680-9049-80E8298A0825}" type="slidenum">
              <a:rPr lang="en-US" smtClean="0"/>
              <a:t>21</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AB485E77-9D44-9E80-8FDC-D1B79E3E3DE5}"/>
                  </a:ext>
                </a:extLst>
              </p:cNvPr>
              <p:cNvSpPr>
                <a:spLocks noGrp="1"/>
              </p:cNvSpPr>
              <p:nvPr>
                <p:ph idx="1"/>
              </p:nvPr>
            </p:nvSpPr>
            <p:spPr>
              <a:xfrm>
                <a:off x="200026" y="2369127"/>
                <a:ext cx="5702010" cy="3842294"/>
              </a:xfrm>
            </p:spPr>
            <p:txBody>
              <a:bodyPr/>
              <a:lstStyle/>
              <a:p>
                <a:pPr marL="0" indent="0">
                  <a:buNone/>
                </a:pPr>
                <a:endParaRPr lang="en-US" i="1"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𝐿</m:t>
                          </m:r>
                        </m:e>
                        <m:sub>
                          <m:r>
                            <a:rPr lang="en-US" i="1">
                              <a:solidFill>
                                <a:srgbClr val="FF0000"/>
                              </a:solidFill>
                              <a:latin typeface="Cambria Math" panose="02040503050406030204" pitchFamily="18" charset="0"/>
                            </a:rPr>
                            <m:t>𝑝𝑡</m:t>
                          </m:r>
                        </m:sub>
                      </m:sSub>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12</m:t>
                      </m:r>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f>
                                <m:fPr>
                                  <m:ctrlPr>
                                    <a:rPr lang="en-US" i="1">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𝜃</m:t>
                                  </m:r>
                                </m:num>
                                <m:den>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𝜃</m:t>
                                      </m:r>
                                    </m:e>
                                    <m:sub>
                                      <m:r>
                                        <a:rPr lang="en-US" i="1">
                                          <a:solidFill>
                                            <a:srgbClr val="FF0000"/>
                                          </a:solidFill>
                                          <a:latin typeface="Cambria Math" panose="02040503050406030204" pitchFamily="18" charset="0"/>
                                        </a:rPr>
                                        <m:t>3</m:t>
                                      </m:r>
                                      <m:r>
                                        <a:rPr lang="en-US" i="1">
                                          <a:solidFill>
                                            <a:srgbClr val="FF0000"/>
                                          </a:solidFill>
                                          <a:latin typeface="Cambria Math" panose="02040503050406030204" pitchFamily="18" charset="0"/>
                                        </a:rPr>
                                        <m:t>𝑑𝐵</m:t>
                                      </m:r>
                                    </m:sub>
                                  </m:sSub>
                                </m:den>
                              </m:f>
                            </m:e>
                          </m:d>
                        </m:e>
                        <m:sup>
                          <m:r>
                            <a:rPr lang="en-US" i="1">
                              <a:solidFill>
                                <a:srgbClr val="FF0000"/>
                              </a:solidFill>
                              <a:latin typeface="Cambria Math" panose="02040503050406030204" pitchFamily="18" charset="0"/>
                            </a:rPr>
                            <m:t>2</m:t>
                          </m:r>
                        </m:sup>
                      </m:sSup>
                      <m:r>
                        <a:rPr lang="en-US" i="1">
                          <a:solidFill>
                            <a:srgbClr val="FF0000"/>
                          </a:solidFill>
                          <a:latin typeface="Cambria Math" panose="02040503050406030204" pitchFamily="18" charset="0"/>
                        </a:rPr>
                        <m:t>    (</m:t>
                      </m:r>
                      <m:r>
                        <a:rPr lang="en-US" i="1">
                          <a:solidFill>
                            <a:srgbClr val="FF0000"/>
                          </a:solidFill>
                          <a:latin typeface="Cambria Math" panose="02040503050406030204" pitchFamily="18" charset="0"/>
                        </a:rPr>
                        <m:t>𝑑𝐵</m:t>
                      </m:r>
                      <m:r>
                        <a:rPr lang="en-US" i="1">
                          <a:solidFill>
                            <a:srgbClr val="FF0000"/>
                          </a:solidFill>
                          <a:latin typeface="Cambria Math" panose="02040503050406030204" pitchFamily="18" charset="0"/>
                        </a:rPr>
                        <m:t>)</m:t>
                      </m:r>
                    </m:oMath>
                  </m:oMathPara>
                </a14:m>
                <a:endParaRPr lang="en-US" dirty="0">
                  <a:solidFill>
                    <a:srgbClr val="FF0000"/>
                  </a:solidFill>
                </a:endParaRPr>
              </a:p>
              <a:p>
                <a:pPr marL="0" indent="0">
                  <a:buNone/>
                </a:pPr>
                <a:endParaRPr lang="en-US" dirty="0">
                  <a:solidFill>
                    <a:srgbClr val="FF0000"/>
                  </a:solidFill>
                </a:endParaRPr>
              </a:p>
              <a:p>
                <a:pPr marL="0" indent="0">
                  <a:buNone/>
                </a:pPr>
                <a14:m>
                  <m:oMath xmlns:m="http://schemas.openxmlformats.org/officeDocument/2006/math">
                    <m:r>
                      <a:rPr lang="en-US" sz="2000" b="0" i="1" smtClean="0">
                        <a:solidFill>
                          <a:srgbClr val="FF0000"/>
                        </a:solidFill>
                        <a:latin typeface="Cambria Math" panose="02040503050406030204" pitchFamily="18" charset="0"/>
                      </a:rPr>
                      <m:t>𝜃</m:t>
                    </m:r>
                  </m:oMath>
                </a14:m>
                <a:r>
                  <a:rPr lang="en-US" sz="2000" dirty="0">
                    <a:solidFill>
                      <a:srgbClr val="FF0000"/>
                    </a:solidFill>
                  </a:rPr>
                  <a:t> = off-axis pointing error (angle in degrees)</a:t>
                </a:r>
              </a:p>
              <a:p>
                <a:pPr marL="0" indent="0">
                  <a:buNone/>
                </a:pPr>
                <a14:m>
                  <m:oMath xmlns:m="http://schemas.openxmlformats.org/officeDocument/2006/math">
                    <m:sSub>
                      <m:sSubPr>
                        <m:ctrlPr>
                          <a:rPr lang="en-US" sz="2000" i="1">
                            <a:solidFill>
                              <a:srgbClr val="FF0000"/>
                            </a:solidFill>
                            <a:latin typeface="Cambria Math" panose="02040503050406030204" pitchFamily="18" charset="0"/>
                          </a:rPr>
                        </m:ctrlPr>
                      </m:sSubPr>
                      <m:e>
                        <m:r>
                          <a:rPr lang="en-US" sz="2000" i="1">
                            <a:solidFill>
                              <a:srgbClr val="FF0000"/>
                            </a:solidFill>
                            <a:latin typeface="Cambria Math" panose="02040503050406030204" pitchFamily="18" charset="0"/>
                          </a:rPr>
                          <m:t>𝜃</m:t>
                        </m:r>
                      </m:e>
                      <m:sub>
                        <m:r>
                          <a:rPr lang="en-US" sz="2000" i="1">
                            <a:solidFill>
                              <a:srgbClr val="FF0000"/>
                            </a:solidFill>
                            <a:latin typeface="Cambria Math" panose="02040503050406030204" pitchFamily="18" charset="0"/>
                          </a:rPr>
                          <m:t>3</m:t>
                        </m:r>
                        <m:r>
                          <a:rPr lang="en-US" sz="2000" i="1">
                            <a:solidFill>
                              <a:srgbClr val="FF0000"/>
                            </a:solidFill>
                            <a:latin typeface="Cambria Math" panose="02040503050406030204" pitchFamily="18" charset="0"/>
                          </a:rPr>
                          <m:t>𝑑𝐵</m:t>
                        </m:r>
                      </m:sub>
                    </m:sSub>
                    <m:r>
                      <a:rPr lang="en-US" sz="2000" i="1">
                        <a:solidFill>
                          <a:srgbClr val="FF0000"/>
                        </a:solidFill>
                        <a:latin typeface="Cambria Math" panose="02040503050406030204" pitchFamily="18" charset="0"/>
                      </a:rPr>
                      <m:t> </m:t>
                    </m:r>
                  </m:oMath>
                </a14:m>
                <a:r>
                  <a:rPr lang="en-US" sz="2000" dirty="0">
                    <a:solidFill>
                      <a:srgbClr val="FF0000"/>
                    </a:solidFill>
                  </a:rPr>
                  <a:t>= half-power beamwidth (degrees</a:t>
                </a:r>
                <a:r>
                  <a:rPr lang="en-US" sz="2000" dirty="0"/>
                  <a:t>)</a:t>
                </a:r>
              </a:p>
            </p:txBody>
          </p:sp>
        </mc:Choice>
        <mc:Fallback xmlns="">
          <p:sp>
            <p:nvSpPr>
              <p:cNvPr id="5" name="Content Placeholder 2">
                <a:extLst>
                  <a:ext uri="{FF2B5EF4-FFF2-40B4-BE49-F238E27FC236}">
                    <a16:creationId xmlns:a16="http://schemas.microsoft.com/office/drawing/2014/main" id="{AB485E77-9D44-9E80-8FDC-D1B79E3E3DE5}"/>
                  </a:ext>
                </a:extLst>
              </p:cNvPr>
              <p:cNvSpPr>
                <a:spLocks noGrp="1" noRot="1" noChangeAspect="1" noMove="1" noResize="1" noEditPoints="1" noAdjustHandles="1" noChangeArrowheads="1" noChangeShapeType="1" noTextEdit="1"/>
              </p:cNvSpPr>
              <p:nvPr>
                <p:ph idx="1"/>
              </p:nvPr>
            </p:nvSpPr>
            <p:spPr>
              <a:xfrm>
                <a:off x="200026" y="2369127"/>
                <a:ext cx="5702010" cy="3842294"/>
              </a:xfrm>
              <a:blipFill>
                <a:blip r:embed="rId2"/>
                <a:stretch>
                  <a:fillRect/>
                </a:stretch>
              </a:blipFill>
            </p:spPr>
            <p:txBody>
              <a:bodyPr/>
              <a:lstStyle/>
              <a:p>
                <a:r>
                  <a:rPr lang="en-US">
                    <a:noFill/>
                  </a:rPr>
                  <a:t> </a:t>
                </a:r>
              </a:p>
            </p:txBody>
          </p:sp>
        </mc:Fallback>
      </mc:AlternateContent>
      <p:pic>
        <p:nvPicPr>
          <p:cNvPr id="4098" name="Picture 2">
            <a:extLst>
              <a:ext uri="{FF2B5EF4-FFF2-40B4-BE49-F238E27FC236}">
                <a16:creationId xmlns:a16="http://schemas.microsoft.com/office/drawing/2014/main" id="{0214DF03-FBBE-D17C-CAFC-3820605CDAF2}"/>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34511" y="2369127"/>
            <a:ext cx="4248875" cy="35739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9C862E-C9C3-7A67-01EF-AF2AA81DFFFA}"/>
              </a:ext>
            </a:extLst>
          </p:cNvPr>
          <p:cNvSpPr txBox="1"/>
          <p:nvPr/>
        </p:nvSpPr>
        <p:spPr>
          <a:xfrm>
            <a:off x="200026" y="914875"/>
            <a:ext cx="8743948" cy="1200329"/>
          </a:xfrm>
          <a:prstGeom prst="rect">
            <a:avLst/>
          </a:prstGeom>
          <a:noFill/>
        </p:spPr>
        <p:txBody>
          <a:bodyPr wrap="square">
            <a:spAutoFit/>
          </a:bodyPr>
          <a:lstStyle/>
          <a:p>
            <a:pPr marL="0" indent="0">
              <a:buNone/>
            </a:pPr>
            <a:r>
              <a:rPr lang="en-US" sz="2400" b="1" dirty="0">
                <a:solidFill>
                  <a:srgbClr val="FF0000"/>
                </a:solidFill>
              </a:rPr>
              <a:t>Reduction in received signal strength caused when the transmitting or receiving antenna is not perfectly aligned with its target.</a:t>
            </a:r>
            <a:endParaRPr lang="en-US" sz="2400" b="1" i="1" dirty="0">
              <a:solidFill>
                <a:srgbClr val="FF0000"/>
              </a:solidFill>
            </a:endParaRPr>
          </a:p>
        </p:txBody>
      </p:sp>
    </p:spTree>
    <p:extLst>
      <p:ext uri="{BB962C8B-B14F-4D97-AF65-F5344CB8AC3E}">
        <p14:creationId xmlns:p14="http://schemas.microsoft.com/office/powerpoint/2010/main" val="3993716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7EA05-63BF-F049-24F4-54759EE253F0}"/>
              </a:ext>
            </a:extLst>
          </p:cNvPr>
          <p:cNvSpPr>
            <a:spLocks noGrp="1"/>
          </p:cNvSpPr>
          <p:nvPr>
            <p:ph type="title"/>
          </p:nvPr>
        </p:nvSpPr>
        <p:spPr/>
        <p:txBody>
          <a:bodyPr/>
          <a:lstStyle/>
          <a:p>
            <a:r>
              <a:rPr lang="en-US" dirty="0">
                <a:solidFill>
                  <a:srgbClr val="00B050"/>
                </a:solidFill>
              </a:rPr>
              <a:t>Polarization Mismatch Loss, </a:t>
            </a:r>
            <a:r>
              <a:rPr lang="en-US" dirty="0" err="1">
                <a:solidFill>
                  <a:srgbClr val="00B050"/>
                </a:solidFill>
              </a:rPr>
              <a:t>L</a:t>
            </a:r>
            <a:r>
              <a:rPr lang="en-US" baseline="-25000" dirty="0" err="1">
                <a:solidFill>
                  <a:srgbClr val="00B050"/>
                </a:solidFill>
              </a:rPr>
              <a:t>pol</a:t>
            </a:r>
            <a:r>
              <a:rPr lang="en-US" dirty="0">
                <a:solidFill>
                  <a:srgbClr val="00B050"/>
                </a:solidFill>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23D73C-922D-B893-24E8-B998F9479F90}"/>
                  </a:ext>
                </a:extLst>
              </p:cNvPr>
              <p:cNvSpPr>
                <a:spLocks noGrp="1"/>
              </p:cNvSpPr>
              <p:nvPr>
                <p:ph idx="1"/>
              </p:nvPr>
            </p:nvSpPr>
            <p:spPr/>
            <p:txBody>
              <a:bodyPr/>
              <a:lstStyle/>
              <a:p>
                <a:pPr marL="0" indent="0">
                  <a:buNone/>
                </a:pPr>
                <a:r>
                  <a:rPr lang="en-US" sz="2400" b="1" dirty="0">
                    <a:solidFill>
                      <a:srgbClr val="00B050"/>
                    </a:solidFill>
                  </a:rPr>
                  <a:t>Applicable for linear (vertical or horizontal) polarized signals, </a:t>
                </a:r>
                <a:r>
                  <a:rPr lang="en-US" sz="2400" b="1" i="1" dirty="0">
                    <a:solidFill>
                      <a:srgbClr val="00B050"/>
                    </a:solidFill>
                  </a:rPr>
                  <a:t>not</a:t>
                </a:r>
                <a:r>
                  <a:rPr lang="en-US" sz="2400" b="1" dirty="0">
                    <a:solidFill>
                      <a:srgbClr val="00B050"/>
                    </a:solidFill>
                  </a:rPr>
                  <a:t> left- or right-handed circular polarized:</a:t>
                </a:r>
              </a:p>
              <a:p>
                <a:pPr marL="0" indent="0">
                  <a:buNone/>
                </a:pPr>
                <a:endParaRPr lang="en-US" sz="2400" i="1" dirty="0">
                  <a:solidFill>
                    <a:srgbClr val="00B050"/>
                  </a:solidFill>
                  <a:latin typeface="Cambria Math" panose="02040503050406030204" pitchFamily="18" charset="0"/>
                </a:endParaRPr>
              </a:p>
              <a:p>
                <a:pPr marL="0" indent="0" algn="ctr">
                  <a:buNone/>
                </a:pPr>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panose="02040503050406030204" pitchFamily="18" charset="0"/>
                          </a:rPr>
                          <m:t>𝐿</m:t>
                        </m:r>
                      </m:e>
                      <m:sub>
                        <m:r>
                          <a:rPr lang="en-US" i="1">
                            <a:solidFill>
                              <a:srgbClr val="00B050"/>
                            </a:solidFill>
                            <a:latin typeface="Cambria Math" panose="02040503050406030204" pitchFamily="18" charset="0"/>
                          </a:rPr>
                          <m:t>𝑝𝑜𝑙</m:t>
                        </m:r>
                      </m:sub>
                    </m:sSub>
                    <m:r>
                      <a:rPr lang="en-US" i="1">
                        <a:solidFill>
                          <a:srgbClr val="00B050"/>
                        </a:solidFill>
                        <a:latin typeface="Cambria Math" panose="02040503050406030204" pitchFamily="18" charset="0"/>
                      </a:rPr>
                      <m:t>=</m:t>
                    </m:r>
                    <m:func>
                      <m:funcPr>
                        <m:ctrlPr>
                          <a:rPr lang="en-US" i="1">
                            <a:solidFill>
                              <a:srgbClr val="00B050"/>
                            </a:solidFill>
                            <a:latin typeface="Cambria Math" panose="02040503050406030204" pitchFamily="18" charset="0"/>
                          </a:rPr>
                        </m:ctrlPr>
                      </m:funcPr>
                      <m:fName>
                        <m:sSup>
                          <m:sSupPr>
                            <m:ctrlPr>
                              <a:rPr lang="en-US" i="1">
                                <a:solidFill>
                                  <a:srgbClr val="00B050"/>
                                </a:solidFill>
                                <a:latin typeface="Cambria Math" panose="02040503050406030204" pitchFamily="18" charset="0"/>
                              </a:rPr>
                            </m:ctrlPr>
                          </m:sSupPr>
                          <m:e>
                            <m:r>
                              <m:rPr>
                                <m:sty m:val="p"/>
                              </m:rPr>
                              <a:rPr lang="en-US">
                                <a:solidFill>
                                  <a:srgbClr val="00B050"/>
                                </a:solidFill>
                                <a:latin typeface="Cambria Math" panose="02040503050406030204" pitchFamily="18" charset="0"/>
                              </a:rPr>
                              <m:t>cos</m:t>
                            </m:r>
                          </m:e>
                          <m:sup>
                            <m:r>
                              <a:rPr lang="en-US" i="1">
                                <a:solidFill>
                                  <a:srgbClr val="00B050"/>
                                </a:solidFill>
                                <a:latin typeface="Cambria Math" panose="02040503050406030204" pitchFamily="18" charset="0"/>
                              </a:rPr>
                              <m:t>2</m:t>
                            </m:r>
                          </m:sup>
                        </m:sSup>
                      </m:fName>
                      <m:e>
                        <m:r>
                          <a:rPr lang="en-US" i="1">
                            <a:solidFill>
                              <a:srgbClr val="00B050"/>
                            </a:solidFill>
                            <a:latin typeface="Cambria Math" panose="02040503050406030204" pitchFamily="18" charset="0"/>
                          </a:rPr>
                          <m:t>𝜃</m:t>
                        </m:r>
                      </m:e>
                    </m:func>
                  </m:oMath>
                </a14:m>
                <a:r>
                  <a:rPr lang="en-US" dirty="0">
                    <a:solidFill>
                      <a:srgbClr val="00B050"/>
                    </a:solidFill>
                  </a:rPr>
                  <a:t>   (</a:t>
                </a:r>
                <a:r>
                  <a:rPr lang="en-US" dirty="0" err="1">
                    <a:solidFill>
                      <a:srgbClr val="00B050"/>
                    </a:solidFill>
                  </a:rPr>
                  <a:t>unitless</a:t>
                </a:r>
                <a:r>
                  <a:rPr lang="en-US" dirty="0">
                    <a:solidFill>
                      <a:srgbClr val="00B050"/>
                    </a:solidFill>
                  </a:rPr>
                  <a:t>)</a:t>
                </a:r>
              </a:p>
              <a:p>
                <a:pPr marL="0" indent="0">
                  <a:buNone/>
                </a:pPr>
                <a:endParaRPr lang="en-US" dirty="0">
                  <a:solidFill>
                    <a:srgbClr val="00B050"/>
                  </a:solidFill>
                </a:endParaRPr>
              </a:p>
              <a:p>
                <a:pPr marL="0" indent="0">
                  <a:buNone/>
                </a:pPr>
                <a:r>
                  <a:rPr lang="en-US" sz="2400" dirty="0" err="1">
                    <a:solidFill>
                      <a:srgbClr val="00B050"/>
                    </a:solidFill>
                  </a:rPr>
                  <a:t>L</a:t>
                </a:r>
                <a:r>
                  <a:rPr lang="en-US" sz="2400" baseline="-25000" dirty="0" err="1">
                    <a:solidFill>
                      <a:srgbClr val="00B050"/>
                    </a:solidFill>
                  </a:rPr>
                  <a:t>pol</a:t>
                </a:r>
                <a:r>
                  <a:rPr lang="en-US" sz="2400" dirty="0">
                    <a:solidFill>
                      <a:srgbClr val="00B050"/>
                    </a:solidFill>
                  </a:rPr>
                  <a:t> = linear polarization loss </a:t>
                </a:r>
              </a:p>
              <a:p>
                <a:pPr marL="0" indent="0">
                  <a:buNone/>
                </a:pPr>
                <a14:m>
                  <m:oMath xmlns:m="http://schemas.openxmlformats.org/officeDocument/2006/math">
                    <m:r>
                      <a:rPr lang="en-US" sz="2400" i="1">
                        <a:solidFill>
                          <a:srgbClr val="00B050"/>
                        </a:solidFill>
                        <a:latin typeface="Cambria Math" panose="02040503050406030204" pitchFamily="18" charset="0"/>
                      </a:rPr>
                      <m:t>𝜃</m:t>
                    </m:r>
                  </m:oMath>
                </a14:m>
                <a:r>
                  <a:rPr lang="en-US" sz="2400" dirty="0">
                    <a:solidFill>
                      <a:srgbClr val="00B050"/>
                    </a:solidFill>
                  </a:rPr>
                  <a:t> = misalignment angle between transmit and receive antennas</a:t>
                </a:r>
              </a:p>
              <a:p>
                <a:pPr marL="0" indent="0">
                  <a:buNone/>
                </a:pPr>
                <a:endParaRPr lang="en-US" dirty="0">
                  <a:solidFill>
                    <a:srgbClr val="00B050"/>
                  </a:solidFill>
                </a:endParaRPr>
              </a:p>
              <a:p>
                <a:pPr marL="0" indent="0">
                  <a:buNone/>
                </a:pPr>
                <a:endParaRPr lang="en-US" dirty="0">
                  <a:solidFill>
                    <a:srgbClr val="00B050"/>
                  </a:solidFill>
                </a:endParaRPr>
              </a:p>
            </p:txBody>
          </p:sp>
        </mc:Choice>
        <mc:Fallback xmlns="">
          <p:sp>
            <p:nvSpPr>
              <p:cNvPr id="3" name="Content Placeholder 2">
                <a:extLst>
                  <a:ext uri="{FF2B5EF4-FFF2-40B4-BE49-F238E27FC236}">
                    <a16:creationId xmlns:a16="http://schemas.microsoft.com/office/drawing/2014/main" id="{5423D73C-922D-B893-24E8-B998F9479F90}"/>
                  </a:ext>
                </a:extLst>
              </p:cNvPr>
              <p:cNvSpPr>
                <a:spLocks noGrp="1" noRot="1" noChangeAspect="1" noMove="1" noResize="1" noEditPoints="1" noAdjustHandles="1" noChangeArrowheads="1" noChangeShapeType="1" noTextEdit="1"/>
              </p:cNvSpPr>
              <p:nvPr>
                <p:ph idx="1"/>
              </p:nvPr>
            </p:nvSpPr>
            <p:spPr>
              <a:blipFill>
                <a:blip r:embed="rId2"/>
                <a:stretch>
                  <a:fillRect l="-1110" t="-1515" r="-208"/>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88323C60-2401-DBAC-6691-E21B5AE7D04F}"/>
              </a:ext>
            </a:extLst>
          </p:cNvPr>
          <p:cNvSpPr>
            <a:spLocks noGrp="1"/>
          </p:cNvSpPr>
          <p:nvPr>
            <p:ph type="sldNum" sz="quarter" idx="12"/>
          </p:nvPr>
        </p:nvSpPr>
        <p:spPr/>
        <p:txBody>
          <a:bodyPr/>
          <a:lstStyle/>
          <a:p>
            <a:fld id="{9A3029B7-FE6B-4680-9049-80E8298A0825}" type="slidenum">
              <a:rPr lang="en-US" smtClean="0"/>
              <a:t>22</a:t>
            </a:fld>
            <a:endParaRPr lang="en-US"/>
          </a:p>
        </p:txBody>
      </p:sp>
      <p:sp>
        <p:nvSpPr>
          <p:cNvPr id="5" name="TextBox 4">
            <a:extLst>
              <a:ext uri="{FF2B5EF4-FFF2-40B4-BE49-F238E27FC236}">
                <a16:creationId xmlns:a16="http://schemas.microsoft.com/office/drawing/2014/main" id="{171864D5-D270-AB74-E165-9941E3AD1761}"/>
              </a:ext>
            </a:extLst>
          </p:cNvPr>
          <p:cNvSpPr txBox="1"/>
          <p:nvPr/>
        </p:nvSpPr>
        <p:spPr>
          <a:xfrm>
            <a:off x="6287199" y="2763982"/>
            <a:ext cx="1506073" cy="369332"/>
          </a:xfrm>
          <a:prstGeom prst="rect">
            <a:avLst/>
          </a:prstGeom>
          <a:solidFill>
            <a:srgbClr val="FFFF00"/>
          </a:solidFill>
          <a:ln>
            <a:solidFill>
              <a:srgbClr val="FF0000"/>
            </a:solidFill>
          </a:ln>
        </p:spPr>
        <p:txBody>
          <a:bodyPr wrap="square">
            <a:spAutoFit/>
          </a:bodyPr>
          <a:lstStyle/>
          <a:p>
            <a:r>
              <a:rPr lang="en-US" sz="1800" b="1" dirty="0">
                <a:solidFill>
                  <a:srgbClr val="FF0000"/>
                </a:solidFill>
              </a:rPr>
              <a:t>Linear units!</a:t>
            </a:r>
            <a:endParaRPr lang="en-US" dirty="0">
              <a:solidFill>
                <a:srgbClr val="FF0000"/>
              </a:solidFill>
            </a:endParaRPr>
          </a:p>
        </p:txBody>
      </p:sp>
    </p:spTree>
    <p:extLst>
      <p:ext uri="{BB962C8B-B14F-4D97-AF65-F5344CB8AC3E}">
        <p14:creationId xmlns:p14="http://schemas.microsoft.com/office/powerpoint/2010/main" val="1825216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B170-B237-4807-841E-F83973C2C2DE}"/>
              </a:ext>
            </a:extLst>
          </p:cNvPr>
          <p:cNvSpPr>
            <a:spLocks noGrp="1"/>
          </p:cNvSpPr>
          <p:nvPr>
            <p:ph type="title"/>
          </p:nvPr>
        </p:nvSpPr>
        <p:spPr/>
        <p:txBody>
          <a:bodyPr/>
          <a:lstStyle/>
          <a:p>
            <a:r>
              <a:rPr lang="en-US" dirty="0">
                <a:solidFill>
                  <a:srgbClr val="0070C0"/>
                </a:solidFill>
              </a:rPr>
              <a:t>Atmospherics Losses, </a:t>
            </a:r>
            <a:r>
              <a:rPr lang="en-US" dirty="0" err="1">
                <a:solidFill>
                  <a:srgbClr val="0070C0"/>
                </a:solidFill>
              </a:rPr>
              <a:t>L</a:t>
            </a:r>
            <a:r>
              <a:rPr lang="en-US" baseline="-25000" dirty="0" err="1">
                <a:solidFill>
                  <a:srgbClr val="0070C0"/>
                </a:solidFill>
              </a:rPr>
              <a:t>atm</a:t>
            </a:r>
            <a:r>
              <a:rPr lang="en-US" dirty="0">
                <a:solidFill>
                  <a:srgbClr val="0070C0"/>
                </a:solidFill>
              </a:rPr>
              <a: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FCE14C-F708-12A9-9810-D110377E7C7D}"/>
                  </a:ext>
                </a:extLst>
              </p:cNvPr>
              <p:cNvSpPr>
                <a:spLocks noGrp="1"/>
              </p:cNvSpPr>
              <p:nvPr>
                <p:ph idx="1"/>
              </p:nvPr>
            </p:nvSpPr>
            <p:spPr>
              <a:xfrm>
                <a:off x="200024" y="1002506"/>
                <a:ext cx="8761095" cy="5227553"/>
              </a:xfrm>
            </p:spPr>
            <p:txBody>
              <a:bodyPr>
                <a:normAutofit/>
              </a:bodyPr>
              <a:lstStyle/>
              <a:p>
                <a:pPr marL="0" indent="0">
                  <a:buNone/>
                </a:pPr>
                <a:r>
                  <a:rPr lang="en-US" sz="2000" dirty="0">
                    <a:solidFill>
                      <a:srgbClr val="0070C0"/>
                    </a:solidFill>
                  </a:rPr>
                  <a:t>Oxygen (O₂) and water vapor (H₂O) absorb RF energy at certain frequencies. Notable absorption peaks:</a:t>
                </a:r>
              </a:p>
              <a:p>
                <a:pPr lvl="1"/>
                <a:r>
                  <a:rPr lang="en-US" sz="1600" dirty="0">
                    <a:solidFill>
                      <a:srgbClr val="0070C0"/>
                    </a:solidFill>
                  </a:rPr>
                  <a:t>water vapor (~22 GHz)</a:t>
                </a:r>
              </a:p>
              <a:p>
                <a:pPr lvl="1"/>
                <a:r>
                  <a:rPr lang="en-US" sz="1600" dirty="0">
                    <a:solidFill>
                      <a:srgbClr val="0070C0"/>
                    </a:solidFill>
                  </a:rPr>
                  <a:t>oxygen (~60 and ~119 GHz)</a:t>
                </a:r>
              </a:p>
              <a:p>
                <a:pPr lvl="1"/>
                <a:endParaRPr lang="en-US" sz="1600" dirty="0">
                  <a:solidFill>
                    <a:srgbClr val="0070C0"/>
                  </a:solidFill>
                </a:endParaRPr>
              </a:p>
              <a:p>
                <a:pPr marL="0" indent="0">
                  <a:buNone/>
                </a:pPr>
                <a14:m>
                  <m:oMathPara xmlns:m="http://schemas.openxmlformats.org/officeDocument/2006/math">
                    <m:oMathParaPr>
                      <m:jc m:val="centerGroup"/>
                    </m:oMathParaPr>
                    <m:oMath xmlns:m="http://schemas.openxmlformats.org/officeDocument/2006/math">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𝐿</m:t>
                          </m:r>
                        </m:e>
                        <m:sub>
                          <m:r>
                            <a:rPr lang="en-US" sz="2000" i="1">
                              <a:solidFill>
                                <a:srgbClr val="0070C0"/>
                              </a:solidFill>
                              <a:latin typeface="Cambria Math" panose="02040503050406030204" pitchFamily="18" charset="0"/>
                            </a:rPr>
                            <m:t>𝑎𝑡𝑚𝑜𝑠</m:t>
                          </m:r>
                        </m:sub>
                      </m:sSub>
                      <m:r>
                        <a:rPr lang="en-US" sz="2000" i="1">
                          <a:solidFill>
                            <a:srgbClr val="0070C0"/>
                          </a:solidFill>
                          <a:latin typeface="Cambria Math" panose="02040503050406030204" pitchFamily="18" charset="0"/>
                        </a:rPr>
                        <m:t>≈</m:t>
                      </m:r>
                      <m:f>
                        <m:fPr>
                          <m:ctrlPr>
                            <a:rPr lang="en-US" sz="2000" i="1">
                              <a:solidFill>
                                <a:srgbClr val="0070C0"/>
                              </a:solidFill>
                              <a:latin typeface="Cambria Math" panose="02040503050406030204" pitchFamily="18" charset="0"/>
                            </a:rPr>
                          </m:ctrlPr>
                        </m:fPr>
                        <m:num>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𝐴</m:t>
                              </m:r>
                            </m:e>
                            <m:sub>
                              <m:r>
                                <a:rPr lang="en-US" sz="2000" i="1">
                                  <a:solidFill>
                                    <a:srgbClr val="0070C0"/>
                                  </a:solidFill>
                                  <a:latin typeface="Cambria Math" panose="02040503050406030204" pitchFamily="18" charset="0"/>
                                </a:rPr>
                                <m:t>𝑧𝑒𝑛𝑖𝑡h</m:t>
                              </m:r>
                            </m:sub>
                          </m:sSub>
                        </m:num>
                        <m:den>
                          <m:func>
                            <m:funcPr>
                              <m:ctrlPr>
                                <a:rPr lang="en-US" sz="2000" i="1">
                                  <a:solidFill>
                                    <a:srgbClr val="0070C0"/>
                                  </a:solidFill>
                                  <a:latin typeface="Cambria Math" panose="02040503050406030204" pitchFamily="18" charset="0"/>
                                </a:rPr>
                              </m:ctrlPr>
                            </m:funcPr>
                            <m:fName>
                              <m:r>
                                <m:rPr>
                                  <m:sty m:val="p"/>
                                </m:rPr>
                                <a:rPr lang="en-US" sz="2000">
                                  <a:solidFill>
                                    <a:srgbClr val="0070C0"/>
                                  </a:solidFill>
                                  <a:latin typeface="Cambria Math" panose="02040503050406030204" pitchFamily="18" charset="0"/>
                                </a:rPr>
                                <m:t>sin</m:t>
                              </m:r>
                            </m:fName>
                            <m:e>
                              <m:r>
                                <a:rPr lang="en-US" sz="2000" i="1">
                                  <a:solidFill>
                                    <a:srgbClr val="0070C0"/>
                                  </a:solidFill>
                                  <a:latin typeface="Cambria Math" panose="02040503050406030204" pitchFamily="18" charset="0"/>
                                </a:rPr>
                                <m:t>𝜀</m:t>
                              </m:r>
                            </m:e>
                          </m:func>
                        </m:den>
                      </m:f>
                      <m:r>
                        <a:rPr lang="en-US" sz="2000" i="1">
                          <a:solidFill>
                            <a:srgbClr val="0070C0"/>
                          </a:solidFill>
                          <a:latin typeface="Cambria Math" panose="02040503050406030204" pitchFamily="18" charset="0"/>
                        </a:rPr>
                        <m:t>   (</m:t>
                      </m:r>
                      <m:r>
                        <a:rPr lang="en-US" sz="2000" i="1">
                          <a:solidFill>
                            <a:srgbClr val="0070C0"/>
                          </a:solidFill>
                          <a:latin typeface="Cambria Math" panose="02040503050406030204" pitchFamily="18" charset="0"/>
                        </a:rPr>
                        <m:t>𝑑𝐵</m:t>
                      </m:r>
                      <m:r>
                        <a:rPr lang="en-US" sz="2000" i="1">
                          <a:solidFill>
                            <a:srgbClr val="0070C0"/>
                          </a:solidFill>
                          <a:latin typeface="Cambria Math" panose="02040503050406030204" pitchFamily="18" charset="0"/>
                        </a:rPr>
                        <m:t>)</m:t>
                      </m:r>
                    </m:oMath>
                  </m:oMathPara>
                </a14:m>
                <a:endParaRPr lang="en-US" sz="2000" dirty="0">
                  <a:solidFill>
                    <a:srgbClr val="0070C0"/>
                  </a:solidFill>
                </a:endParaRPr>
              </a:p>
              <a:p>
                <a:pPr marL="0" indent="0">
                  <a:buNone/>
                </a:pPr>
                <a14:m>
                  <m:oMath xmlns:m="http://schemas.openxmlformats.org/officeDocument/2006/math">
                    <m:r>
                      <a:rPr lang="en-US" sz="2000" i="1">
                        <a:solidFill>
                          <a:srgbClr val="0070C0"/>
                        </a:solidFill>
                        <a:latin typeface="Cambria Math" panose="02040503050406030204" pitchFamily="18" charset="0"/>
                      </a:rPr>
                      <m:t>𝜀</m:t>
                    </m:r>
                  </m:oMath>
                </a14:m>
                <a:r>
                  <a:rPr lang="en-US" sz="2000" dirty="0">
                    <a:solidFill>
                      <a:srgbClr val="0070C0"/>
                    </a:solidFill>
                  </a:rPr>
                  <a:t> = elevation angle (</a:t>
                </a:r>
                <a:r>
                  <a:rPr lang="en-US" sz="2000" dirty="0" err="1">
                    <a:solidFill>
                      <a:srgbClr val="0070C0"/>
                    </a:solidFill>
                  </a:rPr>
                  <a:t>deg</a:t>
                </a:r>
                <a:r>
                  <a:rPr lang="en-US" sz="2000" dirty="0">
                    <a:solidFill>
                      <a:srgbClr val="0070C0"/>
                    </a:solidFill>
                  </a:rPr>
                  <a:t> or rad)</a:t>
                </a:r>
              </a:p>
              <a:p>
                <a:pPr marL="0" indent="0">
                  <a:buNone/>
                </a:pPr>
                <a14:m>
                  <m:oMath xmlns:m="http://schemas.openxmlformats.org/officeDocument/2006/math">
                    <m:sSub>
                      <m:sSubPr>
                        <m:ctrlPr>
                          <a:rPr lang="en-US" sz="2000" i="1">
                            <a:solidFill>
                              <a:srgbClr val="0070C0"/>
                            </a:solidFill>
                            <a:latin typeface="Cambria Math" panose="02040503050406030204" pitchFamily="18" charset="0"/>
                          </a:rPr>
                        </m:ctrlPr>
                      </m:sSubPr>
                      <m:e>
                        <m:r>
                          <a:rPr lang="en-US" sz="2000" i="1">
                            <a:solidFill>
                              <a:srgbClr val="0070C0"/>
                            </a:solidFill>
                            <a:latin typeface="Cambria Math" panose="02040503050406030204" pitchFamily="18" charset="0"/>
                          </a:rPr>
                          <m:t>𝐴</m:t>
                        </m:r>
                      </m:e>
                      <m:sub>
                        <m:r>
                          <a:rPr lang="en-US" sz="2000" i="1">
                            <a:solidFill>
                              <a:srgbClr val="0070C0"/>
                            </a:solidFill>
                            <a:latin typeface="Cambria Math" panose="02040503050406030204" pitchFamily="18" charset="0"/>
                          </a:rPr>
                          <m:t>𝑧𝑒𝑛𝑖𝑡h</m:t>
                        </m:r>
                      </m:sub>
                    </m:sSub>
                    <m:r>
                      <a:rPr lang="en-US" sz="2000">
                        <a:solidFill>
                          <a:srgbClr val="0070C0"/>
                        </a:solidFill>
                        <a:latin typeface="Cambria Math" panose="02040503050406030204" pitchFamily="18" charset="0"/>
                      </a:rPr>
                      <m:t>= </m:t>
                    </m:r>
                  </m:oMath>
                </a14:m>
                <a:r>
                  <a:rPr lang="en-US" sz="2000" dirty="0">
                    <a:solidFill>
                      <a:srgbClr val="0070C0"/>
                    </a:solidFill>
                  </a:rPr>
                  <a:t>zenith attenuation is looked up on a chart (dB) </a:t>
                </a:r>
              </a:p>
              <a:p>
                <a:pPr marL="0" indent="0">
                  <a:buNone/>
                </a:pPr>
                <a:endParaRPr lang="en-US" sz="2000" dirty="0">
                  <a:solidFill>
                    <a:srgbClr val="0070C0"/>
                  </a:solidFill>
                </a:endParaRPr>
              </a:p>
              <a:p>
                <a:pPr marL="0" indent="0">
                  <a:buNone/>
                </a:pPr>
                <a:endParaRPr lang="en-US" sz="2000" dirty="0">
                  <a:solidFill>
                    <a:srgbClr val="0070C0"/>
                  </a:solidFill>
                </a:endParaRPr>
              </a:p>
            </p:txBody>
          </p:sp>
        </mc:Choice>
        <mc:Fallback xmlns="">
          <p:sp>
            <p:nvSpPr>
              <p:cNvPr id="3" name="Content Placeholder 2">
                <a:extLst>
                  <a:ext uri="{FF2B5EF4-FFF2-40B4-BE49-F238E27FC236}">
                    <a16:creationId xmlns:a16="http://schemas.microsoft.com/office/drawing/2014/main" id="{74FCE14C-F708-12A9-9810-D110377E7C7D}"/>
                  </a:ext>
                </a:extLst>
              </p:cNvPr>
              <p:cNvSpPr>
                <a:spLocks noGrp="1" noRot="1" noChangeAspect="1" noMove="1" noResize="1" noEditPoints="1" noAdjustHandles="1" noChangeArrowheads="1" noChangeShapeType="1" noTextEdit="1"/>
              </p:cNvSpPr>
              <p:nvPr>
                <p:ph idx="1"/>
              </p:nvPr>
            </p:nvSpPr>
            <p:spPr>
              <a:xfrm>
                <a:off x="200024" y="1002506"/>
                <a:ext cx="8761095" cy="5227553"/>
              </a:xfrm>
              <a:blipFill>
                <a:blip r:embed="rId2"/>
                <a:stretch>
                  <a:fillRect l="-765" t="-1049" r="-626"/>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66BF7201-6141-BCAC-B0F1-BBDF5BF03D66}"/>
              </a:ext>
            </a:extLst>
          </p:cNvPr>
          <p:cNvSpPr>
            <a:spLocks noGrp="1"/>
          </p:cNvSpPr>
          <p:nvPr>
            <p:ph type="sldNum" sz="quarter" idx="12"/>
          </p:nvPr>
        </p:nvSpPr>
        <p:spPr/>
        <p:txBody>
          <a:bodyPr/>
          <a:lstStyle/>
          <a:p>
            <a:fld id="{9A3029B7-FE6B-4680-9049-80E8298A0825}" type="slidenum">
              <a:rPr lang="en-US" smtClean="0"/>
              <a:t>23</a:t>
            </a:fld>
            <a:endParaRPr lang="en-US"/>
          </a:p>
        </p:txBody>
      </p:sp>
      <p:pic>
        <p:nvPicPr>
          <p:cNvPr id="6" name="Picture 5">
            <a:extLst>
              <a:ext uri="{FF2B5EF4-FFF2-40B4-BE49-F238E27FC236}">
                <a16:creationId xmlns:a16="http://schemas.microsoft.com/office/drawing/2014/main" id="{14F3ECCA-608B-D672-B9A2-2B2E0F9D1E49}"/>
              </a:ext>
            </a:extLst>
          </p:cNvPr>
          <p:cNvPicPr>
            <a:picLocks noChangeAspect="1"/>
          </p:cNvPicPr>
          <p:nvPr/>
        </p:nvPicPr>
        <p:blipFill>
          <a:blip r:embed="rId3"/>
          <a:stretch>
            <a:fillRect/>
          </a:stretch>
        </p:blipFill>
        <p:spPr>
          <a:xfrm>
            <a:off x="2514494" y="3750689"/>
            <a:ext cx="4591644" cy="3107311"/>
          </a:xfrm>
          <a:prstGeom prst="rect">
            <a:avLst/>
          </a:prstGeom>
        </p:spPr>
      </p:pic>
    </p:spTree>
    <p:extLst>
      <p:ext uri="{BB962C8B-B14F-4D97-AF65-F5344CB8AC3E}">
        <p14:creationId xmlns:p14="http://schemas.microsoft.com/office/powerpoint/2010/main" val="3437600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2176E-4DC5-549B-AD3F-9A16135C9BDF}"/>
              </a:ext>
            </a:extLst>
          </p:cNvPr>
          <p:cNvSpPr>
            <a:spLocks noGrp="1"/>
          </p:cNvSpPr>
          <p:nvPr>
            <p:ph type="title"/>
          </p:nvPr>
        </p:nvSpPr>
        <p:spPr/>
        <p:txBody>
          <a:bodyPr/>
          <a:lstStyle/>
          <a:p>
            <a:r>
              <a:rPr lang="en-US" dirty="0">
                <a:solidFill>
                  <a:srgbClr val="7030A0"/>
                </a:solidFill>
              </a:rPr>
              <a:t>Rain Losses</a:t>
            </a:r>
          </a:p>
        </p:txBody>
      </p:sp>
      <p:sp>
        <p:nvSpPr>
          <p:cNvPr id="3" name="Content Placeholder 2">
            <a:extLst>
              <a:ext uri="{FF2B5EF4-FFF2-40B4-BE49-F238E27FC236}">
                <a16:creationId xmlns:a16="http://schemas.microsoft.com/office/drawing/2014/main" id="{2CB1E9C5-AC0D-BB3E-ADF4-F1BA2B9EC6BE}"/>
              </a:ext>
            </a:extLst>
          </p:cNvPr>
          <p:cNvSpPr>
            <a:spLocks noGrp="1"/>
          </p:cNvSpPr>
          <p:nvPr>
            <p:ph idx="1"/>
          </p:nvPr>
        </p:nvSpPr>
        <p:spPr/>
        <p:txBody>
          <a:bodyPr>
            <a:normAutofit/>
          </a:bodyPr>
          <a:lstStyle/>
          <a:p>
            <a:pPr marL="0" indent="0">
              <a:buNone/>
            </a:pPr>
            <a:r>
              <a:rPr lang="en-US" sz="2000" b="1" dirty="0">
                <a:solidFill>
                  <a:srgbClr val="7030A0"/>
                </a:solidFill>
              </a:rPr>
              <a:t>Attenuation of radio signals caused by absorption and scattering of electromagnetic waves as they pass through raindrops in the atmosphere.</a:t>
            </a:r>
          </a:p>
        </p:txBody>
      </p:sp>
      <p:sp>
        <p:nvSpPr>
          <p:cNvPr id="4" name="Slide Number Placeholder 3">
            <a:extLst>
              <a:ext uri="{FF2B5EF4-FFF2-40B4-BE49-F238E27FC236}">
                <a16:creationId xmlns:a16="http://schemas.microsoft.com/office/drawing/2014/main" id="{970917D0-2B90-FF9F-0D52-04EF43570797}"/>
              </a:ext>
            </a:extLst>
          </p:cNvPr>
          <p:cNvSpPr>
            <a:spLocks noGrp="1"/>
          </p:cNvSpPr>
          <p:nvPr>
            <p:ph type="sldNum" sz="quarter" idx="12"/>
          </p:nvPr>
        </p:nvSpPr>
        <p:spPr/>
        <p:txBody>
          <a:bodyPr/>
          <a:lstStyle/>
          <a:p>
            <a:fld id="{9A3029B7-FE6B-4680-9049-80E8298A0825}" type="slidenum">
              <a:rPr lang="en-US" smtClean="0"/>
              <a:t>24</a:t>
            </a:fld>
            <a:endParaRPr lang="en-US"/>
          </a:p>
        </p:txBody>
      </p:sp>
      <p:pic>
        <p:nvPicPr>
          <p:cNvPr id="7" name="Picture 6">
            <a:extLst>
              <a:ext uri="{FF2B5EF4-FFF2-40B4-BE49-F238E27FC236}">
                <a16:creationId xmlns:a16="http://schemas.microsoft.com/office/drawing/2014/main" id="{7C87D5C0-44F7-6DDB-8687-3C90CA1C3282}"/>
              </a:ext>
            </a:extLst>
          </p:cNvPr>
          <p:cNvPicPr>
            <a:picLocks noChangeAspect="1"/>
          </p:cNvPicPr>
          <p:nvPr/>
        </p:nvPicPr>
        <p:blipFill>
          <a:blip r:embed="rId3"/>
          <a:stretch>
            <a:fillRect/>
          </a:stretch>
        </p:blipFill>
        <p:spPr>
          <a:xfrm>
            <a:off x="357035" y="2424545"/>
            <a:ext cx="8429930" cy="3680823"/>
          </a:xfrm>
          <a:prstGeom prst="rect">
            <a:avLst/>
          </a:prstGeom>
        </p:spPr>
      </p:pic>
    </p:spTree>
    <p:extLst>
      <p:ext uri="{BB962C8B-B14F-4D97-AF65-F5344CB8AC3E}">
        <p14:creationId xmlns:p14="http://schemas.microsoft.com/office/powerpoint/2010/main" val="1954226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FBAC9-0A08-8DC1-5D40-A1E1972860BA}"/>
              </a:ext>
            </a:extLst>
          </p:cNvPr>
          <p:cNvSpPr>
            <a:spLocks noGrp="1"/>
          </p:cNvSpPr>
          <p:nvPr>
            <p:ph type="title"/>
          </p:nvPr>
        </p:nvSpPr>
        <p:spPr/>
        <p:txBody>
          <a:bodyPr/>
          <a:lstStyle/>
          <a:p>
            <a:r>
              <a:rPr lang="en-US" dirty="0"/>
              <a:t>Effective Isotropic Radiated Power (EIRP)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7B5FAD0-BD88-66F8-3848-27EB17028C9B}"/>
                  </a:ext>
                </a:extLst>
              </p:cNvPr>
              <p:cNvSpPr>
                <a:spLocks noGrp="1"/>
              </p:cNvSpPr>
              <p:nvPr>
                <p:ph idx="1"/>
              </p:nvPr>
            </p:nvSpPr>
            <p:spPr/>
            <p:txBody>
              <a:bodyPr/>
              <a:lstStyle/>
              <a:p>
                <a:pPr marL="0" indent="0">
                  <a:buNone/>
                </a:pPr>
                <a:r>
                  <a:rPr lang="en-US" sz="2400" b="1" dirty="0"/>
                  <a:t>EIRP: Equivalent transmit power that an antenna would radiate if it were isotropic (radiating equally in all directions)</a:t>
                </a:r>
              </a:p>
              <a:p>
                <a:pPr marL="0" indent="0">
                  <a:buNone/>
                </a:pPr>
                <a:endParaRPr lang="en-US" sz="2000" b="1" dirty="0"/>
              </a:p>
              <a:p>
                <a:pPr marL="0" indent="0">
                  <a:buNone/>
                </a:pPr>
                <a:endParaRPr lang="en-US" sz="2000" b="1" dirty="0"/>
              </a:p>
              <a:p>
                <a:pPr marL="0" indent="0">
                  <a:buNone/>
                </a:pPr>
                <a:r>
                  <a:rPr lang="en-US" dirty="0"/>
                  <a:t>Linear:	</a:t>
                </a:r>
                <a14:m>
                  <m:oMath xmlns:m="http://schemas.openxmlformats.org/officeDocument/2006/math">
                    <m:r>
                      <a:rPr lang="en-US" i="1">
                        <a:latin typeface="Cambria Math" panose="02040503050406030204" pitchFamily="18" charset="0"/>
                      </a:rPr>
                      <m:t>𝐸𝐼𝑅𝑃</m:t>
                    </m:r>
                    <m:r>
                      <a:rPr lang="en-US" i="1">
                        <a:latin typeface="Cambria Math" panose="02040503050406030204" pitchFamily="18" charset="0"/>
                      </a:rPr>
                      <m:t>=</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𝑡</m:t>
                            </m:r>
                          </m:sub>
                        </m:sSub>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𝑙</m:t>
                            </m:r>
                          </m:sub>
                        </m:sSub>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e>
                    </m:d>
                  </m:oMath>
                </a14:m>
                <a:r>
                  <a:rPr lang="en-US" dirty="0"/>
                  <a:t>	(unitless)</a:t>
                </a:r>
              </a:p>
              <a:p>
                <a:pPr marL="0" indent="0">
                  <a:buNone/>
                </a:pPr>
                <a:r>
                  <a:rPr lang="en-US" dirty="0"/>
                  <a:t>dB:		</a:t>
                </a:r>
                <a14:m>
                  <m:oMath xmlns:m="http://schemas.openxmlformats.org/officeDocument/2006/math">
                    <m:r>
                      <a:rPr lang="en-US" i="1">
                        <a:latin typeface="Cambria Math" panose="02040503050406030204" pitchFamily="18" charset="0"/>
                      </a:rPr>
                      <m:t>𝐸𝐼𝑅𝑃</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𝑙</m:t>
                        </m:r>
                      </m:sub>
                    </m:sSub>
                  </m:oMath>
                </a14:m>
                <a:r>
                  <a:rPr lang="en-US" dirty="0"/>
                  <a:t>  (dB)	</a:t>
                </a:r>
              </a:p>
              <a:p>
                <a:pPr marL="0" indent="0">
                  <a:buNone/>
                </a:pPr>
                <a:endParaRPr lang="en-US" dirty="0"/>
              </a:p>
              <a:p>
                <a:pPr lvl="0" fontAlgn="base"/>
                <a:r>
                  <a:rPr lang="en-US" sz="2000" dirty="0"/>
                  <a:t>EIRP = power isotropic antenna (G=1) would have to broadcast at to get the same signal strength that is present at the peak power point on the </a:t>
                </a:r>
                <a:r>
                  <a:rPr lang="en-US" sz="2000" dirty="0" err="1"/>
                  <a:t>beamwidth</a:t>
                </a:r>
                <a:r>
                  <a:rPr lang="en-US" sz="2000" dirty="0"/>
                  <a:t> of the antenna with gain</a:t>
                </a:r>
              </a:p>
              <a:p>
                <a:pPr lvl="0" fontAlgn="base"/>
                <a:r>
                  <a:rPr lang="en-US" sz="2000" dirty="0"/>
                  <a:t>Can achieve same EIRP by decreasing power but increasing gain (smaller beamwidth also results)</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97B5FAD0-BD88-66F8-3848-27EB17028C9B}"/>
                  </a:ext>
                </a:extLst>
              </p:cNvPr>
              <p:cNvSpPr>
                <a:spLocks noGrp="1" noRot="1" noChangeAspect="1" noMove="1" noResize="1" noEditPoints="1" noAdjustHandles="1" noChangeArrowheads="1" noChangeShapeType="1" noTextEdit="1"/>
              </p:cNvSpPr>
              <p:nvPr>
                <p:ph idx="1"/>
              </p:nvPr>
            </p:nvSpPr>
            <p:spPr>
              <a:blipFill>
                <a:blip r:embed="rId2"/>
                <a:stretch>
                  <a:fillRect l="-1456" t="-1515"/>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0381CDD-9275-FCEA-A692-F3AF0FB58983}"/>
              </a:ext>
            </a:extLst>
          </p:cNvPr>
          <p:cNvSpPr>
            <a:spLocks noGrp="1"/>
          </p:cNvSpPr>
          <p:nvPr>
            <p:ph type="sldNum" sz="quarter" idx="12"/>
          </p:nvPr>
        </p:nvSpPr>
        <p:spPr/>
        <p:txBody>
          <a:bodyPr/>
          <a:lstStyle/>
          <a:p>
            <a:fld id="{9A3029B7-FE6B-4680-9049-80E8298A0825}" type="slidenum">
              <a:rPr lang="en-US" smtClean="0"/>
              <a:t>25</a:t>
            </a:fld>
            <a:endParaRPr lang="en-US"/>
          </a:p>
        </p:txBody>
      </p:sp>
    </p:spTree>
    <p:extLst>
      <p:ext uri="{BB962C8B-B14F-4D97-AF65-F5344CB8AC3E}">
        <p14:creationId xmlns:p14="http://schemas.microsoft.com/office/powerpoint/2010/main" val="3801138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8844-0BCD-01B6-1D7B-0EA0B2802CAB}"/>
              </a:ext>
            </a:extLst>
          </p:cNvPr>
          <p:cNvSpPr>
            <a:spLocks noGrp="1"/>
          </p:cNvSpPr>
          <p:nvPr>
            <p:ph type="title"/>
          </p:nvPr>
        </p:nvSpPr>
        <p:spPr/>
        <p:txBody>
          <a:bodyPr/>
          <a:lstStyle/>
          <a:p>
            <a:r>
              <a:rPr lang="en-US" dirty="0"/>
              <a:t>Received Signal Strength Indicator (RSSI)</a:t>
            </a:r>
          </a:p>
        </p:txBody>
      </p:sp>
      <p:sp>
        <p:nvSpPr>
          <p:cNvPr id="4" name="Slide Number Placeholder 3">
            <a:extLst>
              <a:ext uri="{FF2B5EF4-FFF2-40B4-BE49-F238E27FC236}">
                <a16:creationId xmlns:a16="http://schemas.microsoft.com/office/drawing/2014/main" id="{88E83756-BD93-1879-5310-0FEE47630DF3}"/>
              </a:ext>
            </a:extLst>
          </p:cNvPr>
          <p:cNvSpPr>
            <a:spLocks noGrp="1"/>
          </p:cNvSpPr>
          <p:nvPr>
            <p:ph type="sldNum" sz="quarter" idx="12"/>
          </p:nvPr>
        </p:nvSpPr>
        <p:spPr/>
        <p:txBody>
          <a:bodyPr/>
          <a:lstStyle/>
          <a:p>
            <a:fld id="{9A3029B7-FE6B-4680-9049-80E8298A0825}" type="slidenum">
              <a:rPr lang="en-US" smtClean="0"/>
              <a:t>26</a:t>
            </a:fld>
            <a:endParaRPr lang="en-US"/>
          </a:p>
        </p:txBody>
      </p:sp>
      <mc:AlternateContent xmlns:mc="http://schemas.openxmlformats.org/markup-compatibility/2006">
        <mc:Choice xmlns:a14="http://schemas.microsoft.com/office/drawing/2010/main" Requires="a14">
          <p:sp>
            <p:nvSpPr>
              <p:cNvPr id="7" name="Content Placeholder 2">
                <a:extLst>
                  <a:ext uri="{FF2B5EF4-FFF2-40B4-BE49-F238E27FC236}">
                    <a16:creationId xmlns:a16="http://schemas.microsoft.com/office/drawing/2014/main" id="{16E6279E-6BD5-2E6C-B2A4-6DB27DCD4650}"/>
                  </a:ext>
                </a:extLst>
              </p:cNvPr>
              <p:cNvSpPr>
                <a:spLocks noGrp="1"/>
              </p:cNvSpPr>
              <p:nvPr>
                <p:ph idx="1"/>
              </p:nvPr>
            </p:nvSpPr>
            <p:spPr>
              <a:xfrm>
                <a:off x="46364" y="1002506"/>
                <a:ext cx="9051272" cy="5722308"/>
              </a:xfrm>
            </p:spPr>
            <p:txBody>
              <a:bodyPr>
                <a:normAutofit fontScale="92500" lnSpcReduction="10000"/>
              </a:bodyPr>
              <a:lstStyle/>
              <a:p>
                <a:pPr marL="0" indent="0">
                  <a:buNone/>
                </a:pPr>
                <a:r>
                  <a:rPr lang="en-US" sz="1800" b="1" dirty="0"/>
                  <a:t>RSSI: Measure of the power level received by a radio at its antenna input.</a:t>
                </a:r>
              </a:p>
              <a:p>
                <a:r>
                  <a:rPr lang="en-US" sz="1400" dirty="0"/>
                  <a:t>Measures </a:t>
                </a:r>
                <a:r>
                  <a:rPr lang="en-US" sz="1400" i="1" dirty="0"/>
                  <a:t>absolute signal power</a:t>
                </a:r>
                <a:r>
                  <a:rPr lang="en-US" sz="1400" dirty="0"/>
                  <a:t> (includes both signal + noise).</a:t>
                </a:r>
              </a:p>
              <a:p>
                <a:r>
                  <a:rPr lang="en-US" sz="1400" dirty="0"/>
                  <a:t>Expressed in dBm (decibels relative to 1 </a:t>
                </a:r>
                <a:r>
                  <a:rPr lang="en-US" sz="1400" dirty="0" err="1"/>
                  <a:t>mW</a:t>
                </a:r>
                <a:r>
                  <a:rPr lang="en-US" sz="1400" dirty="0"/>
                  <a:t>).</a:t>
                </a:r>
              </a:p>
              <a:p>
                <a:pPr lvl="1"/>
                <a:r>
                  <a:rPr lang="en-US" sz="1400" dirty="0"/>
                  <a:t>Higher (less negative) RSSI = stronger signal.</a:t>
                </a:r>
              </a:p>
              <a:p>
                <a:r>
                  <a:rPr lang="en-US" sz="1400" dirty="0"/>
                  <a:t>Usually outputted by receiver’s hardware (radio transceiver IC).</a:t>
                </a:r>
              </a:p>
              <a:p>
                <a:pPr marL="0" indent="0">
                  <a:buNone/>
                </a:pPr>
                <a:endParaRPr lang="en-US" sz="1400" dirty="0"/>
              </a:p>
              <a:p>
                <a:pPr marL="0" indent="0">
                  <a:buNone/>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𝑅𝑆𝑆𝐼</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𝑡</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b="0" i="1" smtClean="0">
                              <a:latin typeface="Cambria Math" panose="02040503050406030204" pitchFamily="18" charset="0"/>
                            </a:rPr>
                            <m:t>𝑟</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𝐿</m:t>
                          </m:r>
                        </m:e>
                        <m:sub>
                          <m:r>
                            <a:rPr lang="en-US" sz="1400" b="0" i="1" smtClean="0">
                              <a:latin typeface="Cambria Math" panose="02040503050406030204" pitchFamily="18" charset="0"/>
                            </a:rPr>
                            <m:t>𝑠</m:t>
                          </m:r>
                        </m:sub>
                      </m:sSub>
                    </m:oMath>
                  </m:oMathPara>
                </a14:m>
                <a:endParaRPr lang="en-US" sz="1400" dirty="0"/>
              </a:p>
              <a:p>
                <a:pPr marL="0" indent="0">
                  <a:buNone/>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𝑡</m:t>
                        </m:r>
                      </m:sub>
                    </m:sSub>
                  </m:oMath>
                </a14:m>
                <a:r>
                  <a:rPr lang="en-US" sz="1400" dirty="0"/>
                  <a:t> : Power of Transmitter (dBm)</a:t>
                </a:r>
              </a:p>
              <a:p>
                <a:pPr marL="0" indent="0">
                  <a:buNone/>
                </a:pP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𝐺</m:t>
                        </m:r>
                      </m:e>
                      <m:sub>
                        <m:r>
                          <a:rPr lang="en-US" sz="1400" i="1">
                            <a:latin typeface="Cambria Math" panose="02040503050406030204" pitchFamily="18" charset="0"/>
                          </a:rPr>
                          <m:t>𝑡</m:t>
                        </m:r>
                      </m:sub>
                    </m:sSub>
                  </m:oMath>
                </a14:m>
                <a:r>
                  <a:rPr lang="en-US" sz="1400" dirty="0"/>
                  <a:t> : Gain of Transmitter (</a:t>
                </a:r>
                <a:r>
                  <a:rPr lang="en-US" sz="1400" dirty="0" err="1"/>
                  <a:t>dBi</a:t>
                </a:r>
                <a:r>
                  <a:rPr lang="en-US" sz="1400" dirty="0"/>
                  <a:t>)</a:t>
                </a:r>
              </a:p>
              <a:p>
                <a:pPr marL="0" indent="0">
                  <a:buNone/>
                </a:pP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𝐺</m:t>
                        </m:r>
                      </m:e>
                      <m:sub>
                        <m:r>
                          <a:rPr lang="en-US" sz="1400" b="0" i="1" smtClean="0">
                            <a:latin typeface="Cambria Math" panose="02040503050406030204" pitchFamily="18" charset="0"/>
                          </a:rPr>
                          <m:t>𝑟</m:t>
                        </m:r>
                      </m:sub>
                    </m:sSub>
                  </m:oMath>
                </a14:m>
                <a:r>
                  <a:rPr lang="en-US" sz="1400" dirty="0"/>
                  <a:t> : Gain of Receiver (</a:t>
                </a:r>
                <a:r>
                  <a:rPr lang="en-US" sz="1400" dirty="0" err="1"/>
                  <a:t>dBi</a:t>
                </a:r>
                <a:r>
                  <a:rPr lang="en-US" sz="1400" dirty="0"/>
                  <a:t>)</a:t>
                </a:r>
              </a:p>
              <a:p>
                <a:pPr marL="0" indent="0">
                  <a:buNone/>
                </a:pPr>
                <a14:m>
                  <m:oMath xmlns:m="http://schemas.openxmlformats.org/officeDocument/2006/math">
                    <m:sSub>
                      <m:sSubPr>
                        <m:ctrlPr>
                          <a:rPr lang="en-US" sz="1400" i="1">
                            <a:latin typeface="Cambria Math" panose="02040503050406030204" pitchFamily="18" charset="0"/>
                          </a:rPr>
                        </m:ctrlPr>
                      </m:sSubPr>
                      <m:e>
                        <m:r>
                          <a:rPr lang="en-US" sz="1400" b="0" i="1" smtClean="0">
                            <a:latin typeface="Cambria Math" panose="02040503050406030204" pitchFamily="18" charset="0"/>
                          </a:rPr>
                          <m:t>𝐿</m:t>
                        </m:r>
                      </m:e>
                      <m:sub>
                        <m:r>
                          <a:rPr lang="en-US" sz="1400" b="0" i="1" smtClean="0">
                            <a:latin typeface="Cambria Math" panose="02040503050406030204" pitchFamily="18" charset="0"/>
                          </a:rPr>
                          <m:t>𝑠</m:t>
                        </m:r>
                      </m:sub>
                    </m:sSub>
                    <m:r>
                      <a:rPr lang="en-US" sz="1400" b="0" i="1" smtClean="0">
                        <a:latin typeface="Cambria Math" panose="02040503050406030204" pitchFamily="18" charset="0"/>
                      </a:rPr>
                      <m:t>=</m:t>
                    </m:r>
                    <m:r>
                      <a:rPr lang="en-US" sz="1400" i="1">
                        <a:latin typeface="Cambria Math" panose="02040503050406030204" pitchFamily="18" charset="0"/>
                      </a:rPr>
                      <m:t>20</m:t>
                    </m:r>
                    <m:func>
                      <m:funcPr>
                        <m:ctrlPr>
                          <a:rPr lang="en-US" sz="1400" i="1">
                            <a:latin typeface="Cambria Math" panose="02040503050406030204" pitchFamily="18" charset="0"/>
                          </a:rPr>
                        </m:ctrlPr>
                      </m:funcPr>
                      <m:fName>
                        <m:sSub>
                          <m:sSubPr>
                            <m:ctrlPr>
                              <a:rPr lang="en-US" sz="1400" i="1">
                                <a:latin typeface="Cambria Math" panose="02040503050406030204" pitchFamily="18" charset="0"/>
                              </a:rPr>
                            </m:ctrlPr>
                          </m:sSubPr>
                          <m:e>
                            <m:r>
                              <m:rPr>
                                <m:sty m:val="p"/>
                              </m:rPr>
                              <a:rPr lang="en-US" sz="1400">
                                <a:latin typeface="Cambria Math" panose="02040503050406030204" pitchFamily="18" charset="0"/>
                              </a:rPr>
                              <m:t>log</m:t>
                            </m:r>
                          </m:e>
                          <m:sub>
                            <m:r>
                              <a:rPr lang="en-US" sz="1400" i="1">
                                <a:latin typeface="Cambria Math" panose="02040503050406030204" pitchFamily="18" charset="0"/>
                              </a:rPr>
                              <m:t>10</m:t>
                            </m:r>
                          </m:sub>
                        </m:sSub>
                      </m:fName>
                      <m:e>
                        <m:d>
                          <m:dPr>
                            <m:ctrlPr>
                              <a:rPr lang="en-US" sz="1400" i="1">
                                <a:latin typeface="Cambria Math" panose="02040503050406030204" pitchFamily="18" charset="0"/>
                              </a:rPr>
                            </m:ctrlPr>
                          </m:dPr>
                          <m:e>
                            <m:f>
                              <m:fPr>
                                <m:ctrlPr>
                                  <a:rPr lang="en-US" sz="1400" i="1">
                                    <a:latin typeface="Cambria Math" panose="02040503050406030204" pitchFamily="18" charset="0"/>
                                  </a:rPr>
                                </m:ctrlPr>
                              </m:fPr>
                              <m:num>
                                <m:r>
                                  <a:rPr lang="en-US" sz="1400" i="1">
                                    <a:latin typeface="Cambria Math" panose="02040503050406030204" pitchFamily="18" charset="0"/>
                                  </a:rPr>
                                  <m:t>4</m:t>
                                </m:r>
                                <m:r>
                                  <a:rPr lang="en-US" sz="1400" i="1">
                                    <a:latin typeface="Cambria Math" panose="02040503050406030204" pitchFamily="18" charset="0"/>
                                  </a:rPr>
                                  <m:t>𝜋</m:t>
                                </m:r>
                                <m:r>
                                  <a:rPr lang="en-US" sz="1400" i="1">
                                    <a:latin typeface="Cambria Math" panose="02040503050406030204" pitchFamily="18" charset="0"/>
                                  </a:rPr>
                                  <m:t>𝑆</m:t>
                                </m:r>
                              </m:num>
                              <m:den>
                                <m:r>
                                  <a:rPr lang="en-US" sz="1400" b="0" i="1" smtClean="0">
                                    <a:latin typeface="Cambria Math" panose="02040503050406030204" pitchFamily="18" charset="0"/>
                                  </a:rPr>
                                  <m:t>𝜆</m:t>
                                </m:r>
                              </m:den>
                            </m:f>
                          </m:e>
                        </m:d>
                      </m:e>
                    </m:func>
                  </m:oMath>
                </a14:m>
                <a:r>
                  <a:rPr lang="en-US" sz="1800" dirty="0"/>
                  <a:t>: </a:t>
                </a:r>
                <a:r>
                  <a:rPr lang="en-US" sz="1400" dirty="0"/>
                  <a:t>Free Space Path Loss (dB) (</a:t>
                </a:r>
                <a14:m>
                  <m:oMath xmlns:m="http://schemas.openxmlformats.org/officeDocument/2006/math">
                    <m:r>
                      <a:rPr lang="en-US" sz="1400" b="0" i="1" smtClean="0">
                        <a:latin typeface="Cambria Math" panose="02040503050406030204" pitchFamily="18" charset="0"/>
                      </a:rPr>
                      <m:t>𝜆</m:t>
                    </m:r>
                  </m:oMath>
                </a14:m>
                <a:r>
                  <a:rPr lang="en-US" sz="1400" dirty="0"/>
                  <a:t>: wavelength(m), </a:t>
                </a:r>
                <a14:m>
                  <m:oMath xmlns:m="http://schemas.openxmlformats.org/officeDocument/2006/math">
                    <m:r>
                      <a:rPr lang="en-US" sz="1400" b="0" i="1" smtClean="0">
                        <a:latin typeface="Cambria Math" panose="02040503050406030204" pitchFamily="18" charset="0"/>
                      </a:rPr>
                      <m:t>𝑆</m:t>
                    </m:r>
                  </m:oMath>
                </a14:m>
                <a:r>
                  <a:rPr lang="en-US" sz="1400" dirty="0"/>
                  <a:t>: distance(m))</a:t>
                </a:r>
              </a:p>
              <a:p>
                <a:pPr marL="0" indent="0">
                  <a:buNone/>
                </a:pPr>
                <a:r>
                  <a:rPr lang="en-US" sz="1400" b="1" dirty="0"/>
                  <a:t>Typical values:</a:t>
                </a:r>
                <a:endParaRPr lang="en-US" sz="1400" dirty="0"/>
              </a:p>
              <a:p>
                <a:pPr marL="0" indent="0">
                  <a:buNone/>
                </a:pPr>
                <a:r>
                  <a:rPr lang="en-US" sz="1400" dirty="0"/>
                  <a:t>–30 dBm → Very strong (close transmitter).</a:t>
                </a:r>
              </a:p>
              <a:p>
                <a:pPr marL="0" indent="0">
                  <a:buNone/>
                </a:pPr>
                <a:r>
                  <a:rPr lang="en-US" sz="1400" dirty="0"/>
                  <a:t>–70 dBm → Good, reliable signal.</a:t>
                </a:r>
              </a:p>
              <a:p>
                <a:pPr marL="0" indent="0">
                  <a:buNone/>
                </a:pPr>
                <a:r>
                  <a:rPr lang="en-US" sz="1400" dirty="0"/>
                  <a:t>–100 dBm → Weak, near receiver sensitivity limit.</a:t>
                </a:r>
              </a:p>
              <a:p>
                <a:pPr marL="0" indent="0">
                  <a:buNone/>
                </a:pPr>
                <a:endParaRPr lang="en-US" sz="1400" dirty="0"/>
              </a:p>
              <a:p>
                <a:pPr marL="0" indent="0">
                  <a:buNone/>
                </a:pPr>
                <a:r>
                  <a:rPr lang="en-US" sz="1400" dirty="0"/>
                  <a:t>Manufacturer publishes </a:t>
                </a:r>
                <a:r>
                  <a:rPr lang="en-US" sz="1400" b="1" dirty="0"/>
                  <a:t>receiver sensitivity </a:t>
                </a:r>
                <a:r>
                  <a:rPr lang="en-US" sz="1400" dirty="0"/>
                  <a:t>for transceiver (e.g. -103 dBm for the </a:t>
                </a:r>
                <a:r>
                  <a:rPr lang="en-US" sz="1400" dirty="0" err="1"/>
                  <a:t>Xbee</a:t>
                </a:r>
                <a:r>
                  <a:rPr lang="en-US" sz="1400" dirty="0"/>
                  <a:t> we use)</a:t>
                </a:r>
              </a:p>
              <a:p>
                <a:pPr marL="0" indent="0">
                  <a:buNone/>
                </a:pPr>
                <a:r>
                  <a:rPr lang="en-US" sz="1400" dirty="0"/>
                  <a:t>	</a:t>
                </a:r>
                <a:endParaRPr lang="en-US" sz="1400" dirty="0">
                  <a:sym typeface="Wingdings" panose="05000000000000000000" pitchFamily="2" charset="2"/>
                </a:endParaRPr>
              </a:p>
              <a:p>
                <a:pPr marL="0" indent="0" algn="ctr">
                  <a:buNone/>
                </a:pPr>
                <a:r>
                  <a:rPr lang="en-US" sz="1400" b="1" dirty="0">
                    <a:sym typeface="Wingdings" panose="05000000000000000000" pitchFamily="2" charset="2"/>
                  </a:rPr>
                  <a:t>Link margin = RSSI – Receiver Sensitivity </a:t>
                </a:r>
              </a:p>
              <a:p>
                <a:pPr marL="0" indent="0" algn="ctr">
                  <a:buNone/>
                </a:pPr>
                <a:r>
                  <a:rPr lang="en-US" sz="1400" dirty="0">
                    <a:sym typeface="Wingdings" panose="05000000000000000000" pitchFamily="2" charset="2"/>
                  </a:rPr>
                  <a:t>ex.) =-70 dBm – (-103 dBm) </a:t>
                </a:r>
                <a:r>
                  <a:rPr lang="en-US" sz="1400">
                    <a:sym typeface="Wingdings" panose="05000000000000000000" pitchFamily="2" charset="2"/>
                  </a:rPr>
                  <a:t>= 33 </a:t>
                </a:r>
                <a:r>
                  <a:rPr lang="en-US" sz="1400" dirty="0">
                    <a:sym typeface="Wingdings" panose="05000000000000000000" pitchFamily="2" charset="2"/>
                  </a:rPr>
                  <a:t>dBm margin</a:t>
                </a:r>
                <a:endParaRPr lang="en-US" sz="1400" dirty="0"/>
              </a:p>
            </p:txBody>
          </p:sp>
        </mc:Choice>
        <mc:Fallback>
          <p:sp>
            <p:nvSpPr>
              <p:cNvPr id="7" name="Content Placeholder 2">
                <a:extLst>
                  <a:ext uri="{FF2B5EF4-FFF2-40B4-BE49-F238E27FC236}">
                    <a16:creationId xmlns:a16="http://schemas.microsoft.com/office/drawing/2014/main" id="{16E6279E-6BD5-2E6C-B2A4-6DB27DCD4650}"/>
                  </a:ext>
                </a:extLst>
              </p:cNvPr>
              <p:cNvSpPr>
                <a:spLocks noGrp="1" noRot="1" noChangeAspect="1" noMove="1" noResize="1" noEditPoints="1" noAdjustHandles="1" noChangeArrowheads="1" noChangeShapeType="1" noTextEdit="1"/>
              </p:cNvSpPr>
              <p:nvPr>
                <p:ph idx="1"/>
              </p:nvPr>
            </p:nvSpPr>
            <p:spPr>
              <a:xfrm>
                <a:off x="46364" y="1002506"/>
                <a:ext cx="9051272" cy="5722308"/>
              </a:xfrm>
              <a:blipFill>
                <a:blip r:embed="rId2"/>
                <a:stretch>
                  <a:fillRect l="-472" t="-1171"/>
                </a:stretch>
              </a:blipFill>
            </p:spPr>
            <p:txBody>
              <a:bodyPr/>
              <a:lstStyle/>
              <a:p>
                <a:r>
                  <a:rPr lang="en-US">
                    <a:noFill/>
                  </a:rPr>
                  <a:t> </a:t>
                </a:r>
              </a:p>
            </p:txBody>
          </p:sp>
        </mc:Fallback>
      </mc:AlternateContent>
    </p:spTree>
    <p:extLst>
      <p:ext uri="{BB962C8B-B14F-4D97-AF65-F5344CB8AC3E}">
        <p14:creationId xmlns:p14="http://schemas.microsoft.com/office/powerpoint/2010/main" val="3202748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95E1D-FD91-6AEB-4552-F65BC5F47E45}"/>
              </a:ext>
            </a:extLst>
          </p:cNvPr>
          <p:cNvSpPr>
            <a:spLocks noGrp="1"/>
          </p:cNvSpPr>
          <p:nvPr>
            <p:ph type="title"/>
          </p:nvPr>
        </p:nvSpPr>
        <p:spPr/>
        <p:txBody>
          <a:bodyPr>
            <a:normAutofit/>
          </a:bodyPr>
          <a:lstStyle/>
          <a:p>
            <a:r>
              <a:rPr lang="en-US" altLang="en-US" dirty="0">
                <a:latin typeface="Arial" panose="020B0604020202020204" pitchFamily="34" charset="0"/>
              </a:rPr>
              <a:t>Free Space Optical Communications (FSO)</a:t>
            </a:r>
            <a:endParaRPr lang="en-US" dirty="0"/>
          </a:p>
        </p:txBody>
      </p:sp>
      <p:sp>
        <p:nvSpPr>
          <p:cNvPr id="4" name="Slide Number Placeholder 3">
            <a:extLst>
              <a:ext uri="{FF2B5EF4-FFF2-40B4-BE49-F238E27FC236}">
                <a16:creationId xmlns:a16="http://schemas.microsoft.com/office/drawing/2014/main" id="{EDA7B94E-F1BC-AD93-E4BA-F29F08F15C28}"/>
              </a:ext>
            </a:extLst>
          </p:cNvPr>
          <p:cNvSpPr>
            <a:spLocks noGrp="1"/>
          </p:cNvSpPr>
          <p:nvPr>
            <p:ph type="sldNum" sz="quarter" idx="12"/>
          </p:nvPr>
        </p:nvSpPr>
        <p:spPr/>
        <p:txBody>
          <a:bodyPr/>
          <a:lstStyle/>
          <a:p>
            <a:fld id="{9A3029B7-FE6B-4680-9049-80E8298A0825}" type="slidenum">
              <a:rPr lang="en-US" smtClean="0"/>
              <a:t>27</a:t>
            </a:fld>
            <a:endParaRPr lang="en-US"/>
          </a:p>
        </p:txBody>
      </p:sp>
      <p:sp>
        <p:nvSpPr>
          <p:cNvPr id="6" name="Rectangle 2">
            <a:extLst>
              <a:ext uri="{FF2B5EF4-FFF2-40B4-BE49-F238E27FC236}">
                <a16:creationId xmlns:a16="http://schemas.microsoft.com/office/drawing/2014/main" id="{F004DEDD-7ACF-EBF3-2FA4-B5EDB3D55B6D}"/>
              </a:ext>
            </a:extLst>
          </p:cNvPr>
          <p:cNvSpPr>
            <a:spLocks noGrp="1" noChangeArrowheads="1"/>
          </p:cNvSpPr>
          <p:nvPr>
            <p:ph idx="1"/>
          </p:nvPr>
        </p:nvSpPr>
        <p:spPr bwMode="auto">
          <a:xfrm>
            <a:off x="200026" y="1002506"/>
            <a:ext cx="5229489"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Arial" panose="020B0604020202020204" pitchFamily="34" charset="0"/>
              </a:rPr>
              <a:t>AKA </a:t>
            </a:r>
            <a:r>
              <a:rPr kumimoji="0" lang="en-US" altLang="en-US" sz="1600" b="1" i="0" u="none" strike="noStrike" cap="none" normalizeH="0" baseline="0" dirty="0">
                <a:ln>
                  <a:noFill/>
                </a:ln>
                <a:solidFill>
                  <a:schemeClr val="tx1"/>
                </a:solidFill>
                <a:effectLst/>
                <a:latin typeface="Arial" panose="020B0604020202020204" pitchFamily="34" charset="0"/>
              </a:rPr>
              <a:t>laser communication</a:t>
            </a:r>
            <a:r>
              <a:rPr kumimoji="0" lang="en-US" altLang="en-US" sz="1600" b="0" i="0" u="none" strike="noStrike" cap="none" normalizeH="0" baseline="0" dirty="0">
                <a:ln>
                  <a:noFill/>
                </a:ln>
                <a:solidFill>
                  <a:schemeClr val="tx1"/>
                </a:solidFill>
                <a:effectLst/>
                <a:latin typeface="Arial" panose="020B0604020202020204" pitchFamily="34" charset="0"/>
              </a:rPr>
              <a:t>: </a:t>
            </a:r>
            <a:r>
              <a:rPr lang="en-US" altLang="en-US" sz="1600" dirty="0">
                <a:latin typeface="Arial" panose="020B0604020202020204" pitchFamily="34" charset="0"/>
              </a:rPr>
              <a:t>u</a:t>
            </a:r>
            <a:r>
              <a:rPr kumimoji="0" lang="en-US" altLang="en-US" sz="1600" b="0" i="0" u="none" strike="noStrike" cap="none" normalizeH="0" baseline="0" dirty="0">
                <a:ln>
                  <a:noFill/>
                </a:ln>
                <a:solidFill>
                  <a:schemeClr val="tx1"/>
                </a:solidFill>
                <a:effectLst/>
                <a:latin typeface="Arial" panose="020B0604020202020204" pitchFamily="34" charset="0"/>
              </a:rPr>
              <a:t>ses infrared or visible laser beams instead of RF waves.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Advantages: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Much higher data rates (Gbps possible).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Narrow beams → less interference, more secure.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Smaller terminals compared to high-gain RF antennas.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600" b="1" i="0" u="none" strike="noStrike" cap="none" normalizeH="0" baseline="0" dirty="0">
                <a:ln>
                  <a:noFill/>
                </a:ln>
                <a:solidFill>
                  <a:schemeClr val="tx1"/>
                </a:solidFill>
                <a:effectLst/>
                <a:latin typeface="Arial" panose="020B0604020202020204" pitchFamily="34" charset="0"/>
              </a:rPr>
              <a:t>Challenges: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Requires extremely precise pointing and tracking.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Sensitive to cloud cover and atmospheric distortion (needs ground stations with clear skies).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026" name="Picture 2">
            <a:extLst>
              <a:ext uri="{FF2B5EF4-FFF2-40B4-BE49-F238E27FC236}">
                <a16:creationId xmlns:a16="http://schemas.microsoft.com/office/drawing/2014/main" id="{33F436AB-B220-2714-B753-8809A6EFBB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24" y="4321764"/>
            <a:ext cx="7743951" cy="21433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pace-Ground Optical (Laser) Communication">
            <a:extLst>
              <a:ext uri="{FF2B5EF4-FFF2-40B4-BE49-F238E27FC236}">
                <a16:creationId xmlns:a16="http://schemas.microsoft.com/office/drawing/2014/main" id="{D5C239DB-576E-4B38-EC72-705EE94A22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29515" y="1503948"/>
            <a:ext cx="3671743" cy="2196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3446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4A49C-AEA6-97D9-1D7E-000A03F7AEE0}"/>
              </a:ext>
            </a:extLst>
          </p:cNvPr>
          <p:cNvSpPr>
            <a:spLocks noGrp="1"/>
          </p:cNvSpPr>
          <p:nvPr>
            <p:ph type="title"/>
          </p:nvPr>
        </p:nvSpPr>
        <p:spPr/>
        <p:txBody>
          <a:bodyPr/>
          <a:lstStyle/>
          <a:p>
            <a:r>
              <a:rPr lang="en-US" dirty="0"/>
              <a:t>Satcom 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37B601-2E82-4F42-01C8-AE50F9D761DA}"/>
                  </a:ext>
                </a:extLst>
              </p:cNvPr>
              <p:cNvSpPr>
                <a:spLocks noGrp="1"/>
              </p:cNvSpPr>
              <p:nvPr>
                <p:ph idx="1"/>
              </p:nvPr>
            </p:nvSpPr>
            <p:spPr/>
            <p:txBody>
              <a:bodyPr>
                <a:normAutofit/>
              </a:bodyPr>
              <a:lstStyle/>
              <a:p>
                <a:pPr marL="0" indent="0">
                  <a:buNone/>
                </a:pPr>
                <a:r>
                  <a:rPr lang="en-US" sz="2000" b="1" u="sng" dirty="0"/>
                  <a:t>Given:</a:t>
                </a:r>
              </a:p>
              <a:p>
                <a:pPr marL="0" indent="0">
                  <a:buNone/>
                </a:pPr>
                <a:r>
                  <a:rPr lang="en-US" sz="2000" dirty="0"/>
                  <a:t>A Satcom system has the following properties:  </a:t>
                </a:r>
              </a:p>
              <a:p>
                <a:pPr marL="457200" lvl="1" indent="0">
                  <a:buNone/>
                </a:pPr>
                <a:r>
                  <a:rPr lang="en-US" sz="1800" dirty="0"/>
                  <a:t>Satellite in a 600km altitude circular orbit.</a:t>
                </a:r>
              </a:p>
              <a:p>
                <a:pPr marL="457200" lvl="1" indent="0">
                  <a:buNone/>
                </a:pPr>
                <a:r>
                  <a:rPr lang="en-US" sz="1800" dirty="0"/>
                  <a:t>Transmitter power is 100W</a:t>
                </a:r>
              </a:p>
              <a:p>
                <a:pPr marL="457200" lvl="1" indent="0">
                  <a:buNone/>
                </a:pPr>
                <a:r>
                  <a:rPr lang="en-US" sz="1800" dirty="0"/>
                  <a:t>Transmitter antenna: 3-element Yagi antenna with gain of 11.5 </a:t>
                </a:r>
                <a:r>
                  <a:rPr lang="en-US" sz="1800" dirty="0" err="1"/>
                  <a:t>dBi</a:t>
                </a:r>
                <a:r>
                  <a:rPr lang="en-US" sz="1800" dirty="0"/>
                  <a:t> &amp;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𝜃</m:t>
                        </m:r>
                      </m:e>
                      <m:sub>
                        <m:r>
                          <a:rPr lang="en-US" sz="1800">
                            <a:latin typeface="Cambria Math" panose="02040503050406030204" pitchFamily="18" charset="0"/>
                          </a:rPr>
                          <m:t>3</m:t>
                        </m:r>
                        <m:r>
                          <a:rPr lang="en-US" sz="1800" i="1">
                            <a:latin typeface="Cambria Math" panose="02040503050406030204" pitchFamily="18" charset="0"/>
                          </a:rPr>
                          <m:t>𝑑</m:t>
                        </m:r>
                        <m:sSub>
                          <m:sSubPr>
                            <m:ctrlPr>
                              <a:rPr lang="en-US" sz="1800" b="0" i="1" smtClean="0">
                                <a:latin typeface="Cambria Math" panose="02040503050406030204" pitchFamily="18" charset="0"/>
                              </a:rPr>
                            </m:ctrlPr>
                          </m:sSubPr>
                          <m:e>
                            <m:r>
                              <a:rPr lang="en-US" sz="1800" i="1">
                                <a:latin typeface="Cambria Math" panose="02040503050406030204" pitchFamily="18" charset="0"/>
                              </a:rPr>
                              <m:t>𝐵</m:t>
                            </m:r>
                          </m:e>
                          <m:sub>
                            <m:r>
                              <a:rPr lang="en-US" sz="1800" b="0" i="1" smtClean="0">
                                <a:latin typeface="Cambria Math" panose="02040503050406030204" pitchFamily="18" charset="0"/>
                              </a:rPr>
                              <m:t>𝑡𝑥</m:t>
                            </m:r>
                          </m:sub>
                        </m:sSub>
                      </m:sub>
                    </m:sSub>
                    <m:r>
                      <a:rPr lang="en-US" sz="1800" b="0" i="1" smtClean="0">
                        <a:latin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m:t>
                    </m:r>
                  </m:oMath>
                </a14:m>
                <a:r>
                  <a:rPr lang="en-US" sz="1800" dirty="0"/>
                  <a:t> </a:t>
                </a:r>
              </a:p>
              <a:p>
                <a:pPr marL="457200" lvl="1" indent="0">
                  <a:buNone/>
                </a:pPr>
                <a:r>
                  <a:rPr lang="en-US" sz="1800" dirty="0"/>
                  <a:t>Receiver is at 40°C, has a 3-meter diameter parabolic antenna and can only receive signals down to 15° above the horizon.</a:t>
                </a:r>
              </a:p>
              <a:p>
                <a:pPr marL="457200" lvl="1" indent="0">
                  <a:buNone/>
                </a:pPr>
                <a:r>
                  <a:rPr lang="en-US" sz="1800" dirty="0"/>
                  <a:t>Total line losses for TX and RX are -0.9 dB</a:t>
                </a:r>
              </a:p>
              <a:p>
                <a:pPr marL="457200" lvl="1" indent="0">
                  <a:buNone/>
                </a:pPr>
                <a:r>
                  <a:rPr lang="en-US" sz="1800" dirty="0"/>
                  <a:t>Both the transmitter and receiver antennas have a 2° pointing error and a worst-case polarization misalignment of 10°.  </a:t>
                </a:r>
              </a:p>
              <a:p>
                <a:pPr marL="457200" lvl="1" indent="0">
                  <a:buNone/>
                </a:pPr>
                <a:r>
                  <a:rPr lang="en-US" sz="1800" dirty="0"/>
                  <a:t>Transmitting at 4 GHz with a data rate of 2 Mb per second.  </a:t>
                </a:r>
              </a:p>
              <a:p>
                <a:pPr marL="0" indent="0">
                  <a:buNone/>
                </a:pPr>
                <a:r>
                  <a:rPr lang="en-US" sz="2000" b="1" u="sng" dirty="0"/>
                  <a:t>Find:</a:t>
                </a:r>
              </a:p>
              <a:p>
                <a:pPr marL="0" indent="0">
                  <a:buNone/>
                </a:pPr>
                <a:r>
                  <a:rPr lang="en-US" sz="2000" dirty="0"/>
                  <a:t>Worst-case Eb/N0?  </a:t>
                </a:r>
              </a:p>
              <a:p>
                <a:pPr marL="0" indent="0">
                  <a:buNone/>
                </a:pPr>
                <a:r>
                  <a:rPr lang="en-US" sz="2000" dirty="0"/>
                  <a:t>Is this good or bad? </a:t>
                </a:r>
              </a:p>
              <a:p>
                <a:pPr marL="0" indent="0">
                  <a:buNone/>
                </a:pPr>
                <a:r>
                  <a:rPr lang="en-US" sz="2000" dirty="0"/>
                  <a:t>Will rain be an issue?</a:t>
                </a:r>
              </a:p>
            </p:txBody>
          </p:sp>
        </mc:Choice>
        <mc:Fallback xmlns="">
          <p:sp>
            <p:nvSpPr>
              <p:cNvPr id="3" name="Content Placeholder 2">
                <a:extLst>
                  <a:ext uri="{FF2B5EF4-FFF2-40B4-BE49-F238E27FC236}">
                    <a16:creationId xmlns:a16="http://schemas.microsoft.com/office/drawing/2014/main" id="{1537B601-2E82-4F42-01C8-AE50F9D761DA}"/>
                  </a:ext>
                </a:extLst>
              </p:cNvPr>
              <p:cNvSpPr>
                <a:spLocks noGrp="1" noRot="1" noChangeAspect="1" noMove="1" noResize="1" noEditPoints="1" noAdjustHandles="1" noChangeArrowheads="1" noChangeShapeType="1" noTextEdit="1"/>
              </p:cNvSpPr>
              <p:nvPr>
                <p:ph idx="1"/>
              </p:nvPr>
            </p:nvSpPr>
            <p:spPr>
              <a:blipFill>
                <a:blip r:embed="rId3"/>
                <a:stretch>
                  <a:fillRect l="-763" t="-104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F9EA4AD-6B49-357D-ED16-439B816B501C}"/>
              </a:ext>
            </a:extLst>
          </p:cNvPr>
          <p:cNvSpPr>
            <a:spLocks noGrp="1"/>
          </p:cNvSpPr>
          <p:nvPr>
            <p:ph type="sldNum" sz="quarter" idx="12"/>
          </p:nvPr>
        </p:nvSpPr>
        <p:spPr/>
        <p:txBody>
          <a:bodyPr/>
          <a:lstStyle/>
          <a:p>
            <a:fld id="{9A3029B7-FE6B-4680-9049-80E8298A0825}" type="slidenum">
              <a:rPr lang="en-US" smtClean="0"/>
              <a:t>28</a:t>
            </a:fld>
            <a:endParaRPr lang="en-US"/>
          </a:p>
        </p:txBody>
      </p:sp>
    </p:spTree>
    <p:extLst>
      <p:ext uri="{BB962C8B-B14F-4D97-AF65-F5344CB8AC3E}">
        <p14:creationId xmlns:p14="http://schemas.microsoft.com/office/powerpoint/2010/main" val="40425823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CBFF3-DE85-21C5-78E2-BB9AFB7B8CE1}"/>
              </a:ext>
            </a:extLst>
          </p:cNvPr>
          <p:cNvSpPr>
            <a:spLocks noGrp="1"/>
          </p:cNvSpPr>
          <p:nvPr>
            <p:ph type="title"/>
          </p:nvPr>
        </p:nvSpPr>
        <p:spPr/>
        <p:txBody>
          <a:bodyPr/>
          <a:lstStyle/>
          <a:p>
            <a:r>
              <a:rPr lang="en-US" dirty="0"/>
              <a:t>Satcom Example – Solution Part 1</a:t>
            </a:r>
          </a:p>
        </p:txBody>
      </p:sp>
      <p:sp>
        <p:nvSpPr>
          <p:cNvPr id="4" name="Slide Number Placeholder 3">
            <a:extLst>
              <a:ext uri="{FF2B5EF4-FFF2-40B4-BE49-F238E27FC236}">
                <a16:creationId xmlns:a16="http://schemas.microsoft.com/office/drawing/2014/main" id="{4EA92C18-6836-1BA2-884E-6D6B978CFD2A}"/>
              </a:ext>
            </a:extLst>
          </p:cNvPr>
          <p:cNvSpPr>
            <a:spLocks noGrp="1"/>
          </p:cNvSpPr>
          <p:nvPr>
            <p:ph type="sldNum" sz="quarter" idx="12"/>
          </p:nvPr>
        </p:nvSpPr>
        <p:spPr/>
        <p:txBody>
          <a:bodyPr/>
          <a:lstStyle/>
          <a:p>
            <a:fld id="{9A3029B7-FE6B-4680-9049-80E8298A0825}" type="slidenum">
              <a:rPr lang="en-US" smtClean="0"/>
              <a:t>29</a:t>
            </a:fld>
            <a:endParaRPr lang="en-US"/>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782348-C6DA-FE78-76EC-F828E476984C}"/>
                  </a:ext>
                </a:extLst>
              </p:cNvPr>
              <p:cNvSpPr txBox="1"/>
              <p:nvPr/>
            </p:nvSpPr>
            <p:spPr>
              <a:xfrm>
                <a:off x="703847" y="950674"/>
                <a:ext cx="7736305" cy="657937"/>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n>
                                <a:noFill/>
                              </a:ln>
                              <a:latin typeface="Cambria Math" panose="02040503050406030204" pitchFamily="18" charset="0"/>
                            </a:rPr>
                          </m:ctrlPr>
                        </m:fPr>
                        <m:num>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𝐸</m:t>
                              </m:r>
                            </m:e>
                            <m:sub>
                              <m:r>
                                <a:rPr lang="en-US" b="0" i="1" smtClean="0">
                                  <a:ln>
                                    <a:noFill/>
                                  </a:ln>
                                  <a:latin typeface="Cambria Math" panose="02040503050406030204" pitchFamily="18" charset="0"/>
                                </a:rPr>
                                <m:t>𝑏</m:t>
                              </m:r>
                            </m:sub>
                          </m:sSub>
                        </m:num>
                        <m:den>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N</m:t>
                              </m:r>
                            </m:e>
                            <m:sub>
                              <m:r>
                                <a:rPr lang="en-US" b="0" i="0" smtClean="0">
                                  <a:ln>
                                    <a:noFill/>
                                  </a:ln>
                                  <a:latin typeface="Cambria Math" panose="02040503050406030204" pitchFamily="18" charset="0"/>
                                </a:rPr>
                                <m:t>0</m:t>
                              </m:r>
                            </m:sub>
                          </m:sSub>
                        </m:den>
                      </m:f>
                      <m:r>
                        <a:rPr lang="en-US" i="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P</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l</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s</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m</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r</m:t>
                          </m:r>
                        </m:sub>
                      </m:sSub>
                      <m:r>
                        <a:rPr lang="en-US" b="0" i="0" smtClean="0">
                          <a:ln>
                            <a:noFill/>
                          </a:ln>
                          <a:latin typeface="Cambria Math" panose="02040503050406030204" pitchFamily="18" charset="0"/>
                        </a:rPr>
                        <m:t>+228.6−10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𝑇</m:t>
                              </m:r>
                            </m:e>
                            <m:sub>
                              <m:r>
                                <a:rPr lang="en-US" b="0" i="1" smtClean="0">
                                  <a:ln>
                                    <a:noFill/>
                                  </a:ln>
                                  <a:latin typeface="Cambria Math" panose="02040503050406030204" pitchFamily="18" charset="0"/>
                                </a:rPr>
                                <m:t>𝑟</m:t>
                              </m:r>
                            </m:sub>
                          </m:sSub>
                        </m:e>
                      </m:func>
                      <m:r>
                        <a:rPr lang="en-US" b="0" i="1" smtClean="0">
                          <a:ln>
                            <a:noFill/>
                          </a:ln>
                          <a:latin typeface="Cambria Math" panose="02040503050406030204" pitchFamily="18" charset="0"/>
                        </a:rPr>
                        <m:t>−10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r>
                            <a:rPr lang="en-US" b="0" i="1" smtClean="0">
                              <a:ln>
                                <a:noFill/>
                              </a:ln>
                              <a:latin typeface="Cambria Math" panose="02040503050406030204" pitchFamily="18" charset="0"/>
                            </a:rPr>
                            <m:t>𝑅</m:t>
                          </m:r>
                        </m:e>
                      </m:func>
                    </m:oMath>
                  </m:oMathPara>
                </a14:m>
                <a:endParaRPr lang="en-US" dirty="0">
                  <a:ln>
                    <a:noFill/>
                  </a:ln>
                </a:endParaRPr>
              </a:p>
            </p:txBody>
          </p:sp>
        </mc:Choice>
        <mc:Fallback xmlns="">
          <p:sp>
            <p:nvSpPr>
              <p:cNvPr id="6" name="TextBox 5">
                <a:extLst>
                  <a:ext uri="{FF2B5EF4-FFF2-40B4-BE49-F238E27FC236}">
                    <a16:creationId xmlns:a16="http://schemas.microsoft.com/office/drawing/2014/main" id="{45782348-C6DA-FE78-76EC-F828E476984C}"/>
                  </a:ext>
                </a:extLst>
              </p:cNvPr>
              <p:cNvSpPr txBox="1">
                <a:spLocks noRot="1" noChangeAspect="1" noMove="1" noResize="1" noEditPoints="1" noAdjustHandles="1" noChangeArrowheads="1" noChangeShapeType="1" noTextEdit="1"/>
              </p:cNvSpPr>
              <p:nvPr/>
            </p:nvSpPr>
            <p:spPr>
              <a:xfrm>
                <a:off x="703847" y="950674"/>
                <a:ext cx="7736305" cy="657937"/>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BDB6E03-7399-1125-5506-6156155127B7}"/>
                  </a:ext>
                </a:extLst>
              </p:cNvPr>
              <p:cNvSpPr txBox="1"/>
              <p:nvPr/>
            </p:nvSpPr>
            <p:spPr>
              <a:xfrm>
                <a:off x="226473" y="1773902"/>
                <a:ext cx="4003964" cy="1077218"/>
              </a:xfrm>
              <a:prstGeom prst="rect">
                <a:avLst/>
              </a:prstGeom>
              <a:noFill/>
            </p:spPr>
            <p:txBody>
              <a:bodyPr wrap="square">
                <a:spAutoFit/>
              </a:bodyPr>
              <a:lstStyle/>
              <a:p>
                <a:r>
                  <a:rPr lang="en-US" sz="1600" b="1" dirty="0">
                    <a:solidFill>
                      <a:srgbClr val="00B0F0"/>
                    </a:solidFill>
                  </a:rPr>
                  <a:t>Assumptions:</a:t>
                </a:r>
              </a:p>
              <a:p>
                <a:r>
                  <a:rPr lang="en-US" sz="1600" b="0" dirty="0">
                    <a:solidFill>
                      <a:srgbClr val="00B0F0"/>
                    </a:solidFill>
                  </a:rPr>
                  <a:t>Both antennas linearly polarized </a:t>
                </a:r>
              </a:p>
              <a:p>
                <a:r>
                  <a:rPr lang="en-US" sz="1600" b="0" dirty="0">
                    <a:solidFill>
                      <a:srgbClr val="00B0F0"/>
                    </a:solidFill>
                  </a:rPr>
                  <a:t>Efficiency of parabolic antenna is 0.6</a:t>
                </a:r>
              </a:p>
              <a:p>
                <a14:m>
                  <m:oMath xmlns:m="http://schemas.openxmlformats.org/officeDocument/2006/math">
                    <m:sSub>
                      <m:sSubPr>
                        <m:ctrlPr>
                          <a:rPr lang="en-US" sz="1600" i="1" smtClean="0">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600"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en-US" sz="1600" i="1">
                            <a:solidFill>
                              <a:srgbClr val="00B0F0"/>
                            </a:solidFill>
                            <a:effectLst/>
                            <a:latin typeface="Cambria Math" panose="02040503050406030204" pitchFamily="18" charset="0"/>
                            <a:ea typeface="Times New Roman" panose="02020603050405020304" pitchFamily="18" charset="0"/>
                            <a:cs typeface="Times New Roman" panose="02020603050405020304" pitchFamily="18" charset="0"/>
                          </a:rPr>
                          <m:t>𝑧𝑒𝑛𝑖𝑡h</m:t>
                        </m:r>
                      </m:sub>
                    </m:sSub>
                  </m:oMath>
                </a14:m>
                <a:r>
                  <a:rPr lang="en-US" sz="1600" b="0" dirty="0">
                    <a:solidFill>
                      <a:srgbClr val="00B0F0"/>
                    </a:solidFill>
                  </a:rPr>
                  <a:t> is 0.04 based on chart</a:t>
                </a:r>
              </a:p>
            </p:txBody>
          </p:sp>
        </mc:Choice>
        <mc:Fallback xmlns="">
          <p:sp>
            <p:nvSpPr>
              <p:cNvPr id="53" name="TextBox 52">
                <a:extLst>
                  <a:ext uri="{FF2B5EF4-FFF2-40B4-BE49-F238E27FC236}">
                    <a16:creationId xmlns:a16="http://schemas.microsoft.com/office/drawing/2014/main" id="{6BDB6E03-7399-1125-5506-6156155127B7}"/>
                  </a:ext>
                </a:extLst>
              </p:cNvPr>
              <p:cNvSpPr txBox="1">
                <a:spLocks noRot="1" noChangeAspect="1" noMove="1" noResize="1" noEditPoints="1" noAdjustHandles="1" noChangeArrowheads="1" noChangeShapeType="1" noTextEdit="1"/>
              </p:cNvSpPr>
              <p:nvPr/>
            </p:nvSpPr>
            <p:spPr>
              <a:xfrm>
                <a:off x="226473" y="1773902"/>
                <a:ext cx="4003964" cy="1077218"/>
              </a:xfrm>
              <a:prstGeom prst="rect">
                <a:avLst/>
              </a:prstGeom>
              <a:blipFill>
                <a:blip r:embed="rId4"/>
                <a:stretch>
                  <a:fillRect l="-761" t="-1695" b="-62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B57159B-46D8-DE10-1231-9DA4FD1700EF}"/>
                  </a:ext>
                </a:extLst>
              </p:cNvPr>
              <p:cNvSpPr txBox="1"/>
              <p:nvPr/>
            </p:nvSpPr>
            <p:spPr>
              <a:xfrm>
                <a:off x="4097446" y="1949303"/>
                <a:ext cx="2484521" cy="369332"/>
              </a:xfrm>
              <a:prstGeom prst="rect">
                <a:avLst/>
              </a:prstGeom>
              <a:noFill/>
            </p:spPr>
            <p:txBody>
              <a:bodyPr wrap="square">
                <a:spAutoFit/>
              </a:bodyPr>
              <a:lstStyle/>
              <a:p>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𝑃</m:t>
                        </m:r>
                      </m:e>
                      <m:sub>
                        <m:r>
                          <a:rPr lang="en-US" i="1">
                            <a:latin typeface="Cambria Math" panose="02040503050406030204" pitchFamily="18" charset="0"/>
                          </a:rPr>
                          <m:t>𝑡</m:t>
                        </m:r>
                      </m:sub>
                    </m:sSub>
                    <m:r>
                      <a:rPr lang="en-US" i="0">
                        <a:latin typeface="Cambria Math" panose="02040503050406030204" pitchFamily="18" charset="0"/>
                      </a:rPr>
                      <m:t>=10 </m:t>
                    </m:r>
                    <m:r>
                      <a:rPr lang="en-US" i="1">
                        <a:latin typeface="Cambria Math" panose="02040503050406030204" pitchFamily="18" charset="0"/>
                      </a:rPr>
                      <m:t>𝑊</m:t>
                    </m:r>
                    <m:r>
                      <a:rPr lang="en-US" b="0" i="1" smtClean="0">
                        <a:latin typeface="Cambria Math" panose="02040503050406030204" pitchFamily="18" charset="0"/>
                      </a:rPr>
                      <m:t>=10 </m:t>
                    </m:r>
                    <m:r>
                      <a:rPr lang="en-US" b="0" i="1" smtClean="0">
                        <a:latin typeface="Cambria Math" panose="02040503050406030204" pitchFamily="18" charset="0"/>
                      </a:rPr>
                      <m:t>𝑑𝐵𝑊</m:t>
                    </m:r>
                  </m:oMath>
                </a14:m>
                <a:r>
                  <a:rPr lang="en-US" dirty="0"/>
                  <a:t>  </a:t>
                </a:r>
              </a:p>
            </p:txBody>
          </p:sp>
        </mc:Choice>
        <mc:Fallback xmlns="">
          <p:sp>
            <p:nvSpPr>
              <p:cNvPr id="56" name="TextBox 55">
                <a:extLst>
                  <a:ext uri="{FF2B5EF4-FFF2-40B4-BE49-F238E27FC236}">
                    <a16:creationId xmlns:a16="http://schemas.microsoft.com/office/drawing/2014/main" id="{6B57159B-46D8-DE10-1231-9DA4FD1700EF}"/>
                  </a:ext>
                </a:extLst>
              </p:cNvPr>
              <p:cNvSpPr txBox="1">
                <a:spLocks noRot="1" noChangeAspect="1" noMove="1" noResize="1" noEditPoints="1" noAdjustHandles="1" noChangeArrowheads="1" noChangeShapeType="1" noTextEdit="1"/>
              </p:cNvSpPr>
              <p:nvPr/>
            </p:nvSpPr>
            <p:spPr>
              <a:xfrm>
                <a:off x="4097446" y="1949303"/>
                <a:ext cx="2484521"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2A67586F-1509-757F-75E2-3FB47C7186E5}"/>
                  </a:ext>
                </a:extLst>
              </p:cNvPr>
              <p:cNvSpPr txBox="1"/>
              <p:nvPr/>
            </p:nvSpPr>
            <p:spPr>
              <a:xfrm>
                <a:off x="4097446" y="2527183"/>
                <a:ext cx="1606214"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𝐺</m:t>
                          </m:r>
                        </m:e>
                        <m:sub>
                          <m:r>
                            <a:rPr lang="en-US" i="1">
                              <a:latin typeface="Cambria Math" panose="02040503050406030204" pitchFamily="18" charset="0"/>
                            </a:rPr>
                            <m:t>𝑡</m:t>
                          </m:r>
                        </m:sub>
                      </m:sSub>
                      <m:r>
                        <a:rPr lang="en-US" i="0">
                          <a:latin typeface="Cambria Math" panose="02040503050406030204" pitchFamily="18" charset="0"/>
                        </a:rPr>
                        <m:t>=11.5 </m:t>
                      </m:r>
                      <m:r>
                        <a:rPr lang="en-US" i="1">
                          <a:latin typeface="Cambria Math" panose="02040503050406030204" pitchFamily="18" charset="0"/>
                        </a:rPr>
                        <m:t>𝑑𝐵</m:t>
                      </m:r>
                      <m:r>
                        <a:rPr lang="en-US" b="0" i="1" smtClean="0">
                          <a:latin typeface="Cambria Math" panose="02040503050406030204" pitchFamily="18" charset="0"/>
                        </a:rPr>
                        <m:t>𝑖</m:t>
                      </m:r>
                    </m:oMath>
                  </m:oMathPara>
                </a14:m>
                <a:endParaRPr lang="en-US" dirty="0"/>
              </a:p>
            </p:txBody>
          </p:sp>
        </mc:Choice>
        <mc:Fallback xmlns="">
          <p:sp>
            <p:nvSpPr>
              <p:cNvPr id="57" name="TextBox 56">
                <a:extLst>
                  <a:ext uri="{FF2B5EF4-FFF2-40B4-BE49-F238E27FC236}">
                    <a16:creationId xmlns:a16="http://schemas.microsoft.com/office/drawing/2014/main" id="{2A67586F-1509-757F-75E2-3FB47C7186E5}"/>
                  </a:ext>
                </a:extLst>
              </p:cNvPr>
              <p:cNvSpPr txBox="1">
                <a:spLocks noRot="1" noChangeAspect="1" noMove="1" noResize="1" noEditPoints="1" noAdjustHandles="1" noChangeArrowheads="1" noChangeShapeType="1" noTextEdit="1"/>
              </p:cNvSpPr>
              <p:nvPr/>
            </p:nvSpPr>
            <p:spPr>
              <a:xfrm>
                <a:off x="4097446" y="2527183"/>
                <a:ext cx="160621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4760B2E-AB00-739B-2B9A-AECDE1852090}"/>
                  </a:ext>
                </a:extLst>
              </p:cNvPr>
              <p:cNvSpPr txBox="1"/>
              <p:nvPr/>
            </p:nvSpPr>
            <p:spPr>
              <a:xfrm>
                <a:off x="4097446" y="3105063"/>
                <a:ext cx="4656220" cy="36933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𝑙</m:t>
                          </m:r>
                        </m:sub>
                      </m:sSub>
                      <m:r>
                        <a:rPr lang="en-US" i="0">
                          <a:latin typeface="Cambria Math" panose="02040503050406030204" pitchFamily="18" charset="0"/>
                        </a:rPr>
                        <m:t>=</m:t>
                      </m:r>
                      <m:r>
                        <a:rPr lang="en-US" b="0" i="0" smtClean="0">
                          <a:latin typeface="Cambria Math" panose="02040503050406030204" pitchFamily="18" charset="0"/>
                        </a:rPr>
                        <m:t>−</m:t>
                      </m:r>
                      <m:r>
                        <a:rPr lang="en-US" i="0">
                          <a:latin typeface="Cambria Math" panose="02040503050406030204" pitchFamily="18" charset="0"/>
                        </a:rPr>
                        <m:t>0.9</m:t>
                      </m:r>
                      <m:r>
                        <a:rPr lang="en-US" b="0" i="0" smtClean="0">
                          <a:latin typeface="Cambria Math" panose="02040503050406030204" pitchFamily="18" charset="0"/>
                        </a:rPr>
                        <m:t> </m:t>
                      </m:r>
                      <m:r>
                        <m:rPr>
                          <m:sty m:val="p"/>
                        </m:rPr>
                        <a:rPr lang="en-US" b="0" i="0" smtClean="0">
                          <a:latin typeface="Cambria Math" panose="02040503050406030204" pitchFamily="18" charset="0"/>
                        </a:rPr>
                        <m:t>dB</m:t>
                      </m:r>
                    </m:oMath>
                  </m:oMathPara>
                </a14:m>
                <a:endParaRPr lang="en-US" dirty="0"/>
              </a:p>
            </p:txBody>
          </p:sp>
        </mc:Choice>
        <mc:Fallback xmlns="">
          <p:sp>
            <p:nvSpPr>
              <p:cNvPr id="58" name="TextBox 57">
                <a:extLst>
                  <a:ext uri="{FF2B5EF4-FFF2-40B4-BE49-F238E27FC236}">
                    <a16:creationId xmlns:a16="http://schemas.microsoft.com/office/drawing/2014/main" id="{14760B2E-AB00-739B-2B9A-AECDE1852090}"/>
                  </a:ext>
                </a:extLst>
              </p:cNvPr>
              <p:cNvSpPr txBox="1">
                <a:spLocks noRot="1" noChangeAspect="1" noMove="1" noResize="1" noEditPoints="1" noAdjustHandles="1" noChangeArrowheads="1" noChangeShapeType="1" noTextEdit="1"/>
              </p:cNvSpPr>
              <p:nvPr/>
            </p:nvSpPr>
            <p:spPr>
              <a:xfrm>
                <a:off x="4097446" y="3105063"/>
                <a:ext cx="465622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1CF18A05-4979-BAFF-E3D1-C0D345808D69}"/>
                  </a:ext>
                </a:extLst>
              </p:cNvPr>
              <p:cNvSpPr txBox="1"/>
              <p:nvPr/>
            </p:nvSpPr>
            <p:spPr>
              <a:xfrm>
                <a:off x="469577" y="5577978"/>
                <a:ext cx="8204844" cy="7693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𝑠</m:t>
                          </m:r>
                        </m:sub>
                      </m:sSub>
                      <m:r>
                        <a:rPr lang="en-US" i="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𝜆</m:t>
                                  </m:r>
                                </m:num>
                                <m:den>
                                  <m:r>
                                    <a:rPr lang="en-US" i="0">
                                      <a:latin typeface="Cambria Math" panose="02040503050406030204" pitchFamily="18" charset="0"/>
                                    </a:rPr>
                                    <m:t>4</m:t>
                                  </m:r>
                                  <m:r>
                                    <a:rPr lang="en-US" i="1">
                                      <a:latin typeface="Cambria Math" panose="02040503050406030204" pitchFamily="18" charset="0"/>
                                    </a:rPr>
                                    <m:t>𝜋</m:t>
                                  </m:r>
                                  <m:sSub>
                                    <m:sSubPr>
                                      <m:ctrlPr>
                                        <a:rPr lang="en-US" b="0" i="1" smtClean="0">
                                          <a:latin typeface="Cambria Math" panose="02040503050406030204" pitchFamily="18" charset="0"/>
                                        </a:rPr>
                                      </m:ctrlPr>
                                    </m:sSubPr>
                                    <m:e>
                                      <m:r>
                                        <a:rPr lang="en-US" i="1">
                                          <a:latin typeface="Cambria Math" panose="02040503050406030204" pitchFamily="18" charset="0"/>
                                        </a:rPr>
                                        <m:t>𝑑</m:t>
                                      </m:r>
                                    </m:e>
                                    <m:sub>
                                      <m:r>
                                        <a:rPr lang="en-US" b="0" i="1" smtClean="0">
                                          <a:latin typeface="Cambria Math" panose="02040503050406030204" pitchFamily="18" charset="0"/>
                                        </a:rPr>
                                        <m:t>𝑚𝑎𝑥</m:t>
                                      </m:r>
                                    </m:sub>
                                  </m:sSub>
                                </m:den>
                              </m:f>
                            </m:e>
                          </m:d>
                        </m:e>
                        <m:sup>
                          <m:r>
                            <a:rPr lang="en-US" i="0">
                              <a:latin typeface="Cambria Math" panose="02040503050406030204" pitchFamily="18" charset="0"/>
                            </a:rPr>
                            <m:t>2</m:t>
                          </m:r>
                        </m:sup>
                      </m:sSup>
                      <m:r>
                        <a:rPr lang="en-US" b="0" i="1" smtClean="0">
                          <a:latin typeface="Cambria Math" panose="02040503050406030204" pitchFamily="18" charset="0"/>
                        </a:rPr>
                        <m:t>=1.795</m:t>
                      </m:r>
                      <m:r>
                        <a:rPr lang="en-US" b="0" i="1" smtClean="0">
                          <a:latin typeface="Cambria Math" panose="02040503050406030204" pitchFamily="18" charset="0"/>
                        </a:rPr>
                        <m:t>𝐸</m:t>
                      </m:r>
                      <m:r>
                        <m:rPr>
                          <m:nor/>
                        </m:rPr>
                        <a:rPr lang="en-US" b="0" i="0" smtClean="0">
                          <a:latin typeface="Cambria Math" panose="02040503050406030204" pitchFamily="18" charset="0"/>
                        </a:rPr>
                        <m:t>−</m:t>
                      </m:r>
                      <m:r>
                        <a:rPr lang="en-US" b="0" i="1" smtClean="0">
                          <a:latin typeface="Cambria Math" panose="02040503050406030204" pitchFamily="18" charset="0"/>
                        </a:rPr>
                        <m:t>10=</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10</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10</m:t>
                              </m:r>
                            </m:sub>
                          </m:sSub>
                        </m:fName>
                        <m:e>
                          <m:r>
                            <a:rPr lang="en-US" i="1">
                              <a:latin typeface="Cambria Math" panose="02040503050406030204" pitchFamily="18" charset="0"/>
                            </a:rPr>
                            <m:t>1.795</m:t>
                          </m:r>
                          <m:r>
                            <a:rPr lang="en-US" i="1">
                              <a:latin typeface="Cambria Math" panose="02040503050406030204" pitchFamily="18" charset="0"/>
                            </a:rPr>
                            <m:t>𝐸</m:t>
                          </m:r>
                          <m:r>
                            <m:rPr>
                              <m:nor/>
                            </m:rPr>
                            <a:rPr lang="en-US" b="0" i="0" smtClean="0">
                              <a:latin typeface="Cambria Math" panose="02040503050406030204" pitchFamily="18" charset="0"/>
                            </a:rPr>
                            <m:t>−</m:t>
                          </m:r>
                          <m:r>
                            <a:rPr lang="en-US" i="1">
                              <a:latin typeface="Cambria Math" panose="02040503050406030204" pitchFamily="18" charset="0"/>
                            </a:rPr>
                            <m:t>10=−</m:t>
                          </m:r>
                          <m:r>
                            <a:rPr lang="en-US" b="0" i="1" smtClean="0">
                              <a:latin typeface="Cambria Math" panose="02040503050406030204" pitchFamily="18" charset="0"/>
                            </a:rPr>
                            <m:t>168.7</m:t>
                          </m:r>
                          <m:r>
                            <a:rPr lang="en-US" b="0" i="1" smtClean="0">
                              <a:latin typeface="Cambria Math" panose="02040503050406030204" pitchFamily="18" charset="0"/>
                            </a:rPr>
                            <m:t>𝑑𝐵</m:t>
                          </m:r>
                        </m:e>
                      </m:func>
                    </m:oMath>
                  </m:oMathPara>
                </a14:m>
                <a:endParaRPr lang="en-US" dirty="0"/>
              </a:p>
            </p:txBody>
          </p:sp>
        </mc:Choice>
        <mc:Fallback xmlns="">
          <p:sp>
            <p:nvSpPr>
              <p:cNvPr id="59" name="TextBox 58">
                <a:extLst>
                  <a:ext uri="{FF2B5EF4-FFF2-40B4-BE49-F238E27FC236}">
                    <a16:creationId xmlns:a16="http://schemas.microsoft.com/office/drawing/2014/main" id="{1CF18A05-4979-BAFF-E3D1-C0D345808D69}"/>
                  </a:ext>
                </a:extLst>
              </p:cNvPr>
              <p:cNvSpPr txBox="1">
                <a:spLocks noRot="1" noChangeAspect="1" noMove="1" noResize="1" noEditPoints="1" noAdjustHandles="1" noChangeArrowheads="1" noChangeShapeType="1" noTextEdit="1"/>
              </p:cNvSpPr>
              <p:nvPr/>
            </p:nvSpPr>
            <p:spPr>
              <a:xfrm>
                <a:off x="469577" y="5577978"/>
                <a:ext cx="8204844" cy="769378"/>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6D4BE9C9-9459-8D35-F963-E4DEA2E9FE29}"/>
                  </a:ext>
                </a:extLst>
              </p:cNvPr>
              <p:cNvSpPr txBox="1"/>
              <p:nvPr/>
            </p:nvSpPr>
            <p:spPr>
              <a:xfrm>
                <a:off x="149655" y="4197699"/>
                <a:ext cx="8604011" cy="1317155"/>
              </a:xfrm>
              <a:prstGeom prst="rect">
                <a:avLst/>
              </a:prstGeom>
              <a:noFill/>
            </p:spPr>
            <p:txBody>
              <a:bodyPr wrap="square">
                <a:spAutoFit/>
              </a:bodyPr>
              <a:lstStyle/>
              <a:p>
                <a:pPr marL="0" marR="0">
                  <a:buNone/>
                </a:pPr>
                <a14:m>
                  <m:oMathPara xmlns:m="http://schemas.openxmlformats.org/officeDocument/2006/math">
                    <m:oMathParaPr>
                      <m:jc m:val="left"/>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ad>
                        <m:radPr>
                          <m:degHide m:val="on"/>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𝐸</m:t>
                                      </m:r>
                                    </m:sub>
                                  </m:sSub>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𝜖</m:t>
                                          </m:r>
                                        </m:e>
                                      </m:d>
                                    </m:e>
                                  </m:func>
                                </m:e>
                              </m:d>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h</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+2</m:t>
                          </m:r>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𝐸</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h</m:t>
                          </m:r>
                        </m:e>
                      </m:ra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𝐸</m:t>
                          </m:r>
                        </m:sub>
                      </m:sSub>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𝜖</m:t>
                              </m:r>
                            </m:e>
                          </m:d>
                        </m:e>
                      </m:func>
                    </m:oMath>
                  </m:oMathPara>
                </a14:m>
                <a:endParaRPr lang="en-US" sz="1800" b="0"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marR="0">
                  <a:buNone/>
                </a:pPr>
                <a:endParaRPr lang="en-US" sz="1800" b="0" i="1" dirty="0">
                  <a:effectLst/>
                  <a:latin typeface="Cambria Math" panose="02040503050406030204" pitchFamily="18" charset="0"/>
                  <a:ea typeface="Times New Roman" panose="02020603050405020304" pitchFamily="18" charset="0"/>
                  <a:cs typeface="Times New Roman" panose="02020603050405020304" pitchFamily="18" charset="0"/>
                </a:endParaRPr>
              </a:p>
              <a:p>
                <a:r>
                  <a:rPr lang="en-US" sz="1800" b="0" dirty="0">
                    <a:effectLst/>
                    <a:ea typeface="Times New Roman" panose="02020603050405020304" pitchFamily="18" charset="0"/>
                    <a:cs typeface="Times New Roman" panose="02020603050405020304" pitchFamily="18" charset="0"/>
                  </a:rPr>
                  <a:t>	   </a:t>
                </a:r>
                <a14:m>
                  <m:oMath xmlns:m="http://schemas.openxmlformats.org/officeDocument/2006/math">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dirty="0">
                    <a:ea typeface="Times New Roman" panose="02020603050405020304" pitchFamily="18" charset="0"/>
                    <a:cs typeface="Times New Roman" panose="02020603050405020304" pitchFamily="18" charset="0"/>
                  </a:rPr>
                  <a:t> </a:t>
                </a:r>
                <a14:m>
                  <m:oMath xmlns:m="http://schemas.openxmlformats.org/officeDocument/2006/math">
                    <m:rad>
                      <m:radPr>
                        <m:degHide m:val="on"/>
                        <m:ctrlPr>
                          <a:rPr lang="en-US" i="1">
                            <a:latin typeface="Cambria Math" panose="02040503050406030204" pitchFamily="18" charset="0"/>
                            <a:ea typeface="Times New Roman" panose="02020603050405020304" pitchFamily="18" charset="0"/>
                            <a:cs typeface="Times New Roman" panose="02020603050405020304" pitchFamily="18" charset="0"/>
                          </a:rPr>
                        </m:ctrlPr>
                      </m:radPr>
                      <m:deg/>
                      <m:e>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b="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𝑅</m:t>
                                    </m:r>
                                  </m:e>
                                  <m:sub>
                                    <m:r>
                                      <a:rPr lang="en-US" b="0" i="1" smtClean="0">
                                        <a:latin typeface="Cambria Math" panose="02040503050406030204" pitchFamily="18" charset="0"/>
                                        <a:ea typeface="Times New Roman" panose="02020603050405020304" pitchFamily="18" charset="0"/>
                                        <a:cs typeface="Times New Roman" panose="02020603050405020304" pitchFamily="18" charset="0"/>
                                      </a:rPr>
                                      <m:t>𝐸</m:t>
                                    </m:r>
                                  </m:sub>
                                </m:sSub>
                                <m:func>
                                  <m:funcPr>
                                    <m:ctrlPr>
                                      <a:rPr lang="en-US" i="1">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15</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e>
                                    </m:d>
                                  </m:e>
                                </m:func>
                              </m:e>
                            </m:d>
                          </m:e>
                          <m:sup>
                            <m:r>
                              <a:rPr lang="en-US"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i="1">
                                <a:latin typeface="Cambria Math" panose="02040503050406030204" pitchFamily="18" charset="0"/>
                                <a:ea typeface="Times New Roman" panose="02020603050405020304" pitchFamily="18" charset="0"/>
                                <a:cs typeface="Times New Roman" panose="02020603050405020304" pitchFamily="18" charset="0"/>
                              </a:rPr>
                            </m:ctrlPr>
                          </m:sSup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600,000</m:t>
                            </m:r>
                          </m:e>
                          <m:sup>
                            <m:r>
                              <a:rPr lang="en-US" i="1">
                                <a:latin typeface="Cambria Math" panose="02040503050406030204" pitchFamily="18" charset="0"/>
                                <a:ea typeface="Times New Roman" panose="02020603050405020304" pitchFamily="18" charset="0"/>
                                <a:cs typeface="Times New Roman" panose="02020603050405020304" pitchFamily="18" charset="0"/>
                              </a:rPr>
                              <m:t>2</m:t>
                            </m:r>
                          </m:sup>
                        </m:sSup>
                        <m:r>
                          <a:rPr lang="en-US"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2</m:t>
                            </m:r>
                            <m:r>
                              <a:rPr lang="en-US" b="0" i="1" smtClean="0">
                                <a:latin typeface="Cambria Math" panose="02040503050406030204" pitchFamily="18" charset="0"/>
                                <a:ea typeface="Times New Roman" panose="02020603050405020304" pitchFamily="18" charset="0"/>
                                <a:cs typeface="Times New Roman" panose="02020603050405020304" pitchFamily="18" charset="0"/>
                              </a:rPr>
                              <m:t>𝑅</m:t>
                            </m:r>
                          </m:e>
                          <m:sub>
                            <m:r>
                              <a:rPr lang="en-US" b="0" i="1" smtClean="0">
                                <a:latin typeface="Cambria Math" panose="02040503050406030204" pitchFamily="18" charset="0"/>
                                <a:ea typeface="Times New Roman" panose="02020603050405020304" pitchFamily="18" charset="0"/>
                                <a:cs typeface="Times New Roman" panose="02020603050405020304" pitchFamily="18" charset="0"/>
                              </a:rPr>
                              <m:t>𝐸</m:t>
                            </m:r>
                          </m:sub>
                        </m:sSub>
                        <m:r>
                          <a:rPr lang="en-US" b="0" i="1" smtClean="0">
                            <a:latin typeface="Cambria Math" panose="02040503050406030204" pitchFamily="18" charset="0"/>
                            <a:ea typeface="Times New Roman" panose="02020603050405020304" pitchFamily="18" charset="0"/>
                            <a:cs typeface="Times New Roman" panose="02020603050405020304" pitchFamily="18" charset="0"/>
                          </a:rPr>
                          <m:t>∗600,000</m:t>
                        </m:r>
                      </m:e>
                    </m:rad>
                    <m:r>
                      <a:rPr lang="en-US"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b="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𝑅</m:t>
                        </m:r>
                      </m:e>
                      <m:sub>
                        <m:r>
                          <a:rPr lang="en-US" b="0" i="1" smtClean="0">
                            <a:latin typeface="Cambria Math" panose="02040503050406030204" pitchFamily="18" charset="0"/>
                            <a:ea typeface="Times New Roman" panose="02020603050405020304" pitchFamily="18" charset="0"/>
                            <a:cs typeface="Times New Roman" panose="02020603050405020304" pitchFamily="18" charset="0"/>
                          </a:rPr>
                          <m:t>𝐸</m:t>
                        </m:r>
                      </m:sub>
                    </m:sSub>
                    <m:func>
                      <m:funcPr>
                        <m:ctrlPr>
                          <a:rPr lang="en-US" i="1">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15</m:t>
                            </m:r>
                            <m:r>
                              <a:rPr lang="en-US" b="0" i="1" smtClean="0">
                                <a:latin typeface="Cambria Math" panose="02040503050406030204" pitchFamily="18" charset="0"/>
                                <a:ea typeface="Cambria Math" panose="02040503050406030204" pitchFamily="18" charset="0"/>
                                <a:cs typeface="Times New Roman" panose="02020603050405020304" pitchFamily="18" charset="0"/>
                              </a:rPr>
                              <m:t>°</m:t>
                            </m:r>
                          </m:e>
                        </m:d>
                      </m:e>
                    </m:func>
                    <m:r>
                      <a:rPr lang="en-US" b="0" i="1" smtClean="0">
                        <a:latin typeface="Cambria Math" panose="02040503050406030204" pitchFamily="18" charset="0"/>
                        <a:ea typeface="Times New Roman" panose="02020603050405020304" pitchFamily="18" charset="0"/>
                        <a:cs typeface="Times New Roman" panose="02020603050405020304" pitchFamily="18" charset="0"/>
                      </a:rPr>
                      <m:t>=1626.2 </m:t>
                    </m:r>
                    <m:r>
                      <a:rPr lang="en-US" b="0" i="1" smtClean="0">
                        <a:latin typeface="Cambria Math" panose="02040503050406030204" pitchFamily="18" charset="0"/>
                        <a:ea typeface="Times New Roman" panose="02020603050405020304" pitchFamily="18" charset="0"/>
                        <a:cs typeface="Times New Roman" panose="02020603050405020304" pitchFamily="18" charset="0"/>
                      </a:rPr>
                      <m:t>𝑘𝑚</m:t>
                    </m:r>
                  </m:oMath>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buNone/>
                </a:pPr>
                <a:r>
                  <a:rPr lang="en-US" sz="180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60" name="TextBox 59">
                <a:extLst>
                  <a:ext uri="{FF2B5EF4-FFF2-40B4-BE49-F238E27FC236}">
                    <a16:creationId xmlns:a16="http://schemas.microsoft.com/office/drawing/2014/main" id="{6D4BE9C9-9459-8D35-F963-E4DEA2E9FE29}"/>
                  </a:ext>
                </a:extLst>
              </p:cNvPr>
              <p:cNvSpPr txBox="1">
                <a:spLocks noRot="1" noChangeAspect="1" noMove="1" noResize="1" noEditPoints="1" noAdjustHandles="1" noChangeArrowheads="1" noChangeShapeType="1" noTextEdit="1"/>
              </p:cNvSpPr>
              <p:nvPr/>
            </p:nvSpPr>
            <p:spPr>
              <a:xfrm>
                <a:off x="149655" y="4197699"/>
                <a:ext cx="8604011" cy="131715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279D89C5-4B29-908B-930C-367C879E8C90}"/>
                  </a:ext>
                </a:extLst>
              </p:cNvPr>
              <p:cNvSpPr txBox="1"/>
              <p:nvPr/>
            </p:nvSpPr>
            <p:spPr>
              <a:xfrm>
                <a:off x="235308" y="3272726"/>
                <a:ext cx="5468352" cy="7965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i="1" smtClean="0">
                          <a:latin typeface="Cambria Math" panose="02040503050406030204" pitchFamily="18" charset="0"/>
                        </a:rPr>
                        <m:t>𝜆</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𝑐</m:t>
                          </m:r>
                        </m:num>
                        <m:den>
                          <m:r>
                            <a:rPr lang="en-US" b="0" i="1" smtClean="0">
                              <a:latin typeface="Cambria Math" panose="02040503050406030204" pitchFamily="18" charset="0"/>
                            </a:rPr>
                            <m:t>𝑓</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299792458</m:t>
                          </m:r>
                          <m:f>
                            <m:fPr>
                              <m:ctrlPr>
                                <a:rPr lang="en-US" b="0" i="1" smtClean="0">
                                  <a:latin typeface="Cambria Math" panose="02040503050406030204" pitchFamily="18" charset="0"/>
                                </a:rPr>
                              </m:ctrlPr>
                            </m:fPr>
                            <m:num>
                              <m:r>
                                <a:rPr lang="en-US" b="0" i="1" smtClean="0">
                                  <a:latin typeface="Cambria Math" panose="02040503050406030204" pitchFamily="18" charset="0"/>
                                </a:rPr>
                                <m:t>𝑚</m:t>
                              </m:r>
                            </m:num>
                            <m:den>
                              <m:r>
                                <a:rPr lang="en-US" b="0" i="1" smtClean="0">
                                  <a:latin typeface="Cambria Math" panose="02040503050406030204" pitchFamily="18" charset="0"/>
                                </a:rPr>
                                <m:t>𝑠</m:t>
                              </m:r>
                            </m:den>
                          </m:f>
                        </m:num>
                        <m:den>
                          <m:r>
                            <a:rPr lang="en-US" b="0" i="1" smtClean="0">
                              <a:latin typeface="Cambria Math" panose="02040503050406030204" pitchFamily="18" charset="0"/>
                            </a:rPr>
                            <m:t>4</m:t>
                          </m:r>
                          <m:r>
                            <a:rPr lang="en-US" b="0" i="1" smtClean="0">
                              <a:latin typeface="Cambria Math" panose="02040503050406030204" pitchFamily="18" charset="0"/>
                            </a:rPr>
                            <m:t>𝐸</m:t>
                          </m:r>
                          <m:r>
                            <a:rPr lang="en-US" b="0" i="1" smtClean="0">
                              <a:latin typeface="Cambria Math" panose="02040503050406030204" pitchFamily="18" charset="0"/>
                            </a:rPr>
                            <m:t>9 </m:t>
                          </m:r>
                          <m:r>
                            <a:rPr lang="en-US" b="0" i="1" smtClean="0">
                              <a:latin typeface="Cambria Math" panose="02040503050406030204" pitchFamily="18" charset="0"/>
                            </a:rPr>
                            <m:t>𝐻𝑧</m:t>
                          </m:r>
                        </m:den>
                      </m:f>
                      <m:r>
                        <a:rPr lang="en-US" b="0" i="1" smtClean="0">
                          <a:latin typeface="Cambria Math" panose="02040503050406030204" pitchFamily="18" charset="0"/>
                        </a:rPr>
                        <m:t>=0.0749 </m:t>
                      </m:r>
                      <m:r>
                        <a:rPr lang="en-US" b="0" i="1" smtClean="0">
                          <a:latin typeface="Cambria Math" panose="02040503050406030204" pitchFamily="18" charset="0"/>
                        </a:rPr>
                        <m:t>𝑚</m:t>
                      </m:r>
                    </m:oMath>
                  </m:oMathPara>
                </a14:m>
                <a:endParaRPr lang="en-US" dirty="0"/>
              </a:p>
            </p:txBody>
          </p:sp>
        </mc:Choice>
        <mc:Fallback xmlns="">
          <p:sp>
            <p:nvSpPr>
              <p:cNvPr id="61" name="TextBox 60">
                <a:extLst>
                  <a:ext uri="{FF2B5EF4-FFF2-40B4-BE49-F238E27FC236}">
                    <a16:creationId xmlns:a16="http://schemas.microsoft.com/office/drawing/2014/main" id="{279D89C5-4B29-908B-930C-367C879E8C90}"/>
                  </a:ext>
                </a:extLst>
              </p:cNvPr>
              <p:cNvSpPr txBox="1">
                <a:spLocks noRot="1" noChangeAspect="1" noMove="1" noResize="1" noEditPoints="1" noAdjustHandles="1" noChangeArrowheads="1" noChangeShapeType="1" noTextEdit="1"/>
              </p:cNvSpPr>
              <p:nvPr/>
            </p:nvSpPr>
            <p:spPr>
              <a:xfrm>
                <a:off x="235308" y="3272726"/>
                <a:ext cx="5468352" cy="79650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BC0D62-3F54-4FFB-1C7B-EC301938B43F}"/>
                  </a:ext>
                </a:extLst>
              </p:cNvPr>
              <p:cNvSpPr txBox="1"/>
              <p:nvPr/>
            </p:nvSpPr>
            <p:spPr>
              <a:xfrm>
                <a:off x="4230437" y="4136012"/>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Times New Roman" panose="02020603050405020304" pitchFamily="18" charset="0"/>
                              <a:cs typeface="Times New Roman" panose="02020603050405020304" pitchFamily="18" charset="0"/>
                            </a:rPr>
                          </m:ctrlPr>
                        </m:sSubPr>
                        <m:e>
                          <m:r>
                            <a:rPr lang="en-US" b="0" i="1" smtClean="0">
                              <a:latin typeface="Cambria Math" panose="02040503050406030204" pitchFamily="18" charset="0"/>
                              <a:ea typeface="Times New Roman" panose="02020603050405020304" pitchFamily="18" charset="0"/>
                              <a:cs typeface="Times New Roman" panose="02020603050405020304" pitchFamily="18" charset="0"/>
                            </a:rPr>
                            <m:t>𝑅</m:t>
                          </m:r>
                        </m:e>
                        <m:sub>
                          <m:r>
                            <a:rPr lang="en-US" b="0" i="1" smtClean="0">
                              <a:latin typeface="Cambria Math" panose="02040503050406030204" pitchFamily="18" charset="0"/>
                              <a:ea typeface="Times New Roman" panose="02020603050405020304" pitchFamily="18" charset="0"/>
                              <a:cs typeface="Times New Roman" panose="02020603050405020304" pitchFamily="18" charset="0"/>
                            </a:rPr>
                            <m:t>𝐸</m:t>
                          </m:r>
                        </m:sub>
                      </m:sSub>
                      <m:r>
                        <a:rPr lang="en-US" b="0" i="1" smtClean="0">
                          <a:latin typeface="Cambria Math" panose="02040503050406030204" pitchFamily="18" charset="0"/>
                          <a:ea typeface="Times New Roman" panose="02020603050405020304" pitchFamily="18" charset="0"/>
                          <a:cs typeface="Times New Roman" panose="02020603050405020304" pitchFamily="18" charset="0"/>
                        </a:rPr>
                        <m:t>=6,378,137 </m:t>
                      </m:r>
                      <m:r>
                        <a:rPr lang="en-US" b="0" i="1" smtClean="0">
                          <a:latin typeface="Cambria Math" panose="02040503050406030204" pitchFamily="18" charset="0"/>
                          <a:ea typeface="Times New Roman" panose="02020603050405020304" pitchFamily="18" charset="0"/>
                          <a:cs typeface="Times New Roman" panose="02020603050405020304" pitchFamily="18" charset="0"/>
                        </a:rPr>
                        <m:t>𝑚</m:t>
                      </m:r>
                    </m:oMath>
                  </m:oMathPara>
                </a14:m>
                <a:endParaRPr lang="en-US" dirty="0"/>
              </a:p>
            </p:txBody>
          </p:sp>
        </mc:Choice>
        <mc:Fallback xmlns="">
          <p:sp>
            <p:nvSpPr>
              <p:cNvPr id="5" name="TextBox 4">
                <a:extLst>
                  <a:ext uri="{FF2B5EF4-FFF2-40B4-BE49-F238E27FC236}">
                    <a16:creationId xmlns:a16="http://schemas.microsoft.com/office/drawing/2014/main" id="{75BC0D62-3F54-4FFB-1C7B-EC301938B43F}"/>
                  </a:ext>
                </a:extLst>
              </p:cNvPr>
              <p:cNvSpPr txBox="1">
                <a:spLocks noRot="1" noChangeAspect="1" noMove="1" noResize="1" noEditPoints="1" noAdjustHandles="1" noChangeArrowheads="1" noChangeShapeType="1" noTextEdit="1"/>
              </p:cNvSpPr>
              <p:nvPr/>
            </p:nvSpPr>
            <p:spPr>
              <a:xfrm>
                <a:off x="4230437" y="4136012"/>
                <a:ext cx="4572000"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63794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D693-F563-AFF2-B23A-C9A6A2063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886B9B-A34C-B4F0-DBC0-C9CD9C80C45F}"/>
              </a:ext>
            </a:extLst>
          </p:cNvPr>
          <p:cNvSpPr>
            <a:spLocks noGrp="1"/>
          </p:cNvSpPr>
          <p:nvPr>
            <p:ph type="title"/>
          </p:nvPr>
        </p:nvSpPr>
        <p:spPr/>
        <p:txBody>
          <a:bodyPr/>
          <a:lstStyle/>
          <a:p>
            <a:r>
              <a:rPr lang="en-US" dirty="0"/>
              <a:t>Satcom Example – Solution Part 2</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6A8A76A-D9D4-0453-7546-732780CB175D}"/>
                  </a:ext>
                </a:extLst>
              </p:cNvPr>
              <p:cNvSpPr txBox="1"/>
              <p:nvPr/>
            </p:nvSpPr>
            <p:spPr>
              <a:xfrm>
                <a:off x="703847" y="950674"/>
                <a:ext cx="7736305" cy="657937"/>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n>
                                <a:noFill/>
                              </a:ln>
                              <a:latin typeface="Cambria Math" panose="02040503050406030204" pitchFamily="18" charset="0"/>
                            </a:rPr>
                          </m:ctrlPr>
                        </m:fPr>
                        <m:num>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𝐸</m:t>
                              </m:r>
                            </m:e>
                            <m:sub>
                              <m:r>
                                <a:rPr lang="en-US" b="0" i="1" smtClean="0">
                                  <a:ln>
                                    <a:noFill/>
                                  </a:ln>
                                  <a:latin typeface="Cambria Math" panose="02040503050406030204" pitchFamily="18" charset="0"/>
                                </a:rPr>
                                <m:t>𝑏</m:t>
                              </m:r>
                            </m:sub>
                          </m:sSub>
                        </m:num>
                        <m:den>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N</m:t>
                              </m:r>
                            </m:e>
                            <m:sub>
                              <m:r>
                                <a:rPr lang="en-US" b="0" i="0" smtClean="0">
                                  <a:ln>
                                    <a:noFill/>
                                  </a:ln>
                                  <a:latin typeface="Cambria Math" panose="02040503050406030204" pitchFamily="18" charset="0"/>
                                </a:rPr>
                                <m:t>0</m:t>
                              </m:r>
                            </m:sub>
                          </m:sSub>
                        </m:den>
                      </m:f>
                      <m:r>
                        <a:rPr lang="en-US" i="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P</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l</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s</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m</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r</m:t>
                          </m:r>
                        </m:sub>
                      </m:sSub>
                      <m:r>
                        <a:rPr lang="en-US" b="0" i="0" smtClean="0">
                          <a:ln>
                            <a:noFill/>
                          </a:ln>
                          <a:latin typeface="Cambria Math" panose="02040503050406030204" pitchFamily="18" charset="0"/>
                        </a:rPr>
                        <m:t>+228.6−10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𝑇</m:t>
                              </m:r>
                            </m:e>
                            <m:sub>
                              <m:r>
                                <a:rPr lang="en-US" b="0" i="1" smtClean="0">
                                  <a:ln>
                                    <a:noFill/>
                                  </a:ln>
                                  <a:latin typeface="Cambria Math" panose="02040503050406030204" pitchFamily="18" charset="0"/>
                                </a:rPr>
                                <m:t>𝑟</m:t>
                              </m:r>
                            </m:sub>
                          </m:sSub>
                        </m:e>
                      </m:func>
                      <m:r>
                        <a:rPr lang="en-US" b="0" i="1" smtClean="0">
                          <a:ln>
                            <a:noFill/>
                          </a:ln>
                          <a:latin typeface="Cambria Math" panose="02040503050406030204" pitchFamily="18" charset="0"/>
                        </a:rPr>
                        <m:t>−10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r>
                            <a:rPr lang="en-US" b="0" i="1" smtClean="0">
                              <a:ln>
                                <a:noFill/>
                              </a:ln>
                              <a:latin typeface="Cambria Math" panose="02040503050406030204" pitchFamily="18" charset="0"/>
                            </a:rPr>
                            <m:t>𝑅</m:t>
                          </m:r>
                        </m:e>
                      </m:func>
                    </m:oMath>
                  </m:oMathPara>
                </a14:m>
                <a:endParaRPr lang="en-US" dirty="0">
                  <a:ln>
                    <a:noFill/>
                  </a:ln>
                </a:endParaRPr>
              </a:p>
            </p:txBody>
          </p:sp>
        </mc:Choice>
        <mc:Fallback xmlns="">
          <p:sp>
            <p:nvSpPr>
              <p:cNvPr id="6" name="TextBox 5">
                <a:extLst>
                  <a:ext uri="{FF2B5EF4-FFF2-40B4-BE49-F238E27FC236}">
                    <a16:creationId xmlns:a16="http://schemas.microsoft.com/office/drawing/2014/main" id="{B6A8A76A-D9D4-0453-7546-732780CB175D}"/>
                  </a:ext>
                </a:extLst>
              </p:cNvPr>
              <p:cNvSpPr txBox="1">
                <a:spLocks noRot="1" noChangeAspect="1" noMove="1" noResize="1" noEditPoints="1" noAdjustHandles="1" noChangeArrowheads="1" noChangeShapeType="1" noTextEdit="1"/>
              </p:cNvSpPr>
              <p:nvPr/>
            </p:nvSpPr>
            <p:spPr>
              <a:xfrm>
                <a:off x="703847" y="950674"/>
                <a:ext cx="7736305" cy="657937"/>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1707F8F-5E21-9E21-028A-E4A2AA0A4549}"/>
                  </a:ext>
                </a:extLst>
              </p:cNvPr>
              <p:cNvSpPr txBox="1"/>
              <p:nvPr/>
            </p:nvSpPr>
            <p:spPr>
              <a:xfrm>
                <a:off x="1837823" y="1662907"/>
                <a:ext cx="5468352" cy="3907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m:t>
                          </m:r>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𝑡𝑥</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𝑝𝑡</m:t>
                          </m:r>
                          <m:r>
                            <a:rPr lang="en-US" i="1">
                              <a:latin typeface="Cambria Math" panose="02040503050406030204" pitchFamily="18" charset="0"/>
                            </a:rPr>
                            <m:t>,</m:t>
                          </m:r>
                          <m:r>
                            <a:rPr lang="en-US" b="0" i="1" smtClean="0">
                              <a:latin typeface="Cambria Math" panose="02040503050406030204" pitchFamily="18" charset="0"/>
                            </a:rPr>
                            <m:t>𝑟</m:t>
                          </m:r>
                          <m:r>
                            <a:rPr lang="en-US" i="1">
                              <a:latin typeface="Cambria Math" panose="02040503050406030204" pitchFamily="18" charset="0"/>
                            </a:rPr>
                            <m:t>𝑥</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𝑝𝑜𝑙</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𝑎𝑡𝑚</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𝑟𝑎𝑖𝑛</m:t>
                          </m:r>
                        </m:sub>
                      </m:sSub>
                    </m:oMath>
                  </m:oMathPara>
                </a14:m>
                <a:endParaRPr lang="en-US" dirty="0"/>
              </a:p>
            </p:txBody>
          </p:sp>
        </mc:Choice>
        <mc:Fallback xmlns="">
          <p:sp>
            <p:nvSpPr>
              <p:cNvPr id="3" name="TextBox 2">
                <a:extLst>
                  <a:ext uri="{FF2B5EF4-FFF2-40B4-BE49-F238E27FC236}">
                    <a16:creationId xmlns:a16="http://schemas.microsoft.com/office/drawing/2014/main" id="{61707F8F-5E21-9E21-028A-E4A2AA0A4549}"/>
                  </a:ext>
                </a:extLst>
              </p:cNvPr>
              <p:cNvSpPr txBox="1">
                <a:spLocks noRot="1" noChangeAspect="1" noMove="1" noResize="1" noEditPoints="1" noAdjustHandles="1" noChangeArrowheads="1" noChangeShapeType="1" noTextEdit="1"/>
              </p:cNvSpPr>
              <p:nvPr/>
            </p:nvSpPr>
            <p:spPr>
              <a:xfrm>
                <a:off x="1837823" y="1662907"/>
                <a:ext cx="5468352" cy="390748"/>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760ED76-B230-610F-256A-B1703C9EF463}"/>
                  </a:ext>
                </a:extLst>
              </p:cNvPr>
              <p:cNvSpPr txBox="1"/>
              <p:nvPr/>
            </p:nvSpPr>
            <p:spPr>
              <a:xfrm>
                <a:off x="226604" y="3597540"/>
                <a:ext cx="6061976" cy="77822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𝑝𝑡</m:t>
                          </m:r>
                          <m:r>
                            <a:rPr lang="en-US" i="1">
                              <a:latin typeface="Cambria Math" panose="02040503050406030204" pitchFamily="18" charset="0"/>
                            </a:rPr>
                            <m:t>,</m:t>
                          </m:r>
                          <m:r>
                            <a:rPr lang="en-US" b="0" i="1" smtClean="0">
                              <a:latin typeface="Cambria Math" panose="02040503050406030204" pitchFamily="18" charset="0"/>
                            </a:rPr>
                            <m:t>𝑟</m:t>
                          </m:r>
                          <m:r>
                            <a:rPr lang="en-US" i="1">
                              <a:latin typeface="Cambria Math" panose="02040503050406030204" pitchFamily="18" charset="0"/>
                            </a:rPr>
                            <m:t>𝑥</m:t>
                          </m:r>
                        </m:sub>
                      </m:sSub>
                      <m:r>
                        <a:rPr lang="en-US">
                          <a:latin typeface="Cambria Math" panose="02040503050406030204" pitchFamily="18" charset="0"/>
                        </a:rPr>
                        <m:t>=−12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𝜃</m:t>
                                  </m:r>
                                </m:num>
                                <m:den>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0">
                                          <a:latin typeface="Cambria Math" panose="02040503050406030204" pitchFamily="18" charset="0"/>
                                        </a:rPr>
                                        <m:t>3</m:t>
                                      </m:r>
                                      <m:r>
                                        <a:rPr lang="en-US" i="1">
                                          <a:latin typeface="Cambria Math" panose="02040503050406030204" pitchFamily="18" charset="0"/>
                                        </a:rPr>
                                        <m:t>𝑑</m:t>
                                      </m:r>
                                      <m:sSub>
                                        <m:sSubPr>
                                          <m:ctrlPr>
                                            <a:rPr lang="en-US" b="0" i="1" smtClean="0">
                                              <a:latin typeface="Cambria Math" panose="02040503050406030204" pitchFamily="18" charset="0"/>
                                            </a:rPr>
                                          </m:ctrlPr>
                                        </m:sSubPr>
                                        <m:e>
                                          <m:r>
                                            <a:rPr lang="en-US" i="1">
                                              <a:latin typeface="Cambria Math" panose="02040503050406030204" pitchFamily="18" charset="0"/>
                                            </a:rPr>
                                            <m:t>𝐵</m:t>
                                          </m:r>
                                        </m:e>
                                        <m:sub>
                                          <m:r>
                                            <a:rPr lang="en-US" b="0" i="1" smtClean="0">
                                              <a:latin typeface="Cambria Math" panose="02040503050406030204" pitchFamily="18" charset="0"/>
                                            </a:rPr>
                                            <m:t>𝑟𝑥</m:t>
                                          </m:r>
                                        </m:sub>
                                      </m:sSub>
                                    </m:sub>
                                  </m:sSub>
                                </m:den>
                              </m:f>
                            </m:e>
                          </m:d>
                        </m:e>
                        <m:sup>
                          <m:r>
                            <a:rPr lang="en-US" i="0">
                              <a:latin typeface="Cambria Math" panose="02040503050406030204" pitchFamily="18" charset="0"/>
                            </a:rPr>
                            <m:t>2</m:t>
                          </m:r>
                        </m:sup>
                      </m:sSup>
                      <m:r>
                        <a:rPr lang="en-US" b="0" i="0" smtClean="0">
                          <a:latin typeface="Cambria Math" panose="02040503050406030204" pitchFamily="18" charset="0"/>
                        </a:rPr>
                        <m:t>=−12</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num>
                                <m:den>
                                  <m:r>
                                    <a:rPr lang="en-US" b="0" i="0" smtClean="0">
                                      <a:latin typeface="Cambria Math" panose="02040503050406030204" pitchFamily="18" charset="0"/>
                                    </a:rPr>
                                    <m:t>1.7488</m:t>
                                  </m:r>
                                </m:den>
                              </m:f>
                            </m:e>
                          </m:d>
                        </m:e>
                        <m:sup>
                          <m:r>
                            <a:rPr lang="en-US" b="0" i="0" smtClean="0">
                              <a:latin typeface="Cambria Math" panose="02040503050406030204" pitchFamily="18" charset="0"/>
                            </a:rPr>
                            <m:t>2</m:t>
                          </m:r>
                        </m:sup>
                      </m:sSup>
                      <m:r>
                        <a:rPr lang="en-US" b="0" i="0" smtClean="0">
                          <a:latin typeface="Cambria Math" panose="02040503050406030204" pitchFamily="18" charset="0"/>
                        </a:rPr>
                        <m:t>=−15.70</m:t>
                      </m:r>
                      <m:r>
                        <a:rPr lang="en-US" i="0">
                          <a:latin typeface="Cambria Math" panose="02040503050406030204" pitchFamily="18" charset="0"/>
                        </a:rPr>
                        <m:t> </m:t>
                      </m:r>
                      <m:r>
                        <a:rPr lang="en-US" i="1">
                          <a:latin typeface="Cambria Math" panose="02040503050406030204" pitchFamily="18" charset="0"/>
                        </a:rPr>
                        <m:t>𝑑𝐵</m:t>
                      </m:r>
                    </m:oMath>
                  </m:oMathPara>
                </a14:m>
                <a:endParaRPr lang="en-US" dirty="0"/>
              </a:p>
            </p:txBody>
          </p:sp>
        </mc:Choice>
        <mc:Fallback xmlns="">
          <p:sp>
            <p:nvSpPr>
              <p:cNvPr id="5" name="TextBox 4">
                <a:extLst>
                  <a:ext uri="{FF2B5EF4-FFF2-40B4-BE49-F238E27FC236}">
                    <a16:creationId xmlns:a16="http://schemas.microsoft.com/office/drawing/2014/main" id="{5760ED76-B230-610F-256A-B1703C9EF463}"/>
                  </a:ext>
                </a:extLst>
              </p:cNvPr>
              <p:cNvSpPr txBox="1">
                <a:spLocks noRot="1" noChangeAspect="1" noMove="1" noResize="1" noEditPoints="1" noAdjustHandles="1" noChangeArrowheads="1" noChangeShapeType="1" noTextEdit="1"/>
              </p:cNvSpPr>
              <p:nvPr/>
            </p:nvSpPr>
            <p:spPr>
              <a:xfrm>
                <a:off x="226604" y="3597540"/>
                <a:ext cx="6061976" cy="77822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27F291A-F948-BEA2-5FC9-5E14CD0A427E}"/>
                  </a:ext>
                </a:extLst>
              </p:cNvPr>
              <p:cNvSpPr txBox="1"/>
              <p:nvPr/>
            </p:nvSpPr>
            <p:spPr>
              <a:xfrm>
                <a:off x="220473" y="4559619"/>
                <a:ext cx="7736305" cy="39626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𝑝𝑜𝑙</m:t>
                          </m:r>
                        </m:sub>
                      </m:sSub>
                      <m:r>
                        <a:rPr lang="en-US" i="0">
                          <a:latin typeface="Cambria Math" panose="020405030504060302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i="0">
                                  <a:latin typeface="Cambria Math" panose="02040503050406030204" pitchFamily="18" charset="0"/>
                                </a:rPr>
                                <m:t>cos</m:t>
                              </m:r>
                            </m:e>
                            <m:sup>
                              <m:r>
                                <a:rPr lang="en-US" i="0">
                                  <a:latin typeface="Cambria Math" panose="02040503050406030204" pitchFamily="18" charset="0"/>
                                </a:rPr>
                                <m:t>2</m:t>
                              </m:r>
                            </m:sup>
                          </m:sSup>
                        </m:fName>
                        <m:e>
                          <m:d>
                            <m:dPr>
                              <m:ctrlPr>
                                <a:rPr lang="en-US" i="1">
                                  <a:latin typeface="Cambria Math" panose="02040503050406030204" pitchFamily="18" charset="0"/>
                                </a:rPr>
                              </m:ctrlPr>
                            </m:dPr>
                            <m:e>
                              <m:r>
                                <a:rPr lang="en-US" i="1">
                                  <a:latin typeface="Cambria Math" panose="02040503050406030204" pitchFamily="18" charset="0"/>
                                </a:rPr>
                                <m:t>𝜃</m:t>
                              </m:r>
                            </m:e>
                          </m:d>
                        </m:e>
                      </m:func>
                      <m:r>
                        <a:rPr lang="en-US" i="0">
                          <a:latin typeface="Cambria Math" panose="02040503050406030204" pitchFamily="18" charset="0"/>
                        </a:rPr>
                        <m:t>=</m:t>
                      </m:r>
                      <m:func>
                        <m:funcPr>
                          <m:ctrlPr>
                            <a:rPr lang="en-US" i="1">
                              <a:latin typeface="Cambria Math" panose="02040503050406030204" pitchFamily="18" charset="0"/>
                            </a:rPr>
                          </m:ctrlPr>
                        </m:funcPr>
                        <m:fName>
                          <m:sSup>
                            <m:sSupPr>
                              <m:ctrlPr>
                                <a:rPr lang="en-US" i="1">
                                  <a:latin typeface="Cambria Math" panose="02040503050406030204" pitchFamily="18" charset="0"/>
                                </a:rPr>
                              </m:ctrlPr>
                            </m:sSupPr>
                            <m:e>
                              <m:r>
                                <m:rPr>
                                  <m:sty m:val="p"/>
                                </m:rPr>
                                <a:rPr lang="en-US" i="0">
                                  <a:latin typeface="Cambria Math" panose="02040503050406030204" pitchFamily="18" charset="0"/>
                                </a:rPr>
                                <m:t>cos</m:t>
                              </m:r>
                            </m:e>
                            <m:sup>
                              <m:r>
                                <a:rPr lang="en-US" i="0">
                                  <a:latin typeface="Cambria Math" panose="02040503050406030204" pitchFamily="18" charset="0"/>
                                </a:rPr>
                                <m:t>2</m:t>
                              </m:r>
                            </m:sup>
                          </m:sSup>
                        </m:fName>
                        <m:e>
                          <m:d>
                            <m:dPr>
                              <m:ctrlPr>
                                <a:rPr lang="en-US" i="1">
                                  <a:latin typeface="Cambria Math" panose="02040503050406030204" pitchFamily="18" charset="0"/>
                                </a:rPr>
                              </m:ctrlPr>
                            </m:dPr>
                            <m:e>
                              <m:r>
                                <a:rPr lang="en-US" i="0">
                                  <a:latin typeface="Cambria Math" panose="02040503050406030204" pitchFamily="18" charset="0"/>
                                </a:rPr>
                                <m:t>10°</m:t>
                              </m:r>
                            </m:e>
                          </m:d>
                        </m:e>
                      </m:func>
                      <m:r>
                        <a:rPr lang="en-US" i="1">
                          <a:latin typeface="Cambria Math" panose="02040503050406030204" pitchFamily="18" charset="0"/>
                        </a:rPr>
                        <m:t>=0.9698</m:t>
                      </m:r>
                      <m:r>
                        <a:rPr lang="en-US" b="0" i="1" smtClean="0">
                          <a:latin typeface="Cambria Math" panose="02040503050406030204" pitchFamily="18" charset="0"/>
                        </a:rPr>
                        <m:t>=</m:t>
                      </m:r>
                      <m:func>
                        <m:funcPr>
                          <m:ctrlPr>
                            <a:rPr lang="en-US" i="1">
                              <a:latin typeface="Cambria Math" panose="02040503050406030204" pitchFamily="18" charset="0"/>
                            </a:rPr>
                          </m:ctrlPr>
                        </m:funcPr>
                        <m:fName>
                          <m:r>
                            <a:rPr lang="en-US" i="1">
                              <a:latin typeface="Cambria Math" panose="02040503050406030204" pitchFamily="18" charset="0"/>
                            </a:rPr>
                            <m:t>10</m:t>
                          </m:r>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i="1">
                                  <a:latin typeface="Cambria Math" panose="02040503050406030204" pitchFamily="18" charset="0"/>
                                </a:rPr>
                                <m:t>10</m:t>
                              </m:r>
                            </m:sub>
                          </m:sSub>
                        </m:fName>
                        <m:e>
                          <m:d>
                            <m:dPr>
                              <m:ctrlPr>
                                <a:rPr lang="en-US" b="0" i="1" smtClean="0">
                                  <a:latin typeface="Cambria Math" panose="02040503050406030204" pitchFamily="18" charset="0"/>
                                </a:rPr>
                              </m:ctrlPr>
                            </m:dPr>
                            <m:e>
                              <m:r>
                                <a:rPr lang="en-US" b="0" i="1" smtClean="0">
                                  <a:latin typeface="Cambria Math" panose="02040503050406030204" pitchFamily="18" charset="0"/>
                                </a:rPr>
                                <m:t>0.9698</m:t>
                              </m:r>
                            </m:e>
                          </m:d>
                          <m:r>
                            <a:rPr lang="en-US" i="1">
                              <a:latin typeface="Cambria Math" panose="02040503050406030204" pitchFamily="18" charset="0"/>
                            </a:rPr>
                            <m:t>=</m:t>
                          </m:r>
                          <m:r>
                            <a:rPr lang="en-US" b="0" i="1" smtClean="0">
                              <a:latin typeface="Cambria Math" panose="02040503050406030204" pitchFamily="18" charset="0"/>
                            </a:rPr>
                            <m:t>−0.13 </m:t>
                          </m:r>
                          <m:r>
                            <a:rPr lang="en-US" i="1">
                              <a:latin typeface="Cambria Math" panose="02040503050406030204" pitchFamily="18" charset="0"/>
                            </a:rPr>
                            <m:t>𝑑𝐵</m:t>
                          </m:r>
                        </m:e>
                      </m:func>
                    </m:oMath>
                  </m:oMathPara>
                </a14:m>
                <a:endParaRPr lang="en-US" dirty="0"/>
              </a:p>
            </p:txBody>
          </p:sp>
        </mc:Choice>
        <mc:Fallback xmlns="">
          <p:sp>
            <p:nvSpPr>
              <p:cNvPr id="7" name="TextBox 6">
                <a:extLst>
                  <a:ext uri="{FF2B5EF4-FFF2-40B4-BE49-F238E27FC236}">
                    <a16:creationId xmlns:a16="http://schemas.microsoft.com/office/drawing/2014/main" id="{C27F291A-F948-BEA2-5FC9-5E14CD0A427E}"/>
                  </a:ext>
                </a:extLst>
              </p:cNvPr>
              <p:cNvSpPr txBox="1">
                <a:spLocks noRot="1" noChangeAspect="1" noMove="1" noResize="1" noEditPoints="1" noAdjustHandles="1" noChangeArrowheads="1" noChangeShapeType="1" noTextEdit="1"/>
              </p:cNvSpPr>
              <p:nvPr/>
            </p:nvSpPr>
            <p:spPr>
              <a:xfrm>
                <a:off x="220473" y="4559619"/>
                <a:ext cx="7736305" cy="396262"/>
              </a:xfrm>
              <a:prstGeom prst="rect">
                <a:avLst/>
              </a:prstGeom>
              <a:blipFill>
                <a:blip r:embed="rId6"/>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4C146FA-3080-57E3-A196-E14ACCC4B9E6}"/>
                  </a:ext>
                </a:extLst>
              </p:cNvPr>
              <p:cNvSpPr txBox="1"/>
              <p:nvPr/>
            </p:nvSpPr>
            <p:spPr>
              <a:xfrm>
                <a:off x="-226996" y="5051891"/>
                <a:ext cx="4855434" cy="6619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𝑎𝑡𝑚</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𝑧𝑒𝑛𝑖𝑡h</m:t>
                              </m:r>
                            </m:sub>
                          </m:sSub>
                        </m:num>
                        <m:den>
                          <m:func>
                            <m:func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uncPr>
                            <m:fName>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fName>
                            <m:e>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𝜖</m:t>
                                  </m:r>
                                </m:e>
                              </m:d>
                            </m:e>
                          </m:func>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−0.04</m:t>
                          </m:r>
                        </m:num>
                        <m:den>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sin</m:t>
                          </m:r>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(15°)</m:t>
                          </m:r>
                        </m:den>
                      </m:f>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m:t>
                      </m:r>
                      <m:r>
                        <a:rPr lang="en-US" b="0" i="1" smtClean="0">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0.15</m:t>
                      </m:r>
                      <m:r>
                        <a:rPr lang="en-US" b="0" i="1" smtClean="0">
                          <a:latin typeface="Cambria Math" panose="02040503050406030204" pitchFamily="18" charset="0"/>
                          <a:ea typeface="Times New Roman" panose="02020603050405020304" pitchFamily="18" charset="0"/>
                          <a:cs typeface="Times New Roman" panose="02020603050405020304" pitchFamily="18" charset="0"/>
                        </a:rPr>
                        <m:t> </m:t>
                      </m:r>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𝑑𝐵</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A4C146FA-3080-57E3-A196-E14ACCC4B9E6}"/>
                  </a:ext>
                </a:extLst>
              </p:cNvPr>
              <p:cNvSpPr txBox="1">
                <a:spLocks noRot="1" noChangeAspect="1" noMove="1" noResize="1" noEditPoints="1" noAdjustHandles="1" noChangeArrowheads="1" noChangeShapeType="1" noTextEdit="1"/>
              </p:cNvSpPr>
              <p:nvPr/>
            </p:nvSpPr>
            <p:spPr>
              <a:xfrm>
                <a:off x="-226996" y="5051891"/>
                <a:ext cx="4855434" cy="66191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69645E9-BCA6-6D56-B836-87A0DA94D930}"/>
                  </a:ext>
                </a:extLst>
              </p:cNvPr>
              <p:cNvSpPr txBox="1"/>
              <p:nvPr/>
            </p:nvSpPr>
            <p:spPr>
              <a:xfrm>
                <a:off x="4309159" y="5181387"/>
                <a:ext cx="549843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𝑟𝑎𝑖𝑛</m:t>
                          </m:r>
                        </m:sub>
                      </m:sSub>
                      <m:r>
                        <a:rPr lang="en-US" i="0">
                          <a:latin typeface="Cambria Math" panose="02040503050406030204" pitchFamily="18" charset="0"/>
                        </a:rPr>
                        <m:t>=0 </m:t>
                      </m:r>
                      <m:r>
                        <a:rPr lang="en-US" i="1">
                          <a:latin typeface="Cambria Math" panose="02040503050406030204" pitchFamily="18" charset="0"/>
                        </a:rPr>
                        <m:t>𝑑𝐵</m:t>
                      </m:r>
                      <m:r>
                        <a:rPr lang="en-US" i="0">
                          <a:latin typeface="Cambria Math" panose="02040503050406030204" pitchFamily="18" charset="0"/>
                        </a:rPr>
                        <m:t> </m:t>
                      </m:r>
                      <m:r>
                        <a:rPr lang="en-US" b="0" i="1" smtClean="0">
                          <a:latin typeface="Cambria Math" panose="02040503050406030204" pitchFamily="18" charset="0"/>
                        </a:rPr>
                        <m:t>𝑠𝑖𝑛𝑐𝑒</m:t>
                      </m:r>
                      <m:r>
                        <a:rPr lang="en-US" i="0">
                          <a:latin typeface="Cambria Math" panose="02040503050406030204" pitchFamily="18" charset="0"/>
                        </a:rPr>
                        <m:t> </m:t>
                      </m:r>
                      <m:r>
                        <a:rPr lang="en-US" i="1">
                          <a:latin typeface="Cambria Math" panose="02040503050406030204" pitchFamily="18" charset="0"/>
                        </a:rPr>
                        <m:t>𝑓</m:t>
                      </m:r>
                      <m:r>
                        <a:rPr lang="en-US" i="0">
                          <a:latin typeface="Cambria Math" panose="02040503050406030204" pitchFamily="18" charset="0"/>
                        </a:rPr>
                        <m:t>&lt;6 </m:t>
                      </m:r>
                      <m:r>
                        <a:rPr lang="en-US" i="1">
                          <a:latin typeface="Cambria Math" panose="02040503050406030204" pitchFamily="18" charset="0"/>
                        </a:rPr>
                        <m:t>𝐺𝐻𝑧</m:t>
                      </m:r>
                    </m:oMath>
                  </m:oMathPara>
                </a14:m>
                <a:endParaRPr lang="en-US" dirty="0"/>
              </a:p>
            </p:txBody>
          </p:sp>
        </mc:Choice>
        <mc:Fallback xmlns="">
          <p:sp>
            <p:nvSpPr>
              <p:cNvPr id="11" name="TextBox 10">
                <a:extLst>
                  <a:ext uri="{FF2B5EF4-FFF2-40B4-BE49-F238E27FC236}">
                    <a16:creationId xmlns:a16="http://schemas.microsoft.com/office/drawing/2014/main" id="{069645E9-BCA6-6D56-B836-87A0DA94D930}"/>
                  </a:ext>
                </a:extLst>
              </p:cNvPr>
              <p:cNvSpPr txBox="1">
                <a:spLocks noRot="1" noChangeAspect="1" noMove="1" noResize="1" noEditPoints="1" noAdjustHandles="1" noChangeArrowheads="1" noChangeShapeType="1" noTextEdit="1"/>
              </p:cNvSpPr>
              <p:nvPr/>
            </p:nvSpPr>
            <p:spPr>
              <a:xfrm>
                <a:off x="4309159" y="5181387"/>
                <a:ext cx="5498430" cy="369332"/>
              </a:xfrm>
              <a:prstGeom prst="rect">
                <a:avLst/>
              </a:prstGeom>
              <a:blipFill>
                <a:blip r:embed="rId8"/>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14D438D-D8FF-4F74-C047-C1FE5B552506}"/>
                  </a:ext>
                </a:extLst>
              </p:cNvPr>
              <p:cNvSpPr txBox="1"/>
              <p:nvPr/>
            </p:nvSpPr>
            <p:spPr>
              <a:xfrm>
                <a:off x="1590711" y="6018443"/>
                <a:ext cx="643920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𝑚</m:t>
                          </m:r>
                        </m:sub>
                      </m:sSub>
                      <m:r>
                        <a:rPr lang="en-US" i="0">
                          <a:latin typeface="Cambria Math" panose="02040503050406030204" pitchFamily="18" charset="0"/>
                        </a:rPr>
                        <m:t>=</m:t>
                      </m:r>
                      <m:r>
                        <a:rPr lang="en-US" i="1" smtClean="0">
                          <a:latin typeface="Cambria Math" panose="02040503050406030204" pitchFamily="18" charset="0"/>
                        </a:rPr>
                        <m:t>−</m:t>
                      </m:r>
                      <m:r>
                        <a:rPr lang="en-US" b="0" i="1" smtClean="0">
                          <a:latin typeface="Cambria Math" panose="02040503050406030204" pitchFamily="18" charset="0"/>
                        </a:rPr>
                        <m:t>12−15.7−0.13−0.15−0=−27.98 </m:t>
                      </m:r>
                      <m:r>
                        <a:rPr lang="en-US" b="0" i="1" smtClean="0">
                          <a:latin typeface="Cambria Math" panose="02040503050406030204" pitchFamily="18" charset="0"/>
                        </a:rPr>
                        <m:t>𝑑𝐵</m:t>
                      </m:r>
                    </m:oMath>
                  </m:oMathPara>
                </a14:m>
                <a:endParaRPr lang="en-US" dirty="0"/>
              </a:p>
            </p:txBody>
          </p:sp>
        </mc:Choice>
        <mc:Fallback xmlns="">
          <p:sp>
            <p:nvSpPr>
              <p:cNvPr id="12" name="TextBox 11">
                <a:extLst>
                  <a:ext uri="{FF2B5EF4-FFF2-40B4-BE49-F238E27FC236}">
                    <a16:creationId xmlns:a16="http://schemas.microsoft.com/office/drawing/2014/main" id="{414D438D-D8FF-4F74-C047-C1FE5B552506}"/>
                  </a:ext>
                </a:extLst>
              </p:cNvPr>
              <p:cNvSpPr txBox="1">
                <a:spLocks noRot="1" noChangeAspect="1" noMove="1" noResize="1" noEditPoints="1" noAdjustHandles="1" noChangeArrowheads="1" noChangeShapeType="1" noTextEdit="1"/>
              </p:cNvSpPr>
              <p:nvPr/>
            </p:nvSpPr>
            <p:spPr>
              <a:xfrm>
                <a:off x="1590711" y="6018443"/>
                <a:ext cx="6439209"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657956-BB16-40F5-653A-E00C18B2C572}"/>
                  </a:ext>
                </a:extLst>
              </p:cNvPr>
              <p:cNvSpPr txBox="1"/>
              <p:nvPr/>
            </p:nvSpPr>
            <p:spPr>
              <a:xfrm>
                <a:off x="-226996" y="2924422"/>
                <a:ext cx="5084618" cy="6955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𝜃</m:t>
                          </m:r>
                        </m:e>
                        <m:sub>
                          <m:r>
                            <a:rPr lang="en-US" i="0">
                              <a:latin typeface="Cambria Math" panose="02040503050406030204" pitchFamily="18" charset="0"/>
                            </a:rPr>
                            <m:t>3</m:t>
                          </m:r>
                          <m:r>
                            <a:rPr lang="en-US" i="1">
                              <a:latin typeface="Cambria Math" panose="02040503050406030204" pitchFamily="18" charset="0"/>
                            </a:rPr>
                            <m:t>𝑑</m:t>
                          </m:r>
                          <m:sSub>
                            <m:sSubPr>
                              <m:ctrlPr>
                                <a:rPr lang="en-US" b="0" i="1" smtClean="0">
                                  <a:latin typeface="Cambria Math" panose="02040503050406030204" pitchFamily="18" charset="0"/>
                                </a:rPr>
                              </m:ctrlPr>
                            </m:sSubPr>
                            <m:e>
                              <m:r>
                                <a:rPr lang="en-US" i="1">
                                  <a:latin typeface="Cambria Math" panose="02040503050406030204" pitchFamily="18" charset="0"/>
                                </a:rPr>
                                <m:t>𝐵</m:t>
                              </m:r>
                            </m:e>
                            <m:sub>
                              <m:r>
                                <a:rPr lang="en-US" b="0" i="1" smtClean="0">
                                  <a:latin typeface="Cambria Math" panose="02040503050406030204" pitchFamily="18" charset="0"/>
                                </a:rPr>
                                <m:t>𝑟𝑥</m:t>
                              </m:r>
                            </m:sub>
                          </m:sSub>
                        </m:sub>
                      </m:sSub>
                      <m:r>
                        <a:rPr lang="en-US" b="0" i="1" smtClean="0">
                          <a:latin typeface="Cambria Math" panose="02040503050406030204" pitchFamily="18" charset="0"/>
                        </a:rPr>
                        <m:t>=70</m:t>
                      </m:r>
                      <m:f>
                        <m:fPr>
                          <m:ctrlPr>
                            <a:rPr lang="en-US" b="0" i="1" smtClean="0">
                              <a:latin typeface="Cambria Math" panose="02040503050406030204" pitchFamily="18" charset="0"/>
                            </a:rPr>
                          </m:ctrlPr>
                        </m:fPr>
                        <m:num>
                          <m:r>
                            <a:rPr lang="en-US" b="0" i="1" smtClean="0">
                              <a:latin typeface="Cambria Math" panose="02040503050406030204" pitchFamily="18" charset="0"/>
                            </a:rPr>
                            <m:t>𝜆</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𝑝𝑎𝑟</m:t>
                              </m:r>
                            </m:sub>
                          </m:sSub>
                        </m:den>
                      </m:f>
                      <m:r>
                        <a:rPr lang="en-US" b="0" i="1" smtClean="0">
                          <a:latin typeface="Cambria Math" panose="02040503050406030204" pitchFamily="18" charset="0"/>
                        </a:rPr>
                        <m:t>=70</m:t>
                      </m:r>
                      <m:f>
                        <m:fPr>
                          <m:ctrlPr>
                            <a:rPr lang="en-US" b="0" i="1" smtClean="0">
                              <a:latin typeface="Cambria Math" panose="02040503050406030204" pitchFamily="18" charset="0"/>
                            </a:rPr>
                          </m:ctrlPr>
                        </m:fPr>
                        <m:num>
                          <m:r>
                            <a:rPr lang="en-US" b="0" i="1" smtClean="0">
                              <a:latin typeface="Cambria Math" panose="02040503050406030204" pitchFamily="18" charset="0"/>
                            </a:rPr>
                            <m:t>0.0749</m:t>
                          </m:r>
                        </m:num>
                        <m:den>
                          <m:r>
                            <a:rPr lang="en-US" b="0" i="1" smtClean="0">
                              <a:latin typeface="Cambria Math" panose="02040503050406030204" pitchFamily="18" charset="0"/>
                            </a:rPr>
                            <m:t>3</m:t>
                          </m:r>
                        </m:den>
                      </m:f>
                      <m:r>
                        <a:rPr lang="en-US" b="0" i="1" smtClean="0">
                          <a:latin typeface="Cambria Math" panose="02040503050406030204" pitchFamily="18" charset="0"/>
                        </a:rPr>
                        <m:t>=1.7488</m:t>
                      </m:r>
                    </m:oMath>
                  </m:oMathPara>
                </a14:m>
                <a:endParaRPr lang="en-US" dirty="0"/>
              </a:p>
            </p:txBody>
          </p:sp>
        </mc:Choice>
        <mc:Fallback xmlns="">
          <p:sp>
            <p:nvSpPr>
              <p:cNvPr id="8" name="TextBox 7">
                <a:extLst>
                  <a:ext uri="{FF2B5EF4-FFF2-40B4-BE49-F238E27FC236}">
                    <a16:creationId xmlns:a16="http://schemas.microsoft.com/office/drawing/2014/main" id="{9E657956-BB16-40F5-653A-E00C18B2C572}"/>
                  </a:ext>
                </a:extLst>
              </p:cNvPr>
              <p:cNvSpPr txBox="1">
                <a:spLocks noRot="1" noChangeAspect="1" noMove="1" noResize="1" noEditPoints="1" noAdjustHandles="1" noChangeArrowheads="1" noChangeShapeType="1" noTextEdit="1"/>
              </p:cNvSpPr>
              <p:nvPr/>
            </p:nvSpPr>
            <p:spPr>
              <a:xfrm>
                <a:off x="-226996" y="2924422"/>
                <a:ext cx="5084618" cy="69557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CA8E785-A94E-FDA2-A947-CD666F53104A}"/>
                  </a:ext>
                </a:extLst>
              </p:cNvPr>
              <p:cNvSpPr txBox="1"/>
              <p:nvPr/>
            </p:nvSpPr>
            <p:spPr>
              <a:xfrm>
                <a:off x="220473" y="2107951"/>
                <a:ext cx="4958752" cy="769378"/>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𝑝𝑡</m:t>
                          </m:r>
                          <m:r>
                            <a:rPr lang="en-US" b="0" i="1" smtClean="0">
                              <a:latin typeface="Cambria Math" panose="02040503050406030204" pitchFamily="18" charset="0"/>
                            </a:rPr>
                            <m:t>,</m:t>
                          </m:r>
                          <m:r>
                            <a:rPr lang="en-US" b="0" i="1" smtClean="0">
                              <a:latin typeface="Cambria Math" panose="02040503050406030204" pitchFamily="18" charset="0"/>
                            </a:rPr>
                            <m:t>𝑡𝑥</m:t>
                          </m:r>
                        </m:sub>
                      </m:sSub>
                      <m:r>
                        <a:rPr lang="en-US">
                          <a:latin typeface="Cambria Math" panose="02040503050406030204" pitchFamily="18" charset="0"/>
                        </a:rPr>
                        <m:t>=−12</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𝜃</m:t>
                                  </m:r>
                                </m:num>
                                <m:den>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0">
                                          <a:latin typeface="Cambria Math" panose="02040503050406030204" pitchFamily="18" charset="0"/>
                                        </a:rPr>
                                        <m:t>3</m:t>
                                      </m:r>
                                      <m:r>
                                        <a:rPr lang="en-US" i="1">
                                          <a:latin typeface="Cambria Math" panose="02040503050406030204" pitchFamily="18" charset="0"/>
                                        </a:rPr>
                                        <m:t>𝑑𝐵</m:t>
                                      </m:r>
                                    </m:sub>
                                  </m:sSub>
                                </m:den>
                              </m:f>
                            </m:e>
                          </m:d>
                        </m:e>
                        <m:sup>
                          <m:r>
                            <a:rPr lang="en-US" i="0">
                              <a:latin typeface="Cambria Math" panose="02040503050406030204" pitchFamily="18" charset="0"/>
                            </a:rPr>
                            <m:t>2</m:t>
                          </m:r>
                        </m:sup>
                      </m:sSup>
                      <m:r>
                        <a:rPr lang="en-US" b="0" i="0" smtClean="0">
                          <a:latin typeface="Cambria Math" panose="02040503050406030204" pitchFamily="18" charset="0"/>
                        </a:rPr>
                        <m:t>=−12</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0" smtClean="0">
                                      <a:latin typeface="Cambria Math" panose="02040503050406030204" pitchFamily="18" charset="0"/>
                                    </a:rPr>
                                    <m:t>2</m:t>
                                  </m:r>
                                </m:num>
                                <m:den>
                                  <m:r>
                                    <a:rPr lang="en-US" b="0" i="0" smtClean="0">
                                      <a:latin typeface="Cambria Math" panose="02040503050406030204" pitchFamily="18" charset="0"/>
                                    </a:rPr>
                                    <m:t>2</m:t>
                                  </m:r>
                                </m:den>
                              </m:f>
                            </m:e>
                          </m:d>
                        </m:e>
                        <m:sup>
                          <m:r>
                            <a:rPr lang="en-US" b="0" i="0" smtClean="0">
                              <a:latin typeface="Cambria Math" panose="02040503050406030204" pitchFamily="18" charset="0"/>
                            </a:rPr>
                            <m:t>2</m:t>
                          </m:r>
                        </m:sup>
                      </m:sSup>
                      <m:r>
                        <a:rPr lang="en-US" b="0" i="0" smtClean="0">
                          <a:latin typeface="Cambria Math" panose="02040503050406030204" pitchFamily="18" charset="0"/>
                        </a:rPr>
                        <m:t>=−12</m:t>
                      </m:r>
                      <m:r>
                        <a:rPr lang="en-US" i="0">
                          <a:latin typeface="Cambria Math" panose="02040503050406030204" pitchFamily="18" charset="0"/>
                        </a:rPr>
                        <m:t> </m:t>
                      </m:r>
                      <m:r>
                        <a:rPr lang="en-US" i="1">
                          <a:latin typeface="Cambria Math" panose="02040503050406030204" pitchFamily="18" charset="0"/>
                        </a:rPr>
                        <m:t>𝑑𝐵</m:t>
                      </m:r>
                    </m:oMath>
                  </m:oMathPara>
                </a14:m>
                <a:endParaRPr lang="en-US" dirty="0"/>
              </a:p>
            </p:txBody>
          </p:sp>
        </mc:Choice>
        <mc:Fallback xmlns="">
          <p:sp>
            <p:nvSpPr>
              <p:cNvPr id="10" name="TextBox 9">
                <a:extLst>
                  <a:ext uri="{FF2B5EF4-FFF2-40B4-BE49-F238E27FC236}">
                    <a16:creationId xmlns:a16="http://schemas.microsoft.com/office/drawing/2014/main" id="{ECA8E785-A94E-FDA2-A947-CD666F53104A}"/>
                  </a:ext>
                </a:extLst>
              </p:cNvPr>
              <p:cNvSpPr txBox="1">
                <a:spLocks noRot="1" noChangeAspect="1" noMove="1" noResize="1" noEditPoints="1" noAdjustHandles="1" noChangeArrowheads="1" noChangeShapeType="1" noTextEdit="1"/>
              </p:cNvSpPr>
              <p:nvPr/>
            </p:nvSpPr>
            <p:spPr>
              <a:xfrm>
                <a:off x="220473" y="2107951"/>
                <a:ext cx="4958752" cy="769378"/>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20976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F3A0D-B081-D569-F34C-5106FC7FC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DE3AE7-8814-9627-6623-E05A3E8827E2}"/>
              </a:ext>
            </a:extLst>
          </p:cNvPr>
          <p:cNvSpPr>
            <a:spLocks noGrp="1"/>
          </p:cNvSpPr>
          <p:nvPr>
            <p:ph type="title"/>
          </p:nvPr>
        </p:nvSpPr>
        <p:spPr/>
        <p:txBody>
          <a:bodyPr/>
          <a:lstStyle/>
          <a:p>
            <a:r>
              <a:rPr lang="en-US" dirty="0"/>
              <a:t>Satcom Example – Solution Part 3</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DC348C0-DADF-732E-C12F-EC0EFF855C1C}"/>
                  </a:ext>
                </a:extLst>
              </p:cNvPr>
              <p:cNvSpPr txBox="1"/>
              <p:nvPr/>
            </p:nvSpPr>
            <p:spPr>
              <a:xfrm>
                <a:off x="703847" y="950674"/>
                <a:ext cx="7736305" cy="657937"/>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n>
                                <a:noFill/>
                              </a:ln>
                              <a:latin typeface="Cambria Math" panose="02040503050406030204" pitchFamily="18" charset="0"/>
                            </a:rPr>
                          </m:ctrlPr>
                        </m:fPr>
                        <m:num>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𝐸</m:t>
                              </m:r>
                            </m:e>
                            <m:sub>
                              <m:r>
                                <a:rPr lang="en-US" b="0" i="1" smtClean="0">
                                  <a:ln>
                                    <a:noFill/>
                                  </a:ln>
                                  <a:latin typeface="Cambria Math" panose="02040503050406030204" pitchFamily="18" charset="0"/>
                                </a:rPr>
                                <m:t>𝑏</m:t>
                              </m:r>
                            </m:sub>
                          </m:sSub>
                        </m:num>
                        <m:den>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N</m:t>
                              </m:r>
                            </m:e>
                            <m:sub>
                              <m:r>
                                <a:rPr lang="en-US" b="0" i="0" smtClean="0">
                                  <a:ln>
                                    <a:noFill/>
                                  </a:ln>
                                  <a:latin typeface="Cambria Math" panose="02040503050406030204" pitchFamily="18" charset="0"/>
                                </a:rPr>
                                <m:t>0</m:t>
                              </m:r>
                            </m:sub>
                          </m:sSub>
                        </m:den>
                      </m:f>
                      <m:r>
                        <a:rPr lang="en-US" i="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P</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t</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l</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s</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m:t>
                          </m:r>
                        </m:e>
                        <m:sub>
                          <m:r>
                            <m:rPr>
                              <m:sty m:val="p"/>
                            </m:rPr>
                            <a:rPr lang="en-US" b="0" i="0" smtClean="0">
                              <a:ln>
                                <a:noFill/>
                              </a:ln>
                              <a:latin typeface="Cambria Math" panose="02040503050406030204" pitchFamily="18" charset="0"/>
                            </a:rPr>
                            <m:t>m</m:t>
                          </m:r>
                        </m:sub>
                      </m:sSub>
                      <m:r>
                        <a:rPr lang="en-US" b="0" i="0" smtClean="0">
                          <a:ln>
                            <a:noFill/>
                          </a:ln>
                          <a:latin typeface="Cambria Math" panose="02040503050406030204" pitchFamily="18" charset="0"/>
                        </a:rPr>
                        <m:t>+</m:t>
                      </m:r>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G</m:t>
                          </m:r>
                        </m:e>
                        <m:sub>
                          <m:r>
                            <m:rPr>
                              <m:sty m:val="p"/>
                            </m:rPr>
                            <a:rPr lang="en-US" b="0" i="0" smtClean="0">
                              <a:ln>
                                <a:noFill/>
                              </a:ln>
                              <a:latin typeface="Cambria Math" panose="02040503050406030204" pitchFamily="18" charset="0"/>
                            </a:rPr>
                            <m:t>r</m:t>
                          </m:r>
                        </m:sub>
                      </m:sSub>
                      <m:r>
                        <a:rPr lang="en-US" b="0" i="0" smtClean="0">
                          <a:ln>
                            <a:noFill/>
                          </a:ln>
                          <a:latin typeface="Cambria Math" panose="02040503050406030204" pitchFamily="18" charset="0"/>
                        </a:rPr>
                        <m:t>+228.6−10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𝑇</m:t>
                              </m:r>
                            </m:e>
                            <m:sub>
                              <m:r>
                                <a:rPr lang="en-US" b="0" i="1" smtClean="0">
                                  <a:ln>
                                    <a:noFill/>
                                  </a:ln>
                                  <a:latin typeface="Cambria Math" panose="02040503050406030204" pitchFamily="18" charset="0"/>
                                </a:rPr>
                                <m:t>𝑟</m:t>
                              </m:r>
                            </m:sub>
                          </m:sSub>
                        </m:e>
                      </m:func>
                      <m:r>
                        <a:rPr lang="en-US" b="0" i="1" smtClean="0">
                          <a:ln>
                            <a:noFill/>
                          </a:ln>
                          <a:latin typeface="Cambria Math" panose="02040503050406030204" pitchFamily="18" charset="0"/>
                        </a:rPr>
                        <m:t>−10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r>
                            <a:rPr lang="en-US" b="0" i="1" smtClean="0">
                              <a:ln>
                                <a:noFill/>
                              </a:ln>
                              <a:latin typeface="Cambria Math" panose="02040503050406030204" pitchFamily="18" charset="0"/>
                            </a:rPr>
                            <m:t>𝑅</m:t>
                          </m:r>
                        </m:e>
                      </m:func>
                    </m:oMath>
                  </m:oMathPara>
                </a14:m>
                <a:endParaRPr lang="en-US" dirty="0">
                  <a:ln>
                    <a:noFill/>
                  </a:ln>
                </a:endParaRPr>
              </a:p>
            </p:txBody>
          </p:sp>
        </mc:Choice>
        <mc:Fallback xmlns="">
          <p:sp>
            <p:nvSpPr>
              <p:cNvPr id="6" name="TextBox 5">
                <a:extLst>
                  <a:ext uri="{FF2B5EF4-FFF2-40B4-BE49-F238E27FC236}">
                    <a16:creationId xmlns:a16="http://schemas.microsoft.com/office/drawing/2014/main" id="{FDC348C0-DADF-732E-C12F-EC0EFF855C1C}"/>
                  </a:ext>
                </a:extLst>
              </p:cNvPr>
              <p:cNvSpPr txBox="1">
                <a:spLocks noRot="1" noChangeAspect="1" noMove="1" noResize="1" noEditPoints="1" noAdjustHandles="1" noChangeArrowheads="1" noChangeShapeType="1" noTextEdit="1"/>
              </p:cNvSpPr>
              <p:nvPr/>
            </p:nvSpPr>
            <p:spPr>
              <a:xfrm>
                <a:off x="703847" y="950674"/>
                <a:ext cx="7736305" cy="657937"/>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70A2CF0-69B4-84F9-5BBE-53576C2BB8EE}"/>
                  </a:ext>
                </a:extLst>
              </p:cNvPr>
              <p:cNvSpPr txBox="1"/>
              <p:nvPr/>
            </p:nvSpPr>
            <p:spPr>
              <a:xfrm>
                <a:off x="-228600" y="3894294"/>
                <a:ext cx="9601199" cy="65793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b="0" i="1" smtClean="0">
                              <a:ln>
                                <a:noFill/>
                              </a:ln>
                              <a:latin typeface="Cambria Math" panose="02040503050406030204" pitchFamily="18" charset="0"/>
                            </a:rPr>
                          </m:ctrlPr>
                        </m:fPr>
                        <m:num>
                          <m:sSub>
                            <m:sSubPr>
                              <m:ctrlPr>
                                <a:rPr lang="en-US" b="0" i="1" smtClean="0">
                                  <a:ln>
                                    <a:noFill/>
                                  </a:ln>
                                  <a:latin typeface="Cambria Math" panose="02040503050406030204" pitchFamily="18" charset="0"/>
                                </a:rPr>
                              </m:ctrlPr>
                            </m:sSubPr>
                            <m:e>
                              <m:r>
                                <a:rPr lang="en-US" b="0" i="1" smtClean="0">
                                  <a:ln>
                                    <a:noFill/>
                                  </a:ln>
                                  <a:latin typeface="Cambria Math" panose="02040503050406030204" pitchFamily="18" charset="0"/>
                                </a:rPr>
                                <m:t>𝐸</m:t>
                              </m:r>
                            </m:e>
                            <m:sub>
                              <m:r>
                                <a:rPr lang="en-US" b="0" i="1" smtClean="0">
                                  <a:ln>
                                    <a:noFill/>
                                  </a:ln>
                                  <a:latin typeface="Cambria Math" panose="02040503050406030204" pitchFamily="18" charset="0"/>
                                </a:rPr>
                                <m:t>𝑏</m:t>
                              </m:r>
                            </m:sub>
                          </m:sSub>
                        </m:num>
                        <m:den>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N</m:t>
                              </m:r>
                            </m:e>
                            <m:sub>
                              <m:r>
                                <a:rPr lang="en-US" b="0" i="0" smtClean="0">
                                  <a:ln>
                                    <a:noFill/>
                                  </a:ln>
                                  <a:latin typeface="Cambria Math" panose="02040503050406030204" pitchFamily="18" charset="0"/>
                                </a:rPr>
                                <m:t>0</m:t>
                              </m:r>
                            </m:sub>
                          </m:sSub>
                        </m:den>
                      </m:f>
                      <m:r>
                        <a:rPr lang="en-US" i="0">
                          <a:ln>
                            <a:noFill/>
                          </a:ln>
                          <a:latin typeface="Cambria Math" panose="02040503050406030204" pitchFamily="18" charset="0"/>
                        </a:rPr>
                        <m:t>=</m:t>
                      </m:r>
                      <m:r>
                        <a:rPr lang="en-US" b="0" i="1" smtClean="0">
                          <a:ln>
                            <a:noFill/>
                          </a:ln>
                          <a:latin typeface="Cambria Math" panose="02040503050406030204" pitchFamily="18" charset="0"/>
                        </a:rPr>
                        <m:t>10</m:t>
                      </m:r>
                      <m:r>
                        <a:rPr lang="en-US" b="0" i="0" smtClean="0">
                          <a:ln>
                            <a:noFill/>
                          </a:ln>
                          <a:latin typeface="Cambria Math" panose="02040503050406030204" pitchFamily="18" charset="0"/>
                        </a:rPr>
                        <m:t>+</m:t>
                      </m:r>
                      <m:r>
                        <a:rPr lang="en-US" b="0" i="1" smtClean="0">
                          <a:ln>
                            <a:noFill/>
                          </a:ln>
                          <a:latin typeface="Cambria Math" panose="02040503050406030204" pitchFamily="18" charset="0"/>
                        </a:rPr>
                        <m:t>11.5</m:t>
                      </m:r>
                      <m:r>
                        <a:rPr lang="en-US" b="0" i="0" smtClean="0">
                          <a:ln>
                            <a:noFill/>
                          </a:ln>
                          <a:latin typeface="Cambria Math" panose="02040503050406030204" pitchFamily="18" charset="0"/>
                        </a:rPr>
                        <m:t>−0.9</m:t>
                      </m:r>
                      <m:r>
                        <a:rPr lang="en-US" b="0" i="1" smtClean="0">
                          <a:ln>
                            <a:noFill/>
                          </a:ln>
                          <a:latin typeface="Cambria Math" panose="02040503050406030204" pitchFamily="18" charset="0"/>
                        </a:rPr>
                        <m:t>−</m:t>
                      </m:r>
                      <m:r>
                        <a:rPr lang="en-US" b="0" i="0" smtClean="0">
                          <a:ln>
                            <a:noFill/>
                          </a:ln>
                          <a:latin typeface="Cambria Math" panose="02040503050406030204" pitchFamily="18" charset="0"/>
                        </a:rPr>
                        <m:t>168.7</m:t>
                      </m:r>
                      <m:r>
                        <a:rPr lang="en-US" b="0" i="1" smtClean="0">
                          <a:ln>
                            <a:noFill/>
                          </a:ln>
                          <a:latin typeface="Cambria Math" panose="02040503050406030204" pitchFamily="18" charset="0"/>
                        </a:rPr>
                        <m:t>−27.98</m:t>
                      </m:r>
                      <m:r>
                        <a:rPr lang="en-US" b="0" i="0" smtClean="0">
                          <a:ln>
                            <a:noFill/>
                          </a:ln>
                          <a:latin typeface="Cambria Math" panose="02040503050406030204" pitchFamily="18" charset="0"/>
                        </a:rPr>
                        <m:t>+</m:t>
                      </m:r>
                      <m:r>
                        <a:rPr lang="en-US" b="0" i="1" smtClean="0">
                          <a:ln>
                            <a:noFill/>
                          </a:ln>
                          <a:latin typeface="Cambria Math" panose="02040503050406030204" pitchFamily="18" charset="0"/>
                        </a:rPr>
                        <m:t>39.77</m:t>
                      </m:r>
                      <m:r>
                        <a:rPr lang="en-US" b="0" i="0" smtClean="0">
                          <a:ln>
                            <a:noFill/>
                          </a:ln>
                          <a:latin typeface="Cambria Math" panose="02040503050406030204" pitchFamily="18" charset="0"/>
                        </a:rPr>
                        <m:t>+228.6−10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r>
                            <a:rPr lang="en-US" b="0" i="1" smtClean="0">
                              <a:ln>
                                <a:noFill/>
                              </a:ln>
                              <a:latin typeface="Cambria Math" panose="02040503050406030204" pitchFamily="18" charset="0"/>
                            </a:rPr>
                            <m:t>(313.15)</m:t>
                          </m:r>
                        </m:e>
                      </m:func>
                      <m:r>
                        <a:rPr lang="en-US" b="0" i="1" smtClean="0">
                          <a:ln>
                            <a:noFill/>
                          </a:ln>
                          <a:latin typeface="Cambria Math" panose="02040503050406030204" pitchFamily="18" charset="0"/>
                        </a:rPr>
                        <m:t>−10</m:t>
                      </m:r>
                      <m:func>
                        <m:funcPr>
                          <m:ctrlPr>
                            <a:rPr lang="en-US" b="0" i="1" smtClean="0">
                              <a:ln>
                                <a:noFill/>
                              </a:ln>
                              <a:latin typeface="Cambria Math" panose="02040503050406030204" pitchFamily="18" charset="0"/>
                            </a:rPr>
                          </m:ctrlPr>
                        </m:funcPr>
                        <m:fName>
                          <m:sSub>
                            <m:sSubPr>
                              <m:ctrlPr>
                                <a:rPr lang="en-US" b="0" i="1" smtClean="0">
                                  <a:ln>
                                    <a:noFill/>
                                  </a:ln>
                                  <a:latin typeface="Cambria Math" panose="02040503050406030204" pitchFamily="18" charset="0"/>
                                </a:rPr>
                              </m:ctrlPr>
                            </m:sSubPr>
                            <m:e>
                              <m:r>
                                <m:rPr>
                                  <m:sty m:val="p"/>
                                </m:rPr>
                                <a:rPr lang="en-US" b="0" i="0" smtClean="0">
                                  <a:ln>
                                    <a:noFill/>
                                  </a:ln>
                                  <a:latin typeface="Cambria Math" panose="02040503050406030204" pitchFamily="18" charset="0"/>
                                </a:rPr>
                                <m:t>log</m:t>
                              </m:r>
                            </m:e>
                            <m:sub>
                              <m:r>
                                <a:rPr lang="en-US" b="0" i="1" smtClean="0">
                                  <a:ln>
                                    <a:noFill/>
                                  </a:ln>
                                  <a:latin typeface="Cambria Math" panose="02040503050406030204" pitchFamily="18" charset="0"/>
                                </a:rPr>
                                <m:t>10</m:t>
                              </m:r>
                            </m:sub>
                          </m:sSub>
                        </m:fName>
                        <m:e>
                          <m:r>
                            <a:rPr lang="en-US" b="0" i="1" smtClean="0">
                              <a:ln>
                                <a:noFill/>
                              </a:ln>
                              <a:latin typeface="Cambria Math" panose="02040503050406030204" pitchFamily="18" charset="0"/>
                            </a:rPr>
                            <m:t>(2</m:t>
                          </m:r>
                          <m:r>
                            <a:rPr lang="en-US" b="0" i="1" smtClean="0">
                              <a:ln>
                                <a:noFill/>
                              </a:ln>
                              <a:latin typeface="Cambria Math" panose="02040503050406030204" pitchFamily="18" charset="0"/>
                            </a:rPr>
                            <m:t>𝐸</m:t>
                          </m:r>
                          <m:r>
                            <a:rPr lang="en-US" b="0" i="1" smtClean="0">
                              <a:ln>
                                <a:noFill/>
                              </a:ln>
                              <a:latin typeface="Cambria Math" panose="02040503050406030204" pitchFamily="18" charset="0"/>
                            </a:rPr>
                            <m:t>6)</m:t>
                          </m:r>
                        </m:e>
                      </m:func>
                    </m:oMath>
                  </m:oMathPara>
                </a14:m>
                <a:endParaRPr lang="en-US" b="0" i="1" dirty="0">
                  <a:ln>
                    <a:noFill/>
                  </a:ln>
                  <a:latin typeface="Cambria Math" panose="02040503050406030204" pitchFamily="18" charset="0"/>
                </a:endParaRPr>
              </a:p>
            </p:txBody>
          </p:sp>
        </mc:Choice>
        <mc:Fallback xmlns="">
          <p:sp>
            <p:nvSpPr>
              <p:cNvPr id="8" name="TextBox 7">
                <a:extLst>
                  <a:ext uri="{FF2B5EF4-FFF2-40B4-BE49-F238E27FC236}">
                    <a16:creationId xmlns:a16="http://schemas.microsoft.com/office/drawing/2014/main" id="{270A2CF0-69B4-84F9-5BBE-53576C2BB8EE}"/>
                  </a:ext>
                </a:extLst>
              </p:cNvPr>
              <p:cNvSpPr txBox="1">
                <a:spLocks noRot="1" noChangeAspect="1" noMove="1" noResize="1" noEditPoints="1" noAdjustHandles="1" noChangeArrowheads="1" noChangeShapeType="1" noTextEdit="1"/>
              </p:cNvSpPr>
              <p:nvPr/>
            </p:nvSpPr>
            <p:spPr>
              <a:xfrm>
                <a:off x="-228600" y="3894294"/>
                <a:ext cx="9601199" cy="65793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60121A0-0D47-19EA-D7CC-E1361F458A0D}"/>
                  </a:ext>
                </a:extLst>
              </p:cNvPr>
              <p:cNvSpPr txBox="1"/>
              <p:nvPr/>
            </p:nvSpPr>
            <p:spPr>
              <a:xfrm>
                <a:off x="592976" y="2978140"/>
                <a:ext cx="8434681" cy="6770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𝑟</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𝑝𝑎𝑟</m:t>
                          </m:r>
                        </m:sub>
                      </m:sSub>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𝑝𝑎𝑟</m:t>
                                      </m:r>
                                    </m:sub>
                                  </m:sSub>
                                </m:num>
                                <m:den>
                                  <m:r>
                                    <a:rPr lang="en-US" b="0" i="1" smtClean="0">
                                      <a:latin typeface="Cambria Math" panose="02040503050406030204" pitchFamily="18" charset="0"/>
                                    </a:rPr>
                                    <m:t>𝜆</m:t>
                                  </m:r>
                                </m:den>
                              </m:f>
                            </m:e>
                          </m:d>
                        </m:e>
                        <m:sup>
                          <m:r>
                            <a:rPr lang="en-US" b="0" i="1" smtClean="0">
                              <a:latin typeface="Cambria Math" panose="02040503050406030204" pitchFamily="18" charset="0"/>
                            </a:rPr>
                            <m:t>2</m:t>
                          </m:r>
                        </m:sup>
                      </m:sSup>
                      <m:r>
                        <a:rPr lang="en-US" b="0" i="1" smtClean="0">
                          <a:latin typeface="Cambria Math" panose="02040503050406030204" pitchFamily="18" charset="0"/>
                        </a:rPr>
                        <m:t>𝜂</m:t>
                      </m:r>
                      <m:r>
                        <a:rPr lang="en-US" b="0" i="1" smtClean="0">
                          <a:latin typeface="Cambria Math" panose="02040503050406030204" pitchFamily="18" charset="0"/>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𝜋</m:t>
                                  </m:r>
                                  <m:d>
                                    <m:dPr>
                                      <m:ctrlPr>
                                        <a:rPr lang="en-US" b="0" i="1" smtClean="0">
                                          <a:latin typeface="Cambria Math" panose="02040503050406030204" pitchFamily="18" charset="0"/>
                                        </a:rPr>
                                      </m:ctrlPr>
                                    </m:dPr>
                                    <m:e>
                                      <m:r>
                                        <a:rPr lang="en-US" b="0" i="1" smtClean="0">
                                          <a:latin typeface="Cambria Math" panose="02040503050406030204" pitchFamily="18" charset="0"/>
                                        </a:rPr>
                                        <m:t>3</m:t>
                                      </m:r>
                                    </m:e>
                                  </m:d>
                                </m:num>
                                <m:den>
                                  <m:r>
                                    <a:rPr lang="en-US" b="0" i="1" smtClean="0">
                                      <a:latin typeface="Cambria Math" panose="02040503050406030204" pitchFamily="18" charset="0"/>
                                    </a:rPr>
                                    <m:t>0.0749</m:t>
                                  </m:r>
                                </m:den>
                              </m:f>
                            </m:e>
                          </m:d>
                        </m:e>
                        <m:sup>
                          <m:r>
                            <a:rPr lang="en-US" i="1">
                              <a:latin typeface="Cambria Math" panose="02040503050406030204" pitchFamily="18" charset="0"/>
                            </a:rPr>
                            <m:t>2</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0.6</m:t>
                          </m:r>
                        </m:e>
                      </m:d>
                      <m:r>
                        <a:rPr lang="en-US" b="0" i="1" smtClean="0">
                          <a:latin typeface="Cambria Math" panose="02040503050406030204" pitchFamily="18" charset="0"/>
                        </a:rPr>
                        <m:t>=9.48</m:t>
                      </m:r>
                      <m:r>
                        <a:rPr lang="en-US" b="0" i="1" smtClean="0">
                          <a:latin typeface="Cambria Math" panose="02040503050406030204" pitchFamily="18" charset="0"/>
                        </a:rPr>
                        <m:t>𝐸</m:t>
                      </m:r>
                      <m:r>
                        <a:rPr lang="en-US" b="0" i="1" smtClean="0">
                          <a:latin typeface="Cambria Math" panose="02040503050406030204" pitchFamily="18" charset="0"/>
                        </a:rPr>
                        <m:t>3=10</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10</m:t>
                              </m:r>
                            </m:sub>
                          </m:sSub>
                        </m:fName>
                        <m:e>
                          <m:r>
                            <a:rPr lang="en-US" i="1">
                              <a:latin typeface="Cambria Math" panose="02040503050406030204" pitchFamily="18" charset="0"/>
                            </a:rPr>
                            <m:t>9.48</m:t>
                          </m:r>
                          <m:r>
                            <a:rPr lang="en-US" i="1">
                              <a:latin typeface="Cambria Math" panose="02040503050406030204" pitchFamily="18" charset="0"/>
                            </a:rPr>
                            <m:t>𝐸</m:t>
                          </m:r>
                          <m:r>
                            <a:rPr lang="en-US" i="1">
                              <a:latin typeface="Cambria Math" panose="02040503050406030204" pitchFamily="18" charset="0"/>
                            </a:rPr>
                            <m:t>3</m:t>
                          </m:r>
                        </m:e>
                      </m:func>
                      <m:r>
                        <a:rPr lang="en-US" b="0" i="1" smtClean="0">
                          <a:latin typeface="Cambria Math" panose="02040503050406030204" pitchFamily="18" charset="0"/>
                        </a:rPr>
                        <m:t>=39.77 </m:t>
                      </m:r>
                      <m:r>
                        <a:rPr lang="en-US" b="0" i="1" smtClean="0">
                          <a:latin typeface="Cambria Math" panose="02040503050406030204" pitchFamily="18" charset="0"/>
                        </a:rPr>
                        <m:t>𝑑𝐵</m:t>
                      </m:r>
                    </m:oMath>
                  </m:oMathPara>
                </a14:m>
                <a:endParaRPr lang="en-US" dirty="0"/>
              </a:p>
            </p:txBody>
          </p:sp>
        </mc:Choice>
        <mc:Fallback xmlns="">
          <p:sp>
            <p:nvSpPr>
              <p:cNvPr id="10" name="TextBox 9">
                <a:extLst>
                  <a:ext uri="{FF2B5EF4-FFF2-40B4-BE49-F238E27FC236}">
                    <a16:creationId xmlns:a16="http://schemas.microsoft.com/office/drawing/2014/main" id="{760121A0-0D47-19EA-D7CC-E1361F458A0D}"/>
                  </a:ext>
                </a:extLst>
              </p:cNvPr>
              <p:cNvSpPr txBox="1">
                <a:spLocks noRot="1" noChangeAspect="1" noMove="1" noResize="1" noEditPoints="1" noAdjustHandles="1" noChangeArrowheads="1" noChangeShapeType="1" noTextEdit="1"/>
              </p:cNvSpPr>
              <p:nvPr/>
            </p:nvSpPr>
            <p:spPr>
              <a:xfrm>
                <a:off x="592976" y="2978140"/>
                <a:ext cx="8434681" cy="67704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64A9ACB-5B7B-00FD-322D-CD7D3D11E3AA}"/>
                  </a:ext>
                </a:extLst>
              </p:cNvPr>
              <p:cNvSpPr txBox="1"/>
              <p:nvPr/>
            </p:nvSpPr>
            <p:spPr>
              <a:xfrm>
                <a:off x="1525005" y="1782485"/>
                <a:ext cx="609399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𝑟</m:t>
                          </m:r>
                        </m:sub>
                      </m:sSub>
                      <m:r>
                        <a:rPr lang="en-US" b="0" i="1" smtClean="0">
                          <a:latin typeface="Cambria Math" panose="02040503050406030204" pitchFamily="18" charset="0"/>
                        </a:rPr>
                        <m:t>=40</m:t>
                      </m:r>
                      <m:r>
                        <a:rPr lang="en-US" b="0" i="1" smtClean="0">
                          <a:latin typeface="Cambria Math" panose="02040503050406030204" pitchFamily="18" charset="0"/>
                          <a:ea typeface="Cambria Math" panose="02040503050406030204" pitchFamily="18" charset="0"/>
                        </a:rPr>
                        <m:t>℃+273.15=313.15</m:t>
                      </m:r>
                      <m:r>
                        <a:rPr lang="en-US" b="0" i="1" smtClean="0">
                          <a:latin typeface="Cambria Math" panose="02040503050406030204" pitchFamily="18" charset="0"/>
                          <a:ea typeface="Cambria Math" panose="02040503050406030204" pitchFamily="18" charset="0"/>
                        </a:rPr>
                        <m:t>𝐾</m:t>
                      </m:r>
                    </m:oMath>
                  </m:oMathPara>
                </a14:m>
                <a:endParaRPr lang="en-US" dirty="0"/>
              </a:p>
            </p:txBody>
          </p:sp>
        </mc:Choice>
        <mc:Fallback xmlns="">
          <p:sp>
            <p:nvSpPr>
              <p:cNvPr id="13" name="TextBox 12">
                <a:extLst>
                  <a:ext uri="{FF2B5EF4-FFF2-40B4-BE49-F238E27FC236}">
                    <a16:creationId xmlns:a16="http://schemas.microsoft.com/office/drawing/2014/main" id="{264A9ACB-5B7B-00FD-322D-CD7D3D11E3AA}"/>
                  </a:ext>
                </a:extLst>
              </p:cNvPr>
              <p:cNvSpPr txBox="1">
                <a:spLocks noRot="1" noChangeAspect="1" noMove="1" noResize="1" noEditPoints="1" noAdjustHandles="1" noChangeArrowheads="1" noChangeShapeType="1" noTextEdit="1"/>
              </p:cNvSpPr>
              <p:nvPr/>
            </p:nvSpPr>
            <p:spPr>
              <a:xfrm>
                <a:off x="1525005" y="1782485"/>
                <a:ext cx="6093994"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DC2E036-B905-5F00-26D7-15BCDA3C60BA}"/>
                  </a:ext>
                </a:extLst>
              </p:cNvPr>
              <p:cNvSpPr txBox="1"/>
              <p:nvPr/>
            </p:nvSpPr>
            <p:spPr>
              <a:xfrm>
                <a:off x="3497822" y="2334148"/>
                <a:ext cx="1600205"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=2</m:t>
                      </m:r>
                      <m:r>
                        <a:rPr lang="en-US" b="0" i="1" smtClean="0">
                          <a:latin typeface="Cambria Math" panose="02040503050406030204" pitchFamily="18" charset="0"/>
                        </a:rPr>
                        <m:t>𝐸</m:t>
                      </m:r>
                      <m:r>
                        <a:rPr lang="en-US" b="0" i="1" smtClean="0">
                          <a:latin typeface="Cambria Math" panose="02040503050406030204" pitchFamily="18" charset="0"/>
                        </a:rPr>
                        <m:t>6 </m:t>
                      </m:r>
                      <m:r>
                        <a:rPr lang="en-US" b="0" i="1" smtClean="0">
                          <a:latin typeface="Cambria Math" panose="02040503050406030204" pitchFamily="18" charset="0"/>
                        </a:rPr>
                        <m:t>𝑏𝑝𝑠</m:t>
                      </m:r>
                    </m:oMath>
                  </m:oMathPara>
                </a14:m>
                <a:endParaRPr lang="en-US" dirty="0"/>
              </a:p>
            </p:txBody>
          </p:sp>
        </mc:Choice>
        <mc:Fallback xmlns="">
          <p:sp>
            <p:nvSpPr>
              <p:cNvPr id="14" name="TextBox 13">
                <a:extLst>
                  <a:ext uri="{FF2B5EF4-FFF2-40B4-BE49-F238E27FC236}">
                    <a16:creationId xmlns:a16="http://schemas.microsoft.com/office/drawing/2014/main" id="{ADC2E036-B905-5F00-26D7-15BCDA3C60BA}"/>
                  </a:ext>
                </a:extLst>
              </p:cNvPr>
              <p:cNvSpPr txBox="1">
                <a:spLocks noRot="1" noChangeAspect="1" noMove="1" noResize="1" noEditPoints="1" noAdjustHandles="1" noChangeArrowheads="1" noChangeShapeType="1" noTextEdit="1"/>
              </p:cNvSpPr>
              <p:nvPr/>
            </p:nvSpPr>
            <p:spPr>
              <a:xfrm>
                <a:off x="3497822" y="2334148"/>
                <a:ext cx="1600205"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9FD488A-171D-B1E5-85BE-169E0F9B74BC}"/>
                  </a:ext>
                </a:extLst>
              </p:cNvPr>
              <p:cNvSpPr txBox="1"/>
              <p:nvPr/>
            </p:nvSpPr>
            <p:spPr>
              <a:xfrm>
                <a:off x="3622961" y="4711571"/>
                <a:ext cx="1898077" cy="369332"/>
              </a:xfrm>
              <a:prstGeom prst="rect">
                <a:avLst/>
              </a:prstGeom>
              <a:noFill/>
              <a:ln>
                <a:solidFill>
                  <a:srgbClr val="FF0000"/>
                </a:solidFill>
              </a:ln>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ln>
                            <a:noFill/>
                          </a:ln>
                          <a:latin typeface="Cambria Math" panose="02040503050406030204" pitchFamily="18" charset="0"/>
                        </a:rPr>
                        <m:t>=</m:t>
                      </m:r>
                      <m:r>
                        <a:rPr lang="en-US" b="1" i="1" smtClean="0">
                          <a:ln>
                            <a:noFill/>
                          </a:ln>
                          <a:latin typeface="Cambria Math" panose="02040503050406030204" pitchFamily="18" charset="0"/>
                        </a:rPr>
                        <m:t>𝟏𝟒</m:t>
                      </m:r>
                      <m:r>
                        <a:rPr lang="en-US" b="1" i="1" smtClean="0">
                          <a:ln>
                            <a:noFill/>
                          </a:ln>
                          <a:latin typeface="Cambria Math" panose="02040503050406030204" pitchFamily="18" charset="0"/>
                        </a:rPr>
                        <m:t>.</m:t>
                      </m:r>
                      <m:r>
                        <a:rPr lang="en-US" b="1" i="1" smtClean="0">
                          <a:ln>
                            <a:noFill/>
                          </a:ln>
                          <a:latin typeface="Cambria Math" panose="02040503050406030204" pitchFamily="18" charset="0"/>
                        </a:rPr>
                        <m:t>𝟑𝟎𝟖𝟓</m:t>
                      </m:r>
                      <m:r>
                        <a:rPr lang="en-US" b="1" i="1" smtClean="0">
                          <a:ln>
                            <a:noFill/>
                          </a:ln>
                          <a:latin typeface="Cambria Math" panose="02040503050406030204" pitchFamily="18" charset="0"/>
                        </a:rPr>
                        <m:t> </m:t>
                      </m:r>
                      <m:r>
                        <a:rPr lang="en-US" b="1" i="1" smtClean="0">
                          <a:ln>
                            <a:noFill/>
                          </a:ln>
                          <a:latin typeface="Cambria Math" panose="02040503050406030204" pitchFamily="18" charset="0"/>
                        </a:rPr>
                        <m:t>𝒅𝑩</m:t>
                      </m:r>
                    </m:oMath>
                  </m:oMathPara>
                </a14:m>
                <a:endParaRPr lang="en-US" b="1" dirty="0">
                  <a:ln>
                    <a:noFill/>
                  </a:ln>
                </a:endParaRPr>
              </a:p>
            </p:txBody>
          </p:sp>
        </mc:Choice>
        <mc:Fallback xmlns="">
          <p:sp>
            <p:nvSpPr>
              <p:cNvPr id="4" name="TextBox 3">
                <a:extLst>
                  <a:ext uri="{FF2B5EF4-FFF2-40B4-BE49-F238E27FC236}">
                    <a16:creationId xmlns:a16="http://schemas.microsoft.com/office/drawing/2014/main" id="{D9FD488A-171D-B1E5-85BE-169E0F9B74BC}"/>
                  </a:ext>
                </a:extLst>
              </p:cNvPr>
              <p:cNvSpPr txBox="1">
                <a:spLocks noRot="1" noChangeAspect="1" noMove="1" noResize="1" noEditPoints="1" noAdjustHandles="1" noChangeArrowheads="1" noChangeShapeType="1" noTextEdit="1"/>
              </p:cNvSpPr>
              <p:nvPr/>
            </p:nvSpPr>
            <p:spPr>
              <a:xfrm>
                <a:off x="3622961" y="4711571"/>
                <a:ext cx="1898077" cy="369332"/>
              </a:xfrm>
              <a:prstGeom prst="rect">
                <a:avLst/>
              </a:prstGeom>
              <a:blipFill>
                <a:blip r:embed="rId8"/>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B777E58-E151-A176-E435-A41CBAC223E9}"/>
                  </a:ext>
                </a:extLst>
              </p:cNvPr>
              <p:cNvSpPr txBox="1"/>
              <p:nvPr/>
            </p:nvSpPr>
            <p:spPr>
              <a:xfrm>
                <a:off x="473617" y="5307161"/>
                <a:ext cx="8288033" cy="1200329"/>
              </a:xfrm>
              <a:prstGeom prst="rect">
                <a:avLst/>
              </a:prstGeom>
              <a:noFill/>
            </p:spPr>
            <p:txBody>
              <a:bodyPr wrap="square">
                <a:spAutoFit/>
              </a:bodyPr>
              <a:lstStyle/>
              <a:p>
                <a:r>
                  <a:rPr lang="en-US" b="1" dirty="0"/>
                  <a:t>This is Good.</a:t>
                </a:r>
                <a:r>
                  <a:rPr lang="en-US" dirty="0"/>
                  <a:t> ~14 dB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𝐸</m:t>
                        </m:r>
                      </m:e>
                      <m:sub>
                        <m:r>
                          <a:rPr lang="ar-AE" i="1">
                            <a:latin typeface="Cambria Math" panose="02040503050406030204" pitchFamily="18" charset="0"/>
                          </a:rPr>
                          <m:t>𝑏</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𝑁</m:t>
                        </m:r>
                      </m:e>
                      <m:sub>
                        <m:r>
                          <a:rPr lang="ar-AE">
                            <a:latin typeface="Cambria Math" panose="02040503050406030204" pitchFamily="18" charset="0"/>
                          </a:rPr>
                          <m:t>0</m:t>
                        </m:r>
                      </m:sub>
                    </m:sSub>
                  </m:oMath>
                </a14:m>
                <a:r>
                  <a:rPr lang="en-US" dirty="0"/>
                  <a:t>comfortably supports BPSK/QPSK with coding (typical needs are ~3–12 dB for low BER). There is margin for some implementation losses.</a:t>
                </a:r>
              </a:p>
              <a:p>
                <a:endParaRPr lang="en-US" b="1" dirty="0"/>
              </a:p>
              <a:p>
                <a:r>
                  <a:rPr lang="en-US" b="1" dirty="0"/>
                  <a:t>Rain is not a concern.</a:t>
                </a:r>
                <a:endParaRPr lang="en-US" sz="1800" b="1" dirty="0">
                  <a:solidFill>
                    <a:srgbClr val="00B0F0"/>
                  </a:solidFill>
                </a:endParaRPr>
              </a:p>
            </p:txBody>
          </p:sp>
        </mc:Choice>
        <mc:Fallback xmlns="">
          <p:sp>
            <p:nvSpPr>
              <p:cNvPr id="7" name="TextBox 6">
                <a:extLst>
                  <a:ext uri="{FF2B5EF4-FFF2-40B4-BE49-F238E27FC236}">
                    <a16:creationId xmlns:a16="http://schemas.microsoft.com/office/drawing/2014/main" id="{3B777E58-E151-A176-E435-A41CBAC223E9}"/>
                  </a:ext>
                </a:extLst>
              </p:cNvPr>
              <p:cNvSpPr txBox="1">
                <a:spLocks noRot="1" noChangeAspect="1" noMove="1" noResize="1" noEditPoints="1" noAdjustHandles="1" noChangeArrowheads="1" noChangeShapeType="1" noTextEdit="1"/>
              </p:cNvSpPr>
              <p:nvPr/>
            </p:nvSpPr>
            <p:spPr>
              <a:xfrm>
                <a:off x="473617" y="5307161"/>
                <a:ext cx="8288033" cy="1200329"/>
              </a:xfrm>
              <a:prstGeom prst="rect">
                <a:avLst/>
              </a:prstGeom>
              <a:blipFill>
                <a:blip r:embed="rId9"/>
                <a:stretch>
                  <a:fillRect l="-662" t="-2538" b="-7614"/>
                </a:stretch>
              </a:blipFill>
            </p:spPr>
            <p:txBody>
              <a:bodyPr/>
              <a:lstStyle/>
              <a:p>
                <a:r>
                  <a:rPr lang="en-US">
                    <a:noFill/>
                  </a:rPr>
                  <a:t> </a:t>
                </a:r>
              </a:p>
            </p:txBody>
          </p:sp>
        </mc:Fallback>
      </mc:AlternateContent>
    </p:spTree>
    <p:extLst>
      <p:ext uri="{BB962C8B-B14F-4D97-AF65-F5344CB8AC3E}">
        <p14:creationId xmlns:p14="http://schemas.microsoft.com/office/powerpoint/2010/main" val="1453906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A94377-2379-45BC-BD3C-FDC7FC61A531}"/>
              </a:ext>
            </a:extLst>
          </p:cNvPr>
          <p:cNvSpPr>
            <a:spLocks noGrp="1"/>
          </p:cNvSpPr>
          <p:nvPr>
            <p:ph type="title"/>
          </p:nvPr>
        </p:nvSpPr>
        <p:spPr/>
        <p:txBody>
          <a:bodyPr/>
          <a:lstStyle/>
          <a:p>
            <a:r>
              <a:rPr lang="en-US" dirty="0"/>
              <a:t>Extra Topics</a:t>
            </a:r>
          </a:p>
        </p:txBody>
      </p:sp>
      <p:sp>
        <p:nvSpPr>
          <p:cNvPr id="4" name="Slide Number Placeholder 3">
            <a:extLst>
              <a:ext uri="{FF2B5EF4-FFF2-40B4-BE49-F238E27FC236}">
                <a16:creationId xmlns:a16="http://schemas.microsoft.com/office/drawing/2014/main" id="{AB21B5ED-9576-3177-629A-8F15CB082E25}"/>
              </a:ext>
            </a:extLst>
          </p:cNvPr>
          <p:cNvSpPr>
            <a:spLocks noGrp="1"/>
          </p:cNvSpPr>
          <p:nvPr>
            <p:ph type="sldNum" sz="quarter" idx="12"/>
          </p:nvPr>
        </p:nvSpPr>
        <p:spPr/>
        <p:txBody>
          <a:bodyPr/>
          <a:lstStyle/>
          <a:p>
            <a:fld id="{9A3029B7-FE6B-4680-9049-80E8298A0825}" type="slidenum">
              <a:rPr lang="en-US" smtClean="0"/>
              <a:t>32</a:t>
            </a:fld>
            <a:endParaRPr lang="en-US"/>
          </a:p>
        </p:txBody>
      </p:sp>
    </p:spTree>
    <p:extLst>
      <p:ext uri="{BB962C8B-B14F-4D97-AF65-F5344CB8AC3E}">
        <p14:creationId xmlns:p14="http://schemas.microsoft.com/office/powerpoint/2010/main" val="30777010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A0812-5168-9AF1-4AFB-6B8DC3A124EA}"/>
              </a:ext>
            </a:extLst>
          </p:cNvPr>
          <p:cNvSpPr>
            <a:spLocks noGrp="1"/>
          </p:cNvSpPr>
          <p:nvPr>
            <p:ph type="title"/>
          </p:nvPr>
        </p:nvSpPr>
        <p:spPr/>
        <p:txBody>
          <a:bodyPr/>
          <a:lstStyle/>
          <a:p>
            <a:r>
              <a:rPr lang="en-US" dirty="0"/>
              <a:t>Shannon Limit</a:t>
            </a:r>
          </a:p>
        </p:txBody>
      </p:sp>
      <p:sp>
        <p:nvSpPr>
          <p:cNvPr id="4" name="Slide Number Placeholder 3">
            <a:extLst>
              <a:ext uri="{FF2B5EF4-FFF2-40B4-BE49-F238E27FC236}">
                <a16:creationId xmlns:a16="http://schemas.microsoft.com/office/drawing/2014/main" id="{F06AE623-1796-2ED3-D324-9E7EC19E9018}"/>
              </a:ext>
            </a:extLst>
          </p:cNvPr>
          <p:cNvSpPr>
            <a:spLocks noGrp="1"/>
          </p:cNvSpPr>
          <p:nvPr>
            <p:ph type="sldNum" sz="quarter" idx="12"/>
          </p:nvPr>
        </p:nvSpPr>
        <p:spPr/>
        <p:txBody>
          <a:bodyPr/>
          <a:lstStyle/>
          <a:p>
            <a:fld id="{9A3029B7-FE6B-4680-9049-80E8298A0825}" type="slidenum">
              <a:rPr lang="en-US" smtClean="0"/>
              <a:t>33</a:t>
            </a:fld>
            <a:endParaRPr lang="en-US"/>
          </a:p>
        </p:txBody>
      </p:sp>
    </p:spTree>
    <p:extLst>
      <p:ext uri="{BB962C8B-B14F-4D97-AF65-F5344CB8AC3E}">
        <p14:creationId xmlns:p14="http://schemas.microsoft.com/office/powerpoint/2010/main" val="21602822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96DB7C-76B3-472D-8F6F-C8E69FE568F8}">
  <ds:schemaRefs>
    <ds:schemaRef ds:uri="http://schemas.microsoft.com/office/2006/documentManagement/types"/>
    <ds:schemaRef ds:uri="http://purl.org/dc/terms/"/>
    <ds:schemaRef ds:uri="http://www.w3.org/XML/1998/namespace"/>
    <ds:schemaRef ds:uri="c2d23aaa-6876-4856-882c-18271699c7a8"/>
    <ds:schemaRef ds:uri="http://schemas.microsoft.com/office/2006/metadata/properties"/>
    <ds:schemaRef ds:uri="http://schemas.openxmlformats.org/package/2006/metadata/core-properties"/>
    <ds:schemaRef ds:uri="http://schemas.microsoft.com/office/infopath/2007/PartnerControls"/>
    <ds:schemaRef ds:uri="http://purl.org/dc/dcmitype/"/>
    <ds:schemaRef ds:uri="http://purl.org/dc/elements/1.1/"/>
    <ds:schemaRef ds:uri="http://schemas.microsoft.com/sharepoint/v3"/>
    <ds:schemaRef ds:uri="723aa48c-73f2-40da-86b1-f1ae286477fe"/>
    <ds:schemaRef ds:uri="7584c457-6b5a-4caa-be47-be979cbe6555"/>
  </ds:schemaRefs>
</ds:datastoreItem>
</file>

<file path=customXml/itemProps2.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3.xml><?xml version="1.0" encoding="utf-8"?>
<ds:datastoreItem xmlns:ds="http://schemas.openxmlformats.org/officeDocument/2006/customXml" ds:itemID="{41C20274-8C4A-4527-8DFF-63467A2038A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27017</TotalTime>
  <Words>5177</Words>
  <Application>Microsoft Office PowerPoint</Application>
  <PresentationFormat>Letter Paper (8.5x11 in)</PresentationFormat>
  <Paragraphs>576</Paragraphs>
  <Slides>33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Aptos</vt:lpstr>
      <vt:lpstr>Arial</vt:lpstr>
      <vt:lpstr>Calibri</vt:lpstr>
      <vt:lpstr>Cambria Math</vt:lpstr>
      <vt:lpstr>Segoe UI</vt:lpstr>
      <vt:lpstr>Times New Roman</vt:lpstr>
      <vt:lpstr>Wingdings</vt:lpstr>
      <vt:lpstr>Office Theme</vt:lpstr>
      <vt:lpstr>Lesson 8</vt:lpstr>
      <vt:lpstr>What satellite is this?</vt:lpstr>
      <vt:lpstr>Satellite Communication (Satcom)</vt:lpstr>
      <vt:lpstr>Satcom Parameters</vt:lpstr>
      <vt:lpstr>Electromagnetic Spectrum</vt:lpstr>
      <vt:lpstr>Atmospheric Windows</vt:lpstr>
      <vt:lpstr>Radio Frequencies</vt:lpstr>
      <vt:lpstr>US RF Allocation</vt:lpstr>
      <vt:lpstr>Modulation</vt:lpstr>
      <vt:lpstr>Link Budget</vt:lpstr>
      <vt:lpstr>Decibels</vt:lpstr>
      <vt:lpstr>Eb/N0 (linear units)</vt:lpstr>
      <vt:lpstr>Eb/No (Decibels)</vt:lpstr>
      <vt:lpstr>Bit Error Rate</vt:lpstr>
      <vt:lpstr>Free Space Path Loss, Ls </vt:lpstr>
      <vt:lpstr>Antenna Gain</vt:lpstr>
      <vt:lpstr>Common Antennas for SATCOM</vt:lpstr>
      <vt:lpstr>Antenna Beamwidth</vt:lpstr>
      <vt:lpstr>Antenna Polarization</vt:lpstr>
      <vt:lpstr>Miscellaneous Losses, Lm </vt:lpstr>
      <vt:lpstr>Antenna Pointing Loss, Lpt</vt:lpstr>
      <vt:lpstr>Polarization Mismatch Loss, Lpol </vt:lpstr>
      <vt:lpstr>Atmospherics Losses, Latm </vt:lpstr>
      <vt:lpstr>Rain Losses</vt:lpstr>
      <vt:lpstr>Effective Isotropic Radiated Power (EIRP)</vt:lpstr>
      <vt:lpstr>Received Signal Strength Indicator (RSSI)</vt:lpstr>
      <vt:lpstr>Free Space Optical Communications (FSO)</vt:lpstr>
      <vt:lpstr>Satcom Example</vt:lpstr>
      <vt:lpstr>Satcom Example – Solution Part 1</vt:lpstr>
      <vt:lpstr>Satcom Example – Solution Part 2</vt:lpstr>
      <vt:lpstr>Satcom Example – Solution Part 3</vt:lpstr>
      <vt:lpstr>Extra Topics</vt:lpstr>
      <vt:lpstr>Shannon Limit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4</cp:revision>
  <cp:lastPrinted>2025-08-01T16:37:26Z</cp:lastPrinted>
  <dcterms:created xsi:type="dcterms:W3CDTF">2025-07-17T17:53:42Z</dcterms:created>
  <dcterms:modified xsi:type="dcterms:W3CDTF">2026-02-04T18:58:54Z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