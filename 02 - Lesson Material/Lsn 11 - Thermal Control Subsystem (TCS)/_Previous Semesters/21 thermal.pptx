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38"/>
  </p:handoutMasterIdLst>
  <p:sldIdLst>
    <p:sldId id="258" r:id="rId5"/>
    <p:sldId id="309" r:id="rId6"/>
    <p:sldId id="320" r:id="rId7"/>
    <p:sldId id="300" r:id="rId8"/>
    <p:sldId id="303" r:id="rId9"/>
    <p:sldId id="321" r:id="rId10"/>
    <p:sldId id="312" r:id="rId11"/>
    <p:sldId id="322" r:id="rId12"/>
    <p:sldId id="323" r:id="rId13"/>
    <p:sldId id="310" r:id="rId14"/>
    <p:sldId id="324" r:id="rId15"/>
    <p:sldId id="306" r:id="rId16"/>
    <p:sldId id="308" r:id="rId17"/>
    <p:sldId id="325" r:id="rId18"/>
    <p:sldId id="313" r:id="rId19"/>
    <p:sldId id="315" r:id="rId20"/>
    <p:sldId id="326" r:id="rId21"/>
    <p:sldId id="314" r:id="rId22"/>
    <p:sldId id="316" r:id="rId23"/>
    <p:sldId id="317" r:id="rId24"/>
    <p:sldId id="327" r:id="rId25"/>
    <p:sldId id="318" r:id="rId26"/>
    <p:sldId id="328" r:id="rId27"/>
    <p:sldId id="331" r:id="rId28"/>
    <p:sldId id="332" r:id="rId29"/>
    <p:sldId id="333" r:id="rId30"/>
    <p:sldId id="329" r:id="rId31"/>
    <p:sldId id="330" r:id="rId32"/>
    <p:sldId id="319" r:id="rId33"/>
    <p:sldId id="334" r:id="rId34"/>
    <p:sldId id="335" r:id="rId35"/>
    <p:sldId id="336" r:id="rId36"/>
    <p:sldId id="337" r:id="rId37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3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Firth" userId="9668160b-358f-46f6-8d41-76c7cc813d9a" providerId="ADAL" clId="{08405C72-B3CB-47BE-A6C4-DCE622DFEA20}"/>
    <pc:docChg chg="modSld">
      <pc:chgData name="Jordan Firth" userId="9668160b-358f-46f6-8d41-76c7cc813d9a" providerId="ADAL" clId="{08405C72-B3CB-47BE-A6C4-DCE622DFEA20}" dt="2023-03-13T15:17:59.508" v="2" actId="20577"/>
      <pc:docMkLst>
        <pc:docMk/>
      </pc:docMkLst>
      <pc:sldChg chg="modSp">
        <pc:chgData name="Jordan Firth" userId="9668160b-358f-46f6-8d41-76c7cc813d9a" providerId="ADAL" clId="{08405C72-B3CB-47BE-A6C4-DCE622DFEA20}" dt="2023-03-13T15:17:59.508" v="2" actId="20577"/>
        <pc:sldMkLst>
          <pc:docMk/>
          <pc:sldMk cId="1321450072" sldId="258"/>
        </pc:sldMkLst>
        <pc:spChg chg="mod">
          <ac:chgData name="Jordan Firth" userId="9668160b-358f-46f6-8d41-76c7cc813d9a" providerId="ADAL" clId="{08405C72-B3CB-47BE-A6C4-DCE622DFEA20}" dt="2023-03-13T15:17:59.508" v="2" actId="20577"/>
          <ac:spMkLst>
            <pc:docMk/>
            <pc:sldMk cId="1321450072" sldId="258"/>
            <ac:spMk id="4" creationId="{00000000-0000-0000-0000-000000000000}"/>
          </ac:spMkLst>
        </pc:spChg>
      </pc:sldChg>
    </pc:docChg>
  </pc:docChgLst>
  <pc:docChgLst>
    <pc:chgData name="Patel, Ethan S C2C USAF USAFA CW/CS14" userId="S::c23ethan.patel@afacademy.af.edu::73a69d87-cee0-45a4-8629-ceff843f9a20" providerId="AD" clId="Web-{E15070BD-9FEA-7995-C7EF-4A45BB9A2464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2023-03-13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Astro 331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Thermal Control Subsystem (TCS)</a:t>
            </a:r>
          </a:p>
          <a:p>
            <a:pPr marL="0" indent="0" algn="ctr">
              <a:buNone/>
            </a:pPr>
            <a:r>
              <a:rPr lang="en-US" sz="3200" dirty="0"/>
              <a:t>SMAD </a:t>
            </a:r>
            <a:r>
              <a:rPr lang="en-US" sz="3200" dirty="0" err="1"/>
              <a:t>Ch</a:t>
            </a:r>
            <a:r>
              <a:rPr lang="en-US" sz="3200"/>
              <a:t> 11.5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04051"/>
          </a:xfrm>
        </p:spPr>
        <p:txBody>
          <a:bodyPr>
            <a:normAutofit fontScale="92500" lnSpcReduction="10000"/>
          </a:bodyPr>
          <a:lstStyle/>
          <a:p>
            <a:pPr lvl="0" fontAlgn="base"/>
            <a:r>
              <a:rPr lang="en-US"/>
              <a:t>Explain spacecraft thermal control functions</a:t>
            </a:r>
          </a:p>
          <a:p>
            <a:pPr lvl="0" fontAlgn="base"/>
            <a:r>
              <a:rPr lang="en-US"/>
              <a:t>List and describe the sources of heat on a spacecraft and when they apply</a:t>
            </a:r>
          </a:p>
          <a:p>
            <a:pPr lvl="0" fontAlgn="base"/>
            <a:r>
              <a:rPr lang="en-US"/>
              <a:t>Describe reflectivity, absorptivity, transmissivity, and emissivity</a:t>
            </a:r>
          </a:p>
          <a:p>
            <a:pPr lvl="0" fontAlgn="base"/>
            <a:r>
              <a:rPr lang="en-US"/>
              <a:t>List and describe methods of spacecraft thermal control and distinguish between passive and active approaches</a:t>
            </a:r>
          </a:p>
          <a:p>
            <a:pPr lvl="0" fontAlgn="base"/>
            <a:r>
              <a:rPr lang="en-US"/>
              <a:t>Identify conditions which lead to spacecraft worst case hot and worst case cold equilibrium temperatures</a:t>
            </a:r>
          </a:p>
          <a:p>
            <a:pPr lvl="0" fontAlgn="base"/>
            <a:r>
              <a:rPr lang="en-US"/>
              <a:t>Calculate equilibrium temperatures for spacecraft</a:t>
            </a:r>
          </a:p>
        </p:txBody>
      </p:sp>
    </p:spTree>
    <p:extLst>
      <p:ext uri="{BB962C8B-B14F-4D97-AF65-F5344CB8AC3E}">
        <p14:creationId xmlns:p14="http://schemas.microsoft.com/office/powerpoint/2010/main" val="112735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TCS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13140"/>
            <a:ext cx="7886700" cy="4735902"/>
          </a:xfrm>
        </p:spPr>
        <p:txBody>
          <a:bodyPr>
            <a:normAutofit fontScale="92500" lnSpcReduction="10000"/>
          </a:bodyPr>
          <a:lstStyle/>
          <a:p>
            <a:pPr lvl="0" fontAlgn="base"/>
            <a:r>
              <a:rPr lang="en-US" dirty="0"/>
              <a:t>Maintain all S/C components w/i their required temperature limits during all mission phases</a:t>
            </a:r>
            <a:endParaRPr lang="en-US" sz="2400" dirty="0"/>
          </a:p>
          <a:p>
            <a:pPr lvl="1" fontAlgn="base"/>
            <a:r>
              <a:rPr lang="en-US" dirty="0"/>
              <a:t>Cold temp that a component must not go below</a:t>
            </a:r>
          </a:p>
          <a:p>
            <a:pPr lvl="1" fontAlgn="base"/>
            <a:r>
              <a:rPr lang="en-US" dirty="0"/>
              <a:t>Hot temp that a component must not go above</a:t>
            </a:r>
          </a:p>
          <a:p>
            <a:endParaRPr lang="en-US" dirty="0"/>
          </a:p>
          <a:p>
            <a:r>
              <a:rPr lang="en-US" dirty="0"/>
              <a:t>Relevant temps: </a:t>
            </a:r>
            <a:endParaRPr lang="en-US" sz="2400" dirty="0"/>
          </a:p>
          <a:p>
            <a:pPr lvl="1" fontAlgn="base"/>
            <a:r>
              <a:rPr lang="en-US" dirty="0"/>
              <a:t>Operating limits: component must remain within these temperature ranges while operating</a:t>
            </a:r>
            <a:endParaRPr lang="en-US" sz="2000" dirty="0"/>
          </a:p>
          <a:p>
            <a:pPr lvl="2" fontAlgn="base"/>
            <a:r>
              <a:rPr lang="en-US" dirty="0"/>
              <a:t>if operational limits are exceeded, equipment could display out-of-tolerance behavior</a:t>
            </a:r>
            <a:endParaRPr lang="en-US" sz="1800" dirty="0"/>
          </a:p>
          <a:p>
            <a:pPr lvl="1" fontAlgn="base"/>
            <a:r>
              <a:rPr lang="en-US" dirty="0"/>
              <a:t>Survival limits: component must remain within these temperature ranges at all times, even when not powered</a:t>
            </a:r>
            <a:endParaRPr lang="en-US" sz="2000" dirty="0"/>
          </a:p>
          <a:p>
            <a:pPr lvl="2" fontAlgn="base"/>
            <a:r>
              <a:rPr lang="en-US" dirty="0"/>
              <a:t>if survival limits are exceeded, component could suffer permanent damage and potentially not turn on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05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003" y="12561"/>
            <a:ext cx="5980619" cy="6359289"/>
          </a:xfrm>
          <a:prstGeom prst="rect">
            <a:avLst/>
          </a:prstGeom>
        </p:spPr>
      </p:pic>
      <p:sp>
        <p:nvSpPr>
          <p:cNvPr id="3" name="Rectangle 72"/>
          <p:cNvSpPr>
            <a:spLocks/>
          </p:cNvSpPr>
          <p:nvPr/>
        </p:nvSpPr>
        <p:spPr bwMode="auto">
          <a:xfrm>
            <a:off x="1989469" y="6371850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Adapted from Designing Space Missions and Systems, Table 11-42</a:t>
            </a:r>
          </a:p>
        </p:txBody>
      </p:sp>
    </p:spTree>
    <p:extLst>
      <p:ext uri="{BB962C8B-B14F-4D97-AF65-F5344CB8AC3E}">
        <p14:creationId xmlns:p14="http://schemas.microsoft.com/office/powerpoint/2010/main" val="378228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774" y="249623"/>
            <a:ext cx="7886700" cy="1325563"/>
          </a:xfrm>
        </p:spPr>
        <p:txBody>
          <a:bodyPr/>
          <a:lstStyle/>
          <a:p>
            <a:r>
              <a:rPr lang="en-US" sz="3600"/>
              <a:t>Thermal Radiation Environment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" y="1337910"/>
            <a:ext cx="8956140" cy="502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4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 of Heat on a S/C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fontAlgn="base"/>
            <a:r>
              <a:rPr lang="en-US" dirty="0"/>
              <a:t>Direct Solar:  </a:t>
            </a:r>
          </a:p>
          <a:p>
            <a:pPr lvl="1"/>
            <a:r>
              <a:rPr lang="en-US" dirty="0"/>
              <a:t>Varies with 1/r</a:t>
            </a:r>
            <a:r>
              <a:rPr lang="en-US" baseline="30000" dirty="0"/>
              <a:t>2</a:t>
            </a:r>
            <a:r>
              <a:rPr lang="en-US" dirty="0"/>
              <a:t> with distance from Sun</a:t>
            </a:r>
          </a:p>
          <a:p>
            <a:pPr lvl="1"/>
            <a:r>
              <a:rPr lang="en-US" dirty="0"/>
              <a:t>base value (1367 W/m</a:t>
            </a:r>
            <a:r>
              <a:rPr lang="en-US" baseline="30000" dirty="0"/>
              <a:t>2</a:t>
            </a:r>
            <a:r>
              <a:rPr lang="en-US" dirty="0"/>
              <a:t>) is same as solar flux for solar array </a:t>
            </a:r>
            <a:r>
              <a:rPr lang="en-US" dirty="0" err="1"/>
              <a:t>calcs</a:t>
            </a:r>
            <a:endParaRPr lang="en-US" dirty="0"/>
          </a:p>
          <a:p>
            <a:pPr lvl="0" fontAlgn="base"/>
            <a:r>
              <a:rPr lang="en-US" dirty="0"/>
              <a:t>Albedo:  solar energy reflected off surface of Earth</a:t>
            </a:r>
          </a:p>
          <a:p>
            <a:pPr lvl="1"/>
            <a:r>
              <a:rPr lang="en-US" dirty="0"/>
              <a:t>depends on reflective properties of particular part of Earth</a:t>
            </a:r>
          </a:p>
          <a:p>
            <a:pPr lvl="1"/>
            <a:r>
              <a:rPr lang="en-US" dirty="0"/>
              <a:t>because there tend to be more snow/ice near poles, they tend to have a higher reflectivity</a:t>
            </a:r>
          </a:p>
          <a:p>
            <a:pPr lvl="0" fontAlgn="base"/>
            <a:r>
              <a:rPr lang="en-US" dirty="0"/>
              <a:t>Earth IR:  thermal energy originating from Earth </a:t>
            </a:r>
          </a:p>
          <a:p>
            <a:pPr lvl="1" fontAlgn="base"/>
            <a:r>
              <a:rPr lang="en-US" dirty="0"/>
              <a:t>Tends to emit more radiation closer to equator and less at poles</a:t>
            </a:r>
          </a:p>
          <a:p>
            <a:pPr lvl="0" fontAlgn="base"/>
            <a:r>
              <a:rPr lang="en-US" dirty="0"/>
              <a:t>Internal Heat generation onboard S/C</a:t>
            </a:r>
          </a:p>
          <a:p>
            <a:pPr lvl="1"/>
            <a:r>
              <a:rPr lang="en-US" dirty="0"/>
              <a:t>Upper limit is total S/C power excluding that which is transmitted (</a:t>
            </a:r>
            <a:r>
              <a:rPr lang="en-US" dirty="0" err="1"/>
              <a:t>ie</a:t>
            </a:r>
            <a:r>
              <a:rPr lang="en-US" dirty="0"/>
              <a:t> communications)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272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193413" y="1068404"/>
            <a:ext cx="8865513" cy="465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of Heat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ways to move heat</a:t>
            </a:r>
          </a:p>
          <a:p>
            <a:pPr lvl="1" fontAlgn="base"/>
            <a:r>
              <a:rPr lang="en-US"/>
              <a:t>Conduction*:  thermal power transfer through matter in absence of fluid motion</a:t>
            </a:r>
          </a:p>
          <a:p>
            <a:pPr lvl="1" fontAlgn="base"/>
            <a:r>
              <a:rPr lang="en-US"/>
              <a:t>Convection*:  thermal power transfer btw flowing fluid and a solid surface</a:t>
            </a:r>
          </a:p>
          <a:p>
            <a:pPr lvl="1" fontAlgn="base"/>
            <a:r>
              <a:rPr lang="en-US"/>
              <a:t>Radiation:  thermal power transfer via electromagnetic waves</a:t>
            </a:r>
          </a:p>
          <a:p>
            <a:pPr marL="457200" lvl="1" indent="0" fontAlgn="base">
              <a:buNone/>
            </a:pPr>
            <a:endParaRPr lang="en-US"/>
          </a:p>
          <a:p>
            <a:pPr marL="457200" lvl="1" indent="0" fontAlgn="base">
              <a:buNone/>
            </a:pPr>
            <a:r>
              <a:rPr lang="en-US"/>
              <a:t>*Can move heat around S/C, but not outside of S/C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66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Emission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All bodies above absolute zero Kelvin emit according to Stefan-Boltzmann </a:t>
                </a:r>
                <a:r>
                  <a:rPr lang="en-US" err="1"/>
                  <a:t>eqn</a:t>
                </a: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 sz="2400"/>
                  <a:t>Where	</a:t>
                </a:r>
              </a:p>
              <a:p>
                <a:pPr lvl="1"/>
                <a:r>
                  <a:rPr lang="en-US" sz="2000"/>
                  <a:t>Q is energy transfer rate (W=J/s) </a:t>
                </a:r>
              </a:p>
              <a:p>
                <a:pPr lvl="1"/>
                <a:r>
                  <a:rPr lang="el-GR" sz="2000"/>
                  <a:t>ε</a:t>
                </a:r>
                <a:r>
                  <a:rPr lang="en-US" sz="2000"/>
                  <a:t> is emissivity (</a:t>
                </a:r>
                <a:r>
                  <a:rPr lang="en-US" sz="2000" err="1"/>
                  <a:t>unitless</a:t>
                </a:r>
                <a:r>
                  <a:rPr lang="en-US" sz="2000"/>
                  <a:t>)</a:t>
                </a:r>
              </a:p>
              <a:p>
                <a:pPr lvl="1"/>
                <a:r>
                  <a:rPr lang="en-US" sz="2000"/>
                  <a:t>σ is Stefan-Boltzmann constant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5.67 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−8</m:t>
                            </m:r>
                          </m:sup>
                        </m:s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2000"/>
              </a:p>
              <a:p>
                <a:pPr lvl="1"/>
                <a:r>
                  <a:rPr lang="en-US" sz="2000"/>
                  <a:t>A is surface area radiating (m</a:t>
                </a:r>
                <a:r>
                  <a:rPr lang="en-US" sz="2000" baseline="30000"/>
                  <a:t>2</a:t>
                </a:r>
                <a:r>
                  <a:rPr lang="en-US" sz="2000"/>
                  <a:t>)</a:t>
                </a:r>
              </a:p>
              <a:p>
                <a:pPr lvl="1"/>
                <a:r>
                  <a:rPr lang="en-US" sz="2000"/>
                  <a:t>T is temperature (K)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61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45" y="1337250"/>
            <a:ext cx="6804834" cy="29591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265" y="132527"/>
            <a:ext cx="7886700" cy="1325563"/>
          </a:xfrm>
        </p:spPr>
        <p:txBody>
          <a:bodyPr/>
          <a:lstStyle/>
          <a:p>
            <a:r>
              <a:rPr lang="en-US"/>
              <a:t>Thermal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296374"/>
                <a:ext cx="7886700" cy="216481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 i="1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/>
                  <a:t> is reflectivity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is absorptivity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  is transmissivity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296374"/>
                <a:ext cx="7886700" cy="2164811"/>
              </a:xfrm>
              <a:blipFill>
                <a:blip r:embed="rId3"/>
                <a:stretch>
                  <a:fillRect b="-2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826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Emissivity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49296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is emissivity (% energy emitted compared to perfect black body)</a:t>
                </a:r>
              </a:p>
              <a:p>
                <a:pPr lvl="1"/>
                <a:r>
                  <a:rPr lang="en-US" dirty="0"/>
                  <a:t>black body is a perfect emitter: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𝐵𝑙𝑎𝑐𝑘𝐵𝑜𝑑𝑦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black body is a perfect absorber: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𝐵𝑙𝑎𝑐𝑘𝐵𝑜𝑑𝑦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vary with wavelength,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most energy absorbed occurs in the solar band</a:t>
                </a:r>
              </a:p>
              <a:p>
                <a:pPr lvl="1" fontAlgn="base"/>
                <a:r>
                  <a:rPr lang="en-US" dirty="0"/>
                  <a:t>most energy emitted in infrared band</a:t>
                </a:r>
              </a:p>
              <a:p>
                <a:pPr lvl="1" fontAlgn="base"/>
                <a:r>
                  <a:rPr lang="en-US" dirty="0"/>
                  <a:t>selective surfaces:  </a:t>
                </a:r>
                <a:r>
                  <a:rPr lang="en-US" dirty="0" err="1"/>
                  <a:t>avg</a:t>
                </a:r>
                <a:r>
                  <a:rPr lang="en-US" dirty="0"/>
                  <a:t> absorptivity in the solar band,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, is much different than </a:t>
                </a:r>
                <a:r>
                  <a:rPr lang="en-US" dirty="0" err="1"/>
                  <a:t>avg</a:t>
                </a:r>
                <a:r>
                  <a:rPr lang="en-US" dirty="0"/>
                  <a:t> emissivity in IR band,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𝐼𝑅</m:t>
                        </m:r>
                      </m:sub>
                    </m:sSub>
                  </m:oMath>
                </a14:m>
                <a:endParaRPr lang="en-US" dirty="0"/>
              </a:p>
              <a:p>
                <a:pPr lvl="1" fontAlgn="base"/>
                <a:r>
                  <a:rPr lang="en-US" dirty="0"/>
                  <a:t>can judiciously select materials with right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𝐼𝑅</m:t>
                        </m:r>
                      </m:sub>
                    </m:sSub>
                  </m:oMath>
                </a14:m>
                <a:r>
                  <a:rPr lang="en-US" dirty="0"/>
                  <a:t> to get desired temps</a:t>
                </a:r>
              </a:p>
              <a:p>
                <a:pPr lvl="1" fontAlgn="base"/>
                <a:r>
                  <a:rPr lang="en-US" dirty="0"/>
                  <a:t>material properties often given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𝐼𝑅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49296"/>
              </a:xfrm>
              <a:blipFill>
                <a:blip r:embed="rId2"/>
                <a:stretch>
                  <a:fillRect t="-2945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388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2"/>
          <p:cNvSpPr>
            <a:spLocks/>
          </p:cNvSpPr>
          <p:nvPr/>
        </p:nvSpPr>
        <p:spPr bwMode="auto">
          <a:xfrm>
            <a:off x="3587262" y="6448852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Figure 11.29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30" y="1193879"/>
            <a:ext cx="6818700" cy="52549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253" y="114869"/>
            <a:ext cx="8197716" cy="1325563"/>
          </a:xfrm>
        </p:spPr>
        <p:txBody>
          <a:bodyPr>
            <a:normAutofit/>
          </a:bodyPr>
          <a:lstStyle/>
          <a:p>
            <a:r>
              <a:rPr lang="en-US" sz="2800"/>
              <a:t>Emissivity &amp; Absorptivity Vary with Wavelength</a:t>
            </a:r>
          </a:p>
        </p:txBody>
      </p:sp>
    </p:spTree>
    <p:extLst>
      <p:ext uri="{BB962C8B-B14F-4D97-AF65-F5344CB8AC3E}">
        <p14:creationId xmlns:p14="http://schemas.microsoft.com/office/powerpoint/2010/main" val="2029390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47" y="0"/>
            <a:ext cx="4356106" cy="6858000"/>
          </a:xfrm>
          <a:prstGeom prst="rect">
            <a:avLst/>
          </a:prstGeom>
        </p:spPr>
      </p:pic>
      <p:sp>
        <p:nvSpPr>
          <p:cNvPr id="5" name="Rectangle 72"/>
          <p:cNvSpPr>
            <a:spLocks/>
          </p:cNvSpPr>
          <p:nvPr/>
        </p:nvSpPr>
        <p:spPr bwMode="auto">
          <a:xfrm>
            <a:off x="3659225" y="6208220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Wertz and Larson, SMAD 3</a:t>
            </a:r>
            <a:r>
              <a:rPr lang="en-US" altLang="en-US" sz="1266" baseline="300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rd</a:t>
            </a:r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Edition, Table 11-44</a:t>
            </a:r>
          </a:p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Different editions of SMAD have slightly different tables</a:t>
            </a:r>
          </a:p>
        </p:txBody>
      </p:sp>
    </p:spTree>
    <p:extLst>
      <p:ext uri="{BB962C8B-B14F-4D97-AF65-F5344CB8AC3E}">
        <p14:creationId xmlns:p14="http://schemas.microsoft.com/office/powerpoint/2010/main" val="1251452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of Thermal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18488"/>
                <a:ext cx="7886700" cy="513892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Passive Approaches:  account for 80%-100% of thermal control of S/C</a:t>
                </a:r>
              </a:p>
              <a:p>
                <a:pPr lvl="1" fontAlgn="base"/>
                <a:r>
                  <a:rPr lang="en-US" dirty="0"/>
                  <a:t>surface coatings (focus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𝐼𝑅</m:t>
                        </m:r>
                      </m:sub>
                    </m:sSub>
                  </m:oMath>
                </a14:m>
                <a:r>
                  <a:rPr lang="en-US" dirty="0"/>
                  <a:t>) (e.g. silver, gold, aluminum) </a:t>
                </a:r>
              </a:p>
              <a:p>
                <a:pPr lvl="1" fontAlgn="base"/>
                <a:r>
                  <a:rPr lang="en-US" dirty="0"/>
                  <a:t>MLI (multilayer insulation)</a:t>
                </a:r>
              </a:p>
              <a:p>
                <a:pPr lvl="2" fontAlgn="base"/>
                <a:r>
                  <a:rPr lang="en-US" dirty="0"/>
                  <a:t>layers w/low emittance coatings separated by low conductivity layers</a:t>
                </a:r>
              </a:p>
              <a:p>
                <a:pPr lvl="1" fontAlgn="base"/>
                <a:r>
                  <a:rPr lang="en-US" dirty="0"/>
                  <a:t>radiators (high emissivity to dump heat overboard S/C)</a:t>
                </a:r>
                <a:endParaRPr lang="en-US" sz="2000" dirty="0"/>
              </a:p>
              <a:p>
                <a:pPr lvl="1" fontAlgn="base"/>
                <a:r>
                  <a:rPr lang="en-US" dirty="0"/>
                  <a:t>heat sinks:  high conductivity path away from hot components</a:t>
                </a:r>
                <a:endParaRPr lang="en-US" sz="2000" dirty="0"/>
              </a:p>
              <a:p>
                <a:pPr lvl="1" fontAlgn="base"/>
                <a:r>
                  <a:rPr lang="en-US" dirty="0"/>
                  <a:t>phase change materials</a:t>
                </a:r>
                <a:endParaRPr lang="en-US" sz="2000" dirty="0"/>
              </a:p>
              <a:p>
                <a:pPr lvl="2" fontAlgn="base"/>
                <a:r>
                  <a:rPr lang="en-US" dirty="0"/>
                  <a:t>paraffin absorbs heat as it melts (latent heat of fusion)</a:t>
                </a:r>
                <a:endParaRPr lang="en-US" sz="1600" dirty="0"/>
              </a:p>
              <a:p>
                <a:pPr lvl="2" fontAlgn="base"/>
                <a:r>
                  <a:rPr lang="en-US" dirty="0"/>
                  <a:t>for use next to </a:t>
                </a:r>
                <a:r>
                  <a:rPr lang="en-US" dirty="0" err="1"/>
                  <a:t>eqmt</a:t>
                </a:r>
                <a:r>
                  <a:rPr lang="en-US" dirty="0"/>
                  <a:t> w/high, short bursts of power</a:t>
                </a:r>
                <a:endParaRPr lang="en-US" sz="1600" dirty="0"/>
              </a:p>
              <a:p>
                <a:pPr lvl="1" fontAlgn="base"/>
                <a:r>
                  <a:rPr lang="en-US" dirty="0"/>
                  <a:t>heat pipes</a:t>
                </a:r>
                <a:endParaRPr lang="en-US" sz="2000" dirty="0"/>
              </a:p>
              <a:p>
                <a:pPr lvl="2" fontAlgn="base"/>
                <a:r>
                  <a:rPr lang="en-US" dirty="0"/>
                  <a:t>fluid inside sealed tube vaporizes on hot end</a:t>
                </a:r>
                <a:endParaRPr lang="en-US" sz="1600" dirty="0"/>
              </a:p>
              <a:p>
                <a:pPr lvl="2" fontAlgn="base"/>
                <a:r>
                  <a:rPr lang="en-US" dirty="0"/>
                  <a:t>condenses on cool end</a:t>
                </a:r>
                <a:endParaRPr lang="en-US" sz="1600" dirty="0"/>
              </a:p>
              <a:p>
                <a:pPr lvl="2" fontAlgn="base"/>
                <a:r>
                  <a:rPr lang="en-US" dirty="0"/>
                  <a:t>wicking device pulls cool fluid back to hot end</a:t>
                </a:r>
              </a:p>
              <a:p>
                <a:pPr lvl="1" fontAlgn="base"/>
                <a:r>
                  <a:rPr lang="en-US" dirty="0"/>
                  <a:t>thermal isolators:  isolate propellant lines, etc.</a:t>
                </a:r>
                <a:endParaRPr lang="en-US" sz="2000" dirty="0"/>
              </a:p>
              <a:p>
                <a:pPr lvl="1" fontAlgn="base"/>
                <a:r>
                  <a:rPr lang="en-US" dirty="0"/>
                  <a:t>rotisserie/BBQ roll:  slowly rotate S/C (used during Apollo missions) </a:t>
                </a:r>
                <a:endParaRPr lang="en-US" sz="2000" dirty="0"/>
              </a:p>
              <a:p>
                <a:pPr lvl="2" fontAlgn="base"/>
                <a:endParaRPr lang="en-US" sz="1600" dirty="0"/>
              </a:p>
              <a:p>
                <a:pPr lvl="1" fontAlgn="base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18488"/>
                <a:ext cx="7886700" cy="5138928"/>
              </a:xfrm>
              <a:blipFill>
                <a:blip r:embed="rId2"/>
                <a:stretch>
                  <a:fillRect l="-1005" t="-2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173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41" y="1501541"/>
            <a:ext cx="8972531" cy="4237271"/>
          </a:xfrm>
          <a:prstGeom prst="rect">
            <a:avLst/>
          </a:prstGeom>
          <a:scene3d>
            <a:camera prst="orthographicFront">
              <a:rot lat="0" lon="0" rev="2154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724633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1" y="2092960"/>
            <a:ext cx="9025039" cy="283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02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of Thermal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21825"/>
          </a:xfrm>
        </p:spPr>
        <p:txBody>
          <a:bodyPr>
            <a:normAutofit/>
          </a:bodyPr>
          <a:lstStyle/>
          <a:p>
            <a:r>
              <a:rPr lang="en-US"/>
              <a:t>Active Approaches:</a:t>
            </a:r>
          </a:p>
          <a:p>
            <a:pPr lvl="1" fontAlgn="base"/>
            <a:r>
              <a:rPr lang="en-US"/>
              <a:t>louvers:  insulated blades variably cover radiators (changes effective emissivity)</a:t>
            </a:r>
          </a:p>
          <a:p>
            <a:pPr lvl="1" fontAlgn="base"/>
            <a:r>
              <a:rPr lang="en-US"/>
              <a:t>electric heaters</a:t>
            </a:r>
          </a:p>
          <a:p>
            <a:pPr lvl="1" fontAlgn="base"/>
            <a:r>
              <a:rPr lang="en-US"/>
              <a:t>thermoelectric coolers</a:t>
            </a:r>
            <a:endParaRPr lang="en-US" sz="2000"/>
          </a:p>
          <a:p>
            <a:pPr lvl="1" fontAlgn="base"/>
            <a:r>
              <a:rPr lang="en-US"/>
              <a:t>expendable cooling systems:  stored cryogens absorb heat are then vented to space</a:t>
            </a:r>
            <a:endParaRPr lang="en-US" sz="2000"/>
          </a:p>
          <a:p>
            <a:pPr lvl="1" fontAlgn="base"/>
            <a:r>
              <a:rPr lang="en-US"/>
              <a:t>active refrigeration:  remove heat from hot components and transport to radiators</a:t>
            </a:r>
            <a:endParaRPr lang="en-US" sz="2000"/>
          </a:p>
          <a:p>
            <a:pPr lvl="1" fontAlgn="base"/>
            <a:endParaRPr lang="en-US"/>
          </a:p>
          <a:p>
            <a:pPr lvl="1" fontAlgn="base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98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738328"/>
            <a:ext cx="8961120" cy="3569636"/>
          </a:xfrm>
          <a:prstGeom prst="rect">
            <a:avLst/>
          </a:prstGeom>
          <a:scene3d>
            <a:camera prst="orthographicFront">
              <a:rot lat="0" lon="0" rev="2154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55560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0" y="721895"/>
            <a:ext cx="8876815" cy="4566234"/>
          </a:xfrm>
          <a:prstGeom prst="rect">
            <a:avLst/>
          </a:prstGeom>
          <a:scene3d>
            <a:camera prst="orthographicFront">
              <a:rot lat="0" lon="0" rev="2148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02239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7005"/>
            <a:ext cx="9052813" cy="533816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3056" y="158092"/>
            <a:ext cx="7886700" cy="1325563"/>
          </a:xfrm>
        </p:spPr>
        <p:txBody>
          <a:bodyPr/>
          <a:lstStyle/>
          <a:p>
            <a:r>
              <a:rPr lang="en-US"/>
              <a:t>Example of Full TCS Approach</a:t>
            </a:r>
          </a:p>
        </p:txBody>
      </p:sp>
    </p:spTree>
    <p:extLst>
      <p:ext uri="{BB962C8B-B14F-4D97-AF65-F5344CB8AC3E}">
        <p14:creationId xmlns:p14="http://schemas.microsoft.com/office/powerpoint/2010/main" val="3202745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/>
              <a:t>Thermal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09609"/>
                <a:ext cx="7886700" cy="5748391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For thermal equilibrium:  thermal input = thermal output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𝐼𝑛𝑡𝑒𝑟𝑛𝑎𝑙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1367±53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(at Earth’s distance from the sun)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410±65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239±21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𝐼𝑅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  <a:p>
                <a:pPr marL="0" indent="0">
                  <a:buNone/>
                </a:pPr>
                <a:r>
                  <a:rPr lang="en-US" sz="2500" dirty="0"/>
                  <a:t>Where </a:t>
                </a:r>
                <a:endParaRPr lang="en-US" sz="2500" i="1" dirty="0"/>
              </a:p>
              <a:p>
                <a:pPr marL="0" indent="0">
                  <a:buNone/>
                </a:pPr>
                <a:r>
                  <a:rPr lang="en-US" sz="25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500" dirty="0"/>
                  <a:t> = absorptivity (</a:t>
                </a:r>
                <a:r>
                  <a:rPr lang="en-US" sz="2500" dirty="0" err="1"/>
                  <a:t>unitless</a:t>
                </a:r>
                <a:r>
                  <a:rPr lang="en-US" sz="2500" dirty="0"/>
                  <a:t>)</a:t>
                </a:r>
              </a:p>
              <a:p>
                <a:pPr marL="0" indent="0">
                  <a:buNone/>
                </a:pPr>
                <a:r>
                  <a:rPr lang="en-US" sz="25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500" dirty="0"/>
                  <a:t> = cross-sectional area exposed to heat input (m</a:t>
                </a:r>
                <a:r>
                  <a:rPr lang="en-US" sz="2500" baseline="30000" dirty="0"/>
                  <a:t>2</a:t>
                </a:r>
                <a:r>
                  <a:rPr lang="en-US" sz="2500" dirty="0"/>
                  <a:t>)</a:t>
                </a:r>
              </a:p>
              <a:p>
                <a:pPr marL="0" indent="0">
                  <a:buNone/>
                </a:pPr>
                <a:r>
                  <a:rPr lang="en-US" sz="2500" dirty="0"/>
                  <a:t>		*Note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=1/4(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for an isothermal sphere</a:t>
                </a:r>
              </a:p>
              <a:p>
                <a:pPr marL="0" indent="0">
                  <a:buNone/>
                </a:pPr>
                <a:r>
                  <a:rPr lang="en-US" sz="25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</m:oMath>
                </a14:m>
                <a:r>
                  <a:rPr lang="en-US" sz="2500" dirty="0"/>
                  <a:t> = radius of the Earth (km)</a:t>
                </a:r>
              </a:p>
              <a:p>
                <a:pPr marL="0" indent="0">
                  <a:buNone/>
                </a:pPr>
                <a:r>
                  <a:rPr lang="en-US" sz="2500" dirty="0"/>
                  <a:t>	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500" dirty="0"/>
                  <a:t> = altitude (km)</a:t>
                </a:r>
              </a:p>
              <a:p>
                <a:pPr marL="0" indent="0">
                  <a:buNone/>
                </a:pPr>
                <a:r>
                  <a:rPr lang="en-US" sz="25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𝐼𝑅</m:t>
                        </m:r>
                      </m:sub>
                    </m:sSub>
                  </m:oMath>
                </a14:m>
                <a:r>
                  <a:rPr lang="en-US" sz="2500" dirty="0"/>
                  <a:t> = emissivity (</a:t>
                </a:r>
                <a:r>
                  <a:rPr lang="en-US" sz="2500" dirty="0" err="1"/>
                  <a:t>unitless</a:t>
                </a:r>
                <a:r>
                  <a:rPr lang="en-US" sz="25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09609"/>
                <a:ext cx="7886700" cy="5748391"/>
              </a:xfrm>
              <a:blipFill>
                <a:blip r:embed="rId2"/>
                <a:stretch>
                  <a:fillRect l="-464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918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725725"/>
            <a:ext cx="7389531" cy="391252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Worst Case Hot &amp; Cold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587260"/>
            <a:ext cx="7886700" cy="4287779"/>
          </a:xfrm>
        </p:spPr>
        <p:txBody>
          <a:bodyPr>
            <a:normAutofit/>
          </a:bodyPr>
          <a:lstStyle/>
          <a:p>
            <a:r>
              <a:rPr lang="en-US" sz="1600"/>
              <a:t>Where does worst case hot &amp; cold occur during each orbit?</a:t>
            </a:r>
            <a:endParaRPr lang="en-US" sz="1400"/>
          </a:p>
          <a:p>
            <a:pPr lvl="1" fontAlgn="base"/>
            <a:r>
              <a:rPr lang="en-US" sz="1400"/>
              <a:t>Worst-case hot: S/C in direct sun (angle of incidence = 0°)</a:t>
            </a:r>
            <a:endParaRPr lang="en-US" sz="1200"/>
          </a:p>
          <a:p>
            <a:pPr lvl="1" fontAlgn="base"/>
            <a:r>
              <a:rPr lang="en-US" sz="1400"/>
              <a:t>Worst-case cold: S/C just about to exit eclipse (longest time in eclipse)</a:t>
            </a:r>
            <a:endParaRPr lang="en-US" sz="1200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493777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Calculation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S/C and deployed solar arrays separately</a:t>
            </a:r>
          </a:p>
          <a:p>
            <a:r>
              <a:rPr lang="en-US" dirty="0"/>
              <a:t>Model worst-case hot and worst-case cold</a:t>
            </a:r>
          </a:p>
          <a:p>
            <a:pPr lvl="1"/>
            <a:r>
              <a:rPr lang="en-US" dirty="0"/>
              <a:t>Model S/C as isothermal sphere, radiating in all directions, receiving heat on a projected side</a:t>
            </a:r>
          </a:p>
          <a:p>
            <a:pPr lvl="1"/>
            <a:r>
              <a:rPr lang="en-US" dirty="0"/>
              <a:t>Model solar arrays as flat plates</a:t>
            </a:r>
          </a:p>
          <a:p>
            <a:pPr lvl="2"/>
            <a:r>
              <a:rPr lang="en-US" dirty="0"/>
              <a:t>Front and back of arrays have different emissivity and absorptivity values</a:t>
            </a:r>
          </a:p>
        </p:txBody>
      </p:sp>
    </p:spTree>
    <p:extLst>
      <p:ext uri="{BB962C8B-B14F-4D97-AF65-F5344CB8AC3E}">
        <p14:creationId xmlns:p14="http://schemas.microsoft.com/office/powerpoint/2010/main" val="2922714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Spacecraft Body (1/3)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 fontAlgn="base"/>
                <a:r>
                  <a:rPr lang="en-US" dirty="0"/>
                  <a:t>Model as </a:t>
                </a:r>
                <a:r>
                  <a:rPr lang="en-US" b="1" i="1" dirty="0"/>
                  <a:t>isothermal sphere</a:t>
                </a:r>
                <a:r>
                  <a:rPr lang="en-US" dirty="0"/>
                  <a:t> w/ same surface area as actual S/C </a:t>
                </a:r>
              </a:p>
              <a:p>
                <a:pPr lvl="0" fontAlgn="base"/>
                <a:r>
                  <a:rPr lang="en-US" dirty="0"/>
                  <a:t>Areas, A, for solar, albedo and Earth IR are projected area of a sphere, A</a:t>
                </a:r>
                <a:r>
                  <a:rPr lang="en-US" baseline="-25000" dirty="0"/>
                  <a:t>c</a:t>
                </a:r>
                <a:r>
                  <a:rPr lang="en-US" dirty="0"/>
                  <a:t> (1/4 of total sphere surface area)</a:t>
                </a:r>
              </a:p>
              <a:p>
                <a:pPr lvl="1" fontAlgn="base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is cross-sectional (projected) area, SA = total surface area of a sphere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0" fontAlgn="base"/>
                <a:r>
                  <a:rPr lang="en-US" dirty="0"/>
                  <a:t>Assume uniform power dissipation (from internally generated heat) over entire surface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36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5653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Spacecraft Body (2/3)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207124" cy="4770384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b="1" dirty="0"/>
                  <a:t>Worst-case hot: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𝐼𝑛𝑡𝑒𝑟𝑛𝑎𝑙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1367+53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410+65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239+21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𝐼𝑅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, term must account for emitting over entire surface area of S/C (use total SA for area)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𝑆𝑜𝑙𝑎𝑟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𝐴𝑙𝑏𝑒𝑑𝑜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𝐸𝑎𝑟𝑡h𝐼𝑅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𝐼𝑛𝑡𝑒𝑟𝑛𝑎𝑙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𝐼𝑅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207124" cy="4770384"/>
              </a:xfrm>
              <a:blipFill>
                <a:blip r:embed="rId2"/>
                <a:stretch>
                  <a:fillRect l="-594" t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117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Spacecraft Body (3/3)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Worst-case cold: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𝐼𝑛𝑡𝑒𝑟𝑛𝑎𝑙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239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𝐼𝑅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, term must account for emitting over entire surface area of S/C (use total SA for area)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𝑆𝑜𝑙𝑎𝑟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𝐴𝑙𝑏𝑒𝑑𝑜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𝐸𝑎𝑟𝑡h𝐼𝑅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𝐼𝑛𝑡𝑒𝑟𝑛𝑎𝑙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𝐼𝑅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869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Deployed Solar Arrays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0114" y="1633267"/>
                <a:ext cx="8301861" cy="5087573"/>
              </a:xfrm>
            </p:spPr>
            <p:txBody>
              <a:bodyPr>
                <a:normAutofit fontScale="62500" lnSpcReduction="20000"/>
              </a:bodyPr>
              <a:lstStyle/>
              <a:p>
                <a:pPr lvl="0" fontAlgn="base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600" b="1" dirty="0"/>
                  <a:t>Worst-case hot:  </a:t>
                </a:r>
                <a:r>
                  <a:rPr lang="en-US" sz="2600" dirty="0"/>
                  <a:t>assume S/A perpendicular to sun (top face receives direct solar power, bottom face receives albedo and Earth IR)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1367+53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𝑆𝐹𝑟𝑜𝑛𝑡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𝐹𝑟𝑜𝑛𝑡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465+65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𝑆𝐵𝑎𝑐𝑘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𝐵𝑎𝑐𝑘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237+21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𝐼𝑅𝐵𝑎𝑐𝑘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𝐵𝑎𝑐𝑘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𝜀𝜎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𝑃𝑜𝑤𝑒𝑟𝐺𝑒𝑛𝑒𝑟𝑎𝑡𝑒𝑑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/>
                  <a:t>(some incident power becomes electricity and leaves S/A) 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2600" dirty="0"/>
                  <a:t>, term must account for emitting out both front and back faces of the S/A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𝑃𝑜𝑤𝑒𝑟𝐺𝑒𝑛𝑒𝑟𝑎𝑡𝑒𝑑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𝐵𝑂𝐿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𝐴h𝑜𝑡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𝑆𝑜𝑙𝑎𝑟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𝐴𝑙𝑏𝑒𝑑𝑜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𝐸𝑎𝑟𝑡h𝐼𝑅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𝑃𝑜𝑤𝑒𝑟𝐺𝑒𝑛𝑒𝑟𝑎𝑡𝑒𝑑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𝐹𝑟𝑜𝑛𝑡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𝐹𝑟𝑜𝑛𝑡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𝐵𝑎𝑐𝑘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𝐵𝑎𝑐𝑘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114" y="1633267"/>
                <a:ext cx="8301861" cy="5087573"/>
              </a:xfrm>
              <a:blipFill>
                <a:blip r:embed="rId2"/>
                <a:stretch>
                  <a:fillRect l="-441" t="-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378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Deployed Solar Arrays 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fontAlgn="base"/>
                <a:r>
                  <a:rPr lang="en-US" b="1" dirty="0"/>
                  <a:t>Worst-case cold: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237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21 </m:t>
                          </m:r>
                          <m:f>
                            <m:fPr>
                              <m:type m:val="skw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𝐼𝑅𝐿𝑜𝑤𝑒𝑠𝑡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𝐵𝑎𝑐𝑘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𝑃𝑜𝑤𝑒𝑟𝐺𝑒𝑛𝑒𝑟𝑎𝑡𝑒𝑑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𝐴𝑐𝑜𝑙𝑑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𝐸𝑎𝑟𝑡h𝐼𝑅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𝐹𝑟𝑜𝑛𝑡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𝐹𝑟𝑜𝑛𝑡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𝐵𝑎𝑐𝑘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𝐵𝑎𝑐𝑘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24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4975286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Given: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 = 700 km, circular orbit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Cube-shaped satellite: 2.5 m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per side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Internal S/C power: 450-500 W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Deployed solar arrays are 7 m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S/As produce 1350 W at BOL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Find: Hot and cold equilibrium temps for spacecraft body and solar arrays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275278"/>
              </p:ext>
            </p:extLst>
          </p:nvPr>
        </p:nvGraphicFramePr>
        <p:xfrm>
          <a:off x="2020824" y="3993896"/>
          <a:ext cx="422757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9192">
                  <a:extLst>
                    <a:ext uri="{9D8B030D-6E8A-4147-A177-3AD203B41FA5}">
                      <a16:colId xmlns:a16="http://schemas.microsoft.com/office/drawing/2014/main" val="1121890085"/>
                    </a:ext>
                  </a:extLst>
                </a:gridCol>
                <a:gridCol w="1409192">
                  <a:extLst>
                    <a:ext uri="{9D8B030D-6E8A-4147-A177-3AD203B41FA5}">
                      <a16:colId xmlns:a16="http://schemas.microsoft.com/office/drawing/2014/main" val="772391605"/>
                    </a:ext>
                  </a:extLst>
                </a:gridCol>
                <a:gridCol w="1409192">
                  <a:extLst>
                    <a:ext uri="{9D8B030D-6E8A-4147-A177-3AD203B41FA5}">
                      <a16:colId xmlns:a16="http://schemas.microsoft.com/office/drawing/2014/main" val="1543635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Symbol" panose="05050102010706020507" pitchFamily="18" charset="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Symbol" panose="05050102010706020507" pitchFamily="18" charset="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800" baseline="-250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Symbol" panose="05050102010706020507" pitchFamily="18" charset="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800" baseline="-25000" dirty="0" err="1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1704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S/C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9093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S/A</a:t>
                      </a:r>
                      <a:r>
                        <a:rPr lang="en-US" sz="1800" baseline="-250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Front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0.805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0.825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216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S/A</a:t>
                      </a:r>
                      <a:r>
                        <a:rPr lang="en-US" sz="1800" baseline="-250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Back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0.975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5296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785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(1/4)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36208" y="5440680"/>
            <a:ext cx="685800" cy="256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44168"/>
                <a:ext cx="8286750" cy="5413247"/>
              </a:xfrm>
              <a:noFill/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sz="2900" b="1" u="sng" dirty="0">
                    <a:solidFill>
                      <a:srgbClr val="0000FF"/>
                    </a:solidFill>
                  </a:rPr>
                  <a:t>S/C Body</a:t>
                </a:r>
                <a:endParaRPr lang="en-US" sz="2900" dirty="0">
                  <a:solidFill>
                    <a:srgbClr val="0000FF"/>
                  </a:solidFill>
                </a:endParaRP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surface area, A = (6)(2.25 m)</a:t>
                </a:r>
                <a:r>
                  <a:rPr lang="en-US" baseline="30000" dirty="0">
                    <a:solidFill>
                      <a:srgbClr val="0000FF"/>
                    </a:solidFill>
                  </a:rPr>
                  <a:t>2</a:t>
                </a:r>
                <a:r>
                  <a:rPr lang="en-US" dirty="0">
                    <a:solidFill>
                      <a:srgbClr val="0000FF"/>
                    </a:solidFill>
                  </a:rPr>
                  <a:t> = 30.375 m</a:t>
                </a:r>
                <a:r>
                  <a:rPr lang="en-US" baseline="30000" dirty="0">
                    <a:solidFill>
                      <a:srgbClr val="0000FF"/>
                    </a:solidFill>
                  </a:rPr>
                  <a:t>2</a:t>
                </a:r>
                <a:r>
                  <a:rPr lang="en-US" dirty="0">
                    <a:solidFill>
                      <a:srgbClr val="0000FF"/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projected area of sphere with same surface area, A</a:t>
                </a:r>
                <a:r>
                  <a:rPr lang="en-US" baseline="-25000" dirty="0">
                    <a:solidFill>
                      <a:srgbClr val="0000FF"/>
                    </a:solidFill>
                  </a:rPr>
                  <a:t>c</a:t>
                </a:r>
                <a:r>
                  <a:rPr lang="en-US" dirty="0">
                    <a:solidFill>
                      <a:srgbClr val="0000FF"/>
                    </a:solidFill>
                  </a:rPr>
                  <a:t> = A/4 = 7.594 m</a:t>
                </a:r>
                <a:r>
                  <a:rPr lang="en-US" baseline="30000" dirty="0">
                    <a:solidFill>
                      <a:srgbClr val="0000FF"/>
                    </a:solidFill>
                  </a:rPr>
                  <a:t>2</a:t>
                </a:r>
                <a:r>
                  <a:rPr lang="en-US" dirty="0">
                    <a:solidFill>
                      <a:srgbClr val="0000FF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00FF"/>
                    </a:solidFill>
                  </a:rPr>
                  <a:t>Hot: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𝐼𝑛𝑡𝑒𝑟𝑛𝑎𝑙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1367+53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1420 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0.6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7.594 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=6469.9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410+65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475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0.6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0.8120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7.594 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=1757.3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239+21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𝐼𝑅𝑆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260 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0.8120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7.594 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=1282.5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𝐼𝑛𝑡𝑒𝑟𝑛𝑎𝑙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=500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=6469.9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+1971.9 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+1282.5 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+500 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=10,009.7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𝐶h𝑜𝑡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𝐼𝑅𝑆</m:t>
                                    </m:r>
                                    <m: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10,224.3 </m:t>
                                </m:r>
                                <m:r>
                                  <a:rPr lang="en-US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5.67</m:t>
                                    </m:r>
                                    <m:r>
                                      <a:rPr lang="en-US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b="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sup>
                                    </m:sSup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0.8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30.375 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b="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=291.9 </m:t>
                    </m:r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=18.8 </m:t>
                    </m:r>
                  </m:oMath>
                </a14:m>
                <a:r>
                  <a:rPr lang="en-US" baseline="30000" dirty="0" err="1">
                    <a:solidFill>
                      <a:srgbClr val="0000FF"/>
                    </a:solidFill>
                  </a:rPr>
                  <a:t>o</a:t>
                </a:r>
                <a:r>
                  <a:rPr lang="en-US" dirty="0" err="1">
                    <a:solidFill>
                      <a:srgbClr val="0000FF"/>
                    </a:solidFill>
                  </a:rPr>
                  <a:t>C</a:t>
                </a:r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44168"/>
                <a:ext cx="8286750" cy="5413247"/>
              </a:xfrm>
              <a:blipFill>
                <a:blip r:embed="rId2"/>
                <a:stretch>
                  <a:fillRect l="-368" t="-1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304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5943600" y="3873278"/>
            <a:ext cx="758952" cy="3603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(2/4)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16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u="sng" dirty="0">
                    <a:solidFill>
                      <a:srgbClr val="0000FF"/>
                    </a:solidFill>
                  </a:rPr>
                  <a:t>S/C Body</a:t>
                </a:r>
                <a:endParaRPr lang="en-US" sz="20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00FF"/>
                    </a:solidFill>
                  </a:rPr>
                  <a:t>Cold: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𝐼𝑛𝑡𝑒𝑟𝑛𝑎𝑙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239−21 </m:t>
                          </m:r>
                          <m:f>
                            <m:fPr>
                              <m:type m:val="skw"/>
                              <m:ctrlPr>
                                <a:rPr 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𝐼𝑅𝑆</m:t>
                          </m:r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p>
                        <m:sSup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1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218 </m:t>
                          </m:r>
                          <m:f>
                            <m:fPr>
                              <m:type m:val="skw"/>
                              <m:ctrlPr>
                                <a:rPr 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</m:t>
                          </m:r>
                        </m:e>
                      </m:d>
                      <m:d>
                        <m:d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0.8120</m:t>
                          </m:r>
                        </m:e>
                      </m:d>
                      <m:d>
                        <m:d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7.594 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=1075.4 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14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𝐼𝑛𝑡𝑒𝑟𝑛𝑎𝑙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=450 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14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0+0+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1075.4 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+450 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=1525.4 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14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1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𝐶𝑐𝑜𝑙𝑑</m:t>
                        </m:r>
                      </m:sub>
                    </m:sSub>
                    <m:r>
                      <a:rPr lang="en-US" sz="1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𝐼𝑅𝑆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sz="1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sz="1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1525.4 </m:t>
                                </m:r>
                                <m:r>
                                  <a:rPr lang="en-US" sz="1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5.67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sup>
                                    </m:sSup>
                                    <m:f>
                                      <m:fPr>
                                        <m:ctrlPr>
                                          <a:rPr lang="en-US" sz="1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0.8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30.375 </m:t>
                                    </m:r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sz="1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sz="1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sz="1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182.4 </m:t>
                    </m:r>
                    <m:r>
                      <a:rPr lang="en-US" sz="14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4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=−90.7 </m:t>
                    </m:r>
                  </m:oMath>
                </a14:m>
                <a:r>
                  <a:rPr lang="en-US" sz="1400" baseline="30000" dirty="0" err="1">
                    <a:solidFill>
                      <a:srgbClr val="0000FF"/>
                    </a:solidFill>
                  </a:rPr>
                  <a:t>o</a:t>
                </a:r>
                <a:r>
                  <a:rPr lang="en-US" sz="1400" dirty="0" err="1">
                    <a:solidFill>
                      <a:srgbClr val="0000FF"/>
                    </a:solidFill>
                  </a:rPr>
                  <a:t>C</a:t>
                </a:r>
                <a:r>
                  <a:rPr lang="en-US" sz="1400" dirty="0">
                    <a:solidFill>
                      <a:srgbClr val="0000FF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" name="Content Placeholder 1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466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8650" y="5394960"/>
            <a:ext cx="749808" cy="2468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(3/4)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02653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2600" b="1" u="sng" dirty="0">
                    <a:solidFill>
                      <a:srgbClr val="0000FF"/>
                    </a:solidFill>
                  </a:rPr>
                  <a:t>Solar Arrays:</a:t>
                </a:r>
                <a:endParaRPr lang="en-US" sz="26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2600" dirty="0">
                    <a:solidFill>
                      <a:srgbClr val="0000FF"/>
                    </a:solidFill>
                  </a:rPr>
                  <a:t>Hot: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1367+53 </m:t>
                          </m:r>
                          <m:f>
                            <m:fPr>
                              <m:type m:val="skw"/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𝑆𝐹𝑟𝑜𝑛𝑡</m:t>
                          </m:r>
                        </m:sub>
                      </m:sSub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𝐹𝑟𝑜𝑛𝑡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1420 </m:t>
                          </m:r>
                          <m:f>
                            <m:fPr>
                              <m:type m:val="skw"/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0.805</m:t>
                          </m:r>
                        </m:e>
                      </m:d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7 </m:t>
                          </m:r>
                          <m:sSup>
                            <m:sSupPr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=8,001.7 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410+65 </m:t>
                          </m:r>
                          <m:f>
                            <m:fPr>
                              <m:type m:val="skw"/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𝑆𝐵𝑎𝑐𝑘</m:t>
                          </m:r>
                        </m:sub>
                      </m:sSub>
                      <m:sSup>
                        <m:sSup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𝐵𝑎𝑐𝑘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475 </m:t>
                          </m:r>
                          <m:f>
                            <m:fPr>
                              <m:type m:val="skw"/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0.975</m:t>
                          </m:r>
                        </m:e>
                      </m:d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0.8120</m:t>
                          </m:r>
                        </m:e>
                      </m:d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7 </m:t>
                          </m:r>
                          <m:sSup>
                            <m:sSupPr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=2,632.4 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239+21 </m:t>
                          </m:r>
                          <m:f>
                            <m:fPr>
                              <m:type m:val="skw"/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𝐼𝑅𝐵𝑎𝑐𝑘</m:t>
                          </m:r>
                        </m:sub>
                      </m:sSub>
                      <m:sSup>
                        <m:sSup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𝐵𝑎𝑐𝑘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260</m:t>
                          </m:r>
                          <m:f>
                            <m:fPr>
                              <m:type m:val="skw"/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0.874</m:t>
                          </m:r>
                        </m:e>
                      </m:d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0.8120</m:t>
                          </m:r>
                        </m:e>
                      </m:d>
                      <m:d>
                        <m:d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7 </m:t>
                          </m:r>
                          <m:sSup>
                            <m:sSupPr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=1,291.6</m:t>
                      </m:r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=8001.7 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+2632.4 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+1291.6 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=11,925.7 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1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1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1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𝐴h𝑜𝑡</m:t>
                        </m:r>
                      </m:sub>
                    </m:sSub>
                    <m:r>
                      <a:rPr lang="en-US" sz="21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1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1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𝐼𝑛</m:t>
                                    </m:r>
                                  </m:sub>
                                </m:sSub>
                                <m:r>
                                  <a:rPr lang="en-US" sz="21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𝑃𝑜𝑤𝑒𝑟𝐺𝑒𝑛𝑒𝑟𝑎𝑡𝑒𝑑</m:t>
                                    </m:r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10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1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𝐹𝑟𝑜𝑛𝑡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𝐹𝑟𝑜𝑛𝑡</m:t>
                                        </m:r>
                                      </m:sub>
                                    </m:sSub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𝐵𝑎𝑐𝑘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𝐵𝑎𝑐𝑘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sz="21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1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sz="21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1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1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1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11,925.7 </m:t>
                                </m:r>
                                <m:r>
                                  <a:rPr lang="en-US" sz="21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21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−450 </m:t>
                                </m:r>
                                <m:r>
                                  <a:rPr lang="en-US" sz="21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5.67</m:t>
                                    </m:r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sSup>
                                      <m:sSupPr>
                                        <m:ctrlP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sup>
                                    </m:sSup>
                                    <m:f>
                                      <m:fPr>
                                        <m:ctrlP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21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1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p>
                                            <m:r>
                                              <a:rPr lang="en-US" sz="21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en-US" sz="21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1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p>
                                            <m:r>
                                              <a:rPr lang="en-US" sz="21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0.825</m:t>
                                        </m:r>
                                      </m:e>
                                    </m:d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0.874</m:t>
                                        </m:r>
                                      </m:e>
                                    </m:d>
                                  </m:e>
                                </m:d>
                                <m:d>
                                  <m:dPr>
                                    <m:ctrlP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7 </m:t>
                                    </m:r>
                                    <m:sSup>
                                      <m:sSupPr>
                                        <m:ctrlP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sz="21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sz="21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1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sz="21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361.2 </m:t>
                    </m:r>
                    <m:r>
                      <a:rPr lang="en-US" sz="21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1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=88.0</m:t>
                    </m:r>
                  </m:oMath>
                </a14:m>
                <a:r>
                  <a:rPr lang="en-US" sz="2100" baseline="30000" dirty="0" err="1">
                    <a:solidFill>
                      <a:srgbClr val="0000FF"/>
                    </a:solidFill>
                  </a:rPr>
                  <a:t>o</a:t>
                </a:r>
                <a:r>
                  <a:rPr lang="en-US" sz="2100" dirty="0" err="1">
                    <a:solidFill>
                      <a:srgbClr val="0000FF"/>
                    </a:solidFill>
                  </a:rPr>
                  <a:t>C</a:t>
                </a:r>
                <a:endParaRPr lang="en-US" sz="210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026535"/>
              </a:xfrm>
              <a:blipFill>
                <a:blip r:embed="rId2"/>
                <a:stretch>
                  <a:fillRect l="-618" t="-2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824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36776" y="4224528"/>
            <a:ext cx="822960" cy="2651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(4/4)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u="sng" dirty="0">
                    <a:solidFill>
                      <a:srgbClr val="0000FF"/>
                    </a:solidFill>
                  </a:rPr>
                  <a:t>Solar Arrays:</a:t>
                </a:r>
                <a:endParaRPr lang="en-US" sz="16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0000FF"/>
                    </a:solidFill>
                  </a:rPr>
                  <a:t>Cold: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𝑆𝑜𝑙𝑎𝑟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𝐴𝑙𝑏𝑒𝑑𝑜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𝐼𝑛𝑡𝑒𝑟𝑛𝑎𝑙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𝐸𝑎𝑟𝑡h𝐼𝑅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239</m:t>
                          </m:r>
                          <m: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21 </m:t>
                          </m:r>
                          <m:f>
                            <m:fPr>
                              <m:type m:val="skw"/>
                              <m:ctrlPr>
                                <a:rPr lang="en-US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𝐼𝑅𝐿𝑜𝑤𝑒𝑠𝑡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𝐵𝑎𝑐𝑘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218 </m:t>
                          </m:r>
                          <m:f>
                            <m:fPr>
                              <m:type m:val="skw"/>
                              <m:ctrlPr>
                                <a:rPr lang="en-US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0.825</m:t>
                          </m:r>
                        </m:e>
                      </m:d>
                      <m:d>
                        <m:d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0.812</m:t>
                          </m:r>
                        </m:e>
                      </m:d>
                      <m:d>
                        <m:dPr>
                          <m:ctrlP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7 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=1,022.3 </m:t>
                      </m:r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16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𝐴𝑐𝑜𝑙𝑑</m:t>
                        </m:r>
                      </m:sub>
                    </m:sSub>
                    <m:r>
                      <a:rPr lang="en-US" sz="16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𝐸𝑎𝑟𝑡h𝐼𝑅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6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𝐹𝑟𝑜𝑛𝑡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𝐹𝑟𝑜𝑛𝑡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𝐵𝑎𝑐𝑘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𝐵𝑎𝑐𝑘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sz="1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sz="16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1,022.3 </m:t>
                                </m:r>
                                <m:r>
                                  <a:rPr lang="en-US" sz="16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5.67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sSup>
                                      <m:sSupPr>
                                        <m:ctrlP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sup>
                                    </m:sSup>
                                    <m:f>
                                      <m:fPr>
                                        <m:ctrlP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i="1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0.825</m:t>
                                        </m:r>
                                      </m:e>
                                    </m:d>
                                    <m: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0.874</m:t>
                                        </m:r>
                                      </m:e>
                                    </m:d>
                                  </m:e>
                                </m:d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7 </m:t>
                                    </m:r>
                                    <m:sSup>
                                      <m:sSupPr>
                                        <m:ctrlP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sz="16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sz="1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sz="16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197.3 </m:t>
                    </m:r>
                    <m:r>
                      <a:rPr lang="en-US" sz="16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=−75.8</m:t>
                    </m:r>
                  </m:oMath>
                </a14:m>
                <a:r>
                  <a:rPr lang="en-US" sz="1600" baseline="30000" dirty="0" err="1">
                    <a:solidFill>
                      <a:srgbClr val="0000FF"/>
                    </a:solidFill>
                  </a:rPr>
                  <a:t>o</a:t>
                </a:r>
                <a:r>
                  <a:rPr lang="en-US" sz="1600" dirty="0" err="1">
                    <a:solidFill>
                      <a:srgbClr val="0000FF"/>
                    </a:solidFill>
                  </a:rPr>
                  <a:t>C</a:t>
                </a:r>
                <a:endParaRPr lang="en-US" sz="160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988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9FED29-B33D-4FAC-92E5-AD279B1264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1EF1EE-831B-4735-A64F-3A65E0F4669C}">
  <ds:schemaRefs>
    <ds:schemaRef ds:uri="56199585-876f-4f67-a080-37606926811f"/>
    <ds:schemaRef ds:uri="http://purl.org/dc/elements/1.1/"/>
    <ds:schemaRef ds:uri="http://purl.org/dc/terms/"/>
    <ds:schemaRef ds:uri="http://www.w3.org/XML/1998/namespace"/>
    <ds:schemaRef ds:uri="http://purl.org/dc/dcmitype/"/>
    <ds:schemaRef ds:uri="1995cf89-95cd-4008-a338-5014013afe4c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18D2362-955A-41A7-9B82-7EBD78056F5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1724</Words>
  <Application>Microsoft Office PowerPoint</Application>
  <PresentationFormat>On-screen Show (4:3)</PresentationFormat>
  <Paragraphs>244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Cambria Math</vt:lpstr>
      <vt:lpstr>Symbol</vt:lpstr>
      <vt:lpstr>Times New Roman</vt:lpstr>
      <vt:lpstr>Office Theme</vt:lpstr>
      <vt:lpstr>PowerPoint Presentation</vt:lpstr>
      <vt:lpstr>Lesson Objectives</vt:lpstr>
      <vt:lpstr>TCS Functions</vt:lpstr>
      <vt:lpstr>PowerPoint Presentation</vt:lpstr>
      <vt:lpstr>Thermal Radiation Environment</vt:lpstr>
      <vt:lpstr>Sources of Heat on a S/C</vt:lpstr>
      <vt:lpstr>PowerPoint Presentation</vt:lpstr>
      <vt:lpstr>Methods of Heat Transfer</vt:lpstr>
      <vt:lpstr>Heat Emission</vt:lpstr>
      <vt:lpstr>Thermal Equilibrium</vt:lpstr>
      <vt:lpstr>Emissivity</vt:lpstr>
      <vt:lpstr>Emissivity &amp; Absorptivity Vary with Wavelength</vt:lpstr>
      <vt:lpstr>PowerPoint Presentation</vt:lpstr>
      <vt:lpstr>Methods of Thermal Control</vt:lpstr>
      <vt:lpstr>PowerPoint Presentation</vt:lpstr>
      <vt:lpstr>PowerPoint Presentation</vt:lpstr>
      <vt:lpstr>Methods of Thermal Control</vt:lpstr>
      <vt:lpstr>PowerPoint Presentation</vt:lpstr>
      <vt:lpstr>PowerPoint Presentation</vt:lpstr>
      <vt:lpstr>Example of Full TCS Approach</vt:lpstr>
      <vt:lpstr>Thermal Equilibrium</vt:lpstr>
      <vt:lpstr>Worst Case Hot &amp; Cold</vt:lpstr>
      <vt:lpstr>Calculation Approach</vt:lpstr>
      <vt:lpstr>Spacecraft Body (1/3)</vt:lpstr>
      <vt:lpstr>Spacecraft Body (2/3)</vt:lpstr>
      <vt:lpstr>Spacecraft Body (3/3)</vt:lpstr>
      <vt:lpstr>Deployed Solar Arrays (1/2)</vt:lpstr>
      <vt:lpstr>Deployed Solar Arrays  (2/2)</vt:lpstr>
      <vt:lpstr>Example</vt:lpstr>
      <vt:lpstr>Solution (1/4)</vt:lpstr>
      <vt:lpstr>Solution (2/4)</vt:lpstr>
      <vt:lpstr>Solution (3/4)</vt:lpstr>
      <vt:lpstr>Solution (4/4)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Firth, Jordan A Lt Col USAF USAFA DF/DFAS</cp:lastModifiedBy>
  <cp:revision>11</cp:revision>
  <cp:lastPrinted>2019-06-26T14:29:45Z</cp:lastPrinted>
  <dcterms:created xsi:type="dcterms:W3CDTF">2019-06-13T20:36:51Z</dcterms:created>
  <dcterms:modified xsi:type="dcterms:W3CDTF">2023-03-13T15:18:03Z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