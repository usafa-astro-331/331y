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4"/>
  </p:handoutMasterIdLst>
  <p:sldIdLst>
    <p:sldId id="258" r:id="rId2"/>
    <p:sldId id="310" r:id="rId3"/>
    <p:sldId id="331" r:id="rId4"/>
    <p:sldId id="319" r:id="rId5"/>
    <p:sldId id="297" r:id="rId6"/>
    <p:sldId id="296" r:id="rId7"/>
    <p:sldId id="318" r:id="rId8"/>
    <p:sldId id="298" r:id="rId9"/>
    <p:sldId id="312" r:id="rId10"/>
    <p:sldId id="330" r:id="rId11"/>
    <p:sldId id="320" r:id="rId12"/>
    <p:sldId id="321" r:id="rId13"/>
    <p:sldId id="290" r:id="rId14"/>
    <p:sldId id="325" r:id="rId15"/>
    <p:sldId id="289" r:id="rId16"/>
    <p:sldId id="326" r:id="rId17"/>
    <p:sldId id="299" r:id="rId18"/>
    <p:sldId id="323" r:id="rId19"/>
    <p:sldId id="324" r:id="rId20"/>
    <p:sldId id="327" r:id="rId21"/>
    <p:sldId id="313" r:id="rId22"/>
    <p:sldId id="302" r:id="rId23"/>
    <p:sldId id="329" r:id="rId24"/>
    <p:sldId id="328" r:id="rId25"/>
    <p:sldId id="332" r:id="rId26"/>
    <p:sldId id="333" r:id="rId27"/>
    <p:sldId id="334" r:id="rId28"/>
    <p:sldId id="303" r:id="rId29"/>
    <p:sldId id="306" r:id="rId30"/>
    <p:sldId id="304" r:id="rId31"/>
    <p:sldId id="300" r:id="rId32"/>
    <p:sldId id="305" r:id="rId33"/>
    <p:sldId id="335" r:id="rId34"/>
    <p:sldId id="315" r:id="rId35"/>
    <p:sldId id="340" r:id="rId36"/>
    <p:sldId id="341" r:id="rId37"/>
    <p:sldId id="316" r:id="rId38"/>
    <p:sldId id="317" r:id="rId39"/>
    <p:sldId id="337" r:id="rId40"/>
    <p:sldId id="336" r:id="rId41"/>
    <p:sldId id="338" r:id="rId42"/>
    <p:sldId id="339" r:id="rId43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Astro 331 Lesson 10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 smtClean="0"/>
              <a:t>Payloads &amp; Spacecraft Budgets</a:t>
            </a:r>
          </a:p>
          <a:p>
            <a:pPr marL="0" indent="0" algn="ctr">
              <a:buNone/>
            </a:pPr>
            <a:r>
              <a:rPr lang="en-US" sz="3200" dirty="0" smtClean="0"/>
              <a:t>SMAD </a:t>
            </a:r>
            <a:r>
              <a:rPr lang="en-US" sz="3200" dirty="0" err="1" smtClean="0"/>
              <a:t>Ch</a:t>
            </a:r>
            <a:r>
              <a:rPr lang="en-US" sz="3200" dirty="0" smtClean="0"/>
              <a:t> 9.3-9.5, 10.3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6552"/>
            <a:ext cx="7886700" cy="5042784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 smtClean="0"/>
              <a:t>Select </a:t>
            </a:r>
            <a:r>
              <a:rPr lang="en-US" dirty="0"/>
              <a:t>payload frequencies using Wein’s Law and atmospheric windows </a:t>
            </a:r>
          </a:p>
          <a:p>
            <a:pPr lvl="0" fontAlgn="base"/>
            <a:r>
              <a:rPr lang="en-US" dirty="0"/>
              <a:t>Determine whether an optical payload’s resolution is diffraction limited or pixel limited</a:t>
            </a:r>
          </a:p>
          <a:p>
            <a:pPr lvl="0" fontAlgn="base"/>
            <a:r>
              <a:rPr lang="en-US" dirty="0"/>
              <a:t>List and describe the four common observation payload types</a:t>
            </a:r>
          </a:p>
          <a:p>
            <a:pPr lvl="0" fontAlgn="base"/>
            <a:r>
              <a:rPr lang="en-US" dirty="0"/>
              <a:t>Describe the four dimensions for characterizing remote sensing information (spatial, spectral, radiometric, temporal)</a:t>
            </a:r>
          </a:p>
          <a:p>
            <a:pPr lvl="0" fontAlgn="base"/>
            <a:r>
              <a:rPr lang="en-US" dirty="0"/>
              <a:t>Calculate the approximate data rate for payload data</a:t>
            </a:r>
          </a:p>
          <a:p>
            <a:pPr lvl="0" fontAlgn="base"/>
            <a:r>
              <a:rPr lang="en-US" dirty="0"/>
              <a:t>Understand </a:t>
            </a:r>
            <a:r>
              <a:rPr lang="en-US" dirty="0" smtClean="0"/>
              <a:t>and apply the </a:t>
            </a:r>
            <a:r>
              <a:rPr lang="en-US" dirty="0"/>
              <a:t>different types of design budgets used during the preliminary design of a spacecraft</a:t>
            </a:r>
          </a:p>
        </p:txBody>
      </p:sp>
    </p:spTree>
    <p:extLst>
      <p:ext uri="{BB962C8B-B14F-4D97-AF65-F5344CB8AC3E}">
        <p14:creationId xmlns:p14="http://schemas.microsoft.com/office/powerpoint/2010/main" val="96377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Electromagnetic Spectrum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2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Electromagnetic Spectrum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fontAlgn="base"/>
                <a:r>
                  <a:rPr lang="en-US" dirty="0" smtClean="0"/>
                  <a:t>All </a:t>
                </a:r>
                <a:r>
                  <a:rPr lang="en-US" dirty="0"/>
                  <a:t>EM radiation in a vacuum subject to relationship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𝜆𝜈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=2.99792458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	</a:t>
                </a:r>
                <a:r>
                  <a:rPr lang="en-US" sz="2400" dirty="0" smtClean="0"/>
                  <a:t>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9-1)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Where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	c </a:t>
                </a:r>
                <a:r>
                  <a:rPr lang="en-US" sz="2000" dirty="0"/>
                  <a:t>= speed of light in a </a:t>
                </a:r>
                <a:r>
                  <a:rPr lang="en-US" sz="2000" dirty="0" smtClean="0"/>
                  <a:t>vacuum (m/s)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= wavelength (m)</a:t>
                </a:r>
              </a:p>
              <a:p>
                <a:pPr marL="0" indent="0">
                  <a:buNone/>
                </a:pPr>
                <a:r>
                  <a:rPr lang="en-US" sz="2000" dirty="0" smtClean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2000" dirty="0"/>
                  <a:t> = frequency (Hz)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18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2"/>
          <p:cNvSpPr>
            <a:spLocks/>
          </p:cNvSpPr>
          <p:nvPr/>
        </p:nvSpPr>
        <p:spPr bwMode="auto">
          <a:xfrm>
            <a:off x="3117774" y="6179344"/>
            <a:ext cx="5776196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</a:t>
            </a:r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Presentation Slide S6: Payloads - </a:t>
            </a:r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13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564356"/>
            <a:ext cx="7269480" cy="561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2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2"/>
          <p:cNvSpPr>
            <a:spLocks/>
          </p:cNvSpPr>
          <p:nvPr/>
        </p:nvSpPr>
        <p:spPr bwMode="auto">
          <a:xfrm>
            <a:off x="3095740" y="6179344"/>
            <a:ext cx="5798229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S6: Payloads - 17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24" y="547211"/>
            <a:ext cx="7338060" cy="56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4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Wien’s Law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All </a:t>
                </a:r>
                <a:r>
                  <a:rPr lang="en-US" dirty="0"/>
                  <a:t>matter above 0 K emits EM radiation (characterized by Blackbody Radiation Curves</a:t>
                </a:r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Wavelength of maximum emission is proportional to temperature of object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2,898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     </a:t>
                </a:r>
                <a:r>
                  <a:rPr lang="en-US" dirty="0" smtClean="0"/>
                  <a:t>	(</a:t>
                </a:r>
                <a:r>
                  <a:rPr lang="en-US" dirty="0" err="1"/>
                  <a:t>Eqn</a:t>
                </a:r>
                <a:r>
                  <a:rPr lang="en-US" dirty="0"/>
                  <a:t> 9-4</a:t>
                </a:r>
                <a:r>
                  <a:rPr lang="en-US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Where:</a:t>
                </a:r>
              </a:p>
              <a:p>
                <a:pPr lvl="1"/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000" dirty="0" smtClean="0"/>
                  <a:t>: wavelength of maximum emission in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 smtClean="0"/>
                  <a:t> (10</a:t>
                </a:r>
                <a:r>
                  <a:rPr lang="en-US" sz="2000" baseline="30000" dirty="0" smtClean="0"/>
                  <a:t>-6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m) </a:t>
                </a:r>
                <a:endParaRPr lang="en-US" sz="2000" dirty="0" smtClean="0"/>
              </a:p>
              <a:p>
                <a:pPr lvl="1"/>
                <a:r>
                  <a:rPr lang="en-US" sz="2000" dirty="0" smtClean="0"/>
                  <a:t>T: temperature in Kelvins</a:t>
                </a:r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97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2"/>
          <p:cNvSpPr>
            <a:spLocks/>
          </p:cNvSpPr>
          <p:nvPr/>
        </p:nvSpPr>
        <p:spPr bwMode="auto">
          <a:xfrm>
            <a:off x="3084724" y="6179344"/>
            <a:ext cx="5809246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Presentation Slide </a:t>
            </a:r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S6: Payloads - </a:t>
            </a:r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18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10" y="566224"/>
            <a:ext cx="7380923" cy="55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0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76" y="92597"/>
            <a:ext cx="7604475" cy="6807904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26645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Telescope Design &amp; Resolution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21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Telescope Optics (1/2)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Magnification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𝑚𝑎𝑔𝑛𝑖𝑓𝑖𝑐𝑎𝑡𝑖𝑜𝑛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sz="2400" dirty="0"/>
                  <a:t>			(</a:t>
                </a:r>
                <a:r>
                  <a:rPr lang="en-US" sz="2400" dirty="0" err="1"/>
                  <a:t>Eqn</a:t>
                </a:r>
                <a:r>
                  <a:rPr lang="en-US" sz="2400" dirty="0"/>
                  <a:t> 9-6</a:t>
                </a:r>
                <a:r>
                  <a:rPr lang="en-US" sz="2400" dirty="0" smtClean="0"/>
                  <a:t>)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where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	f = focal length (m)</a:t>
                </a:r>
              </a:p>
              <a:p>
                <a:pPr marL="0" indent="0">
                  <a:buNone/>
                </a:pPr>
                <a:r>
                  <a:rPr lang="en-US" sz="2000" dirty="0"/>
                  <a:t>	h = altitude (m)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err="1"/>
                  <a:t>r</a:t>
                </a:r>
                <a:r>
                  <a:rPr lang="en-US" sz="2000" baseline="-25000" dirty="0" err="1"/>
                  <a:t>d</a:t>
                </a:r>
                <a:r>
                  <a:rPr lang="en-US" sz="2000" dirty="0"/>
                  <a:t> = radius of the detector (m)</a:t>
                </a:r>
              </a:p>
              <a:p>
                <a:pPr marL="0" indent="0">
                  <a:buNone/>
                </a:pPr>
                <a:r>
                  <a:rPr lang="en-US" sz="2000" dirty="0"/>
                  <a:t>	R = ground plane radius (m) (radius of circle projected on ground that telescope can see)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171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Telescope Optics (2/2)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33610" cy="4557420"/>
              </a:xfrm>
            </p:spPr>
            <p:txBody>
              <a:bodyPr>
                <a:normAutofit fontScale="92500" lnSpcReduction="10000"/>
              </a:bodyPr>
              <a:lstStyle/>
              <a:p>
                <a:pPr lvl="0" fontAlgn="base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Angular diameter FOV </a:t>
                </a:r>
                <a:r>
                  <a:rPr lang="en-US" i="1" dirty="0">
                    <a:solidFill>
                      <a:srgbClr val="FF0000"/>
                    </a:solidFill>
                  </a:rPr>
                  <a:t>(not to be confused with regular FOV!)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		</a:t>
                </a:r>
                <a:r>
                  <a:rPr lang="en-US" sz="2600" dirty="0" smtClean="0"/>
                  <a:t>(</a:t>
                </a:r>
                <a:r>
                  <a:rPr lang="en-US" sz="2600" dirty="0"/>
                  <a:t>From Fig 9-8)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900" dirty="0"/>
                  <a:t>where: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1900" dirty="0"/>
                  <a:t>	</a:t>
                </a:r>
                <a14:m>
                  <m:oMath xmlns:m="http://schemas.openxmlformats.org/officeDocument/2006/math">
                    <m:r>
                      <a:rPr lang="en-US" sz="19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900" dirty="0"/>
                  <a:t> = angular diameter FOV (</a:t>
                </a:r>
                <a:r>
                  <a:rPr lang="en-US" sz="1900" dirty="0" err="1"/>
                  <a:t>deg</a:t>
                </a:r>
                <a:r>
                  <a:rPr lang="en-US" sz="1900" dirty="0"/>
                  <a:t>/rad)</a:t>
                </a:r>
              </a:p>
              <a:p>
                <a:pPr lvl="0" fontAlgn="base">
                  <a:lnSpc>
                    <a:spcPct val="120000"/>
                  </a:lnSpc>
                  <a:spcBef>
                    <a:spcPts val="0"/>
                  </a:spcBef>
                </a:pPr>
                <a:endParaRPr lang="en-US" dirty="0" smtClean="0"/>
              </a:p>
              <a:p>
                <a:pPr lvl="0" fontAlgn="base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 smtClean="0"/>
                  <a:t>Ground </a:t>
                </a:r>
                <a:r>
                  <a:rPr lang="en-US" dirty="0"/>
                  <a:t>object area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fName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	</a:t>
                </a:r>
                <a:r>
                  <a:rPr lang="en-US" sz="2600" dirty="0" smtClean="0"/>
                  <a:t>(</a:t>
                </a:r>
                <a:r>
                  <a:rPr lang="en-US" sz="2600" dirty="0"/>
                  <a:t>From Fig 9-8)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100" dirty="0"/>
                  <a:t>where: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sz="2100" dirty="0"/>
                  <a:t>	A = ground object area (m</a:t>
                </a:r>
                <a:r>
                  <a:rPr lang="en-US" sz="2100" baseline="30000" dirty="0"/>
                  <a:t>2</a:t>
                </a:r>
                <a:r>
                  <a:rPr lang="en-US" sz="2100" dirty="0"/>
                  <a:t>) </a:t>
                </a:r>
                <a:r>
                  <a:rPr lang="en-US" sz="1700" dirty="0"/>
                  <a:t>(area on ground that telescope can see)</a:t>
                </a:r>
                <a:endParaRPr lang="en-US" sz="21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33610" cy="4557420"/>
              </a:xfrm>
              <a:blipFill>
                <a:blip r:embed="rId2"/>
                <a:stretch>
                  <a:fillRect l="-1124" t="-1070" b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2360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00" y="34889"/>
            <a:ext cx="4982376" cy="6823111"/>
          </a:xfrm>
          <a:prstGeom prst="rect">
            <a:avLst/>
          </a:prstGeom>
          <a:scene3d>
            <a:camera prst="orthographicFront">
              <a:rot lat="0" lon="0" rev="21480000"/>
            </a:camera>
            <a:lightRig rig="threePt" dir="t"/>
          </a:scene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150" y="4128424"/>
            <a:ext cx="52768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84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Resolution:  separation distance (or angle) to distinguish between two identical objects</a:t>
            </a:r>
          </a:p>
          <a:p>
            <a:pPr lvl="1" fontAlgn="base"/>
            <a:r>
              <a:rPr lang="en-US" dirty="0"/>
              <a:t>To avoid confusion, refer to resolution as improving or better rather than increasing or decreasing </a:t>
            </a:r>
            <a:endParaRPr lang="en-US" i="1" dirty="0"/>
          </a:p>
          <a:p>
            <a:pPr lvl="2" fontAlgn="base"/>
            <a:r>
              <a:rPr lang="en-US" i="1" dirty="0" smtClean="0"/>
              <a:t>a </a:t>
            </a:r>
            <a:r>
              <a:rPr lang="en-US" i="1" dirty="0"/>
              <a:t>smaller numerical value is better than a larger numerical value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01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33" y="2654775"/>
            <a:ext cx="3530613" cy="3530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8528" y="6185388"/>
            <a:ext cx="2256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https://www.microscopyu.com/tutorials/imageformation-airyna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026" y="6211669"/>
            <a:ext cx="1397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http://www.jb.man.ac.uk/public/im/clearly.html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35" y="2839608"/>
            <a:ext cx="2603895" cy="3269191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-88513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Diffraction Limited Resolution </a:t>
            </a:r>
            <a:r>
              <a:rPr lang="en-US" sz="3600" smtClean="0"/>
              <a:t>(</a:t>
            </a:r>
            <a:r>
              <a:rPr lang="en-US" sz="3600" smtClean="0"/>
              <a:t>1/4)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020932"/>
            <a:ext cx="7886700" cy="1489926"/>
          </a:xfrm>
        </p:spPr>
        <p:txBody>
          <a:bodyPr/>
          <a:lstStyle/>
          <a:p>
            <a:pPr marL="0" lvl="0" indent="0" fontAlgn="base">
              <a:buNone/>
            </a:pPr>
            <a:r>
              <a:rPr lang="en-US" sz="2400" dirty="0"/>
              <a:t>Diffraction limited resolution is caused by light bending at the edge of the optical system</a:t>
            </a:r>
          </a:p>
          <a:p>
            <a:pPr lvl="1" fontAlgn="base"/>
            <a:r>
              <a:rPr lang="en-US" sz="2000" dirty="0"/>
              <a:t>a point source will appear to be disk with concentric rings of decreasing intensity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467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Diffraction Limited Resolution (2/4)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Angular resolution (rad) </a:t>
                </a:r>
                <a:r>
                  <a:rPr lang="en-US" i="1" dirty="0" smtClean="0">
                    <a:solidFill>
                      <a:srgbClr val="FF0000"/>
                    </a:solidFill>
                  </a:rPr>
                  <a:t>(not to be confused with FOV or diffraction limited resolution!)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1.22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lang="en-US" dirty="0"/>
                  <a:t>    		(</a:t>
                </a:r>
                <a:r>
                  <a:rPr lang="en-US" dirty="0" err="1"/>
                  <a:t>Eqn</a:t>
                </a:r>
                <a:r>
                  <a:rPr lang="en-US" dirty="0"/>
                  <a:t> 9-9</a:t>
                </a:r>
                <a:r>
                  <a:rPr lang="en-US" dirty="0" smtClean="0"/>
                  <a:t>)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where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 = angular distance from maximum intensity (center of disk) to first dark interference ring (rad)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= wavelength (m)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D </a:t>
                </a:r>
                <a:r>
                  <a:rPr lang="en-US" sz="2400" dirty="0"/>
                  <a:t>= aperture diameter (m)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160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5" y="1469985"/>
            <a:ext cx="9017131" cy="4002971"/>
          </a:xfrm>
          <a:prstGeom prst="rect">
            <a:avLst/>
          </a:prstGeom>
          <a:scene3d>
            <a:camera prst="orthographicFront">
              <a:rot lat="0" lon="0" rev="21540000"/>
            </a:camera>
            <a:lightRig rig="threePt" dir="t"/>
          </a:scene3d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32837" y="-123690"/>
            <a:ext cx="7886700" cy="13255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Diffraction Limited Resolution (3/4)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01552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2.44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 smtClean="0"/>
                  <a:t>    </a:t>
                </a:r>
                <a:r>
                  <a:rPr lang="en-US" dirty="0"/>
                  <a:t>	</a:t>
                </a:r>
                <a:r>
                  <a:rPr lang="en-US" sz="2000" dirty="0" smtClean="0"/>
                  <a:t>(</a:t>
                </a:r>
                <a:r>
                  <a:rPr lang="en-US" sz="2000" dirty="0" err="1"/>
                  <a:t>Eqn</a:t>
                </a:r>
                <a:r>
                  <a:rPr lang="en-US" sz="2000" dirty="0"/>
                  <a:t> 9-10)</a:t>
                </a:r>
              </a:p>
              <a:p>
                <a:pPr marL="0" indent="0">
                  <a:buNone/>
                </a:pPr>
                <a:r>
                  <a:rPr lang="en-US" sz="2400" dirty="0"/>
                  <a:t>where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= ground resolution at nadir (m)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h </a:t>
                </a:r>
                <a:r>
                  <a:rPr lang="en-US" sz="2400" dirty="0"/>
                  <a:t>= S/C altitude (m)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= wavelength (m)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D </a:t>
                </a:r>
                <a:r>
                  <a:rPr lang="en-US" sz="2400" dirty="0"/>
                  <a:t>= aperture diameter (m</a:t>
                </a:r>
                <a:r>
                  <a:rPr lang="en-US" sz="2400" dirty="0" smtClean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:r>
                  <a:rPr lang="en-US" sz="2400" dirty="0" smtClean="0"/>
                  <a:t>angular resolution (rad)</a:t>
                </a: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/>
          <p:cNvSpPr txBox="1">
            <a:spLocks/>
          </p:cNvSpPr>
          <p:nvPr/>
        </p:nvSpPr>
        <p:spPr>
          <a:xfrm>
            <a:off x="921614" y="1870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Diffraction Limited </a:t>
            </a:r>
            <a:r>
              <a:rPr lang="en-US" sz="3600" smtClean="0"/>
              <a:t>Resolution (4/4)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1847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Pixel Limited Resolution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 fontAlgn="base"/>
                <a:r>
                  <a:rPr lang="en-US" dirty="0"/>
                  <a:t>R</a:t>
                </a:r>
                <a:r>
                  <a:rPr lang="en-US" dirty="0" smtClean="0"/>
                  <a:t>esolution </a:t>
                </a:r>
                <a:r>
                  <a:rPr lang="en-US" dirty="0"/>
                  <a:t>can’t be any better than ground dimension captured in an individual pixel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dirty="0"/>
                  <a:t>     	</a:t>
                </a:r>
                <a:r>
                  <a:rPr lang="en-US" sz="2000" dirty="0" smtClean="0"/>
                  <a:t>(</a:t>
                </a:r>
                <a:r>
                  <a:rPr lang="en-US" sz="2000" dirty="0"/>
                  <a:t>Derived from Fig 9-8)</a:t>
                </a:r>
              </a:p>
              <a:p>
                <a:pPr marL="0" indent="0">
                  <a:buNone/>
                </a:pPr>
                <a:r>
                  <a:rPr lang="en-US" sz="2000" dirty="0"/>
                  <a:t>where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= pixel limited </a:t>
                </a:r>
                <a:r>
                  <a:rPr lang="en-US" sz="2000" dirty="0" smtClean="0"/>
                  <a:t>resolution (m)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= ground object plane radius </a:t>
                </a:r>
                <a:r>
                  <a:rPr lang="en-US" sz="2000" dirty="0" smtClean="0"/>
                  <a:t>(m)</a:t>
                </a:r>
              </a:p>
              <a:p>
                <a:pPr marL="0" indent="-91440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= number of pixels </a:t>
                </a:r>
                <a:r>
                  <a:rPr lang="en-US" sz="2000" dirty="0" smtClean="0"/>
                  <a:t>along </a:t>
                </a:r>
                <a:r>
                  <a:rPr lang="en-US" sz="2000" dirty="0"/>
                  <a:t>the image </a:t>
                </a:r>
                <a:r>
                  <a:rPr lang="en-US" sz="2000" dirty="0" smtClean="0"/>
                  <a:t>length (</a:t>
                </a:r>
                <a:r>
                  <a:rPr lang="en-US" sz="2000" dirty="0" err="1" smtClean="0"/>
                  <a:t>unitless</a:t>
                </a:r>
                <a:r>
                  <a:rPr lang="en-US" sz="2000" dirty="0" smtClean="0"/>
                  <a:t>)</a:t>
                </a:r>
                <a:endParaRPr lang="en-US" sz="20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891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US" dirty="0" smtClean="0"/>
              <a:t>Quality Factor (1/2)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25563"/>
                <a:ext cx="8133610" cy="5359322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sz="51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5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p>
                          <m:sSupPr>
                            <m:ctrlPr>
                              <a:rPr lang="en-US" sz="5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1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5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en-US" sz="51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5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100" i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sSup>
                          <m:sSupPr>
                            <m:ctrlPr>
                              <a:rPr lang="en-US" sz="5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sz="51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4000" dirty="0"/>
                  <a:t>     		</a:t>
                </a:r>
                <a:r>
                  <a:rPr lang="en-US" sz="2900" dirty="0"/>
                  <a:t>(</a:t>
                </a:r>
                <a:r>
                  <a:rPr lang="en-US" sz="2900" dirty="0" err="1"/>
                  <a:t>Eqn</a:t>
                </a:r>
                <a:r>
                  <a:rPr lang="en-US" sz="2900" dirty="0"/>
                  <a:t> 9-11)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Q </a:t>
                </a:r>
                <a:r>
                  <a:rPr lang="en-US" dirty="0"/>
                  <a:t>= quality </a:t>
                </a:r>
                <a:r>
                  <a:rPr lang="en-US" dirty="0" smtClean="0"/>
                  <a:t>factor (</a:t>
                </a:r>
                <a:r>
                  <a:rPr lang="en-US" dirty="0" err="1" smtClean="0"/>
                  <a:t>unitless</a:t>
                </a:r>
                <a:r>
                  <a:rPr lang="en-US" dirty="0" smtClean="0"/>
                  <a:t>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d </a:t>
                </a:r>
                <a:r>
                  <a:rPr lang="en-US" dirty="0"/>
                  <a:t>= pixel </a:t>
                </a:r>
                <a:r>
                  <a:rPr lang="en-US" dirty="0" smtClean="0"/>
                  <a:t>size (m)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d</a:t>
                </a:r>
                <a:r>
                  <a:rPr lang="en-US" dirty="0"/>
                  <a:t>’ = diameter of Airy </a:t>
                </a:r>
                <a:r>
                  <a:rPr lang="en-US" dirty="0" smtClean="0"/>
                  <a:t>disk (m)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X </a:t>
                </a:r>
                <a:r>
                  <a:rPr lang="en-US" dirty="0"/>
                  <a:t>= ground pixel </a:t>
                </a:r>
                <a:r>
                  <a:rPr lang="en-US" dirty="0" smtClean="0"/>
                  <a:t>size (m)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X</a:t>
                </a:r>
                <a:r>
                  <a:rPr lang="en-US" dirty="0"/>
                  <a:t>’ = ground </a:t>
                </a:r>
                <a:r>
                  <a:rPr lang="en-US" dirty="0" smtClean="0"/>
                  <a:t>resolution (m)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Q &lt; 1, pixels are smaller than Airy disk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diffraction </a:t>
                </a:r>
                <a:r>
                  <a:rPr lang="en-US" dirty="0"/>
                  <a:t>limited </a:t>
                </a:r>
                <a:r>
                  <a:rPr lang="en-US" dirty="0" smtClean="0"/>
                  <a:t>resolution</a:t>
                </a:r>
                <a:endParaRPr lang="en-US" dirty="0"/>
              </a:p>
              <a:p>
                <a:r>
                  <a:rPr lang="en-US" dirty="0"/>
                  <a:t>for Q &gt; 1, pixels are larger than Airy disk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pixel </a:t>
                </a:r>
                <a:r>
                  <a:rPr lang="en-US" dirty="0"/>
                  <a:t>limited </a:t>
                </a:r>
                <a:r>
                  <a:rPr lang="en-US" dirty="0" smtClean="0"/>
                  <a:t>resolution</a:t>
                </a:r>
              </a:p>
              <a:p>
                <a:r>
                  <a:rPr lang="en-US" dirty="0" smtClean="0"/>
                  <a:t>Ideally, we would like Q = 1 so that neither optics nor detector are over-designed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25563"/>
                <a:ext cx="8133610" cy="5359322"/>
              </a:xfrm>
              <a:blipFill>
                <a:blip r:embed="rId2"/>
                <a:stretch>
                  <a:fillRect l="-975" t="-682" r="-975" b="-2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4167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" y="1690689"/>
            <a:ext cx="9068596" cy="4443533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Quality Factor (2/2)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1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195949" y="374573"/>
            <a:ext cx="4357434" cy="5930477"/>
            <a:chOff x="2195949" y="374573"/>
            <a:chExt cx="4357434" cy="5930477"/>
          </a:xfrm>
        </p:grpSpPr>
        <p:cxnSp>
          <p:nvCxnSpPr>
            <p:cNvPr id="51" name="Straight Connector 50"/>
            <p:cNvCxnSpPr>
              <a:stCxn id="25" idx="6"/>
            </p:cNvCxnSpPr>
            <p:nvPr/>
          </p:nvCxnSpPr>
          <p:spPr>
            <a:xfrm flipH="1">
              <a:off x="2919449" y="1238117"/>
              <a:ext cx="2053250" cy="158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3371940" y="4850921"/>
              <a:ext cx="2560320" cy="9144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 flipV="1">
              <a:off x="4332333" y="1120287"/>
              <a:ext cx="64008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>
              <a:stCxn id="24" idx="2"/>
              <a:endCxn id="6" idx="6"/>
            </p:cNvCxnSpPr>
            <p:nvPr/>
          </p:nvCxnSpPr>
          <p:spPr>
            <a:xfrm flipV="1">
              <a:off x="3367783" y="1234587"/>
              <a:ext cx="1604630" cy="4076525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654556" y="374573"/>
              <a:ext cx="0" cy="566267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82" idx="6"/>
            </p:cNvCxnSpPr>
            <p:nvPr/>
          </p:nvCxnSpPr>
          <p:spPr>
            <a:xfrm flipH="1" flipV="1">
              <a:off x="2919448" y="5309537"/>
              <a:ext cx="3012812" cy="157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/>
            <p:cNvSpPr>
              <a:spLocks noChangeAspect="1"/>
            </p:cNvSpPr>
            <p:nvPr/>
          </p:nvSpPr>
          <p:spPr>
            <a:xfrm>
              <a:off x="3367783" y="5244817"/>
              <a:ext cx="365760" cy="13258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4871803" y="1219829"/>
              <a:ext cx="100896" cy="3657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81340" y="1058813"/>
              <a:ext cx="1000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Image Plane</a:t>
              </a:r>
              <a:endParaRPr lang="en-US" sz="1000" dirty="0"/>
            </a:p>
            <a:p>
              <a:r>
                <a:rPr lang="en-US" sz="1000" dirty="0" smtClean="0"/>
                <a:t>(radius </a:t>
              </a:r>
              <a:r>
                <a:rPr lang="en-US" sz="1000" dirty="0"/>
                <a:t>= </a:t>
              </a:r>
              <a:r>
                <a:rPr lang="en-US" sz="1000" dirty="0" err="1"/>
                <a:t>r</a:t>
              </a:r>
              <a:r>
                <a:rPr lang="en-US" sz="1000" baseline="-25000" dirty="0" err="1" smtClean="0"/>
                <a:t>d</a:t>
              </a:r>
              <a:r>
                <a:rPr lang="en-US" sz="1000" dirty="0" smtClean="0"/>
                <a:t>)</a:t>
              </a:r>
              <a:endParaRPr lang="en-US" sz="1000" dirty="0"/>
            </a:p>
          </p:txBody>
        </p:sp>
        <p:cxnSp>
          <p:nvCxnSpPr>
            <p:cNvPr id="32" name="Straight Connector 31"/>
            <p:cNvCxnSpPr>
              <a:stCxn id="5" idx="6"/>
              <a:endCxn id="6" idx="2"/>
            </p:cNvCxnSpPr>
            <p:nvPr/>
          </p:nvCxnSpPr>
          <p:spPr>
            <a:xfrm flipH="1" flipV="1">
              <a:off x="4332333" y="1234587"/>
              <a:ext cx="1599927" cy="4073534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rc 38"/>
            <p:cNvSpPr/>
            <p:nvPr/>
          </p:nvSpPr>
          <p:spPr>
            <a:xfrm>
              <a:off x="3845194" y="1935758"/>
              <a:ext cx="1605000" cy="1605000"/>
            </a:xfrm>
            <a:prstGeom prst="arc">
              <a:avLst>
                <a:gd name="adj1" fmla="val 2987889"/>
                <a:gd name="adj2" fmla="val 7759370"/>
              </a:avLst>
            </a:prstGeom>
            <a:ln>
              <a:solidFill>
                <a:schemeClr val="tx1"/>
              </a:solidFill>
              <a:headEnd type="arrow" w="sm" len="med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470204" y="5592315"/>
              <a:ext cx="10247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Object Plane</a:t>
              </a:r>
            </a:p>
            <a:p>
              <a:r>
                <a:rPr lang="en-US" sz="1000" dirty="0" smtClean="0"/>
                <a:t>(radius = </a:t>
              </a:r>
              <a:r>
                <a:rPr lang="en-US" sz="1000" dirty="0"/>
                <a:t>R</a:t>
              </a:r>
              <a:r>
                <a:rPr lang="en-US" sz="1000" dirty="0" smtClean="0"/>
                <a:t>)</a:t>
              </a:r>
              <a:endParaRPr lang="en-US" sz="10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172290" y="6058829"/>
              <a:ext cx="9639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Boresight</a:t>
              </a:r>
              <a:endParaRPr lang="en-US" sz="10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96282" y="2166246"/>
              <a:ext cx="10000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Lens Aperture</a:t>
              </a:r>
              <a:endParaRPr lang="en-US" sz="1000" dirty="0"/>
            </a:p>
            <a:p>
              <a:r>
                <a:rPr lang="en-US" sz="1000" dirty="0"/>
                <a:t>(diameter = </a:t>
              </a:r>
              <a:r>
                <a:rPr lang="en-US" sz="1000" dirty="0" smtClean="0"/>
                <a:t>D)</a:t>
              </a:r>
              <a:endParaRPr lang="en-US" sz="1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43853" y="3482367"/>
              <a:ext cx="5477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/>
                <a:t>FOV</a:t>
              </a:r>
              <a:endParaRPr lang="en-US" sz="1000" dirty="0"/>
            </a:p>
          </p:txBody>
        </p:sp>
        <p:sp>
          <p:nvSpPr>
            <p:cNvPr id="49" name="Oval 48"/>
            <p:cNvSpPr/>
            <p:nvPr/>
          </p:nvSpPr>
          <p:spPr>
            <a:xfrm flipV="1">
              <a:off x="4012467" y="1815186"/>
              <a:ext cx="1280160" cy="4572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Connector 53"/>
            <p:cNvCxnSpPr>
              <a:stCxn id="49" idx="6"/>
            </p:cNvCxnSpPr>
            <p:nvPr/>
          </p:nvCxnSpPr>
          <p:spPr>
            <a:xfrm flipH="1">
              <a:off x="2919448" y="2043786"/>
              <a:ext cx="2373179" cy="192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4" idx="6"/>
              <a:endCxn id="25" idx="1"/>
            </p:cNvCxnSpPr>
            <p:nvPr/>
          </p:nvCxnSpPr>
          <p:spPr>
            <a:xfrm flipV="1">
              <a:off x="3733543" y="1225185"/>
              <a:ext cx="1153036" cy="408592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Oval 76"/>
            <p:cNvSpPr>
              <a:spLocks noChangeAspect="1"/>
            </p:cNvSpPr>
            <p:nvPr/>
          </p:nvSpPr>
          <p:spPr>
            <a:xfrm>
              <a:off x="3734236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/>
            <p:cNvSpPr>
              <a:spLocks noChangeAspect="1"/>
            </p:cNvSpPr>
            <p:nvPr/>
          </p:nvSpPr>
          <p:spPr>
            <a:xfrm>
              <a:off x="4100689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4467142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/>
            <p:cNvSpPr>
              <a:spLocks noChangeAspect="1"/>
            </p:cNvSpPr>
            <p:nvPr/>
          </p:nvSpPr>
          <p:spPr>
            <a:xfrm>
              <a:off x="4833595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>
              <a:spLocks noChangeAspect="1"/>
            </p:cNvSpPr>
            <p:nvPr/>
          </p:nvSpPr>
          <p:spPr>
            <a:xfrm>
              <a:off x="5200048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5566500" y="5244817"/>
              <a:ext cx="365760" cy="132589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4336700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/>
            <p:cNvSpPr>
              <a:spLocks noChangeAspect="1"/>
            </p:cNvSpPr>
            <p:nvPr/>
          </p:nvSpPr>
          <p:spPr>
            <a:xfrm>
              <a:off x="4515068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>
              <a:spLocks noChangeAspect="1"/>
            </p:cNvSpPr>
            <p:nvPr/>
          </p:nvSpPr>
          <p:spPr>
            <a:xfrm>
              <a:off x="4425884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4604252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4693436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4782620" y="1219829"/>
              <a:ext cx="100896" cy="36576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Arc 89"/>
            <p:cNvSpPr/>
            <p:nvPr/>
          </p:nvSpPr>
          <p:spPr>
            <a:xfrm>
              <a:off x="3630585" y="3338128"/>
              <a:ext cx="805224" cy="945508"/>
            </a:xfrm>
            <a:prstGeom prst="arc">
              <a:avLst>
                <a:gd name="adj1" fmla="val 5458370"/>
                <a:gd name="adj2" fmla="val 7228994"/>
              </a:avLst>
            </a:prstGeom>
            <a:ln>
              <a:solidFill>
                <a:schemeClr val="tx1"/>
              </a:solidFill>
              <a:headEnd type="arrow" w="sm" len="med"/>
              <a:tailEnd type="arrow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27848" y="4293038"/>
              <a:ext cx="3053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 smtClean="0">
                  <a:latin typeface="Symbol" panose="05050102010706020507" pitchFamily="18" charset="2"/>
                </a:rPr>
                <a:t>q</a:t>
              </a:r>
              <a:r>
                <a:rPr lang="en-US" sz="1000" baseline="-25000" dirty="0" err="1" smtClean="0"/>
                <a:t>r</a:t>
              </a:r>
              <a:endParaRPr lang="en-US" sz="1000" dirty="0"/>
            </a:p>
          </p:txBody>
        </p:sp>
        <p:cxnSp>
          <p:nvCxnSpPr>
            <p:cNvPr id="97" name="Straight Arrow Connector 96"/>
            <p:cNvCxnSpPr/>
            <p:nvPr/>
          </p:nvCxnSpPr>
          <p:spPr>
            <a:xfrm>
              <a:off x="3182056" y="2057558"/>
              <a:ext cx="0" cy="3259965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>
              <a:off x="3182056" y="1234587"/>
              <a:ext cx="0" cy="82297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/>
            <p:cNvSpPr txBox="1"/>
            <p:nvPr/>
          </p:nvSpPr>
          <p:spPr>
            <a:xfrm>
              <a:off x="2195949" y="1535648"/>
              <a:ext cx="987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 smtClean="0"/>
                <a:t>Focal Length, f</a:t>
              </a:r>
              <a:endParaRPr lang="en-US" sz="1000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2431986" y="3343989"/>
              <a:ext cx="7532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 smtClean="0"/>
                <a:t>Altitude, h</a:t>
              </a:r>
              <a:endParaRPr lang="en-US" sz="10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727929" y="5553042"/>
              <a:ext cx="161621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Ground Pixel or</a:t>
              </a:r>
            </a:p>
            <a:p>
              <a:r>
                <a:rPr lang="en-US" sz="1000" dirty="0" smtClean="0"/>
                <a:t>Projection of Detector Pixel</a:t>
              </a:r>
            </a:p>
            <a:p>
              <a:r>
                <a:rPr lang="en-US" sz="1000" dirty="0" smtClean="0"/>
                <a:t>(width = X)</a:t>
              </a:r>
              <a:endParaRPr lang="en-US" sz="1000" dirty="0"/>
            </a:p>
          </p:txBody>
        </p:sp>
        <p:cxnSp>
          <p:nvCxnSpPr>
            <p:cNvPr id="104" name="Straight Arrow Connector 103"/>
            <p:cNvCxnSpPr>
              <a:endCxn id="24" idx="4"/>
            </p:cNvCxnSpPr>
            <p:nvPr/>
          </p:nvCxnSpPr>
          <p:spPr>
            <a:xfrm flipV="1">
              <a:off x="3239469" y="5377406"/>
              <a:ext cx="311194" cy="1956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4689443" y="465948"/>
              <a:ext cx="186394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/>
                <a:t>Projection of Ground Resolution Element in Image Plane</a:t>
              </a:r>
            </a:p>
            <a:p>
              <a:r>
                <a:rPr lang="en-US" sz="1000" dirty="0" smtClean="0"/>
                <a:t>(width = d)</a:t>
              </a:r>
              <a:endParaRPr lang="en-US" sz="1000" dirty="0"/>
            </a:p>
          </p:txBody>
        </p:sp>
        <p:cxnSp>
          <p:nvCxnSpPr>
            <p:cNvPr id="109" name="Straight Arrow Connector 108"/>
            <p:cNvCxnSpPr>
              <a:endCxn id="25" idx="0"/>
            </p:cNvCxnSpPr>
            <p:nvPr/>
          </p:nvCxnSpPr>
          <p:spPr>
            <a:xfrm flipH="1">
              <a:off x="4922251" y="941079"/>
              <a:ext cx="210045" cy="2787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3230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 Payload Design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68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Sensor Scanning Techniques (1/3)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15" y="4509856"/>
            <a:ext cx="7886700" cy="2183907"/>
          </a:xfrm>
        </p:spPr>
        <p:txBody>
          <a:bodyPr>
            <a:normAutofit fontScale="92500"/>
          </a:bodyPr>
          <a:lstStyle/>
          <a:p>
            <a:pPr lvl="0" fontAlgn="base"/>
            <a:r>
              <a:rPr lang="en-US" dirty="0"/>
              <a:t>Whiskbroom sensors</a:t>
            </a:r>
          </a:p>
          <a:p>
            <a:pPr lvl="1" fontAlgn="base"/>
            <a:r>
              <a:rPr lang="en-US" dirty="0"/>
              <a:t>single detector element corresponding to a single pixel</a:t>
            </a:r>
          </a:p>
          <a:p>
            <a:pPr lvl="1" fontAlgn="base"/>
            <a:r>
              <a:rPr lang="en-US" dirty="0"/>
              <a:t>scans in </a:t>
            </a:r>
            <a:r>
              <a:rPr lang="en-US" dirty="0" err="1"/>
              <a:t>crosstrack</a:t>
            </a:r>
            <a:r>
              <a:rPr lang="en-US" dirty="0"/>
              <a:t> direction (often by means of a mirror)</a:t>
            </a:r>
          </a:p>
          <a:p>
            <a:pPr lvl="1" fontAlgn="base"/>
            <a:r>
              <a:rPr lang="en-US" dirty="0"/>
              <a:t>along-track scanning accomplished by motion of S/C along </a:t>
            </a:r>
            <a:r>
              <a:rPr lang="en-US" dirty="0" err="1"/>
              <a:t>groundtrack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05018" y="1465377"/>
            <a:ext cx="6280399" cy="2611436"/>
          </a:xfrm>
          <a:prstGeom prst="rect">
            <a:avLst/>
          </a:prstGeom>
          <a:ln w="12700"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835153" y="405905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Fig 9-14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0895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Sensor Scanning Techniques (2/3)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15" y="4509856"/>
            <a:ext cx="7886700" cy="2183907"/>
          </a:xfrm>
        </p:spPr>
        <p:txBody>
          <a:bodyPr>
            <a:normAutofit fontScale="70000" lnSpcReduction="20000"/>
          </a:bodyPr>
          <a:lstStyle/>
          <a:p>
            <a:pPr lvl="0" fontAlgn="base"/>
            <a:r>
              <a:rPr lang="en-US" dirty="0" err="1"/>
              <a:t>Pushbroom</a:t>
            </a:r>
            <a:r>
              <a:rPr lang="en-US" dirty="0"/>
              <a:t> sensor</a:t>
            </a:r>
          </a:p>
          <a:p>
            <a:pPr lvl="1" fontAlgn="base"/>
            <a:r>
              <a:rPr lang="en-US" dirty="0"/>
              <a:t>linear arrangement of sensors in </a:t>
            </a:r>
            <a:r>
              <a:rPr lang="en-US" dirty="0" err="1"/>
              <a:t>crosstrack</a:t>
            </a:r>
            <a:r>
              <a:rPr lang="en-US" dirty="0"/>
              <a:t> direction</a:t>
            </a:r>
          </a:p>
          <a:p>
            <a:pPr lvl="1" fontAlgn="base"/>
            <a:r>
              <a:rPr lang="en-US" dirty="0"/>
              <a:t>entire swath width read at once</a:t>
            </a:r>
          </a:p>
          <a:p>
            <a:pPr lvl="1" fontAlgn="base"/>
            <a:r>
              <a:rPr lang="en-US" dirty="0"/>
              <a:t>along-track scanning accomplished by motion of S/C along </a:t>
            </a:r>
            <a:r>
              <a:rPr lang="en-US" dirty="0" err="1"/>
              <a:t>groundtrack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0" fontAlgn="base"/>
            <a:r>
              <a:rPr lang="en-US" dirty="0"/>
              <a:t>Matrix scanner </a:t>
            </a:r>
            <a:r>
              <a:rPr lang="en-US" i="1" dirty="0"/>
              <a:t>(aka staring)</a:t>
            </a:r>
            <a:r>
              <a:rPr lang="en-US" dirty="0"/>
              <a:t> </a:t>
            </a:r>
          </a:p>
          <a:p>
            <a:pPr lvl="1" fontAlgn="base"/>
            <a:r>
              <a:rPr lang="en-US" dirty="0"/>
              <a:t>can capture entire image or be in segments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44030" y="386623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Fig 9-14</a:t>
            </a:r>
            <a:endParaRPr lang="en-US" b="1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774" y="1473707"/>
            <a:ext cx="2747752" cy="2351534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4588303" y="1434804"/>
            <a:ext cx="2744652" cy="235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968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882717"/>
            <a:ext cx="7886700" cy="1880171"/>
          </a:xfrm>
        </p:spPr>
        <p:txBody>
          <a:bodyPr/>
          <a:lstStyle/>
          <a:p>
            <a:pPr lvl="0" fontAlgn="base"/>
            <a:r>
              <a:rPr lang="en-US" dirty="0"/>
              <a:t>Synthetic aperture radar (SAR)</a:t>
            </a:r>
          </a:p>
          <a:p>
            <a:pPr lvl="1" fontAlgn="base"/>
            <a:r>
              <a:rPr lang="en-US" dirty="0"/>
              <a:t>active sensor (s/c emits radar and collects the return)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Sensor Scanning Techniques (3/3)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003" y="1690689"/>
            <a:ext cx="5410496" cy="30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2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Characterizing Remote Sensing Information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554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Spatial Resolution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S</a:t>
            </a:r>
            <a:r>
              <a:rPr lang="en-US" dirty="0" smtClean="0"/>
              <a:t>mallest </a:t>
            </a:r>
            <a:r>
              <a:rPr lang="en-US" dirty="0"/>
              <a:t>physical features that can be discriminated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064194"/>
            <a:ext cx="7886700" cy="2870823"/>
          </a:xfrm>
          <a:prstGeom prst="rect">
            <a:avLst/>
          </a:prstGeom>
        </p:spPr>
      </p:pic>
      <p:sp>
        <p:nvSpPr>
          <p:cNvPr id="11" name="Rectangle 72"/>
          <p:cNvSpPr>
            <a:spLocks/>
          </p:cNvSpPr>
          <p:nvPr/>
        </p:nvSpPr>
        <p:spPr bwMode="auto">
          <a:xfrm>
            <a:off x="2710150" y="6179344"/>
            <a:ext cx="618382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Image from Designing Space Missions and Systems, Presentation Slide 32 </a:t>
            </a:r>
          </a:p>
        </p:txBody>
      </p:sp>
    </p:spTree>
    <p:extLst>
      <p:ext uri="{BB962C8B-B14F-4D97-AF65-F5344CB8AC3E}">
        <p14:creationId xmlns:p14="http://schemas.microsoft.com/office/powerpoint/2010/main" val="3105936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5970" y="143220"/>
            <a:ext cx="6617493" cy="655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72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Spectral Resolution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1455" y="1584648"/>
            <a:ext cx="3032545" cy="4351338"/>
          </a:xfrm>
        </p:spPr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se </a:t>
            </a:r>
            <a:r>
              <a:rPr lang="en-US" dirty="0"/>
              <a:t>spectral content of scene to identify chemical composition</a:t>
            </a:r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8" y="1837678"/>
            <a:ext cx="5899007" cy="29578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48" y="5138260"/>
            <a:ext cx="4936601" cy="15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5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Radiance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R</a:t>
            </a:r>
            <a:r>
              <a:rPr lang="en-US" dirty="0" smtClean="0"/>
              <a:t>adiometric </a:t>
            </a:r>
            <a:r>
              <a:rPr lang="en-US" dirty="0"/>
              <a:t>info (intensity):  total amount of radiant energy</a:t>
            </a:r>
          </a:p>
          <a:p>
            <a:pPr lvl="1" fontAlgn="base"/>
            <a:r>
              <a:rPr lang="en-US" dirty="0"/>
              <a:t>impacted by number of quantization levels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05214"/>
            <a:ext cx="8185578" cy="2658889"/>
          </a:xfrm>
          <a:prstGeom prst="rect">
            <a:avLst/>
          </a:prstGeom>
        </p:spPr>
      </p:pic>
      <p:sp>
        <p:nvSpPr>
          <p:cNvPr id="11" name="Rectangle 72"/>
          <p:cNvSpPr>
            <a:spLocks/>
          </p:cNvSpPr>
          <p:nvPr/>
        </p:nvSpPr>
        <p:spPr bwMode="auto">
          <a:xfrm>
            <a:off x="2710150" y="6179344"/>
            <a:ext cx="618382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Image from Designing Space Missions and Systems, Presentation Slide 24 </a:t>
            </a:r>
          </a:p>
        </p:txBody>
      </p:sp>
    </p:spTree>
    <p:extLst>
      <p:ext uri="{BB962C8B-B14F-4D97-AF65-F5344CB8AC3E}">
        <p14:creationId xmlns:p14="http://schemas.microsoft.com/office/powerpoint/2010/main" val="2745268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Temporal Resolution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012" y="1825625"/>
            <a:ext cx="3073338" cy="4351338"/>
          </a:xfrm>
        </p:spPr>
        <p:txBody>
          <a:bodyPr/>
          <a:lstStyle/>
          <a:p>
            <a:r>
              <a:rPr lang="en-US" dirty="0"/>
              <a:t>time-changing characteristics (for comparison)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824585"/>
            <a:ext cx="4572000" cy="25717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322798"/>
            <a:ext cx="4591050" cy="2571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55194" y="6396335"/>
            <a:ext cx="2716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Digital Globe images of Pacific Junction, Iowa (Mar 2019)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0112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Rate (1/2)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9493"/>
                <a:ext cx="7886700" cy="508958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Data rate required for observation payloads depends on the resolution, coverage and amplitude accuracy</a:t>
                </a:r>
              </a:p>
              <a:p>
                <a:r>
                  <a:rPr lang="en-US" dirty="0" smtClean="0"/>
                  <a:t>With the maximum look angle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 smtClean="0"/>
                  <a:t>), spacecraft altitude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 smtClean="0"/>
                  <a:t>), and cross-track pixel size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) we must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pixels per swath line (cross-track)</a:t>
                </a:r>
              </a:p>
              <a:p>
                <a:r>
                  <a:rPr lang="en-US" dirty="0" smtClean="0"/>
                  <a:t>With S/C ground track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dirty="0" smtClean="0"/>
                  <a:t> and the along-track pixel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, we must scan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 smtClean="0"/>
                  <a:t> swath lines in one second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9493"/>
                <a:ext cx="7886700" cy="5089585"/>
              </a:xfrm>
              <a:blipFill>
                <a:blip r:embed="rId2"/>
                <a:stretch>
                  <a:fillRect l="-1391" t="-2036" r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643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Rate (2/2)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9493"/>
                <a:ext cx="7886700" cy="52220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600" dirty="0" smtClean="0"/>
                  <a:t>If we quantify the intensity of each pixel by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600" dirty="0" smtClean="0"/>
                  <a:t> bits, we generate a data rate of: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3200" dirty="0"/>
                  <a:t>   </a:t>
                </a:r>
                <a:r>
                  <a:rPr lang="en-US" sz="2400" dirty="0"/>
                  <a:t>(bits/second</a:t>
                </a:r>
                <a:r>
                  <a:rPr lang="en-US" sz="2400" dirty="0" smtClean="0"/>
                  <a:t>)	</a:t>
                </a:r>
                <a:r>
                  <a:rPr lang="en-US" sz="2000" dirty="0" smtClean="0"/>
                  <a:t>(</a:t>
                </a:r>
                <a:r>
                  <a:rPr lang="en-US" sz="2000" dirty="0" err="1" smtClean="0"/>
                  <a:t>Eqn</a:t>
                </a:r>
                <a:r>
                  <a:rPr lang="en-US" sz="2000" dirty="0" smtClean="0"/>
                  <a:t> 9-23)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dirty="0" smtClean="0"/>
                  <a:t>Where:</a:t>
                </a:r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𝐷𝑅</m:t>
                    </m:r>
                  </m:oMath>
                </a14:m>
                <a:r>
                  <a:rPr lang="en-US" sz="1800" dirty="0"/>
                  <a:t>: data rate (bits/second)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en-US" sz="1800" dirty="0"/>
                  <a:t>: swath width (m / scan line)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800" dirty="0"/>
                  <a:t>: spacecraft ground track velocity (m/s)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/>
                  <a:t>: across-track pixel dimension (m / pixel)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800" dirty="0"/>
                  <a:t>: along-track pixel dimension (m / scan line)</a:t>
                </a:r>
              </a:p>
              <a:p>
                <a:pPr marL="0" indent="0">
                  <a:buNone/>
                </a:pPr>
                <a:r>
                  <a:rPr lang="en-US" sz="1800" dirty="0" smtClean="0"/>
                  <a:t>	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800" dirty="0"/>
                  <a:t>: # of bits/pixel (bits / pixel</a:t>
                </a:r>
                <a:r>
                  <a:rPr lang="en-US" sz="1800" dirty="0" smtClean="0"/>
                  <a:t>)</a:t>
                </a:r>
              </a:p>
              <a:p>
                <a:pPr marL="0" indent="0">
                  <a:buNone/>
                </a:pPr>
                <a:endParaRPr lang="en-US" sz="1800" dirty="0" smtClean="0"/>
              </a:p>
              <a:p>
                <a:pPr marL="0" indent="0">
                  <a:buNone/>
                </a:pPr>
                <a:r>
                  <a:rPr lang="en-US" sz="1800" dirty="0" smtClean="0"/>
                  <a:t>*Note: This is just the data rate required for the payload data – later lessons will cover other data that the S/C must send down in addition!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9493"/>
                <a:ext cx="7886700" cy="5222025"/>
              </a:xfrm>
              <a:blipFill>
                <a:blip r:embed="rId2"/>
                <a:stretch>
                  <a:fillRect l="-1005" t="-2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185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Rate Example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Calculate the data rate </a:t>
            </a:r>
            <a:r>
              <a:rPr lang="en-US" dirty="0" smtClean="0"/>
              <a:t>needed for </a:t>
            </a:r>
            <a:r>
              <a:rPr lang="en-US" dirty="0"/>
              <a:t>a </a:t>
            </a:r>
            <a:r>
              <a:rPr lang="en-US" dirty="0" smtClean="0"/>
              <a:t>payload </a:t>
            </a:r>
            <a:r>
              <a:rPr lang="en-US" dirty="0"/>
              <a:t>with the following </a:t>
            </a:r>
            <a:r>
              <a:rPr lang="en-US" dirty="0" smtClean="0"/>
              <a:t>characteristics.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000" dirty="0" smtClean="0"/>
              <a:t>Mission characteristics:</a:t>
            </a:r>
          </a:p>
          <a:p>
            <a:pPr lvl="1"/>
            <a:r>
              <a:rPr lang="en-US" sz="1600" dirty="0" smtClean="0"/>
              <a:t>Swath </a:t>
            </a:r>
            <a:r>
              <a:rPr lang="en-US" sz="1600" dirty="0"/>
              <a:t>width: 50 km</a:t>
            </a:r>
          </a:p>
          <a:p>
            <a:pPr lvl="1"/>
            <a:r>
              <a:rPr lang="en-US" sz="1600" dirty="0" smtClean="0"/>
              <a:t>Circular </a:t>
            </a:r>
            <a:r>
              <a:rPr lang="en-US" sz="1600" dirty="0"/>
              <a:t>orbit</a:t>
            </a:r>
          </a:p>
          <a:p>
            <a:pPr lvl="1"/>
            <a:r>
              <a:rPr lang="en-US" sz="1600" dirty="0" smtClean="0"/>
              <a:t>Altitude</a:t>
            </a:r>
            <a:r>
              <a:rPr lang="en-US" sz="1600" dirty="0"/>
              <a:t>: 500 </a:t>
            </a:r>
            <a:r>
              <a:rPr lang="en-US" sz="1600" dirty="0" smtClean="0"/>
              <a:t>km</a:t>
            </a:r>
          </a:p>
          <a:p>
            <a:r>
              <a:rPr lang="en-US" sz="2000" dirty="0" smtClean="0"/>
              <a:t>Payload characteristics:</a:t>
            </a:r>
            <a:endParaRPr lang="en-US" sz="2000" dirty="0"/>
          </a:p>
          <a:p>
            <a:pPr lvl="1"/>
            <a:r>
              <a:rPr lang="en-US" sz="1600" dirty="0" smtClean="0"/>
              <a:t>Image </a:t>
            </a:r>
            <a:r>
              <a:rPr lang="en-US" sz="1600" dirty="0"/>
              <a:t>detector size: 2048 x 2048 pixels</a:t>
            </a:r>
          </a:p>
          <a:p>
            <a:pPr lvl="1"/>
            <a:r>
              <a:rPr lang="en-US" sz="1600" dirty="0" smtClean="0"/>
              <a:t>8-bit </a:t>
            </a:r>
            <a:r>
              <a:rPr lang="en-US" sz="1600" dirty="0"/>
              <a:t>per pixel resolution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16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Rate Example (2/2)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73694"/>
                <a:ext cx="7886700" cy="5308846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Solution: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Ground track velocity for circular orbit is equal to the number of times the Earth rotates during one </a:t>
                </a:r>
                <a:r>
                  <a:rPr lang="en-US" dirty="0" smtClean="0"/>
                  <a:t>period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6378.137+500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398600.5 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𝑘𝑚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rad>
                      <m:r>
                        <a:rPr lang="en-US" i="1">
                          <a:latin typeface="Cambria Math" panose="02040503050406030204" pitchFamily="18" charset="0"/>
                        </a:rPr>
                        <m:t>=5677.0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⊕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(6378.137 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5677.0 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=7.059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 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Use Fig 9-8 to get X and Y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𝑝𝑖𝑥𝑒𝑙𝑠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2(25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2048 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𝑝𝑖𝑥𝑒𝑙𝑠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=24.4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 </a:t>
                </a:r>
                <a:r>
                  <a:rPr lang="en-US" dirty="0" smtClean="0"/>
                  <a:t>Plugging it all back in:</a:t>
                </a:r>
                <a:endParaRPr lang="en-US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50,000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𝑠𝑐𝑎𝑛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𝑙𝑖𝑛𝑒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24.4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𝑝𝑖𝑥𝑒𝑙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7059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24.4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𝑠𝑐𝑎𝑛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𝑙𝑖𝑛𝑒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∙8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𝑏𝑖𝑡𝑠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𝑝𝑖𝑥𝑒𝑙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=4.737×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𝑏𝑖𝑡𝑠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=4.737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73694"/>
                <a:ext cx="7886700" cy="5308846"/>
              </a:xfrm>
              <a:blipFill>
                <a:blip r:embed="rId2"/>
                <a:stretch>
                  <a:fillRect l="-309" t="-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751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Spacecraft Design Budgets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</a:t>
            </a:r>
            <a:r>
              <a:rPr lang="en-US" dirty="0" smtClean="0"/>
              <a:t>udgets</a:t>
            </a:r>
            <a:r>
              <a:rPr lang="en-US" dirty="0"/>
              <a:t>: </a:t>
            </a:r>
            <a:r>
              <a:rPr lang="en-US" dirty="0" smtClean="0"/>
              <a:t>allocations </a:t>
            </a:r>
            <a:r>
              <a:rPr lang="en-US" dirty="0"/>
              <a:t>of finite resources or </a:t>
            </a:r>
            <a:r>
              <a:rPr lang="en-US" dirty="0" smtClean="0"/>
              <a:t>consumables</a:t>
            </a:r>
          </a:p>
          <a:p>
            <a:r>
              <a:rPr lang="en-US" dirty="0" smtClean="0"/>
              <a:t>Types:</a:t>
            </a:r>
          </a:p>
          <a:p>
            <a:pPr lvl="1"/>
            <a:r>
              <a:rPr lang="en-US" dirty="0" smtClean="0"/>
              <a:t>Power</a:t>
            </a:r>
          </a:p>
          <a:p>
            <a:pPr lvl="1"/>
            <a:r>
              <a:rPr lang="en-US" dirty="0" smtClean="0"/>
              <a:t>Mass (weight)</a:t>
            </a:r>
          </a:p>
          <a:p>
            <a:pPr lvl="1"/>
            <a:r>
              <a:rPr lang="en-US" dirty="0" smtClean="0"/>
              <a:t>Propellant</a:t>
            </a:r>
          </a:p>
          <a:p>
            <a:pPr lvl="1"/>
            <a:r>
              <a:rPr lang="en-US" dirty="0" smtClean="0"/>
              <a:t>Reliability (more to come on this later)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545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&amp; Power Budgets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See examples in SMAD in Appendix A</a:t>
                </a:r>
              </a:p>
              <a:p>
                <a:pPr lvl="1"/>
                <a:r>
                  <a:rPr lang="en-US" dirty="0" smtClean="0"/>
                  <a:t>Data is aggregated from a number of spacecraft to give designers an average of how much mass/power to allocate per subsystem</a:t>
                </a:r>
              </a:p>
              <a:p>
                <a:pPr lvl="1"/>
                <a:r>
                  <a:rPr lang="en-US" dirty="0" smtClean="0"/>
                  <a:t>Uses simple linear extrapolation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Spacecraft Mass and Power Budgets</a:t>
                </a:r>
                <a:endParaRPr lang="en-US" sz="2400" dirty="0"/>
              </a:p>
              <a:p>
                <a:pPr lvl="1" fontAlgn="base"/>
                <a:r>
                  <a:rPr lang="en-US" dirty="0"/>
                  <a:t>based on typical values</a:t>
                </a:r>
                <a:endParaRPr lang="en-US" sz="2000" dirty="0"/>
              </a:p>
              <a:p>
                <a:pPr lvl="1" fontAlgn="base"/>
                <a:r>
                  <a:rPr lang="en-US" dirty="0"/>
                  <a:t>early in program, it’s important to have a large margin: use 25% unless told otherwise</a:t>
                </a:r>
                <a:endParaRPr lang="en-US" sz="2000" dirty="0"/>
              </a:p>
              <a:p>
                <a:pPr fontAlgn="base"/>
                <a:r>
                  <a:rPr lang="en-US" dirty="0" smtClean="0"/>
                  <a:t>Process:</a:t>
                </a:r>
              </a:p>
              <a:p>
                <a:pPr marL="457200" lvl="1" indent="0" fontAlgn="base">
                  <a:buNone/>
                </a:pPr>
                <a:r>
                  <a:rPr lang="en-US" sz="2200" dirty="0" smtClean="0"/>
                  <a:t>estimate </a:t>
                </a:r>
                <a:r>
                  <a:rPr lang="en-US" sz="2200" dirty="0"/>
                  <a:t>M</a:t>
                </a:r>
                <a:r>
                  <a:rPr lang="en-US" sz="2200" baseline="-25000" dirty="0"/>
                  <a:t>P/L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smtClean="0"/>
                  <a:t>estimate </a:t>
                </a:r>
                <a:r>
                  <a:rPr lang="en-US" sz="2200" dirty="0"/>
                  <a:t>M</a:t>
                </a:r>
                <a:r>
                  <a:rPr lang="en-US" sz="2200" baseline="-25000" dirty="0"/>
                  <a:t>S/</a:t>
                </a:r>
                <a:r>
                  <a:rPr lang="en-US" sz="2200" baseline="-25000" dirty="0" err="1"/>
                  <a:t>Cdry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 smtClean="0"/>
                  <a:t>estimate </a:t>
                </a:r>
                <a:r>
                  <a:rPr lang="en-US" sz="2200" dirty="0" err="1"/>
                  <a:t>M</a:t>
                </a:r>
                <a:r>
                  <a:rPr lang="en-US" sz="2200" baseline="-25000" dirty="0" err="1"/>
                  <a:t>BusSubsystems</a:t>
                </a:r>
                <a:r>
                  <a:rPr lang="en-US" sz="2200" dirty="0"/>
                  <a:t>  </a:t>
                </a:r>
                <a:endParaRPr lang="en-US" sz="1900" dirty="0"/>
              </a:p>
              <a:p>
                <a:pPr lvl="1"/>
                <a:endParaRPr lang="en-US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140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Estimates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69507" y="1526960"/>
            <a:ext cx="5805996" cy="4119238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57628" y="5765710"/>
            <a:ext cx="8337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*Notes: 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Not all columns add to exactly 100%, as they are averages (that’s okay)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There is another table with other types of satellites in the SMAD Appendices</a:t>
            </a:r>
          </a:p>
        </p:txBody>
      </p:sp>
    </p:spTree>
    <p:extLst>
      <p:ext uri="{BB962C8B-B14F-4D97-AF65-F5344CB8AC3E}">
        <p14:creationId xmlns:p14="http://schemas.microsoft.com/office/powerpoint/2010/main" val="42464856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Estimates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58965" y="1367160"/>
            <a:ext cx="5674495" cy="3808521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39873" y="5295194"/>
            <a:ext cx="8337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*Notes: </a:t>
            </a:r>
          </a:p>
          <a:p>
            <a:r>
              <a:rPr lang="en-US" dirty="0" smtClean="0"/>
              <a:t>-    Pick low end of payload percentage to be conservative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Combine </a:t>
            </a:r>
            <a:r>
              <a:rPr lang="en-US" dirty="0" err="1" smtClean="0"/>
              <a:t>Comm</a:t>
            </a:r>
            <a:r>
              <a:rPr lang="en-US" dirty="0" smtClean="0"/>
              <a:t> and C&amp;DH to get TT&amp;C (to be consistent w/ mass estimates)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Can choose any combination of percentages in row, as long as the total sums to 100%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892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S/C Budget Example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Given: Communications satellite w/ payload mass of 250 kg and payload power of 350 W</a:t>
            </a:r>
          </a:p>
          <a:p>
            <a:r>
              <a:rPr lang="en-US" dirty="0" smtClean="0"/>
              <a:t>Find: Estimates of S/C dry mass w/ margin and S/C power w/ margin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188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S/C Budget Example (2/2)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5003074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250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0.274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=912.4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345 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0.4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=875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𝐵𝑢𝑠𝐷𝑟𝑦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𝐵𝑢𝑠𝐷𝑟𝑦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𝐶𝑑𝑟𝑦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1−0.274</m:t>
                          </m:r>
                        </m:e>
                      </m:d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912.4 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=662.4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𝐵𝑢𝑠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1−0.4</m:t>
                          </m:r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=525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𝑆𝑡𝑟𝑢𝑐𝑡𝑢𝑟𝑒𝑠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=0.213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=194.3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𝑆𝑡𝑟𝑢𝑐𝑡𝑢𝑟𝑒𝑠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𝑇𝐶𝑆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=0.036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=32.8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𝑇𝐶𝑆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=43.8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𝐸𝑃𝑆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=0.319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=291.1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𝐸𝑃𝑆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=175.0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=0.048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=43.8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=175.0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𝐴𝐷𝐶𝑆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=0.069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63.0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𝐴𝐷𝐶𝑆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=0.1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=87.5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𝑃𝑟𝑜𝑝𝑢𝑙𝑠𝑖𝑜𝑛𝐷𝑟𝑦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=0.038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=34.7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𝑃𝑟𝑜𝑝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=0.05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=43.8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𝐶𝑑𝑟𝑦𝑁𝑜𝑀𝑎𝑟𝑔𝑖𝑛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=909.7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𝐶𝑁𝑜𝑀𝑎𝑟𝑔𝑖𝑛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=875.0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=227.4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𝑀𝑎𝑟𝑔𝑖𝑛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=0.25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=218.8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𝐶𝑑𝑟𝑦𝑀𝑎𝑟𝑔𝑖𝑛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=1137.1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en-US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𝐶𝑚𝑎𝑟𝑔𝑖𝑛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=1093.8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5003074"/>
              </a:xfrm>
              <a:blipFill>
                <a:blip r:embed="rId2"/>
                <a:stretch>
                  <a:fillRect l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6378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8BE9763-D40C-4E08-BC58-7A64EA968EBD}"/>
</file>

<file path=customXml/itemProps2.xml><?xml version="1.0" encoding="utf-8"?>
<ds:datastoreItem xmlns:ds="http://schemas.openxmlformats.org/officeDocument/2006/customXml" ds:itemID="{ABEB1430-F1CD-4B6A-9873-D0659DAB5619}"/>
</file>

<file path=customXml/itemProps3.xml><?xml version="1.0" encoding="utf-8"?>
<ds:datastoreItem xmlns:ds="http://schemas.openxmlformats.org/officeDocument/2006/customXml" ds:itemID="{E09B1374-84DD-4B87-9AE0-5F6664A4A5D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6316</TotalTime>
  <Words>2330</Words>
  <Application>Microsoft Office PowerPoint</Application>
  <PresentationFormat>On-screen Show (4:3)</PresentationFormat>
  <Paragraphs>227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Cambria Math</vt:lpstr>
      <vt:lpstr>Symbol</vt:lpstr>
      <vt:lpstr>Office Theme</vt:lpstr>
      <vt:lpstr>PowerPoint Presentation</vt:lpstr>
      <vt:lpstr>Lesson Objectives</vt:lpstr>
      <vt:lpstr>Overview of Electromagnetic Spectrum</vt:lpstr>
      <vt:lpstr>Electromagnetic Spectrum</vt:lpstr>
      <vt:lpstr>PowerPoint Presentation</vt:lpstr>
      <vt:lpstr>PowerPoint Presentation</vt:lpstr>
      <vt:lpstr>Wien’s Law</vt:lpstr>
      <vt:lpstr>PowerPoint Presentation</vt:lpstr>
      <vt:lpstr>PowerPoint Presentation</vt:lpstr>
      <vt:lpstr>Telescope Design &amp; Resolution</vt:lpstr>
      <vt:lpstr>Basic Telescope Optics (1/2)</vt:lpstr>
      <vt:lpstr>Basic Telescope Optics (2/2)</vt:lpstr>
      <vt:lpstr>PowerPoint Presentation</vt:lpstr>
      <vt:lpstr>Resolution</vt:lpstr>
      <vt:lpstr>Diffraction Limited Resolution (1/4)</vt:lpstr>
      <vt:lpstr>Diffraction Limited Resolution (2/4)</vt:lpstr>
      <vt:lpstr>Diffraction Limited Resolution (3/4)</vt:lpstr>
      <vt:lpstr>PowerPoint Presentation</vt:lpstr>
      <vt:lpstr>Pixel Limited Resolution</vt:lpstr>
      <vt:lpstr>Quality Factor (1/2)</vt:lpstr>
      <vt:lpstr>Quality Factor (2/2)</vt:lpstr>
      <vt:lpstr>PowerPoint Presentation</vt:lpstr>
      <vt:lpstr>Observation Payload Design</vt:lpstr>
      <vt:lpstr>Sensor Scanning Techniques (1/3)</vt:lpstr>
      <vt:lpstr>Sensor Scanning Techniques (2/3)</vt:lpstr>
      <vt:lpstr>Sensor Scanning Techniques (3/3)</vt:lpstr>
      <vt:lpstr>Characterizing Remote Sensing Information</vt:lpstr>
      <vt:lpstr>Spatial Resolution</vt:lpstr>
      <vt:lpstr>PowerPoint Presentation</vt:lpstr>
      <vt:lpstr>Spectral Resolution</vt:lpstr>
      <vt:lpstr>Radiance Resolution</vt:lpstr>
      <vt:lpstr>Temporal Resolution</vt:lpstr>
      <vt:lpstr>Data Rate (1/2)</vt:lpstr>
      <vt:lpstr>Data Rate (2/2)</vt:lpstr>
      <vt:lpstr>Data Rate Example (1/2)</vt:lpstr>
      <vt:lpstr>Data Rate Example (2/2)</vt:lpstr>
      <vt:lpstr>Spacecraft Design Budgets</vt:lpstr>
      <vt:lpstr>Mass &amp; Power Budgets</vt:lpstr>
      <vt:lpstr>Mass Estimates</vt:lpstr>
      <vt:lpstr>Power Estimates</vt:lpstr>
      <vt:lpstr>S/C Budget Example (1/2)</vt:lpstr>
      <vt:lpstr>S/C Budget Example (2/2)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Quadrino, Meghan K Capt USAF USAFA USAFA/DFAS</cp:lastModifiedBy>
  <cp:revision>132</cp:revision>
  <cp:lastPrinted>2019-07-09T19:13:54Z</cp:lastPrinted>
  <dcterms:created xsi:type="dcterms:W3CDTF">2019-06-13T20:36:51Z</dcterms:created>
  <dcterms:modified xsi:type="dcterms:W3CDTF">2022-06-10T18:16:28Z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