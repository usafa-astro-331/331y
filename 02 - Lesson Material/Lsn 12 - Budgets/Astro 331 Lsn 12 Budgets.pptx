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4"/>
  </p:sldMasterIdLst>
  <p:notesMasterIdLst>
    <p:notesMasterId r:id="rId32"/>
  </p:notesMasterIdLst>
  <p:sldIdLst>
    <p:sldId id="256" r:id="rId5"/>
    <p:sldId id="275" r:id="rId6"/>
    <p:sldId id="278" r:id="rId7"/>
    <p:sldId id="283" r:id="rId8"/>
    <p:sldId id="295" r:id="rId9"/>
    <p:sldId id="300" r:id="rId10"/>
    <p:sldId id="281" r:id="rId11"/>
    <p:sldId id="282" r:id="rId12"/>
    <p:sldId id="280" r:id="rId13"/>
    <p:sldId id="302" r:id="rId14"/>
    <p:sldId id="279" r:id="rId15"/>
    <p:sldId id="289" r:id="rId16"/>
    <p:sldId id="293" r:id="rId17"/>
    <p:sldId id="286" r:id="rId18"/>
    <p:sldId id="287" r:id="rId19"/>
    <p:sldId id="294" r:id="rId20"/>
    <p:sldId id="301" r:id="rId21"/>
    <p:sldId id="288" r:id="rId22"/>
    <p:sldId id="284" r:id="rId23"/>
    <p:sldId id="290" r:id="rId24"/>
    <p:sldId id="285" r:id="rId25"/>
    <p:sldId id="296" r:id="rId26"/>
    <p:sldId id="291" r:id="rId27"/>
    <p:sldId id="292" r:id="rId28"/>
    <p:sldId id="299" r:id="rId29"/>
    <p:sldId id="297" r:id="rId30"/>
    <p:sldId id="298" r:id="rId31"/>
  </p:sldIdLst>
  <p:sldSz cx="9144000" cy="6858000" type="letter"/>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AA6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BA056C2-5E8F-49C9-B67A-201D5DA51E32}" v="70" dt="2026-03-09T14:25:33.38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465" autoAdjust="0"/>
    <p:restoredTop sz="74804" autoAdjust="0"/>
  </p:normalViewPr>
  <p:slideViewPr>
    <p:cSldViewPr snapToGrid="0">
      <p:cViewPr>
        <p:scale>
          <a:sx n="150" d="100"/>
          <a:sy n="150" d="100"/>
        </p:scale>
        <p:origin x="2120" y="-13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notesMaster" Target="notesMasters/notesMaster1.xml"/><Relationship Id="rId37"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rris, Wyatt J Lt Col USAF USAFA DF/DFAS" userId="768bfb95-c272-4014-8fa2-010c15306053" providerId="ADAL" clId="{E18DAD13-4A53-44B8-9F3F-46E167733190}"/>
    <pc:docChg chg="custSel addSld modSld">
      <pc:chgData name="Harris, Wyatt J Lt Col USAF USAFA DF/DFAS" userId="768bfb95-c272-4014-8fa2-010c15306053" providerId="ADAL" clId="{E18DAD13-4A53-44B8-9F3F-46E167733190}" dt="2026-03-09T14:25:33.387" v="113" actId="20577"/>
      <pc:docMkLst>
        <pc:docMk/>
      </pc:docMkLst>
      <pc:sldChg chg="modSp">
        <pc:chgData name="Harris, Wyatt J Lt Col USAF USAFA DF/DFAS" userId="768bfb95-c272-4014-8fa2-010c15306053" providerId="ADAL" clId="{E18DAD13-4A53-44B8-9F3F-46E167733190}" dt="2026-03-09T14:06:34.526" v="10" actId="207"/>
        <pc:sldMkLst>
          <pc:docMk/>
          <pc:sldMk cId="2156794807" sldId="278"/>
        </pc:sldMkLst>
        <pc:spChg chg="mod">
          <ac:chgData name="Harris, Wyatt J Lt Col USAF USAFA DF/DFAS" userId="768bfb95-c272-4014-8fa2-010c15306053" providerId="ADAL" clId="{E18DAD13-4A53-44B8-9F3F-46E167733190}" dt="2026-03-09T14:06:34.526" v="10" actId="207"/>
          <ac:spMkLst>
            <pc:docMk/>
            <pc:sldMk cId="2156794807" sldId="278"/>
            <ac:spMk id="6" creationId="{D05A0BFF-DD3A-623C-7A28-4EE49FBDDA98}"/>
          </ac:spMkLst>
        </pc:spChg>
      </pc:sldChg>
      <pc:sldChg chg="modNotesTx">
        <pc:chgData name="Harris, Wyatt J Lt Col USAF USAFA DF/DFAS" userId="768bfb95-c272-4014-8fa2-010c15306053" providerId="ADAL" clId="{E18DAD13-4A53-44B8-9F3F-46E167733190}" dt="2026-03-09T14:11:23.801" v="41" actId="20577"/>
        <pc:sldMkLst>
          <pc:docMk/>
          <pc:sldMk cId="1117875221" sldId="280"/>
        </pc:sldMkLst>
      </pc:sldChg>
      <pc:sldChg chg="modSp">
        <pc:chgData name="Harris, Wyatt J Lt Col USAF USAFA DF/DFAS" userId="768bfb95-c272-4014-8fa2-010c15306053" providerId="ADAL" clId="{E18DAD13-4A53-44B8-9F3F-46E167733190}" dt="2026-03-09T14:07:57.865" v="34" actId="20577"/>
        <pc:sldMkLst>
          <pc:docMk/>
          <pc:sldMk cId="1505735455" sldId="283"/>
        </pc:sldMkLst>
        <pc:spChg chg="mod">
          <ac:chgData name="Harris, Wyatt J Lt Col USAF USAFA DF/DFAS" userId="768bfb95-c272-4014-8fa2-010c15306053" providerId="ADAL" clId="{E18DAD13-4A53-44B8-9F3F-46E167733190}" dt="2026-03-09T14:07:57.865" v="34" actId="20577"/>
          <ac:spMkLst>
            <pc:docMk/>
            <pc:sldMk cId="1505735455" sldId="283"/>
            <ac:spMk id="2" creationId="{99A75D25-ABB5-CE19-417A-7E25B679CF87}"/>
          </ac:spMkLst>
        </pc:spChg>
        <pc:spChg chg="mod">
          <ac:chgData name="Harris, Wyatt J Lt Col USAF USAFA DF/DFAS" userId="768bfb95-c272-4014-8fa2-010c15306053" providerId="ADAL" clId="{E18DAD13-4A53-44B8-9F3F-46E167733190}" dt="2026-03-09T14:07:34.841" v="11" actId="20577"/>
          <ac:spMkLst>
            <pc:docMk/>
            <pc:sldMk cId="1505735455" sldId="283"/>
            <ac:spMk id="3" creationId="{A5DE87AA-A790-976E-51DA-5B8A70C044C8}"/>
          </ac:spMkLst>
        </pc:spChg>
      </pc:sldChg>
      <pc:sldChg chg="addSp delSp modSp mod modAnim">
        <pc:chgData name="Harris, Wyatt J Lt Col USAF USAFA DF/DFAS" userId="768bfb95-c272-4014-8fa2-010c15306053" providerId="ADAL" clId="{E18DAD13-4A53-44B8-9F3F-46E167733190}" dt="2026-03-09T14:25:33.387" v="113" actId="20577"/>
        <pc:sldMkLst>
          <pc:docMk/>
          <pc:sldMk cId="654903504" sldId="285"/>
        </pc:sldMkLst>
        <pc:spChg chg="mod">
          <ac:chgData name="Harris, Wyatt J Lt Col USAF USAFA DF/DFAS" userId="768bfb95-c272-4014-8fa2-010c15306053" providerId="ADAL" clId="{E18DAD13-4A53-44B8-9F3F-46E167733190}" dt="2026-03-09T14:25:33.387" v="113" actId="20577"/>
          <ac:spMkLst>
            <pc:docMk/>
            <pc:sldMk cId="654903504" sldId="285"/>
            <ac:spMk id="10" creationId="{5F024DD1-0867-4200-7E98-33CB87987DC6}"/>
          </ac:spMkLst>
        </pc:spChg>
        <pc:grpChg chg="add mod">
          <ac:chgData name="Harris, Wyatt J Lt Col USAF USAFA DF/DFAS" userId="768bfb95-c272-4014-8fa2-010c15306053" providerId="ADAL" clId="{E18DAD13-4A53-44B8-9F3F-46E167733190}" dt="2026-03-09T14:24:56.173" v="107" actId="164"/>
          <ac:grpSpMkLst>
            <pc:docMk/>
            <pc:sldMk cId="654903504" sldId="285"/>
            <ac:grpSpMk id="13" creationId="{C667FBF4-645D-5333-80AB-B6A44DE6FEE1}"/>
          </ac:grpSpMkLst>
        </pc:grpChg>
        <pc:picChg chg="add del">
          <ac:chgData name="Harris, Wyatt J Lt Col USAF USAFA DF/DFAS" userId="768bfb95-c272-4014-8fa2-010c15306053" providerId="ADAL" clId="{E18DAD13-4A53-44B8-9F3F-46E167733190}" dt="2026-03-09T14:24:59.302" v="108" actId="478"/>
          <ac:picMkLst>
            <pc:docMk/>
            <pc:sldMk cId="654903504" sldId="285"/>
            <ac:picMk id="7" creationId="{42ACD7D7-DDC3-4D48-D326-04F1F08F1817}"/>
          </ac:picMkLst>
        </pc:picChg>
        <pc:picChg chg="add mod">
          <ac:chgData name="Harris, Wyatt J Lt Col USAF USAFA DF/DFAS" userId="768bfb95-c272-4014-8fa2-010c15306053" providerId="ADAL" clId="{E18DAD13-4A53-44B8-9F3F-46E167733190}" dt="2026-03-09T14:24:56.173" v="107" actId="164"/>
          <ac:picMkLst>
            <pc:docMk/>
            <pc:sldMk cId="654903504" sldId="285"/>
            <ac:picMk id="9" creationId="{8BD2AEA0-76DA-3FF1-697A-2F419FC06F2B}"/>
          </ac:picMkLst>
        </pc:picChg>
        <pc:picChg chg="add mod">
          <ac:chgData name="Harris, Wyatt J Lt Col USAF USAFA DF/DFAS" userId="768bfb95-c272-4014-8fa2-010c15306053" providerId="ADAL" clId="{E18DAD13-4A53-44B8-9F3F-46E167733190}" dt="2026-03-09T14:24:56.173" v="107" actId="164"/>
          <ac:picMkLst>
            <pc:docMk/>
            <pc:sldMk cId="654903504" sldId="285"/>
            <ac:picMk id="12" creationId="{D31C06CA-26FD-48AC-A6E3-84DA174BD499}"/>
          </ac:picMkLst>
        </pc:picChg>
        <pc:picChg chg="mod">
          <ac:chgData name="Harris, Wyatt J Lt Col USAF USAFA DF/DFAS" userId="768bfb95-c272-4014-8fa2-010c15306053" providerId="ADAL" clId="{E18DAD13-4A53-44B8-9F3F-46E167733190}" dt="2026-03-09T14:24:56.173" v="107" actId="164"/>
          <ac:picMkLst>
            <pc:docMk/>
            <pc:sldMk cId="654903504" sldId="285"/>
            <ac:picMk id="6146" creationId="{CF078EE3-4E72-F3CE-665B-752E38E04E14}"/>
          </ac:picMkLst>
        </pc:picChg>
      </pc:sldChg>
      <pc:sldChg chg="modSp mod">
        <pc:chgData name="Harris, Wyatt J Lt Col USAF USAFA DF/DFAS" userId="768bfb95-c272-4014-8fa2-010c15306053" providerId="ADAL" clId="{E18DAD13-4A53-44B8-9F3F-46E167733190}" dt="2026-03-09T14:13:59.419" v="74" actId="114"/>
        <pc:sldMkLst>
          <pc:docMk/>
          <pc:sldMk cId="3458006332" sldId="286"/>
        </pc:sldMkLst>
        <pc:spChg chg="mod">
          <ac:chgData name="Harris, Wyatt J Lt Col USAF USAFA DF/DFAS" userId="768bfb95-c272-4014-8fa2-010c15306053" providerId="ADAL" clId="{E18DAD13-4A53-44B8-9F3F-46E167733190}" dt="2026-03-09T14:13:59.419" v="74" actId="114"/>
          <ac:spMkLst>
            <pc:docMk/>
            <pc:sldMk cId="3458006332" sldId="286"/>
            <ac:spMk id="3" creationId="{2249FC56-6751-D78E-D923-DA6882559818}"/>
          </ac:spMkLst>
        </pc:spChg>
        <pc:picChg chg="mod">
          <ac:chgData name="Harris, Wyatt J Lt Col USAF USAFA DF/DFAS" userId="768bfb95-c272-4014-8fa2-010c15306053" providerId="ADAL" clId="{E18DAD13-4A53-44B8-9F3F-46E167733190}" dt="2026-03-09T14:13:11.782" v="72" actId="1076"/>
          <ac:picMkLst>
            <pc:docMk/>
            <pc:sldMk cId="3458006332" sldId="286"/>
            <ac:picMk id="8" creationId="{A6DC33A7-83EB-BE68-6C92-D761C2E1E6DF}"/>
          </ac:picMkLst>
        </pc:picChg>
      </pc:sldChg>
      <pc:sldChg chg="modSp">
        <pc:chgData name="Harris, Wyatt J Lt Col USAF USAFA DF/DFAS" userId="768bfb95-c272-4014-8fa2-010c15306053" providerId="ADAL" clId="{E18DAD13-4A53-44B8-9F3F-46E167733190}" dt="2026-03-09T14:20:16.934" v="93" actId="20577"/>
        <pc:sldMkLst>
          <pc:docMk/>
          <pc:sldMk cId="4196152226" sldId="288"/>
        </pc:sldMkLst>
        <pc:spChg chg="mod">
          <ac:chgData name="Harris, Wyatt J Lt Col USAF USAFA DF/DFAS" userId="768bfb95-c272-4014-8fa2-010c15306053" providerId="ADAL" clId="{E18DAD13-4A53-44B8-9F3F-46E167733190}" dt="2026-03-09T14:20:16.934" v="93" actId="20577"/>
          <ac:spMkLst>
            <pc:docMk/>
            <pc:sldMk cId="4196152226" sldId="288"/>
            <ac:spMk id="3" creationId="{FBBA7A48-EA28-C328-E34B-A297347ECD51}"/>
          </ac:spMkLst>
        </pc:spChg>
      </pc:sldChg>
      <pc:sldChg chg="modSp modAnim">
        <pc:chgData name="Harris, Wyatt J Lt Col USAF USAFA DF/DFAS" userId="768bfb95-c272-4014-8fa2-010c15306053" providerId="ADAL" clId="{E18DAD13-4A53-44B8-9F3F-46E167733190}" dt="2026-03-09T14:18:07.949" v="92"/>
        <pc:sldMkLst>
          <pc:docMk/>
          <pc:sldMk cId="4252465140" sldId="294"/>
        </pc:sldMkLst>
        <pc:spChg chg="mod">
          <ac:chgData name="Harris, Wyatt J Lt Col USAF USAFA DF/DFAS" userId="768bfb95-c272-4014-8fa2-010c15306053" providerId="ADAL" clId="{E18DAD13-4A53-44B8-9F3F-46E167733190}" dt="2026-03-09T14:16:39.917" v="84" actId="207"/>
          <ac:spMkLst>
            <pc:docMk/>
            <pc:sldMk cId="4252465140" sldId="294"/>
            <ac:spMk id="2" creationId="{2D8C832F-B155-21E2-9BAC-1AF5C9BE2FD8}"/>
          </ac:spMkLst>
        </pc:spChg>
        <pc:spChg chg="mod">
          <ac:chgData name="Harris, Wyatt J Lt Col USAF USAFA DF/DFAS" userId="768bfb95-c272-4014-8fa2-010c15306053" providerId="ADAL" clId="{E18DAD13-4A53-44B8-9F3F-46E167733190}" dt="2026-03-09T14:16:34.985" v="83" actId="207"/>
          <ac:spMkLst>
            <pc:docMk/>
            <pc:sldMk cId="4252465140" sldId="294"/>
            <ac:spMk id="3" creationId="{2F847433-905D-0FEE-33D8-3C03F47DE392}"/>
          </ac:spMkLst>
        </pc:spChg>
        <pc:picChg chg="mod">
          <ac:chgData name="Harris, Wyatt J Lt Col USAF USAFA DF/DFAS" userId="768bfb95-c272-4014-8fa2-010c15306053" providerId="ADAL" clId="{E18DAD13-4A53-44B8-9F3F-46E167733190}" dt="2026-03-09T14:16:54.593" v="85"/>
          <ac:picMkLst>
            <pc:docMk/>
            <pc:sldMk cId="4252465140" sldId="294"/>
            <ac:picMk id="5" creationId="{6A008431-484E-D5A2-FE82-EB46F91C39E9}"/>
          </ac:picMkLst>
        </pc:picChg>
      </pc:sldChg>
      <pc:sldChg chg="modSp">
        <pc:chgData name="Harris, Wyatt J Lt Col USAF USAFA DF/DFAS" userId="768bfb95-c272-4014-8fa2-010c15306053" providerId="ADAL" clId="{E18DAD13-4A53-44B8-9F3F-46E167733190}" dt="2026-03-09T14:09:25.306" v="40" actId="113"/>
        <pc:sldMkLst>
          <pc:docMk/>
          <pc:sldMk cId="2367431650" sldId="295"/>
        </pc:sldMkLst>
        <pc:spChg chg="mod">
          <ac:chgData name="Harris, Wyatt J Lt Col USAF USAFA DF/DFAS" userId="768bfb95-c272-4014-8fa2-010c15306053" providerId="ADAL" clId="{E18DAD13-4A53-44B8-9F3F-46E167733190}" dt="2026-03-09T14:09:25.306" v="40" actId="113"/>
          <ac:spMkLst>
            <pc:docMk/>
            <pc:sldMk cId="2367431650" sldId="295"/>
            <ac:spMk id="3" creationId="{051733D2-D922-FE1C-4883-9B131A5F2549}"/>
          </ac:spMkLst>
        </pc:spChg>
      </pc:sldChg>
      <pc:sldChg chg="modSp mod">
        <pc:chgData name="Harris, Wyatt J Lt Col USAF USAFA DF/DFAS" userId="768bfb95-c272-4014-8fa2-010c15306053" providerId="ADAL" clId="{E18DAD13-4A53-44B8-9F3F-46E167733190}" dt="2026-03-09T14:08:30.537" v="38" actId="207"/>
        <pc:sldMkLst>
          <pc:docMk/>
          <pc:sldMk cId="4188293014" sldId="300"/>
        </pc:sldMkLst>
        <pc:spChg chg="mod">
          <ac:chgData name="Harris, Wyatt J Lt Col USAF USAFA DF/DFAS" userId="768bfb95-c272-4014-8fa2-010c15306053" providerId="ADAL" clId="{E18DAD13-4A53-44B8-9F3F-46E167733190}" dt="2026-03-09T14:08:30.537" v="38" actId="207"/>
          <ac:spMkLst>
            <pc:docMk/>
            <pc:sldMk cId="4188293014" sldId="300"/>
            <ac:spMk id="2" creationId="{8743B93D-89F8-96E7-FD5A-999E364664DA}"/>
          </ac:spMkLst>
        </pc:spChg>
      </pc:sldChg>
      <pc:sldChg chg="addSp delSp modSp new mod modClrScheme chgLayout">
        <pc:chgData name="Harris, Wyatt J Lt Col USAF USAFA DF/DFAS" userId="768bfb95-c272-4014-8fa2-010c15306053" providerId="ADAL" clId="{E18DAD13-4A53-44B8-9F3F-46E167733190}" dt="2026-03-09T14:12:23.625" v="66" actId="478"/>
        <pc:sldMkLst>
          <pc:docMk/>
          <pc:sldMk cId="2519143306" sldId="302"/>
        </pc:sldMkLst>
        <pc:spChg chg="del mod ord">
          <ac:chgData name="Harris, Wyatt J Lt Col USAF USAFA DF/DFAS" userId="768bfb95-c272-4014-8fa2-010c15306053" providerId="ADAL" clId="{E18DAD13-4A53-44B8-9F3F-46E167733190}" dt="2026-03-09T14:12:12.334" v="43" actId="700"/>
          <ac:spMkLst>
            <pc:docMk/>
            <pc:sldMk cId="2519143306" sldId="302"/>
            <ac:spMk id="2" creationId="{33A1837A-0D48-9251-3A50-16BB36D2A811}"/>
          </ac:spMkLst>
        </pc:spChg>
        <pc:spChg chg="del mod ord">
          <ac:chgData name="Harris, Wyatt J Lt Col USAF USAFA DF/DFAS" userId="768bfb95-c272-4014-8fa2-010c15306053" providerId="ADAL" clId="{E18DAD13-4A53-44B8-9F3F-46E167733190}" dt="2026-03-09T14:12:12.334" v="43" actId="700"/>
          <ac:spMkLst>
            <pc:docMk/>
            <pc:sldMk cId="2519143306" sldId="302"/>
            <ac:spMk id="3" creationId="{9B4A45F6-B9D2-F823-FD1C-4577FF8D2689}"/>
          </ac:spMkLst>
        </pc:spChg>
        <pc:spChg chg="mod ord">
          <ac:chgData name="Harris, Wyatt J Lt Col USAF USAFA DF/DFAS" userId="768bfb95-c272-4014-8fa2-010c15306053" providerId="ADAL" clId="{E18DAD13-4A53-44B8-9F3F-46E167733190}" dt="2026-03-09T14:12:12.334" v="43" actId="700"/>
          <ac:spMkLst>
            <pc:docMk/>
            <pc:sldMk cId="2519143306" sldId="302"/>
            <ac:spMk id="4" creationId="{A46B3552-2C07-A321-0B3F-30B22C614F04}"/>
          </ac:spMkLst>
        </pc:spChg>
        <pc:spChg chg="add mod ord">
          <ac:chgData name="Harris, Wyatt J Lt Col USAF USAFA DF/DFAS" userId="768bfb95-c272-4014-8fa2-010c15306053" providerId="ADAL" clId="{E18DAD13-4A53-44B8-9F3F-46E167733190}" dt="2026-03-09T14:12:20.410" v="65" actId="20577"/>
          <ac:spMkLst>
            <pc:docMk/>
            <pc:sldMk cId="2519143306" sldId="302"/>
            <ac:spMk id="5" creationId="{C4C9A11A-AB5F-8301-DDC0-6E92EF244928}"/>
          </ac:spMkLst>
        </pc:spChg>
        <pc:spChg chg="add del mod ord">
          <ac:chgData name="Harris, Wyatt J Lt Col USAF USAFA DF/DFAS" userId="768bfb95-c272-4014-8fa2-010c15306053" providerId="ADAL" clId="{E18DAD13-4A53-44B8-9F3F-46E167733190}" dt="2026-03-09T14:12:23.625" v="66" actId="478"/>
          <ac:spMkLst>
            <pc:docMk/>
            <pc:sldMk cId="2519143306" sldId="302"/>
            <ac:spMk id="6" creationId="{13591E5F-9C58-F8F1-A0A4-A4B28E226B67}"/>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32" tIns="45716" rIns="91432" bIns="45716"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32" tIns="45716" rIns="91432" bIns="45716" rtlCol="0"/>
          <a:lstStyle>
            <a:lvl1pPr algn="r">
              <a:defRPr sz="1200"/>
            </a:lvl1pPr>
          </a:lstStyle>
          <a:p>
            <a:fld id="{94D2EC29-5E9A-49E8-BC12-73FDF6305747}" type="datetimeFigureOut">
              <a:rPr lang="en-US" smtClean="0"/>
              <a:t>3/9/2026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32" tIns="45716" rIns="91432" bIns="45716"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32" tIns="45716" rIns="91432" bIns="45716"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32" tIns="45716" rIns="91432" bIns="45716"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32" tIns="45716" rIns="91432" bIns="45716" rtlCol="0" anchor="b"/>
          <a:lstStyle>
            <a:lvl1pPr algn="r">
              <a:defRPr sz="1200"/>
            </a:lvl1pPr>
          </a:lstStyle>
          <a:p>
            <a:fld id="{9EB4C982-825B-414E-ABB9-79AB251390A5}" type="slidenum">
              <a:rPr lang="en-US" smtClean="0"/>
              <a:t>‹#›</a:t>
            </a:fld>
            <a:endParaRPr lang="en-US"/>
          </a:p>
        </p:txBody>
      </p:sp>
    </p:spTree>
    <p:extLst>
      <p:ext uri="{BB962C8B-B14F-4D97-AF65-F5344CB8AC3E}">
        <p14:creationId xmlns:p14="http://schemas.microsoft.com/office/powerpoint/2010/main" val="642321261"/>
      </p:ext>
    </p:extLst>
  </p:cSld>
  <p:clrMap bg1="lt1" tx1="dk1" bg2="lt2" tx2="dk2" accent1="accent1" accent2="accent2" accent3="accent3" accent4="accent4" accent5="accent5" accent6="accent6" hlink="hlink" folHlink="folHlink"/>
  <p:notesStyle>
    <a:lvl1pPr marL="0" algn="l" defTabSz="914315" rtl="0" eaLnBrk="1" latinLnBrk="0" hangingPunct="1">
      <a:defRPr sz="1200" kern="1200">
        <a:solidFill>
          <a:schemeClr val="tx1"/>
        </a:solidFill>
        <a:latin typeface="+mn-lt"/>
        <a:ea typeface="+mn-ea"/>
        <a:cs typeface="+mn-cs"/>
      </a:defRPr>
    </a:lvl1pPr>
    <a:lvl2pPr marL="457158" algn="l" defTabSz="914315" rtl="0" eaLnBrk="1" latinLnBrk="0" hangingPunct="1">
      <a:defRPr sz="1200" kern="1200">
        <a:solidFill>
          <a:schemeClr val="tx1"/>
        </a:solidFill>
        <a:latin typeface="+mn-lt"/>
        <a:ea typeface="+mn-ea"/>
        <a:cs typeface="+mn-cs"/>
      </a:defRPr>
    </a:lvl2pPr>
    <a:lvl3pPr marL="914315" algn="l" defTabSz="914315" rtl="0" eaLnBrk="1" latinLnBrk="0" hangingPunct="1">
      <a:defRPr sz="1200" kern="1200">
        <a:solidFill>
          <a:schemeClr val="tx1"/>
        </a:solidFill>
        <a:latin typeface="+mn-lt"/>
        <a:ea typeface="+mn-ea"/>
        <a:cs typeface="+mn-cs"/>
      </a:defRPr>
    </a:lvl3pPr>
    <a:lvl4pPr marL="1371474" algn="l" defTabSz="914315" rtl="0" eaLnBrk="1" latinLnBrk="0" hangingPunct="1">
      <a:defRPr sz="1200" kern="1200">
        <a:solidFill>
          <a:schemeClr val="tx1"/>
        </a:solidFill>
        <a:latin typeface="+mn-lt"/>
        <a:ea typeface="+mn-ea"/>
        <a:cs typeface="+mn-cs"/>
      </a:defRPr>
    </a:lvl4pPr>
    <a:lvl5pPr marL="1828631" algn="l" defTabSz="914315" rtl="0" eaLnBrk="1" latinLnBrk="0" hangingPunct="1">
      <a:defRPr sz="1200" kern="1200">
        <a:solidFill>
          <a:schemeClr val="tx1"/>
        </a:solidFill>
        <a:latin typeface="+mn-lt"/>
        <a:ea typeface="+mn-ea"/>
        <a:cs typeface="+mn-cs"/>
      </a:defRPr>
    </a:lvl5pPr>
    <a:lvl6pPr marL="2285789" algn="l" defTabSz="914315" rtl="0" eaLnBrk="1" latinLnBrk="0" hangingPunct="1">
      <a:defRPr sz="1200" kern="1200">
        <a:solidFill>
          <a:schemeClr val="tx1"/>
        </a:solidFill>
        <a:latin typeface="+mn-lt"/>
        <a:ea typeface="+mn-ea"/>
        <a:cs typeface="+mn-cs"/>
      </a:defRPr>
    </a:lvl6pPr>
    <a:lvl7pPr marL="2742947" algn="l" defTabSz="914315" rtl="0" eaLnBrk="1" latinLnBrk="0" hangingPunct="1">
      <a:defRPr sz="1200" kern="1200">
        <a:solidFill>
          <a:schemeClr val="tx1"/>
        </a:solidFill>
        <a:latin typeface="+mn-lt"/>
        <a:ea typeface="+mn-ea"/>
        <a:cs typeface="+mn-cs"/>
      </a:defRPr>
    </a:lvl7pPr>
    <a:lvl8pPr marL="3200104" algn="l" defTabSz="914315" rtl="0" eaLnBrk="1" latinLnBrk="0" hangingPunct="1">
      <a:defRPr sz="1200" kern="1200">
        <a:solidFill>
          <a:schemeClr val="tx1"/>
        </a:solidFill>
        <a:latin typeface="+mn-lt"/>
        <a:ea typeface="+mn-ea"/>
        <a:cs typeface="+mn-cs"/>
      </a:defRPr>
    </a:lvl8pPr>
    <a:lvl9pPr marL="3657263" algn="l" defTabSz="914315"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https://www.youtube.com/watch?v=jVXgWGK9Kr8</a:t>
            </a:r>
          </a:p>
        </p:txBody>
      </p:sp>
      <p:sp>
        <p:nvSpPr>
          <p:cNvPr id="4" name="Slide Number Placeholder 3"/>
          <p:cNvSpPr>
            <a:spLocks noGrp="1"/>
          </p:cNvSpPr>
          <p:nvPr>
            <p:ph type="sldNum" sz="quarter" idx="5"/>
          </p:nvPr>
        </p:nvSpPr>
        <p:spPr/>
        <p:txBody>
          <a:bodyPr/>
          <a:lstStyle/>
          <a:p>
            <a:fld id="{9EB4C982-825B-414E-ABB9-79AB251390A5}" type="slidenum">
              <a:rPr lang="en-US" smtClean="0"/>
              <a:t>1</a:t>
            </a:fld>
            <a:endParaRPr lang="en-US"/>
          </a:p>
        </p:txBody>
      </p:sp>
    </p:spTree>
    <p:extLst>
      <p:ext uri="{BB962C8B-B14F-4D97-AF65-F5344CB8AC3E}">
        <p14:creationId xmlns:p14="http://schemas.microsoft.com/office/powerpoint/2010/main" val="4662042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dirty="0"/>
                  <a:t>The </a:t>
                </a:r>
                <a:r>
                  <a:rPr lang="en-US" b="1" dirty="0"/>
                  <a:t>Triple Constraint</a:t>
                </a:r>
                <a:r>
                  <a:rPr lang="en-US" dirty="0"/>
                  <a:t> (also called the </a:t>
                </a:r>
                <a:r>
                  <a:rPr lang="en-US" i="1" dirty="0"/>
                  <a:t>Project Management Triangle</a:t>
                </a:r>
                <a:r>
                  <a:rPr lang="en-US" dirty="0"/>
                  <a:t>) refers to the </a:t>
                </a:r>
                <a:r>
                  <a:rPr lang="en-US" b="1" dirty="0"/>
                  <a:t>three fundamental dimensions</a:t>
                </a:r>
                <a:r>
                  <a:rPr lang="en-US" dirty="0"/>
                  <a:t> that govern every engineering project:</a:t>
                </a:r>
              </a:p>
              <a:p>
                <a:r>
                  <a:rPr lang="en-US" b="1" dirty="0"/>
                  <a:t>Cost</a:t>
                </a:r>
                <a:r>
                  <a:rPr lang="en-US" dirty="0"/>
                  <a:t> – the resources (money, labor, materials) available.</a:t>
                </a:r>
              </a:p>
              <a:p>
                <a:r>
                  <a:rPr lang="en-US" b="1" dirty="0"/>
                  <a:t>Schedule (Time)</a:t>
                </a:r>
                <a:r>
                  <a:rPr lang="en-US" dirty="0"/>
                  <a:t> – the deadlines and milestones that must be met.</a:t>
                </a:r>
              </a:p>
              <a:p>
                <a:r>
                  <a:rPr lang="en-US" b="1" dirty="0"/>
                  <a:t>Performance (Scope/Quality)</a:t>
                </a:r>
                <a:r>
                  <a:rPr lang="en-US" dirty="0"/>
                  <a:t> – the technical requirements, capabilities, and mission objectives.</a:t>
                </a:r>
              </a:p>
              <a:p>
                <a:r>
                  <a:rPr lang="en-US" dirty="0"/>
                  <a:t>In space systems, these are the </a:t>
                </a:r>
                <a:r>
                  <a:rPr lang="en-US" b="1" dirty="0"/>
                  <a:t>core trade-off axes</a:t>
                </a:r>
                <a:r>
                  <a:rPr lang="en-US" dirty="0"/>
                  <a:t>: changing one inevitably impacts the others.</a:t>
                </a:r>
              </a:p>
              <a:p>
                <a:br>
                  <a:rPr lang="en-US" dirty="0"/>
                </a:br>
                <a:endParaRPr lang="en-US" dirty="0"/>
              </a:p>
              <a:p>
                <a:r>
                  <a:rPr lang="en-US" b="1" dirty="0"/>
                  <a:t>How It Works</a:t>
                </a:r>
              </a:p>
              <a:p>
                <a:r>
                  <a:rPr lang="en-US" b="1" dirty="0"/>
                  <a:t>If you want more performance</a:t>
                </a:r>
                <a:r>
                  <a:rPr lang="en-US" dirty="0"/>
                  <a:t> (e.g., higher resolution payload, more ∆v, longer life), you usually need </a:t>
                </a:r>
                <a:r>
                  <a:rPr lang="en-US" b="1" dirty="0"/>
                  <a:t>more cost</a:t>
                </a:r>
                <a:r>
                  <a:rPr lang="en-US" dirty="0"/>
                  <a:t> and/or </a:t>
                </a:r>
                <a:r>
                  <a:rPr lang="en-US" b="1" dirty="0"/>
                  <a:t>more time</a:t>
                </a:r>
                <a:r>
                  <a:rPr lang="en-US" dirty="0"/>
                  <a:t>.</a:t>
                </a:r>
              </a:p>
              <a:p>
                <a:r>
                  <a:rPr lang="en-US" b="1" dirty="0"/>
                  <a:t>If you want lower cost</a:t>
                </a:r>
                <a:r>
                  <a:rPr lang="en-US" dirty="0"/>
                  <a:t>, you likely reduce scope/performance, or you may need to compress the schedule (which often increases technical risk).</a:t>
                </a:r>
              </a:p>
              <a:p>
                <a:r>
                  <a:rPr lang="en-US" b="1" dirty="0"/>
                  <a:t>If you want faster delivery</a:t>
                </a:r>
                <a:r>
                  <a:rPr lang="en-US" dirty="0"/>
                  <a:t>, you need more funding (to parallelize work, pay for overtime) or you accept reduced performance.</a:t>
                </a:r>
              </a:p>
              <a:p>
                <a:br>
                  <a:rPr lang="en-US" dirty="0"/>
                </a:br>
                <a:endParaRPr lang="en-US" dirty="0"/>
              </a:p>
              <a:p>
                <a:r>
                  <a:rPr lang="en-US" b="1" dirty="0"/>
                  <a:t>Space Systems Examples</a:t>
                </a:r>
              </a:p>
              <a:p>
                <a:r>
                  <a:rPr lang="en-US" b="1" dirty="0"/>
                  <a:t>James Webb Space Telescope (JWST):</a:t>
                </a:r>
                <a:br>
                  <a:rPr lang="en-US" dirty="0"/>
                </a:br>
                <a:r>
                  <a:rPr lang="en-US" dirty="0"/>
                  <a:t>Original plan: $1B, launch in 2007.</a:t>
                </a:r>
                <a:br>
                  <a:rPr lang="en-US" dirty="0"/>
                </a:br>
                <a:r>
                  <a:rPr lang="en-US" dirty="0"/>
                  <a:t>Actual: $10B+, launched 2021.</a:t>
                </a:r>
                <a:br>
                  <a:rPr lang="en-US" dirty="0"/>
                </a:br>
                <a:r>
                  <a:rPr lang="en-US" dirty="0"/>
                  <a:t>→ Performance was non-negotiable (infrared observatory), so cost and schedule ballooned.</a:t>
                </a:r>
              </a:p>
              <a:p>
                <a:r>
                  <a:rPr lang="en-US" b="1" dirty="0"/>
                  <a:t>CubeSat Missions:</a:t>
                </a:r>
                <a:br>
                  <a:rPr lang="en-US" dirty="0"/>
                </a:br>
                <a:r>
                  <a:rPr lang="en-US" dirty="0"/>
                  <a:t>Budgets and schedules are constrained (student or low-cost programs).</a:t>
                </a:r>
                <a:br>
                  <a:rPr lang="en-US" dirty="0"/>
                </a:br>
                <a:r>
                  <a:rPr lang="en-US" dirty="0"/>
                  <a:t>→ To meet cost/time, performance is reduced (smaller payloads, limited power).</a:t>
                </a:r>
              </a:p>
              <a:p>
                <a:r>
                  <a:rPr lang="en-US" b="1" dirty="0"/>
                  <a:t>Military Reconnaissance Satellites:</a:t>
                </a:r>
                <a:br>
                  <a:rPr lang="en-US" dirty="0"/>
                </a:br>
                <a:r>
                  <a:rPr lang="en-US" dirty="0"/>
                  <a:t>Schedule and performance are often prioritized (must meet national security needs), so cost can grow significantly.</a:t>
                </a:r>
              </a:p>
              <a:p>
                <a:endParaRPr lang="en-US" dirty="0"/>
              </a:p>
            </p:txBody>
          </p:sp>
        </mc:Choice>
        <mc:Fallback xmlns="">
          <p:sp>
            <p:nvSpPr>
              <p:cNvPr id="3" name="Notes Placeholder 2"/>
              <p:cNvSpPr>
                <a:spLocks noGrp="1"/>
              </p:cNvSpPr>
              <p:nvPr>
                <p:ph type="body" idx="1"/>
              </p:nvPr>
            </p:nvSpPr>
            <p:spPr/>
            <p:txBody>
              <a:bodyPr/>
              <a:lstStyle/>
              <a:p>
                <a:r>
                  <a:rPr lang="en-US" dirty="0"/>
                  <a:t>GPS IIIF</a:t>
                </a:r>
              </a:p>
              <a:p>
                <a:endParaRPr lang="en-US" dirty="0"/>
              </a:p>
              <a:p>
                <a:r>
                  <a:rPr lang="en-US" dirty="0"/>
                  <a:t>https://www.lockheedmartin.com/en-us/products/gps.html</a:t>
                </a:r>
              </a:p>
              <a:p>
                <a:endParaRPr lang="en-US" dirty="0"/>
              </a:p>
              <a:p>
                <a:r>
                  <a:rPr lang="en-US" b="1" dirty="0"/>
                  <a:t>GPS signals as received at the Earth’s surface have an SNR (in the conventional sense) far below 1</a:t>
                </a:r>
                <a:r>
                  <a:rPr lang="en-US" dirty="0"/>
                  <a:t>.</a:t>
                </a:r>
              </a:p>
              <a:p>
                <a:endParaRPr lang="en-US" dirty="0"/>
              </a:p>
              <a:p>
                <a:r>
                  <a:rPr lang="en-US" dirty="0"/>
                  <a:t>Here’s why:</a:t>
                </a:r>
              </a:p>
              <a:p>
                <a:endParaRPr lang="en-US" dirty="0"/>
              </a:p>
              <a:p>
                <a:r>
                  <a:rPr lang="en-US" b="1" dirty="0"/>
                  <a:t>1. Received GPS Signal Power</a:t>
                </a:r>
              </a:p>
              <a:p>
                <a:r>
                  <a:rPr lang="en-US" dirty="0"/>
                  <a:t>GPS satellites transmit around </a:t>
                </a:r>
                <a:r>
                  <a:rPr lang="en-US" b="1" dirty="0"/>
                  <a:t>25–50 W</a:t>
                </a:r>
                <a:r>
                  <a:rPr lang="en-US" dirty="0"/>
                  <a:t> in the L-band (~1.5 GHz).</a:t>
                </a:r>
              </a:p>
              <a:p>
                <a:r>
                  <a:rPr lang="en-US" dirty="0"/>
                  <a:t>By the time the signal reaches Earth, it has spread over ~20,000 km and the </a:t>
                </a:r>
                <a:r>
                  <a:rPr lang="en-US" b="1" dirty="0"/>
                  <a:t>received power is only about −160 </a:t>
                </a:r>
                <a:r>
                  <a:rPr lang="en-US" b="1" dirty="0" err="1"/>
                  <a:t>dBW</a:t>
                </a:r>
                <a:r>
                  <a:rPr lang="en-US" b="1" dirty="0"/>
                  <a:t> to −130 </a:t>
                </a:r>
                <a:r>
                  <a:rPr lang="en-US" b="1" dirty="0" err="1"/>
                  <a:t>dBW</a:t>
                </a:r>
                <a:r>
                  <a:rPr lang="en-US" dirty="0"/>
                  <a:t> (that’s roughly </a:t>
                </a:r>
                <a:r>
                  <a:rPr lang="en-US" b="1" dirty="0"/>
                  <a:t>10⁻¹⁶ W</a:t>
                </a:r>
                <a:r>
                  <a:rPr lang="en-US" dirty="0"/>
                  <a:t>!).</a:t>
                </a:r>
              </a:p>
              <a:p>
                <a:endParaRPr lang="en-US" dirty="0"/>
              </a:p>
              <a:p>
                <a:r>
                  <a:rPr lang="en-US" b="1" dirty="0"/>
                  <a:t>2. Thermal Noise Floor</a:t>
                </a:r>
              </a:p>
              <a:p>
                <a:r>
                  <a:rPr lang="en-US" dirty="0"/>
                  <a:t>Thermal noise density at room temperature:</a:t>
                </a:r>
              </a:p>
              <a:p>
                <a:r>
                  <a:rPr lang="ar-AE" sz="1200" i="0" kern="1200">
                    <a:solidFill>
                      <a:schemeClr val="tx1"/>
                    </a:solidFill>
                    <a:latin typeface="+mn-lt"/>
                    <a:ea typeface="+mn-ea"/>
                    <a:cs typeface="+mn-cs"/>
                  </a:rPr>
                  <a:t>𝑁_0=𝑘𝑇≈−174</a:t>
                </a:r>
                <a:r>
                  <a:rPr lang="ar-AE" sz="1200" b="0" i="0" kern="1200">
                    <a:solidFill>
                      <a:schemeClr val="tx1"/>
                    </a:solidFill>
                    <a:latin typeface="Cambria Math" panose="02040503050406030204" pitchFamily="18" charset="0"/>
                    <a:ea typeface="+mn-ea"/>
                    <a:cs typeface="+mn-cs"/>
                  </a:rPr>
                  <a:t>" </a:t>
                </a:r>
                <a:r>
                  <a:rPr lang="en-US" sz="1200" b="0" i="0" kern="1200">
                    <a:solidFill>
                      <a:schemeClr val="tx1"/>
                    </a:solidFill>
                    <a:latin typeface="Cambria Math" panose="02040503050406030204" pitchFamily="18" charset="0"/>
                    <a:ea typeface="+mn-ea"/>
                    <a:cs typeface="+mn-cs"/>
                  </a:rPr>
                  <a:t>dBm/Hz</a:t>
                </a:r>
                <a:r>
                  <a:rPr lang="en-US" sz="1200" b="0" i="0" kern="1200">
                    <a:solidFill>
                      <a:schemeClr val="tx1"/>
                    </a:solidFill>
                    <a:latin typeface="+mn-lt"/>
                    <a:ea typeface="+mn-ea"/>
                    <a:cs typeface="+mn-cs"/>
                  </a:rPr>
                  <a:t>"</a:t>
                </a:r>
                <a:endParaRPr lang="en-US" b="0" dirty="0"/>
              </a:p>
              <a:p>
                <a:r>
                  <a:rPr lang="en-US" dirty="0"/>
                  <a:t>In a typical GPS receiver:</a:t>
                </a:r>
              </a:p>
              <a:p>
                <a:r>
                  <a:rPr lang="en-US" dirty="0"/>
                  <a:t>With ~2 MHz bandwidth (C/A code), total noise power is about </a:t>
                </a:r>
                <a:r>
                  <a:rPr lang="en-US" b="1" dirty="0"/>
                  <a:t>−111 dBm</a:t>
                </a:r>
                <a:r>
                  <a:rPr lang="en-US" dirty="0"/>
                  <a:t>.</a:t>
                </a:r>
              </a:p>
              <a:p>
                <a:r>
                  <a:rPr lang="en-US" dirty="0"/>
                  <a:t>GPS signal power is around </a:t>
                </a:r>
                <a:r>
                  <a:rPr lang="en-US" b="1" dirty="0"/>
                  <a:t>−160 </a:t>
                </a:r>
                <a:r>
                  <a:rPr lang="en-US" b="1" dirty="0" err="1"/>
                  <a:t>dBW</a:t>
                </a:r>
                <a:r>
                  <a:rPr lang="en-US" b="1" dirty="0"/>
                  <a:t> = −130 dBm</a:t>
                </a:r>
                <a:r>
                  <a:rPr lang="en-US" dirty="0"/>
                  <a:t>.</a:t>
                </a:r>
              </a:p>
              <a:p>
                <a:r>
                  <a:rPr lang="en-US" dirty="0"/>
                  <a:t>So the </a:t>
                </a:r>
                <a:r>
                  <a:rPr lang="en-US" b="1" dirty="0"/>
                  <a:t>signal is ~20 dB weaker than the noise</a:t>
                </a:r>
                <a:r>
                  <a:rPr lang="en-US" dirty="0"/>
                  <a:t> in the raw RF channel.</a:t>
                </a:r>
              </a:p>
              <a:p>
                <a:endParaRPr lang="en-US" dirty="0"/>
              </a:p>
              <a:p>
                <a:r>
                  <a:rPr lang="en-US" b="1" dirty="0"/>
                  <a:t>3. How GPS Still Works</a:t>
                </a:r>
              </a:p>
              <a:p>
                <a:r>
                  <a:rPr lang="en-US" dirty="0"/>
                  <a:t>Even though the signal is “buried in noise”:</a:t>
                </a:r>
              </a:p>
              <a:p>
                <a:r>
                  <a:rPr lang="en-US" dirty="0"/>
                  <a:t>GPS uses </a:t>
                </a:r>
                <a:r>
                  <a:rPr lang="en-US" b="1" dirty="0"/>
                  <a:t>spread spectrum CDMA</a:t>
                </a:r>
                <a:r>
                  <a:rPr lang="en-US" dirty="0"/>
                  <a:t> (direct-sequence).</a:t>
                </a:r>
              </a:p>
              <a:p>
                <a:r>
                  <a:rPr lang="en-US" dirty="0"/>
                  <a:t>The satellite transmits a pseudorandom noise (PRN) code at 1.023 Mbps (C/A code).</a:t>
                </a:r>
              </a:p>
              <a:p>
                <a:r>
                  <a:rPr lang="en-US" dirty="0"/>
                  <a:t>The receiver generates the same PRN sequence locally and correlates it with the incoming signal.</a:t>
                </a:r>
              </a:p>
              <a:p>
                <a:r>
                  <a:rPr lang="en-US" dirty="0"/>
                  <a:t>This </a:t>
                </a:r>
                <a:r>
                  <a:rPr lang="en-US" b="1" dirty="0" err="1"/>
                  <a:t>despreading</a:t>
                </a:r>
                <a:r>
                  <a:rPr lang="en-US" b="1" dirty="0"/>
                  <a:t> process concentrates the signal energy</a:t>
                </a:r>
                <a:r>
                  <a:rPr lang="en-US" dirty="0"/>
                  <a:t> while spreading the noise, effectively raising the post-correlation SNR to a usable level (&gt;40 dB-Hz for tracking).</a:t>
                </a:r>
              </a:p>
              <a:p>
                <a:endParaRPr lang="en-US" dirty="0"/>
              </a:p>
              <a:p>
                <a:r>
                  <a:rPr lang="en-US" b="1" dirty="0"/>
                  <a:t>4. SNR Metrics in GPS</a:t>
                </a:r>
              </a:p>
              <a:p>
                <a:r>
                  <a:rPr lang="en-US" dirty="0"/>
                  <a:t>Raw RF: SNR &lt;&lt; 1 (the signal is below noise).</a:t>
                </a:r>
              </a:p>
              <a:p>
                <a:r>
                  <a:rPr lang="en-US" dirty="0"/>
                  <a:t>After correlation: we talk about </a:t>
                </a:r>
                <a:r>
                  <a:rPr lang="en-US" b="1" dirty="0"/>
                  <a:t>Carrier-to-Noise Density (C/N₀)</a:t>
                </a:r>
                <a:r>
                  <a:rPr lang="en-US" dirty="0"/>
                  <a:t> in </a:t>
                </a:r>
                <a:r>
                  <a:rPr lang="en-US" b="1" dirty="0"/>
                  <a:t>dB-Hz</a:t>
                </a:r>
                <a:r>
                  <a:rPr lang="en-US" dirty="0"/>
                  <a:t>, typically </a:t>
                </a:r>
                <a:r>
                  <a:rPr lang="en-US" b="1" dirty="0"/>
                  <a:t>35–50 dB-Hz</a:t>
                </a:r>
                <a:r>
                  <a:rPr lang="en-US" dirty="0"/>
                  <a:t> for a strong GPS signal.</a:t>
                </a:r>
              </a:p>
              <a:p>
                <a:pPr lvl="1"/>
                <a:r>
                  <a:rPr lang="en-US" dirty="0"/>
                  <a:t>Example: 45 dB-Hz means the effective SNR in a 1 Hz bandwidth is 45 </a:t>
                </a:r>
                <a:r>
                  <a:rPr lang="en-US" dirty="0" err="1"/>
                  <a:t>dB.</a:t>
                </a:r>
                <a:endParaRPr lang="en-US" dirty="0"/>
              </a:p>
              <a:p>
                <a:endParaRPr lang="en-US" dirty="0"/>
              </a:p>
              <a:p>
                <a:r>
                  <a:rPr lang="en-US" dirty="0"/>
                  <a:t>✅ </a:t>
                </a:r>
                <a:r>
                  <a:rPr lang="en-US" b="1" dirty="0"/>
                  <a:t>So in summary:</a:t>
                </a:r>
                <a:br>
                  <a:rPr lang="en-US" dirty="0"/>
                </a:br>
                <a:r>
                  <a:rPr lang="en-US" dirty="0"/>
                  <a:t>GPS signals as received at Earth have an SNR far less than 1 (they’re below the noise floor). But correlation processing allows receivers to recover and track them reliably.</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9EB4C982-825B-414E-ABB9-79AB251390A5}" type="slidenum">
              <a:rPr lang="en-US" smtClean="0"/>
              <a:t>2</a:t>
            </a:fld>
            <a:endParaRPr lang="en-US"/>
          </a:p>
        </p:txBody>
      </p:sp>
    </p:spTree>
    <p:extLst>
      <p:ext uri="{BB962C8B-B14F-4D97-AF65-F5344CB8AC3E}">
        <p14:creationId xmlns:p14="http://schemas.microsoft.com/office/powerpoint/2010/main" val="29188752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SMAD - </a:t>
            </a:r>
            <a:r>
              <a:rPr lang="en-US" sz="1200" b="0" i="0" u="none" strike="noStrike" kern="1200" baseline="0" dirty="0">
                <a:solidFill>
                  <a:schemeClr val="tx1"/>
                </a:solidFill>
                <a:latin typeface="+mn-lt"/>
                <a:ea typeface="+mn-ea"/>
                <a:cs typeface="+mn-cs"/>
              </a:rPr>
              <a:t>Space Mission Analysis and Design 3</a:t>
            </a:r>
            <a:r>
              <a:rPr lang="en-US" sz="1200" b="0" i="0" u="none" strike="noStrike" kern="1200" baseline="30000" dirty="0">
                <a:solidFill>
                  <a:schemeClr val="tx1"/>
                </a:solidFill>
                <a:latin typeface="+mn-lt"/>
                <a:ea typeface="+mn-ea"/>
                <a:cs typeface="+mn-cs"/>
              </a:rPr>
              <a:t>rd</a:t>
            </a:r>
            <a:r>
              <a:rPr lang="en-US" sz="1200" b="0" i="0" u="none" strike="noStrike" kern="1200" baseline="0" dirty="0">
                <a:solidFill>
                  <a:schemeClr val="tx1"/>
                </a:solidFill>
                <a:latin typeface="+mn-lt"/>
                <a:ea typeface="+mn-ea"/>
                <a:cs typeface="+mn-cs"/>
              </a:rPr>
              <a:t> Edition</a:t>
            </a:r>
            <a:endParaRPr lang="en-US" dirty="0"/>
          </a:p>
        </p:txBody>
      </p:sp>
      <p:sp>
        <p:nvSpPr>
          <p:cNvPr id="4" name="Slide Number Placeholder 3"/>
          <p:cNvSpPr>
            <a:spLocks noGrp="1"/>
          </p:cNvSpPr>
          <p:nvPr>
            <p:ph type="sldNum" sz="quarter" idx="5"/>
          </p:nvPr>
        </p:nvSpPr>
        <p:spPr/>
        <p:txBody>
          <a:bodyPr/>
          <a:lstStyle/>
          <a:p>
            <a:fld id="{9EB4C982-825B-414E-ABB9-79AB251390A5}" type="slidenum">
              <a:rPr lang="en-US" smtClean="0"/>
              <a:t>3</a:t>
            </a:fld>
            <a:endParaRPr lang="en-US"/>
          </a:p>
        </p:txBody>
      </p:sp>
    </p:spTree>
    <p:extLst>
      <p:ext uri="{BB962C8B-B14F-4D97-AF65-F5344CB8AC3E}">
        <p14:creationId xmlns:p14="http://schemas.microsoft.com/office/powerpoint/2010/main" val="641667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a:t>
            </a:r>
            <a:r>
              <a:rPr lang="en-US" b="1" dirty="0"/>
              <a:t>Rough Order of Magnitude (ROM) estimate</a:t>
            </a:r>
            <a:r>
              <a:rPr lang="en-US" dirty="0"/>
              <a:t> is a </a:t>
            </a:r>
            <a:r>
              <a:rPr lang="en-US" b="1" dirty="0"/>
              <a:t>very early, high-level estimate</a:t>
            </a:r>
            <a:r>
              <a:rPr lang="en-US" dirty="0"/>
              <a:t> of cost, schedule, or other resources for a project.</a:t>
            </a:r>
          </a:p>
          <a:p>
            <a:r>
              <a:rPr lang="en-US" dirty="0"/>
              <a:t>It is intended to give stakeholders a </a:t>
            </a:r>
            <a:r>
              <a:rPr lang="en-US" b="1" dirty="0"/>
              <a:t>ballpark figure</a:t>
            </a:r>
            <a:r>
              <a:rPr lang="en-US" dirty="0"/>
              <a:t>, not a precise prediction.</a:t>
            </a:r>
          </a:p>
          <a:p>
            <a:r>
              <a:rPr lang="en-US" dirty="0"/>
              <a:t>Used in the </a:t>
            </a:r>
            <a:r>
              <a:rPr lang="en-US" b="1" dirty="0"/>
              <a:t>conceptual or feasibility phase</a:t>
            </a:r>
            <a:r>
              <a:rPr lang="en-US" dirty="0"/>
              <a:t> when limited data is available.</a:t>
            </a:r>
          </a:p>
          <a:p>
            <a:endParaRPr lang="en-US" dirty="0"/>
          </a:p>
          <a:p>
            <a:endParaRPr lang="en-US" dirty="0"/>
          </a:p>
          <a:p>
            <a:r>
              <a:rPr lang="en-US" dirty="0"/>
              <a:t>A </a:t>
            </a:r>
            <a:r>
              <a:rPr lang="en-US" b="1" dirty="0"/>
              <a:t>Bill of Materials (BOM)</a:t>
            </a:r>
            <a:r>
              <a:rPr lang="en-US" dirty="0"/>
              <a:t> is a </a:t>
            </a:r>
            <a:r>
              <a:rPr lang="en-US" b="1" dirty="0"/>
              <a:t>comprehensive list of parts, components, assemblies, and materials</a:t>
            </a:r>
            <a:r>
              <a:rPr lang="en-US" dirty="0"/>
              <a:t> required to build a product or system.</a:t>
            </a:r>
          </a:p>
          <a:p>
            <a:r>
              <a:rPr lang="en-US" dirty="0"/>
              <a:t>It’s essentially the </a:t>
            </a:r>
            <a:r>
              <a:rPr lang="en-US" b="0" dirty="0"/>
              <a:t>recipe</a:t>
            </a:r>
            <a:r>
              <a:rPr lang="en-US" dirty="0"/>
              <a:t> for the hardware.</a:t>
            </a:r>
          </a:p>
          <a:p>
            <a:r>
              <a:rPr lang="en-US" dirty="0"/>
              <a:t>Includes not only the components but also quantities, specifications, and sometimes vendor details.</a:t>
            </a:r>
          </a:p>
          <a:p>
            <a:r>
              <a:rPr lang="en-US" dirty="0"/>
              <a:t>In space systems, the BOM covers everything from resistors and chips on a PCB to structural panels, solar cells, fasteners, and even adhesives.</a:t>
            </a:r>
          </a:p>
          <a:p>
            <a:endParaRPr lang="en-US" dirty="0"/>
          </a:p>
        </p:txBody>
      </p:sp>
      <p:sp>
        <p:nvSpPr>
          <p:cNvPr id="4" name="Slide Number Placeholder 3"/>
          <p:cNvSpPr>
            <a:spLocks noGrp="1"/>
          </p:cNvSpPr>
          <p:nvPr>
            <p:ph type="sldNum" sz="quarter" idx="5"/>
          </p:nvPr>
        </p:nvSpPr>
        <p:spPr/>
        <p:txBody>
          <a:bodyPr/>
          <a:lstStyle/>
          <a:p>
            <a:fld id="{9EB4C982-825B-414E-ABB9-79AB251390A5}" type="slidenum">
              <a:rPr lang="en-US" smtClean="0"/>
              <a:t>4</a:t>
            </a:fld>
            <a:endParaRPr lang="en-US"/>
          </a:p>
        </p:txBody>
      </p:sp>
    </p:spTree>
    <p:extLst>
      <p:ext uri="{BB962C8B-B14F-4D97-AF65-F5344CB8AC3E}">
        <p14:creationId xmlns:p14="http://schemas.microsoft.com/office/powerpoint/2010/main" val="30024937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b="1" dirty="0"/>
                  <a:t>1. Analogy Method</a:t>
                </a:r>
              </a:p>
              <a:p>
                <a:r>
                  <a:rPr lang="en-US" b="1" dirty="0"/>
                  <a:t>Definition:</a:t>
                </a:r>
                <a:r>
                  <a:rPr lang="en-US" dirty="0"/>
                  <a:t> Estimate cost, mass, power, or other resources by </a:t>
                </a:r>
                <a:r>
                  <a:rPr lang="en-US" b="1" dirty="0"/>
                  <a:t>comparing to similar past projects</a:t>
                </a:r>
                <a:r>
                  <a:rPr lang="en-US" dirty="0"/>
                  <a:t>.</a:t>
                </a:r>
              </a:p>
              <a:p>
                <a:r>
                  <a:rPr lang="en-US" b="1" dirty="0"/>
                  <a:t>How it works:</a:t>
                </a:r>
                <a:endParaRPr lang="en-US" dirty="0"/>
              </a:p>
              <a:p>
                <a:pPr lvl="1"/>
                <a:r>
                  <a:rPr lang="en-US" dirty="0"/>
                  <a:t>Identify a prior spacecraft or subsystem with similar function/scale.</a:t>
                </a:r>
              </a:p>
              <a:p>
                <a:pPr lvl="1"/>
                <a:r>
                  <a:rPr lang="en-US" dirty="0"/>
                  <a:t>Adjust for differences (size, technology, mission requirements).</a:t>
                </a:r>
              </a:p>
              <a:p>
                <a:r>
                  <a:rPr lang="en-US" b="1" dirty="0"/>
                  <a:t>Example:</a:t>
                </a:r>
                <a:endParaRPr lang="en-US" dirty="0"/>
              </a:p>
              <a:p>
                <a:pPr lvl="1"/>
                <a:r>
                  <a:rPr lang="en-US" dirty="0"/>
                  <a:t>“Our CubeSat payload is similar to a camera flown on Mission X, which weighed 5 kg and consumed 8 W. Ours is slightly more capable, so we’ll estimate ~6 kg and 10 W.”</a:t>
                </a:r>
              </a:p>
              <a:p>
                <a:r>
                  <a:rPr lang="en-US" b="1" dirty="0"/>
                  <a:t>Pros:</a:t>
                </a:r>
                <a:r>
                  <a:rPr lang="en-US" dirty="0"/>
                  <a:t> Quick, requires minimal data, useful early in concept studies.</a:t>
                </a:r>
              </a:p>
              <a:p>
                <a:r>
                  <a:rPr lang="en-US" b="1" dirty="0"/>
                  <a:t>Cons:</a:t>
                </a:r>
                <a:r>
                  <a:rPr lang="en-US" dirty="0"/>
                  <a:t> Accuracy depends on how close the analogy is; risk of overlooking unique features.</a:t>
                </a:r>
              </a:p>
              <a:p>
                <a:br>
                  <a:rPr lang="en-US" dirty="0"/>
                </a:br>
                <a:endParaRPr lang="en-US" dirty="0"/>
              </a:p>
              <a:p>
                <a:r>
                  <a:rPr lang="en-US" b="1" dirty="0"/>
                  <a:t>2. Parametric Method</a:t>
                </a:r>
              </a:p>
              <a:p>
                <a:r>
                  <a:rPr lang="en-US" b="1" dirty="0"/>
                  <a:t>Definition:</a:t>
                </a:r>
                <a:r>
                  <a:rPr lang="en-US" dirty="0"/>
                  <a:t> Uses </a:t>
                </a:r>
                <a:r>
                  <a:rPr lang="en-US" b="1" dirty="0"/>
                  <a:t>mathematical models or statistical relationships</a:t>
                </a:r>
                <a:r>
                  <a:rPr lang="en-US" dirty="0"/>
                  <a:t> between a system parameter and cost/power/mass.</a:t>
                </a:r>
              </a:p>
              <a:p>
                <a:r>
                  <a:rPr lang="en-US" b="1" dirty="0"/>
                  <a:t>How it works:</a:t>
                </a:r>
                <a:endParaRPr lang="en-US" dirty="0"/>
              </a:p>
              <a:p>
                <a:pPr lvl="1"/>
                <a:r>
                  <a:rPr lang="en-US" dirty="0"/>
                  <a:t>Fit equations from historical data: </a:t>
                </a:r>
                <a14:m>
                  <m:oMath xmlns:m="http://schemas.openxmlformats.org/officeDocument/2006/math">
                    <m:r>
                      <m:rPr>
                        <m:nor/>
                      </m:rPr>
                      <a:rPr lang="en-US" b="0"/>
                      <m:t>Cost</m:t>
                    </m:r>
                    <m:r>
                      <a:rPr lang="en-US" sz="1200" b="0" i="0" kern="1200">
                        <a:solidFill>
                          <a:schemeClr val="tx1"/>
                        </a:solidFill>
                        <a:latin typeface="Cambria Math" panose="02040503050406030204" pitchFamily="18" charset="0"/>
                        <a:ea typeface="+mn-ea"/>
                        <a:cs typeface="+mn-cs"/>
                      </a:rPr>
                      <m:t>=</m:t>
                    </m:r>
                    <m:r>
                      <a:rPr lang="en-US" sz="1200" b="0" i="1" kern="1200">
                        <a:solidFill>
                          <a:schemeClr val="tx1"/>
                        </a:solidFill>
                        <a:latin typeface="Cambria Math" panose="02040503050406030204" pitchFamily="18" charset="0"/>
                        <a:ea typeface="+mn-ea"/>
                        <a:cs typeface="+mn-cs"/>
                      </a:rPr>
                      <m:t>𝑎</m:t>
                    </m:r>
                    <m:r>
                      <a:rPr lang="en-US" sz="1200" b="0" i="0" kern="1200">
                        <a:solidFill>
                          <a:schemeClr val="tx1"/>
                        </a:solidFill>
                        <a:latin typeface="Cambria Math" panose="02040503050406030204" pitchFamily="18" charset="0"/>
                        <a:ea typeface="+mn-ea"/>
                        <a:cs typeface="+mn-cs"/>
                      </a:rPr>
                      <m:t>⋅</m:t>
                    </m:r>
                    <m:d>
                      <m:dPr>
                        <m:endChr m:val=""/>
                        <m:ctrlPr>
                          <a:rPr lang="ar-AE" sz="1200" b="0" i="1" kern="1200">
                            <a:solidFill>
                              <a:schemeClr val="tx1"/>
                            </a:solidFill>
                            <a:latin typeface="Cambria Math" panose="02040503050406030204" pitchFamily="18" charset="0"/>
                            <a:ea typeface="+mn-ea"/>
                            <a:cs typeface="+mn-cs"/>
                          </a:rPr>
                        </m:ctrlPr>
                      </m:dPr>
                      <m:e>
                        <m:r>
                          <m:rPr>
                            <m:nor/>
                          </m:rPr>
                          <a:rPr lang="en-US" sz="1200" b="0" i="1" kern="1200">
                            <a:solidFill>
                              <a:schemeClr val="tx1"/>
                            </a:solidFill>
                            <a:latin typeface="+mn-lt"/>
                            <a:ea typeface="+mn-ea"/>
                            <a:cs typeface="+mn-cs"/>
                          </a:rPr>
                          <m:t>Mass</m:t>
                        </m:r>
                        <m:sSup>
                          <m:sSupPr>
                            <m:ctrlPr>
                              <a:rPr lang="ar-AE" sz="1200" b="0" i="1" kern="1200">
                                <a:solidFill>
                                  <a:schemeClr val="tx1"/>
                                </a:solidFill>
                                <a:latin typeface="Cambria Math" panose="02040503050406030204" pitchFamily="18" charset="0"/>
                                <a:ea typeface="+mn-ea"/>
                                <a:cs typeface="+mn-cs"/>
                              </a:rPr>
                            </m:ctrlPr>
                          </m:sSupPr>
                          <m:e>
                            <m:d>
                              <m:dPr>
                                <m:begChr m:val=""/>
                                <m:endChr m:val=""/>
                                <m:ctrlPr>
                                  <a:rPr lang="ar-AE" sz="1200" b="0" i="1" kern="1200">
                                    <a:solidFill>
                                      <a:schemeClr val="tx1"/>
                                    </a:solidFill>
                                    <a:latin typeface="Cambria Math" panose="02040503050406030204" pitchFamily="18" charset="0"/>
                                    <a:ea typeface="+mn-ea"/>
                                    <a:cs typeface="+mn-cs"/>
                                  </a:rPr>
                                </m:ctrlPr>
                              </m:dPr>
                              <m:e>
                                <m:r>
                                  <a:rPr lang="ar-AE" sz="1200" b="0" i="0" kern="1200">
                                    <a:solidFill>
                                      <a:schemeClr val="tx1"/>
                                    </a:solidFill>
                                    <a:latin typeface="Cambria Math" panose="02040503050406030204" pitchFamily="18" charset="0"/>
                                    <a:ea typeface="+mn-ea"/>
                                    <a:cs typeface="+mn-cs"/>
                                  </a:rPr>
                                  <m:t>)</m:t>
                                </m:r>
                              </m:e>
                            </m:d>
                          </m:e>
                          <m:sup>
                            <m:r>
                              <a:rPr lang="ar-AE" sz="1200" b="0" i="1" kern="1200">
                                <a:solidFill>
                                  <a:schemeClr val="tx1"/>
                                </a:solidFill>
                                <a:latin typeface="Cambria Math" panose="02040503050406030204" pitchFamily="18" charset="0"/>
                                <a:ea typeface="+mn-ea"/>
                                <a:cs typeface="+mn-cs"/>
                              </a:rPr>
                              <m:t>𝑏</m:t>
                            </m:r>
                          </m:sup>
                        </m:sSup>
                      </m:e>
                    </m:d>
                  </m:oMath>
                </a14:m>
                <a:endParaRPr lang="ar-AE" dirty="0"/>
              </a:p>
              <a:p>
                <a:pPr lvl="1"/>
                <a:r>
                  <a:rPr lang="en-US" dirty="0"/>
                  <a:t>Widely used in NASA/DoD cost models (e.g., NAFCOM, SEER).</a:t>
                </a:r>
              </a:p>
              <a:p>
                <a:r>
                  <a:rPr lang="en-US" b="1" dirty="0"/>
                  <a:t>Example:</a:t>
                </a:r>
                <a:endParaRPr lang="en-US" dirty="0"/>
              </a:p>
              <a:p>
                <a:pPr lvl="1"/>
                <a:r>
                  <a:rPr lang="en-US" dirty="0"/>
                  <a:t>Spacecraft cost scales with dry mass: “For every 10 kg increase in mass, cost rises by $X million.”</a:t>
                </a:r>
              </a:p>
              <a:p>
                <a:pPr lvl="1"/>
                <a:r>
                  <a:rPr lang="en-US" dirty="0"/>
                  <a:t>Solar array power output scales with area: “P = </a:t>
                </a:r>
                <a:r>
                  <a:rPr lang="el-GR" dirty="0"/>
                  <a:t>η × </a:t>
                </a:r>
                <a:r>
                  <a:rPr lang="en-US" dirty="0"/>
                  <a:t>Area × Solar constant.”</a:t>
                </a:r>
              </a:p>
              <a:p>
                <a:r>
                  <a:rPr lang="en-US" b="1" dirty="0"/>
                  <a:t>Pros:</a:t>
                </a:r>
                <a:r>
                  <a:rPr lang="en-US" dirty="0"/>
                  <a:t> Provides data-driven estimates, can scale across many designs.</a:t>
                </a:r>
              </a:p>
              <a:p>
                <a:r>
                  <a:rPr lang="en-US" b="1" dirty="0"/>
                  <a:t>Cons:</a:t>
                </a:r>
                <a:r>
                  <a:rPr lang="en-US" dirty="0"/>
                  <a:t> Requires large historical databases; accuracy limited if new tech or novel missions deviate from trends.</a:t>
                </a:r>
              </a:p>
              <a:p>
                <a:br>
                  <a:rPr lang="en-US" dirty="0"/>
                </a:br>
                <a:endParaRPr lang="en-US" dirty="0"/>
              </a:p>
              <a:p>
                <a:r>
                  <a:rPr lang="en-US" b="1" dirty="0"/>
                  <a:t>3. Engineering (Bottom-Up) Method</a:t>
                </a:r>
              </a:p>
              <a:p>
                <a:r>
                  <a:rPr lang="en-US" b="1" dirty="0"/>
                  <a:t>Definition:</a:t>
                </a:r>
                <a:r>
                  <a:rPr lang="en-US" dirty="0"/>
                  <a:t> A detailed estimate built by </a:t>
                </a:r>
                <a:r>
                  <a:rPr lang="en-US" b="1" dirty="0"/>
                  <a:t>summing up contributions from each component or line item</a:t>
                </a:r>
                <a:r>
                  <a:rPr lang="en-US" dirty="0"/>
                  <a:t>.</a:t>
                </a:r>
              </a:p>
              <a:p>
                <a:r>
                  <a:rPr lang="en-US" b="1" dirty="0"/>
                  <a:t>How it works:</a:t>
                </a:r>
                <a:endParaRPr lang="en-US" dirty="0"/>
              </a:p>
              <a:p>
                <a:pPr lvl="1"/>
                <a:r>
                  <a:rPr lang="en-US" dirty="0"/>
                  <a:t>Create a </a:t>
                </a:r>
                <a:r>
                  <a:rPr lang="en-US" b="1" dirty="0"/>
                  <a:t>work breakdown structure (WBS)</a:t>
                </a:r>
                <a:r>
                  <a:rPr lang="en-US" dirty="0"/>
                  <a:t>.</a:t>
                </a:r>
              </a:p>
              <a:p>
                <a:pPr lvl="1"/>
                <a:r>
                  <a:rPr lang="en-US" dirty="0"/>
                  <a:t>Gather vendor quotes, part specifications, and engineering analyses.</a:t>
                </a:r>
              </a:p>
              <a:p>
                <a:pPr lvl="1"/>
                <a:r>
                  <a:rPr lang="en-US" dirty="0"/>
                  <a:t>Add everything together with margins.</a:t>
                </a:r>
              </a:p>
              <a:p>
                <a:r>
                  <a:rPr lang="en-US" b="1" dirty="0"/>
                  <a:t>Example:</a:t>
                </a:r>
                <a:endParaRPr lang="en-US" dirty="0"/>
              </a:p>
              <a:p>
                <a:pPr lvl="1"/>
                <a:r>
                  <a:rPr lang="en-US" dirty="0"/>
                  <a:t>EPS subsystem:</a:t>
                </a:r>
              </a:p>
              <a:p>
                <a:pPr lvl="2"/>
                <a:r>
                  <a:rPr lang="en-US" dirty="0"/>
                  <a:t>Solar cells (200 g),</a:t>
                </a:r>
              </a:p>
              <a:p>
                <a:pPr lvl="2"/>
                <a:r>
                  <a:rPr lang="en-US" dirty="0"/>
                  <a:t>Batteries (1.5 kg),</a:t>
                </a:r>
              </a:p>
              <a:p>
                <a:pPr lvl="2"/>
                <a:r>
                  <a:rPr lang="en-US" dirty="0"/>
                  <a:t>Power electronics board (0.5 kg),</a:t>
                </a:r>
              </a:p>
              <a:p>
                <a:pPr lvl="2"/>
                <a:r>
                  <a:rPr lang="en-US" dirty="0"/>
                  <a:t>Harnessing (0.2 kg) → </a:t>
                </a:r>
                <a:r>
                  <a:rPr lang="en-US" b="1" dirty="0"/>
                  <a:t>~2.4 kg total + 20% margin = 2.9 kg</a:t>
                </a:r>
                <a:r>
                  <a:rPr lang="en-US" dirty="0"/>
                  <a:t>.</a:t>
                </a:r>
              </a:p>
              <a:p>
                <a:r>
                  <a:rPr lang="en-US" b="1" dirty="0"/>
                  <a:t>Pros:</a:t>
                </a:r>
                <a:r>
                  <a:rPr lang="en-US" dirty="0"/>
                  <a:t> Most accurate, transparent, and defensible; necessary for final design.</a:t>
                </a:r>
              </a:p>
              <a:p>
                <a:r>
                  <a:rPr lang="en-US" b="1" dirty="0"/>
                  <a:t>Cons:</a:t>
                </a:r>
                <a:r>
                  <a:rPr lang="en-US" dirty="0"/>
                  <a:t> Requires detailed design maturity and more time/resources.</a:t>
                </a:r>
              </a:p>
              <a:p>
                <a:endParaRPr lang="en-US" dirty="0"/>
              </a:p>
              <a:p>
                <a:endParaRPr lang="en-US" dirty="0"/>
              </a:p>
              <a:p>
                <a:r>
                  <a:rPr lang="en-US" u="sng" dirty="0"/>
                  <a:t>Summary:</a:t>
                </a:r>
                <a:br>
                  <a:rPr lang="en-US" u="sng" dirty="0"/>
                </a:br>
                <a:endParaRPr lang="en-US" u="sng" dirty="0"/>
              </a:p>
              <a:p>
                <a:r>
                  <a:rPr lang="en-US" b="1" dirty="0"/>
                  <a:t>Analogy</a:t>
                </a:r>
                <a:r>
                  <a:rPr lang="en-US" dirty="0"/>
                  <a:t> → Best for </a:t>
                </a:r>
                <a:r>
                  <a:rPr lang="en-US" i="1" dirty="0"/>
                  <a:t>early concept phases</a:t>
                </a:r>
                <a:r>
                  <a:rPr lang="en-US" dirty="0"/>
                  <a:t> (ROM estimates, feasibility studies).</a:t>
                </a:r>
              </a:p>
              <a:p>
                <a:r>
                  <a:rPr lang="en-US" b="1" dirty="0"/>
                  <a:t>Parametric</a:t>
                </a:r>
                <a:r>
                  <a:rPr lang="en-US" dirty="0"/>
                  <a:t> → Best for </a:t>
                </a:r>
                <a:r>
                  <a:rPr lang="en-US" i="1" dirty="0"/>
                  <a:t>Phase A/B trades</a:t>
                </a:r>
                <a:r>
                  <a:rPr lang="en-US" dirty="0"/>
                  <a:t> when some data exists but design not finalized.</a:t>
                </a:r>
              </a:p>
              <a:p>
                <a:r>
                  <a:rPr lang="en-US" b="1" dirty="0"/>
                  <a:t>Engineering/Bottom-Up</a:t>
                </a:r>
                <a:r>
                  <a:rPr lang="en-US" dirty="0"/>
                  <a:t> → Best for </a:t>
                </a:r>
                <a:r>
                  <a:rPr lang="en-US" i="1" dirty="0"/>
                  <a:t>detailed design and final budgeting</a:t>
                </a:r>
                <a:r>
                  <a:rPr lang="en-US" dirty="0"/>
                  <a:t> (Phase C/D).</a:t>
                </a:r>
              </a:p>
              <a:p>
                <a:r>
                  <a:rPr lang="en-US" dirty="0"/>
                  <a:t>Most missions actually use a </a:t>
                </a:r>
                <a:r>
                  <a:rPr lang="en-US" b="1" dirty="0"/>
                  <a:t>hybrid approach</a:t>
                </a:r>
                <a:r>
                  <a:rPr lang="en-US" dirty="0"/>
                  <a:t>: start with analogy, refine with parametric models, and finalize with engineering estimates as the design matures.</a:t>
                </a:r>
              </a:p>
              <a:p>
                <a:endParaRPr lang="en-US" dirty="0"/>
              </a:p>
            </p:txBody>
          </p:sp>
        </mc:Choice>
        <mc:Fallback xmlns="">
          <p:sp>
            <p:nvSpPr>
              <p:cNvPr id="3" name="Notes Placeholder 2"/>
              <p:cNvSpPr>
                <a:spLocks noGrp="1"/>
              </p:cNvSpPr>
              <p:nvPr>
                <p:ph type="body" idx="1"/>
              </p:nvPr>
            </p:nvSpPr>
            <p:spPr/>
            <p:txBody>
              <a:bodyPr/>
              <a:lstStyle/>
              <a:p>
                <a:r>
                  <a:rPr lang="en-US" b="1" dirty="0"/>
                  <a:t>1. Analogy Method</a:t>
                </a:r>
              </a:p>
              <a:p>
                <a:r>
                  <a:rPr lang="en-US" b="1" dirty="0"/>
                  <a:t>Definition:</a:t>
                </a:r>
                <a:r>
                  <a:rPr lang="en-US" dirty="0"/>
                  <a:t> Estimate cost, mass, power, or other resources by </a:t>
                </a:r>
                <a:r>
                  <a:rPr lang="en-US" b="1" dirty="0"/>
                  <a:t>comparing to similar past projects</a:t>
                </a:r>
                <a:r>
                  <a:rPr lang="en-US" dirty="0"/>
                  <a:t>.</a:t>
                </a:r>
              </a:p>
              <a:p>
                <a:r>
                  <a:rPr lang="en-US" b="1" dirty="0"/>
                  <a:t>How it works:</a:t>
                </a:r>
                <a:endParaRPr lang="en-US" dirty="0"/>
              </a:p>
              <a:p>
                <a:pPr lvl="1"/>
                <a:r>
                  <a:rPr lang="en-US" dirty="0"/>
                  <a:t>Identify a prior spacecraft or subsystem with similar function/scale.</a:t>
                </a:r>
              </a:p>
              <a:p>
                <a:pPr lvl="1"/>
                <a:r>
                  <a:rPr lang="en-US" dirty="0"/>
                  <a:t>Adjust for differences (size, technology, mission requirements).</a:t>
                </a:r>
              </a:p>
              <a:p>
                <a:r>
                  <a:rPr lang="en-US" b="1" dirty="0"/>
                  <a:t>Example:</a:t>
                </a:r>
                <a:endParaRPr lang="en-US" dirty="0"/>
              </a:p>
              <a:p>
                <a:pPr lvl="1"/>
                <a:r>
                  <a:rPr lang="en-US" dirty="0"/>
                  <a:t>“Our CubeSat payload is similar to a camera flown on Mission X, which weighed 5 kg and consumed 8 W. Ours is slightly more capable, so we’ll estimate ~6 kg and 10 W.”</a:t>
                </a:r>
              </a:p>
              <a:p>
                <a:r>
                  <a:rPr lang="en-US" b="1" dirty="0"/>
                  <a:t>Pros:</a:t>
                </a:r>
                <a:r>
                  <a:rPr lang="en-US" dirty="0"/>
                  <a:t> Quick, requires minimal data, useful early in concept studies.</a:t>
                </a:r>
              </a:p>
              <a:p>
                <a:r>
                  <a:rPr lang="en-US" b="1" dirty="0"/>
                  <a:t>Cons:</a:t>
                </a:r>
                <a:r>
                  <a:rPr lang="en-US" dirty="0"/>
                  <a:t> Accuracy depends on how close the analogy is; risk of overlooking unique features.</a:t>
                </a:r>
              </a:p>
              <a:p>
                <a:br>
                  <a:rPr lang="en-US" dirty="0"/>
                </a:br>
                <a:endParaRPr lang="en-US" dirty="0"/>
              </a:p>
              <a:p>
                <a:r>
                  <a:rPr lang="en-US" b="1" dirty="0"/>
                  <a:t>2. Parametric Method</a:t>
                </a:r>
              </a:p>
              <a:p>
                <a:r>
                  <a:rPr lang="en-US" b="1" dirty="0"/>
                  <a:t>Definition:</a:t>
                </a:r>
                <a:r>
                  <a:rPr lang="en-US" dirty="0"/>
                  <a:t> Uses </a:t>
                </a:r>
                <a:r>
                  <a:rPr lang="en-US" b="1" dirty="0"/>
                  <a:t>mathematical models or statistical relationships</a:t>
                </a:r>
                <a:r>
                  <a:rPr lang="en-US" dirty="0"/>
                  <a:t> between a system parameter and cost/power/mass.</a:t>
                </a:r>
              </a:p>
              <a:p>
                <a:r>
                  <a:rPr lang="en-US" b="1" dirty="0"/>
                  <a:t>How it works:</a:t>
                </a:r>
                <a:endParaRPr lang="en-US" dirty="0"/>
              </a:p>
              <a:p>
                <a:pPr lvl="1"/>
                <a:r>
                  <a:rPr lang="en-US" dirty="0"/>
                  <a:t>Fit equations from historical data: </a:t>
                </a:r>
                <a:r>
                  <a:rPr lang="en-US" b="0" i="0">
                    <a:latin typeface="Cambria Math" panose="02040503050406030204" pitchFamily="18" charset="0"/>
                  </a:rPr>
                  <a:t>"Cost</a:t>
                </a:r>
                <a:r>
                  <a:rPr lang="en-US" sz="1200" b="0" i="0" kern="1200">
                    <a:solidFill>
                      <a:schemeClr val="tx1"/>
                    </a:solidFill>
                    <a:latin typeface="+mn-lt"/>
                    <a:ea typeface="+mn-ea"/>
                    <a:cs typeface="+mn-cs"/>
                  </a:rPr>
                  <a:t>"=𝑎⋅</a:t>
                </a:r>
                <a:r>
                  <a:rPr lang="ar-AE" sz="1200" b="0" i="0" kern="1200">
                    <a:solidFill>
                      <a:schemeClr val="tx1"/>
                    </a:solidFill>
                    <a:latin typeface="+mn-lt"/>
                    <a:ea typeface="+mn-ea"/>
                    <a:cs typeface="+mn-cs"/>
                  </a:rPr>
                  <a:t>(</a:t>
                </a:r>
                <a:r>
                  <a:rPr lang="en-US" sz="1200" b="0" i="0" kern="1200">
                    <a:solidFill>
                      <a:schemeClr val="tx1"/>
                    </a:solidFill>
                    <a:latin typeface="+mn-lt"/>
                    <a:ea typeface="+mn-ea"/>
                    <a:cs typeface="+mn-cs"/>
                  </a:rPr>
                  <a:t>"Mass</a:t>
                </a:r>
                <a:r>
                  <a:rPr lang="ar-AE" sz="1200" b="0" i="0" kern="1200">
                    <a:solidFill>
                      <a:schemeClr val="tx1"/>
                    </a:solidFill>
                    <a:latin typeface="+mn-lt"/>
                    <a:ea typeface="+mn-ea"/>
                    <a:cs typeface="+mn-cs"/>
                  </a:rPr>
                  <a:t>" ├ )┤^𝑏 ┤</a:t>
                </a:r>
                <a:endParaRPr lang="ar-AE" dirty="0"/>
              </a:p>
              <a:p>
                <a:pPr lvl="1"/>
                <a:r>
                  <a:rPr lang="en-US" dirty="0"/>
                  <a:t>Widely used in NASA/DoD cost models (e.g., NAFCOM, SEER).</a:t>
                </a:r>
              </a:p>
              <a:p>
                <a:r>
                  <a:rPr lang="en-US" b="1" dirty="0"/>
                  <a:t>Example:</a:t>
                </a:r>
                <a:endParaRPr lang="en-US" dirty="0"/>
              </a:p>
              <a:p>
                <a:pPr lvl="1"/>
                <a:r>
                  <a:rPr lang="en-US" dirty="0"/>
                  <a:t>Spacecraft cost scales with dry mass: “For every 10 kg increase in mass, cost rises by $X million.”</a:t>
                </a:r>
              </a:p>
              <a:p>
                <a:pPr lvl="1"/>
                <a:r>
                  <a:rPr lang="en-US" dirty="0"/>
                  <a:t>Solar array power output scales with area: “P = </a:t>
                </a:r>
                <a:r>
                  <a:rPr lang="el-GR" dirty="0"/>
                  <a:t>η × </a:t>
                </a:r>
                <a:r>
                  <a:rPr lang="en-US" dirty="0"/>
                  <a:t>Area × Solar constant.”</a:t>
                </a:r>
              </a:p>
              <a:p>
                <a:r>
                  <a:rPr lang="en-US" b="1" dirty="0"/>
                  <a:t>Pros:</a:t>
                </a:r>
                <a:r>
                  <a:rPr lang="en-US" dirty="0"/>
                  <a:t> Provides data-driven estimates, can scale across many designs.</a:t>
                </a:r>
              </a:p>
              <a:p>
                <a:r>
                  <a:rPr lang="en-US" b="1" dirty="0"/>
                  <a:t>Cons:</a:t>
                </a:r>
                <a:r>
                  <a:rPr lang="en-US" dirty="0"/>
                  <a:t> Requires large historical databases; accuracy limited if new tech or novel missions deviate from trends.</a:t>
                </a:r>
              </a:p>
              <a:p>
                <a:br>
                  <a:rPr lang="en-US" dirty="0"/>
                </a:br>
                <a:endParaRPr lang="en-US" dirty="0"/>
              </a:p>
              <a:p>
                <a:r>
                  <a:rPr lang="en-US" b="1" dirty="0"/>
                  <a:t>3. Engineering (Bottom-Up) Method</a:t>
                </a:r>
              </a:p>
              <a:p>
                <a:r>
                  <a:rPr lang="en-US" b="1" dirty="0"/>
                  <a:t>Definition:</a:t>
                </a:r>
                <a:r>
                  <a:rPr lang="en-US" dirty="0"/>
                  <a:t> A detailed estimate built by </a:t>
                </a:r>
                <a:r>
                  <a:rPr lang="en-US" b="1" dirty="0"/>
                  <a:t>summing up contributions from each component or line item</a:t>
                </a:r>
                <a:r>
                  <a:rPr lang="en-US" dirty="0"/>
                  <a:t>.</a:t>
                </a:r>
              </a:p>
              <a:p>
                <a:r>
                  <a:rPr lang="en-US" b="1" dirty="0"/>
                  <a:t>How it works:</a:t>
                </a:r>
                <a:endParaRPr lang="en-US" dirty="0"/>
              </a:p>
              <a:p>
                <a:pPr lvl="1"/>
                <a:r>
                  <a:rPr lang="en-US" dirty="0"/>
                  <a:t>Create a </a:t>
                </a:r>
                <a:r>
                  <a:rPr lang="en-US" b="1" dirty="0"/>
                  <a:t>work breakdown structure (WBS)</a:t>
                </a:r>
                <a:r>
                  <a:rPr lang="en-US" dirty="0"/>
                  <a:t>.</a:t>
                </a:r>
              </a:p>
              <a:p>
                <a:pPr lvl="1"/>
                <a:r>
                  <a:rPr lang="en-US" dirty="0"/>
                  <a:t>Gather vendor quotes, part specifications, and engineering analyses.</a:t>
                </a:r>
              </a:p>
              <a:p>
                <a:pPr lvl="1"/>
                <a:r>
                  <a:rPr lang="en-US" dirty="0"/>
                  <a:t>Add everything together with margins.</a:t>
                </a:r>
              </a:p>
              <a:p>
                <a:r>
                  <a:rPr lang="en-US" b="1" dirty="0"/>
                  <a:t>Example:</a:t>
                </a:r>
                <a:endParaRPr lang="en-US" dirty="0"/>
              </a:p>
              <a:p>
                <a:pPr lvl="1"/>
                <a:r>
                  <a:rPr lang="en-US" dirty="0"/>
                  <a:t>EPS subsystem:</a:t>
                </a:r>
              </a:p>
              <a:p>
                <a:pPr lvl="2"/>
                <a:r>
                  <a:rPr lang="en-US" dirty="0"/>
                  <a:t>Solar cells (200 g),</a:t>
                </a:r>
              </a:p>
              <a:p>
                <a:pPr lvl="2"/>
                <a:r>
                  <a:rPr lang="en-US" dirty="0"/>
                  <a:t>Batteries (1.5 kg),</a:t>
                </a:r>
              </a:p>
              <a:p>
                <a:pPr lvl="2"/>
                <a:r>
                  <a:rPr lang="en-US" dirty="0"/>
                  <a:t>Power electronics board (0.5 kg),</a:t>
                </a:r>
              </a:p>
              <a:p>
                <a:pPr lvl="2"/>
                <a:r>
                  <a:rPr lang="en-US" dirty="0"/>
                  <a:t>Harnessing (0.2 kg) → </a:t>
                </a:r>
                <a:r>
                  <a:rPr lang="en-US" b="1" dirty="0"/>
                  <a:t>~2.4 kg total + 20% margin = 2.9 kg</a:t>
                </a:r>
                <a:r>
                  <a:rPr lang="en-US" dirty="0"/>
                  <a:t>.</a:t>
                </a:r>
              </a:p>
              <a:p>
                <a:r>
                  <a:rPr lang="en-US" b="1" dirty="0"/>
                  <a:t>Pros:</a:t>
                </a:r>
                <a:r>
                  <a:rPr lang="en-US" dirty="0"/>
                  <a:t> Most accurate, transparent, and defensible; necessary for final design.</a:t>
                </a:r>
              </a:p>
              <a:p>
                <a:r>
                  <a:rPr lang="en-US" b="1" dirty="0"/>
                  <a:t>Cons:</a:t>
                </a:r>
                <a:r>
                  <a:rPr lang="en-US" dirty="0"/>
                  <a:t> Requires detailed design maturity and more time/resources.</a:t>
                </a:r>
              </a:p>
              <a:p>
                <a:endParaRPr lang="en-US" dirty="0"/>
              </a:p>
              <a:p>
                <a:endParaRPr lang="en-US" dirty="0"/>
              </a:p>
              <a:p>
                <a:r>
                  <a:rPr lang="en-US" u="sng" dirty="0"/>
                  <a:t>Summary:</a:t>
                </a:r>
                <a:br>
                  <a:rPr lang="en-US" u="sng" dirty="0"/>
                </a:br>
                <a:endParaRPr lang="en-US" u="sng" dirty="0"/>
              </a:p>
              <a:p>
                <a:r>
                  <a:rPr lang="en-US" b="1" dirty="0"/>
                  <a:t>Analogy</a:t>
                </a:r>
                <a:r>
                  <a:rPr lang="en-US" dirty="0"/>
                  <a:t> → Best for </a:t>
                </a:r>
                <a:r>
                  <a:rPr lang="en-US" i="1" dirty="0"/>
                  <a:t>early concept phases</a:t>
                </a:r>
                <a:r>
                  <a:rPr lang="en-US" dirty="0"/>
                  <a:t> (ROM estimates, feasibility studies).</a:t>
                </a:r>
              </a:p>
              <a:p>
                <a:r>
                  <a:rPr lang="en-US" b="1" dirty="0"/>
                  <a:t>Parametric</a:t>
                </a:r>
                <a:r>
                  <a:rPr lang="en-US" dirty="0"/>
                  <a:t> → Best for </a:t>
                </a:r>
                <a:r>
                  <a:rPr lang="en-US" i="1" dirty="0"/>
                  <a:t>Phase A/B trades</a:t>
                </a:r>
                <a:r>
                  <a:rPr lang="en-US" dirty="0"/>
                  <a:t> when some data exists but design not finalized.</a:t>
                </a:r>
              </a:p>
              <a:p>
                <a:r>
                  <a:rPr lang="en-US" b="1" dirty="0"/>
                  <a:t>Engineering/Bottom-Up</a:t>
                </a:r>
                <a:r>
                  <a:rPr lang="en-US" dirty="0"/>
                  <a:t> → Best for </a:t>
                </a:r>
                <a:r>
                  <a:rPr lang="en-US" i="1" dirty="0"/>
                  <a:t>detailed design and final budgeting</a:t>
                </a:r>
                <a:r>
                  <a:rPr lang="en-US" dirty="0"/>
                  <a:t> (Phase C/D).</a:t>
                </a:r>
              </a:p>
              <a:p>
                <a:r>
                  <a:rPr lang="en-US" dirty="0"/>
                  <a:t>Most missions actually use a </a:t>
                </a:r>
                <a:r>
                  <a:rPr lang="en-US" b="1" dirty="0"/>
                  <a:t>hybrid approach</a:t>
                </a:r>
                <a:r>
                  <a:rPr lang="en-US" dirty="0"/>
                  <a:t>: start with analogy, refine with parametric models, and finalize with engineering estimates as the design matures.</a:t>
                </a:r>
              </a:p>
              <a:p>
                <a:endParaRPr lang="en-US" dirty="0"/>
              </a:p>
            </p:txBody>
          </p:sp>
        </mc:Fallback>
      </mc:AlternateContent>
      <p:sp>
        <p:nvSpPr>
          <p:cNvPr id="4" name="Slide Number Placeholder 3"/>
          <p:cNvSpPr>
            <a:spLocks noGrp="1"/>
          </p:cNvSpPr>
          <p:nvPr>
            <p:ph type="sldNum" sz="quarter" idx="5"/>
          </p:nvPr>
        </p:nvSpPr>
        <p:spPr/>
        <p:txBody>
          <a:bodyPr/>
          <a:lstStyle/>
          <a:p>
            <a:fld id="{9EB4C982-825B-414E-ABB9-79AB251390A5}" type="slidenum">
              <a:rPr lang="en-US" smtClean="0"/>
              <a:t>5</a:t>
            </a:fld>
            <a:endParaRPr lang="en-US"/>
          </a:p>
        </p:txBody>
      </p:sp>
    </p:spTree>
    <p:extLst>
      <p:ext uri="{BB962C8B-B14F-4D97-AF65-F5344CB8AC3E}">
        <p14:creationId xmlns:p14="http://schemas.microsoft.com/office/powerpoint/2010/main" val="417451137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US" b="1" dirty="0"/>
                  <a:t>Definition:</a:t>
                </a:r>
                <a:r>
                  <a:rPr lang="en-US" dirty="0"/>
                  <a:t> Uses </a:t>
                </a:r>
                <a:r>
                  <a:rPr lang="en-US" b="1" dirty="0"/>
                  <a:t>statistical cost-estimating relationships (CERs)</a:t>
                </a:r>
                <a:r>
                  <a:rPr lang="en-US" dirty="0"/>
                  <a:t> or mathematical models to relate system parameters (like mass, power, or complexity) to cost.</a:t>
                </a:r>
              </a:p>
              <a:p>
                <a:r>
                  <a:rPr lang="en-US" b="1" dirty="0"/>
                  <a:t>How it works:</a:t>
                </a:r>
                <a:endParaRPr lang="en-US" dirty="0"/>
              </a:p>
              <a:p>
                <a:r>
                  <a:rPr lang="en-US" dirty="0"/>
                  <a:t>Build regression models from historical data:</a:t>
                </a:r>
              </a:p>
              <a:p>
                <a:pPr/>
                <a14:m>
                  <m:oMathPara xmlns:m="http://schemas.openxmlformats.org/officeDocument/2006/math">
                    <m:oMathParaPr>
                      <m:jc m:val="centerGroup"/>
                    </m:oMathParaPr>
                    <m:oMath xmlns:m="http://schemas.openxmlformats.org/officeDocument/2006/math">
                      <m:r>
                        <m:rPr>
                          <m:nor/>
                        </m:rPr>
                        <a:rPr lang="en-US" b="0"/>
                        <m:t>Cost</m:t>
                      </m:r>
                      <m:r>
                        <a:rPr lang="en-US" sz="1200" b="0" i="0" kern="1200">
                          <a:solidFill>
                            <a:schemeClr val="tx1"/>
                          </a:solidFill>
                          <a:latin typeface="Cambria Math" panose="02040503050406030204" pitchFamily="18" charset="0"/>
                          <a:ea typeface="+mn-ea"/>
                          <a:cs typeface="+mn-cs"/>
                        </a:rPr>
                        <m:t>=</m:t>
                      </m:r>
                      <m:r>
                        <a:rPr lang="en-US" sz="1200" b="0" i="1" kern="1200">
                          <a:solidFill>
                            <a:schemeClr val="tx1"/>
                          </a:solidFill>
                          <a:latin typeface="Cambria Math" panose="02040503050406030204" pitchFamily="18" charset="0"/>
                          <a:ea typeface="+mn-ea"/>
                          <a:cs typeface="+mn-cs"/>
                        </a:rPr>
                        <m:t>𝑎</m:t>
                      </m:r>
                      <m:r>
                        <a:rPr lang="en-US" sz="1200" b="0" i="0" kern="1200">
                          <a:solidFill>
                            <a:schemeClr val="tx1"/>
                          </a:solidFill>
                          <a:latin typeface="Cambria Math" panose="02040503050406030204" pitchFamily="18" charset="0"/>
                          <a:ea typeface="+mn-ea"/>
                          <a:cs typeface="+mn-cs"/>
                        </a:rPr>
                        <m:t>⋅</m:t>
                      </m:r>
                      <m:d>
                        <m:dPr>
                          <m:endChr m:val=""/>
                          <m:ctrlPr>
                            <a:rPr lang="ar-AE" sz="1200" b="0" i="1" kern="1200">
                              <a:solidFill>
                                <a:schemeClr val="tx1"/>
                              </a:solidFill>
                              <a:latin typeface="Cambria Math" panose="02040503050406030204" pitchFamily="18" charset="0"/>
                              <a:ea typeface="+mn-ea"/>
                              <a:cs typeface="+mn-cs"/>
                            </a:rPr>
                          </m:ctrlPr>
                        </m:dPr>
                        <m:e>
                          <m:r>
                            <m:rPr>
                              <m:nor/>
                            </m:rPr>
                            <a:rPr lang="en-US" sz="1200" b="0" i="1" kern="1200">
                              <a:solidFill>
                                <a:schemeClr val="tx1"/>
                              </a:solidFill>
                              <a:latin typeface="+mn-lt"/>
                              <a:ea typeface="+mn-ea"/>
                              <a:cs typeface="+mn-cs"/>
                            </a:rPr>
                            <m:t>Mass</m:t>
                          </m:r>
                          <m:sSup>
                            <m:sSupPr>
                              <m:ctrlPr>
                                <a:rPr lang="ar-AE" sz="1200" b="0" i="1" kern="1200">
                                  <a:solidFill>
                                    <a:schemeClr val="tx1"/>
                                  </a:solidFill>
                                  <a:latin typeface="Cambria Math" panose="02040503050406030204" pitchFamily="18" charset="0"/>
                                  <a:ea typeface="+mn-ea"/>
                                  <a:cs typeface="+mn-cs"/>
                                </a:rPr>
                              </m:ctrlPr>
                            </m:sSupPr>
                            <m:e>
                              <m:d>
                                <m:dPr>
                                  <m:begChr m:val=""/>
                                  <m:endChr m:val=""/>
                                  <m:ctrlPr>
                                    <a:rPr lang="ar-AE" sz="1200" b="0" i="1" kern="1200">
                                      <a:solidFill>
                                        <a:schemeClr val="tx1"/>
                                      </a:solidFill>
                                      <a:latin typeface="Cambria Math" panose="02040503050406030204" pitchFamily="18" charset="0"/>
                                      <a:ea typeface="+mn-ea"/>
                                      <a:cs typeface="+mn-cs"/>
                                    </a:rPr>
                                  </m:ctrlPr>
                                </m:dPr>
                                <m:e>
                                  <m:r>
                                    <a:rPr lang="ar-AE" sz="1200" b="0" i="0" kern="1200">
                                      <a:solidFill>
                                        <a:schemeClr val="tx1"/>
                                      </a:solidFill>
                                      <a:latin typeface="Cambria Math" panose="02040503050406030204" pitchFamily="18" charset="0"/>
                                      <a:ea typeface="+mn-ea"/>
                                      <a:cs typeface="+mn-cs"/>
                                    </a:rPr>
                                    <m:t>)</m:t>
                                  </m:r>
                                </m:e>
                              </m:d>
                            </m:e>
                            <m:sup>
                              <m:r>
                                <a:rPr lang="ar-AE" sz="1200" b="0" i="1" kern="1200">
                                  <a:solidFill>
                                    <a:schemeClr val="tx1"/>
                                  </a:solidFill>
                                  <a:latin typeface="Cambria Math" panose="02040503050406030204" pitchFamily="18" charset="0"/>
                                  <a:ea typeface="+mn-ea"/>
                                  <a:cs typeface="+mn-cs"/>
                                </a:rPr>
                                <m:t>𝑏</m:t>
                              </m:r>
                            </m:sup>
                          </m:sSup>
                        </m:e>
                      </m:d>
                    </m:oMath>
                  </m:oMathPara>
                </a14:m>
                <a:endParaRPr lang="ar-AE" b="0" dirty="0"/>
              </a:p>
              <a:p>
                <a:r>
                  <a:rPr lang="en-US" dirty="0"/>
                  <a:t>Apply to your system, based on known parameters.</a:t>
                </a:r>
              </a:p>
              <a:p>
                <a:r>
                  <a:rPr lang="en-US" b="1" dirty="0"/>
                  <a:t>Example:</a:t>
                </a:r>
                <a:endParaRPr lang="en-US" dirty="0"/>
              </a:p>
              <a:p>
                <a:r>
                  <a:rPr lang="en-US" dirty="0"/>
                  <a:t>“Satellite cost ~ $2M × (mass in kg)^0.65.”</a:t>
                </a:r>
              </a:p>
              <a:p>
                <a:r>
                  <a:rPr lang="en-US" dirty="0"/>
                  <a:t>A 1000-kg satellite would cost ~ $100M by this model.</a:t>
                </a:r>
              </a:p>
              <a:p>
                <a:r>
                  <a:rPr lang="en-US" b="1" dirty="0"/>
                  <a:t>Strengths:</a:t>
                </a:r>
                <a:endParaRPr lang="en-US" dirty="0"/>
              </a:p>
              <a:p>
                <a:r>
                  <a:rPr lang="en-US" dirty="0"/>
                  <a:t>Data-driven and scalable across different sizes/types.</a:t>
                </a:r>
              </a:p>
              <a:p>
                <a:r>
                  <a:rPr lang="en-US" dirty="0"/>
                  <a:t>More objective than analogy.</a:t>
                </a:r>
              </a:p>
              <a:p>
                <a:r>
                  <a:rPr lang="en-US" dirty="0"/>
                  <a:t>Useful for Phase A/B design trades.</a:t>
                </a:r>
              </a:p>
              <a:p>
                <a:r>
                  <a:rPr lang="en-US" b="1" dirty="0"/>
                  <a:t>Weaknesses:</a:t>
                </a:r>
                <a:endParaRPr lang="en-US" dirty="0"/>
              </a:p>
              <a:p>
                <a:r>
                  <a:rPr lang="en-US" dirty="0"/>
                  <a:t>Requires a solid historical database.</a:t>
                </a:r>
              </a:p>
              <a:p>
                <a:r>
                  <a:rPr lang="en-US" dirty="0"/>
                  <a:t>Not valid if your mission uses </a:t>
                </a:r>
                <a:r>
                  <a:rPr lang="en-US" b="1" dirty="0"/>
                  <a:t>novel tech</a:t>
                </a:r>
                <a:r>
                  <a:rPr lang="en-US" dirty="0"/>
                  <a:t> outside the model’s data set.</a:t>
                </a:r>
              </a:p>
              <a:p>
                <a:r>
                  <a:rPr lang="en-US" dirty="0"/>
                  <a:t>Accuracy is limited by scatter in the underlying data (±20–50%).</a:t>
                </a:r>
              </a:p>
              <a:p>
                <a:endParaRPr lang="en-US" dirty="0"/>
              </a:p>
            </p:txBody>
          </p:sp>
        </mc:Choice>
        <mc:Fallback xmlns="">
          <p:sp>
            <p:nvSpPr>
              <p:cNvPr id="3" name="Notes Placeholder 2"/>
              <p:cNvSpPr>
                <a:spLocks noGrp="1"/>
              </p:cNvSpPr>
              <p:nvPr>
                <p:ph type="body" idx="1"/>
              </p:nvPr>
            </p:nvSpPr>
            <p:spPr/>
            <p:txBody>
              <a:bodyPr/>
              <a:lstStyle/>
              <a:p>
                <a:r>
                  <a:rPr lang="en-US" b="1" dirty="0"/>
                  <a:t>Definition:</a:t>
                </a:r>
                <a:r>
                  <a:rPr lang="en-US" dirty="0"/>
                  <a:t> Uses </a:t>
                </a:r>
                <a:r>
                  <a:rPr lang="en-US" b="1" dirty="0"/>
                  <a:t>statistical cost-estimating relationships (CERs)</a:t>
                </a:r>
                <a:r>
                  <a:rPr lang="en-US" dirty="0"/>
                  <a:t> or mathematical models to relate system parameters (like mass, power, or complexity) to cost.</a:t>
                </a:r>
              </a:p>
              <a:p>
                <a:r>
                  <a:rPr lang="en-US" b="1" dirty="0"/>
                  <a:t>How it works:</a:t>
                </a:r>
                <a:endParaRPr lang="en-US" dirty="0"/>
              </a:p>
              <a:p>
                <a:r>
                  <a:rPr lang="en-US" dirty="0"/>
                  <a:t>Build regression models from historical data:</a:t>
                </a:r>
              </a:p>
              <a:p>
                <a:r>
                  <a:rPr lang="en-US" b="0" i="0">
                    <a:latin typeface="Cambria Math" panose="02040503050406030204" pitchFamily="18" charset="0"/>
                  </a:rPr>
                  <a:t>"Cost</a:t>
                </a:r>
                <a:r>
                  <a:rPr lang="en-US" sz="1200" b="0" i="0" kern="1200">
                    <a:solidFill>
                      <a:schemeClr val="tx1"/>
                    </a:solidFill>
                    <a:latin typeface="+mn-lt"/>
                    <a:ea typeface="+mn-ea"/>
                    <a:cs typeface="+mn-cs"/>
                  </a:rPr>
                  <a:t>"=𝑎⋅</a:t>
                </a:r>
                <a:r>
                  <a:rPr lang="ar-AE" sz="1200" b="0" i="0" kern="1200">
                    <a:solidFill>
                      <a:schemeClr val="tx1"/>
                    </a:solidFill>
                    <a:latin typeface="+mn-lt"/>
                    <a:ea typeface="+mn-ea"/>
                    <a:cs typeface="+mn-cs"/>
                  </a:rPr>
                  <a:t>(</a:t>
                </a:r>
                <a:r>
                  <a:rPr lang="en-US" sz="1200" b="0" i="0" kern="1200">
                    <a:solidFill>
                      <a:schemeClr val="tx1"/>
                    </a:solidFill>
                    <a:latin typeface="+mn-lt"/>
                    <a:ea typeface="+mn-ea"/>
                    <a:cs typeface="+mn-cs"/>
                  </a:rPr>
                  <a:t>"Mass</a:t>
                </a:r>
                <a:r>
                  <a:rPr lang="ar-AE" sz="1200" b="0" i="0" kern="1200">
                    <a:solidFill>
                      <a:schemeClr val="tx1"/>
                    </a:solidFill>
                    <a:latin typeface="+mn-lt"/>
                    <a:ea typeface="+mn-ea"/>
                    <a:cs typeface="+mn-cs"/>
                  </a:rPr>
                  <a:t>" ├ )┤^𝑏 ┤</a:t>
                </a:r>
                <a:endParaRPr lang="ar-AE" b="0" dirty="0"/>
              </a:p>
              <a:p>
                <a:r>
                  <a:rPr lang="en-US" dirty="0"/>
                  <a:t>Apply to your system, based on known parameters.</a:t>
                </a:r>
              </a:p>
              <a:p>
                <a:r>
                  <a:rPr lang="en-US" b="1" dirty="0"/>
                  <a:t>Example:</a:t>
                </a:r>
                <a:endParaRPr lang="en-US" dirty="0"/>
              </a:p>
              <a:p>
                <a:r>
                  <a:rPr lang="en-US" dirty="0"/>
                  <a:t>“Satellite cost ~ $2M × (mass in kg)^0.65.”</a:t>
                </a:r>
              </a:p>
              <a:p>
                <a:r>
                  <a:rPr lang="en-US" dirty="0"/>
                  <a:t>A 1000-kg satellite would cost ~ $100M by this model.</a:t>
                </a:r>
              </a:p>
              <a:p>
                <a:r>
                  <a:rPr lang="en-US" b="1" dirty="0"/>
                  <a:t>Strengths:</a:t>
                </a:r>
                <a:endParaRPr lang="en-US" dirty="0"/>
              </a:p>
              <a:p>
                <a:r>
                  <a:rPr lang="en-US" dirty="0"/>
                  <a:t>Data-driven and scalable across different sizes/types.</a:t>
                </a:r>
              </a:p>
              <a:p>
                <a:r>
                  <a:rPr lang="en-US" dirty="0"/>
                  <a:t>More objective than analogy.</a:t>
                </a:r>
              </a:p>
              <a:p>
                <a:r>
                  <a:rPr lang="en-US" dirty="0"/>
                  <a:t>Useful for Phase A/B design trades.</a:t>
                </a:r>
              </a:p>
              <a:p>
                <a:r>
                  <a:rPr lang="en-US" b="1" dirty="0"/>
                  <a:t>Weaknesses:</a:t>
                </a:r>
                <a:endParaRPr lang="en-US" dirty="0"/>
              </a:p>
              <a:p>
                <a:r>
                  <a:rPr lang="en-US" dirty="0"/>
                  <a:t>Requires a solid historical database.</a:t>
                </a:r>
              </a:p>
              <a:p>
                <a:r>
                  <a:rPr lang="en-US" dirty="0"/>
                  <a:t>Not valid if your mission uses </a:t>
                </a:r>
                <a:r>
                  <a:rPr lang="en-US" b="1" dirty="0"/>
                  <a:t>novel tech</a:t>
                </a:r>
                <a:r>
                  <a:rPr lang="en-US" dirty="0"/>
                  <a:t> outside the model’s data set.</a:t>
                </a:r>
              </a:p>
              <a:p>
                <a:r>
                  <a:rPr lang="en-US" dirty="0"/>
                  <a:t>Accuracy is limited by scatter in the underlying data (±20–50%).</a:t>
                </a:r>
              </a:p>
              <a:p>
                <a:endParaRPr lang="en-US" dirty="0"/>
              </a:p>
            </p:txBody>
          </p:sp>
        </mc:Fallback>
      </mc:AlternateContent>
      <p:sp>
        <p:nvSpPr>
          <p:cNvPr id="4" name="Slide Number Placeholder 3"/>
          <p:cNvSpPr>
            <a:spLocks noGrp="1"/>
          </p:cNvSpPr>
          <p:nvPr>
            <p:ph type="sldNum" sz="quarter" idx="5"/>
          </p:nvPr>
        </p:nvSpPr>
        <p:spPr/>
        <p:txBody>
          <a:bodyPr/>
          <a:lstStyle/>
          <a:p>
            <a:fld id="{9EB4C982-825B-414E-ABB9-79AB251390A5}" type="slidenum">
              <a:rPr lang="en-US" smtClean="0"/>
              <a:t>6</a:t>
            </a:fld>
            <a:endParaRPr lang="en-US"/>
          </a:p>
        </p:txBody>
      </p:sp>
    </p:spTree>
    <p:extLst>
      <p:ext uri="{BB962C8B-B14F-4D97-AF65-F5344CB8AC3E}">
        <p14:creationId xmlns:p14="http://schemas.microsoft.com/office/powerpoint/2010/main" val="1052458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US" b="1" dirty="0"/>
                  <a:t>1. Analogy Method</a:t>
                </a:r>
              </a:p>
              <a:p>
                <a:r>
                  <a:rPr lang="en-US" b="1" dirty="0"/>
                  <a:t>Definition:</a:t>
                </a:r>
                <a:r>
                  <a:rPr lang="en-US" dirty="0"/>
                  <a:t> Estimate cost, mass, power, or other resources by </a:t>
                </a:r>
                <a:r>
                  <a:rPr lang="en-US" b="1" dirty="0"/>
                  <a:t>comparing to similar past projects</a:t>
                </a:r>
                <a:r>
                  <a:rPr lang="en-US" dirty="0"/>
                  <a:t>.</a:t>
                </a:r>
              </a:p>
              <a:p>
                <a:r>
                  <a:rPr lang="en-US" b="1" dirty="0"/>
                  <a:t>How it works:</a:t>
                </a:r>
                <a:endParaRPr lang="en-US" dirty="0"/>
              </a:p>
              <a:p>
                <a:pPr lvl="1"/>
                <a:r>
                  <a:rPr lang="en-US" dirty="0"/>
                  <a:t>Identify a prior spacecraft or subsystem with similar function/scale.</a:t>
                </a:r>
              </a:p>
              <a:p>
                <a:pPr lvl="1"/>
                <a:r>
                  <a:rPr lang="en-US" dirty="0"/>
                  <a:t>Adjust for differences (size, technology, mission requirements).</a:t>
                </a:r>
              </a:p>
              <a:p>
                <a:r>
                  <a:rPr lang="en-US" b="1" dirty="0"/>
                  <a:t>Example:</a:t>
                </a:r>
                <a:endParaRPr lang="en-US" dirty="0"/>
              </a:p>
              <a:p>
                <a:pPr lvl="1"/>
                <a:r>
                  <a:rPr lang="en-US" dirty="0"/>
                  <a:t>“Our CubeSat payload is similar to a camera flown on Mission X, which weighed 5 kg and consumed 8 W. Ours is slightly more capable, so we’ll estimate ~6 kg and 10 W.”</a:t>
                </a:r>
              </a:p>
              <a:p>
                <a:r>
                  <a:rPr lang="en-US" b="1" dirty="0"/>
                  <a:t>Pros:</a:t>
                </a:r>
                <a:r>
                  <a:rPr lang="en-US" dirty="0"/>
                  <a:t> Quick, requires minimal data, useful early in concept studies.</a:t>
                </a:r>
              </a:p>
              <a:p>
                <a:r>
                  <a:rPr lang="en-US" b="1" dirty="0"/>
                  <a:t>Cons:</a:t>
                </a:r>
                <a:r>
                  <a:rPr lang="en-US" dirty="0"/>
                  <a:t> Accuracy depends on how close the analogy is; risk of overlooking unique features.</a:t>
                </a:r>
              </a:p>
              <a:p>
                <a:br>
                  <a:rPr lang="en-US" dirty="0"/>
                </a:br>
                <a:endParaRPr lang="en-US" dirty="0"/>
              </a:p>
              <a:p>
                <a:r>
                  <a:rPr lang="en-US" b="1" dirty="0"/>
                  <a:t>2. Parametric Method</a:t>
                </a:r>
              </a:p>
              <a:p>
                <a:r>
                  <a:rPr lang="en-US" b="1" dirty="0"/>
                  <a:t>Definition:</a:t>
                </a:r>
                <a:r>
                  <a:rPr lang="en-US" dirty="0"/>
                  <a:t> Uses </a:t>
                </a:r>
                <a:r>
                  <a:rPr lang="en-US" b="1" dirty="0"/>
                  <a:t>mathematical models or statistical relationships</a:t>
                </a:r>
                <a:r>
                  <a:rPr lang="en-US" dirty="0"/>
                  <a:t> between a system parameter and cost/power/mass.</a:t>
                </a:r>
              </a:p>
              <a:p>
                <a:r>
                  <a:rPr lang="en-US" b="1" dirty="0"/>
                  <a:t>How it works:</a:t>
                </a:r>
                <a:endParaRPr lang="en-US" dirty="0"/>
              </a:p>
              <a:p>
                <a:pPr lvl="1"/>
                <a:r>
                  <a:rPr lang="en-US" dirty="0"/>
                  <a:t>Fit equations from historical data: </a:t>
                </a:r>
                <a14:m>
                  <m:oMath xmlns:m="http://schemas.openxmlformats.org/officeDocument/2006/math">
                    <m:r>
                      <m:rPr>
                        <m:nor/>
                      </m:rPr>
                      <a:rPr lang="en-US" b="0"/>
                      <m:t>Cost</m:t>
                    </m:r>
                    <m:r>
                      <a:rPr lang="en-US" sz="1200" b="0" i="0" kern="1200">
                        <a:solidFill>
                          <a:schemeClr val="tx1"/>
                        </a:solidFill>
                        <a:latin typeface="Cambria Math" panose="02040503050406030204" pitchFamily="18" charset="0"/>
                        <a:ea typeface="+mn-ea"/>
                        <a:cs typeface="+mn-cs"/>
                      </a:rPr>
                      <m:t>=</m:t>
                    </m:r>
                    <m:r>
                      <a:rPr lang="en-US" sz="1200" b="0" i="1" kern="1200">
                        <a:solidFill>
                          <a:schemeClr val="tx1"/>
                        </a:solidFill>
                        <a:latin typeface="Cambria Math" panose="02040503050406030204" pitchFamily="18" charset="0"/>
                        <a:ea typeface="+mn-ea"/>
                        <a:cs typeface="+mn-cs"/>
                      </a:rPr>
                      <m:t>𝑎</m:t>
                    </m:r>
                    <m:r>
                      <a:rPr lang="en-US" sz="1200" b="0" i="0" kern="1200">
                        <a:solidFill>
                          <a:schemeClr val="tx1"/>
                        </a:solidFill>
                        <a:latin typeface="Cambria Math" panose="02040503050406030204" pitchFamily="18" charset="0"/>
                        <a:ea typeface="+mn-ea"/>
                        <a:cs typeface="+mn-cs"/>
                      </a:rPr>
                      <m:t>⋅</m:t>
                    </m:r>
                    <m:d>
                      <m:dPr>
                        <m:endChr m:val=""/>
                        <m:ctrlPr>
                          <a:rPr lang="ar-AE" sz="1200" b="0" i="1" kern="1200">
                            <a:solidFill>
                              <a:schemeClr val="tx1"/>
                            </a:solidFill>
                            <a:latin typeface="Cambria Math" panose="02040503050406030204" pitchFamily="18" charset="0"/>
                            <a:ea typeface="+mn-ea"/>
                            <a:cs typeface="+mn-cs"/>
                          </a:rPr>
                        </m:ctrlPr>
                      </m:dPr>
                      <m:e>
                        <m:r>
                          <m:rPr>
                            <m:nor/>
                          </m:rPr>
                          <a:rPr lang="en-US" sz="1200" b="0" i="1" kern="1200">
                            <a:solidFill>
                              <a:schemeClr val="tx1"/>
                            </a:solidFill>
                            <a:latin typeface="+mn-lt"/>
                            <a:ea typeface="+mn-ea"/>
                            <a:cs typeface="+mn-cs"/>
                          </a:rPr>
                          <m:t>Mass</m:t>
                        </m:r>
                        <m:sSup>
                          <m:sSupPr>
                            <m:ctrlPr>
                              <a:rPr lang="ar-AE" sz="1200" b="0" i="1" kern="1200">
                                <a:solidFill>
                                  <a:schemeClr val="tx1"/>
                                </a:solidFill>
                                <a:latin typeface="Cambria Math" panose="02040503050406030204" pitchFamily="18" charset="0"/>
                                <a:ea typeface="+mn-ea"/>
                                <a:cs typeface="+mn-cs"/>
                              </a:rPr>
                            </m:ctrlPr>
                          </m:sSupPr>
                          <m:e>
                            <m:d>
                              <m:dPr>
                                <m:begChr m:val=""/>
                                <m:endChr m:val=""/>
                                <m:ctrlPr>
                                  <a:rPr lang="ar-AE" sz="1200" b="0" i="1" kern="1200">
                                    <a:solidFill>
                                      <a:schemeClr val="tx1"/>
                                    </a:solidFill>
                                    <a:latin typeface="Cambria Math" panose="02040503050406030204" pitchFamily="18" charset="0"/>
                                    <a:ea typeface="+mn-ea"/>
                                    <a:cs typeface="+mn-cs"/>
                                  </a:rPr>
                                </m:ctrlPr>
                              </m:dPr>
                              <m:e>
                                <m:r>
                                  <a:rPr lang="ar-AE" sz="1200" b="0" i="0" kern="1200">
                                    <a:solidFill>
                                      <a:schemeClr val="tx1"/>
                                    </a:solidFill>
                                    <a:latin typeface="Cambria Math" panose="02040503050406030204" pitchFamily="18" charset="0"/>
                                    <a:ea typeface="+mn-ea"/>
                                    <a:cs typeface="+mn-cs"/>
                                  </a:rPr>
                                  <m:t>)</m:t>
                                </m:r>
                              </m:e>
                            </m:d>
                          </m:e>
                          <m:sup>
                            <m:r>
                              <a:rPr lang="ar-AE" sz="1200" b="0" i="1" kern="1200">
                                <a:solidFill>
                                  <a:schemeClr val="tx1"/>
                                </a:solidFill>
                                <a:latin typeface="Cambria Math" panose="02040503050406030204" pitchFamily="18" charset="0"/>
                                <a:ea typeface="+mn-ea"/>
                                <a:cs typeface="+mn-cs"/>
                              </a:rPr>
                              <m:t>𝑏</m:t>
                            </m:r>
                          </m:sup>
                        </m:sSup>
                      </m:e>
                    </m:d>
                  </m:oMath>
                </a14:m>
                <a:endParaRPr lang="ar-AE" dirty="0"/>
              </a:p>
              <a:p>
                <a:pPr lvl="1"/>
                <a:r>
                  <a:rPr lang="en-US" dirty="0"/>
                  <a:t>Widely used in NASA/DoD cost models (e.g., NAFCOM, SEER).</a:t>
                </a:r>
              </a:p>
              <a:p>
                <a:r>
                  <a:rPr lang="en-US" b="1" dirty="0"/>
                  <a:t>Example:</a:t>
                </a:r>
                <a:endParaRPr lang="en-US" dirty="0"/>
              </a:p>
              <a:p>
                <a:pPr lvl="1"/>
                <a:r>
                  <a:rPr lang="en-US" dirty="0"/>
                  <a:t>Spacecraft cost scales with dry mass: “For every 10 kg increase in mass, cost rises by $X million.”</a:t>
                </a:r>
              </a:p>
              <a:p>
                <a:pPr lvl="1"/>
                <a:r>
                  <a:rPr lang="en-US" dirty="0"/>
                  <a:t>Solar array power output scales with area: “P = </a:t>
                </a:r>
                <a:r>
                  <a:rPr lang="el-GR" dirty="0"/>
                  <a:t>η × </a:t>
                </a:r>
                <a:r>
                  <a:rPr lang="en-US" dirty="0"/>
                  <a:t>Area × Solar constant.”</a:t>
                </a:r>
              </a:p>
              <a:p>
                <a:r>
                  <a:rPr lang="en-US" b="1" dirty="0"/>
                  <a:t>Pros:</a:t>
                </a:r>
                <a:r>
                  <a:rPr lang="en-US" dirty="0"/>
                  <a:t> Provides data-driven estimates, can scale across many designs.</a:t>
                </a:r>
              </a:p>
              <a:p>
                <a:r>
                  <a:rPr lang="en-US" b="1" dirty="0"/>
                  <a:t>Cons:</a:t>
                </a:r>
                <a:r>
                  <a:rPr lang="en-US" dirty="0"/>
                  <a:t> Requires large historical databases; accuracy limited if new tech or novel missions deviate from trends.</a:t>
                </a:r>
              </a:p>
              <a:p>
                <a:br>
                  <a:rPr lang="en-US" dirty="0"/>
                </a:br>
                <a:endParaRPr lang="en-US" dirty="0"/>
              </a:p>
              <a:p>
                <a:r>
                  <a:rPr lang="en-US" b="1" dirty="0"/>
                  <a:t>3. Engineering (Bottom-Up) Method</a:t>
                </a:r>
              </a:p>
              <a:p>
                <a:r>
                  <a:rPr lang="en-US" b="1" dirty="0"/>
                  <a:t>Definition:</a:t>
                </a:r>
                <a:r>
                  <a:rPr lang="en-US" dirty="0"/>
                  <a:t> A detailed estimate built by </a:t>
                </a:r>
                <a:r>
                  <a:rPr lang="en-US" b="1" dirty="0"/>
                  <a:t>summing up contributions from each component or line item</a:t>
                </a:r>
                <a:r>
                  <a:rPr lang="en-US" dirty="0"/>
                  <a:t>.</a:t>
                </a:r>
              </a:p>
              <a:p>
                <a:r>
                  <a:rPr lang="en-US" b="1" dirty="0"/>
                  <a:t>How it works:</a:t>
                </a:r>
                <a:endParaRPr lang="en-US" dirty="0"/>
              </a:p>
              <a:p>
                <a:pPr lvl="1"/>
                <a:r>
                  <a:rPr lang="en-US" dirty="0"/>
                  <a:t>Create a </a:t>
                </a:r>
                <a:r>
                  <a:rPr lang="en-US" b="1" dirty="0"/>
                  <a:t>work breakdown structure (WBS)</a:t>
                </a:r>
                <a:r>
                  <a:rPr lang="en-US" dirty="0"/>
                  <a:t>.</a:t>
                </a:r>
              </a:p>
              <a:p>
                <a:pPr lvl="1"/>
                <a:r>
                  <a:rPr lang="en-US" dirty="0"/>
                  <a:t>Gather vendor quotes, part specifications, and engineering analyses.</a:t>
                </a:r>
              </a:p>
              <a:p>
                <a:pPr lvl="1"/>
                <a:r>
                  <a:rPr lang="en-US" dirty="0"/>
                  <a:t>Add everything together with margins.</a:t>
                </a:r>
              </a:p>
              <a:p>
                <a:r>
                  <a:rPr lang="en-US" b="1" dirty="0"/>
                  <a:t>Example:</a:t>
                </a:r>
                <a:endParaRPr lang="en-US" dirty="0"/>
              </a:p>
              <a:p>
                <a:pPr lvl="1"/>
                <a:r>
                  <a:rPr lang="en-US" dirty="0"/>
                  <a:t>EPS subsystem:</a:t>
                </a:r>
              </a:p>
              <a:p>
                <a:pPr lvl="2"/>
                <a:r>
                  <a:rPr lang="en-US" dirty="0"/>
                  <a:t>Solar cells (200 g),</a:t>
                </a:r>
              </a:p>
              <a:p>
                <a:pPr lvl="2"/>
                <a:r>
                  <a:rPr lang="en-US" dirty="0"/>
                  <a:t>Batteries (1.5 kg),</a:t>
                </a:r>
              </a:p>
              <a:p>
                <a:pPr lvl="2"/>
                <a:r>
                  <a:rPr lang="en-US" dirty="0"/>
                  <a:t>Power electronics board (0.5 kg),</a:t>
                </a:r>
              </a:p>
              <a:p>
                <a:pPr lvl="2"/>
                <a:r>
                  <a:rPr lang="en-US" dirty="0"/>
                  <a:t>Harnessing (0.2 kg) → </a:t>
                </a:r>
                <a:r>
                  <a:rPr lang="en-US" b="1" dirty="0"/>
                  <a:t>~2.4 kg total + 20% margin = 2.9 kg</a:t>
                </a:r>
                <a:r>
                  <a:rPr lang="en-US" dirty="0"/>
                  <a:t>.</a:t>
                </a:r>
              </a:p>
              <a:p>
                <a:r>
                  <a:rPr lang="en-US" b="1" dirty="0"/>
                  <a:t>Pros:</a:t>
                </a:r>
                <a:r>
                  <a:rPr lang="en-US" dirty="0"/>
                  <a:t> Most accurate, transparent, and defensible; necessary for final design.</a:t>
                </a:r>
              </a:p>
              <a:p>
                <a:r>
                  <a:rPr lang="en-US" b="1" dirty="0"/>
                  <a:t>Cons:</a:t>
                </a:r>
                <a:r>
                  <a:rPr lang="en-US" dirty="0"/>
                  <a:t> Requires detailed design maturity and more time/resources.</a:t>
                </a:r>
              </a:p>
              <a:p>
                <a:endParaRPr lang="en-US" dirty="0"/>
              </a:p>
              <a:p>
                <a:endParaRPr lang="en-US" dirty="0"/>
              </a:p>
              <a:p>
                <a:r>
                  <a:rPr lang="en-US" u="sng" dirty="0"/>
                  <a:t>Summary:</a:t>
                </a:r>
                <a:br>
                  <a:rPr lang="en-US" u="sng" dirty="0"/>
                </a:br>
                <a:endParaRPr lang="en-US" u="sng" dirty="0"/>
              </a:p>
              <a:p>
                <a:r>
                  <a:rPr lang="en-US" b="1" dirty="0"/>
                  <a:t>Analogy</a:t>
                </a:r>
                <a:r>
                  <a:rPr lang="en-US" dirty="0"/>
                  <a:t> → Best for </a:t>
                </a:r>
                <a:r>
                  <a:rPr lang="en-US" i="1" dirty="0"/>
                  <a:t>early concept phases</a:t>
                </a:r>
                <a:r>
                  <a:rPr lang="en-US" dirty="0"/>
                  <a:t> (ROM estimates, feasibility studies).</a:t>
                </a:r>
              </a:p>
              <a:p>
                <a:r>
                  <a:rPr lang="en-US" b="1" dirty="0"/>
                  <a:t>Parametric</a:t>
                </a:r>
                <a:r>
                  <a:rPr lang="en-US" dirty="0"/>
                  <a:t> → Best for </a:t>
                </a:r>
                <a:r>
                  <a:rPr lang="en-US" i="1" dirty="0"/>
                  <a:t>Phase A/B trades</a:t>
                </a:r>
                <a:r>
                  <a:rPr lang="en-US" dirty="0"/>
                  <a:t> when some data exists but design not finalized.</a:t>
                </a:r>
              </a:p>
              <a:p>
                <a:r>
                  <a:rPr lang="en-US" b="1" dirty="0"/>
                  <a:t>Engineering/Bottom-Up</a:t>
                </a:r>
                <a:r>
                  <a:rPr lang="en-US" dirty="0"/>
                  <a:t> → Best for </a:t>
                </a:r>
                <a:r>
                  <a:rPr lang="en-US" i="1" dirty="0"/>
                  <a:t>detailed design and final budgeting</a:t>
                </a:r>
                <a:r>
                  <a:rPr lang="en-US" dirty="0"/>
                  <a:t> (Phase C/D).</a:t>
                </a:r>
              </a:p>
              <a:p>
                <a:r>
                  <a:rPr lang="en-US" dirty="0"/>
                  <a:t>Most missions actually use a </a:t>
                </a:r>
                <a:r>
                  <a:rPr lang="en-US" b="1" dirty="0"/>
                  <a:t>hybrid approach</a:t>
                </a:r>
                <a:r>
                  <a:rPr lang="en-US" dirty="0"/>
                  <a:t>: start with analogy, refine with parametric models, and finalize with engineering estimates as the design matures.</a:t>
                </a:r>
              </a:p>
              <a:p>
                <a:endParaRPr lang="en-US" dirty="0"/>
              </a:p>
              <a:p>
                <a:endParaRPr lang="en-US" dirty="0"/>
              </a:p>
            </p:txBody>
          </p:sp>
        </mc:Choice>
        <mc:Fallback>
          <p:sp>
            <p:nvSpPr>
              <p:cNvPr id="3" name="Notes Placeholder 2"/>
              <p:cNvSpPr>
                <a:spLocks noGrp="1"/>
              </p:cNvSpPr>
              <p:nvPr>
                <p:ph type="body" idx="1"/>
              </p:nvPr>
            </p:nvSpPr>
            <p:spPr/>
            <p:txBody>
              <a:bodyPr/>
              <a:lstStyle/>
              <a:p>
                <a:r>
                  <a:rPr lang="en-US" b="1" dirty="0"/>
                  <a:t>1. Analogy Method</a:t>
                </a:r>
              </a:p>
              <a:p>
                <a:r>
                  <a:rPr lang="en-US" b="1" dirty="0"/>
                  <a:t>Definition:</a:t>
                </a:r>
                <a:r>
                  <a:rPr lang="en-US" dirty="0"/>
                  <a:t> Estimate cost, mass, power, or other resources by </a:t>
                </a:r>
                <a:r>
                  <a:rPr lang="en-US" b="1" dirty="0"/>
                  <a:t>comparing to similar past projects</a:t>
                </a:r>
                <a:r>
                  <a:rPr lang="en-US" dirty="0"/>
                  <a:t>.</a:t>
                </a:r>
              </a:p>
              <a:p>
                <a:r>
                  <a:rPr lang="en-US" b="1" dirty="0"/>
                  <a:t>How it works:</a:t>
                </a:r>
                <a:endParaRPr lang="en-US" dirty="0"/>
              </a:p>
              <a:p>
                <a:pPr lvl="1"/>
                <a:r>
                  <a:rPr lang="en-US" dirty="0"/>
                  <a:t>Identify a prior spacecraft or subsystem with similar function/scale.</a:t>
                </a:r>
              </a:p>
              <a:p>
                <a:pPr lvl="1"/>
                <a:r>
                  <a:rPr lang="en-US" dirty="0"/>
                  <a:t>Adjust for differences (size, technology, mission requirements).</a:t>
                </a:r>
              </a:p>
              <a:p>
                <a:r>
                  <a:rPr lang="en-US" b="1" dirty="0"/>
                  <a:t>Example:</a:t>
                </a:r>
                <a:endParaRPr lang="en-US" dirty="0"/>
              </a:p>
              <a:p>
                <a:pPr lvl="1"/>
                <a:r>
                  <a:rPr lang="en-US" dirty="0"/>
                  <a:t>“Our CubeSat payload is similar to a camera flown on Mission X, which weighed 5 kg and consumed 8 W. Ours is slightly more capable, so we’ll estimate ~6 kg and 10 W.”</a:t>
                </a:r>
              </a:p>
              <a:p>
                <a:r>
                  <a:rPr lang="en-US" b="1" dirty="0"/>
                  <a:t>Pros:</a:t>
                </a:r>
                <a:r>
                  <a:rPr lang="en-US" dirty="0"/>
                  <a:t> Quick, requires minimal data, useful early in concept studies.</a:t>
                </a:r>
              </a:p>
              <a:p>
                <a:r>
                  <a:rPr lang="en-US" b="1" dirty="0"/>
                  <a:t>Cons:</a:t>
                </a:r>
                <a:r>
                  <a:rPr lang="en-US" dirty="0"/>
                  <a:t> Accuracy depends on how close the analogy is; risk of overlooking unique features.</a:t>
                </a:r>
              </a:p>
              <a:p>
                <a:br>
                  <a:rPr lang="en-US" dirty="0"/>
                </a:br>
                <a:endParaRPr lang="en-US" dirty="0"/>
              </a:p>
              <a:p>
                <a:r>
                  <a:rPr lang="en-US" b="1" dirty="0"/>
                  <a:t>2. Parametric Method</a:t>
                </a:r>
              </a:p>
              <a:p>
                <a:r>
                  <a:rPr lang="en-US" b="1" dirty="0"/>
                  <a:t>Definition:</a:t>
                </a:r>
                <a:r>
                  <a:rPr lang="en-US" dirty="0"/>
                  <a:t> Uses </a:t>
                </a:r>
                <a:r>
                  <a:rPr lang="en-US" b="1" dirty="0"/>
                  <a:t>mathematical models or statistical relationships</a:t>
                </a:r>
                <a:r>
                  <a:rPr lang="en-US" dirty="0"/>
                  <a:t> between a system parameter and cost/power/mass.</a:t>
                </a:r>
              </a:p>
              <a:p>
                <a:r>
                  <a:rPr lang="en-US" b="1" dirty="0"/>
                  <a:t>How it works:</a:t>
                </a:r>
                <a:endParaRPr lang="en-US" dirty="0"/>
              </a:p>
              <a:p>
                <a:pPr lvl="1"/>
                <a:r>
                  <a:rPr lang="en-US" dirty="0"/>
                  <a:t>Fit equations from historical data: </a:t>
                </a:r>
                <a:r>
                  <a:rPr lang="en-US" b="0" i="0">
                    <a:latin typeface="Cambria Math" panose="02040503050406030204" pitchFamily="18" charset="0"/>
                  </a:rPr>
                  <a:t>"Cost</a:t>
                </a:r>
                <a:r>
                  <a:rPr lang="en-US" sz="1200" b="0" i="0" kern="1200">
                    <a:solidFill>
                      <a:schemeClr val="tx1"/>
                    </a:solidFill>
                    <a:latin typeface="Cambria Math" panose="02040503050406030204" pitchFamily="18" charset="0"/>
                    <a:ea typeface="+mn-ea"/>
                    <a:cs typeface="+mn-cs"/>
                  </a:rPr>
                  <a:t>"=𝑎⋅</a:t>
                </a:r>
                <a:r>
                  <a:rPr lang="ar-AE" sz="1200" b="0" i="0" kern="1200">
                    <a:solidFill>
                      <a:schemeClr val="tx1"/>
                    </a:solidFill>
                    <a:latin typeface="Cambria Math" panose="02040503050406030204" pitchFamily="18" charset="0"/>
                    <a:ea typeface="+mn-ea"/>
                    <a:cs typeface="+mn-cs"/>
                  </a:rPr>
                  <a:t>(</a:t>
                </a:r>
                <a:r>
                  <a:rPr lang="en-US" sz="1200" b="0" i="0" kern="1200">
                    <a:solidFill>
                      <a:schemeClr val="tx1"/>
                    </a:solidFill>
                    <a:latin typeface="+mn-lt"/>
                    <a:ea typeface="+mn-ea"/>
                    <a:cs typeface="+mn-cs"/>
                  </a:rPr>
                  <a:t>"Mass</a:t>
                </a:r>
                <a:r>
                  <a:rPr lang="ar-AE" sz="1200" b="0" i="0" kern="1200">
                    <a:solidFill>
                      <a:schemeClr val="tx1"/>
                    </a:solidFill>
                    <a:latin typeface="Cambria Math" panose="02040503050406030204" pitchFamily="18" charset="0"/>
                    <a:ea typeface="+mn-ea"/>
                    <a:cs typeface="+mn-cs"/>
                  </a:rPr>
                  <a:t>" ├ )┤^𝑏 ┤</a:t>
                </a:r>
                <a:endParaRPr lang="ar-AE" dirty="0"/>
              </a:p>
              <a:p>
                <a:pPr lvl="1"/>
                <a:r>
                  <a:rPr lang="en-US" dirty="0"/>
                  <a:t>Widely used in NASA/DoD cost models (e.g., NAFCOM, SEER).</a:t>
                </a:r>
              </a:p>
              <a:p>
                <a:r>
                  <a:rPr lang="en-US" b="1" dirty="0"/>
                  <a:t>Example:</a:t>
                </a:r>
                <a:endParaRPr lang="en-US" dirty="0"/>
              </a:p>
              <a:p>
                <a:pPr lvl="1"/>
                <a:r>
                  <a:rPr lang="en-US" dirty="0"/>
                  <a:t>Spacecraft cost scales with dry mass: “For every 10 kg increase in mass, cost rises by $X million.”</a:t>
                </a:r>
              </a:p>
              <a:p>
                <a:pPr lvl="1"/>
                <a:r>
                  <a:rPr lang="en-US" dirty="0"/>
                  <a:t>Solar array power output scales with area: “P = </a:t>
                </a:r>
                <a:r>
                  <a:rPr lang="el-GR" dirty="0"/>
                  <a:t>η × </a:t>
                </a:r>
                <a:r>
                  <a:rPr lang="en-US" dirty="0"/>
                  <a:t>Area × Solar constant.”</a:t>
                </a:r>
              </a:p>
              <a:p>
                <a:r>
                  <a:rPr lang="en-US" b="1" dirty="0"/>
                  <a:t>Pros:</a:t>
                </a:r>
                <a:r>
                  <a:rPr lang="en-US" dirty="0"/>
                  <a:t> Provides data-driven estimates, can scale across many designs.</a:t>
                </a:r>
              </a:p>
              <a:p>
                <a:r>
                  <a:rPr lang="en-US" b="1" dirty="0"/>
                  <a:t>Cons:</a:t>
                </a:r>
                <a:r>
                  <a:rPr lang="en-US" dirty="0"/>
                  <a:t> Requires large historical databases; accuracy limited if new tech or novel missions deviate from trends.</a:t>
                </a:r>
              </a:p>
              <a:p>
                <a:br>
                  <a:rPr lang="en-US" dirty="0"/>
                </a:br>
                <a:endParaRPr lang="en-US" dirty="0"/>
              </a:p>
              <a:p>
                <a:r>
                  <a:rPr lang="en-US" b="1" dirty="0"/>
                  <a:t>3. Engineering (Bottom-Up) Method</a:t>
                </a:r>
              </a:p>
              <a:p>
                <a:r>
                  <a:rPr lang="en-US" b="1" dirty="0"/>
                  <a:t>Definition:</a:t>
                </a:r>
                <a:r>
                  <a:rPr lang="en-US" dirty="0"/>
                  <a:t> A detailed estimate built by </a:t>
                </a:r>
                <a:r>
                  <a:rPr lang="en-US" b="1" dirty="0"/>
                  <a:t>summing up contributions from each component or line item</a:t>
                </a:r>
                <a:r>
                  <a:rPr lang="en-US" dirty="0"/>
                  <a:t>.</a:t>
                </a:r>
              </a:p>
              <a:p>
                <a:r>
                  <a:rPr lang="en-US" b="1" dirty="0"/>
                  <a:t>How it works:</a:t>
                </a:r>
                <a:endParaRPr lang="en-US" dirty="0"/>
              </a:p>
              <a:p>
                <a:pPr lvl="1"/>
                <a:r>
                  <a:rPr lang="en-US" dirty="0"/>
                  <a:t>Create a </a:t>
                </a:r>
                <a:r>
                  <a:rPr lang="en-US" b="1" dirty="0"/>
                  <a:t>work breakdown structure (WBS)</a:t>
                </a:r>
                <a:r>
                  <a:rPr lang="en-US" dirty="0"/>
                  <a:t>.</a:t>
                </a:r>
              </a:p>
              <a:p>
                <a:pPr lvl="1"/>
                <a:r>
                  <a:rPr lang="en-US" dirty="0"/>
                  <a:t>Gather vendor quotes, part specifications, and engineering analyses.</a:t>
                </a:r>
              </a:p>
              <a:p>
                <a:pPr lvl="1"/>
                <a:r>
                  <a:rPr lang="en-US" dirty="0"/>
                  <a:t>Add everything together with margins.</a:t>
                </a:r>
              </a:p>
              <a:p>
                <a:r>
                  <a:rPr lang="en-US" b="1" dirty="0"/>
                  <a:t>Example:</a:t>
                </a:r>
                <a:endParaRPr lang="en-US" dirty="0"/>
              </a:p>
              <a:p>
                <a:pPr lvl="1"/>
                <a:r>
                  <a:rPr lang="en-US" dirty="0"/>
                  <a:t>EPS subsystem:</a:t>
                </a:r>
              </a:p>
              <a:p>
                <a:pPr lvl="2"/>
                <a:r>
                  <a:rPr lang="en-US" dirty="0"/>
                  <a:t>Solar cells (200 g),</a:t>
                </a:r>
              </a:p>
              <a:p>
                <a:pPr lvl="2"/>
                <a:r>
                  <a:rPr lang="en-US" dirty="0"/>
                  <a:t>Batteries (1.5 kg),</a:t>
                </a:r>
              </a:p>
              <a:p>
                <a:pPr lvl="2"/>
                <a:r>
                  <a:rPr lang="en-US" dirty="0"/>
                  <a:t>Power electronics board (0.5 kg),</a:t>
                </a:r>
              </a:p>
              <a:p>
                <a:pPr lvl="2"/>
                <a:r>
                  <a:rPr lang="en-US" dirty="0"/>
                  <a:t>Harnessing (0.2 kg) → </a:t>
                </a:r>
                <a:r>
                  <a:rPr lang="en-US" b="1" dirty="0"/>
                  <a:t>~2.4 kg total + 20% margin = 2.9 kg</a:t>
                </a:r>
                <a:r>
                  <a:rPr lang="en-US" dirty="0"/>
                  <a:t>.</a:t>
                </a:r>
              </a:p>
              <a:p>
                <a:r>
                  <a:rPr lang="en-US" b="1" dirty="0"/>
                  <a:t>Pros:</a:t>
                </a:r>
                <a:r>
                  <a:rPr lang="en-US" dirty="0"/>
                  <a:t> Most accurate, transparent, and defensible; necessary for final design.</a:t>
                </a:r>
              </a:p>
              <a:p>
                <a:r>
                  <a:rPr lang="en-US" b="1" dirty="0"/>
                  <a:t>Cons:</a:t>
                </a:r>
                <a:r>
                  <a:rPr lang="en-US" dirty="0"/>
                  <a:t> Requires detailed design maturity and more time/resources.</a:t>
                </a:r>
              </a:p>
              <a:p>
                <a:endParaRPr lang="en-US" dirty="0"/>
              </a:p>
              <a:p>
                <a:endParaRPr lang="en-US" dirty="0"/>
              </a:p>
              <a:p>
                <a:r>
                  <a:rPr lang="en-US" u="sng" dirty="0"/>
                  <a:t>Summary:</a:t>
                </a:r>
                <a:br>
                  <a:rPr lang="en-US" u="sng" dirty="0"/>
                </a:br>
                <a:endParaRPr lang="en-US" u="sng" dirty="0"/>
              </a:p>
              <a:p>
                <a:r>
                  <a:rPr lang="en-US" b="1" dirty="0"/>
                  <a:t>Analogy</a:t>
                </a:r>
                <a:r>
                  <a:rPr lang="en-US" dirty="0"/>
                  <a:t> → Best for </a:t>
                </a:r>
                <a:r>
                  <a:rPr lang="en-US" i="1" dirty="0"/>
                  <a:t>early concept phases</a:t>
                </a:r>
                <a:r>
                  <a:rPr lang="en-US" dirty="0"/>
                  <a:t> (ROM estimates, feasibility studies).</a:t>
                </a:r>
              </a:p>
              <a:p>
                <a:r>
                  <a:rPr lang="en-US" b="1" dirty="0"/>
                  <a:t>Parametric</a:t>
                </a:r>
                <a:r>
                  <a:rPr lang="en-US" dirty="0"/>
                  <a:t> → Best for </a:t>
                </a:r>
                <a:r>
                  <a:rPr lang="en-US" i="1" dirty="0"/>
                  <a:t>Phase A/B trades</a:t>
                </a:r>
                <a:r>
                  <a:rPr lang="en-US" dirty="0"/>
                  <a:t> when some data exists but design not finalized.</a:t>
                </a:r>
              </a:p>
              <a:p>
                <a:r>
                  <a:rPr lang="en-US" b="1" dirty="0"/>
                  <a:t>Engineering/Bottom-Up</a:t>
                </a:r>
                <a:r>
                  <a:rPr lang="en-US" dirty="0"/>
                  <a:t> → Best for </a:t>
                </a:r>
                <a:r>
                  <a:rPr lang="en-US" i="1" dirty="0"/>
                  <a:t>detailed design and final budgeting</a:t>
                </a:r>
                <a:r>
                  <a:rPr lang="en-US" dirty="0"/>
                  <a:t> (Phase C/D).</a:t>
                </a:r>
              </a:p>
              <a:p>
                <a:r>
                  <a:rPr lang="en-US" dirty="0"/>
                  <a:t>Most missions actually use a </a:t>
                </a:r>
                <a:r>
                  <a:rPr lang="en-US" b="1" dirty="0"/>
                  <a:t>hybrid approach</a:t>
                </a:r>
                <a:r>
                  <a:rPr lang="en-US" dirty="0"/>
                  <a:t>: start with analogy, refine with parametric models, and finalize with engineering estimates as the design matures.</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9EB4C982-825B-414E-ABB9-79AB251390A5}" type="slidenum">
              <a:rPr lang="en-US" smtClean="0"/>
              <a:t>7</a:t>
            </a:fld>
            <a:endParaRPr lang="en-US"/>
          </a:p>
        </p:txBody>
      </p:sp>
    </p:spTree>
    <p:extLst>
      <p:ext uri="{BB962C8B-B14F-4D97-AF65-F5344CB8AC3E}">
        <p14:creationId xmlns:p14="http://schemas.microsoft.com/office/powerpoint/2010/main" val="16064817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mc:Choice xmlns:a14="http://schemas.microsoft.com/office/drawing/2010/main" Requires="a14">
          <p:sp>
            <p:nvSpPr>
              <p:cNvPr id="3" name="Notes Placeholder 2"/>
              <p:cNvSpPr>
                <a:spLocks noGrp="1"/>
              </p:cNvSpPr>
              <p:nvPr>
                <p:ph type="body" idx="1"/>
              </p:nvPr>
            </p:nvSpPr>
            <p:spPr/>
            <p:txBody>
              <a:bodyPr/>
              <a:lstStyle/>
              <a:p>
                <a:r>
                  <a:rPr lang="en-US" b="1" dirty="0"/>
                  <a:t>1. Analogy Method</a:t>
                </a:r>
              </a:p>
              <a:p>
                <a:r>
                  <a:rPr lang="en-US" b="1" dirty="0"/>
                  <a:t>Definition:</a:t>
                </a:r>
                <a:r>
                  <a:rPr lang="en-US" dirty="0"/>
                  <a:t> Estimate cost, mass, power, or other resources by </a:t>
                </a:r>
                <a:r>
                  <a:rPr lang="en-US" b="1" dirty="0"/>
                  <a:t>comparing to similar past projects</a:t>
                </a:r>
                <a:r>
                  <a:rPr lang="en-US" dirty="0"/>
                  <a:t>.</a:t>
                </a:r>
              </a:p>
              <a:p>
                <a:r>
                  <a:rPr lang="en-US" b="1" dirty="0"/>
                  <a:t>How it works:</a:t>
                </a:r>
                <a:endParaRPr lang="en-US" dirty="0"/>
              </a:p>
              <a:p>
                <a:pPr lvl="1"/>
                <a:r>
                  <a:rPr lang="en-US" dirty="0"/>
                  <a:t>Identify a prior spacecraft or subsystem with similar function/scale.</a:t>
                </a:r>
              </a:p>
              <a:p>
                <a:pPr lvl="1"/>
                <a:r>
                  <a:rPr lang="en-US" dirty="0"/>
                  <a:t>Adjust for differences (size, technology, mission requirements).</a:t>
                </a:r>
              </a:p>
              <a:p>
                <a:r>
                  <a:rPr lang="en-US" b="1" dirty="0"/>
                  <a:t>Example:</a:t>
                </a:r>
                <a:endParaRPr lang="en-US" dirty="0"/>
              </a:p>
              <a:p>
                <a:pPr lvl="1"/>
                <a:r>
                  <a:rPr lang="en-US" dirty="0"/>
                  <a:t>“Our CubeSat payload is similar to a camera flown on Mission X, which weighed 5 kg and consumed 8 W. Ours is slightly more capable, so we’ll estimate ~6 kg and 10 W.”</a:t>
                </a:r>
              </a:p>
              <a:p>
                <a:r>
                  <a:rPr lang="en-US" b="1" dirty="0"/>
                  <a:t>Pros:</a:t>
                </a:r>
                <a:r>
                  <a:rPr lang="en-US" dirty="0"/>
                  <a:t> Quick, requires minimal data, useful early in concept studies.</a:t>
                </a:r>
              </a:p>
              <a:p>
                <a:r>
                  <a:rPr lang="en-US" b="1" dirty="0"/>
                  <a:t>Cons:</a:t>
                </a:r>
                <a:r>
                  <a:rPr lang="en-US" dirty="0"/>
                  <a:t> Accuracy depends on how close the analogy is; risk of overlooking unique features.</a:t>
                </a:r>
              </a:p>
              <a:p>
                <a:br>
                  <a:rPr lang="en-US" dirty="0"/>
                </a:br>
                <a:endParaRPr lang="en-US" dirty="0"/>
              </a:p>
              <a:p>
                <a:r>
                  <a:rPr lang="en-US" b="1" dirty="0"/>
                  <a:t>2. Parametric Method</a:t>
                </a:r>
              </a:p>
              <a:p>
                <a:r>
                  <a:rPr lang="en-US" b="1" dirty="0"/>
                  <a:t>Definition:</a:t>
                </a:r>
                <a:r>
                  <a:rPr lang="en-US" dirty="0"/>
                  <a:t> Uses </a:t>
                </a:r>
                <a:r>
                  <a:rPr lang="en-US" b="1" dirty="0"/>
                  <a:t>mathematical models or statistical relationships</a:t>
                </a:r>
                <a:r>
                  <a:rPr lang="en-US" dirty="0"/>
                  <a:t> between a system parameter and cost/power/mass.</a:t>
                </a:r>
              </a:p>
              <a:p>
                <a:r>
                  <a:rPr lang="en-US" b="1" dirty="0"/>
                  <a:t>How it works:</a:t>
                </a:r>
                <a:endParaRPr lang="en-US" dirty="0"/>
              </a:p>
              <a:p>
                <a:pPr lvl="1"/>
                <a:r>
                  <a:rPr lang="en-US" dirty="0"/>
                  <a:t>Fit equations from historical data: </a:t>
                </a:r>
                <a14:m>
                  <m:oMath xmlns:m="http://schemas.openxmlformats.org/officeDocument/2006/math">
                    <m:r>
                      <m:rPr>
                        <m:nor/>
                      </m:rPr>
                      <a:rPr lang="en-US" b="0"/>
                      <m:t>Cost</m:t>
                    </m:r>
                    <m:r>
                      <a:rPr lang="en-US" sz="1200" b="0" i="0" kern="1200">
                        <a:solidFill>
                          <a:schemeClr val="tx1"/>
                        </a:solidFill>
                        <a:latin typeface="Cambria Math" panose="02040503050406030204" pitchFamily="18" charset="0"/>
                        <a:ea typeface="+mn-ea"/>
                        <a:cs typeface="+mn-cs"/>
                      </a:rPr>
                      <m:t>=</m:t>
                    </m:r>
                    <m:r>
                      <a:rPr lang="en-US" sz="1200" b="0" i="1" kern="1200">
                        <a:solidFill>
                          <a:schemeClr val="tx1"/>
                        </a:solidFill>
                        <a:latin typeface="Cambria Math" panose="02040503050406030204" pitchFamily="18" charset="0"/>
                        <a:ea typeface="+mn-ea"/>
                        <a:cs typeface="+mn-cs"/>
                      </a:rPr>
                      <m:t>𝑎</m:t>
                    </m:r>
                    <m:r>
                      <a:rPr lang="en-US" sz="1200" b="0" i="0" kern="1200">
                        <a:solidFill>
                          <a:schemeClr val="tx1"/>
                        </a:solidFill>
                        <a:latin typeface="Cambria Math" panose="02040503050406030204" pitchFamily="18" charset="0"/>
                        <a:ea typeface="+mn-ea"/>
                        <a:cs typeface="+mn-cs"/>
                      </a:rPr>
                      <m:t>⋅</m:t>
                    </m:r>
                    <m:d>
                      <m:dPr>
                        <m:endChr m:val=""/>
                        <m:ctrlPr>
                          <a:rPr lang="ar-AE" sz="1200" b="0" i="1" kern="1200">
                            <a:solidFill>
                              <a:schemeClr val="tx1"/>
                            </a:solidFill>
                            <a:latin typeface="Cambria Math" panose="02040503050406030204" pitchFamily="18" charset="0"/>
                            <a:ea typeface="+mn-ea"/>
                            <a:cs typeface="+mn-cs"/>
                          </a:rPr>
                        </m:ctrlPr>
                      </m:dPr>
                      <m:e>
                        <m:r>
                          <m:rPr>
                            <m:nor/>
                          </m:rPr>
                          <a:rPr lang="en-US" sz="1200" b="0" i="1" kern="1200">
                            <a:solidFill>
                              <a:schemeClr val="tx1"/>
                            </a:solidFill>
                            <a:latin typeface="+mn-lt"/>
                            <a:ea typeface="+mn-ea"/>
                            <a:cs typeface="+mn-cs"/>
                          </a:rPr>
                          <m:t>Mass</m:t>
                        </m:r>
                        <m:sSup>
                          <m:sSupPr>
                            <m:ctrlPr>
                              <a:rPr lang="ar-AE" sz="1200" b="0" i="1" kern="1200">
                                <a:solidFill>
                                  <a:schemeClr val="tx1"/>
                                </a:solidFill>
                                <a:latin typeface="Cambria Math" panose="02040503050406030204" pitchFamily="18" charset="0"/>
                                <a:ea typeface="+mn-ea"/>
                                <a:cs typeface="+mn-cs"/>
                              </a:rPr>
                            </m:ctrlPr>
                          </m:sSupPr>
                          <m:e>
                            <m:d>
                              <m:dPr>
                                <m:begChr m:val=""/>
                                <m:endChr m:val=""/>
                                <m:ctrlPr>
                                  <a:rPr lang="ar-AE" sz="1200" b="0" i="1" kern="1200">
                                    <a:solidFill>
                                      <a:schemeClr val="tx1"/>
                                    </a:solidFill>
                                    <a:latin typeface="Cambria Math" panose="02040503050406030204" pitchFamily="18" charset="0"/>
                                    <a:ea typeface="+mn-ea"/>
                                    <a:cs typeface="+mn-cs"/>
                                  </a:rPr>
                                </m:ctrlPr>
                              </m:dPr>
                              <m:e>
                                <m:r>
                                  <a:rPr lang="ar-AE" sz="1200" b="0" i="0" kern="1200">
                                    <a:solidFill>
                                      <a:schemeClr val="tx1"/>
                                    </a:solidFill>
                                    <a:latin typeface="Cambria Math" panose="02040503050406030204" pitchFamily="18" charset="0"/>
                                    <a:ea typeface="+mn-ea"/>
                                    <a:cs typeface="+mn-cs"/>
                                  </a:rPr>
                                  <m:t>)</m:t>
                                </m:r>
                              </m:e>
                            </m:d>
                          </m:e>
                          <m:sup>
                            <m:r>
                              <a:rPr lang="ar-AE" sz="1200" b="0" i="1" kern="1200">
                                <a:solidFill>
                                  <a:schemeClr val="tx1"/>
                                </a:solidFill>
                                <a:latin typeface="Cambria Math" panose="02040503050406030204" pitchFamily="18" charset="0"/>
                                <a:ea typeface="+mn-ea"/>
                                <a:cs typeface="+mn-cs"/>
                              </a:rPr>
                              <m:t>𝑏</m:t>
                            </m:r>
                          </m:sup>
                        </m:sSup>
                      </m:e>
                    </m:d>
                  </m:oMath>
                </a14:m>
                <a:endParaRPr lang="ar-AE" dirty="0"/>
              </a:p>
              <a:p>
                <a:pPr lvl="1"/>
                <a:r>
                  <a:rPr lang="en-US" dirty="0"/>
                  <a:t>Widely used in NASA/DoD cost models (e.g., NAFCOM, SEER).</a:t>
                </a:r>
              </a:p>
              <a:p>
                <a:r>
                  <a:rPr lang="en-US" b="1" dirty="0"/>
                  <a:t>Example:</a:t>
                </a:r>
                <a:endParaRPr lang="en-US" dirty="0"/>
              </a:p>
              <a:p>
                <a:pPr lvl="1"/>
                <a:r>
                  <a:rPr lang="en-US" dirty="0"/>
                  <a:t>Spacecraft cost scales with dry mass: “For every 10 kg increase in mass, cost rises by $X million.”</a:t>
                </a:r>
              </a:p>
              <a:p>
                <a:pPr lvl="1"/>
                <a:r>
                  <a:rPr lang="en-US" dirty="0"/>
                  <a:t>Solar array power output scales with area: “P = </a:t>
                </a:r>
                <a:r>
                  <a:rPr lang="el-GR" dirty="0"/>
                  <a:t>η × </a:t>
                </a:r>
                <a:r>
                  <a:rPr lang="en-US" dirty="0"/>
                  <a:t>Area × Solar constant.”</a:t>
                </a:r>
              </a:p>
              <a:p>
                <a:r>
                  <a:rPr lang="en-US" b="1" dirty="0"/>
                  <a:t>Pros:</a:t>
                </a:r>
                <a:r>
                  <a:rPr lang="en-US" dirty="0"/>
                  <a:t> Provides data-driven estimates, can scale across many designs.</a:t>
                </a:r>
              </a:p>
              <a:p>
                <a:r>
                  <a:rPr lang="en-US" b="1" dirty="0"/>
                  <a:t>Cons:</a:t>
                </a:r>
                <a:r>
                  <a:rPr lang="en-US" dirty="0"/>
                  <a:t> Requires large historical databases; accuracy limited if new tech or novel missions deviate from trends.</a:t>
                </a:r>
              </a:p>
              <a:p>
                <a:br>
                  <a:rPr lang="en-US" dirty="0"/>
                </a:br>
                <a:endParaRPr lang="en-US" dirty="0"/>
              </a:p>
              <a:p>
                <a:r>
                  <a:rPr lang="en-US" b="1" dirty="0"/>
                  <a:t>3. Engineering (Bottom-Up) Method</a:t>
                </a:r>
              </a:p>
              <a:p>
                <a:r>
                  <a:rPr lang="en-US" b="1" dirty="0"/>
                  <a:t>Definition:</a:t>
                </a:r>
                <a:r>
                  <a:rPr lang="en-US" dirty="0"/>
                  <a:t> A detailed estimate built by </a:t>
                </a:r>
                <a:r>
                  <a:rPr lang="en-US" b="1" dirty="0"/>
                  <a:t>summing up contributions from each component or line item</a:t>
                </a:r>
                <a:r>
                  <a:rPr lang="en-US" dirty="0"/>
                  <a:t>.</a:t>
                </a:r>
              </a:p>
              <a:p>
                <a:r>
                  <a:rPr lang="en-US" b="1" dirty="0"/>
                  <a:t>How it works:</a:t>
                </a:r>
                <a:endParaRPr lang="en-US" dirty="0"/>
              </a:p>
              <a:p>
                <a:pPr lvl="1"/>
                <a:r>
                  <a:rPr lang="en-US" dirty="0"/>
                  <a:t>Create a </a:t>
                </a:r>
                <a:r>
                  <a:rPr lang="en-US" b="1" dirty="0"/>
                  <a:t>work breakdown structure (WBS)</a:t>
                </a:r>
                <a:r>
                  <a:rPr lang="en-US" dirty="0"/>
                  <a:t>.</a:t>
                </a:r>
              </a:p>
              <a:p>
                <a:pPr lvl="1"/>
                <a:r>
                  <a:rPr lang="en-US" dirty="0"/>
                  <a:t>Gather vendor quotes, part specifications, and engineering analyses.</a:t>
                </a:r>
              </a:p>
              <a:p>
                <a:pPr lvl="1"/>
                <a:r>
                  <a:rPr lang="en-US" dirty="0"/>
                  <a:t>Add everything together with margins.</a:t>
                </a:r>
              </a:p>
              <a:p>
                <a:r>
                  <a:rPr lang="en-US" b="1" dirty="0"/>
                  <a:t>Example:</a:t>
                </a:r>
                <a:endParaRPr lang="en-US" dirty="0"/>
              </a:p>
              <a:p>
                <a:pPr lvl="1"/>
                <a:r>
                  <a:rPr lang="en-US" dirty="0"/>
                  <a:t>EPS subsystem:</a:t>
                </a:r>
              </a:p>
              <a:p>
                <a:pPr lvl="2"/>
                <a:r>
                  <a:rPr lang="en-US" dirty="0"/>
                  <a:t>Solar cells (200 g),</a:t>
                </a:r>
              </a:p>
              <a:p>
                <a:pPr lvl="2"/>
                <a:r>
                  <a:rPr lang="en-US" dirty="0"/>
                  <a:t>Batteries (1.5 kg),</a:t>
                </a:r>
              </a:p>
              <a:p>
                <a:pPr lvl="2"/>
                <a:r>
                  <a:rPr lang="en-US" dirty="0"/>
                  <a:t>Power electronics board (0.5 kg),</a:t>
                </a:r>
              </a:p>
              <a:p>
                <a:pPr lvl="2"/>
                <a:r>
                  <a:rPr lang="en-US" dirty="0"/>
                  <a:t>Harnessing (0.2 kg) → </a:t>
                </a:r>
                <a:r>
                  <a:rPr lang="en-US" b="1" dirty="0"/>
                  <a:t>~2.4 kg total + 20% margin = 2.9 kg</a:t>
                </a:r>
                <a:r>
                  <a:rPr lang="en-US" dirty="0"/>
                  <a:t>.</a:t>
                </a:r>
              </a:p>
              <a:p>
                <a:r>
                  <a:rPr lang="en-US" b="1" dirty="0"/>
                  <a:t>Pros:</a:t>
                </a:r>
                <a:r>
                  <a:rPr lang="en-US" dirty="0"/>
                  <a:t> Most accurate, transparent, and defensible; necessary for final design.</a:t>
                </a:r>
              </a:p>
              <a:p>
                <a:r>
                  <a:rPr lang="en-US" b="1" dirty="0"/>
                  <a:t>Cons:</a:t>
                </a:r>
                <a:r>
                  <a:rPr lang="en-US" dirty="0"/>
                  <a:t> Requires detailed design maturity and more time/resources.</a:t>
                </a:r>
              </a:p>
              <a:p>
                <a:endParaRPr lang="en-US" dirty="0"/>
              </a:p>
              <a:p>
                <a:endParaRPr lang="en-US" dirty="0"/>
              </a:p>
              <a:p>
                <a:r>
                  <a:rPr lang="en-US" u="sng" dirty="0"/>
                  <a:t>Summary:</a:t>
                </a:r>
                <a:br>
                  <a:rPr lang="en-US" u="sng" dirty="0"/>
                </a:br>
                <a:endParaRPr lang="en-US" u="sng" dirty="0"/>
              </a:p>
              <a:p>
                <a:r>
                  <a:rPr lang="en-US" b="1" dirty="0"/>
                  <a:t>Analogy</a:t>
                </a:r>
                <a:r>
                  <a:rPr lang="en-US" dirty="0"/>
                  <a:t> → Best for </a:t>
                </a:r>
                <a:r>
                  <a:rPr lang="en-US" i="1" dirty="0"/>
                  <a:t>early concept phases</a:t>
                </a:r>
                <a:r>
                  <a:rPr lang="en-US" dirty="0"/>
                  <a:t> (ROM estimates, feasibility studies).</a:t>
                </a:r>
              </a:p>
              <a:p>
                <a:r>
                  <a:rPr lang="en-US" b="1" dirty="0"/>
                  <a:t>Parametric</a:t>
                </a:r>
                <a:r>
                  <a:rPr lang="en-US" dirty="0"/>
                  <a:t> → Best for </a:t>
                </a:r>
                <a:r>
                  <a:rPr lang="en-US" i="1" dirty="0"/>
                  <a:t>Phase A/B trades</a:t>
                </a:r>
                <a:r>
                  <a:rPr lang="en-US" dirty="0"/>
                  <a:t> when some data exists but design not finalized.</a:t>
                </a:r>
              </a:p>
              <a:p>
                <a:r>
                  <a:rPr lang="en-US" b="1" dirty="0"/>
                  <a:t>Engineering/Bottom-Up</a:t>
                </a:r>
                <a:r>
                  <a:rPr lang="en-US" dirty="0"/>
                  <a:t> → Best for </a:t>
                </a:r>
                <a:r>
                  <a:rPr lang="en-US" i="1" dirty="0"/>
                  <a:t>detailed design and final budgeting</a:t>
                </a:r>
                <a:r>
                  <a:rPr lang="en-US" dirty="0"/>
                  <a:t> (Phase C/D).</a:t>
                </a:r>
              </a:p>
              <a:p>
                <a:r>
                  <a:rPr lang="en-US" dirty="0"/>
                  <a:t>Most missions actually use a </a:t>
                </a:r>
                <a:r>
                  <a:rPr lang="en-US" b="1" dirty="0"/>
                  <a:t>hybrid approach</a:t>
                </a:r>
                <a:r>
                  <a:rPr lang="en-US" dirty="0"/>
                  <a:t>: start with analogy, refine with parametric models, and finalize with engineering estimates as the design matures.</a:t>
                </a:r>
              </a:p>
              <a:p>
                <a:endParaRPr lang="en-US" dirty="0"/>
              </a:p>
              <a:p>
                <a:endParaRPr lang="en-US" dirty="0"/>
              </a:p>
            </p:txBody>
          </p:sp>
        </mc:Choice>
        <mc:Fallback>
          <p:sp>
            <p:nvSpPr>
              <p:cNvPr id="3" name="Notes Placeholder 2"/>
              <p:cNvSpPr>
                <a:spLocks noGrp="1"/>
              </p:cNvSpPr>
              <p:nvPr>
                <p:ph type="body" idx="1"/>
              </p:nvPr>
            </p:nvSpPr>
            <p:spPr/>
            <p:txBody>
              <a:bodyPr/>
              <a:lstStyle/>
              <a:p>
                <a:r>
                  <a:rPr lang="en-US" b="1" dirty="0"/>
                  <a:t>1. Analogy Method</a:t>
                </a:r>
              </a:p>
              <a:p>
                <a:r>
                  <a:rPr lang="en-US" b="1" dirty="0"/>
                  <a:t>Definition:</a:t>
                </a:r>
                <a:r>
                  <a:rPr lang="en-US" dirty="0"/>
                  <a:t> Estimate cost, mass, power, or other resources by </a:t>
                </a:r>
                <a:r>
                  <a:rPr lang="en-US" b="1" dirty="0"/>
                  <a:t>comparing to similar past projects</a:t>
                </a:r>
                <a:r>
                  <a:rPr lang="en-US" dirty="0"/>
                  <a:t>.</a:t>
                </a:r>
              </a:p>
              <a:p>
                <a:r>
                  <a:rPr lang="en-US" b="1" dirty="0"/>
                  <a:t>How it works:</a:t>
                </a:r>
                <a:endParaRPr lang="en-US" dirty="0"/>
              </a:p>
              <a:p>
                <a:pPr lvl="1"/>
                <a:r>
                  <a:rPr lang="en-US" dirty="0"/>
                  <a:t>Identify a prior spacecraft or subsystem with similar function/scale.</a:t>
                </a:r>
              </a:p>
              <a:p>
                <a:pPr lvl="1"/>
                <a:r>
                  <a:rPr lang="en-US" dirty="0"/>
                  <a:t>Adjust for differences (size, technology, mission requirements).</a:t>
                </a:r>
              </a:p>
              <a:p>
                <a:r>
                  <a:rPr lang="en-US" b="1" dirty="0"/>
                  <a:t>Example:</a:t>
                </a:r>
                <a:endParaRPr lang="en-US" dirty="0"/>
              </a:p>
              <a:p>
                <a:pPr lvl="1"/>
                <a:r>
                  <a:rPr lang="en-US" dirty="0"/>
                  <a:t>“Our CubeSat payload is similar to a camera flown on Mission X, which weighed 5 kg and consumed 8 W. Ours is slightly more capable, so we’ll estimate ~6 kg and 10 W.”</a:t>
                </a:r>
              </a:p>
              <a:p>
                <a:r>
                  <a:rPr lang="en-US" b="1" dirty="0"/>
                  <a:t>Pros:</a:t>
                </a:r>
                <a:r>
                  <a:rPr lang="en-US" dirty="0"/>
                  <a:t> Quick, requires minimal data, useful early in concept studies.</a:t>
                </a:r>
              </a:p>
              <a:p>
                <a:r>
                  <a:rPr lang="en-US" b="1" dirty="0"/>
                  <a:t>Cons:</a:t>
                </a:r>
                <a:r>
                  <a:rPr lang="en-US" dirty="0"/>
                  <a:t> Accuracy depends on how close the analogy is; risk of overlooking unique features.</a:t>
                </a:r>
              </a:p>
              <a:p>
                <a:br>
                  <a:rPr lang="en-US" dirty="0"/>
                </a:br>
                <a:endParaRPr lang="en-US" dirty="0"/>
              </a:p>
              <a:p>
                <a:r>
                  <a:rPr lang="en-US" b="1" dirty="0"/>
                  <a:t>2. Parametric Method</a:t>
                </a:r>
              </a:p>
              <a:p>
                <a:r>
                  <a:rPr lang="en-US" b="1" dirty="0"/>
                  <a:t>Definition:</a:t>
                </a:r>
                <a:r>
                  <a:rPr lang="en-US" dirty="0"/>
                  <a:t> Uses </a:t>
                </a:r>
                <a:r>
                  <a:rPr lang="en-US" b="1" dirty="0"/>
                  <a:t>mathematical models or statistical relationships</a:t>
                </a:r>
                <a:r>
                  <a:rPr lang="en-US" dirty="0"/>
                  <a:t> between a system parameter and cost/power/mass.</a:t>
                </a:r>
              </a:p>
              <a:p>
                <a:r>
                  <a:rPr lang="en-US" b="1" dirty="0"/>
                  <a:t>How it works:</a:t>
                </a:r>
                <a:endParaRPr lang="en-US" dirty="0"/>
              </a:p>
              <a:p>
                <a:pPr lvl="1"/>
                <a:r>
                  <a:rPr lang="en-US" dirty="0"/>
                  <a:t>Fit equations from historical data: </a:t>
                </a:r>
                <a:r>
                  <a:rPr lang="en-US" b="0" i="0">
                    <a:latin typeface="Cambria Math" panose="02040503050406030204" pitchFamily="18" charset="0"/>
                  </a:rPr>
                  <a:t>"Cost</a:t>
                </a:r>
                <a:r>
                  <a:rPr lang="en-US" sz="1200" b="0" i="0" kern="1200">
                    <a:solidFill>
                      <a:schemeClr val="tx1"/>
                    </a:solidFill>
                    <a:latin typeface="Cambria Math" panose="02040503050406030204" pitchFamily="18" charset="0"/>
                    <a:ea typeface="+mn-ea"/>
                    <a:cs typeface="+mn-cs"/>
                  </a:rPr>
                  <a:t>"=𝑎⋅</a:t>
                </a:r>
                <a:r>
                  <a:rPr lang="ar-AE" sz="1200" b="0" i="0" kern="1200">
                    <a:solidFill>
                      <a:schemeClr val="tx1"/>
                    </a:solidFill>
                    <a:latin typeface="Cambria Math" panose="02040503050406030204" pitchFamily="18" charset="0"/>
                    <a:ea typeface="+mn-ea"/>
                    <a:cs typeface="+mn-cs"/>
                  </a:rPr>
                  <a:t>(</a:t>
                </a:r>
                <a:r>
                  <a:rPr lang="en-US" sz="1200" b="0" i="0" kern="1200">
                    <a:solidFill>
                      <a:schemeClr val="tx1"/>
                    </a:solidFill>
                    <a:latin typeface="+mn-lt"/>
                    <a:ea typeface="+mn-ea"/>
                    <a:cs typeface="+mn-cs"/>
                  </a:rPr>
                  <a:t>"Mass</a:t>
                </a:r>
                <a:r>
                  <a:rPr lang="ar-AE" sz="1200" b="0" i="0" kern="1200">
                    <a:solidFill>
                      <a:schemeClr val="tx1"/>
                    </a:solidFill>
                    <a:latin typeface="Cambria Math" panose="02040503050406030204" pitchFamily="18" charset="0"/>
                    <a:ea typeface="+mn-ea"/>
                    <a:cs typeface="+mn-cs"/>
                  </a:rPr>
                  <a:t>" ├ )┤^𝑏 ┤</a:t>
                </a:r>
                <a:endParaRPr lang="ar-AE" dirty="0"/>
              </a:p>
              <a:p>
                <a:pPr lvl="1"/>
                <a:r>
                  <a:rPr lang="en-US" dirty="0"/>
                  <a:t>Widely used in NASA/DoD cost models (e.g., NAFCOM, SEER).</a:t>
                </a:r>
              </a:p>
              <a:p>
                <a:r>
                  <a:rPr lang="en-US" b="1" dirty="0"/>
                  <a:t>Example:</a:t>
                </a:r>
                <a:endParaRPr lang="en-US" dirty="0"/>
              </a:p>
              <a:p>
                <a:pPr lvl="1"/>
                <a:r>
                  <a:rPr lang="en-US" dirty="0"/>
                  <a:t>Spacecraft cost scales with dry mass: “For every 10 kg increase in mass, cost rises by $X million.”</a:t>
                </a:r>
              </a:p>
              <a:p>
                <a:pPr lvl="1"/>
                <a:r>
                  <a:rPr lang="en-US" dirty="0"/>
                  <a:t>Solar array power output scales with area: “P = </a:t>
                </a:r>
                <a:r>
                  <a:rPr lang="el-GR" dirty="0"/>
                  <a:t>η × </a:t>
                </a:r>
                <a:r>
                  <a:rPr lang="en-US" dirty="0"/>
                  <a:t>Area × Solar constant.”</a:t>
                </a:r>
              </a:p>
              <a:p>
                <a:r>
                  <a:rPr lang="en-US" b="1" dirty="0"/>
                  <a:t>Pros:</a:t>
                </a:r>
                <a:r>
                  <a:rPr lang="en-US" dirty="0"/>
                  <a:t> Provides data-driven estimates, can scale across many designs.</a:t>
                </a:r>
              </a:p>
              <a:p>
                <a:r>
                  <a:rPr lang="en-US" b="1" dirty="0"/>
                  <a:t>Cons:</a:t>
                </a:r>
                <a:r>
                  <a:rPr lang="en-US" dirty="0"/>
                  <a:t> Requires large historical databases; accuracy limited if new tech or novel missions deviate from trends.</a:t>
                </a:r>
              </a:p>
              <a:p>
                <a:br>
                  <a:rPr lang="en-US" dirty="0"/>
                </a:br>
                <a:endParaRPr lang="en-US" dirty="0"/>
              </a:p>
              <a:p>
                <a:r>
                  <a:rPr lang="en-US" b="1" dirty="0"/>
                  <a:t>3. Engineering (Bottom-Up) Method</a:t>
                </a:r>
              </a:p>
              <a:p>
                <a:r>
                  <a:rPr lang="en-US" b="1" dirty="0"/>
                  <a:t>Definition:</a:t>
                </a:r>
                <a:r>
                  <a:rPr lang="en-US" dirty="0"/>
                  <a:t> A detailed estimate built by </a:t>
                </a:r>
                <a:r>
                  <a:rPr lang="en-US" b="1" dirty="0"/>
                  <a:t>summing up contributions from each component or line item</a:t>
                </a:r>
                <a:r>
                  <a:rPr lang="en-US" dirty="0"/>
                  <a:t>.</a:t>
                </a:r>
              </a:p>
              <a:p>
                <a:r>
                  <a:rPr lang="en-US" b="1" dirty="0"/>
                  <a:t>How it works:</a:t>
                </a:r>
                <a:endParaRPr lang="en-US" dirty="0"/>
              </a:p>
              <a:p>
                <a:pPr lvl="1"/>
                <a:r>
                  <a:rPr lang="en-US" dirty="0"/>
                  <a:t>Create a </a:t>
                </a:r>
                <a:r>
                  <a:rPr lang="en-US" b="1" dirty="0"/>
                  <a:t>work breakdown structure (WBS)</a:t>
                </a:r>
                <a:r>
                  <a:rPr lang="en-US" dirty="0"/>
                  <a:t>.</a:t>
                </a:r>
              </a:p>
              <a:p>
                <a:pPr lvl="1"/>
                <a:r>
                  <a:rPr lang="en-US" dirty="0"/>
                  <a:t>Gather vendor quotes, part specifications, and engineering analyses.</a:t>
                </a:r>
              </a:p>
              <a:p>
                <a:pPr lvl="1"/>
                <a:r>
                  <a:rPr lang="en-US" dirty="0"/>
                  <a:t>Add everything together with margins.</a:t>
                </a:r>
              </a:p>
              <a:p>
                <a:r>
                  <a:rPr lang="en-US" b="1" dirty="0"/>
                  <a:t>Example:</a:t>
                </a:r>
                <a:endParaRPr lang="en-US" dirty="0"/>
              </a:p>
              <a:p>
                <a:pPr lvl="1"/>
                <a:r>
                  <a:rPr lang="en-US" dirty="0"/>
                  <a:t>EPS subsystem:</a:t>
                </a:r>
              </a:p>
              <a:p>
                <a:pPr lvl="2"/>
                <a:r>
                  <a:rPr lang="en-US" dirty="0"/>
                  <a:t>Solar cells (200 g),</a:t>
                </a:r>
              </a:p>
              <a:p>
                <a:pPr lvl="2"/>
                <a:r>
                  <a:rPr lang="en-US" dirty="0"/>
                  <a:t>Batteries (1.5 kg),</a:t>
                </a:r>
              </a:p>
              <a:p>
                <a:pPr lvl="2"/>
                <a:r>
                  <a:rPr lang="en-US" dirty="0"/>
                  <a:t>Power electronics board (0.5 kg),</a:t>
                </a:r>
              </a:p>
              <a:p>
                <a:pPr lvl="2"/>
                <a:r>
                  <a:rPr lang="en-US" dirty="0"/>
                  <a:t>Harnessing (0.2 kg) → </a:t>
                </a:r>
                <a:r>
                  <a:rPr lang="en-US" b="1" dirty="0"/>
                  <a:t>~2.4 kg total + 20% margin = 2.9 kg</a:t>
                </a:r>
                <a:r>
                  <a:rPr lang="en-US" dirty="0"/>
                  <a:t>.</a:t>
                </a:r>
              </a:p>
              <a:p>
                <a:r>
                  <a:rPr lang="en-US" b="1" dirty="0"/>
                  <a:t>Pros:</a:t>
                </a:r>
                <a:r>
                  <a:rPr lang="en-US" dirty="0"/>
                  <a:t> Most accurate, transparent, and defensible; necessary for final design.</a:t>
                </a:r>
              </a:p>
              <a:p>
                <a:r>
                  <a:rPr lang="en-US" b="1" dirty="0"/>
                  <a:t>Cons:</a:t>
                </a:r>
                <a:r>
                  <a:rPr lang="en-US" dirty="0"/>
                  <a:t> Requires detailed design maturity and more time/resources.</a:t>
                </a:r>
              </a:p>
              <a:p>
                <a:endParaRPr lang="en-US" dirty="0"/>
              </a:p>
              <a:p>
                <a:endParaRPr lang="en-US" dirty="0"/>
              </a:p>
              <a:p>
                <a:r>
                  <a:rPr lang="en-US" u="sng" dirty="0"/>
                  <a:t>Summary:</a:t>
                </a:r>
                <a:br>
                  <a:rPr lang="en-US" u="sng" dirty="0"/>
                </a:br>
                <a:endParaRPr lang="en-US" u="sng" dirty="0"/>
              </a:p>
              <a:p>
                <a:r>
                  <a:rPr lang="en-US" b="1" dirty="0"/>
                  <a:t>Analogy</a:t>
                </a:r>
                <a:r>
                  <a:rPr lang="en-US" dirty="0"/>
                  <a:t> → Best for </a:t>
                </a:r>
                <a:r>
                  <a:rPr lang="en-US" i="1" dirty="0"/>
                  <a:t>early concept phases</a:t>
                </a:r>
                <a:r>
                  <a:rPr lang="en-US" dirty="0"/>
                  <a:t> (ROM estimates, feasibility studies).</a:t>
                </a:r>
              </a:p>
              <a:p>
                <a:r>
                  <a:rPr lang="en-US" b="1" dirty="0"/>
                  <a:t>Parametric</a:t>
                </a:r>
                <a:r>
                  <a:rPr lang="en-US" dirty="0"/>
                  <a:t> → Best for </a:t>
                </a:r>
                <a:r>
                  <a:rPr lang="en-US" i="1" dirty="0"/>
                  <a:t>Phase A/B trades</a:t>
                </a:r>
                <a:r>
                  <a:rPr lang="en-US" dirty="0"/>
                  <a:t> when some data exists but design not finalized.</a:t>
                </a:r>
              </a:p>
              <a:p>
                <a:r>
                  <a:rPr lang="en-US" b="1" dirty="0"/>
                  <a:t>Engineering/Bottom-Up</a:t>
                </a:r>
                <a:r>
                  <a:rPr lang="en-US" dirty="0"/>
                  <a:t> → Best for </a:t>
                </a:r>
                <a:r>
                  <a:rPr lang="en-US" i="1" dirty="0"/>
                  <a:t>detailed design and final budgeting</a:t>
                </a:r>
                <a:r>
                  <a:rPr lang="en-US" dirty="0"/>
                  <a:t> (Phase C/D).</a:t>
                </a:r>
              </a:p>
              <a:p>
                <a:r>
                  <a:rPr lang="en-US" dirty="0"/>
                  <a:t>Most missions actually use a </a:t>
                </a:r>
                <a:r>
                  <a:rPr lang="en-US" b="1" dirty="0"/>
                  <a:t>hybrid approach</a:t>
                </a:r>
                <a:r>
                  <a:rPr lang="en-US" dirty="0"/>
                  <a:t>: start with analogy, refine with parametric models, and finalize with engineering estimates as the design matures.</a:t>
                </a:r>
              </a:p>
              <a:p>
                <a:endParaRPr lang="en-US" dirty="0"/>
              </a:p>
              <a:p>
                <a:endParaRPr lang="en-US" dirty="0"/>
              </a:p>
            </p:txBody>
          </p:sp>
        </mc:Fallback>
      </mc:AlternateContent>
      <p:sp>
        <p:nvSpPr>
          <p:cNvPr id="4" name="Slide Number Placeholder 3"/>
          <p:cNvSpPr>
            <a:spLocks noGrp="1"/>
          </p:cNvSpPr>
          <p:nvPr>
            <p:ph type="sldNum" sz="quarter" idx="5"/>
          </p:nvPr>
        </p:nvSpPr>
        <p:spPr/>
        <p:txBody>
          <a:bodyPr/>
          <a:lstStyle/>
          <a:p>
            <a:fld id="{9EB4C982-825B-414E-ABB9-79AB251390A5}" type="slidenum">
              <a:rPr lang="en-US" smtClean="0"/>
              <a:t>8</a:t>
            </a:fld>
            <a:endParaRPr lang="en-US"/>
          </a:p>
        </p:txBody>
      </p:sp>
    </p:spTree>
    <p:extLst>
      <p:ext uri="{BB962C8B-B14F-4D97-AF65-F5344CB8AC3E}">
        <p14:creationId xmlns:p14="http://schemas.microsoft.com/office/powerpoint/2010/main" val="290123070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Analogy – This method compares the system being developed to systems that have already been completed. Estimates are obtained from actual mass and power distributions of the previous system. We can also use some scaling factors to help improve these estimates if our satellite will have different requirements.</a:t>
            </a:r>
          </a:p>
          <a:p>
            <a:pPr lvl="0"/>
            <a:endParaRPr lang="en-US" sz="1200" kern="1200" dirty="0">
              <a:solidFill>
                <a:schemeClr val="tx1"/>
              </a:solidFill>
              <a:effectLst/>
              <a:latin typeface="+mn-lt"/>
              <a:ea typeface="+mn-ea"/>
              <a:cs typeface="+mn-cs"/>
            </a:endParaRPr>
          </a:p>
          <a:p>
            <a:pPr lvl="0"/>
            <a:r>
              <a:rPr lang="en-US" sz="1200" kern="1200" dirty="0">
                <a:solidFill>
                  <a:schemeClr val="tx1"/>
                </a:solidFill>
                <a:effectLst/>
                <a:latin typeface="+mn-lt"/>
                <a:ea typeface="+mn-ea"/>
                <a:cs typeface="+mn-cs"/>
              </a:rPr>
              <a:t>Engineering – This method involves compiling all of the individual masses and powers in order to get a budget.  However, early in the design process the individual components aren’t known, often making this method impractical until the later stages of development.</a:t>
            </a:r>
          </a:p>
          <a:p>
            <a:endParaRPr lang="en-US" dirty="0"/>
          </a:p>
          <a:p>
            <a:r>
              <a:rPr lang="en-US" u="sng" dirty="0"/>
              <a:t>Summary:</a:t>
            </a:r>
            <a:br>
              <a:rPr lang="en-US" u="sng" dirty="0"/>
            </a:br>
            <a:endParaRPr lang="en-US" u="sng" dirty="0"/>
          </a:p>
          <a:p>
            <a:r>
              <a:rPr lang="en-US" b="1" dirty="0"/>
              <a:t>Analogy</a:t>
            </a:r>
            <a:r>
              <a:rPr lang="en-US" dirty="0"/>
              <a:t> → Best for </a:t>
            </a:r>
            <a:r>
              <a:rPr lang="en-US" i="1" dirty="0"/>
              <a:t>early concept phases</a:t>
            </a:r>
            <a:r>
              <a:rPr lang="en-US" dirty="0"/>
              <a:t> (ROM estimates, feasibility studies).</a:t>
            </a:r>
          </a:p>
          <a:p>
            <a:r>
              <a:rPr lang="en-US" b="1" dirty="0"/>
              <a:t>Parametric</a:t>
            </a:r>
            <a:r>
              <a:rPr lang="en-US" dirty="0"/>
              <a:t> → Best for </a:t>
            </a:r>
            <a:r>
              <a:rPr lang="en-US" i="1" dirty="0"/>
              <a:t>Phase A/B trades</a:t>
            </a:r>
            <a:r>
              <a:rPr lang="en-US" dirty="0"/>
              <a:t> when some data exists but design not finalized.</a:t>
            </a:r>
          </a:p>
          <a:p>
            <a:r>
              <a:rPr lang="en-US" b="1" dirty="0"/>
              <a:t>Engineering/Bottom-Up</a:t>
            </a:r>
            <a:r>
              <a:rPr lang="en-US" dirty="0"/>
              <a:t> → Best for </a:t>
            </a:r>
            <a:r>
              <a:rPr lang="en-US" i="1" dirty="0"/>
              <a:t>detailed design and final budgeting</a:t>
            </a:r>
            <a:r>
              <a:rPr lang="en-US" dirty="0"/>
              <a:t> (Phase C/D).</a:t>
            </a:r>
          </a:p>
          <a:p>
            <a:r>
              <a:rPr lang="en-US" dirty="0"/>
              <a:t>Most missions actually use a </a:t>
            </a:r>
            <a:r>
              <a:rPr lang="en-US" b="1" dirty="0"/>
              <a:t>hybrid approach</a:t>
            </a:r>
            <a:r>
              <a:rPr lang="en-US" dirty="0"/>
              <a:t>: start with analogy, refine with parametric models, and finalize with engineering estimates as the design matures.</a:t>
            </a:r>
          </a:p>
          <a:p>
            <a:endParaRPr lang="en-US" dirty="0"/>
          </a:p>
        </p:txBody>
      </p:sp>
      <p:sp>
        <p:nvSpPr>
          <p:cNvPr id="4" name="Slide Number Placeholder 3"/>
          <p:cNvSpPr>
            <a:spLocks noGrp="1"/>
          </p:cNvSpPr>
          <p:nvPr>
            <p:ph type="sldNum" sz="quarter" idx="5"/>
          </p:nvPr>
        </p:nvSpPr>
        <p:spPr/>
        <p:txBody>
          <a:bodyPr/>
          <a:lstStyle/>
          <a:p>
            <a:fld id="{9EB4C982-825B-414E-ABB9-79AB251390A5}" type="slidenum">
              <a:rPr lang="en-US" smtClean="0"/>
              <a:t>9</a:t>
            </a:fld>
            <a:endParaRPr lang="en-US"/>
          </a:p>
        </p:txBody>
      </p:sp>
    </p:spTree>
    <p:extLst>
      <p:ext uri="{BB962C8B-B14F-4D97-AF65-F5344CB8AC3E}">
        <p14:creationId xmlns:p14="http://schemas.microsoft.com/office/powerpoint/2010/main" val="173123450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from </a:t>
            </a:r>
            <a:r>
              <a:rPr lang="en-US" sz="1200" b="0" i="0" u="none" strike="noStrike" kern="1200" baseline="0" dirty="0">
                <a:solidFill>
                  <a:schemeClr val="tx1"/>
                </a:solidFill>
                <a:latin typeface="+mn-lt"/>
                <a:ea typeface="+mn-ea"/>
                <a:cs typeface="+mn-cs"/>
              </a:rPr>
              <a:t>ANALYSIS OF ITÜ NXG I NEXT GENERATION TECHNOLOGY DEMONSTRATOR FROM A CONTROLS PERSPECTIVE</a:t>
            </a:r>
            <a:endParaRPr lang="en-US" dirty="0"/>
          </a:p>
        </p:txBody>
      </p:sp>
      <p:sp>
        <p:nvSpPr>
          <p:cNvPr id="4" name="Slide Number Placeholder 3"/>
          <p:cNvSpPr>
            <a:spLocks noGrp="1"/>
          </p:cNvSpPr>
          <p:nvPr>
            <p:ph type="sldNum" sz="quarter" idx="5"/>
          </p:nvPr>
        </p:nvSpPr>
        <p:spPr/>
        <p:txBody>
          <a:bodyPr/>
          <a:lstStyle/>
          <a:p>
            <a:fld id="{9EB4C982-825B-414E-ABB9-79AB251390A5}" type="slidenum">
              <a:rPr lang="en-US" smtClean="0"/>
              <a:t>18</a:t>
            </a:fld>
            <a:endParaRPr lang="en-US"/>
          </a:p>
        </p:txBody>
      </p:sp>
    </p:spTree>
    <p:extLst>
      <p:ext uri="{BB962C8B-B14F-4D97-AF65-F5344CB8AC3E}">
        <p14:creationId xmlns:p14="http://schemas.microsoft.com/office/powerpoint/2010/main" val="26098140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EB4C982-825B-414E-ABB9-79AB251390A5}" type="slidenum">
              <a:rPr lang="en-US" smtClean="0"/>
              <a:t>19</a:t>
            </a:fld>
            <a:endParaRPr lang="en-US"/>
          </a:p>
        </p:txBody>
      </p:sp>
    </p:spTree>
    <p:extLst>
      <p:ext uri="{BB962C8B-B14F-4D97-AF65-F5344CB8AC3E}">
        <p14:creationId xmlns:p14="http://schemas.microsoft.com/office/powerpoint/2010/main" val="231168036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Sensor Errors</a:t>
            </a:r>
            <a:endParaRPr lang="en-US" dirty="0"/>
          </a:p>
          <a:p>
            <a:r>
              <a:rPr lang="en-US" dirty="0"/>
              <a:t>Star tracker noise and bias</a:t>
            </a:r>
          </a:p>
          <a:p>
            <a:r>
              <a:rPr lang="en-US" dirty="0"/>
              <a:t>Gyroscope drift and scale factor errors</a:t>
            </a:r>
          </a:p>
          <a:p>
            <a:r>
              <a:rPr lang="en-US" dirty="0"/>
              <a:t>Sun sensors / magnetometers accuracy</a:t>
            </a:r>
          </a:p>
          <a:p>
            <a:r>
              <a:rPr lang="en-US" b="1" dirty="0"/>
              <a:t>Actuator Errors</a:t>
            </a:r>
            <a:endParaRPr lang="en-US" dirty="0"/>
          </a:p>
          <a:p>
            <a:r>
              <a:rPr lang="en-US" dirty="0"/>
              <a:t>Reaction wheel torque ripple</a:t>
            </a:r>
          </a:p>
          <a:p>
            <a:r>
              <a:rPr lang="en-US" dirty="0"/>
              <a:t>Thruster misalignment / pulse errors</a:t>
            </a:r>
          </a:p>
          <a:p>
            <a:r>
              <a:rPr lang="en-US" dirty="0"/>
              <a:t>Magnetic torque coil inaccuracies</a:t>
            </a:r>
          </a:p>
          <a:p>
            <a:r>
              <a:rPr lang="en-US" b="1" dirty="0"/>
              <a:t>Control Algorithm Errors</a:t>
            </a:r>
            <a:endParaRPr lang="en-US" dirty="0"/>
          </a:p>
          <a:p>
            <a:r>
              <a:rPr lang="en-US" dirty="0"/>
              <a:t>Estimation errors from filters (e.g., Kalman filter)</a:t>
            </a:r>
          </a:p>
          <a:p>
            <a:r>
              <a:rPr lang="en-US" dirty="0"/>
              <a:t>Command-to-actuator discretization</a:t>
            </a:r>
          </a:p>
          <a:p>
            <a:r>
              <a:rPr lang="en-US" dirty="0"/>
              <a:t>Controller gain tuning</a:t>
            </a:r>
          </a:p>
          <a:p>
            <a:r>
              <a:rPr lang="en-US" b="1" dirty="0"/>
              <a:t>Structural and Environmental Effects</a:t>
            </a:r>
            <a:endParaRPr lang="en-US" dirty="0"/>
          </a:p>
          <a:p>
            <a:r>
              <a:rPr lang="en-US" dirty="0"/>
              <a:t>Mechanical flexing or vibrations (e.g., solar array jitter)</a:t>
            </a:r>
          </a:p>
          <a:p>
            <a:r>
              <a:rPr lang="en-US" dirty="0"/>
              <a:t>Thermal distortions (warping optics or structures)</a:t>
            </a:r>
          </a:p>
          <a:p>
            <a:r>
              <a:rPr lang="en-US" dirty="0"/>
              <a:t>External torques (gravity-gradient, solar radiation pressure, atmospheric drag in LEO)</a:t>
            </a:r>
          </a:p>
          <a:p>
            <a:endParaRPr lang="en-US" dirty="0"/>
          </a:p>
          <a:p>
            <a:endParaRPr lang="en-US" dirty="0"/>
          </a:p>
          <a:p>
            <a:r>
              <a:rPr lang="en-US" b="1" dirty="0"/>
              <a:t>Why It Matters</a:t>
            </a:r>
          </a:p>
          <a:p>
            <a:r>
              <a:rPr lang="en-US" b="1" dirty="0"/>
              <a:t>Remote Sensing Satellites:</a:t>
            </a:r>
            <a:r>
              <a:rPr lang="en-US" dirty="0"/>
              <a:t> Image blurring if pointing stability is poor.</a:t>
            </a:r>
          </a:p>
          <a:p>
            <a:r>
              <a:rPr lang="en-US" b="1" dirty="0"/>
              <a:t>Astronomy Missions (e.g., Hubble, JWST):</a:t>
            </a:r>
            <a:r>
              <a:rPr lang="en-US" dirty="0"/>
              <a:t> Require milli-arcsecond stability to observe faint objects.</a:t>
            </a:r>
          </a:p>
          <a:p>
            <a:r>
              <a:rPr lang="en-US" b="1" dirty="0"/>
              <a:t>Communications Satellites:</a:t>
            </a:r>
            <a:r>
              <a:rPr lang="en-US" dirty="0"/>
              <a:t> High-gain antennas (Ka-band, optical comms) need sub-degree accuracy to avoid link loss.</a:t>
            </a:r>
          </a:p>
          <a:p>
            <a:r>
              <a:rPr lang="en-US" b="1" dirty="0"/>
              <a:t>CubeSats:</a:t>
            </a:r>
            <a:r>
              <a:rPr lang="en-US" dirty="0"/>
              <a:t> Often limited by low-cost sensors/actuators, so pointing budgets may only allow coarse imaging or wide-beam antennas.</a:t>
            </a:r>
          </a:p>
          <a:p>
            <a:endParaRPr lang="en-US" dirty="0"/>
          </a:p>
        </p:txBody>
      </p:sp>
      <p:sp>
        <p:nvSpPr>
          <p:cNvPr id="4" name="Slide Number Placeholder 3"/>
          <p:cNvSpPr>
            <a:spLocks noGrp="1"/>
          </p:cNvSpPr>
          <p:nvPr>
            <p:ph type="sldNum" sz="quarter" idx="5"/>
          </p:nvPr>
        </p:nvSpPr>
        <p:spPr/>
        <p:txBody>
          <a:bodyPr/>
          <a:lstStyle/>
          <a:p>
            <a:fld id="{9EB4C982-825B-414E-ABB9-79AB251390A5}" type="slidenum">
              <a:rPr lang="en-US" smtClean="0"/>
              <a:t>21</a:t>
            </a:fld>
            <a:endParaRPr lang="en-US"/>
          </a:p>
        </p:txBody>
      </p:sp>
    </p:spTree>
    <p:extLst>
      <p:ext uri="{BB962C8B-B14F-4D97-AF65-F5344CB8AC3E}">
        <p14:creationId xmlns:p14="http://schemas.microsoft.com/office/powerpoint/2010/main" val="287157092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77505" y="1287560"/>
            <a:ext cx="6788990" cy="2387600"/>
          </a:xfrm>
        </p:spPr>
        <p:txBody>
          <a:bodyPr anchor="ctr"/>
          <a:lstStyle>
            <a:lvl1pPr algn="ctr">
              <a:defRPr sz="6000"/>
            </a:lvl1pPr>
          </a:lstStyle>
          <a:p>
            <a:r>
              <a:rPr lang="en-US" dirty="0"/>
              <a:t>Click to edit Master title style</a:t>
            </a:r>
          </a:p>
        </p:txBody>
      </p:sp>
      <p:sp>
        <p:nvSpPr>
          <p:cNvPr id="3" name="Subtitle 2"/>
          <p:cNvSpPr>
            <a:spLocks noGrp="1"/>
          </p:cNvSpPr>
          <p:nvPr>
            <p:ph type="subTitle" idx="1"/>
          </p:nvPr>
        </p:nvSpPr>
        <p:spPr>
          <a:xfrm>
            <a:off x="1143000" y="3781865"/>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1EE600E-A67F-4D2A-8A36-552C1EFBE963}" type="datetime1">
              <a:rPr lang="en-US" smtClean="0"/>
              <a:t>3/9/2026</a:t>
            </a:fld>
            <a:endParaRPr lang="en-US"/>
          </a:p>
        </p:txBody>
      </p:sp>
      <p:sp>
        <p:nvSpPr>
          <p:cNvPr id="6" name="Slide Number Placeholder 5"/>
          <p:cNvSpPr>
            <a:spLocks noGrp="1"/>
          </p:cNvSpPr>
          <p:nvPr>
            <p:ph type="sldNum" sz="quarter" idx="12"/>
          </p:nvPr>
        </p:nvSpPr>
        <p:spPr/>
        <p:txBody>
          <a:bodyPr/>
          <a:lstStyle/>
          <a:p>
            <a:fld id="{9A3029B7-FE6B-4680-9049-80E8298A0825}" type="slidenum">
              <a:rPr lang="en-US" smtClean="0"/>
              <a:pPr/>
              <a:t>‹#›</a:t>
            </a:fld>
            <a:endParaRPr lang="en-US" dirty="0"/>
          </a:p>
        </p:txBody>
      </p:sp>
      <p:sp>
        <p:nvSpPr>
          <p:cNvPr id="7" name="Title 1">
            <a:extLst>
              <a:ext uri="{FF2B5EF4-FFF2-40B4-BE49-F238E27FC236}">
                <a16:creationId xmlns:a16="http://schemas.microsoft.com/office/drawing/2014/main" id="{CF1DE720-C36A-2EFC-0954-335249276F1A}"/>
              </a:ext>
            </a:extLst>
          </p:cNvPr>
          <p:cNvSpPr txBox="1">
            <a:spLocks/>
          </p:cNvSpPr>
          <p:nvPr userDrawn="1"/>
        </p:nvSpPr>
        <p:spPr>
          <a:xfrm>
            <a:off x="1028701" y="111639"/>
            <a:ext cx="7226780" cy="696375"/>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Segoe UI" panose="020B0502040204020203" pitchFamily="34" charset="0"/>
                <a:ea typeface="+mj-ea"/>
                <a:cs typeface="Segoe UI" panose="020B0502040204020203" pitchFamily="34" charset="0"/>
              </a:defRPr>
            </a:lvl1pPr>
          </a:lstStyle>
          <a:p>
            <a:pPr algn="ctr"/>
            <a:r>
              <a:rPr lang="en-US" sz="3600" dirty="0"/>
              <a:t>USAFA ASTRO</a:t>
            </a:r>
          </a:p>
        </p:txBody>
      </p:sp>
      <p:sp>
        <p:nvSpPr>
          <p:cNvPr id="8" name="Subtitle 2">
            <a:extLst>
              <a:ext uri="{FF2B5EF4-FFF2-40B4-BE49-F238E27FC236}">
                <a16:creationId xmlns:a16="http://schemas.microsoft.com/office/drawing/2014/main" id="{6FD864A1-DC7B-C6C8-87CB-D0D681030469}"/>
              </a:ext>
            </a:extLst>
          </p:cNvPr>
          <p:cNvSpPr txBox="1">
            <a:spLocks/>
          </p:cNvSpPr>
          <p:nvPr userDrawn="1"/>
        </p:nvSpPr>
        <p:spPr>
          <a:xfrm>
            <a:off x="1143000" y="6288282"/>
            <a:ext cx="6858000" cy="501261"/>
          </a:xfrm>
          <a:prstGeom prst="rect">
            <a:avLst/>
          </a:prstGeom>
        </p:spPr>
        <p:txBody>
          <a:bodyPr vert="horz" lIns="91440" tIns="45720" rIns="91440" bIns="45720" rtlCol="0" anchor="ctr">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Segoe UI" panose="020B0502040204020203" pitchFamily="34" charset="0"/>
                <a:ea typeface="+mn-ea"/>
                <a:cs typeface="Segoe UI" panose="020B0502040204020203"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Segoe UI" panose="020B0502040204020203" pitchFamily="34" charset="0"/>
                <a:ea typeface="+mn-ea"/>
                <a:cs typeface="Segoe UI" panose="020B0502040204020203" pitchFamily="34" charset="0"/>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Segoe UI" panose="020B0502040204020203" pitchFamily="34" charset="0"/>
                <a:ea typeface="+mn-ea"/>
                <a:cs typeface="Segoe UI" panose="020B0502040204020203" pitchFamily="34" charset="0"/>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Segoe UI" panose="020B0502040204020203" pitchFamily="34" charset="0"/>
                <a:ea typeface="+mn-ea"/>
                <a:cs typeface="Segoe UI" panose="020B0502040204020203" pitchFamily="34" charset="0"/>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Segoe UI" panose="020B0502040204020203" pitchFamily="34" charset="0"/>
                <a:ea typeface="+mn-ea"/>
                <a:cs typeface="Segoe UI" panose="020B0502040204020203" pitchFamily="34" charset="0"/>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b="1" i="1" dirty="0"/>
              <a:t>ASTRO 331 – Space Systems Engineering</a:t>
            </a:r>
          </a:p>
        </p:txBody>
      </p:sp>
    </p:spTree>
    <p:extLst>
      <p:ext uri="{BB962C8B-B14F-4D97-AF65-F5344CB8AC3E}">
        <p14:creationId xmlns:p14="http://schemas.microsoft.com/office/powerpoint/2010/main" val="6526887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19D194C-E731-4CF3-8F14-16F2CEB9B5CF}" type="datetime1">
              <a:rPr lang="en-US" smtClean="0"/>
              <a:t>3/9/2026</a:t>
            </a:fld>
            <a:endParaRPr lang="en-US" dirty="0"/>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888006264"/>
      </p:ext>
    </p:extLst>
  </p:cSld>
  <p:clrMapOvr>
    <a:masterClrMapping/>
  </p:clrMapOvr>
  <p:hf hd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ctr">
            <a:normAutofit/>
          </a:bodyPr>
          <a:lstStyle>
            <a:lvl1pPr>
              <a:defRPr sz="4800"/>
            </a:lvl1pPr>
          </a:lstStyle>
          <a:p>
            <a:r>
              <a:rPr lang="en-US" dirty="0"/>
              <a:t>Click to edit Master title style</a:t>
            </a:r>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75C6FCA-E440-4A17-8C6B-54B65BC400EF}" type="datetime1">
              <a:rPr lang="en-US" smtClean="0"/>
              <a:t>3/9/2026</a:t>
            </a:fld>
            <a:endParaRPr lang="en-US"/>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895904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7CEF287-72CA-49D4-A601-3B9D2E83EA05}" type="datetime1">
              <a:rPr lang="en-US" smtClean="0"/>
              <a:t>3/9/2026</a:t>
            </a:fld>
            <a:endParaRPr lang="en-US"/>
          </a:p>
        </p:txBody>
      </p:sp>
      <p:sp>
        <p:nvSpPr>
          <p:cNvPr id="7" name="Slide Number Placeholder 6"/>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9155663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0"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92B2832-1105-4FA1-AD49-3D1761459FB9}" type="datetime1">
              <a:rPr lang="en-US" smtClean="0"/>
              <a:t>3/9/2026</a:t>
            </a:fld>
            <a:endParaRPr lang="en-US"/>
          </a:p>
        </p:txBody>
      </p:sp>
      <p:sp>
        <p:nvSpPr>
          <p:cNvPr id="9" name="Slide Number Placeholder 8"/>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8376710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C08DF9A-2345-4D36-85FA-49730D271487}" type="datetime1">
              <a:rPr lang="en-US" smtClean="0"/>
              <a:t>3/9/2026</a:t>
            </a:fld>
            <a:endParaRPr lang="en-US"/>
          </a:p>
        </p:txBody>
      </p:sp>
      <p:sp>
        <p:nvSpPr>
          <p:cNvPr id="4" name="Footer Placeholder 3"/>
          <p:cNvSpPr>
            <a:spLocks noGrp="1"/>
          </p:cNvSpPr>
          <p:nvPr>
            <p:ph type="ftr" sz="quarter" idx="11"/>
          </p:nvPr>
        </p:nvSpPr>
        <p:spPr>
          <a:xfrm>
            <a:off x="3028950" y="6501692"/>
            <a:ext cx="3086100" cy="365125"/>
          </a:xfrm>
          <a:prstGeom prst="rect">
            <a:avLst/>
          </a:prstGeom>
        </p:spPr>
        <p:txBody>
          <a:bodyPr/>
          <a:lstStyle/>
          <a:p>
            <a:r>
              <a:rPr lang="en-US"/>
              <a:t>Astro 331 Lab #1</a:t>
            </a:r>
          </a:p>
        </p:txBody>
      </p:sp>
      <p:sp>
        <p:nvSpPr>
          <p:cNvPr id="5" name="Slide Number Placeholder 4"/>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41859791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00B4DED-4E37-473F-AD62-970655F2D578}" type="datetime1">
              <a:rPr lang="en-US" smtClean="0"/>
              <a:t>3/9/2026</a:t>
            </a:fld>
            <a:endParaRPr lang="en-US"/>
          </a:p>
        </p:txBody>
      </p:sp>
      <p:sp>
        <p:nvSpPr>
          <p:cNvPr id="4" name="Slide Number Placeholder 3"/>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26578561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0154D36-2BA6-4632-B283-5D3E851C5410}" type="datetime1">
              <a:rPr lang="en-US" smtClean="0"/>
              <a:t>3/9/2026</a:t>
            </a:fld>
            <a:endParaRPr lang="en-US"/>
          </a:p>
        </p:txBody>
      </p:sp>
      <p:sp>
        <p:nvSpPr>
          <p:cNvPr id="7" name="Slide Number Placeholder 6"/>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3640363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9A9CD72-2059-40BB-BF30-AF971560729B}" type="datetime1">
              <a:rPr lang="en-US" smtClean="0"/>
              <a:t>3/9/2026</a:t>
            </a:fld>
            <a:endParaRPr lang="en-US"/>
          </a:p>
        </p:txBody>
      </p:sp>
      <p:sp>
        <p:nvSpPr>
          <p:cNvPr id="7" name="Slide Number Placeholder 6"/>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583431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B0F733-755F-4A68-A044-3BB7487EA333}" type="datetime1">
              <a:rPr lang="en-US" smtClean="0"/>
              <a:t>3/9/2026</a:t>
            </a:fld>
            <a:endParaRPr lang="en-US"/>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8372211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CE81D12-59AE-465C-A617-7D2534E388B9}" type="datetime1">
              <a:rPr lang="en-US" smtClean="0"/>
              <a:t>3/9/2026</a:t>
            </a:fld>
            <a:endParaRPr lang="en-US"/>
          </a:p>
        </p:txBody>
      </p:sp>
      <p:sp>
        <p:nvSpPr>
          <p:cNvPr id="6" name="Slide Number Placeholder 5"/>
          <p:cNvSpPr>
            <a:spLocks noGrp="1"/>
          </p:cNvSpPr>
          <p:nvPr>
            <p:ph type="sldNum" sz="quarter" idx="12"/>
          </p:nvPr>
        </p:nvSpPr>
        <p:spPr/>
        <p:txBody>
          <a:bodyPr/>
          <a:lstStyle/>
          <a:p>
            <a:fld id="{9A3029B7-FE6B-4680-9049-80E8298A0825}" type="slidenum">
              <a:rPr lang="en-US" smtClean="0"/>
              <a:t>‹#›</a:t>
            </a:fld>
            <a:endParaRPr lang="en-US"/>
          </a:p>
        </p:txBody>
      </p:sp>
    </p:spTree>
    <p:extLst>
      <p:ext uri="{BB962C8B-B14F-4D97-AF65-F5344CB8AC3E}">
        <p14:creationId xmlns:p14="http://schemas.microsoft.com/office/powerpoint/2010/main" val="15529296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66966" y="133186"/>
            <a:ext cx="7886700" cy="652197"/>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200025" y="1002506"/>
            <a:ext cx="8793015" cy="522755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38291" y="6465105"/>
            <a:ext cx="20574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19D194C-E731-4CF3-8F14-16F2CEB9B5CF}" type="datetime1">
              <a:rPr lang="en-US" smtClean="0"/>
              <a:t>3/9/2026</a:t>
            </a:fld>
            <a:endParaRPr lang="en-US" dirty="0"/>
          </a:p>
        </p:txBody>
      </p:sp>
      <p:sp>
        <p:nvSpPr>
          <p:cNvPr id="6" name="Slide Number Placeholder 5"/>
          <p:cNvSpPr>
            <a:spLocks noGrp="1"/>
          </p:cNvSpPr>
          <p:nvPr>
            <p:ph type="sldNum" sz="quarter" idx="4"/>
          </p:nvPr>
        </p:nvSpPr>
        <p:spPr>
          <a:xfrm>
            <a:off x="7040236" y="6465106"/>
            <a:ext cx="20574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A3029B7-FE6B-4680-9049-80E8298A0825}" type="slidenum">
              <a:rPr lang="en-US" smtClean="0"/>
              <a:t>‹#›</a:t>
            </a:fld>
            <a:endParaRPr lang="en-US"/>
          </a:p>
        </p:txBody>
      </p:sp>
      <p:sp>
        <p:nvSpPr>
          <p:cNvPr id="8" name="TextBox 7">
            <a:extLst>
              <a:ext uri="{FF2B5EF4-FFF2-40B4-BE49-F238E27FC236}">
                <a16:creationId xmlns:a16="http://schemas.microsoft.com/office/drawing/2014/main" id="{1B2918AF-A31D-A49D-520C-D6A347912BFA}"/>
              </a:ext>
            </a:extLst>
          </p:cNvPr>
          <p:cNvSpPr txBox="1"/>
          <p:nvPr userDrawn="1"/>
        </p:nvSpPr>
        <p:spPr>
          <a:xfrm>
            <a:off x="8115301" y="72097"/>
            <a:ext cx="970472" cy="307777"/>
          </a:xfrm>
          <a:prstGeom prst="rect">
            <a:avLst/>
          </a:prstGeom>
          <a:noFill/>
        </p:spPr>
        <p:txBody>
          <a:bodyPr wrap="square" rtlCol="0">
            <a:spAutoFit/>
          </a:bodyPr>
          <a:lstStyle/>
          <a:p>
            <a:pPr algn="r"/>
            <a:r>
              <a:rPr lang="en-US" sz="1400" b="1" dirty="0">
                <a:latin typeface="Segoe UI" panose="020B0502040204020203" pitchFamily="34" charset="0"/>
                <a:cs typeface="Segoe UI" panose="020B0502040204020203" pitchFamily="34" charset="0"/>
              </a:rPr>
              <a:t>2025 Fall</a:t>
            </a:r>
          </a:p>
        </p:txBody>
      </p:sp>
      <p:sp>
        <p:nvSpPr>
          <p:cNvPr id="9" name="Rectangle 8">
            <a:extLst>
              <a:ext uri="{FF2B5EF4-FFF2-40B4-BE49-F238E27FC236}">
                <a16:creationId xmlns:a16="http://schemas.microsoft.com/office/drawing/2014/main" id="{30CFB5F7-9C45-8CB0-F5C4-6BF493EF4BCD}"/>
              </a:ext>
            </a:extLst>
          </p:cNvPr>
          <p:cNvSpPr/>
          <p:nvPr userDrawn="1"/>
        </p:nvSpPr>
        <p:spPr>
          <a:xfrm>
            <a:off x="46364" y="855395"/>
            <a:ext cx="9039409" cy="59616"/>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sz="1800"/>
          </a:p>
        </p:txBody>
      </p:sp>
      <p:pic>
        <p:nvPicPr>
          <p:cNvPr id="11" name="Picture 10">
            <a:extLst>
              <a:ext uri="{FF2B5EF4-FFF2-40B4-BE49-F238E27FC236}">
                <a16:creationId xmlns:a16="http://schemas.microsoft.com/office/drawing/2014/main" id="{DF49DA28-CF7C-1CE3-C307-FC252DA9EBC7}"/>
              </a:ext>
            </a:extLst>
          </p:cNvPr>
          <p:cNvPicPr>
            <a:picLocks noChangeAspect="1"/>
          </p:cNvPicPr>
          <p:nvPr userDrawn="1"/>
        </p:nvPicPr>
        <p:blipFill>
          <a:blip r:embed="rId13">
            <a:clrChange>
              <a:clrFrom>
                <a:srgbClr val="FFFFFF"/>
              </a:clrFrom>
              <a:clrTo>
                <a:srgbClr val="FFFFFF">
                  <a:alpha val="0"/>
                </a:srgbClr>
              </a:clrTo>
            </a:clrChange>
          </a:blip>
          <a:stretch>
            <a:fillRect/>
          </a:stretch>
        </p:blipFill>
        <p:spPr>
          <a:xfrm>
            <a:off x="46365" y="18574"/>
            <a:ext cx="734686" cy="827487"/>
          </a:xfrm>
          <a:prstGeom prst="rect">
            <a:avLst/>
          </a:prstGeom>
        </p:spPr>
      </p:pic>
    </p:spTree>
    <p:extLst>
      <p:ext uri="{BB962C8B-B14F-4D97-AF65-F5344CB8AC3E}">
        <p14:creationId xmlns:p14="http://schemas.microsoft.com/office/powerpoint/2010/main" val="856012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dt="0"/>
  <p:txStyles>
    <p:titleStyle>
      <a:lvl1pPr algn="l" defTabSz="914400" rtl="0" eaLnBrk="1" latinLnBrk="0" hangingPunct="1">
        <a:lnSpc>
          <a:spcPct val="90000"/>
        </a:lnSpc>
        <a:spcBef>
          <a:spcPct val="0"/>
        </a:spcBef>
        <a:buNone/>
        <a:defRPr sz="2800" b="1" kern="1200">
          <a:solidFill>
            <a:schemeClr val="tx1"/>
          </a:solidFill>
          <a:latin typeface="Segoe UI" panose="020B0502040204020203" pitchFamily="34" charset="0"/>
          <a:ea typeface="+mj-ea"/>
          <a:cs typeface="Segoe UI" panose="020B0502040204020203"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Segoe UI" panose="020B0502040204020203" pitchFamily="34" charset="0"/>
          <a:ea typeface="+mn-ea"/>
          <a:cs typeface="Segoe UI" panose="020B0502040204020203"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Segoe UI" panose="020B0502040204020203" pitchFamily="34" charset="0"/>
          <a:ea typeface="+mn-ea"/>
          <a:cs typeface="Segoe UI" panose="020B0502040204020203"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Segoe UI" panose="020B0502040204020203" pitchFamily="34" charset="0"/>
          <a:ea typeface="+mn-ea"/>
          <a:cs typeface="Segoe UI" panose="020B0502040204020203"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Segoe UI" panose="020B0502040204020203" pitchFamily="34" charset="0"/>
          <a:ea typeface="+mn-ea"/>
          <a:cs typeface="Segoe UI" panose="020B0502040204020203"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jpe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0E2C4-BC94-2EEF-55E0-A1575A57F58F}"/>
              </a:ext>
            </a:extLst>
          </p:cNvPr>
          <p:cNvSpPr>
            <a:spLocks noGrp="1"/>
          </p:cNvSpPr>
          <p:nvPr>
            <p:ph type="ctrTitle"/>
          </p:nvPr>
        </p:nvSpPr>
        <p:spPr/>
        <p:txBody>
          <a:bodyPr>
            <a:normAutofit/>
          </a:bodyPr>
          <a:lstStyle/>
          <a:p>
            <a:r>
              <a:rPr lang="en-US" b="1" dirty="0"/>
              <a:t>Lesson 11</a:t>
            </a:r>
          </a:p>
        </p:txBody>
      </p:sp>
      <p:sp>
        <p:nvSpPr>
          <p:cNvPr id="3" name="Subtitle 2">
            <a:extLst>
              <a:ext uri="{FF2B5EF4-FFF2-40B4-BE49-F238E27FC236}">
                <a16:creationId xmlns:a16="http://schemas.microsoft.com/office/drawing/2014/main" id="{1D63E707-3906-1580-6A39-D3696F120305}"/>
              </a:ext>
            </a:extLst>
          </p:cNvPr>
          <p:cNvSpPr>
            <a:spLocks noGrp="1"/>
          </p:cNvSpPr>
          <p:nvPr>
            <p:ph type="subTitle" idx="1"/>
          </p:nvPr>
        </p:nvSpPr>
        <p:spPr/>
        <p:txBody>
          <a:bodyPr/>
          <a:lstStyle/>
          <a:p>
            <a:r>
              <a:rPr lang="en-US" b="1" dirty="0"/>
              <a:t>Budgets</a:t>
            </a:r>
          </a:p>
        </p:txBody>
      </p:sp>
    </p:spTree>
    <p:extLst>
      <p:ext uri="{BB962C8B-B14F-4D97-AF65-F5344CB8AC3E}">
        <p14:creationId xmlns:p14="http://schemas.microsoft.com/office/powerpoint/2010/main" val="31880623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A2E022-496B-45E9-EE47-B3946C01E892}"/>
              </a:ext>
            </a:extLst>
          </p:cNvPr>
          <p:cNvSpPr>
            <a:spLocks noGrp="1"/>
          </p:cNvSpPr>
          <p:nvPr>
            <p:ph type="title"/>
          </p:nvPr>
        </p:nvSpPr>
        <p:spPr/>
        <p:txBody>
          <a:bodyPr/>
          <a:lstStyle/>
          <a:p>
            <a:r>
              <a:rPr lang="en-US" dirty="0"/>
              <a:t>Triple Constraint </a:t>
            </a:r>
          </a:p>
        </p:txBody>
      </p:sp>
      <p:sp>
        <p:nvSpPr>
          <p:cNvPr id="4" name="Slide Number Placeholder 3">
            <a:extLst>
              <a:ext uri="{FF2B5EF4-FFF2-40B4-BE49-F238E27FC236}">
                <a16:creationId xmlns:a16="http://schemas.microsoft.com/office/drawing/2014/main" id="{30863F05-AF6A-B250-F070-9BA32E83D1C9}"/>
              </a:ext>
            </a:extLst>
          </p:cNvPr>
          <p:cNvSpPr>
            <a:spLocks noGrp="1"/>
          </p:cNvSpPr>
          <p:nvPr>
            <p:ph type="sldNum" sz="quarter" idx="12"/>
          </p:nvPr>
        </p:nvSpPr>
        <p:spPr/>
        <p:txBody>
          <a:bodyPr/>
          <a:lstStyle/>
          <a:p>
            <a:fld id="{9A3029B7-FE6B-4680-9049-80E8298A0825}" type="slidenum">
              <a:rPr lang="en-US" smtClean="0"/>
              <a:t>2</a:t>
            </a:fld>
            <a:endParaRPr lang="en-US"/>
          </a:p>
        </p:txBody>
      </p:sp>
      <p:pic>
        <p:nvPicPr>
          <p:cNvPr id="10244" name="Picture 4" descr="Challenge: Time-Price-Quality &quot;Pick Any 2&quot; (The Iron Triangle)Kevin Harris  Architect, LLC">
            <a:extLst>
              <a:ext uri="{FF2B5EF4-FFF2-40B4-BE49-F238E27FC236}">
                <a16:creationId xmlns:a16="http://schemas.microsoft.com/office/drawing/2014/main" id="{4DF5583F-6C99-1E56-162D-C2E9ED27B0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3954" y="1236248"/>
            <a:ext cx="8256092" cy="522885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63575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F340658-7469-54DB-E268-74BD9D429EC3}"/>
              </a:ext>
            </a:extLst>
          </p:cNvPr>
          <p:cNvSpPr>
            <a:spLocks noGrp="1"/>
          </p:cNvSpPr>
          <p:nvPr>
            <p:ph type="title"/>
          </p:nvPr>
        </p:nvSpPr>
        <p:spPr/>
        <p:txBody>
          <a:bodyPr/>
          <a:lstStyle/>
          <a:p>
            <a:r>
              <a:rPr lang="en-US" dirty="0"/>
              <a:t>Budgets</a:t>
            </a:r>
          </a:p>
        </p:txBody>
      </p:sp>
      <p:sp>
        <p:nvSpPr>
          <p:cNvPr id="6" name="Content Placeholder 5">
            <a:extLst>
              <a:ext uri="{FF2B5EF4-FFF2-40B4-BE49-F238E27FC236}">
                <a16:creationId xmlns:a16="http://schemas.microsoft.com/office/drawing/2014/main" id="{D05A0BFF-DD3A-623C-7A28-4EE49FBDDA98}"/>
              </a:ext>
            </a:extLst>
          </p:cNvPr>
          <p:cNvSpPr>
            <a:spLocks noGrp="1"/>
          </p:cNvSpPr>
          <p:nvPr>
            <p:ph idx="1"/>
          </p:nvPr>
        </p:nvSpPr>
        <p:spPr>
          <a:xfrm>
            <a:off x="200025" y="1002507"/>
            <a:ext cx="8793015" cy="4662314"/>
          </a:xfrm>
        </p:spPr>
        <p:txBody>
          <a:bodyPr>
            <a:normAutofit/>
          </a:bodyPr>
          <a:lstStyle/>
          <a:p>
            <a:pPr marL="0" indent="0">
              <a:buNone/>
            </a:pPr>
            <a:r>
              <a:rPr lang="en-US" sz="2000" b="1" dirty="0"/>
              <a:t>A systematic plan that defines, allocates, and manages limited resources (mass, power, cost, propellant, volume, reliability, time, etc.) across all spacecraft subsystems to ensure mission feasibility and success</a:t>
            </a:r>
            <a:r>
              <a:rPr lang="en-US" sz="2000" dirty="0"/>
              <a:t>.</a:t>
            </a:r>
          </a:p>
          <a:p>
            <a:pPr marL="0" indent="0">
              <a:buNone/>
            </a:pPr>
            <a:endParaRPr lang="en-US" sz="2000" dirty="0"/>
          </a:p>
          <a:p>
            <a:pPr marL="0" indent="0" algn="ctr">
              <a:buNone/>
            </a:pPr>
            <a:r>
              <a:rPr lang="en-US" sz="2000" u="sng" dirty="0"/>
              <a:t>Why are budgets important?</a:t>
            </a:r>
          </a:p>
          <a:p>
            <a:r>
              <a:rPr lang="en-US" sz="2000" dirty="0"/>
              <a:t>They act as </a:t>
            </a:r>
            <a:r>
              <a:rPr lang="en-US" sz="2000" b="1" dirty="0">
                <a:solidFill>
                  <a:srgbClr val="FF0000"/>
                </a:solidFill>
              </a:rPr>
              <a:t>constraints</a:t>
            </a:r>
            <a:r>
              <a:rPr lang="en-US" sz="2000" dirty="0"/>
              <a:t> in design trades (e.g., increasing payload mass means decreasing margin elsewhere).</a:t>
            </a:r>
          </a:p>
          <a:p>
            <a:r>
              <a:rPr lang="en-US" sz="2000" dirty="0"/>
              <a:t>They are living documents, updated throughout design, integration, and test. </a:t>
            </a:r>
            <a:r>
              <a:rPr lang="en-US" sz="2000" dirty="0">
                <a:sym typeface="Wingdings" panose="05000000000000000000" pitchFamily="2" charset="2"/>
              </a:rPr>
              <a:t> They </a:t>
            </a:r>
            <a:r>
              <a:rPr lang="en-US" sz="2000" b="1" dirty="0">
                <a:solidFill>
                  <a:srgbClr val="00B050"/>
                </a:solidFill>
                <a:sym typeface="Wingdings" panose="05000000000000000000" pitchFamily="2" charset="2"/>
              </a:rPr>
              <a:t>ensure design remains feasible</a:t>
            </a:r>
            <a:r>
              <a:rPr lang="en-US" sz="2000" dirty="0">
                <a:sym typeface="Wingdings" panose="05000000000000000000" pitchFamily="2" charset="2"/>
              </a:rPr>
              <a:t>. </a:t>
            </a:r>
            <a:endParaRPr lang="en-US" sz="2000" dirty="0"/>
          </a:p>
          <a:p>
            <a:r>
              <a:rPr lang="en-US" sz="2000" dirty="0"/>
              <a:t>They provide a </a:t>
            </a:r>
            <a:r>
              <a:rPr lang="en-US" sz="2000" b="1" dirty="0">
                <a:solidFill>
                  <a:srgbClr val="0070C0"/>
                </a:solidFill>
              </a:rPr>
              <a:t>common language </a:t>
            </a:r>
            <a:r>
              <a:rPr lang="en-US" sz="2000" dirty="0"/>
              <a:t>for engineers, managers, and stakeholders </a:t>
            </a:r>
            <a:r>
              <a:rPr lang="en-US" sz="2000" b="1" dirty="0">
                <a:solidFill>
                  <a:srgbClr val="0070C0"/>
                </a:solidFill>
              </a:rPr>
              <a:t>to evaluate feasibility</a:t>
            </a:r>
            <a:r>
              <a:rPr lang="en-US" sz="2000" dirty="0"/>
              <a:t>.</a:t>
            </a:r>
          </a:p>
          <a:p>
            <a:r>
              <a:rPr lang="en-US" sz="2000" dirty="0"/>
              <a:t>They </a:t>
            </a:r>
            <a:r>
              <a:rPr lang="en-US" sz="2000" b="1" dirty="0">
                <a:solidFill>
                  <a:srgbClr val="7030A0"/>
                </a:solidFill>
              </a:rPr>
              <a:t>ensure the system-of-systems stays balanced </a:t>
            </a:r>
            <a:r>
              <a:rPr lang="en-US" sz="2000" dirty="0"/>
              <a:t>— no single subsystem can grow unchecked without jeopardizing the whole mission.</a:t>
            </a:r>
          </a:p>
        </p:txBody>
      </p:sp>
      <p:sp>
        <p:nvSpPr>
          <p:cNvPr id="4" name="Slide Number Placeholder 3">
            <a:extLst>
              <a:ext uri="{FF2B5EF4-FFF2-40B4-BE49-F238E27FC236}">
                <a16:creationId xmlns:a16="http://schemas.microsoft.com/office/drawing/2014/main" id="{0DA10DE0-20D2-AFFE-0506-A4B279B31A34}"/>
              </a:ext>
            </a:extLst>
          </p:cNvPr>
          <p:cNvSpPr>
            <a:spLocks noGrp="1"/>
          </p:cNvSpPr>
          <p:nvPr>
            <p:ph type="sldNum" sz="quarter" idx="12"/>
          </p:nvPr>
        </p:nvSpPr>
        <p:spPr/>
        <p:txBody>
          <a:bodyPr/>
          <a:lstStyle/>
          <a:p>
            <a:fld id="{9A3029B7-FE6B-4680-9049-80E8298A0825}" type="slidenum">
              <a:rPr lang="en-US" smtClean="0"/>
              <a:t>3</a:t>
            </a:fld>
            <a:endParaRPr lang="en-US"/>
          </a:p>
        </p:txBody>
      </p:sp>
      <p:sp>
        <p:nvSpPr>
          <p:cNvPr id="7" name="TextBox 6">
            <a:extLst>
              <a:ext uri="{FF2B5EF4-FFF2-40B4-BE49-F238E27FC236}">
                <a16:creationId xmlns:a16="http://schemas.microsoft.com/office/drawing/2014/main" id="{D7269F97-FAF4-8333-8A58-C7F2DCEDB4EF}"/>
              </a:ext>
            </a:extLst>
          </p:cNvPr>
          <p:cNvSpPr txBox="1"/>
          <p:nvPr/>
        </p:nvSpPr>
        <p:spPr>
          <a:xfrm>
            <a:off x="1454886" y="5664821"/>
            <a:ext cx="6234228" cy="954107"/>
          </a:xfrm>
          <a:prstGeom prst="rect">
            <a:avLst/>
          </a:prstGeom>
          <a:noFill/>
          <a:ln>
            <a:solidFill>
              <a:srgbClr val="FF0000"/>
            </a:solidFill>
          </a:ln>
        </p:spPr>
        <p:txBody>
          <a:bodyPr wrap="square">
            <a:spAutoFit/>
          </a:bodyPr>
          <a:lstStyle/>
          <a:p>
            <a:pPr algn="ctr"/>
            <a:r>
              <a:rPr lang="en-US" sz="2800" b="1" dirty="0">
                <a:solidFill>
                  <a:srgbClr val="FF0000"/>
                </a:solidFill>
              </a:rPr>
              <a:t>Budget = a systems engineering tool for managing scarce resources</a:t>
            </a:r>
          </a:p>
        </p:txBody>
      </p:sp>
    </p:spTree>
    <p:extLst>
      <p:ext uri="{BB962C8B-B14F-4D97-AF65-F5344CB8AC3E}">
        <p14:creationId xmlns:p14="http://schemas.microsoft.com/office/powerpoint/2010/main" val="2156794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75D25-ABB5-CE19-417A-7E25B679CF87}"/>
              </a:ext>
            </a:extLst>
          </p:cNvPr>
          <p:cNvSpPr>
            <a:spLocks noGrp="1"/>
          </p:cNvSpPr>
          <p:nvPr>
            <p:ph type="title"/>
          </p:nvPr>
        </p:nvSpPr>
        <p:spPr/>
        <p:txBody>
          <a:bodyPr/>
          <a:lstStyle/>
          <a:p>
            <a:r>
              <a:rPr lang="en-US" dirty="0"/>
              <a:t>Selected Budgeting Terms</a:t>
            </a:r>
          </a:p>
        </p:txBody>
      </p:sp>
      <p:sp>
        <p:nvSpPr>
          <p:cNvPr id="3" name="Content Placeholder 2">
            <a:extLst>
              <a:ext uri="{FF2B5EF4-FFF2-40B4-BE49-F238E27FC236}">
                <a16:creationId xmlns:a16="http://schemas.microsoft.com/office/drawing/2014/main" id="{A5DE87AA-A790-976E-51DA-5B8A70C044C8}"/>
              </a:ext>
            </a:extLst>
          </p:cNvPr>
          <p:cNvSpPr>
            <a:spLocks noGrp="1"/>
          </p:cNvSpPr>
          <p:nvPr>
            <p:ph idx="1"/>
          </p:nvPr>
        </p:nvSpPr>
        <p:spPr>
          <a:xfrm>
            <a:off x="175492" y="1237553"/>
            <a:ext cx="8793015" cy="5227553"/>
          </a:xfrm>
        </p:spPr>
        <p:txBody>
          <a:bodyPr>
            <a:normAutofit fontScale="92500" lnSpcReduction="20000"/>
          </a:bodyPr>
          <a:lstStyle/>
          <a:p>
            <a:r>
              <a:rPr lang="en-US" b="1" dirty="0"/>
              <a:t>SWAP-C: </a:t>
            </a:r>
            <a:r>
              <a:rPr lang="en-US" dirty="0"/>
              <a:t>Size, Weight, &amp; Power, (Cost)</a:t>
            </a:r>
          </a:p>
          <a:p>
            <a:r>
              <a:rPr lang="en-US" b="1" dirty="0"/>
              <a:t>Margin: </a:t>
            </a:r>
            <a:r>
              <a:rPr lang="en-US" dirty="0"/>
              <a:t>a spare amount or measure or degree allowed or given for contingencies or special situations.</a:t>
            </a:r>
          </a:p>
          <a:p>
            <a:pPr lvl="1"/>
            <a:r>
              <a:rPr lang="en-US" dirty="0"/>
              <a:t>Margins evolve with mission design phases, e.g.</a:t>
            </a:r>
          </a:p>
          <a:p>
            <a:pPr lvl="2"/>
            <a:r>
              <a:rPr lang="en-US" dirty="0"/>
              <a:t>20% at SRR</a:t>
            </a:r>
          </a:p>
          <a:p>
            <a:pPr lvl="2"/>
            <a:r>
              <a:rPr lang="en-US" dirty="0"/>
              <a:t>15 % at PDR</a:t>
            </a:r>
          </a:p>
          <a:p>
            <a:pPr lvl="2"/>
            <a:r>
              <a:rPr lang="en-US" dirty="0"/>
              <a:t>10% at CDR</a:t>
            </a:r>
          </a:p>
          <a:p>
            <a:r>
              <a:rPr lang="en-US" b="1" dirty="0"/>
              <a:t>Allocation</a:t>
            </a:r>
            <a:r>
              <a:rPr lang="en-US" dirty="0"/>
              <a:t> – The portion of a resource (mass, power, cost, etc.) assigned to a subsystem or component.</a:t>
            </a:r>
            <a:endParaRPr lang="en-US" b="1" dirty="0"/>
          </a:p>
          <a:p>
            <a:r>
              <a:rPr lang="en-US" b="1" dirty="0"/>
              <a:t>Overrun</a:t>
            </a:r>
            <a:r>
              <a:rPr lang="en-US" dirty="0"/>
              <a:t>: When actual resource usage exceeds budgeted amount</a:t>
            </a:r>
          </a:p>
          <a:p>
            <a:r>
              <a:rPr lang="en-US" b="1" dirty="0"/>
              <a:t>ROM:</a:t>
            </a:r>
            <a:r>
              <a:rPr lang="en-US" dirty="0"/>
              <a:t> Rough Order of Magnitude </a:t>
            </a:r>
          </a:p>
          <a:p>
            <a:r>
              <a:rPr lang="en-US" b="1" dirty="0"/>
              <a:t>BOM:</a:t>
            </a:r>
            <a:r>
              <a:rPr lang="en-US" dirty="0"/>
              <a:t> Bill of Materials</a:t>
            </a:r>
          </a:p>
          <a:p>
            <a:r>
              <a:rPr lang="en-US" b="1" dirty="0"/>
              <a:t>MEL: </a:t>
            </a:r>
            <a:r>
              <a:rPr lang="en-US" dirty="0"/>
              <a:t>Master Equipment List</a:t>
            </a:r>
          </a:p>
        </p:txBody>
      </p:sp>
      <p:sp>
        <p:nvSpPr>
          <p:cNvPr id="4" name="Slide Number Placeholder 3">
            <a:extLst>
              <a:ext uri="{FF2B5EF4-FFF2-40B4-BE49-F238E27FC236}">
                <a16:creationId xmlns:a16="http://schemas.microsoft.com/office/drawing/2014/main" id="{15E5BAFB-0EB9-25CE-35DF-5BA62C265448}"/>
              </a:ext>
            </a:extLst>
          </p:cNvPr>
          <p:cNvSpPr>
            <a:spLocks noGrp="1"/>
          </p:cNvSpPr>
          <p:nvPr>
            <p:ph type="sldNum" sz="quarter" idx="12"/>
          </p:nvPr>
        </p:nvSpPr>
        <p:spPr/>
        <p:txBody>
          <a:bodyPr/>
          <a:lstStyle/>
          <a:p>
            <a:fld id="{9A3029B7-FE6B-4680-9049-80E8298A0825}" type="slidenum">
              <a:rPr lang="en-US" smtClean="0"/>
              <a:t>4</a:t>
            </a:fld>
            <a:endParaRPr lang="en-US" dirty="0"/>
          </a:p>
        </p:txBody>
      </p:sp>
    </p:spTree>
    <p:extLst>
      <p:ext uri="{BB962C8B-B14F-4D97-AF65-F5344CB8AC3E}">
        <p14:creationId xmlns:p14="http://schemas.microsoft.com/office/powerpoint/2010/main" val="15057354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0"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fade">
                                      <p:cBhvr>
                                        <p:cTn id="11" dur="500"/>
                                        <p:tgtEl>
                                          <p:spTgt spid="3">
                                            <p:txEl>
                                              <p:pRg st="1" end="1"/>
                                            </p:txEl>
                                          </p:spTgt>
                                        </p:tgtEl>
                                      </p:cBhvr>
                                    </p:animEffect>
                                  </p:childTnLst>
                                </p:cTn>
                              </p:par>
                              <p:par>
                                <p:cTn id="12" presetID="10" presetClass="entr" presetSubtype="0" fill="hold" nodeType="with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500"/>
                                        <p:tgtEl>
                                          <p:spTgt spid="3">
                                            <p:txEl>
                                              <p:pRg st="2" end="2"/>
                                            </p:txEl>
                                          </p:spTgt>
                                        </p:tgtEl>
                                      </p:cBhvr>
                                    </p:animEffect>
                                  </p:childTnLst>
                                </p:cTn>
                              </p:par>
                              <p:par>
                                <p:cTn id="15" presetID="10" presetClass="entr" presetSubtype="0" fill="hold" nodeType="with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animEffect transition="in" filter="fade">
                                      <p:cBhvr>
                                        <p:cTn id="17" dur="500"/>
                                        <p:tgtEl>
                                          <p:spTgt spid="3">
                                            <p:txEl>
                                              <p:pRg st="3" end="3"/>
                                            </p:txEl>
                                          </p:spTgt>
                                        </p:tgtEl>
                                      </p:cBhvr>
                                    </p:animEffect>
                                  </p:childTnLst>
                                </p:cTn>
                              </p:par>
                              <p:par>
                                <p:cTn id="18" presetID="10" presetClass="entr" presetSubtype="0" fill="hold" nodeType="withEffect">
                                  <p:stCondLst>
                                    <p:cond delay="0"/>
                                  </p:stCondLst>
                                  <p:childTnLst>
                                    <p:set>
                                      <p:cBhvr>
                                        <p:cTn id="19" dur="1" fill="hold">
                                          <p:stCondLst>
                                            <p:cond delay="0"/>
                                          </p:stCondLst>
                                        </p:cTn>
                                        <p:tgtEl>
                                          <p:spTgt spid="3">
                                            <p:txEl>
                                              <p:pRg st="4" end="4"/>
                                            </p:txEl>
                                          </p:spTgt>
                                        </p:tgtEl>
                                        <p:attrNameLst>
                                          <p:attrName>style.visibility</p:attrName>
                                        </p:attrNameLst>
                                      </p:cBhvr>
                                      <p:to>
                                        <p:strVal val="visible"/>
                                      </p:to>
                                    </p:set>
                                    <p:animEffect transition="in" filter="fade">
                                      <p:cBhvr>
                                        <p:cTn id="20" dur="500"/>
                                        <p:tgtEl>
                                          <p:spTgt spid="3">
                                            <p:txEl>
                                              <p:pRg st="4" end="4"/>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animEffect transition="in" filter="fade">
                                      <p:cBhvr>
                                        <p:cTn id="23" dur="500"/>
                                        <p:tgtEl>
                                          <p:spTgt spid="3">
                                            <p:txEl>
                                              <p:pRg st="5" end="5"/>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500"/>
                                        <p:tgtEl>
                                          <p:spTgt spid="3">
                                            <p:txEl>
                                              <p:pRg st="6" end="6"/>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3">
                                            <p:txEl>
                                              <p:pRg st="7" end="7"/>
                                            </p:txEl>
                                          </p:spTgt>
                                        </p:tgtEl>
                                        <p:attrNameLst>
                                          <p:attrName>style.visibility</p:attrName>
                                        </p:attrNameLst>
                                      </p:cBhvr>
                                      <p:to>
                                        <p:strVal val="visible"/>
                                      </p:to>
                                    </p:set>
                                    <p:animEffect transition="in" filter="fade">
                                      <p:cBhvr>
                                        <p:cTn id="33" dur="500"/>
                                        <p:tgtEl>
                                          <p:spTgt spid="3">
                                            <p:txEl>
                                              <p:pRg st="7" end="7"/>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3">
                                            <p:txEl>
                                              <p:pRg st="8" end="8"/>
                                            </p:txEl>
                                          </p:spTgt>
                                        </p:tgtEl>
                                        <p:attrNameLst>
                                          <p:attrName>style.visibility</p:attrName>
                                        </p:attrNameLst>
                                      </p:cBhvr>
                                      <p:to>
                                        <p:strVal val="visible"/>
                                      </p:to>
                                    </p:set>
                                    <p:animEffect transition="in" filter="fade">
                                      <p:cBhvr>
                                        <p:cTn id="38" dur="500"/>
                                        <p:tgtEl>
                                          <p:spTgt spid="3">
                                            <p:txEl>
                                              <p:pRg st="8" end="8"/>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10"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animEffect transition="in" filter="fade">
                                      <p:cBhvr>
                                        <p:cTn id="43" dur="500"/>
                                        <p:tgtEl>
                                          <p:spTgt spid="3">
                                            <p:txEl>
                                              <p:pRg st="9" end="9"/>
                                            </p:txEl>
                                          </p:spTgt>
                                        </p:tgtEl>
                                      </p:cBhvr>
                                    </p:animEffect>
                                  </p:childTnLst>
                                </p:cTn>
                              </p:par>
                            </p:childTnLst>
                          </p:cTn>
                        </p:par>
                      </p:childTnLst>
                    </p:cTn>
                  </p:par>
                  <p:par>
                    <p:cTn id="44" fill="hold">
                      <p:stCondLst>
                        <p:cond delay="indefinite"/>
                      </p:stCondLst>
                      <p:childTnLst>
                        <p:par>
                          <p:cTn id="45" fill="hold">
                            <p:stCondLst>
                              <p:cond delay="0"/>
                            </p:stCondLst>
                            <p:childTnLst>
                              <p:par>
                                <p:cTn id="46" presetID="10" presetClass="entr" presetSubtype="0" fill="hold" nodeType="clickEffect">
                                  <p:stCondLst>
                                    <p:cond delay="0"/>
                                  </p:stCondLst>
                                  <p:childTnLst>
                                    <p:set>
                                      <p:cBhvr>
                                        <p:cTn id="47" dur="1" fill="hold">
                                          <p:stCondLst>
                                            <p:cond delay="0"/>
                                          </p:stCondLst>
                                        </p:cTn>
                                        <p:tgtEl>
                                          <p:spTgt spid="3">
                                            <p:txEl>
                                              <p:pRg st="10" end="10"/>
                                            </p:txEl>
                                          </p:spTgt>
                                        </p:tgtEl>
                                        <p:attrNameLst>
                                          <p:attrName>style.visibility</p:attrName>
                                        </p:attrNameLst>
                                      </p:cBhvr>
                                      <p:to>
                                        <p:strVal val="visible"/>
                                      </p:to>
                                    </p:set>
                                    <p:animEffect transition="in" filter="fade">
                                      <p:cBhvr>
                                        <p:cTn id="48" dur="500"/>
                                        <p:tgtEl>
                                          <p:spTgt spid="3">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60B6E-110A-06FB-9C6E-E08496CD8929}"/>
              </a:ext>
            </a:extLst>
          </p:cNvPr>
          <p:cNvSpPr>
            <a:spLocks noGrp="1"/>
          </p:cNvSpPr>
          <p:nvPr>
            <p:ph type="title"/>
          </p:nvPr>
        </p:nvSpPr>
        <p:spPr/>
        <p:txBody>
          <a:bodyPr/>
          <a:lstStyle/>
          <a:p>
            <a:r>
              <a:rPr lang="en-US" dirty="0"/>
              <a:t>Methods of Budget Estimation</a:t>
            </a:r>
          </a:p>
        </p:txBody>
      </p:sp>
      <p:sp>
        <p:nvSpPr>
          <p:cNvPr id="3" name="Content Placeholder 2">
            <a:extLst>
              <a:ext uri="{FF2B5EF4-FFF2-40B4-BE49-F238E27FC236}">
                <a16:creationId xmlns:a16="http://schemas.microsoft.com/office/drawing/2014/main" id="{051733D2-D922-FE1C-4883-9B131A5F2549}"/>
              </a:ext>
            </a:extLst>
          </p:cNvPr>
          <p:cNvSpPr>
            <a:spLocks noGrp="1"/>
          </p:cNvSpPr>
          <p:nvPr>
            <p:ph idx="1"/>
          </p:nvPr>
        </p:nvSpPr>
        <p:spPr>
          <a:xfrm>
            <a:off x="175492" y="1237553"/>
            <a:ext cx="8793015" cy="5227553"/>
          </a:xfrm>
        </p:spPr>
        <p:txBody>
          <a:bodyPr>
            <a:normAutofit/>
          </a:bodyPr>
          <a:lstStyle/>
          <a:p>
            <a:pPr marL="0" indent="0">
              <a:buNone/>
            </a:pPr>
            <a:r>
              <a:rPr lang="en-US" b="1" dirty="0">
                <a:solidFill>
                  <a:srgbClr val="FF0000"/>
                </a:solidFill>
              </a:rPr>
              <a:t>Analogy</a:t>
            </a:r>
          </a:p>
          <a:p>
            <a:pPr marL="0" indent="0">
              <a:buNone/>
            </a:pPr>
            <a:r>
              <a:rPr lang="en-US" sz="2200" dirty="0">
                <a:sym typeface="Wingdings" panose="05000000000000000000" pitchFamily="2" charset="2"/>
              </a:rPr>
              <a:t></a:t>
            </a:r>
            <a:r>
              <a:rPr lang="en-US" sz="2200" dirty="0"/>
              <a:t>Estimate cost, mass, power, etc. by comparing to similar past projects.</a:t>
            </a:r>
            <a:endParaRPr lang="en-US" dirty="0"/>
          </a:p>
          <a:p>
            <a:pPr marL="0" indent="0">
              <a:buNone/>
            </a:pPr>
            <a:endParaRPr lang="en-US" dirty="0"/>
          </a:p>
          <a:p>
            <a:pPr marL="0" indent="0">
              <a:buNone/>
            </a:pPr>
            <a:r>
              <a:rPr lang="en-US" b="1" dirty="0">
                <a:solidFill>
                  <a:srgbClr val="00B050"/>
                </a:solidFill>
              </a:rPr>
              <a:t>Parametric</a:t>
            </a:r>
          </a:p>
          <a:p>
            <a:pPr marL="0" indent="0">
              <a:buNone/>
            </a:pPr>
            <a:r>
              <a:rPr lang="en-US" sz="2000" dirty="0">
                <a:sym typeface="Wingdings" panose="05000000000000000000" pitchFamily="2" charset="2"/>
              </a:rPr>
              <a:t></a:t>
            </a:r>
            <a:r>
              <a:rPr lang="en-US" sz="2000" dirty="0"/>
              <a:t>Uses statistical </a:t>
            </a:r>
            <a:r>
              <a:rPr lang="en-US" sz="2000" b="1" i="1" dirty="0"/>
              <a:t>cost-estimating relationships (CERs)</a:t>
            </a:r>
            <a:r>
              <a:rPr lang="en-US" sz="2000" dirty="0"/>
              <a:t> or mathematical models to relate system parameters (like mass, power, or complexity).</a:t>
            </a:r>
          </a:p>
          <a:p>
            <a:pPr marL="0" indent="0">
              <a:buNone/>
            </a:pPr>
            <a:endParaRPr lang="en-US" dirty="0"/>
          </a:p>
          <a:p>
            <a:pPr marL="0" indent="0">
              <a:buNone/>
            </a:pPr>
            <a:r>
              <a:rPr lang="en-US" b="1" dirty="0">
                <a:solidFill>
                  <a:srgbClr val="0070C0"/>
                </a:solidFill>
              </a:rPr>
              <a:t>Engineering Build-Up</a:t>
            </a:r>
          </a:p>
          <a:p>
            <a:pPr marL="0" indent="0">
              <a:buNone/>
            </a:pPr>
            <a:r>
              <a:rPr lang="en-US" sz="2000" dirty="0">
                <a:sym typeface="Wingdings" panose="05000000000000000000" pitchFamily="2" charset="2"/>
              </a:rPr>
              <a:t></a:t>
            </a:r>
            <a:r>
              <a:rPr lang="en-US" sz="2000" dirty="0"/>
              <a:t>A detailed estimate built by summing up contributions from each component or line item.</a:t>
            </a:r>
          </a:p>
          <a:p>
            <a:pPr marL="0" indent="0">
              <a:buNone/>
            </a:pPr>
            <a:endParaRPr lang="en-US" dirty="0"/>
          </a:p>
          <a:p>
            <a:pPr marL="0" indent="0">
              <a:buNone/>
            </a:pPr>
            <a:endParaRPr lang="en-US" dirty="0"/>
          </a:p>
        </p:txBody>
      </p:sp>
      <p:sp>
        <p:nvSpPr>
          <p:cNvPr id="4" name="Slide Number Placeholder 3">
            <a:extLst>
              <a:ext uri="{FF2B5EF4-FFF2-40B4-BE49-F238E27FC236}">
                <a16:creationId xmlns:a16="http://schemas.microsoft.com/office/drawing/2014/main" id="{39979700-9AAE-8480-02DD-7376FF78F0BA}"/>
              </a:ext>
            </a:extLst>
          </p:cNvPr>
          <p:cNvSpPr>
            <a:spLocks noGrp="1"/>
          </p:cNvSpPr>
          <p:nvPr>
            <p:ph type="sldNum" sz="quarter" idx="12"/>
          </p:nvPr>
        </p:nvSpPr>
        <p:spPr/>
        <p:txBody>
          <a:bodyPr/>
          <a:lstStyle/>
          <a:p>
            <a:fld id="{9A3029B7-FE6B-4680-9049-80E8298A0825}" type="slidenum">
              <a:rPr lang="en-US" smtClean="0"/>
              <a:t>5</a:t>
            </a:fld>
            <a:endParaRPr lang="en-US"/>
          </a:p>
        </p:txBody>
      </p:sp>
    </p:spTree>
    <p:extLst>
      <p:ext uri="{BB962C8B-B14F-4D97-AF65-F5344CB8AC3E}">
        <p14:creationId xmlns:p14="http://schemas.microsoft.com/office/powerpoint/2010/main" val="2367431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3B93D-89F8-96E7-FD5A-999E364664DA}"/>
              </a:ext>
            </a:extLst>
          </p:cNvPr>
          <p:cNvSpPr>
            <a:spLocks noGrp="1"/>
          </p:cNvSpPr>
          <p:nvPr>
            <p:ph type="title"/>
          </p:nvPr>
        </p:nvSpPr>
        <p:spPr/>
        <p:txBody>
          <a:bodyPr/>
          <a:lstStyle/>
          <a:p>
            <a:r>
              <a:rPr lang="en-US" dirty="0">
                <a:solidFill>
                  <a:srgbClr val="00B050"/>
                </a:solidFill>
              </a:rPr>
              <a:t>Parametric Budgeting Example</a:t>
            </a:r>
          </a:p>
        </p:txBody>
      </p:sp>
      <p:sp>
        <p:nvSpPr>
          <p:cNvPr id="4" name="Slide Number Placeholder 3">
            <a:extLst>
              <a:ext uri="{FF2B5EF4-FFF2-40B4-BE49-F238E27FC236}">
                <a16:creationId xmlns:a16="http://schemas.microsoft.com/office/drawing/2014/main" id="{8B476980-4ED2-5735-0787-D919978D632D}"/>
              </a:ext>
            </a:extLst>
          </p:cNvPr>
          <p:cNvSpPr>
            <a:spLocks noGrp="1"/>
          </p:cNvSpPr>
          <p:nvPr>
            <p:ph type="sldNum" sz="quarter" idx="12"/>
          </p:nvPr>
        </p:nvSpPr>
        <p:spPr/>
        <p:txBody>
          <a:bodyPr/>
          <a:lstStyle/>
          <a:p>
            <a:fld id="{9A3029B7-FE6B-4680-9049-80E8298A0825}" type="slidenum">
              <a:rPr lang="en-US" smtClean="0"/>
              <a:t>6</a:t>
            </a:fld>
            <a:endParaRPr lang="en-US"/>
          </a:p>
        </p:txBody>
      </p:sp>
      <p:pic>
        <p:nvPicPr>
          <p:cNvPr id="6" name="Picture 5">
            <a:extLst>
              <a:ext uri="{FF2B5EF4-FFF2-40B4-BE49-F238E27FC236}">
                <a16:creationId xmlns:a16="http://schemas.microsoft.com/office/drawing/2014/main" id="{9E680D60-272E-277D-B6AA-878975AF1001}"/>
              </a:ext>
            </a:extLst>
          </p:cNvPr>
          <p:cNvPicPr>
            <a:picLocks noChangeAspect="1"/>
          </p:cNvPicPr>
          <p:nvPr/>
        </p:nvPicPr>
        <p:blipFill>
          <a:blip r:embed="rId3"/>
          <a:stretch>
            <a:fillRect/>
          </a:stretch>
        </p:blipFill>
        <p:spPr>
          <a:xfrm>
            <a:off x="623943" y="1002506"/>
            <a:ext cx="7896113" cy="5771567"/>
          </a:xfrm>
          <a:prstGeom prst="rect">
            <a:avLst/>
          </a:prstGeom>
        </p:spPr>
      </p:pic>
    </p:spTree>
    <p:extLst>
      <p:ext uri="{BB962C8B-B14F-4D97-AF65-F5344CB8AC3E}">
        <p14:creationId xmlns:p14="http://schemas.microsoft.com/office/powerpoint/2010/main" val="4188293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3BBDB8-F183-102D-EA09-C27E80B53741}"/>
              </a:ext>
            </a:extLst>
          </p:cNvPr>
          <p:cNvSpPr>
            <a:spLocks noGrp="1"/>
          </p:cNvSpPr>
          <p:nvPr>
            <p:ph type="title"/>
          </p:nvPr>
        </p:nvSpPr>
        <p:spPr/>
        <p:txBody>
          <a:bodyPr/>
          <a:lstStyle/>
          <a:p>
            <a:r>
              <a:rPr lang="en-US" dirty="0"/>
              <a:t>Methods of Budget Estimation (2)</a:t>
            </a:r>
          </a:p>
        </p:txBody>
      </p:sp>
      <p:sp>
        <p:nvSpPr>
          <p:cNvPr id="3" name="Content Placeholder 2">
            <a:extLst>
              <a:ext uri="{FF2B5EF4-FFF2-40B4-BE49-F238E27FC236}">
                <a16:creationId xmlns:a16="http://schemas.microsoft.com/office/drawing/2014/main" id="{A4A11CAC-A7DA-6C5E-C5D6-7E4A09EDCD3B}"/>
              </a:ext>
            </a:extLst>
          </p:cNvPr>
          <p:cNvSpPr>
            <a:spLocks noGrp="1"/>
          </p:cNvSpPr>
          <p:nvPr>
            <p:ph idx="1"/>
          </p:nvPr>
        </p:nvSpPr>
        <p:spPr/>
        <p:txBody>
          <a:bodyPr/>
          <a:lstStyle/>
          <a:p>
            <a:endParaRPr lang="en-US"/>
          </a:p>
        </p:txBody>
      </p:sp>
      <p:sp>
        <p:nvSpPr>
          <p:cNvPr id="4" name="Slide Number Placeholder 3">
            <a:extLst>
              <a:ext uri="{FF2B5EF4-FFF2-40B4-BE49-F238E27FC236}">
                <a16:creationId xmlns:a16="http://schemas.microsoft.com/office/drawing/2014/main" id="{223C3296-A45E-C89B-64C5-51A895D3E196}"/>
              </a:ext>
            </a:extLst>
          </p:cNvPr>
          <p:cNvSpPr>
            <a:spLocks noGrp="1"/>
          </p:cNvSpPr>
          <p:nvPr>
            <p:ph type="sldNum" sz="quarter" idx="12"/>
          </p:nvPr>
        </p:nvSpPr>
        <p:spPr/>
        <p:txBody>
          <a:bodyPr/>
          <a:lstStyle/>
          <a:p>
            <a:fld id="{9A3029B7-FE6B-4680-9049-80E8298A0825}" type="slidenum">
              <a:rPr lang="en-US" smtClean="0"/>
              <a:t>7</a:t>
            </a:fld>
            <a:endParaRPr lang="en-US"/>
          </a:p>
        </p:txBody>
      </p:sp>
      <p:pic>
        <p:nvPicPr>
          <p:cNvPr id="6" name="Picture 5">
            <a:extLst>
              <a:ext uri="{FF2B5EF4-FFF2-40B4-BE49-F238E27FC236}">
                <a16:creationId xmlns:a16="http://schemas.microsoft.com/office/drawing/2014/main" id="{BC2E474D-B39E-96E6-D31E-DA9FF5FACF0C}"/>
              </a:ext>
            </a:extLst>
          </p:cNvPr>
          <p:cNvPicPr>
            <a:picLocks noChangeAspect="1"/>
          </p:cNvPicPr>
          <p:nvPr/>
        </p:nvPicPr>
        <p:blipFill>
          <a:blip r:embed="rId3"/>
          <a:stretch>
            <a:fillRect/>
          </a:stretch>
        </p:blipFill>
        <p:spPr>
          <a:xfrm>
            <a:off x="-4588" y="937069"/>
            <a:ext cx="9144000" cy="5787745"/>
          </a:xfrm>
          <a:prstGeom prst="rect">
            <a:avLst/>
          </a:prstGeom>
        </p:spPr>
      </p:pic>
    </p:spTree>
    <p:extLst>
      <p:ext uri="{BB962C8B-B14F-4D97-AF65-F5344CB8AC3E}">
        <p14:creationId xmlns:p14="http://schemas.microsoft.com/office/powerpoint/2010/main" val="11633839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181B7-A0B6-172E-DDFD-892F913D04F8}"/>
              </a:ext>
            </a:extLst>
          </p:cNvPr>
          <p:cNvSpPr>
            <a:spLocks noGrp="1"/>
          </p:cNvSpPr>
          <p:nvPr>
            <p:ph type="title"/>
          </p:nvPr>
        </p:nvSpPr>
        <p:spPr/>
        <p:txBody>
          <a:bodyPr/>
          <a:lstStyle/>
          <a:p>
            <a:r>
              <a:rPr lang="en-US" dirty="0"/>
              <a:t>Methods of Budget Estimation (2)</a:t>
            </a:r>
          </a:p>
        </p:txBody>
      </p:sp>
      <p:sp>
        <p:nvSpPr>
          <p:cNvPr id="4" name="Slide Number Placeholder 3">
            <a:extLst>
              <a:ext uri="{FF2B5EF4-FFF2-40B4-BE49-F238E27FC236}">
                <a16:creationId xmlns:a16="http://schemas.microsoft.com/office/drawing/2014/main" id="{139522DF-25E4-3DB0-5494-1ADB5449D2D4}"/>
              </a:ext>
            </a:extLst>
          </p:cNvPr>
          <p:cNvSpPr>
            <a:spLocks noGrp="1"/>
          </p:cNvSpPr>
          <p:nvPr>
            <p:ph type="sldNum" sz="quarter" idx="12"/>
          </p:nvPr>
        </p:nvSpPr>
        <p:spPr/>
        <p:txBody>
          <a:bodyPr/>
          <a:lstStyle/>
          <a:p>
            <a:fld id="{9A3029B7-FE6B-4680-9049-80E8298A0825}" type="slidenum">
              <a:rPr lang="en-US" smtClean="0"/>
              <a:t>8</a:t>
            </a:fld>
            <a:endParaRPr lang="en-US"/>
          </a:p>
        </p:txBody>
      </p:sp>
      <p:grpSp>
        <p:nvGrpSpPr>
          <p:cNvPr id="9" name="Group 8">
            <a:extLst>
              <a:ext uri="{FF2B5EF4-FFF2-40B4-BE49-F238E27FC236}">
                <a16:creationId xmlns:a16="http://schemas.microsoft.com/office/drawing/2014/main" id="{E1751433-C6BE-4C5B-6B76-CD8DA19FEF19}"/>
              </a:ext>
            </a:extLst>
          </p:cNvPr>
          <p:cNvGrpSpPr/>
          <p:nvPr/>
        </p:nvGrpSpPr>
        <p:grpSpPr>
          <a:xfrm>
            <a:off x="-7143" y="1413426"/>
            <a:ext cx="9151143" cy="4695823"/>
            <a:chOff x="-7143" y="1413426"/>
            <a:chExt cx="9151143" cy="4695823"/>
          </a:xfrm>
        </p:grpSpPr>
        <p:pic>
          <p:nvPicPr>
            <p:cNvPr id="6" name="Picture 5">
              <a:extLst>
                <a:ext uri="{FF2B5EF4-FFF2-40B4-BE49-F238E27FC236}">
                  <a16:creationId xmlns:a16="http://schemas.microsoft.com/office/drawing/2014/main" id="{C655F2D7-BFC6-95F0-DA68-EDAA0D9063C2}"/>
                </a:ext>
              </a:extLst>
            </p:cNvPr>
            <p:cNvPicPr>
              <a:picLocks noChangeAspect="1"/>
            </p:cNvPicPr>
            <p:nvPr/>
          </p:nvPicPr>
          <p:blipFill>
            <a:blip r:embed="rId3"/>
            <a:stretch>
              <a:fillRect/>
            </a:stretch>
          </p:blipFill>
          <p:spPr>
            <a:xfrm>
              <a:off x="0" y="1707757"/>
              <a:ext cx="9144000" cy="4401492"/>
            </a:xfrm>
            <a:prstGeom prst="rect">
              <a:avLst/>
            </a:prstGeom>
          </p:spPr>
        </p:pic>
        <p:pic>
          <p:nvPicPr>
            <p:cNvPr id="8" name="Picture 7">
              <a:extLst>
                <a:ext uri="{FF2B5EF4-FFF2-40B4-BE49-F238E27FC236}">
                  <a16:creationId xmlns:a16="http://schemas.microsoft.com/office/drawing/2014/main" id="{E7B6EA34-EBEA-0FBF-1388-98DE9E1A10FB}"/>
                </a:ext>
              </a:extLst>
            </p:cNvPr>
            <p:cNvPicPr>
              <a:picLocks noChangeAspect="1"/>
            </p:cNvPicPr>
            <p:nvPr/>
          </p:nvPicPr>
          <p:blipFill>
            <a:blip r:embed="rId4"/>
            <a:stretch>
              <a:fillRect/>
            </a:stretch>
          </p:blipFill>
          <p:spPr>
            <a:xfrm>
              <a:off x="-7143" y="1413426"/>
              <a:ext cx="9144000" cy="294711"/>
            </a:xfrm>
            <a:prstGeom prst="rect">
              <a:avLst/>
            </a:prstGeom>
          </p:spPr>
        </p:pic>
      </p:grpSp>
    </p:spTree>
    <p:extLst>
      <p:ext uri="{BB962C8B-B14F-4D97-AF65-F5344CB8AC3E}">
        <p14:creationId xmlns:p14="http://schemas.microsoft.com/office/powerpoint/2010/main" val="26172954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FC3F42-48D8-5F5C-DC5B-93DF1F3DADA6}"/>
              </a:ext>
            </a:extLst>
          </p:cNvPr>
          <p:cNvSpPr>
            <a:spLocks noGrp="1"/>
          </p:cNvSpPr>
          <p:nvPr>
            <p:ph type="title"/>
          </p:nvPr>
        </p:nvSpPr>
        <p:spPr/>
        <p:txBody>
          <a:bodyPr/>
          <a:lstStyle/>
          <a:p>
            <a:r>
              <a:rPr lang="en-US" dirty="0"/>
              <a:t>Methods of Budget Estimation (3)</a:t>
            </a:r>
          </a:p>
        </p:txBody>
      </p:sp>
      <p:sp>
        <p:nvSpPr>
          <p:cNvPr id="4" name="Slide Number Placeholder 3">
            <a:extLst>
              <a:ext uri="{FF2B5EF4-FFF2-40B4-BE49-F238E27FC236}">
                <a16:creationId xmlns:a16="http://schemas.microsoft.com/office/drawing/2014/main" id="{7670171F-7F9F-940E-A155-0B5AD0CA484B}"/>
              </a:ext>
            </a:extLst>
          </p:cNvPr>
          <p:cNvSpPr>
            <a:spLocks noGrp="1"/>
          </p:cNvSpPr>
          <p:nvPr>
            <p:ph type="sldNum" sz="quarter" idx="12"/>
          </p:nvPr>
        </p:nvSpPr>
        <p:spPr/>
        <p:txBody>
          <a:bodyPr/>
          <a:lstStyle/>
          <a:p>
            <a:fld id="{9A3029B7-FE6B-4680-9049-80E8298A0825}" type="slidenum">
              <a:rPr lang="en-US" smtClean="0"/>
              <a:t>9</a:t>
            </a:fld>
            <a:endParaRPr lang="en-US"/>
          </a:p>
        </p:txBody>
      </p:sp>
      <p:pic>
        <p:nvPicPr>
          <p:cNvPr id="6" name="Picture 5">
            <a:extLst>
              <a:ext uri="{FF2B5EF4-FFF2-40B4-BE49-F238E27FC236}">
                <a16:creationId xmlns:a16="http://schemas.microsoft.com/office/drawing/2014/main" id="{8224BBBE-BBBB-24EF-6CAA-584E11A880BC}"/>
              </a:ext>
            </a:extLst>
          </p:cNvPr>
          <p:cNvPicPr>
            <a:picLocks noChangeAspect="1"/>
          </p:cNvPicPr>
          <p:nvPr/>
        </p:nvPicPr>
        <p:blipFill>
          <a:blip r:embed="rId3"/>
          <a:stretch>
            <a:fillRect/>
          </a:stretch>
        </p:blipFill>
        <p:spPr>
          <a:xfrm>
            <a:off x="0" y="1332467"/>
            <a:ext cx="9109992" cy="4852987"/>
          </a:xfrm>
          <a:prstGeom prst="rect">
            <a:avLst/>
          </a:prstGeom>
        </p:spPr>
      </p:pic>
    </p:spTree>
    <p:extLst>
      <p:ext uri="{BB962C8B-B14F-4D97-AF65-F5344CB8AC3E}">
        <p14:creationId xmlns:p14="http://schemas.microsoft.com/office/powerpoint/2010/main" val="11178752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C4C9A11A-AB5F-8301-DDC0-6E92EF244928}"/>
              </a:ext>
            </a:extLst>
          </p:cNvPr>
          <p:cNvSpPr>
            <a:spLocks noGrp="1"/>
          </p:cNvSpPr>
          <p:nvPr>
            <p:ph type="title"/>
          </p:nvPr>
        </p:nvSpPr>
        <p:spPr/>
        <p:txBody>
          <a:bodyPr/>
          <a:lstStyle/>
          <a:p>
            <a:r>
              <a:rPr lang="en-US" dirty="0"/>
              <a:t>Types of Budgets</a:t>
            </a:r>
          </a:p>
        </p:txBody>
      </p:sp>
      <p:sp>
        <p:nvSpPr>
          <p:cNvPr id="4" name="Slide Number Placeholder 3">
            <a:extLst>
              <a:ext uri="{FF2B5EF4-FFF2-40B4-BE49-F238E27FC236}">
                <a16:creationId xmlns:a16="http://schemas.microsoft.com/office/drawing/2014/main" id="{A46B3552-2C07-A321-0B3F-30B22C614F04}"/>
              </a:ext>
            </a:extLst>
          </p:cNvPr>
          <p:cNvSpPr>
            <a:spLocks noGrp="1"/>
          </p:cNvSpPr>
          <p:nvPr>
            <p:ph type="sldNum" sz="quarter" idx="12"/>
          </p:nvPr>
        </p:nvSpPr>
        <p:spPr/>
        <p:txBody>
          <a:bodyPr/>
          <a:lstStyle/>
          <a:p>
            <a:fld id="{9A3029B7-FE6B-4680-9049-80E8298A0825}" type="slidenum">
              <a:rPr lang="en-US" smtClean="0"/>
              <a:t>10</a:t>
            </a:fld>
            <a:endParaRPr lang="en-US"/>
          </a:p>
        </p:txBody>
      </p:sp>
    </p:spTree>
    <p:extLst>
      <p:ext uri="{BB962C8B-B14F-4D97-AF65-F5344CB8AC3E}">
        <p14:creationId xmlns:p14="http://schemas.microsoft.com/office/powerpoint/2010/main" val="25191433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07DFC-5C8B-6A27-24F7-44B249A758EF}"/>
              </a:ext>
            </a:extLst>
          </p:cNvPr>
          <p:cNvSpPr>
            <a:spLocks noGrp="1"/>
          </p:cNvSpPr>
          <p:nvPr>
            <p:ph type="title"/>
          </p:nvPr>
        </p:nvSpPr>
        <p:spPr/>
        <p:txBody>
          <a:bodyPr/>
          <a:lstStyle/>
          <a:p>
            <a:r>
              <a:rPr lang="en-US"/>
              <a:t>Types of Budgets</a:t>
            </a:r>
          </a:p>
        </p:txBody>
      </p:sp>
      <p:sp>
        <p:nvSpPr>
          <p:cNvPr id="3" name="Content Placeholder 2">
            <a:extLst>
              <a:ext uri="{FF2B5EF4-FFF2-40B4-BE49-F238E27FC236}">
                <a16:creationId xmlns:a16="http://schemas.microsoft.com/office/drawing/2014/main" id="{23A0A81C-2E45-EFC2-9E63-66B19402462B}"/>
              </a:ext>
            </a:extLst>
          </p:cNvPr>
          <p:cNvSpPr>
            <a:spLocks noGrp="1"/>
          </p:cNvSpPr>
          <p:nvPr>
            <p:ph idx="1"/>
          </p:nvPr>
        </p:nvSpPr>
        <p:spPr>
          <a:xfrm>
            <a:off x="175492" y="1011468"/>
            <a:ext cx="8793015" cy="5227553"/>
          </a:xfrm>
        </p:spPr>
        <p:txBody>
          <a:bodyPr>
            <a:normAutofit lnSpcReduction="10000"/>
          </a:bodyPr>
          <a:lstStyle/>
          <a:p>
            <a:pPr marL="0" indent="0">
              <a:buNone/>
            </a:pPr>
            <a:endParaRPr lang="en-US" dirty="0"/>
          </a:p>
          <a:p>
            <a:r>
              <a:rPr lang="en-US" dirty="0"/>
              <a:t>Power</a:t>
            </a:r>
          </a:p>
          <a:p>
            <a:r>
              <a:rPr lang="en-US" dirty="0"/>
              <a:t>Mass</a:t>
            </a:r>
          </a:p>
          <a:p>
            <a:r>
              <a:rPr lang="en-US" dirty="0"/>
              <a:t>Volumetric (configuration)</a:t>
            </a:r>
          </a:p>
          <a:p>
            <a:r>
              <a:rPr lang="en-US" dirty="0"/>
              <a:t>Propellant</a:t>
            </a:r>
          </a:p>
          <a:p>
            <a:r>
              <a:rPr lang="en-US" dirty="0"/>
              <a:t>Reliability</a:t>
            </a:r>
          </a:p>
          <a:p>
            <a:r>
              <a:rPr lang="en-US" dirty="0"/>
              <a:t>Pointing</a:t>
            </a:r>
          </a:p>
          <a:p>
            <a:r>
              <a:rPr lang="en-US" dirty="0"/>
              <a:t>Cost </a:t>
            </a:r>
          </a:p>
          <a:p>
            <a:r>
              <a:rPr lang="en-US" dirty="0"/>
              <a:t>Time (schedule)</a:t>
            </a:r>
          </a:p>
          <a:p>
            <a:r>
              <a:rPr lang="en-US" dirty="0"/>
              <a:t>Link budget (see comm lesson)</a:t>
            </a:r>
          </a:p>
          <a:p>
            <a:r>
              <a:rPr lang="en-US" dirty="0"/>
              <a:t>Others…</a:t>
            </a:r>
          </a:p>
        </p:txBody>
      </p:sp>
      <p:sp>
        <p:nvSpPr>
          <p:cNvPr id="4" name="Slide Number Placeholder 3">
            <a:extLst>
              <a:ext uri="{FF2B5EF4-FFF2-40B4-BE49-F238E27FC236}">
                <a16:creationId xmlns:a16="http://schemas.microsoft.com/office/drawing/2014/main" id="{651E4403-290B-0F80-2C53-F642BC86B905}"/>
              </a:ext>
            </a:extLst>
          </p:cNvPr>
          <p:cNvSpPr>
            <a:spLocks noGrp="1"/>
          </p:cNvSpPr>
          <p:nvPr>
            <p:ph type="sldNum" sz="quarter" idx="12"/>
          </p:nvPr>
        </p:nvSpPr>
        <p:spPr/>
        <p:txBody>
          <a:bodyPr/>
          <a:lstStyle/>
          <a:p>
            <a:fld id="{9A3029B7-FE6B-4680-9049-80E8298A0825}" type="slidenum">
              <a:rPr lang="en-US" smtClean="0"/>
              <a:t>11</a:t>
            </a:fld>
            <a:endParaRPr lang="en-US"/>
          </a:p>
        </p:txBody>
      </p:sp>
    </p:spTree>
    <p:extLst>
      <p:ext uri="{BB962C8B-B14F-4D97-AF65-F5344CB8AC3E}">
        <p14:creationId xmlns:p14="http://schemas.microsoft.com/office/powerpoint/2010/main" val="30300640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6" end="6"/>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97C098-4F95-2F0C-8985-D8CB256573E2}"/>
              </a:ext>
            </a:extLst>
          </p:cNvPr>
          <p:cNvSpPr>
            <a:spLocks noGrp="1"/>
          </p:cNvSpPr>
          <p:nvPr>
            <p:ph type="title"/>
          </p:nvPr>
        </p:nvSpPr>
        <p:spPr/>
        <p:txBody>
          <a:bodyPr/>
          <a:lstStyle/>
          <a:p>
            <a:r>
              <a:rPr lang="en-US" dirty="0"/>
              <a:t>Power Budget</a:t>
            </a:r>
          </a:p>
        </p:txBody>
      </p:sp>
      <p:sp>
        <p:nvSpPr>
          <p:cNvPr id="4" name="Slide Number Placeholder 3">
            <a:extLst>
              <a:ext uri="{FF2B5EF4-FFF2-40B4-BE49-F238E27FC236}">
                <a16:creationId xmlns:a16="http://schemas.microsoft.com/office/drawing/2014/main" id="{F51DEF6F-9786-90E6-3BD6-E9C02CF9BFD9}"/>
              </a:ext>
            </a:extLst>
          </p:cNvPr>
          <p:cNvSpPr>
            <a:spLocks noGrp="1"/>
          </p:cNvSpPr>
          <p:nvPr>
            <p:ph type="sldNum" sz="quarter" idx="12"/>
          </p:nvPr>
        </p:nvSpPr>
        <p:spPr/>
        <p:txBody>
          <a:bodyPr/>
          <a:lstStyle/>
          <a:p>
            <a:fld id="{9A3029B7-FE6B-4680-9049-80E8298A0825}" type="slidenum">
              <a:rPr lang="en-US" smtClean="0"/>
              <a:t>12</a:t>
            </a:fld>
            <a:endParaRPr lang="en-US"/>
          </a:p>
        </p:txBody>
      </p:sp>
      <p:pic>
        <p:nvPicPr>
          <p:cNvPr id="6" name="Picture 5">
            <a:extLst>
              <a:ext uri="{FF2B5EF4-FFF2-40B4-BE49-F238E27FC236}">
                <a16:creationId xmlns:a16="http://schemas.microsoft.com/office/drawing/2014/main" id="{A0058FCA-7B36-2A23-F088-83C1EE750E79}"/>
              </a:ext>
            </a:extLst>
          </p:cNvPr>
          <p:cNvPicPr>
            <a:picLocks noChangeAspect="1"/>
          </p:cNvPicPr>
          <p:nvPr/>
        </p:nvPicPr>
        <p:blipFill>
          <a:blip r:embed="rId2"/>
          <a:stretch>
            <a:fillRect/>
          </a:stretch>
        </p:blipFill>
        <p:spPr>
          <a:xfrm>
            <a:off x="464741" y="1765435"/>
            <a:ext cx="8214518" cy="4187134"/>
          </a:xfrm>
          <a:prstGeom prst="rect">
            <a:avLst/>
          </a:prstGeom>
        </p:spPr>
      </p:pic>
      <p:sp>
        <p:nvSpPr>
          <p:cNvPr id="7" name="TextBox 6">
            <a:extLst>
              <a:ext uri="{FF2B5EF4-FFF2-40B4-BE49-F238E27FC236}">
                <a16:creationId xmlns:a16="http://schemas.microsoft.com/office/drawing/2014/main" id="{E1D83408-43B8-4A58-30E4-63F2F73C4812}"/>
              </a:ext>
            </a:extLst>
          </p:cNvPr>
          <p:cNvSpPr txBox="1"/>
          <p:nvPr/>
        </p:nvSpPr>
        <p:spPr>
          <a:xfrm>
            <a:off x="7514729" y="1573417"/>
            <a:ext cx="880947" cy="369332"/>
          </a:xfrm>
          <a:prstGeom prst="rect">
            <a:avLst/>
          </a:prstGeom>
          <a:noFill/>
          <a:ln>
            <a:solidFill>
              <a:srgbClr val="FF0000"/>
            </a:solidFill>
          </a:ln>
        </p:spPr>
        <p:txBody>
          <a:bodyPr wrap="square" rtlCol="0">
            <a:spAutoFit/>
          </a:bodyPr>
          <a:lstStyle/>
          <a:p>
            <a:pPr algn="ctr"/>
            <a:r>
              <a:rPr lang="en-US" dirty="0">
                <a:solidFill>
                  <a:srgbClr val="FF0000"/>
                </a:solidFill>
              </a:rPr>
              <a:t>SMAD</a:t>
            </a:r>
          </a:p>
        </p:txBody>
      </p:sp>
    </p:spTree>
    <p:extLst>
      <p:ext uri="{BB962C8B-B14F-4D97-AF65-F5344CB8AC3E}">
        <p14:creationId xmlns:p14="http://schemas.microsoft.com/office/powerpoint/2010/main" val="20242143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C77261-E331-3262-7DDA-147C7ADAF3F2}"/>
              </a:ext>
            </a:extLst>
          </p:cNvPr>
          <p:cNvSpPr>
            <a:spLocks noGrp="1"/>
          </p:cNvSpPr>
          <p:nvPr>
            <p:ph type="title"/>
          </p:nvPr>
        </p:nvSpPr>
        <p:spPr/>
        <p:txBody>
          <a:bodyPr/>
          <a:lstStyle/>
          <a:p>
            <a:r>
              <a:rPr lang="en-US" dirty="0"/>
              <a:t>Power Budget (2)</a:t>
            </a:r>
          </a:p>
        </p:txBody>
      </p:sp>
      <p:sp>
        <p:nvSpPr>
          <p:cNvPr id="4" name="Slide Number Placeholder 3">
            <a:extLst>
              <a:ext uri="{FF2B5EF4-FFF2-40B4-BE49-F238E27FC236}">
                <a16:creationId xmlns:a16="http://schemas.microsoft.com/office/drawing/2014/main" id="{1BD5E710-0295-04B1-0755-13EDC118F200}"/>
              </a:ext>
            </a:extLst>
          </p:cNvPr>
          <p:cNvSpPr>
            <a:spLocks noGrp="1"/>
          </p:cNvSpPr>
          <p:nvPr>
            <p:ph type="sldNum" sz="quarter" idx="12"/>
          </p:nvPr>
        </p:nvSpPr>
        <p:spPr/>
        <p:txBody>
          <a:bodyPr/>
          <a:lstStyle/>
          <a:p>
            <a:fld id="{9A3029B7-FE6B-4680-9049-80E8298A0825}" type="slidenum">
              <a:rPr lang="en-US" smtClean="0"/>
              <a:t>13</a:t>
            </a:fld>
            <a:endParaRPr lang="en-US"/>
          </a:p>
        </p:txBody>
      </p:sp>
      <p:pic>
        <p:nvPicPr>
          <p:cNvPr id="6" name="Picture 5">
            <a:extLst>
              <a:ext uri="{FF2B5EF4-FFF2-40B4-BE49-F238E27FC236}">
                <a16:creationId xmlns:a16="http://schemas.microsoft.com/office/drawing/2014/main" id="{9B1C8009-FBDF-7AD2-5492-A5C394485EAA}"/>
              </a:ext>
            </a:extLst>
          </p:cNvPr>
          <p:cNvPicPr>
            <a:picLocks noChangeAspect="1"/>
          </p:cNvPicPr>
          <p:nvPr/>
        </p:nvPicPr>
        <p:blipFill>
          <a:blip r:embed="rId2"/>
          <a:stretch>
            <a:fillRect/>
          </a:stretch>
        </p:blipFill>
        <p:spPr>
          <a:xfrm>
            <a:off x="295507" y="1153022"/>
            <a:ext cx="8552985" cy="5494646"/>
          </a:xfrm>
          <a:prstGeom prst="rect">
            <a:avLst/>
          </a:prstGeom>
        </p:spPr>
      </p:pic>
      <p:sp>
        <p:nvSpPr>
          <p:cNvPr id="7" name="TextBox 6">
            <a:extLst>
              <a:ext uri="{FF2B5EF4-FFF2-40B4-BE49-F238E27FC236}">
                <a16:creationId xmlns:a16="http://schemas.microsoft.com/office/drawing/2014/main" id="{81EC7BC3-1031-EF8A-3320-F8417764CA0B}"/>
              </a:ext>
            </a:extLst>
          </p:cNvPr>
          <p:cNvSpPr txBox="1"/>
          <p:nvPr/>
        </p:nvSpPr>
        <p:spPr>
          <a:xfrm>
            <a:off x="7187989" y="1128204"/>
            <a:ext cx="880947" cy="369332"/>
          </a:xfrm>
          <a:prstGeom prst="rect">
            <a:avLst/>
          </a:prstGeom>
          <a:noFill/>
          <a:ln>
            <a:solidFill>
              <a:srgbClr val="FF0000"/>
            </a:solidFill>
          </a:ln>
        </p:spPr>
        <p:txBody>
          <a:bodyPr wrap="square" rtlCol="0">
            <a:spAutoFit/>
          </a:bodyPr>
          <a:lstStyle/>
          <a:p>
            <a:pPr algn="ctr"/>
            <a:r>
              <a:rPr lang="en-US" dirty="0">
                <a:solidFill>
                  <a:srgbClr val="FF0000"/>
                </a:solidFill>
              </a:rPr>
              <a:t>SMAD</a:t>
            </a:r>
          </a:p>
        </p:txBody>
      </p:sp>
    </p:spTree>
    <p:extLst>
      <p:ext uri="{BB962C8B-B14F-4D97-AF65-F5344CB8AC3E}">
        <p14:creationId xmlns:p14="http://schemas.microsoft.com/office/powerpoint/2010/main" val="42045415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5A1175-938C-DB66-C291-924DDF860350}"/>
              </a:ext>
            </a:extLst>
          </p:cNvPr>
          <p:cNvSpPr>
            <a:spLocks noGrp="1"/>
          </p:cNvSpPr>
          <p:nvPr>
            <p:ph type="title"/>
          </p:nvPr>
        </p:nvSpPr>
        <p:spPr/>
        <p:txBody>
          <a:bodyPr/>
          <a:lstStyle/>
          <a:p>
            <a:r>
              <a:rPr lang="en-US" dirty="0"/>
              <a:t>Mass Budget</a:t>
            </a:r>
          </a:p>
        </p:txBody>
      </p:sp>
      <p:sp>
        <p:nvSpPr>
          <p:cNvPr id="3" name="Content Placeholder 2">
            <a:extLst>
              <a:ext uri="{FF2B5EF4-FFF2-40B4-BE49-F238E27FC236}">
                <a16:creationId xmlns:a16="http://schemas.microsoft.com/office/drawing/2014/main" id="{2249FC56-6751-D78E-D923-DA6882559818}"/>
              </a:ext>
            </a:extLst>
          </p:cNvPr>
          <p:cNvSpPr>
            <a:spLocks noGrp="1"/>
          </p:cNvSpPr>
          <p:nvPr>
            <p:ph idx="1"/>
          </p:nvPr>
        </p:nvSpPr>
        <p:spPr>
          <a:xfrm>
            <a:off x="200026" y="1002506"/>
            <a:ext cx="8553640" cy="5227553"/>
          </a:xfrm>
        </p:spPr>
        <p:txBody>
          <a:bodyPr>
            <a:normAutofit/>
          </a:bodyPr>
          <a:lstStyle/>
          <a:p>
            <a:pPr marL="0" indent="0">
              <a:buNone/>
            </a:pPr>
            <a:r>
              <a:rPr lang="en-US" sz="1600" b="1" dirty="0"/>
              <a:t>Running total of spacecraft dry mass + propellant mass + margins.</a:t>
            </a:r>
          </a:p>
          <a:p>
            <a:r>
              <a:rPr lang="en-US" sz="1600" dirty="0"/>
              <a:t>Dictated by launch vehicle mass-to-orbit capability.</a:t>
            </a:r>
          </a:p>
          <a:p>
            <a:r>
              <a:rPr lang="en-US" sz="1600" dirty="0"/>
              <a:t>Mass budget is allocated to subsystems (payload, EPS, ADCS, thermal, C&amp;DH, structures).</a:t>
            </a:r>
          </a:p>
          <a:p>
            <a:r>
              <a:rPr lang="en-US" sz="1600" dirty="0"/>
              <a:t>Margins</a:t>
            </a:r>
          </a:p>
          <a:p>
            <a:pPr lvl="1"/>
            <a:r>
              <a:rPr lang="en-US" sz="1600" dirty="0"/>
              <a:t>Each subsystem typically carries </a:t>
            </a:r>
            <a:r>
              <a:rPr lang="en-US" sz="1600" b="1" dirty="0"/>
              <a:t>5–25% margin</a:t>
            </a:r>
            <a:r>
              <a:rPr lang="en-US" sz="1600" dirty="0"/>
              <a:t> to cover growth.</a:t>
            </a:r>
          </a:p>
          <a:p>
            <a:pPr lvl="2"/>
            <a:r>
              <a:rPr lang="en-US" sz="1600" dirty="0"/>
              <a:t>Bigger margin assigned for new/untested equipment </a:t>
            </a:r>
          </a:p>
          <a:p>
            <a:pPr lvl="1"/>
            <a:r>
              <a:rPr lang="en-US" sz="1600" dirty="0"/>
              <a:t>A small </a:t>
            </a:r>
            <a:r>
              <a:rPr lang="en-US" sz="1600" b="1" dirty="0"/>
              <a:t>system-level margin</a:t>
            </a:r>
            <a:r>
              <a:rPr lang="en-US" sz="1600" dirty="0"/>
              <a:t> is sometimes added on top.</a:t>
            </a:r>
          </a:p>
          <a:p>
            <a:r>
              <a:rPr lang="en-US" sz="1600" dirty="0"/>
              <a:t>Dry (no prop) vs. Wet mass (launch weight)</a:t>
            </a:r>
          </a:p>
          <a:p>
            <a:r>
              <a:rPr lang="en-US" sz="1600" dirty="0"/>
              <a:t>Payload is typically 15-50% of dry mass</a:t>
            </a:r>
          </a:p>
          <a:p>
            <a:endParaRPr lang="en-US" sz="1600" dirty="0"/>
          </a:p>
        </p:txBody>
      </p:sp>
      <p:sp>
        <p:nvSpPr>
          <p:cNvPr id="4" name="Slide Number Placeholder 3">
            <a:extLst>
              <a:ext uri="{FF2B5EF4-FFF2-40B4-BE49-F238E27FC236}">
                <a16:creationId xmlns:a16="http://schemas.microsoft.com/office/drawing/2014/main" id="{913997D0-F5B4-472A-B5E1-AB13F24B8F93}"/>
              </a:ext>
            </a:extLst>
          </p:cNvPr>
          <p:cNvSpPr>
            <a:spLocks noGrp="1"/>
          </p:cNvSpPr>
          <p:nvPr>
            <p:ph type="sldNum" sz="quarter" idx="12"/>
          </p:nvPr>
        </p:nvSpPr>
        <p:spPr/>
        <p:txBody>
          <a:bodyPr/>
          <a:lstStyle/>
          <a:p>
            <a:fld id="{9A3029B7-FE6B-4680-9049-80E8298A0825}" type="slidenum">
              <a:rPr lang="en-US" smtClean="0"/>
              <a:t>14</a:t>
            </a:fld>
            <a:endParaRPr lang="en-US"/>
          </a:p>
        </p:txBody>
      </p:sp>
      <p:pic>
        <p:nvPicPr>
          <p:cNvPr id="8" name="Picture 7">
            <a:extLst>
              <a:ext uri="{FF2B5EF4-FFF2-40B4-BE49-F238E27FC236}">
                <a16:creationId xmlns:a16="http://schemas.microsoft.com/office/drawing/2014/main" id="{A6DC33A7-83EB-BE68-6C92-D761C2E1E6DF}"/>
              </a:ext>
            </a:extLst>
          </p:cNvPr>
          <p:cNvPicPr>
            <a:picLocks noChangeAspect="1"/>
          </p:cNvPicPr>
          <p:nvPr/>
        </p:nvPicPr>
        <p:blipFill>
          <a:blip r:embed="rId2"/>
          <a:stretch>
            <a:fillRect/>
          </a:stretch>
        </p:blipFill>
        <p:spPr>
          <a:xfrm>
            <a:off x="2438400" y="3936862"/>
            <a:ext cx="4267200" cy="2893369"/>
          </a:xfrm>
          <a:prstGeom prst="rect">
            <a:avLst/>
          </a:prstGeom>
        </p:spPr>
      </p:pic>
    </p:spTree>
    <p:extLst>
      <p:ext uri="{BB962C8B-B14F-4D97-AF65-F5344CB8AC3E}">
        <p14:creationId xmlns:p14="http://schemas.microsoft.com/office/powerpoint/2010/main" val="3458006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9CC04-3C0F-2A35-30F4-A78BF35CFAA8}"/>
              </a:ext>
            </a:extLst>
          </p:cNvPr>
          <p:cNvSpPr>
            <a:spLocks noGrp="1"/>
          </p:cNvSpPr>
          <p:nvPr>
            <p:ph type="title"/>
          </p:nvPr>
        </p:nvSpPr>
        <p:spPr/>
        <p:txBody>
          <a:bodyPr/>
          <a:lstStyle/>
          <a:p>
            <a:r>
              <a:rPr lang="en-US" dirty="0"/>
              <a:t>Mass Budget (2)</a:t>
            </a:r>
          </a:p>
        </p:txBody>
      </p:sp>
      <p:sp>
        <p:nvSpPr>
          <p:cNvPr id="4" name="Slide Number Placeholder 3">
            <a:extLst>
              <a:ext uri="{FF2B5EF4-FFF2-40B4-BE49-F238E27FC236}">
                <a16:creationId xmlns:a16="http://schemas.microsoft.com/office/drawing/2014/main" id="{6C165B15-7CCE-6349-5DA1-0A277AB0D0B6}"/>
              </a:ext>
            </a:extLst>
          </p:cNvPr>
          <p:cNvSpPr>
            <a:spLocks noGrp="1"/>
          </p:cNvSpPr>
          <p:nvPr>
            <p:ph type="sldNum" sz="quarter" idx="12"/>
          </p:nvPr>
        </p:nvSpPr>
        <p:spPr/>
        <p:txBody>
          <a:bodyPr/>
          <a:lstStyle/>
          <a:p>
            <a:fld id="{9A3029B7-FE6B-4680-9049-80E8298A0825}" type="slidenum">
              <a:rPr lang="en-US" smtClean="0"/>
              <a:t>15</a:t>
            </a:fld>
            <a:endParaRPr lang="en-US"/>
          </a:p>
        </p:txBody>
      </p:sp>
      <p:pic>
        <p:nvPicPr>
          <p:cNvPr id="7" name="Picture 6">
            <a:extLst>
              <a:ext uri="{FF2B5EF4-FFF2-40B4-BE49-F238E27FC236}">
                <a16:creationId xmlns:a16="http://schemas.microsoft.com/office/drawing/2014/main" id="{176E5048-E19E-7512-ED01-44E3EA4AC39D}"/>
              </a:ext>
            </a:extLst>
          </p:cNvPr>
          <p:cNvPicPr>
            <a:picLocks noChangeAspect="1"/>
          </p:cNvPicPr>
          <p:nvPr/>
        </p:nvPicPr>
        <p:blipFill>
          <a:blip r:embed="rId2"/>
          <a:stretch>
            <a:fillRect/>
          </a:stretch>
        </p:blipFill>
        <p:spPr>
          <a:xfrm>
            <a:off x="49065" y="965114"/>
            <a:ext cx="6465590" cy="4573541"/>
          </a:xfrm>
          <a:prstGeom prst="rect">
            <a:avLst/>
          </a:prstGeom>
        </p:spPr>
      </p:pic>
      <p:sp>
        <p:nvSpPr>
          <p:cNvPr id="8" name="TextBox 7">
            <a:extLst>
              <a:ext uri="{FF2B5EF4-FFF2-40B4-BE49-F238E27FC236}">
                <a16:creationId xmlns:a16="http://schemas.microsoft.com/office/drawing/2014/main" id="{0567A693-D234-B943-E376-199390439CDE}"/>
              </a:ext>
            </a:extLst>
          </p:cNvPr>
          <p:cNvSpPr txBox="1"/>
          <p:nvPr/>
        </p:nvSpPr>
        <p:spPr>
          <a:xfrm>
            <a:off x="426492" y="5571112"/>
            <a:ext cx="880947" cy="369332"/>
          </a:xfrm>
          <a:prstGeom prst="rect">
            <a:avLst/>
          </a:prstGeom>
          <a:noFill/>
          <a:ln>
            <a:solidFill>
              <a:srgbClr val="FF0000"/>
            </a:solidFill>
          </a:ln>
        </p:spPr>
        <p:txBody>
          <a:bodyPr wrap="square" rtlCol="0">
            <a:spAutoFit/>
          </a:bodyPr>
          <a:lstStyle/>
          <a:p>
            <a:pPr algn="ctr"/>
            <a:r>
              <a:rPr lang="en-US" dirty="0">
                <a:solidFill>
                  <a:srgbClr val="FF0000"/>
                </a:solidFill>
              </a:rPr>
              <a:t>SMAD</a:t>
            </a:r>
          </a:p>
        </p:txBody>
      </p:sp>
      <p:pic>
        <p:nvPicPr>
          <p:cNvPr id="10" name="Picture 9">
            <a:extLst>
              <a:ext uri="{FF2B5EF4-FFF2-40B4-BE49-F238E27FC236}">
                <a16:creationId xmlns:a16="http://schemas.microsoft.com/office/drawing/2014/main" id="{0B4FDF2A-B89A-09B2-5EEF-1E2B8DDCE621}"/>
              </a:ext>
            </a:extLst>
          </p:cNvPr>
          <p:cNvPicPr>
            <a:picLocks noChangeAspect="1"/>
          </p:cNvPicPr>
          <p:nvPr/>
        </p:nvPicPr>
        <p:blipFill>
          <a:blip r:embed="rId3"/>
          <a:stretch>
            <a:fillRect/>
          </a:stretch>
        </p:blipFill>
        <p:spPr>
          <a:xfrm>
            <a:off x="6291876" y="3958682"/>
            <a:ext cx="2852124" cy="2766131"/>
          </a:xfrm>
          <a:prstGeom prst="rect">
            <a:avLst/>
          </a:prstGeom>
        </p:spPr>
      </p:pic>
      <p:sp>
        <p:nvSpPr>
          <p:cNvPr id="11" name="TextBox 10">
            <a:extLst>
              <a:ext uri="{FF2B5EF4-FFF2-40B4-BE49-F238E27FC236}">
                <a16:creationId xmlns:a16="http://schemas.microsoft.com/office/drawing/2014/main" id="{E0E408D7-CA46-FF8E-023C-8179F2DF3D44}"/>
              </a:ext>
            </a:extLst>
          </p:cNvPr>
          <p:cNvSpPr txBox="1"/>
          <p:nvPr/>
        </p:nvSpPr>
        <p:spPr>
          <a:xfrm>
            <a:off x="7277464" y="3443438"/>
            <a:ext cx="880947" cy="369332"/>
          </a:xfrm>
          <a:prstGeom prst="rect">
            <a:avLst/>
          </a:prstGeom>
          <a:noFill/>
          <a:ln>
            <a:solidFill>
              <a:srgbClr val="FF0000"/>
            </a:solidFill>
          </a:ln>
        </p:spPr>
        <p:txBody>
          <a:bodyPr wrap="square" rtlCol="0">
            <a:spAutoFit/>
          </a:bodyPr>
          <a:lstStyle/>
          <a:p>
            <a:pPr algn="ctr"/>
            <a:r>
              <a:rPr lang="en-US" dirty="0">
                <a:solidFill>
                  <a:srgbClr val="FF0000"/>
                </a:solidFill>
              </a:rPr>
              <a:t>Dahlke</a:t>
            </a:r>
          </a:p>
        </p:txBody>
      </p:sp>
    </p:spTree>
    <p:extLst>
      <p:ext uri="{BB962C8B-B14F-4D97-AF65-F5344CB8AC3E}">
        <p14:creationId xmlns:p14="http://schemas.microsoft.com/office/powerpoint/2010/main" val="2011835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8C832F-B155-21E2-9BAC-1AF5C9BE2FD8}"/>
              </a:ext>
            </a:extLst>
          </p:cNvPr>
          <p:cNvSpPr>
            <a:spLocks noGrp="1"/>
          </p:cNvSpPr>
          <p:nvPr>
            <p:ph type="title"/>
          </p:nvPr>
        </p:nvSpPr>
        <p:spPr/>
        <p:txBody>
          <a:bodyPr/>
          <a:lstStyle/>
          <a:p>
            <a:r>
              <a:rPr lang="en-US" dirty="0">
                <a:solidFill>
                  <a:srgbClr val="00B0F0"/>
                </a:solidFill>
              </a:rPr>
              <a:t>Mass Budget (example)</a:t>
            </a: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2F847433-905D-0FEE-33D8-3C03F47DE392}"/>
                  </a:ext>
                </a:extLst>
              </p:cNvPr>
              <p:cNvSpPr>
                <a:spLocks noGrp="1"/>
              </p:cNvSpPr>
              <p:nvPr>
                <p:ph idx="1"/>
              </p:nvPr>
            </p:nvSpPr>
            <p:spPr>
              <a:xfrm>
                <a:off x="200025" y="1002506"/>
                <a:ext cx="8793015" cy="5722308"/>
              </a:xfrm>
            </p:spPr>
            <p:txBody>
              <a:bodyPr>
                <a:normAutofit fontScale="92500" lnSpcReduction="10000"/>
              </a:bodyPr>
              <a:lstStyle/>
              <a:p>
                <a:pPr marL="0" indent="0">
                  <a:buNone/>
                </a:pPr>
                <a:r>
                  <a:rPr lang="en-US" sz="1900" dirty="0">
                    <a:solidFill>
                      <a:srgbClr val="00B0F0"/>
                    </a:solidFill>
                  </a:rPr>
                  <a:t>Given </a:t>
                </a:r>
                <a14:m>
                  <m:oMath xmlns:m="http://schemas.openxmlformats.org/officeDocument/2006/math">
                    <m:sSub>
                      <m:sSubPr>
                        <m:ctrlPr>
                          <a:rPr lang="en-US" sz="1900" b="0" i="1" smtClean="0">
                            <a:solidFill>
                              <a:srgbClr val="00B0F0"/>
                            </a:solidFill>
                            <a:latin typeface="Cambria Math" panose="02040503050406030204" pitchFamily="18" charset="0"/>
                          </a:rPr>
                        </m:ctrlPr>
                      </m:sSubPr>
                      <m:e>
                        <m:r>
                          <a:rPr lang="en-US" sz="1900" b="0" i="1" smtClean="0">
                            <a:solidFill>
                              <a:srgbClr val="00B0F0"/>
                            </a:solidFill>
                            <a:latin typeface="Cambria Math" panose="02040503050406030204" pitchFamily="18" charset="0"/>
                          </a:rPr>
                          <m:t>𝑀</m:t>
                        </m:r>
                      </m:e>
                      <m:sub>
                        <m:r>
                          <a:rPr lang="en-US" sz="1900" b="0" i="1" smtClean="0">
                            <a:solidFill>
                              <a:srgbClr val="00B0F0"/>
                            </a:solidFill>
                            <a:latin typeface="Cambria Math" panose="02040503050406030204" pitchFamily="18" charset="0"/>
                          </a:rPr>
                          <m:t>𝑝𝑎𝑦𝑙𝑜𝑎𝑑</m:t>
                        </m:r>
                      </m:sub>
                    </m:sSub>
                    <m:r>
                      <a:rPr lang="en-US" sz="1900" b="0" i="1" smtClean="0">
                        <a:solidFill>
                          <a:srgbClr val="00B0F0"/>
                        </a:solidFill>
                        <a:latin typeface="Cambria Math" panose="02040503050406030204" pitchFamily="18" charset="0"/>
                      </a:rPr>
                      <m:t>=</m:t>
                    </m:r>
                    <m:r>
                      <a:rPr lang="en-US" sz="1900" b="0" i="1" smtClean="0">
                        <a:solidFill>
                          <a:srgbClr val="00B0F0"/>
                        </a:solidFill>
                        <a:latin typeface="Cambria Math" panose="02040503050406030204" pitchFamily="18" charset="0"/>
                      </a:rPr>
                      <m:t>250</m:t>
                    </m:r>
                    <m:r>
                      <a:rPr lang="en-US" sz="1900" b="0" i="1" smtClean="0">
                        <a:solidFill>
                          <a:srgbClr val="00B0F0"/>
                        </a:solidFill>
                        <a:latin typeface="Cambria Math" panose="02040503050406030204" pitchFamily="18" charset="0"/>
                      </a:rPr>
                      <m:t> </m:t>
                    </m:r>
                    <m:r>
                      <a:rPr lang="en-US" sz="1900" b="0" i="1" smtClean="0">
                        <a:solidFill>
                          <a:srgbClr val="00B0F0"/>
                        </a:solidFill>
                        <a:latin typeface="Cambria Math" panose="02040503050406030204" pitchFamily="18" charset="0"/>
                      </a:rPr>
                      <m:t>𝑘𝑔</m:t>
                    </m:r>
                  </m:oMath>
                </a14:m>
                <a:r>
                  <a:rPr lang="en-US" sz="1900" dirty="0">
                    <a:solidFill>
                      <a:srgbClr val="00B0F0"/>
                    </a:solidFill>
                  </a:rPr>
                  <a:t>, provide a ROM of the mass for the s/c and each subsystem. </a:t>
                </a:r>
              </a:p>
              <a:p>
                <a:pPr marL="0" indent="0">
                  <a:buNone/>
                </a:pPr>
                <a:r>
                  <a:rPr lang="en-US" sz="1900" dirty="0">
                    <a:solidFill>
                      <a:srgbClr val="00B0F0"/>
                    </a:solidFill>
                  </a:rPr>
                  <a:t>Assume 25% mass margin for all subsystems. </a:t>
                </a:r>
              </a:p>
              <a:p>
                <a:pPr marL="0" indent="0">
                  <a:buNone/>
                </a:pPr>
                <a:endParaRPr lang="en-US" sz="2000" dirty="0">
                  <a:solidFill>
                    <a:srgbClr val="00B0F0"/>
                  </a:solidFill>
                </a:endParaRPr>
              </a:p>
              <a:p>
                <a:pPr marL="0" indent="0">
                  <a:buNone/>
                </a:pPr>
                <a14:m>
                  <m:oMathPara xmlns:m="http://schemas.openxmlformats.org/officeDocument/2006/math">
                    <m:oMathParaPr>
                      <m:jc m:val="left"/>
                    </m:oMathParaPr>
                    <m:oMath xmlns:m="http://schemas.openxmlformats.org/officeDocument/2006/math">
                      <m:sSub>
                        <m:sSubPr>
                          <m:ctrlPr>
                            <a:rPr lang="en-US" sz="2000" b="0" i="1" smtClean="0">
                              <a:solidFill>
                                <a:srgbClr val="00B0F0"/>
                              </a:solidFill>
                              <a:latin typeface="Cambria Math" panose="02040503050406030204" pitchFamily="18" charset="0"/>
                            </a:rPr>
                          </m:ctrlPr>
                        </m:sSubPr>
                        <m:e>
                          <m:r>
                            <a:rPr lang="en-US" sz="2000" b="0" i="1" smtClean="0">
                              <a:solidFill>
                                <a:srgbClr val="00B0F0"/>
                              </a:solidFill>
                              <a:latin typeface="Cambria Math" panose="02040503050406030204" pitchFamily="18" charset="0"/>
                            </a:rPr>
                            <m:t>𝑀</m:t>
                          </m:r>
                        </m:e>
                        <m:sub>
                          <m:r>
                            <a:rPr lang="en-US" sz="2000" b="0" i="1" smtClean="0">
                              <a:solidFill>
                                <a:srgbClr val="00B0F0"/>
                              </a:solidFill>
                              <a:latin typeface="Cambria Math" panose="02040503050406030204" pitchFamily="18" charset="0"/>
                            </a:rPr>
                            <m:t>𝑠</m:t>
                          </m:r>
                          <m:r>
                            <a:rPr lang="en-US" sz="2000" b="0" i="1" smtClean="0">
                              <a:solidFill>
                                <a:srgbClr val="00B0F0"/>
                              </a:solidFill>
                              <a:latin typeface="Cambria Math" panose="02040503050406030204" pitchFamily="18" charset="0"/>
                            </a:rPr>
                            <m:t>/</m:t>
                          </m:r>
                          <m:sSub>
                            <m:sSubPr>
                              <m:ctrlPr>
                                <a:rPr lang="en-US" sz="2000" b="0" i="1" smtClean="0">
                                  <a:solidFill>
                                    <a:srgbClr val="00B0F0"/>
                                  </a:solidFill>
                                  <a:latin typeface="Cambria Math" panose="02040503050406030204" pitchFamily="18" charset="0"/>
                                </a:rPr>
                              </m:ctrlPr>
                            </m:sSubPr>
                            <m:e>
                              <m:r>
                                <a:rPr lang="en-US" sz="2000" b="0" i="1" smtClean="0">
                                  <a:solidFill>
                                    <a:srgbClr val="00B0F0"/>
                                  </a:solidFill>
                                  <a:latin typeface="Cambria Math" panose="02040503050406030204" pitchFamily="18" charset="0"/>
                                </a:rPr>
                                <m:t>𝑐</m:t>
                              </m:r>
                            </m:e>
                            <m:sub>
                              <m:r>
                                <a:rPr lang="en-US" sz="2000" b="0" i="1" smtClean="0">
                                  <a:solidFill>
                                    <a:srgbClr val="00B0F0"/>
                                  </a:solidFill>
                                  <a:latin typeface="Cambria Math" panose="02040503050406030204" pitchFamily="18" charset="0"/>
                                </a:rPr>
                                <m:t>𝑑𝑟𝑦</m:t>
                              </m:r>
                              <m:r>
                                <a:rPr lang="en-US" sz="2000" b="0" i="1" smtClean="0">
                                  <a:solidFill>
                                    <a:srgbClr val="00B0F0"/>
                                  </a:solidFill>
                                  <a:latin typeface="Cambria Math" panose="02040503050406030204" pitchFamily="18" charset="0"/>
                                </a:rPr>
                                <m:t>,   </m:t>
                              </m:r>
                              <m:r>
                                <a:rPr lang="en-US" sz="2000" b="0" i="1" smtClean="0">
                                  <a:solidFill>
                                    <a:srgbClr val="00B0F0"/>
                                  </a:solidFill>
                                  <a:latin typeface="Cambria Math" panose="02040503050406030204" pitchFamily="18" charset="0"/>
                                </a:rPr>
                                <m:t>𝑛𝑜</m:t>
                              </m:r>
                              <m:r>
                                <a:rPr lang="en-US" sz="2000" b="0" i="1" smtClean="0">
                                  <a:solidFill>
                                    <a:srgbClr val="00B0F0"/>
                                  </a:solidFill>
                                  <a:latin typeface="Cambria Math" panose="02040503050406030204" pitchFamily="18" charset="0"/>
                                </a:rPr>
                                <m:t> </m:t>
                              </m:r>
                              <m:r>
                                <a:rPr lang="en-US" sz="2000" b="0" i="1" smtClean="0">
                                  <a:solidFill>
                                    <a:srgbClr val="00B0F0"/>
                                  </a:solidFill>
                                  <a:latin typeface="Cambria Math" panose="02040503050406030204" pitchFamily="18" charset="0"/>
                                </a:rPr>
                                <m:t>𝑚𝑎𝑟𝑔𝑖𝑛</m:t>
                              </m:r>
                            </m:sub>
                          </m:sSub>
                        </m:sub>
                      </m:sSub>
                      <m:r>
                        <a:rPr lang="en-US" sz="2000" b="0" i="1" smtClean="0">
                          <a:solidFill>
                            <a:srgbClr val="00B0F0"/>
                          </a:solidFill>
                          <a:latin typeface="Cambria Math" panose="02040503050406030204" pitchFamily="18" charset="0"/>
                        </a:rPr>
                        <m:t>=</m:t>
                      </m:r>
                      <m:f>
                        <m:fPr>
                          <m:ctrlPr>
                            <a:rPr lang="en-US" sz="2000" b="0" i="1" smtClean="0">
                              <a:solidFill>
                                <a:srgbClr val="00B0F0"/>
                              </a:solidFill>
                              <a:latin typeface="Cambria Math" panose="02040503050406030204" pitchFamily="18" charset="0"/>
                            </a:rPr>
                          </m:ctrlPr>
                        </m:fPr>
                        <m:num>
                          <m:sSub>
                            <m:sSubPr>
                              <m:ctrlPr>
                                <a:rPr lang="en-US" sz="2000" b="0" i="1" smtClean="0">
                                  <a:solidFill>
                                    <a:srgbClr val="00B0F0"/>
                                  </a:solidFill>
                                  <a:latin typeface="Cambria Math" panose="02040503050406030204" pitchFamily="18" charset="0"/>
                                </a:rPr>
                              </m:ctrlPr>
                            </m:sSubPr>
                            <m:e>
                              <m:r>
                                <a:rPr lang="en-US" sz="2000" b="0" i="1" smtClean="0">
                                  <a:solidFill>
                                    <a:srgbClr val="00B0F0"/>
                                  </a:solidFill>
                                  <a:latin typeface="Cambria Math" panose="02040503050406030204" pitchFamily="18" charset="0"/>
                                </a:rPr>
                                <m:t>𝑀</m:t>
                              </m:r>
                            </m:e>
                            <m:sub>
                              <m:r>
                                <a:rPr lang="en-US" sz="2000" b="0" i="1" smtClean="0">
                                  <a:solidFill>
                                    <a:srgbClr val="00B0F0"/>
                                  </a:solidFill>
                                  <a:latin typeface="Cambria Math" panose="02040503050406030204" pitchFamily="18" charset="0"/>
                                </a:rPr>
                                <m:t>𝑝𝑎𝑦𝑙𝑜𝑎𝑑</m:t>
                              </m:r>
                            </m:sub>
                          </m:sSub>
                        </m:num>
                        <m:den>
                          <m:r>
                            <a:rPr lang="en-US" sz="2000" b="0" i="1" smtClean="0">
                              <a:solidFill>
                                <a:srgbClr val="00B0F0"/>
                              </a:solidFill>
                              <a:latin typeface="Cambria Math" panose="02040503050406030204" pitchFamily="18" charset="0"/>
                            </a:rPr>
                            <m:t>𝑀𝑎𝑠𝑠𝐹𝑟𝑎</m:t>
                          </m:r>
                          <m:sSub>
                            <m:sSubPr>
                              <m:ctrlPr>
                                <a:rPr lang="en-US" sz="2000" b="0" i="1" smtClean="0">
                                  <a:solidFill>
                                    <a:srgbClr val="00B0F0"/>
                                  </a:solidFill>
                                  <a:latin typeface="Cambria Math" panose="02040503050406030204" pitchFamily="18" charset="0"/>
                                </a:rPr>
                              </m:ctrlPr>
                            </m:sSubPr>
                            <m:e>
                              <m:r>
                                <a:rPr lang="en-US" sz="2000" b="0" i="1" smtClean="0">
                                  <a:solidFill>
                                    <a:srgbClr val="00B0F0"/>
                                  </a:solidFill>
                                  <a:latin typeface="Cambria Math" panose="02040503050406030204" pitchFamily="18" charset="0"/>
                                </a:rPr>
                                <m:t>𝑐</m:t>
                              </m:r>
                            </m:e>
                            <m:sub>
                              <m:r>
                                <a:rPr lang="en-US" sz="2000" b="0" i="1" smtClean="0">
                                  <a:solidFill>
                                    <a:srgbClr val="00B0F0"/>
                                  </a:solidFill>
                                  <a:latin typeface="Cambria Math" panose="02040503050406030204" pitchFamily="18" charset="0"/>
                                </a:rPr>
                                <m:t>𝑝𝑎𝑦𝑙𝑜𝑎𝑑</m:t>
                              </m:r>
                            </m:sub>
                          </m:sSub>
                        </m:den>
                      </m:f>
                      <m:r>
                        <a:rPr lang="en-US" sz="2000" b="0" i="1" smtClean="0">
                          <a:solidFill>
                            <a:srgbClr val="00B0F0"/>
                          </a:solidFill>
                          <a:latin typeface="Cambria Math" panose="02040503050406030204" pitchFamily="18" charset="0"/>
                        </a:rPr>
                        <m:t>=</m:t>
                      </m:r>
                      <m:f>
                        <m:fPr>
                          <m:ctrlPr>
                            <a:rPr lang="en-US" sz="2000" b="0" i="1" smtClean="0">
                              <a:solidFill>
                                <a:srgbClr val="00B0F0"/>
                              </a:solidFill>
                              <a:latin typeface="Cambria Math" panose="02040503050406030204" pitchFamily="18" charset="0"/>
                            </a:rPr>
                          </m:ctrlPr>
                        </m:fPr>
                        <m:num>
                          <m:r>
                            <a:rPr lang="en-US" sz="2000" b="0" i="1" smtClean="0">
                              <a:solidFill>
                                <a:srgbClr val="00B0F0"/>
                              </a:solidFill>
                              <a:latin typeface="Cambria Math" panose="02040503050406030204" pitchFamily="18" charset="0"/>
                            </a:rPr>
                            <m:t>250</m:t>
                          </m:r>
                          <m:r>
                            <a:rPr lang="en-US" sz="2000" b="0" i="1" smtClean="0">
                              <a:solidFill>
                                <a:srgbClr val="00B0F0"/>
                              </a:solidFill>
                              <a:latin typeface="Cambria Math" panose="02040503050406030204" pitchFamily="18" charset="0"/>
                            </a:rPr>
                            <m:t>𝑘𝑔</m:t>
                          </m:r>
                        </m:num>
                        <m:den>
                          <m:r>
                            <a:rPr lang="en-US" sz="2000" b="0" i="1" smtClean="0">
                              <a:solidFill>
                                <a:srgbClr val="00B0F0"/>
                              </a:solidFill>
                              <a:latin typeface="Cambria Math" panose="02040503050406030204" pitchFamily="18" charset="0"/>
                            </a:rPr>
                            <m:t>0</m:t>
                          </m:r>
                          <m:r>
                            <a:rPr lang="en-US" sz="2000" b="0" i="1" smtClean="0">
                              <a:solidFill>
                                <a:srgbClr val="00B0F0"/>
                              </a:solidFill>
                              <a:latin typeface="Cambria Math" panose="02040503050406030204" pitchFamily="18" charset="0"/>
                            </a:rPr>
                            <m:t>.</m:t>
                          </m:r>
                          <m:r>
                            <a:rPr lang="en-US" sz="2000" b="0" i="1" smtClean="0">
                              <a:solidFill>
                                <a:srgbClr val="00B0F0"/>
                              </a:solidFill>
                              <a:latin typeface="Cambria Math" panose="02040503050406030204" pitchFamily="18" charset="0"/>
                            </a:rPr>
                            <m:t>25</m:t>
                          </m:r>
                        </m:den>
                      </m:f>
                      <m:r>
                        <a:rPr lang="en-US" sz="2000" b="0" i="1" smtClean="0">
                          <a:solidFill>
                            <a:srgbClr val="00B0F0"/>
                          </a:solidFill>
                          <a:latin typeface="Cambria Math" panose="02040503050406030204" pitchFamily="18" charset="0"/>
                        </a:rPr>
                        <m:t>=</m:t>
                      </m:r>
                      <m:r>
                        <a:rPr lang="en-US" sz="2000" b="0" i="1" smtClean="0">
                          <a:solidFill>
                            <a:srgbClr val="00B0F0"/>
                          </a:solidFill>
                          <a:latin typeface="Cambria Math" panose="02040503050406030204" pitchFamily="18" charset="0"/>
                        </a:rPr>
                        <m:t>1000</m:t>
                      </m:r>
                      <m:r>
                        <a:rPr lang="en-US" sz="2000" b="0" i="1" smtClean="0">
                          <a:solidFill>
                            <a:srgbClr val="00B0F0"/>
                          </a:solidFill>
                          <a:latin typeface="Cambria Math" panose="02040503050406030204" pitchFamily="18" charset="0"/>
                        </a:rPr>
                        <m:t>𝑘𝑔</m:t>
                      </m:r>
                    </m:oMath>
                  </m:oMathPara>
                </a14:m>
                <a:endParaRPr lang="en-US" sz="2000" b="0" dirty="0">
                  <a:solidFill>
                    <a:srgbClr val="00B0F0"/>
                  </a:solidFill>
                </a:endParaRPr>
              </a:p>
              <a:p>
                <a:pPr marL="0" indent="0">
                  <a:buNone/>
                </a:pPr>
                <a:endParaRPr lang="en-US" sz="2000" b="0" dirty="0">
                  <a:solidFill>
                    <a:srgbClr val="00B0F0"/>
                  </a:solidFill>
                </a:endParaRPr>
              </a:p>
              <a:p>
                <a:pPr marL="0" indent="0">
                  <a:buNone/>
                </a:pPr>
                <a14:m>
                  <m:oMathPara xmlns:m="http://schemas.openxmlformats.org/officeDocument/2006/math">
                    <m:oMathParaPr>
                      <m:jc m:val="left"/>
                    </m:oMathParaPr>
                    <m:oMath xmlns:m="http://schemas.openxmlformats.org/officeDocument/2006/math">
                      <m:sSub>
                        <m:sSubPr>
                          <m:ctrlPr>
                            <a:rPr lang="en-US" sz="2000" i="1">
                              <a:solidFill>
                                <a:srgbClr val="00B0F0"/>
                              </a:solidFill>
                              <a:latin typeface="Cambria Math" panose="02040503050406030204" pitchFamily="18" charset="0"/>
                            </a:rPr>
                          </m:ctrlPr>
                        </m:sSubPr>
                        <m:e>
                          <m:r>
                            <a:rPr lang="en-US" sz="2000" i="1">
                              <a:solidFill>
                                <a:srgbClr val="00B0F0"/>
                              </a:solidFill>
                              <a:latin typeface="Cambria Math" panose="02040503050406030204" pitchFamily="18" charset="0"/>
                            </a:rPr>
                            <m:t>𝑀</m:t>
                          </m:r>
                        </m:e>
                        <m:sub>
                          <m:r>
                            <a:rPr lang="en-US" sz="2000" i="1">
                              <a:solidFill>
                                <a:srgbClr val="00B0F0"/>
                              </a:solidFill>
                              <a:latin typeface="Cambria Math" panose="02040503050406030204" pitchFamily="18" charset="0"/>
                            </a:rPr>
                            <m:t>𝑠</m:t>
                          </m:r>
                          <m:r>
                            <a:rPr lang="en-US" sz="2000" i="1">
                              <a:solidFill>
                                <a:srgbClr val="00B0F0"/>
                              </a:solidFill>
                              <a:latin typeface="Cambria Math" panose="02040503050406030204" pitchFamily="18" charset="0"/>
                            </a:rPr>
                            <m:t>/</m:t>
                          </m:r>
                          <m:sSub>
                            <m:sSubPr>
                              <m:ctrlPr>
                                <a:rPr lang="en-US" sz="2000" i="1">
                                  <a:solidFill>
                                    <a:srgbClr val="00B0F0"/>
                                  </a:solidFill>
                                  <a:latin typeface="Cambria Math" panose="02040503050406030204" pitchFamily="18" charset="0"/>
                                </a:rPr>
                              </m:ctrlPr>
                            </m:sSubPr>
                            <m:e>
                              <m:r>
                                <a:rPr lang="en-US" sz="2000" i="1">
                                  <a:solidFill>
                                    <a:srgbClr val="00B0F0"/>
                                  </a:solidFill>
                                  <a:latin typeface="Cambria Math" panose="02040503050406030204" pitchFamily="18" charset="0"/>
                                </a:rPr>
                                <m:t>𝑐</m:t>
                              </m:r>
                            </m:e>
                            <m:sub>
                              <m:r>
                                <a:rPr lang="en-US" sz="2000" i="1">
                                  <a:solidFill>
                                    <a:srgbClr val="00B0F0"/>
                                  </a:solidFill>
                                  <a:latin typeface="Cambria Math" panose="02040503050406030204" pitchFamily="18" charset="0"/>
                                </a:rPr>
                                <m:t>𝑑𝑟𝑦</m:t>
                              </m:r>
                              <m:r>
                                <a:rPr lang="en-US" sz="2000" i="1">
                                  <a:solidFill>
                                    <a:srgbClr val="00B0F0"/>
                                  </a:solidFill>
                                  <a:latin typeface="Cambria Math" panose="02040503050406030204" pitchFamily="18" charset="0"/>
                                </a:rPr>
                                <m:t>,   </m:t>
                              </m:r>
                              <m:r>
                                <a:rPr lang="en-US" sz="2000" b="0" i="1" smtClean="0">
                                  <a:solidFill>
                                    <a:srgbClr val="00B0F0"/>
                                  </a:solidFill>
                                  <a:latin typeface="Cambria Math" panose="02040503050406030204" pitchFamily="18" charset="0"/>
                                </a:rPr>
                                <m:t>𝑤𝑖𝑡</m:t>
                              </m:r>
                              <m:r>
                                <a:rPr lang="en-US" sz="2000" b="0" i="1" smtClean="0">
                                  <a:solidFill>
                                    <a:srgbClr val="00B0F0"/>
                                  </a:solidFill>
                                  <a:latin typeface="Cambria Math" panose="02040503050406030204" pitchFamily="18" charset="0"/>
                                </a:rPr>
                                <m:t>h</m:t>
                              </m:r>
                              <m:r>
                                <a:rPr lang="en-US" sz="2000" i="1">
                                  <a:solidFill>
                                    <a:srgbClr val="00B0F0"/>
                                  </a:solidFill>
                                  <a:latin typeface="Cambria Math" panose="02040503050406030204" pitchFamily="18" charset="0"/>
                                </a:rPr>
                                <m:t> </m:t>
                              </m:r>
                              <m:r>
                                <a:rPr lang="en-US" sz="2000" i="1">
                                  <a:solidFill>
                                    <a:srgbClr val="00B0F0"/>
                                  </a:solidFill>
                                  <a:latin typeface="Cambria Math" panose="02040503050406030204" pitchFamily="18" charset="0"/>
                                </a:rPr>
                                <m:t>𝑚𝑎𝑟𝑔𝑖𝑛</m:t>
                              </m:r>
                            </m:sub>
                          </m:sSub>
                        </m:sub>
                      </m:sSub>
                      <m:r>
                        <a:rPr lang="en-US" sz="2000" b="0" i="1" smtClean="0">
                          <a:solidFill>
                            <a:srgbClr val="00B0F0"/>
                          </a:solidFill>
                          <a:latin typeface="Cambria Math" panose="02040503050406030204" pitchFamily="18" charset="0"/>
                        </a:rPr>
                        <m:t>=</m:t>
                      </m:r>
                      <m:sSub>
                        <m:sSubPr>
                          <m:ctrlPr>
                            <a:rPr lang="en-US" sz="2000" i="1">
                              <a:solidFill>
                                <a:srgbClr val="00B0F0"/>
                              </a:solidFill>
                              <a:latin typeface="Cambria Math" panose="02040503050406030204" pitchFamily="18" charset="0"/>
                            </a:rPr>
                          </m:ctrlPr>
                        </m:sSubPr>
                        <m:e>
                          <m:r>
                            <a:rPr lang="en-US" sz="2000" i="1">
                              <a:solidFill>
                                <a:srgbClr val="00B0F0"/>
                              </a:solidFill>
                              <a:latin typeface="Cambria Math" panose="02040503050406030204" pitchFamily="18" charset="0"/>
                            </a:rPr>
                            <m:t>𝑀</m:t>
                          </m:r>
                        </m:e>
                        <m:sub>
                          <m:r>
                            <a:rPr lang="en-US" sz="2000" i="1">
                              <a:solidFill>
                                <a:srgbClr val="00B0F0"/>
                              </a:solidFill>
                              <a:latin typeface="Cambria Math" panose="02040503050406030204" pitchFamily="18" charset="0"/>
                            </a:rPr>
                            <m:t>𝑠</m:t>
                          </m:r>
                          <m:r>
                            <a:rPr lang="en-US" sz="2000" i="1">
                              <a:solidFill>
                                <a:srgbClr val="00B0F0"/>
                              </a:solidFill>
                              <a:latin typeface="Cambria Math" panose="02040503050406030204" pitchFamily="18" charset="0"/>
                            </a:rPr>
                            <m:t>/</m:t>
                          </m:r>
                          <m:sSub>
                            <m:sSubPr>
                              <m:ctrlPr>
                                <a:rPr lang="en-US" sz="2000" i="1">
                                  <a:solidFill>
                                    <a:srgbClr val="00B0F0"/>
                                  </a:solidFill>
                                  <a:latin typeface="Cambria Math" panose="02040503050406030204" pitchFamily="18" charset="0"/>
                                </a:rPr>
                              </m:ctrlPr>
                            </m:sSubPr>
                            <m:e>
                              <m:r>
                                <a:rPr lang="en-US" sz="2000" i="1">
                                  <a:solidFill>
                                    <a:srgbClr val="00B0F0"/>
                                  </a:solidFill>
                                  <a:latin typeface="Cambria Math" panose="02040503050406030204" pitchFamily="18" charset="0"/>
                                </a:rPr>
                                <m:t>𝑐</m:t>
                              </m:r>
                            </m:e>
                            <m:sub>
                              <m:r>
                                <a:rPr lang="en-US" sz="2000" i="1">
                                  <a:solidFill>
                                    <a:srgbClr val="00B0F0"/>
                                  </a:solidFill>
                                  <a:latin typeface="Cambria Math" panose="02040503050406030204" pitchFamily="18" charset="0"/>
                                </a:rPr>
                                <m:t>𝑑𝑟𝑦</m:t>
                              </m:r>
                              <m:r>
                                <a:rPr lang="en-US" sz="2000" i="1">
                                  <a:solidFill>
                                    <a:srgbClr val="00B0F0"/>
                                  </a:solidFill>
                                  <a:latin typeface="Cambria Math" panose="02040503050406030204" pitchFamily="18" charset="0"/>
                                </a:rPr>
                                <m:t>,   </m:t>
                              </m:r>
                              <m:r>
                                <a:rPr lang="en-US" sz="2000" i="1">
                                  <a:solidFill>
                                    <a:srgbClr val="00B0F0"/>
                                  </a:solidFill>
                                  <a:latin typeface="Cambria Math" panose="02040503050406030204" pitchFamily="18" charset="0"/>
                                </a:rPr>
                                <m:t>𝑛𝑜</m:t>
                              </m:r>
                              <m:r>
                                <a:rPr lang="en-US" sz="2000" i="1">
                                  <a:solidFill>
                                    <a:srgbClr val="00B0F0"/>
                                  </a:solidFill>
                                  <a:latin typeface="Cambria Math" panose="02040503050406030204" pitchFamily="18" charset="0"/>
                                </a:rPr>
                                <m:t> </m:t>
                              </m:r>
                              <m:r>
                                <a:rPr lang="en-US" sz="2000" i="1">
                                  <a:solidFill>
                                    <a:srgbClr val="00B0F0"/>
                                  </a:solidFill>
                                  <a:latin typeface="Cambria Math" panose="02040503050406030204" pitchFamily="18" charset="0"/>
                                </a:rPr>
                                <m:t>𝑚𝑎𝑟𝑔𝑖𝑛</m:t>
                              </m:r>
                            </m:sub>
                          </m:sSub>
                        </m:sub>
                      </m:sSub>
                      <m:r>
                        <a:rPr lang="en-US" sz="2000" b="0" i="1" smtClean="0">
                          <a:solidFill>
                            <a:srgbClr val="00B0F0"/>
                          </a:solidFill>
                          <a:latin typeface="Cambria Math" panose="02040503050406030204" pitchFamily="18" charset="0"/>
                        </a:rPr>
                        <m:t>∗</m:t>
                      </m:r>
                      <m:r>
                        <a:rPr lang="en-US" sz="2000" b="0" i="1" smtClean="0">
                          <a:solidFill>
                            <a:srgbClr val="00B0F0"/>
                          </a:solidFill>
                          <a:latin typeface="Cambria Math" panose="02040503050406030204" pitchFamily="18" charset="0"/>
                        </a:rPr>
                        <m:t>1</m:t>
                      </m:r>
                      <m:r>
                        <a:rPr lang="en-US" sz="2000" b="0" i="1" smtClean="0">
                          <a:solidFill>
                            <a:srgbClr val="00B0F0"/>
                          </a:solidFill>
                          <a:latin typeface="Cambria Math" panose="02040503050406030204" pitchFamily="18" charset="0"/>
                        </a:rPr>
                        <m:t>.</m:t>
                      </m:r>
                      <m:r>
                        <a:rPr lang="en-US" sz="2000" b="0" i="1" smtClean="0">
                          <a:solidFill>
                            <a:srgbClr val="00B0F0"/>
                          </a:solidFill>
                          <a:latin typeface="Cambria Math" panose="02040503050406030204" pitchFamily="18" charset="0"/>
                        </a:rPr>
                        <m:t>25</m:t>
                      </m:r>
                      <m:r>
                        <a:rPr lang="en-US" sz="2000" b="0" i="1" smtClean="0">
                          <a:solidFill>
                            <a:srgbClr val="00B0F0"/>
                          </a:solidFill>
                          <a:latin typeface="Cambria Math" panose="02040503050406030204" pitchFamily="18" charset="0"/>
                        </a:rPr>
                        <m:t>=</m:t>
                      </m:r>
                      <m:r>
                        <a:rPr lang="en-US" sz="2000" b="0" i="1" smtClean="0">
                          <a:solidFill>
                            <a:srgbClr val="00B0F0"/>
                          </a:solidFill>
                          <a:latin typeface="Cambria Math" panose="02040503050406030204" pitchFamily="18" charset="0"/>
                        </a:rPr>
                        <m:t>1250</m:t>
                      </m:r>
                      <m:r>
                        <a:rPr lang="en-US" sz="2000" b="0" i="1" smtClean="0">
                          <a:solidFill>
                            <a:srgbClr val="00B0F0"/>
                          </a:solidFill>
                          <a:latin typeface="Cambria Math" panose="02040503050406030204" pitchFamily="18" charset="0"/>
                        </a:rPr>
                        <m:t> </m:t>
                      </m:r>
                      <m:r>
                        <a:rPr lang="en-US" sz="2000" b="0" i="1" smtClean="0">
                          <a:solidFill>
                            <a:srgbClr val="00B0F0"/>
                          </a:solidFill>
                          <a:latin typeface="Cambria Math" panose="02040503050406030204" pitchFamily="18" charset="0"/>
                        </a:rPr>
                        <m:t>𝑘𝑔</m:t>
                      </m:r>
                    </m:oMath>
                  </m:oMathPara>
                </a14:m>
                <a:endParaRPr lang="en-US" sz="2000" b="0" dirty="0">
                  <a:solidFill>
                    <a:srgbClr val="00B0F0"/>
                  </a:solidFill>
                </a:endParaRPr>
              </a:p>
              <a:p>
                <a:pPr marL="0" indent="0">
                  <a:buNone/>
                </a:pPr>
                <a:endParaRPr lang="en-US" sz="2000" b="0" dirty="0">
                  <a:solidFill>
                    <a:srgbClr val="00B0F0"/>
                  </a:solidFill>
                </a:endParaRPr>
              </a:p>
              <a:p>
                <a:pPr marL="0" indent="0">
                  <a:buNone/>
                </a:pPr>
                <a14:m>
                  <m:oMathPara xmlns:m="http://schemas.openxmlformats.org/officeDocument/2006/math">
                    <m:oMathParaPr>
                      <m:jc m:val="left"/>
                    </m:oMathParaPr>
                    <m:oMath xmlns:m="http://schemas.openxmlformats.org/officeDocument/2006/math">
                      <m:sSub>
                        <m:sSubPr>
                          <m:ctrlPr>
                            <a:rPr lang="en-US" sz="2000" b="0" i="1" smtClean="0">
                              <a:solidFill>
                                <a:srgbClr val="00B0F0"/>
                              </a:solidFill>
                              <a:latin typeface="Cambria Math" panose="02040503050406030204" pitchFamily="18" charset="0"/>
                            </a:rPr>
                          </m:ctrlPr>
                        </m:sSubPr>
                        <m:e>
                          <m:r>
                            <a:rPr lang="en-US" sz="2000" b="0" i="1" smtClean="0">
                              <a:solidFill>
                                <a:srgbClr val="00B0F0"/>
                              </a:solidFill>
                              <a:latin typeface="Cambria Math" panose="02040503050406030204" pitchFamily="18" charset="0"/>
                            </a:rPr>
                            <m:t>𝑀</m:t>
                          </m:r>
                        </m:e>
                        <m:sub>
                          <m:r>
                            <a:rPr lang="en-US" sz="2000" b="0" i="1" smtClean="0">
                              <a:solidFill>
                                <a:srgbClr val="00B0F0"/>
                              </a:solidFill>
                              <a:latin typeface="Cambria Math" panose="02040503050406030204" pitchFamily="18" charset="0"/>
                            </a:rPr>
                            <m:t>𝐸𝑃𝑆</m:t>
                          </m:r>
                        </m:sub>
                      </m:sSub>
                      <m:r>
                        <a:rPr lang="en-US" sz="2000" b="0" i="1" smtClean="0">
                          <a:solidFill>
                            <a:srgbClr val="00B0F0"/>
                          </a:solidFill>
                          <a:latin typeface="Cambria Math" panose="02040503050406030204" pitchFamily="18" charset="0"/>
                        </a:rPr>
                        <m:t>=</m:t>
                      </m:r>
                      <m:sSub>
                        <m:sSubPr>
                          <m:ctrlPr>
                            <a:rPr lang="en-US" sz="2000" i="1">
                              <a:solidFill>
                                <a:srgbClr val="00B0F0"/>
                              </a:solidFill>
                              <a:latin typeface="Cambria Math" panose="02040503050406030204" pitchFamily="18" charset="0"/>
                            </a:rPr>
                          </m:ctrlPr>
                        </m:sSubPr>
                        <m:e>
                          <m:r>
                            <a:rPr lang="en-US" sz="2000" i="1">
                              <a:solidFill>
                                <a:srgbClr val="00B0F0"/>
                              </a:solidFill>
                              <a:latin typeface="Cambria Math" panose="02040503050406030204" pitchFamily="18" charset="0"/>
                            </a:rPr>
                            <m:t>𝑀</m:t>
                          </m:r>
                        </m:e>
                        <m:sub>
                          <m:r>
                            <a:rPr lang="en-US" sz="2000" i="1">
                              <a:solidFill>
                                <a:srgbClr val="00B0F0"/>
                              </a:solidFill>
                              <a:latin typeface="Cambria Math" panose="02040503050406030204" pitchFamily="18" charset="0"/>
                            </a:rPr>
                            <m:t>𝑠</m:t>
                          </m:r>
                          <m:r>
                            <a:rPr lang="en-US" sz="2000" i="1">
                              <a:solidFill>
                                <a:srgbClr val="00B0F0"/>
                              </a:solidFill>
                              <a:latin typeface="Cambria Math" panose="02040503050406030204" pitchFamily="18" charset="0"/>
                            </a:rPr>
                            <m:t>/</m:t>
                          </m:r>
                          <m:sSub>
                            <m:sSubPr>
                              <m:ctrlPr>
                                <a:rPr lang="en-US" sz="2000" i="1">
                                  <a:solidFill>
                                    <a:srgbClr val="00B0F0"/>
                                  </a:solidFill>
                                  <a:latin typeface="Cambria Math" panose="02040503050406030204" pitchFamily="18" charset="0"/>
                                </a:rPr>
                              </m:ctrlPr>
                            </m:sSubPr>
                            <m:e>
                              <m:r>
                                <a:rPr lang="en-US" sz="2000" i="1">
                                  <a:solidFill>
                                    <a:srgbClr val="00B0F0"/>
                                  </a:solidFill>
                                  <a:latin typeface="Cambria Math" panose="02040503050406030204" pitchFamily="18" charset="0"/>
                                </a:rPr>
                                <m:t>𝑐</m:t>
                              </m:r>
                            </m:e>
                            <m:sub>
                              <m:r>
                                <a:rPr lang="en-US" sz="2000" i="1">
                                  <a:solidFill>
                                    <a:srgbClr val="00B0F0"/>
                                  </a:solidFill>
                                  <a:latin typeface="Cambria Math" panose="02040503050406030204" pitchFamily="18" charset="0"/>
                                </a:rPr>
                                <m:t>𝑑𝑟𝑦</m:t>
                              </m:r>
                              <m:r>
                                <a:rPr lang="en-US" sz="2000" i="1">
                                  <a:solidFill>
                                    <a:srgbClr val="00B0F0"/>
                                  </a:solidFill>
                                  <a:latin typeface="Cambria Math" panose="02040503050406030204" pitchFamily="18" charset="0"/>
                                </a:rPr>
                                <m:t>,   </m:t>
                              </m:r>
                              <m:r>
                                <a:rPr lang="en-US" sz="2000" i="1">
                                  <a:solidFill>
                                    <a:srgbClr val="00B0F0"/>
                                  </a:solidFill>
                                  <a:latin typeface="Cambria Math" panose="02040503050406030204" pitchFamily="18" charset="0"/>
                                </a:rPr>
                                <m:t>𝑤𝑖𝑡</m:t>
                              </m:r>
                              <m:r>
                                <a:rPr lang="en-US" sz="2000" i="1">
                                  <a:solidFill>
                                    <a:srgbClr val="00B0F0"/>
                                  </a:solidFill>
                                  <a:latin typeface="Cambria Math" panose="02040503050406030204" pitchFamily="18" charset="0"/>
                                </a:rPr>
                                <m:t>h</m:t>
                              </m:r>
                              <m:r>
                                <a:rPr lang="en-US" sz="2000" i="1">
                                  <a:solidFill>
                                    <a:srgbClr val="00B0F0"/>
                                  </a:solidFill>
                                  <a:latin typeface="Cambria Math" panose="02040503050406030204" pitchFamily="18" charset="0"/>
                                </a:rPr>
                                <m:t> </m:t>
                              </m:r>
                              <m:r>
                                <a:rPr lang="en-US" sz="2000" i="1">
                                  <a:solidFill>
                                    <a:srgbClr val="00B0F0"/>
                                  </a:solidFill>
                                  <a:latin typeface="Cambria Math" panose="02040503050406030204" pitchFamily="18" charset="0"/>
                                </a:rPr>
                                <m:t>𝑚𝑎𝑟𝑔𝑖𝑛</m:t>
                              </m:r>
                            </m:sub>
                          </m:sSub>
                        </m:sub>
                      </m:sSub>
                      <m:r>
                        <a:rPr lang="en-US" sz="2000" b="0" i="1" smtClean="0">
                          <a:solidFill>
                            <a:srgbClr val="00B0F0"/>
                          </a:solidFill>
                          <a:latin typeface="Cambria Math" panose="02040503050406030204" pitchFamily="18" charset="0"/>
                        </a:rPr>
                        <m:t>∗</m:t>
                      </m:r>
                      <m:r>
                        <a:rPr lang="en-US" sz="2000" b="0" i="1" smtClean="0">
                          <a:solidFill>
                            <a:srgbClr val="00B0F0"/>
                          </a:solidFill>
                          <a:latin typeface="Cambria Math" panose="02040503050406030204" pitchFamily="18" charset="0"/>
                        </a:rPr>
                        <m:t>0</m:t>
                      </m:r>
                      <m:r>
                        <a:rPr lang="en-US" sz="2000" b="0" i="1" smtClean="0">
                          <a:solidFill>
                            <a:srgbClr val="00B0F0"/>
                          </a:solidFill>
                          <a:latin typeface="Cambria Math" panose="02040503050406030204" pitchFamily="18" charset="0"/>
                        </a:rPr>
                        <m:t>.</m:t>
                      </m:r>
                      <m:r>
                        <a:rPr lang="en-US" sz="2000" b="0" i="1" smtClean="0">
                          <a:solidFill>
                            <a:srgbClr val="00B0F0"/>
                          </a:solidFill>
                          <a:latin typeface="Cambria Math" panose="02040503050406030204" pitchFamily="18" charset="0"/>
                        </a:rPr>
                        <m:t>20</m:t>
                      </m:r>
                      <m:r>
                        <a:rPr lang="en-US" sz="2000" b="0" i="1" smtClean="0">
                          <a:solidFill>
                            <a:srgbClr val="00B0F0"/>
                          </a:solidFill>
                          <a:latin typeface="Cambria Math" panose="02040503050406030204" pitchFamily="18" charset="0"/>
                        </a:rPr>
                        <m:t>=</m:t>
                      </m:r>
                      <m:r>
                        <a:rPr lang="en-US" sz="2000" b="0" i="1" smtClean="0">
                          <a:solidFill>
                            <a:srgbClr val="00B0F0"/>
                          </a:solidFill>
                          <a:latin typeface="Cambria Math" panose="02040503050406030204" pitchFamily="18" charset="0"/>
                        </a:rPr>
                        <m:t>1250</m:t>
                      </m:r>
                      <m:r>
                        <a:rPr lang="en-US" sz="2000" b="0" i="1" smtClean="0">
                          <a:solidFill>
                            <a:srgbClr val="00B0F0"/>
                          </a:solidFill>
                          <a:latin typeface="Cambria Math" panose="02040503050406030204" pitchFamily="18" charset="0"/>
                        </a:rPr>
                        <m:t>∗</m:t>
                      </m:r>
                      <m:r>
                        <a:rPr lang="en-US" sz="2000" b="0" i="1" smtClean="0">
                          <a:solidFill>
                            <a:srgbClr val="00B0F0"/>
                          </a:solidFill>
                          <a:latin typeface="Cambria Math" panose="02040503050406030204" pitchFamily="18" charset="0"/>
                        </a:rPr>
                        <m:t>0</m:t>
                      </m:r>
                      <m:r>
                        <a:rPr lang="en-US" sz="2000" b="0" i="1" smtClean="0">
                          <a:solidFill>
                            <a:srgbClr val="00B0F0"/>
                          </a:solidFill>
                          <a:latin typeface="Cambria Math" panose="02040503050406030204" pitchFamily="18" charset="0"/>
                        </a:rPr>
                        <m:t>.</m:t>
                      </m:r>
                      <m:r>
                        <a:rPr lang="en-US" sz="2000" b="0" i="1" smtClean="0">
                          <a:solidFill>
                            <a:srgbClr val="00B0F0"/>
                          </a:solidFill>
                          <a:latin typeface="Cambria Math" panose="02040503050406030204" pitchFamily="18" charset="0"/>
                        </a:rPr>
                        <m:t>20</m:t>
                      </m:r>
                      <m:r>
                        <a:rPr lang="en-US" sz="2000" b="0" i="1" smtClean="0">
                          <a:solidFill>
                            <a:srgbClr val="00B0F0"/>
                          </a:solidFill>
                          <a:latin typeface="Cambria Math" panose="02040503050406030204" pitchFamily="18" charset="0"/>
                        </a:rPr>
                        <m:t>=</m:t>
                      </m:r>
                      <m:r>
                        <a:rPr lang="en-US" sz="2000" b="0" i="1" smtClean="0">
                          <a:solidFill>
                            <a:srgbClr val="00B0F0"/>
                          </a:solidFill>
                          <a:latin typeface="Cambria Math" panose="02040503050406030204" pitchFamily="18" charset="0"/>
                        </a:rPr>
                        <m:t>250</m:t>
                      </m:r>
                      <m:r>
                        <a:rPr lang="en-US" sz="2000" b="0" i="1" smtClean="0">
                          <a:solidFill>
                            <a:srgbClr val="00B0F0"/>
                          </a:solidFill>
                          <a:latin typeface="Cambria Math" panose="02040503050406030204" pitchFamily="18" charset="0"/>
                        </a:rPr>
                        <m:t> </m:t>
                      </m:r>
                      <m:r>
                        <a:rPr lang="en-US" sz="2000" b="0" i="1" smtClean="0">
                          <a:solidFill>
                            <a:srgbClr val="00B0F0"/>
                          </a:solidFill>
                          <a:latin typeface="Cambria Math" panose="02040503050406030204" pitchFamily="18" charset="0"/>
                        </a:rPr>
                        <m:t>𝑘𝑔</m:t>
                      </m:r>
                    </m:oMath>
                  </m:oMathPara>
                </a14:m>
                <a:endParaRPr lang="en-US" sz="2000" dirty="0">
                  <a:solidFill>
                    <a:srgbClr val="00B0F0"/>
                  </a:solidFill>
                </a:endParaRPr>
              </a:p>
              <a:p>
                <a:pPr marL="0" indent="0">
                  <a:buNone/>
                </a:pPr>
                <a:endParaRPr lang="en-US" sz="2000" dirty="0">
                  <a:solidFill>
                    <a:srgbClr val="00B0F0"/>
                  </a:solidFill>
                </a:endParaRPr>
              </a:p>
              <a:p>
                <a:pPr marL="0" indent="0">
                  <a:buNone/>
                </a:pPr>
                <a14:m>
                  <m:oMathPara xmlns:m="http://schemas.openxmlformats.org/officeDocument/2006/math">
                    <m:oMathParaPr>
                      <m:jc m:val="left"/>
                    </m:oMathParaPr>
                    <m:oMath xmlns:m="http://schemas.openxmlformats.org/officeDocument/2006/math">
                      <m:sSub>
                        <m:sSubPr>
                          <m:ctrlPr>
                            <a:rPr lang="en-US" sz="2000" i="1">
                              <a:solidFill>
                                <a:srgbClr val="00B0F0"/>
                              </a:solidFill>
                              <a:latin typeface="Cambria Math" panose="02040503050406030204" pitchFamily="18" charset="0"/>
                            </a:rPr>
                          </m:ctrlPr>
                        </m:sSubPr>
                        <m:e>
                          <m:r>
                            <a:rPr lang="en-US" sz="2000" i="1">
                              <a:solidFill>
                                <a:srgbClr val="00B0F0"/>
                              </a:solidFill>
                              <a:latin typeface="Cambria Math" panose="02040503050406030204" pitchFamily="18" charset="0"/>
                            </a:rPr>
                            <m:t>𝑀</m:t>
                          </m:r>
                        </m:e>
                        <m:sub>
                          <m:r>
                            <a:rPr lang="en-US" sz="2000" b="0" i="1" smtClean="0">
                              <a:solidFill>
                                <a:srgbClr val="00B0F0"/>
                              </a:solidFill>
                              <a:latin typeface="Cambria Math" panose="02040503050406030204" pitchFamily="18" charset="0"/>
                            </a:rPr>
                            <m:t>𝐶𝐷𝐻𝑆</m:t>
                          </m:r>
                        </m:sub>
                      </m:sSub>
                      <m:r>
                        <a:rPr lang="en-US" sz="2000" i="1">
                          <a:solidFill>
                            <a:srgbClr val="00B0F0"/>
                          </a:solidFill>
                          <a:latin typeface="Cambria Math" panose="02040503050406030204" pitchFamily="18" charset="0"/>
                        </a:rPr>
                        <m:t>=</m:t>
                      </m:r>
                      <m:sSub>
                        <m:sSubPr>
                          <m:ctrlPr>
                            <a:rPr lang="en-US" sz="2000" i="1">
                              <a:solidFill>
                                <a:srgbClr val="00B0F0"/>
                              </a:solidFill>
                              <a:latin typeface="Cambria Math" panose="02040503050406030204" pitchFamily="18" charset="0"/>
                            </a:rPr>
                          </m:ctrlPr>
                        </m:sSubPr>
                        <m:e>
                          <m:r>
                            <a:rPr lang="en-US" sz="2000" i="1">
                              <a:solidFill>
                                <a:srgbClr val="00B0F0"/>
                              </a:solidFill>
                              <a:latin typeface="Cambria Math" panose="02040503050406030204" pitchFamily="18" charset="0"/>
                            </a:rPr>
                            <m:t>𝑀</m:t>
                          </m:r>
                        </m:e>
                        <m:sub>
                          <m:r>
                            <a:rPr lang="en-US" sz="2000" i="1">
                              <a:solidFill>
                                <a:srgbClr val="00B0F0"/>
                              </a:solidFill>
                              <a:latin typeface="Cambria Math" panose="02040503050406030204" pitchFamily="18" charset="0"/>
                            </a:rPr>
                            <m:t>𝑠</m:t>
                          </m:r>
                          <m:r>
                            <a:rPr lang="en-US" sz="2000" i="1">
                              <a:solidFill>
                                <a:srgbClr val="00B0F0"/>
                              </a:solidFill>
                              <a:latin typeface="Cambria Math" panose="02040503050406030204" pitchFamily="18" charset="0"/>
                            </a:rPr>
                            <m:t>/</m:t>
                          </m:r>
                          <m:sSub>
                            <m:sSubPr>
                              <m:ctrlPr>
                                <a:rPr lang="en-US" sz="2000" i="1">
                                  <a:solidFill>
                                    <a:srgbClr val="00B0F0"/>
                                  </a:solidFill>
                                  <a:latin typeface="Cambria Math" panose="02040503050406030204" pitchFamily="18" charset="0"/>
                                </a:rPr>
                              </m:ctrlPr>
                            </m:sSubPr>
                            <m:e>
                              <m:r>
                                <a:rPr lang="en-US" sz="2000" i="1">
                                  <a:solidFill>
                                    <a:srgbClr val="00B0F0"/>
                                  </a:solidFill>
                                  <a:latin typeface="Cambria Math" panose="02040503050406030204" pitchFamily="18" charset="0"/>
                                </a:rPr>
                                <m:t>𝑐</m:t>
                              </m:r>
                            </m:e>
                            <m:sub>
                              <m:r>
                                <a:rPr lang="en-US" sz="2000" i="1">
                                  <a:solidFill>
                                    <a:srgbClr val="00B0F0"/>
                                  </a:solidFill>
                                  <a:latin typeface="Cambria Math" panose="02040503050406030204" pitchFamily="18" charset="0"/>
                                </a:rPr>
                                <m:t>𝑑𝑟𝑦</m:t>
                              </m:r>
                              <m:r>
                                <a:rPr lang="en-US" sz="2000" i="1">
                                  <a:solidFill>
                                    <a:srgbClr val="00B0F0"/>
                                  </a:solidFill>
                                  <a:latin typeface="Cambria Math" panose="02040503050406030204" pitchFamily="18" charset="0"/>
                                </a:rPr>
                                <m:t>,   </m:t>
                              </m:r>
                              <m:r>
                                <a:rPr lang="en-US" sz="2000" i="1">
                                  <a:solidFill>
                                    <a:srgbClr val="00B0F0"/>
                                  </a:solidFill>
                                  <a:latin typeface="Cambria Math" panose="02040503050406030204" pitchFamily="18" charset="0"/>
                                </a:rPr>
                                <m:t>𝑤𝑖𝑡</m:t>
                              </m:r>
                              <m:r>
                                <a:rPr lang="en-US" sz="2000" i="1">
                                  <a:solidFill>
                                    <a:srgbClr val="00B0F0"/>
                                  </a:solidFill>
                                  <a:latin typeface="Cambria Math" panose="02040503050406030204" pitchFamily="18" charset="0"/>
                                </a:rPr>
                                <m:t>h</m:t>
                              </m:r>
                              <m:r>
                                <a:rPr lang="en-US" sz="2000" i="1">
                                  <a:solidFill>
                                    <a:srgbClr val="00B0F0"/>
                                  </a:solidFill>
                                  <a:latin typeface="Cambria Math" panose="02040503050406030204" pitchFamily="18" charset="0"/>
                                </a:rPr>
                                <m:t> </m:t>
                              </m:r>
                              <m:r>
                                <a:rPr lang="en-US" sz="2000" i="1">
                                  <a:solidFill>
                                    <a:srgbClr val="00B0F0"/>
                                  </a:solidFill>
                                  <a:latin typeface="Cambria Math" panose="02040503050406030204" pitchFamily="18" charset="0"/>
                                </a:rPr>
                                <m:t>𝑚𝑎𝑟𝑔𝑖𝑛</m:t>
                              </m:r>
                            </m:sub>
                          </m:sSub>
                        </m:sub>
                      </m:sSub>
                      <m:r>
                        <a:rPr lang="en-US" sz="2000" i="1">
                          <a:solidFill>
                            <a:srgbClr val="00B0F0"/>
                          </a:solidFill>
                          <a:latin typeface="Cambria Math" panose="02040503050406030204" pitchFamily="18" charset="0"/>
                        </a:rPr>
                        <m:t>∗</m:t>
                      </m:r>
                      <m:r>
                        <a:rPr lang="en-US" sz="2000" i="1">
                          <a:solidFill>
                            <a:srgbClr val="00B0F0"/>
                          </a:solidFill>
                          <a:latin typeface="Cambria Math" panose="02040503050406030204" pitchFamily="18" charset="0"/>
                        </a:rPr>
                        <m:t>0</m:t>
                      </m:r>
                      <m:r>
                        <a:rPr lang="en-US" sz="2000" i="1">
                          <a:solidFill>
                            <a:srgbClr val="00B0F0"/>
                          </a:solidFill>
                          <a:latin typeface="Cambria Math" panose="02040503050406030204" pitchFamily="18" charset="0"/>
                        </a:rPr>
                        <m:t>.</m:t>
                      </m:r>
                      <m:r>
                        <a:rPr lang="en-US" sz="2000" b="0" i="1" smtClean="0">
                          <a:solidFill>
                            <a:srgbClr val="00B0F0"/>
                          </a:solidFill>
                          <a:latin typeface="Cambria Math" panose="02040503050406030204" pitchFamily="18" charset="0"/>
                        </a:rPr>
                        <m:t>1</m:t>
                      </m:r>
                      <m:r>
                        <a:rPr lang="en-US" sz="2000" i="1">
                          <a:solidFill>
                            <a:srgbClr val="00B0F0"/>
                          </a:solidFill>
                          <a:latin typeface="Cambria Math" panose="02040503050406030204" pitchFamily="18" charset="0"/>
                        </a:rPr>
                        <m:t>0</m:t>
                      </m:r>
                      <m:r>
                        <a:rPr lang="en-US" sz="2000" i="1">
                          <a:solidFill>
                            <a:srgbClr val="00B0F0"/>
                          </a:solidFill>
                          <a:latin typeface="Cambria Math" panose="02040503050406030204" pitchFamily="18" charset="0"/>
                        </a:rPr>
                        <m:t>=</m:t>
                      </m:r>
                      <m:r>
                        <a:rPr lang="en-US" sz="2000" i="1">
                          <a:solidFill>
                            <a:srgbClr val="00B0F0"/>
                          </a:solidFill>
                          <a:latin typeface="Cambria Math" panose="02040503050406030204" pitchFamily="18" charset="0"/>
                        </a:rPr>
                        <m:t>1250</m:t>
                      </m:r>
                      <m:r>
                        <a:rPr lang="en-US" sz="2000" i="1">
                          <a:solidFill>
                            <a:srgbClr val="00B0F0"/>
                          </a:solidFill>
                          <a:latin typeface="Cambria Math" panose="02040503050406030204" pitchFamily="18" charset="0"/>
                        </a:rPr>
                        <m:t>∗</m:t>
                      </m:r>
                      <m:r>
                        <a:rPr lang="en-US" sz="2000" i="1">
                          <a:solidFill>
                            <a:srgbClr val="00B0F0"/>
                          </a:solidFill>
                          <a:latin typeface="Cambria Math" panose="02040503050406030204" pitchFamily="18" charset="0"/>
                        </a:rPr>
                        <m:t>0</m:t>
                      </m:r>
                      <m:r>
                        <a:rPr lang="en-US" sz="2000" i="1">
                          <a:solidFill>
                            <a:srgbClr val="00B0F0"/>
                          </a:solidFill>
                          <a:latin typeface="Cambria Math" panose="02040503050406030204" pitchFamily="18" charset="0"/>
                        </a:rPr>
                        <m:t>.</m:t>
                      </m:r>
                      <m:r>
                        <a:rPr lang="en-US" sz="2000" b="0" i="1" smtClean="0">
                          <a:solidFill>
                            <a:srgbClr val="00B0F0"/>
                          </a:solidFill>
                          <a:latin typeface="Cambria Math" panose="02040503050406030204" pitchFamily="18" charset="0"/>
                        </a:rPr>
                        <m:t>10</m:t>
                      </m:r>
                      <m:r>
                        <a:rPr lang="en-US" sz="2000" i="1">
                          <a:solidFill>
                            <a:srgbClr val="00B0F0"/>
                          </a:solidFill>
                          <a:latin typeface="Cambria Math" panose="02040503050406030204" pitchFamily="18" charset="0"/>
                        </a:rPr>
                        <m:t>=</m:t>
                      </m:r>
                      <m:r>
                        <a:rPr lang="en-US" sz="2000" b="0" i="1" smtClean="0">
                          <a:solidFill>
                            <a:srgbClr val="00B0F0"/>
                          </a:solidFill>
                          <a:latin typeface="Cambria Math" panose="02040503050406030204" pitchFamily="18" charset="0"/>
                        </a:rPr>
                        <m:t>125</m:t>
                      </m:r>
                      <m:r>
                        <a:rPr lang="en-US" sz="2000" i="1">
                          <a:solidFill>
                            <a:srgbClr val="00B0F0"/>
                          </a:solidFill>
                          <a:latin typeface="Cambria Math" panose="02040503050406030204" pitchFamily="18" charset="0"/>
                        </a:rPr>
                        <m:t> </m:t>
                      </m:r>
                      <m:r>
                        <a:rPr lang="en-US" sz="2000" i="1">
                          <a:solidFill>
                            <a:srgbClr val="00B0F0"/>
                          </a:solidFill>
                          <a:latin typeface="Cambria Math" panose="02040503050406030204" pitchFamily="18" charset="0"/>
                        </a:rPr>
                        <m:t>𝑘𝑔</m:t>
                      </m:r>
                    </m:oMath>
                  </m:oMathPara>
                </a14:m>
                <a:endParaRPr lang="en-US" sz="2000" dirty="0">
                  <a:solidFill>
                    <a:srgbClr val="00B0F0"/>
                  </a:solidFill>
                </a:endParaRPr>
              </a:p>
              <a:p>
                <a:pPr marL="0" indent="0">
                  <a:buNone/>
                </a:pPr>
                <a:endParaRPr lang="en-US" sz="2000" dirty="0">
                  <a:solidFill>
                    <a:srgbClr val="00B0F0"/>
                  </a:solidFill>
                </a:endParaRPr>
              </a:p>
              <a:p>
                <a:pPr marL="0" indent="0">
                  <a:buNone/>
                </a:pPr>
                <a14:m>
                  <m:oMathPara xmlns:m="http://schemas.openxmlformats.org/officeDocument/2006/math">
                    <m:oMathParaPr>
                      <m:jc m:val="left"/>
                    </m:oMathParaPr>
                    <m:oMath xmlns:m="http://schemas.openxmlformats.org/officeDocument/2006/math">
                      <m:sSub>
                        <m:sSubPr>
                          <m:ctrlPr>
                            <a:rPr lang="en-US" sz="2000" i="1">
                              <a:solidFill>
                                <a:srgbClr val="00B0F0"/>
                              </a:solidFill>
                              <a:latin typeface="Cambria Math" panose="02040503050406030204" pitchFamily="18" charset="0"/>
                            </a:rPr>
                          </m:ctrlPr>
                        </m:sSubPr>
                        <m:e>
                          <m:r>
                            <a:rPr lang="en-US" sz="2000" i="1">
                              <a:solidFill>
                                <a:srgbClr val="00B0F0"/>
                              </a:solidFill>
                              <a:latin typeface="Cambria Math" panose="02040503050406030204" pitchFamily="18" charset="0"/>
                            </a:rPr>
                            <m:t>𝑀</m:t>
                          </m:r>
                        </m:e>
                        <m:sub>
                          <m:r>
                            <a:rPr lang="en-US" sz="2000" b="0" i="1" smtClean="0">
                              <a:solidFill>
                                <a:srgbClr val="00B0F0"/>
                              </a:solidFill>
                              <a:latin typeface="Cambria Math" panose="02040503050406030204" pitchFamily="18" charset="0"/>
                            </a:rPr>
                            <m:t>𝐴𝐷𝐶𝑆</m:t>
                          </m:r>
                        </m:sub>
                      </m:sSub>
                      <m:r>
                        <a:rPr lang="en-US" sz="2000" i="1">
                          <a:solidFill>
                            <a:srgbClr val="00B0F0"/>
                          </a:solidFill>
                          <a:latin typeface="Cambria Math" panose="02040503050406030204" pitchFamily="18" charset="0"/>
                        </a:rPr>
                        <m:t>=</m:t>
                      </m:r>
                      <m:sSub>
                        <m:sSubPr>
                          <m:ctrlPr>
                            <a:rPr lang="en-US" sz="2000" i="1">
                              <a:solidFill>
                                <a:srgbClr val="00B0F0"/>
                              </a:solidFill>
                              <a:latin typeface="Cambria Math" panose="02040503050406030204" pitchFamily="18" charset="0"/>
                            </a:rPr>
                          </m:ctrlPr>
                        </m:sSubPr>
                        <m:e>
                          <m:r>
                            <a:rPr lang="en-US" sz="2000" i="1">
                              <a:solidFill>
                                <a:srgbClr val="00B0F0"/>
                              </a:solidFill>
                              <a:latin typeface="Cambria Math" panose="02040503050406030204" pitchFamily="18" charset="0"/>
                            </a:rPr>
                            <m:t>𝑀</m:t>
                          </m:r>
                        </m:e>
                        <m:sub>
                          <m:r>
                            <a:rPr lang="en-US" sz="2000" i="1">
                              <a:solidFill>
                                <a:srgbClr val="00B0F0"/>
                              </a:solidFill>
                              <a:latin typeface="Cambria Math" panose="02040503050406030204" pitchFamily="18" charset="0"/>
                            </a:rPr>
                            <m:t>𝑠</m:t>
                          </m:r>
                          <m:r>
                            <a:rPr lang="en-US" sz="2000" i="1">
                              <a:solidFill>
                                <a:srgbClr val="00B0F0"/>
                              </a:solidFill>
                              <a:latin typeface="Cambria Math" panose="02040503050406030204" pitchFamily="18" charset="0"/>
                            </a:rPr>
                            <m:t>/</m:t>
                          </m:r>
                          <m:sSub>
                            <m:sSubPr>
                              <m:ctrlPr>
                                <a:rPr lang="en-US" sz="2000" i="1">
                                  <a:solidFill>
                                    <a:srgbClr val="00B0F0"/>
                                  </a:solidFill>
                                  <a:latin typeface="Cambria Math" panose="02040503050406030204" pitchFamily="18" charset="0"/>
                                </a:rPr>
                              </m:ctrlPr>
                            </m:sSubPr>
                            <m:e>
                              <m:r>
                                <a:rPr lang="en-US" sz="2000" i="1">
                                  <a:solidFill>
                                    <a:srgbClr val="00B0F0"/>
                                  </a:solidFill>
                                  <a:latin typeface="Cambria Math" panose="02040503050406030204" pitchFamily="18" charset="0"/>
                                </a:rPr>
                                <m:t>𝑐</m:t>
                              </m:r>
                            </m:e>
                            <m:sub>
                              <m:r>
                                <a:rPr lang="en-US" sz="2000" i="1">
                                  <a:solidFill>
                                    <a:srgbClr val="00B0F0"/>
                                  </a:solidFill>
                                  <a:latin typeface="Cambria Math" panose="02040503050406030204" pitchFamily="18" charset="0"/>
                                </a:rPr>
                                <m:t>𝑑𝑟𝑦</m:t>
                              </m:r>
                              <m:r>
                                <a:rPr lang="en-US" sz="2000" i="1">
                                  <a:solidFill>
                                    <a:srgbClr val="00B0F0"/>
                                  </a:solidFill>
                                  <a:latin typeface="Cambria Math" panose="02040503050406030204" pitchFamily="18" charset="0"/>
                                </a:rPr>
                                <m:t>,   </m:t>
                              </m:r>
                              <m:r>
                                <a:rPr lang="en-US" sz="2000" i="1">
                                  <a:solidFill>
                                    <a:srgbClr val="00B0F0"/>
                                  </a:solidFill>
                                  <a:latin typeface="Cambria Math" panose="02040503050406030204" pitchFamily="18" charset="0"/>
                                </a:rPr>
                                <m:t>𝑤𝑖𝑡</m:t>
                              </m:r>
                              <m:r>
                                <a:rPr lang="en-US" sz="2000" i="1">
                                  <a:solidFill>
                                    <a:srgbClr val="00B0F0"/>
                                  </a:solidFill>
                                  <a:latin typeface="Cambria Math" panose="02040503050406030204" pitchFamily="18" charset="0"/>
                                </a:rPr>
                                <m:t>h</m:t>
                              </m:r>
                              <m:r>
                                <a:rPr lang="en-US" sz="2000" i="1">
                                  <a:solidFill>
                                    <a:srgbClr val="00B0F0"/>
                                  </a:solidFill>
                                  <a:latin typeface="Cambria Math" panose="02040503050406030204" pitchFamily="18" charset="0"/>
                                </a:rPr>
                                <m:t> </m:t>
                              </m:r>
                              <m:r>
                                <a:rPr lang="en-US" sz="2000" i="1">
                                  <a:solidFill>
                                    <a:srgbClr val="00B0F0"/>
                                  </a:solidFill>
                                  <a:latin typeface="Cambria Math" panose="02040503050406030204" pitchFamily="18" charset="0"/>
                                </a:rPr>
                                <m:t>𝑚𝑎𝑟𝑔𝑖𝑛</m:t>
                              </m:r>
                            </m:sub>
                          </m:sSub>
                        </m:sub>
                      </m:sSub>
                      <m:r>
                        <a:rPr lang="en-US" sz="2000" i="1">
                          <a:solidFill>
                            <a:srgbClr val="00B0F0"/>
                          </a:solidFill>
                          <a:latin typeface="Cambria Math" panose="02040503050406030204" pitchFamily="18" charset="0"/>
                        </a:rPr>
                        <m:t>∗</m:t>
                      </m:r>
                      <m:r>
                        <a:rPr lang="en-US" sz="2000" i="1">
                          <a:solidFill>
                            <a:srgbClr val="00B0F0"/>
                          </a:solidFill>
                          <a:latin typeface="Cambria Math" panose="02040503050406030204" pitchFamily="18" charset="0"/>
                        </a:rPr>
                        <m:t>0</m:t>
                      </m:r>
                      <m:r>
                        <a:rPr lang="en-US" sz="2000" i="1">
                          <a:solidFill>
                            <a:srgbClr val="00B0F0"/>
                          </a:solidFill>
                          <a:latin typeface="Cambria Math" panose="02040503050406030204" pitchFamily="18" charset="0"/>
                        </a:rPr>
                        <m:t>.</m:t>
                      </m:r>
                      <m:r>
                        <a:rPr lang="en-US" sz="2000" b="0" i="1" smtClean="0">
                          <a:solidFill>
                            <a:srgbClr val="00B0F0"/>
                          </a:solidFill>
                          <a:latin typeface="Cambria Math" panose="02040503050406030204" pitchFamily="18" charset="0"/>
                        </a:rPr>
                        <m:t>10</m:t>
                      </m:r>
                      <m:r>
                        <a:rPr lang="en-US" sz="2000" i="1">
                          <a:solidFill>
                            <a:srgbClr val="00B0F0"/>
                          </a:solidFill>
                          <a:latin typeface="Cambria Math" panose="02040503050406030204" pitchFamily="18" charset="0"/>
                        </a:rPr>
                        <m:t>=</m:t>
                      </m:r>
                      <m:r>
                        <a:rPr lang="en-US" sz="2000" i="1">
                          <a:solidFill>
                            <a:srgbClr val="00B0F0"/>
                          </a:solidFill>
                          <a:latin typeface="Cambria Math" panose="02040503050406030204" pitchFamily="18" charset="0"/>
                        </a:rPr>
                        <m:t>1250</m:t>
                      </m:r>
                      <m:r>
                        <a:rPr lang="en-US" sz="2000" i="1">
                          <a:solidFill>
                            <a:srgbClr val="00B0F0"/>
                          </a:solidFill>
                          <a:latin typeface="Cambria Math" panose="02040503050406030204" pitchFamily="18" charset="0"/>
                        </a:rPr>
                        <m:t>∗</m:t>
                      </m:r>
                      <m:r>
                        <a:rPr lang="en-US" sz="2000" i="1">
                          <a:solidFill>
                            <a:srgbClr val="00B0F0"/>
                          </a:solidFill>
                          <a:latin typeface="Cambria Math" panose="02040503050406030204" pitchFamily="18" charset="0"/>
                        </a:rPr>
                        <m:t>0</m:t>
                      </m:r>
                      <m:r>
                        <a:rPr lang="en-US" sz="2000" i="1">
                          <a:solidFill>
                            <a:srgbClr val="00B0F0"/>
                          </a:solidFill>
                          <a:latin typeface="Cambria Math" panose="02040503050406030204" pitchFamily="18" charset="0"/>
                        </a:rPr>
                        <m:t>.</m:t>
                      </m:r>
                      <m:r>
                        <a:rPr lang="en-US" sz="2000" b="0" i="1" smtClean="0">
                          <a:solidFill>
                            <a:srgbClr val="00B0F0"/>
                          </a:solidFill>
                          <a:latin typeface="Cambria Math" panose="02040503050406030204" pitchFamily="18" charset="0"/>
                        </a:rPr>
                        <m:t>10</m:t>
                      </m:r>
                      <m:r>
                        <a:rPr lang="en-US" sz="2000" i="1">
                          <a:solidFill>
                            <a:srgbClr val="00B0F0"/>
                          </a:solidFill>
                          <a:latin typeface="Cambria Math" panose="02040503050406030204" pitchFamily="18" charset="0"/>
                        </a:rPr>
                        <m:t>=</m:t>
                      </m:r>
                      <m:r>
                        <a:rPr lang="en-US" sz="2000" b="0" i="1" smtClean="0">
                          <a:solidFill>
                            <a:srgbClr val="00B0F0"/>
                          </a:solidFill>
                          <a:latin typeface="Cambria Math" panose="02040503050406030204" pitchFamily="18" charset="0"/>
                        </a:rPr>
                        <m:t>125</m:t>
                      </m:r>
                      <m:r>
                        <a:rPr lang="en-US" sz="2000" i="1">
                          <a:solidFill>
                            <a:srgbClr val="00B0F0"/>
                          </a:solidFill>
                          <a:latin typeface="Cambria Math" panose="02040503050406030204" pitchFamily="18" charset="0"/>
                        </a:rPr>
                        <m:t> </m:t>
                      </m:r>
                      <m:r>
                        <a:rPr lang="en-US" sz="2000" i="1">
                          <a:solidFill>
                            <a:srgbClr val="00B0F0"/>
                          </a:solidFill>
                          <a:latin typeface="Cambria Math" panose="02040503050406030204" pitchFamily="18" charset="0"/>
                        </a:rPr>
                        <m:t>𝑘𝑔</m:t>
                      </m:r>
                    </m:oMath>
                  </m:oMathPara>
                </a14:m>
                <a:endParaRPr lang="en-US" sz="2000" i="1" dirty="0">
                  <a:solidFill>
                    <a:srgbClr val="00B0F0"/>
                  </a:solidFill>
                  <a:latin typeface="Cambria Math" panose="02040503050406030204" pitchFamily="18" charset="0"/>
                  <a:ea typeface="Cambria Math" panose="02040503050406030204" pitchFamily="18" charset="0"/>
                </a:endParaRPr>
              </a:p>
              <a:p>
                <a:pPr marL="0" indent="0">
                  <a:buNone/>
                </a:pPr>
                <a14:m>
                  <m:oMathPara xmlns:m="http://schemas.openxmlformats.org/officeDocument/2006/math">
                    <m:oMathParaPr>
                      <m:jc m:val="left"/>
                    </m:oMathParaPr>
                    <m:oMath xmlns:m="http://schemas.openxmlformats.org/officeDocument/2006/math">
                      <m:r>
                        <a:rPr lang="en-US" sz="2000" i="1" smtClean="0">
                          <a:solidFill>
                            <a:srgbClr val="00B0F0"/>
                          </a:solidFill>
                          <a:latin typeface="Cambria Math" panose="02040503050406030204" pitchFamily="18" charset="0"/>
                          <a:ea typeface="Cambria Math" panose="02040503050406030204" pitchFamily="18" charset="0"/>
                        </a:rPr>
                        <m:t>⋮</m:t>
                      </m:r>
                    </m:oMath>
                  </m:oMathPara>
                </a14:m>
                <a:endParaRPr lang="en-US" sz="2000" dirty="0">
                  <a:solidFill>
                    <a:srgbClr val="00B0F0"/>
                  </a:solidFill>
                </a:endParaRPr>
              </a:p>
              <a:p>
                <a:pPr marL="0" indent="0">
                  <a:buNone/>
                </a:pPr>
                <a:r>
                  <a:rPr lang="en-US" sz="2000" dirty="0">
                    <a:solidFill>
                      <a:srgbClr val="00B0F0"/>
                    </a:solidFill>
                  </a:rPr>
                  <a:t>And so on…</a:t>
                </a:r>
              </a:p>
              <a:p>
                <a:pPr marL="0" indent="0">
                  <a:buNone/>
                </a:pPr>
                <a:endParaRPr lang="en-US" sz="2000" dirty="0">
                  <a:solidFill>
                    <a:srgbClr val="00B0F0"/>
                  </a:solidFill>
                </a:endParaRPr>
              </a:p>
              <a:p>
                <a:pPr marL="0" indent="0">
                  <a:buNone/>
                </a:pPr>
                <a:r>
                  <a:rPr lang="en-US" sz="2000" b="1" dirty="0">
                    <a:solidFill>
                      <a:srgbClr val="00B0F0"/>
                    </a:solidFill>
                  </a:rPr>
                  <a:t>	</a:t>
                </a:r>
                <a14:m>
                  <m:oMath xmlns:m="http://schemas.openxmlformats.org/officeDocument/2006/math">
                    <m:sSub>
                      <m:sSubPr>
                        <m:ctrlPr>
                          <a:rPr lang="en-US" sz="2000" b="1" i="1" smtClean="0">
                            <a:solidFill>
                              <a:srgbClr val="00B0F0"/>
                            </a:solidFill>
                            <a:latin typeface="Cambria Math" panose="02040503050406030204" pitchFamily="18" charset="0"/>
                          </a:rPr>
                        </m:ctrlPr>
                      </m:sSubPr>
                      <m:e>
                        <m:r>
                          <a:rPr lang="en-US" sz="2000" b="1" i="1" smtClean="0">
                            <a:solidFill>
                              <a:srgbClr val="00B0F0"/>
                            </a:solidFill>
                            <a:latin typeface="Cambria Math" panose="02040503050406030204" pitchFamily="18" charset="0"/>
                          </a:rPr>
                          <m:t>𝑴</m:t>
                        </m:r>
                      </m:e>
                      <m:sub>
                        <m:r>
                          <a:rPr lang="en-US" sz="2000" b="1" i="1" smtClean="0">
                            <a:solidFill>
                              <a:srgbClr val="00B0F0"/>
                            </a:solidFill>
                            <a:latin typeface="Cambria Math" panose="02040503050406030204" pitchFamily="18" charset="0"/>
                          </a:rPr>
                          <m:t>𝒑𝒓𝒐𝒑𝒆𝒍𝒍𝒂𝒏𝒕</m:t>
                        </m:r>
                      </m:sub>
                    </m:sSub>
                  </m:oMath>
                </a14:m>
                <a:r>
                  <a:rPr lang="en-US" sz="2000" b="1" dirty="0">
                    <a:solidFill>
                      <a:srgbClr val="00B0F0"/>
                    </a:solidFill>
                  </a:rPr>
                  <a:t> TBD based on propellant budget</a:t>
                </a:r>
              </a:p>
              <a:p>
                <a:pPr marL="0" indent="0">
                  <a:buNone/>
                </a:pPr>
                <a:endParaRPr lang="en-US" sz="2000" dirty="0">
                  <a:solidFill>
                    <a:srgbClr val="00B0F0"/>
                  </a:solidFill>
                </a:endParaRPr>
              </a:p>
              <a:p>
                <a:pPr marL="0" indent="0">
                  <a:buNone/>
                </a:pPr>
                <a:endParaRPr lang="en-US" sz="2000" dirty="0">
                  <a:solidFill>
                    <a:srgbClr val="00B0F0"/>
                  </a:solidFill>
                </a:endParaRPr>
              </a:p>
              <a:p>
                <a:pPr marL="0" indent="0">
                  <a:buNone/>
                </a:pPr>
                <a:endParaRPr lang="en-US" sz="2000" dirty="0">
                  <a:solidFill>
                    <a:srgbClr val="00B0F0"/>
                  </a:solidFill>
                </a:endParaRPr>
              </a:p>
            </p:txBody>
          </p:sp>
        </mc:Choice>
        <mc:Fallback>
          <p:sp>
            <p:nvSpPr>
              <p:cNvPr id="3" name="Content Placeholder 2">
                <a:extLst>
                  <a:ext uri="{FF2B5EF4-FFF2-40B4-BE49-F238E27FC236}">
                    <a16:creationId xmlns:a16="http://schemas.microsoft.com/office/drawing/2014/main" id="{2F847433-905D-0FEE-33D8-3C03F47DE392}"/>
                  </a:ext>
                </a:extLst>
              </p:cNvPr>
              <p:cNvSpPr>
                <a:spLocks noGrp="1" noRot="1" noChangeAspect="1" noMove="1" noResize="1" noEditPoints="1" noAdjustHandles="1" noChangeArrowheads="1" noChangeShapeType="1" noTextEdit="1"/>
              </p:cNvSpPr>
              <p:nvPr>
                <p:ph idx="1"/>
              </p:nvPr>
            </p:nvSpPr>
            <p:spPr>
              <a:xfrm>
                <a:off x="200025" y="1002506"/>
                <a:ext cx="8793015" cy="5722308"/>
              </a:xfrm>
              <a:blipFill>
                <a:blip r:embed="rId2"/>
                <a:stretch>
                  <a:fillRect l="-693" t="-1278" r="-971" b="-213"/>
                </a:stretch>
              </a:blipFill>
            </p:spPr>
            <p:txBody>
              <a:bodyPr/>
              <a:lstStyle/>
              <a:p>
                <a:r>
                  <a:rPr lang="en-US">
                    <a:noFill/>
                  </a:rPr>
                  <a:t> </a:t>
                </a:r>
              </a:p>
            </p:txBody>
          </p:sp>
        </mc:Fallback>
      </mc:AlternateContent>
      <p:sp>
        <p:nvSpPr>
          <p:cNvPr id="4" name="Slide Number Placeholder 3">
            <a:extLst>
              <a:ext uri="{FF2B5EF4-FFF2-40B4-BE49-F238E27FC236}">
                <a16:creationId xmlns:a16="http://schemas.microsoft.com/office/drawing/2014/main" id="{0D18DEC2-34D3-58BA-34EF-A518951CA326}"/>
              </a:ext>
            </a:extLst>
          </p:cNvPr>
          <p:cNvSpPr>
            <a:spLocks noGrp="1"/>
          </p:cNvSpPr>
          <p:nvPr>
            <p:ph type="sldNum" sz="quarter" idx="12"/>
          </p:nvPr>
        </p:nvSpPr>
        <p:spPr/>
        <p:txBody>
          <a:bodyPr/>
          <a:lstStyle/>
          <a:p>
            <a:fld id="{9A3029B7-FE6B-4680-9049-80E8298A0825}" type="slidenum">
              <a:rPr lang="en-US" smtClean="0"/>
              <a:t>16</a:t>
            </a:fld>
            <a:endParaRPr lang="en-US"/>
          </a:p>
        </p:txBody>
      </p:sp>
      <p:pic>
        <p:nvPicPr>
          <p:cNvPr id="5" name="Picture 4">
            <a:extLst>
              <a:ext uri="{FF2B5EF4-FFF2-40B4-BE49-F238E27FC236}">
                <a16:creationId xmlns:a16="http://schemas.microsoft.com/office/drawing/2014/main" id="{6A008431-484E-D5A2-FE82-EB46F91C39E9}"/>
              </a:ext>
            </a:extLst>
          </p:cNvPr>
          <p:cNvPicPr>
            <a:picLocks noChangeAspect="1"/>
          </p:cNvPicPr>
          <p:nvPr/>
        </p:nvPicPr>
        <p:blipFill>
          <a:blip r:embed="rId3">
            <a:duotone>
              <a:schemeClr val="accent4">
                <a:shade val="45000"/>
                <a:satMod val="135000"/>
              </a:schemeClr>
              <a:prstClr val="white"/>
            </a:duotone>
          </a:blip>
          <a:stretch>
            <a:fillRect/>
          </a:stretch>
        </p:blipFill>
        <p:spPr>
          <a:xfrm>
            <a:off x="6245512" y="1425032"/>
            <a:ext cx="2852124" cy="2766131"/>
          </a:xfrm>
          <a:prstGeom prst="rect">
            <a:avLst/>
          </a:prstGeom>
        </p:spPr>
      </p:pic>
    </p:spTree>
    <p:extLst>
      <p:ext uri="{BB962C8B-B14F-4D97-AF65-F5344CB8AC3E}">
        <p14:creationId xmlns:p14="http://schemas.microsoft.com/office/powerpoint/2010/main" val="4252465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
                                            <p:txEl>
                                              <p:pRg st="5" end="5"/>
                                            </p:txEl>
                                          </p:spTgt>
                                        </p:tgtEl>
                                        <p:attrNameLst>
                                          <p:attrName>style.visibility</p:attrName>
                                        </p:attrNameLst>
                                      </p:cBhvr>
                                      <p:to>
                                        <p:strVal val="visible"/>
                                      </p:to>
                                    </p:set>
                                    <p:animEffect transition="in" filter="fade">
                                      <p:cBhvr>
                                        <p:cTn id="12" dur="500"/>
                                        <p:tgtEl>
                                          <p:spTgt spid="3">
                                            <p:txEl>
                                              <p:pRg st="5" end="5"/>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animEffect transition="in" filter="fade">
                                      <p:cBhvr>
                                        <p:cTn id="17" dur="500"/>
                                        <p:tgtEl>
                                          <p:spTgt spid="3">
                                            <p:txEl>
                                              <p:pRg st="7" end="7"/>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3">
                                            <p:txEl>
                                              <p:pRg st="9" end="9"/>
                                            </p:txEl>
                                          </p:spTgt>
                                        </p:tgtEl>
                                        <p:attrNameLst>
                                          <p:attrName>style.visibility</p:attrName>
                                        </p:attrNameLst>
                                      </p:cBhvr>
                                      <p:to>
                                        <p:strVal val="visible"/>
                                      </p:to>
                                    </p:set>
                                    <p:animEffect transition="in" filter="fade">
                                      <p:cBhvr>
                                        <p:cTn id="22" dur="500"/>
                                        <p:tgtEl>
                                          <p:spTgt spid="3">
                                            <p:txEl>
                                              <p:pRg st="9" end="9"/>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animEffect transition="in" filter="fade">
                                      <p:cBhvr>
                                        <p:cTn id="27" dur="500"/>
                                        <p:tgtEl>
                                          <p:spTgt spid="3">
                                            <p:txEl>
                                              <p:pRg st="11" end="11"/>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3">
                                            <p:txEl>
                                              <p:pRg st="12" end="12"/>
                                            </p:txEl>
                                          </p:spTgt>
                                        </p:tgtEl>
                                        <p:attrNameLst>
                                          <p:attrName>style.visibility</p:attrName>
                                        </p:attrNameLst>
                                      </p:cBhvr>
                                      <p:to>
                                        <p:strVal val="visible"/>
                                      </p:to>
                                    </p:set>
                                    <p:animEffect transition="in" filter="fade">
                                      <p:cBhvr>
                                        <p:cTn id="32" dur="500"/>
                                        <p:tgtEl>
                                          <p:spTgt spid="3">
                                            <p:txEl>
                                              <p:pRg st="12" end="12"/>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3">
                                            <p:txEl>
                                              <p:pRg st="13" end="13"/>
                                            </p:txEl>
                                          </p:spTgt>
                                        </p:tgtEl>
                                        <p:attrNameLst>
                                          <p:attrName>style.visibility</p:attrName>
                                        </p:attrNameLst>
                                      </p:cBhvr>
                                      <p:to>
                                        <p:strVal val="visible"/>
                                      </p:to>
                                    </p:set>
                                    <p:animEffect transition="in" filter="fade">
                                      <p:cBhvr>
                                        <p:cTn id="35" dur="500"/>
                                        <p:tgtEl>
                                          <p:spTgt spid="3">
                                            <p:txEl>
                                              <p:pRg st="13" end="13"/>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3">
                                            <p:txEl>
                                              <p:pRg st="15" end="15"/>
                                            </p:txEl>
                                          </p:spTgt>
                                        </p:tgtEl>
                                        <p:attrNameLst>
                                          <p:attrName>style.visibility</p:attrName>
                                        </p:attrNameLst>
                                      </p:cBhvr>
                                      <p:to>
                                        <p:strVal val="visible"/>
                                      </p:to>
                                    </p:set>
                                    <p:animEffect transition="in" filter="fade">
                                      <p:cBhvr>
                                        <p:cTn id="40" dur="500"/>
                                        <p:tgtEl>
                                          <p:spTgt spid="3">
                                            <p:txEl>
                                              <p:pRg st="15" end="1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Mass Growth</a:t>
            </a:r>
          </a:p>
        </p:txBody>
      </p:sp>
      <p:pic>
        <p:nvPicPr>
          <p:cNvPr id="4" name="Picture 3"/>
          <p:cNvPicPr>
            <a:picLocks noChangeAspect="1"/>
          </p:cNvPicPr>
          <p:nvPr/>
        </p:nvPicPr>
        <p:blipFill>
          <a:blip r:embed="rId2"/>
          <a:stretch>
            <a:fillRect/>
          </a:stretch>
        </p:blipFill>
        <p:spPr>
          <a:xfrm>
            <a:off x="154674" y="1542409"/>
            <a:ext cx="8834651" cy="4619078"/>
          </a:xfrm>
          <a:prstGeom prst="rect">
            <a:avLst/>
          </a:prstGeom>
        </p:spPr>
      </p:pic>
    </p:spTree>
    <p:extLst>
      <p:ext uri="{BB962C8B-B14F-4D97-AF65-F5344CB8AC3E}">
        <p14:creationId xmlns:p14="http://schemas.microsoft.com/office/powerpoint/2010/main" val="8238879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3BA9F4-F752-8EBD-75C4-F731B26328E5}"/>
              </a:ext>
            </a:extLst>
          </p:cNvPr>
          <p:cNvSpPr>
            <a:spLocks noGrp="1"/>
          </p:cNvSpPr>
          <p:nvPr>
            <p:ph type="title"/>
          </p:nvPr>
        </p:nvSpPr>
        <p:spPr/>
        <p:txBody>
          <a:bodyPr/>
          <a:lstStyle/>
          <a:p>
            <a:r>
              <a:rPr lang="en-US" dirty="0"/>
              <a:t>Volumetric (Configuration) Budget</a:t>
            </a:r>
          </a:p>
        </p:txBody>
      </p:sp>
      <p:sp>
        <p:nvSpPr>
          <p:cNvPr id="3" name="Content Placeholder 2">
            <a:extLst>
              <a:ext uri="{FF2B5EF4-FFF2-40B4-BE49-F238E27FC236}">
                <a16:creationId xmlns:a16="http://schemas.microsoft.com/office/drawing/2014/main" id="{FBBA7A48-EA28-C328-E34B-A297347ECD51}"/>
              </a:ext>
            </a:extLst>
          </p:cNvPr>
          <p:cNvSpPr>
            <a:spLocks noGrp="1"/>
          </p:cNvSpPr>
          <p:nvPr>
            <p:ph idx="1"/>
          </p:nvPr>
        </p:nvSpPr>
        <p:spPr>
          <a:xfrm>
            <a:off x="200026" y="1002507"/>
            <a:ext cx="6579916" cy="2426494"/>
          </a:xfrm>
        </p:spPr>
        <p:txBody>
          <a:bodyPr>
            <a:normAutofit fontScale="92500"/>
          </a:bodyPr>
          <a:lstStyle/>
          <a:p>
            <a:pPr marL="0" indent="0">
              <a:buNone/>
            </a:pPr>
            <a:r>
              <a:rPr lang="en-US" sz="2400" b="1" dirty="0"/>
              <a:t>Tracks physical space allocation inside spacecraft bus and payload fairing.</a:t>
            </a:r>
          </a:p>
          <a:p>
            <a:r>
              <a:rPr lang="en-US" sz="2400" dirty="0"/>
              <a:t>Ensures subsystems physically fit and don’t interfere.</a:t>
            </a:r>
          </a:p>
          <a:p>
            <a:r>
              <a:rPr lang="en-US" sz="2400" dirty="0"/>
              <a:t>Consider alternative form factors of components.</a:t>
            </a:r>
          </a:p>
          <a:p>
            <a:r>
              <a:rPr lang="en-US" sz="2400" dirty="0"/>
              <a:t>Tracked in CAD and using BOM</a:t>
            </a:r>
          </a:p>
        </p:txBody>
      </p:sp>
      <p:sp>
        <p:nvSpPr>
          <p:cNvPr id="4" name="Slide Number Placeholder 3">
            <a:extLst>
              <a:ext uri="{FF2B5EF4-FFF2-40B4-BE49-F238E27FC236}">
                <a16:creationId xmlns:a16="http://schemas.microsoft.com/office/drawing/2014/main" id="{DAA3AC12-13F9-5707-2FCD-CE11E760140F}"/>
              </a:ext>
            </a:extLst>
          </p:cNvPr>
          <p:cNvSpPr>
            <a:spLocks noGrp="1"/>
          </p:cNvSpPr>
          <p:nvPr>
            <p:ph type="sldNum" sz="quarter" idx="12"/>
          </p:nvPr>
        </p:nvSpPr>
        <p:spPr/>
        <p:txBody>
          <a:bodyPr/>
          <a:lstStyle/>
          <a:p>
            <a:fld id="{9A3029B7-FE6B-4680-9049-80E8298A0825}" type="slidenum">
              <a:rPr lang="en-US" smtClean="0"/>
              <a:t>18</a:t>
            </a:fld>
            <a:endParaRPr lang="en-US"/>
          </a:p>
        </p:txBody>
      </p:sp>
      <p:pic>
        <p:nvPicPr>
          <p:cNvPr id="7" name="Picture 6">
            <a:extLst>
              <a:ext uri="{FF2B5EF4-FFF2-40B4-BE49-F238E27FC236}">
                <a16:creationId xmlns:a16="http://schemas.microsoft.com/office/drawing/2014/main" id="{93544FA8-4560-EE3F-2A89-E553CD4E86C8}"/>
              </a:ext>
            </a:extLst>
          </p:cNvPr>
          <p:cNvPicPr>
            <a:picLocks noChangeAspect="1"/>
          </p:cNvPicPr>
          <p:nvPr/>
        </p:nvPicPr>
        <p:blipFill>
          <a:blip r:embed="rId3"/>
          <a:stretch>
            <a:fillRect/>
          </a:stretch>
        </p:blipFill>
        <p:spPr>
          <a:xfrm>
            <a:off x="350166" y="3504069"/>
            <a:ext cx="8272446" cy="3290478"/>
          </a:xfrm>
          <a:prstGeom prst="rect">
            <a:avLst/>
          </a:prstGeom>
        </p:spPr>
      </p:pic>
      <p:pic>
        <p:nvPicPr>
          <p:cNvPr id="1027" name="Picture 3" descr="Tetris - Simple English Wikipedia, the free encyclopedia">
            <a:extLst>
              <a:ext uri="{FF2B5EF4-FFF2-40B4-BE49-F238E27FC236}">
                <a16:creationId xmlns:a16="http://schemas.microsoft.com/office/drawing/2014/main" id="{A195D0E7-9A82-0E6B-1144-F76CED6A667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40597" y="1002506"/>
            <a:ext cx="1321620" cy="242649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61522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4B924D-41BE-E1D0-1D12-E1D7323EF116}"/>
              </a:ext>
            </a:extLst>
          </p:cNvPr>
          <p:cNvSpPr>
            <a:spLocks noGrp="1"/>
          </p:cNvSpPr>
          <p:nvPr>
            <p:ph type="title"/>
          </p:nvPr>
        </p:nvSpPr>
        <p:spPr/>
        <p:txBody>
          <a:bodyPr/>
          <a:lstStyle/>
          <a:p>
            <a:r>
              <a:rPr lang="en-US" dirty="0"/>
              <a:t>Propellant Budget</a:t>
            </a:r>
          </a:p>
        </p:txBody>
      </p:sp>
      <p:sp>
        <p:nvSpPr>
          <p:cNvPr id="4" name="Slide Number Placeholder 3">
            <a:extLst>
              <a:ext uri="{FF2B5EF4-FFF2-40B4-BE49-F238E27FC236}">
                <a16:creationId xmlns:a16="http://schemas.microsoft.com/office/drawing/2014/main" id="{B4247A53-FAEF-4C4E-8654-CBA68450848A}"/>
              </a:ext>
            </a:extLst>
          </p:cNvPr>
          <p:cNvSpPr>
            <a:spLocks noGrp="1"/>
          </p:cNvSpPr>
          <p:nvPr>
            <p:ph type="sldNum" sz="quarter" idx="12"/>
          </p:nvPr>
        </p:nvSpPr>
        <p:spPr/>
        <p:txBody>
          <a:bodyPr/>
          <a:lstStyle/>
          <a:p>
            <a:fld id="{9A3029B7-FE6B-4680-9049-80E8298A0825}" type="slidenum">
              <a:rPr lang="en-US" smtClean="0"/>
              <a:t>19</a:t>
            </a:fld>
            <a:endParaRPr lang="en-US"/>
          </a:p>
        </p:txBody>
      </p:sp>
      <p:pic>
        <p:nvPicPr>
          <p:cNvPr id="6" name="Picture 5">
            <a:extLst>
              <a:ext uri="{FF2B5EF4-FFF2-40B4-BE49-F238E27FC236}">
                <a16:creationId xmlns:a16="http://schemas.microsoft.com/office/drawing/2014/main" id="{A97122E1-8664-BC41-5B39-FFBA3503D78C}"/>
              </a:ext>
            </a:extLst>
          </p:cNvPr>
          <p:cNvPicPr>
            <a:picLocks noChangeAspect="1"/>
          </p:cNvPicPr>
          <p:nvPr/>
        </p:nvPicPr>
        <p:blipFill>
          <a:blip r:embed="rId3"/>
          <a:stretch>
            <a:fillRect/>
          </a:stretch>
        </p:blipFill>
        <p:spPr>
          <a:xfrm>
            <a:off x="139021" y="2233810"/>
            <a:ext cx="8614645" cy="4491004"/>
          </a:xfrm>
          <a:prstGeom prst="rect">
            <a:avLst/>
          </a:prstGeom>
        </p:spPr>
      </p:pic>
      <p:sp>
        <p:nvSpPr>
          <p:cNvPr id="7" name="Rectangle 1">
            <a:extLst>
              <a:ext uri="{FF2B5EF4-FFF2-40B4-BE49-F238E27FC236}">
                <a16:creationId xmlns:a16="http://schemas.microsoft.com/office/drawing/2014/main" id="{B33D47A6-0628-765A-7AFB-CDAC0C46B600}"/>
              </a:ext>
            </a:extLst>
          </p:cNvPr>
          <p:cNvSpPr>
            <a:spLocks noGrp="1" noChangeArrowheads="1"/>
          </p:cNvSpPr>
          <p:nvPr>
            <p:ph idx="1"/>
          </p:nvPr>
        </p:nvSpPr>
        <p:spPr bwMode="auto">
          <a:xfrm>
            <a:off x="264676" y="971527"/>
            <a:ext cx="8614645"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rPr>
              <a:t>Tracks propellant needed for all anticipated maneuvers: orbit insertion, station keeping, attitude control, deorbit/disposal.</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 Expressed as </a:t>
            </a:r>
            <a:r>
              <a:rPr kumimoji="0" lang="en-US" altLang="en-US" sz="1800" b="1" i="0" u="none" strike="noStrike" cap="none" normalizeH="0" baseline="0" dirty="0">
                <a:ln>
                  <a:noFill/>
                </a:ln>
                <a:solidFill>
                  <a:schemeClr val="tx1"/>
                </a:solidFill>
                <a:effectLst/>
              </a:rPr>
              <a:t>∆v requirements</a:t>
            </a:r>
            <a:r>
              <a:rPr kumimoji="0" lang="en-US" altLang="en-US" sz="1800" b="0" i="0" u="none" strike="noStrike" cap="none" normalizeH="0" baseline="0" dirty="0">
                <a:ln>
                  <a:noFill/>
                </a:ln>
                <a:solidFill>
                  <a:schemeClr val="tx1"/>
                </a:solidFill>
                <a:effectLst/>
              </a:rPr>
              <a:t> plus margins (often 10–20%) and residual (1-2%).</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rPr>
              <a:t> Tied directly to spacecraft lifetime and mission profile.</a:t>
            </a:r>
          </a:p>
        </p:txBody>
      </p:sp>
      <p:sp>
        <p:nvSpPr>
          <p:cNvPr id="8" name="TextBox 7">
            <a:extLst>
              <a:ext uri="{FF2B5EF4-FFF2-40B4-BE49-F238E27FC236}">
                <a16:creationId xmlns:a16="http://schemas.microsoft.com/office/drawing/2014/main" id="{C054573C-54BE-CD79-5DFE-2A2D478322D2}"/>
              </a:ext>
            </a:extLst>
          </p:cNvPr>
          <p:cNvSpPr txBox="1"/>
          <p:nvPr/>
        </p:nvSpPr>
        <p:spPr>
          <a:xfrm>
            <a:off x="7537324" y="3770527"/>
            <a:ext cx="880947" cy="369332"/>
          </a:xfrm>
          <a:prstGeom prst="rect">
            <a:avLst/>
          </a:prstGeom>
          <a:noFill/>
          <a:ln>
            <a:solidFill>
              <a:srgbClr val="FF0000"/>
            </a:solidFill>
          </a:ln>
        </p:spPr>
        <p:txBody>
          <a:bodyPr wrap="square" rtlCol="0">
            <a:spAutoFit/>
          </a:bodyPr>
          <a:lstStyle/>
          <a:p>
            <a:pPr algn="ctr"/>
            <a:r>
              <a:rPr lang="en-US" dirty="0">
                <a:solidFill>
                  <a:srgbClr val="FF0000"/>
                </a:solidFill>
              </a:rPr>
              <a:t>SMAD</a:t>
            </a:r>
          </a:p>
        </p:txBody>
      </p:sp>
    </p:spTree>
    <p:extLst>
      <p:ext uri="{BB962C8B-B14F-4D97-AF65-F5344CB8AC3E}">
        <p14:creationId xmlns:p14="http://schemas.microsoft.com/office/powerpoint/2010/main" val="13789684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85D873-1F09-4E2A-4428-03810136B48A}"/>
              </a:ext>
            </a:extLst>
          </p:cNvPr>
          <p:cNvSpPr>
            <a:spLocks noGrp="1"/>
          </p:cNvSpPr>
          <p:nvPr>
            <p:ph type="title"/>
          </p:nvPr>
        </p:nvSpPr>
        <p:spPr/>
        <p:txBody>
          <a:bodyPr/>
          <a:lstStyle/>
          <a:p>
            <a:r>
              <a:rPr lang="en-US" dirty="0"/>
              <a:t>Reliability Budget</a:t>
            </a:r>
          </a:p>
        </p:txBody>
      </p:sp>
      <p:sp>
        <p:nvSpPr>
          <p:cNvPr id="3" name="Content Placeholder 2">
            <a:extLst>
              <a:ext uri="{FF2B5EF4-FFF2-40B4-BE49-F238E27FC236}">
                <a16:creationId xmlns:a16="http://schemas.microsoft.com/office/drawing/2014/main" id="{1DCA864A-CE44-824E-3BFC-1BB2C7786C8B}"/>
              </a:ext>
            </a:extLst>
          </p:cNvPr>
          <p:cNvSpPr>
            <a:spLocks noGrp="1"/>
          </p:cNvSpPr>
          <p:nvPr>
            <p:ph idx="1"/>
          </p:nvPr>
        </p:nvSpPr>
        <p:spPr>
          <a:xfrm>
            <a:off x="200026" y="1002506"/>
            <a:ext cx="3515542" cy="1197769"/>
          </a:xfrm>
        </p:spPr>
        <p:txBody>
          <a:bodyPr>
            <a:normAutofit/>
          </a:bodyPr>
          <a:lstStyle/>
          <a:p>
            <a:pPr marL="0" indent="0">
              <a:buNone/>
            </a:pPr>
            <a:r>
              <a:rPr lang="en-US" sz="1600" b="1" dirty="0"/>
              <a:t>A structured way of ensuring that a spacecraft meets mission lifetime and success criteria by allocating, tracking, and managing reliability across subsystems.</a:t>
            </a:r>
            <a:endParaRPr lang="en-US" sz="1600" dirty="0">
              <a:sym typeface="Wingdings" panose="05000000000000000000" pitchFamily="2" charset="2"/>
            </a:endParaRPr>
          </a:p>
          <a:p>
            <a:pPr marL="0" indent="0">
              <a:buNone/>
            </a:pPr>
            <a:endParaRPr lang="en-US" sz="1600" dirty="0"/>
          </a:p>
        </p:txBody>
      </p:sp>
      <p:sp>
        <p:nvSpPr>
          <p:cNvPr id="4" name="Slide Number Placeholder 3">
            <a:extLst>
              <a:ext uri="{FF2B5EF4-FFF2-40B4-BE49-F238E27FC236}">
                <a16:creationId xmlns:a16="http://schemas.microsoft.com/office/drawing/2014/main" id="{9CAACC65-77F4-37F5-BA71-B3989478524F}"/>
              </a:ext>
            </a:extLst>
          </p:cNvPr>
          <p:cNvSpPr>
            <a:spLocks noGrp="1"/>
          </p:cNvSpPr>
          <p:nvPr>
            <p:ph type="sldNum" sz="quarter" idx="12"/>
          </p:nvPr>
        </p:nvSpPr>
        <p:spPr/>
        <p:txBody>
          <a:bodyPr/>
          <a:lstStyle/>
          <a:p>
            <a:fld id="{9A3029B7-FE6B-4680-9049-80E8298A0825}" type="slidenum">
              <a:rPr lang="en-US" smtClean="0"/>
              <a:t>20</a:t>
            </a:fld>
            <a:endParaRPr lang="en-US"/>
          </a:p>
        </p:txBody>
      </p:sp>
      <p:pic>
        <p:nvPicPr>
          <p:cNvPr id="6" name="Picture 5">
            <a:extLst>
              <a:ext uri="{FF2B5EF4-FFF2-40B4-BE49-F238E27FC236}">
                <a16:creationId xmlns:a16="http://schemas.microsoft.com/office/drawing/2014/main" id="{6F12663D-958D-0B37-0C98-E6735A9610D4}"/>
              </a:ext>
            </a:extLst>
          </p:cNvPr>
          <p:cNvPicPr>
            <a:picLocks noChangeAspect="1"/>
          </p:cNvPicPr>
          <p:nvPr/>
        </p:nvPicPr>
        <p:blipFill>
          <a:blip r:embed="rId2"/>
          <a:stretch>
            <a:fillRect/>
          </a:stretch>
        </p:blipFill>
        <p:spPr>
          <a:xfrm>
            <a:off x="3715568" y="973057"/>
            <a:ext cx="5277473" cy="5751756"/>
          </a:xfrm>
          <a:prstGeom prst="rect">
            <a:avLst/>
          </a:prstGeom>
        </p:spPr>
      </p:pic>
      <p:sp>
        <p:nvSpPr>
          <p:cNvPr id="7" name="TextBox 6">
            <a:extLst>
              <a:ext uri="{FF2B5EF4-FFF2-40B4-BE49-F238E27FC236}">
                <a16:creationId xmlns:a16="http://schemas.microsoft.com/office/drawing/2014/main" id="{AA2D2473-E9F5-4C0A-8D71-C39F02CEB476}"/>
              </a:ext>
            </a:extLst>
          </p:cNvPr>
          <p:cNvSpPr txBox="1"/>
          <p:nvPr/>
        </p:nvSpPr>
        <p:spPr>
          <a:xfrm>
            <a:off x="7872719" y="1002506"/>
            <a:ext cx="880947" cy="369332"/>
          </a:xfrm>
          <a:prstGeom prst="rect">
            <a:avLst/>
          </a:prstGeom>
          <a:noFill/>
          <a:ln>
            <a:solidFill>
              <a:srgbClr val="FF0000"/>
            </a:solidFill>
          </a:ln>
        </p:spPr>
        <p:txBody>
          <a:bodyPr wrap="square" rtlCol="0">
            <a:spAutoFit/>
          </a:bodyPr>
          <a:lstStyle/>
          <a:p>
            <a:pPr algn="ctr"/>
            <a:r>
              <a:rPr lang="en-US" dirty="0">
                <a:solidFill>
                  <a:srgbClr val="FF0000"/>
                </a:solidFill>
              </a:rPr>
              <a:t>SMAD</a:t>
            </a:r>
          </a:p>
        </p:txBody>
      </p:sp>
      <p:sp>
        <p:nvSpPr>
          <p:cNvPr id="9" name="TextBox 8">
            <a:extLst>
              <a:ext uri="{FF2B5EF4-FFF2-40B4-BE49-F238E27FC236}">
                <a16:creationId xmlns:a16="http://schemas.microsoft.com/office/drawing/2014/main" id="{7B894409-E5DE-EC7A-9668-38B5C36DD49E}"/>
              </a:ext>
            </a:extLst>
          </p:cNvPr>
          <p:cNvSpPr txBox="1"/>
          <p:nvPr/>
        </p:nvSpPr>
        <p:spPr>
          <a:xfrm>
            <a:off x="150962" y="4848546"/>
            <a:ext cx="3460011" cy="1569660"/>
          </a:xfrm>
          <a:prstGeom prst="rect">
            <a:avLst/>
          </a:prstGeom>
          <a:noFill/>
          <a:ln>
            <a:solidFill>
              <a:srgbClr val="FF0000"/>
            </a:solidFill>
          </a:ln>
        </p:spPr>
        <p:txBody>
          <a:bodyPr wrap="square">
            <a:spAutoFit/>
          </a:bodyPr>
          <a:lstStyle/>
          <a:p>
            <a:pPr marL="0" indent="0">
              <a:buNone/>
            </a:pPr>
            <a:r>
              <a:rPr lang="en-US" sz="1600" b="1" u="sng" dirty="0"/>
              <a:t>Strategies to improve reliability:</a:t>
            </a:r>
          </a:p>
          <a:p>
            <a:pPr marL="285750" indent="-285750">
              <a:buFont typeface="Arial" panose="020B0604020202020204" pitchFamily="34" charset="0"/>
              <a:buChar char="•"/>
            </a:pPr>
            <a:r>
              <a:rPr lang="en-US" sz="1600" dirty="0"/>
              <a:t>Higher quality components</a:t>
            </a:r>
          </a:p>
          <a:p>
            <a:pPr marL="285750" indent="-285750">
              <a:buFont typeface="Arial" panose="020B0604020202020204" pitchFamily="34" charset="0"/>
              <a:buChar char="•"/>
            </a:pPr>
            <a:r>
              <a:rPr lang="en-US" sz="1600" dirty="0"/>
              <a:t>Redundancy</a:t>
            </a:r>
          </a:p>
          <a:p>
            <a:pPr marL="285750" indent="-285750">
              <a:buFont typeface="Arial" panose="020B0604020202020204" pitchFamily="34" charset="0"/>
              <a:buChar char="•"/>
            </a:pPr>
            <a:r>
              <a:rPr lang="en-US" sz="1600" dirty="0"/>
              <a:t>Component Derating</a:t>
            </a:r>
          </a:p>
          <a:p>
            <a:pPr marL="285750" indent="-285750">
              <a:buFont typeface="Arial" panose="020B0604020202020204" pitchFamily="34" charset="0"/>
              <a:buChar char="•"/>
            </a:pPr>
            <a:r>
              <a:rPr lang="en-US" sz="1600" dirty="0"/>
              <a:t>Radiation hardening</a:t>
            </a:r>
          </a:p>
          <a:p>
            <a:pPr marL="285750" indent="-285750">
              <a:buFont typeface="Arial" panose="020B0604020202020204" pitchFamily="34" charset="0"/>
              <a:buChar char="•"/>
            </a:pPr>
            <a:r>
              <a:rPr lang="en-US" sz="1600" dirty="0"/>
              <a:t>Fault detection and recovery</a:t>
            </a:r>
          </a:p>
        </p:txBody>
      </p:sp>
      <p:sp>
        <p:nvSpPr>
          <p:cNvPr id="11" name="TextBox 10">
            <a:extLst>
              <a:ext uri="{FF2B5EF4-FFF2-40B4-BE49-F238E27FC236}">
                <a16:creationId xmlns:a16="http://schemas.microsoft.com/office/drawing/2014/main" id="{FB07B0A1-B3E3-9760-81A9-5A68B3C415D2}"/>
              </a:ext>
            </a:extLst>
          </p:cNvPr>
          <p:cNvSpPr txBox="1"/>
          <p:nvPr/>
        </p:nvSpPr>
        <p:spPr>
          <a:xfrm>
            <a:off x="123196" y="2295170"/>
            <a:ext cx="3564606" cy="2400657"/>
          </a:xfrm>
          <a:prstGeom prst="rect">
            <a:avLst/>
          </a:prstGeom>
          <a:noFill/>
          <a:ln>
            <a:solidFill>
              <a:srgbClr val="0070C0"/>
            </a:solidFill>
          </a:ln>
        </p:spPr>
        <p:txBody>
          <a:bodyPr wrap="square">
            <a:spAutoFit/>
          </a:bodyPr>
          <a:lstStyle/>
          <a:p>
            <a:r>
              <a:rPr lang="en-US" sz="1400" u="sng" dirty="0">
                <a:solidFill>
                  <a:srgbClr val="002060"/>
                </a:solidFill>
              </a:rPr>
              <a:t>Summary of process*</a:t>
            </a:r>
            <a:r>
              <a:rPr lang="en-US" sz="1400" dirty="0">
                <a:solidFill>
                  <a:srgbClr val="002060"/>
                </a:solidFill>
              </a:rPr>
              <a:t>:</a:t>
            </a:r>
          </a:p>
          <a:p>
            <a:pPr marL="0" indent="0">
              <a:buNone/>
            </a:pPr>
            <a:r>
              <a:rPr lang="en-US" sz="1400" dirty="0">
                <a:solidFill>
                  <a:srgbClr val="002060"/>
                </a:solidFill>
              </a:rPr>
              <a:t>(1) A top-level requirement dictates overall success criteria, e.g.</a:t>
            </a:r>
          </a:p>
          <a:p>
            <a:pPr marL="457200" lvl="1" indent="0">
              <a:buNone/>
            </a:pPr>
            <a:r>
              <a:rPr lang="en-US" sz="1200" i="1" dirty="0">
                <a:solidFill>
                  <a:srgbClr val="002060"/>
                </a:solidFill>
              </a:rPr>
              <a:t>“95% probability of mission success over 3 years”</a:t>
            </a:r>
            <a:r>
              <a:rPr lang="en-US" sz="1200" dirty="0">
                <a:solidFill>
                  <a:srgbClr val="002060"/>
                </a:solidFill>
              </a:rPr>
              <a:t>.</a:t>
            </a:r>
          </a:p>
          <a:p>
            <a:pPr marL="0" indent="0">
              <a:buNone/>
            </a:pPr>
            <a:r>
              <a:rPr lang="en-US" sz="1400" dirty="0">
                <a:solidFill>
                  <a:srgbClr val="002060"/>
                </a:solidFill>
              </a:rPr>
              <a:t>(2) Reliability for each subsystem is estimated.</a:t>
            </a:r>
          </a:p>
          <a:p>
            <a:pPr marL="0" indent="0">
              <a:buNone/>
            </a:pPr>
            <a:r>
              <a:rPr lang="en-US" sz="1400" dirty="0">
                <a:solidFill>
                  <a:srgbClr val="002060"/>
                </a:solidFill>
              </a:rPr>
              <a:t>(3) Estimate combined reliability of entire system.</a:t>
            </a:r>
          </a:p>
          <a:p>
            <a:pPr marL="0" indent="0">
              <a:buNone/>
            </a:pPr>
            <a:r>
              <a:rPr lang="en-US" sz="1400" dirty="0">
                <a:solidFill>
                  <a:srgbClr val="002060"/>
                </a:solidFill>
              </a:rPr>
              <a:t>(4) Track and iterate throughout design process. </a:t>
            </a:r>
          </a:p>
        </p:txBody>
      </p:sp>
      <p:sp>
        <p:nvSpPr>
          <p:cNvPr id="13" name="TextBox 12">
            <a:extLst>
              <a:ext uri="{FF2B5EF4-FFF2-40B4-BE49-F238E27FC236}">
                <a16:creationId xmlns:a16="http://schemas.microsoft.com/office/drawing/2014/main" id="{F7D7DFFA-EDFA-BC3A-C830-862C8639456D}"/>
              </a:ext>
            </a:extLst>
          </p:cNvPr>
          <p:cNvSpPr txBox="1"/>
          <p:nvPr/>
        </p:nvSpPr>
        <p:spPr>
          <a:xfrm>
            <a:off x="0" y="6570925"/>
            <a:ext cx="4572000" cy="307777"/>
          </a:xfrm>
          <a:prstGeom prst="rect">
            <a:avLst/>
          </a:prstGeom>
          <a:noFill/>
        </p:spPr>
        <p:txBody>
          <a:bodyPr wrap="square">
            <a:spAutoFit/>
          </a:bodyPr>
          <a:lstStyle/>
          <a:p>
            <a:r>
              <a:rPr lang="en-US" sz="1400" dirty="0"/>
              <a:t>*dedicated lesson on Reliability latter in course</a:t>
            </a:r>
          </a:p>
        </p:txBody>
      </p:sp>
    </p:spTree>
    <p:extLst>
      <p:ext uri="{BB962C8B-B14F-4D97-AF65-F5344CB8AC3E}">
        <p14:creationId xmlns:p14="http://schemas.microsoft.com/office/powerpoint/2010/main" val="39824956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500"/>
                                        <p:tgtEl>
                                          <p:spTgt spid="7"/>
                                        </p:tgtEl>
                                      </p:cBhvr>
                                    </p:animEffec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animBg="1"/>
      <p:bldP spid="11" grpId="0" animBg="1"/>
      <p:bldP spid="13"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9E51FE-CAD1-BD20-094A-569D1B72748D}"/>
              </a:ext>
            </a:extLst>
          </p:cNvPr>
          <p:cNvSpPr>
            <a:spLocks noGrp="1"/>
          </p:cNvSpPr>
          <p:nvPr>
            <p:ph type="title"/>
          </p:nvPr>
        </p:nvSpPr>
        <p:spPr/>
        <p:txBody>
          <a:bodyPr/>
          <a:lstStyle/>
          <a:p>
            <a:r>
              <a:rPr lang="en-US" dirty="0"/>
              <a:t>Pointing Budget</a:t>
            </a:r>
          </a:p>
        </p:txBody>
      </p:sp>
      <p:sp>
        <p:nvSpPr>
          <p:cNvPr id="3" name="Content Placeholder 2">
            <a:extLst>
              <a:ext uri="{FF2B5EF4-FFF2-40B4-BE49-F238E27FC236}">
                <a16:creationId xmlns:a16="http://schemas.microsoft.com/office/drawing/2014/main" id="{882CEA77-CD2C-BCBC-F88F-E4BCDD024F29}"/>
              </a:ext>
            </a:extLst>
          </p:cNvPr>
          <p:cNvSpPr>
            <a:spLocks noGrp="1"/>
          </p:cNvSpPr>
          <p:nvPr>
            <p:ph idx="1"/>
          </p:nvPr>
        </p:nvSpPr>
        <p:spPr>
          <a:xfrm>
            <a:off x="200025" y="1002507"/>
            <a:ext cx="8793015" cy="1197988"/>
          </a:xfrm>
        </p:spPr>
        <p:txBody>
          <a:bodyPr>
            <a:normAutofit lnSpcReduction="10000"/>
          </a:bodyPr>
          <a:lstStyle/>
          <a:p>
            <a:pPr marL="0" indent="0">
              <a:buNone/>
            </a:pPr>
            <a:r>
              <a:rPr lang="en-US" sz="1800" b="1" dirty="0"/>
              <a:t>Accounts for all errors in spacecraft orientation to ensure antennas and sensors meet accuracy and stability requirements.</a:t>
            </a:r>
          </a:p>
          <a:p>
            <a:pPr marL="0" indent="0">
              <a:buNone/>
            </a:pPr>
            <a:r>
              <a:rPr lang="en-US" sz="1800" b="1" dirty="0">
                <a:sym typeface="Wingdings" panose="05000000000000000000" pitchFamily="2" charset="2"/>
              </a:rPr>
              <a:t></a:t>
            </a:r>
            <a:r>
              <a:rPr lang="en-US" sz="1800" dirty="0"/>
              <a:t> Breaks down all sources of error in the ADCS to ensure that overall pointing accuracy meets mission requirements.</a:t>
            </a:r>
            <a:endParaRPr lang="en-US" sz="1800" b="1" dirty="0"/>
          </a:p>
        </p:txBody>
      </p:sp>
      <p:sp>
        <p:nvSpPr>
          <p:cNvPr id="4" name="Slide Number Placeholder 3">
            <a:extLst>
              <a:ext uri="{FF2B5EF4-FFF2-40B4-BE49-F238E27FC236}">
                <a16:creationId xmlns:a16="http://schemas.microsoft.com/office/drawing/2014/main" id="{4D512F4A-ADE1-4385-AD66-E3FC86350EA7}"/>
              </a:ext>
            </a:extLst>
          </p:cNvPr>
          <p:cNvSpPr>
            <a:spLocks noGrp="1"/>
          </p:cNvSpPr>
          <p:nvPr>
            <p:ph type="sldNum" sz="quarter" idx="12"/>
          </p:nvPr>
        </p:nvSpPr>
        <p:spPr/>
        <p:txBody>
          <a:bodyPr/>
          <a:lstStyle/>
          <a:p>
            <a:fld id="{9A3029B7-FE6B-4680-9049-80E8298A0825}" type="slidenum">
              <a:rPr lang="en-US" smtClean="0"/>
              <a:t>21</a:t>
            </a:fld>
            <a:endParaRPr lang="en-US"/>
          </a:p>
        </p:txBody>
      </p:sp>
      <p:sp>
        <p:nvSpPr>
          <p:cNvPr id="6" name="TextBox 5">
            <a:extLst>
              <a:ext uri="{FF2B5EF4-FFF2-40B4-BE49-F238E27FC236}">
                <a16:creationId xmlns:a16="http://schemas.microsoft.com/office/drawing/2014/main" id="{A08F13D1-AEEC-F180-C693-F9F52188F7A2}"/>
              </a:ext>
            </a:extLst>
          </p:cNvPr>
          <p:cNvSpPr txBox="1"/>
          <p:nvPr/>
        </p:nvSpPr>
        <p:spPr>
          <a:xfrm>
            <a:off x="426397" y="2164511"/>
            <a:ext cx="3781425" cy="2462213"/>
          </a:xfrm>
          <a:prstGeom prst="rect">
            <a:avLst/>
          </a:prstGeom>
          <a:noFill/>
          <a:ln>
            <a:solidFill>
              <a:srgbClr val="0070C0"/>
            </a:solidFill>
          </a:ln>
        </p:spPr>
        <p:txBody>
          <a:bodyPr wrap="square" rtlCol="0">
            <a:spAutoFit/>
          </a:bodyPr>
          <a:lstStyle/>
          <a:p>
            <a:pPr algn="ctr"/>
            <a:r>
              <a:rPr lang="en-US" sz="1400" b="1" u="sng" dirty="0">
                <a:solidFill>
                  <a:srgbClr val="0070C0"/>
                </a:solidFill>
              </a:rPr>
              <a:t>What goes into Pointing Budget</a:t>
            </a:r>
          </a:p>
          <a:p>
            <a:pPr marL="285750" indent="-285750">
              <a:buFont typeface="Arial" panose="020B0604020202020204" pitchFamily="34" charset="0"/>
              <a:buChar char="•"/>
            </a:pPr>
            <a:r>
              <a:rPr lang="en-US" sz="1400" b="1" dirty="0">
                <a:solidFill>
                  <a:srgbClr val="0070C0"/>
                </a:solidFill>
              </a:rPr>
              <a:t>Sensor Errors</a:t>
            </a:r>
            <a:endParaRPr lang="en-US" sz="1400" dirty="0">
              <a:solidFill>
                <a:srgbClr val="0070C0"/>
              </a:solidFill>
            </a:endParaRPr>
          </a:p>
          <a:p>
            <a:pPr marL="285750" indent="-285750">
              <a:buFont typeface="Arial" panose="020B0604020202020204" pitchFamily="34" charset="0"/>
              <a:buChar char="•"/>
            </a:pPr>
            <a:r>
              <a:rPr lang="en-US" sz="1400" b="1" dirty="0">
                <a:solidFill>
                  <a:srgbClr val="0070C0"/>
                </a:solidFill>
              </a:rPr>
              <a:t>Actuator Errors</a:t>
            </a:r>
            <a:endParaRPr lang="en-US" sz="1400" dirty="0">
              <a:solidFill>
                <a:srgbClr val="0070C0"/>
              </a:solidFill>
            </a:endParaRPr>
          </a:p>
          <a:p>
            <a:pPr marL="285750" indent="-285750">
              <a:buFont typeface="Arial" panose="020B0604020202020204" pitchFamily="34" charset="0"/>
              <a:buChar char="•"/>
            </a:pPr>
            <a:r>
              <a:rPr lang="en-US" sz="1400" b="1" dirty="0">
                <a:solidFill>
                  <a:srgbClr val="0070C0"/>
                </a:solidFill>
              </a:rPr>
              <a:t>GNC Errors</a:t>
            </a:r>
            <a:endParaRPr lang="en-US" sz="1400" dirty="0">
              <a:solidFill>
                <a:srgbClr val="0070C0"/>
              </a:solidFill>
            </a:endParaRPr>
          </a:p>
          <a:p>
            <a:pPr marL="742950" lvl="1" indent="-285750">
              <a:buFont typeface="Arial" panose="020B0604020202020204" pitchFamily="34" charset="0"/>
              <a:buChar char="•"/>
            </a:pPr>
            <a:r>
              <a:rPr lang="en-US" sz="1400" dirty="0">
                <a:solidFill>
                  <a:srgbClr val="0070C0"/>
                </a:solidFill>
              </a:rPr>
              <a:t>Estimation errors </a:t>
            </a:r>
          </a:p>
          <a:p>
            <a:pPr marL="742950" lvl="1" indent="-285750">
              <a:buFont typeface="Arial" panose="020B0604020202020204" pitchFamily="34" charset="0"/>
              <a:buChar char="•"/>
            </a:pPr>
            <a:r>
              <a:rPr lang="en-US" sz="1400" dirty="0">
                <a:solidFill>
                  <a:srgbClr val="0070C0"/>
                </a:solidFill>
              </a:rPr>
              <a:t>Command-to-actuator discretization</a:t>
            </a:r>
          </a:p>
          <a:p>
            <a:pPr marL="742950" lvl="1" indent="-285750">
              <a:buFont typeface="Arial" panose="020B0604020202020204" pitchFamily="34" charset="0"/>
              <a:buChar char="•"/>
            </a:pPr>
            <a:r>
              <a:rPr lang="en-US" sz="1400" dirty="0">
                <a:solidFill>
                  <a:srgbClr val="0070C0"/>
                </a:solidFill>
              </a:rPr>
              <a:t>Controller gain tuning</a:t>
            </a:r>
          </a:p>
          <a:p>
            <a:pPr marL="285750" indent="-285750">
              <a:buFont typeface="Arial" panose="020B0604020202020204" pitchFamily="34" charset="0"/>
              <a:buChar char="•"/>
            </a:pPr>
            <a:r>
              <a:rPr lang="en-US" sz="1400" b="1" dirty="0">
                <a:solidFill>
                  <a:srgbClr val="0070C0"/>
                </a:solidFill>
              </a:rPr>
              <a:t>Structural and Environmental Effects</a:t>
            </a:r>
            <a:endParaRPr lang="en-US" sz="1400" dirty="0">
              <a:solidFill>
                <a:srgbClr val="0070C0"/>
              </a:solidFill>
            </a:endParaRPr>
          </a:p>
          <a:p>
            <a:pPr marL="742950" lvl="1" indent="-285750">
              <a:buFont typeface="Arial" panose="020B0604020202020204" pitchFamily="34" charset="0"/>
              <a:buChar char="•"/>
            </a:pPr>
            <a:r>
              <a:rPr lang="en-US" sz="1400" dirty="0">
                <a:solidFill>
                  <a:srgbClr val="0070C0"/>
                </a:solidFill>
              </a:rPr>
              <a:t>Mechanical flexing or vibrations </a:t>
            </a:r>
          </a:p>
          <a:p>
            <a:pPr marL="742950" lvl="1" indent="-285750">
              <a:buFont typeface="Arial" panose="020B0604020202020204" pitchFamily="34" charset="0"/>
              <a:buChar char="•"/>
            </a:pPr>
            <a:r>
              <a:rPr lang="en-US" sz="1400" dirty="0">
                <a:solidFill>
                  <a:srgbClr val="0070C0"/>
                </a:solidFill>
              </a:rPr>
              <a:t>Thermal distortions</a:t>
            </a:r>
          </a:p>
          <a:p>
            <a:pPr marL="742950" lvl="1" indent="-285750">
              <a:buFont typeface="Arial" panose="020B0604020202020204" pitchFamily="34" charset="0"/>
              <a:buChar char="•"/>
            </a:pPr>
            <a:r>
              <a:rPr lang="en-US" sz="1400" dirty="0">
                <a:solidFill>
                  <a:srgbClr val="0070C0"/>
                </a:solidFill>
              </a:rPr>
              <a:t>External torques </a:t>
            </a:r>
          </a:p>
        </p:txBody>
      </p: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5F024DD1-0867-4200-7E98-33CB87987DC6}"/>
                  </a:ext>
                </a:extLst>
              </p:cNvPr>
              <p:cNvSpPr txBox="1"/>
              <p:nvPr/>
            </p:nvSpPr>
            <p:spPr>
              <a:xfrm>
                <a:off x="200023" y="4693489"/>
                <a:ext cx="4234171" cy="2031325"/>
              </a:xfrm>
              <a:prstGeom prst="rect">
                <a:avLst/>
              </a:prstGeom>
              <a:noFill/>
              <a:ln>
                <a:solidFill>
                  <a:srgbClr val="FF0000"/>
                </a:solidFill>
              </a:ln>
            </p:spPr>
            <p:txBody>
              <a:bodyPr wrap="square">
                <a:spAutoFit/>
              </a:bodyPr>
              <a:lstStyle/>
              <a:p>
                <a:pPr algn="ctr"/>
                <a:r>
                  <a:rPr lang="en-US" sz="1400" b="1" u="sng" dirty="0"/>
                  <a:t>Knowledge vs. Control vs. Stability</a:t>
                </a:r>
                <a:endParaRPr lang="en-US" sz="1400" u="sng" dirty="0"/>
              </a:p>
              <a:p>
                <a:r>
                  <a:rPr lang="en-US" sz="1400" b="1" dirty="0">
                    <a:solidFill>
                      <a:srgbClr val="FF0000"/>
                    </a:solidFill>
                  </a:rPr>
                  <a:t>Knowledge Error (</a:t>
                </a:r>
                <a14:m>
                  <m:oMath xmlns:m="http://schemas.openxmlformats.org/officeDocument/2006/math">
                    <m:sSub>
                      <m:sSubPr>
                        <m:ctrlPr>
                          <a:rPr lang="en-US" sz="1400" b="1" i="1">
                            <a:solidFill>
                              <a:srgbClr val="FF0000"/>
                            </a:solidFill>
                            <a:latin typeface="Cambria Math" panose="02040503050406030204" pitchFamily="18" charset="0"/>
                          </a:rPr>
                        </m:ctrlPr>
                      </m:sSubPr>
                      <m:e>
                        <m:r>
                          <a:rPr lang="en-US" sz="1400" b="1" i="1">
                            <a:solidFill>
                              <a:srgbClr val="FF0000"/>
                            </a:solidFill>
                            <a:latin typeface="Cambria Math" panose="02040503050406030204" pitchFamily="18" charset="0"/>
                          </a:rPr>
                          <m:t>𝒆</m:t>
                        </m:r>
                      </m:e>
                      <m:sub>
                        <m:r>
                          <a:rPr lang="en-US" sz="1400" b="1" i="1">
                            <a:solidFill>
                              <a:srgbClr val="FF0000"/>
                            </a:solidFill>
                            <a:latin typeface="Cambria Math" panose="02040503050406030204" pitchFamily="18" charset="0"/>
                          </a:rPr>
                          <m:t>𝒌</m:t>
                        </m:r>
                      </m:sub>
                    </m:sSub>
                  </m:oMath>
                </a14:m>
                <a:r>
                  <a:rPr lang="en-US" sz="1400" b="1" dirty="0">
                    <a:solidFill>
                      <a:srgbClr val="FF0000"/>
                    </a:solidFill>
                  </a:rPr>
                  <a:t>)</a:t>
                </a:r>
                <a:r>
                  <a:rPr lang="en-US" sz="1400" dirty="0">
                    <a:solidFill>
                      <a:srgbClr val="FF0000"/>
                    </a:solidFill>
                  </a:rPr>
                  <a:t>: </a:t>
                </a:r>
                <a:r>
                  <a:rPr lang="en-US" sz="1400" dirty="0"/>
                  <a:t>How well the spacecraft </a:t>
                </a:r>
                <a:r>
                  <a:rPr lang="en-US" sz="1400" i="1" dirty="0"/>
                  <a:t>knows</a:t>
                </a:r>
                <a:r>
                  <a:rPr lang="en-US" sz="1400" dirty="0"/>
                  <a:t> its attitude.</a:t>
                </a:r>
                <a:endParaRPr lang="en-US" sz="1400" b="1" dirty="0">
                  <a:solidFill>
                    <a:srgbClr val="FF0000"/>
                  </a:solidFill>
                </a:endParaRPr>
              </a:p>
              <a:p>
                <a:r>
                  <a:rPr lang="en-US" sz="1400" b="1" dirty="0">
                    <a:solidFill>
                      <a:srgbClr val="FF0000"/>
                    </a:solidFill>
                  </a:rPr>
                  <a:t>Control Error (</a:t>
                </a:r>
                <a14:m>
                  <m:oMath xmlns:m="http://schemas.openxmlformats.org/officeDocument/2006/math">
                    <m:sSub>
                      <m:sSubPr>
                        <m:ctrlPr>
                          <a:rPr lang="en-US" sz="1400" b="1" i="1">
                            <a:solidFill>
                              <a:srgbClr val="FF0000"/>
                            </a:solidFill>
                            <a:latin typeface="Cambria Math" panose="02040503050406030204" pitchFamily="18" charset="0"/>
                          </a:rPr>
                        </m:ctrlPr>
                      </m:sSubPr>
                      <m:e>
                        <m:r>
                          <a:rPr lang="en-US" sz="1400" b="1" i="1">
                            <a:solidFill>
                              <a:srgbClr val="FF0000"/>
                            </a:solidFill>
                            <a:latin typeface="Cambria Math" panose="02040503050406030204" pitchFamily="18" charset="0"/>
                          </a:rPr>
                          <m:t>𝒆</m:t>
                        </m:r>
                      </m:e>
                      <m:sub>
                        <m:r>
                          <a:rPr lang="en-US" sz="1400" b="1" i="1" smtClean="0">
                            <a:solidFill>
                              <a:srgbClr val="FF0000"/>
                            </a:solidFill>
                            <a:latin typeface="Cambria Math" panose="02040503050406030204" pitchFamily="18" charset="0"/>
                          </a:rPr>
                          <m:t>𝒄</m:t>
                        </m:r>
                      </m:sub>
                    </m:sSub>
                  </m:oMath>
                </a14:m>
                <a:r>
                  <a:rPr lang="en-US" sz="1400" b="1" dirty="0">
                    <a:solidFill>
                      <a:srgbClr val="FF0000"/>
                    </a:solidFill>
                  </a:rPr>
                  <a:t>)</a:t>
                </a:r>
                <a:r>
                  <a:rPr lang="en-US" sz="1400" dirty="0">
                    <a:solidFill>
                      <a:srgbClr val="FF0000"/>
                    </a:solidFill>
                  </a:rPr>
                  <a:t>: </a:t>
                </a:r>
                <a:r>
                  <a:rPr lang="en-US" sz="1400" dirty="0"/>
                  <a:t>How well the spacecraft can actually </a:t>
                </a:r>
                <a:r>
                  <a:rPr lang="en-US" sz="1400" i="1" dirty="0"/>
                  <a:t>hold</a:t>
                </a:r>
                <a:r>
                  <a:rPr lang="en-US" sz="1400" dirty="0"/>
                  <a:t> the commanded attitude.</a:t>
                </a:r>
              </a:p>
              <a:p>
                <a:r>
                  <a:rPr lang="en-US" sz="1400" dirty="0"/>
                  <a:t>Budgets often track these separately.</a:t>
                </a:r>
              </a:p>
              <a:p>
                <a:r>
                  <a:rPr lang="en-US" sz="1400" b="1" dirty="0">
                    <a:solidFill>
                      <a:srgbClr val="FF0000"/>
                    </a:solidFill>
                  </a:rPr>
                  <a:t>Stability Error (</a:t>
                </a:r>
                <a14:m>
                  <m:oMath xmlns:m="http://schemas.openxmlformats.org/officeDocument/2006/math">
                    <m:sSub>
                      <m:sSubPr>
                        <m:ctrlPr>
                          <a:rPr lang="en-US" sz="1400" b="1" i="1">
                            <a:solidFill>
                              <a:srgbClr val="FF0000"/>
                            </a:solidFill>
                            <a:latin typeface="Cambria Math" panose="02040503050406030204" pitchFamily="18" charset="0"/>
                          </a:rPr>
                        </m:ctrlPr>
                      </m:sSubPr>
                      <m:e>
                        <m:r>
                          <a:rPr lang="en-US" sz="1400" b="1" i="1">
                            <a:solidFill>
                              <a:srgbClr val="FF0000"/>
                            </a:solidFill>
                            <a:latin typeface="Cambria Math" panose="02040503050406030204" pitchFamily="18" charset="0"/>
                          </a:rPr>
                          <m:t>𝒆</m:t>
                        </m:r>
                      </m:e>
                      <m:sub>
                        <m:r>
                          <a:rPr lang="en-US" sz="1400" b="1" i="1">
                            <a:solidFill>
                              <a:srgbClr val="FF0000"/>
                            </a:solidFill>
                            <a:latin typeface="Cambria Math" panose="02040503050406030204" pitchFamily="18" charset="0"/>
                          </a:rPr>
                          <m:t>𝒄</m:t>
                        </m:r>
                      </m:sub>
                    </m:sSub>
                  </m:oMath>
                </a14:m>
                <a:r>
                  <a:rPr lang="en-US" sz="1400" b="1" dirty="0">
                    <a:solidFill>
                      <a:srgbClr val="FF0000"/>
                    </a:solidFill>
                  </a:rPr>
                  <a:t>)</a:t>
                </a:r>
                <a:r>
                  <a:rPr lang="en-US" sz="1400" dirty="0">
                    <a:solidFill>
                      <a:srgbClr val="FF0000"/>
                    </a:solidFill>
                  </a:rPr>
                  <a:t>: </a:t>
                </a:r>
                <a:r>
                  <a:rPr lang="en-US" sz="1400" dirty="0"/>
                  <a:t>How </a:t>
                </a:r>
                <a:r>
                  <a:rPr lang="en-US" sz="1400" i="1" dirty="0"/>
                  <a:t>steady</a:t>
                </a:r>
                <a:r>
                  <a:rPr lang="en-US" sz="1400" dirty="0"/>
                  <a:t> the spacecraft can hold its orientation (not how accurately it points on average).</a:t>
                </a:r>
              </a:p>
            </p:txBody>
          </p:sp>
        </mc:Choice>
        <mc:Fallback>
          <p:sp>
            <p:nvSpPr>
              <p:cNvPr id="10" name="TextBox 9">
                <a:extLst>
                  <a:ext uri="{FF2B5EF4-FFF2-40B4-BE49-F238E27FC236}">
                    <a16:creationId xmlns:a16="http://schemas.microsoft.com/office/drawing/2014/main" id="{5F024DD1-0867-4200-7E98-33CB87987DC6}"/>
                  </a:ext>
                </a:extLst>
              </p:cNvPr>
              <p:cNvSpPr txBox="1">
                <a:spLocks noRot="1" noChangeAspect="1" noMove="1" noResize="1" noEditPoints="1" noAdjustHandles="1" noChangeArrowheads="1" noChangeShapeType="1" noTextEdit="1"/>
              </p:cNvSpPr>
              <p:nvPr/>
            </p:nvSpPr>
            <p:spPr>
              <a:xfrm>
                <a:off x="200023" y="4693489"/>
                <a:ext cx="4234171" cy="2031325"/>
              </a:xfrm>
              <a:prstGeom prst="rect">
                <a:avLst/>
              </a:prstGeom>
              <a:blipFill>
                <a:blip r:embed="rId3"/>
                <a:stretch>
                  <a:fillRect l="-287" t="-299" b="-1791"/>
                </a:stretch>
              </a:blipFill>
              <a:ln>
                <a:solidFill>
                  <a:srgbClr val="FF0000"/>
                </a:solidFill>
              </a:ln>
            </p:spPr>
            <p:txBody>
              <a:bodyPr/>
              <a:lstStyle/>
              <a:p>
                <a:r>
                  <a:rPr lang="en-US">
                    <a:noFill/>
                  </a:rPr>
                  <a:t> </a:t>
                </a:r>
              </a:p>
            </p:txBody>
          </p:sp>
        </mc:Fallback>
      </mc:AlternateContent>
      <p:grpSp>
        <p:nvGrpSpPr>
          <p:cNvPr id="13" name="Group 12">
            <a:extLst>
              <a:ext uri="{FF2B5EF4-FFF2-40B4-BE49-F238E27FC236}">
                <a16:creationId xmlns:a16="http://schemas.microsoft.com/office/drawing/2014/main" id="{C667FBF4-645D-5333-80AB-B6A44DE6FEE1}"/>
              </a:ext>
            </a:extLst>
          </p:cNvPr>
          <p:cNvGrpSpPr/>
          <p:nvPr/>
        </p:nvGrpSpPr>
        <p:grpSpPr>
          <a:xfrm>
            <a:off x="4480560" y="2417619"/>
            <a:ext cx="4663440" cy="3886200"/>
            <a:chOff x="4480560" y="2417619"/>
            <a:chExt cx="4663440" cy="3886200"/>
          </a:xfrm>
        </p:grpSpPr>
        <p:pic>
          <p:nvPicPr>
            <p:cNvPr id="6146" name="Picture 2" descr="8.9 Pointing Analysis and Budget – A Guide to CubeSat Mission and Bus Design">
              <a:extLst>
                <a:ext uri="{FF2B5EF4-FFF2-40B4-BE49-F238E27FC236}">
                  <a16:creationId xmlns:a16="http://schemas.microsoft.com/office/drawing/2014/main" id="{CF078EE3-4E72-F3CE-665B-752E38E04E14}"/>
                </a:ext>
              </a:extLst>
            </p:cNvPr>
            <p:cNvPicPr>
              <a:picLocks noChangeAspect="1" noChangeArrowheads="1"/>
            </p:cNvPicPr>
            <p:nvPr/>
          </p:nvPicPr>
          <p:blipFill>
            <a:blip r:embed="rId4">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480560" y="2417619"/>
              <a:ext cx="4663440" cy="3886200"/>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a:extLst>
                <a:ext uri="{FF2B5EF4-FFF2-40B4-BE49-F238E27FC236}">
                  <a16:creationId xmlns:a16="http://schemas.microsoft.com/office/drawing/2014/main" id="{8BD2AEA0-76DA-3FF1-697A-2F419FC06F2B}"/>
                </a:ext>
              </a:extLst>
            </p:cNvPr>
            <p:cNvPicPr>
              <a:picLocks noChangeAspect="1"/>
            </p:cNvPicPr>
            <p:nvPr/>
          </p:nvPicPr>
          <p:blipFill>
            <a:blip r:embed="rId5"/>
            <a:stretch>
              <a:fillRect/>
            </a:stretch>
          </p:blipFill>
          <p:spPr>
            <a:xfrm>
              <a:off x="5994315" y="5024448"/>
              <a:ext cx="198523" cy="149277"/>
            </a:xfrm>
            <a:prstGeom prst="rect">
              <a:avLst/>
            </a:prstGeom>
          </p:spPr>
        </p:pic>
        <p:pic>
          <p:nvPicPr>
            <p:cNvPr id="12" name="Picture 11">
              <a:extLst>
                <a:ext uri="{FF2B5EF4-FFF2-40B4-BE49-F238E27FC236}">
                  <a16:creationId xmlns:a16="http://schemas.microsoft.com/office/drawing/2014/main" id="{D31C06CA-26FD-48AC-A6E3-84DA174BD499}"/>
                </a:ext>
              </a:extLst>
            </p:cNvPr>
            <p:cNvPicPr>
              <a:picLocks noChangeAspect="1"/>
            </p:cNvPicPr>
            <p:nvPr/>
          </p:nvPicPr>
          <p:blipFill>
            <a:blip r:embed="rId6"/>
            <a:stretch>
              <a:fillRect/>
            </a:stretch>
          </p:blipFill>
          <p:spPr>
            <a:xfrm>
              <a:off x="6794818" y="5334001"/>
              <a:ext cx="163281" cy="134014"/>
            </a:xfrm>
            <a:prstGeom prst="rect">
              <a:avLst/>
            </a:prstGeom>
          </p:spPr>
        </p:pic>
      </p:grpSp>
    </p:spTree>
    <p:extLst>
      <p:ext uri="{BB962C8B-B14F-4D97-AF65-F5344CB8AC3E}">
        <p14:creationId xmlns:p14="http://schemas.microsoft.com/office/powerpoint/2010/main" val="6549035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3"/>
                                        </p:tgtEl>
                                        <p:attrNameLst>
                                          <p:attrName>style.visibility</p:attrName>
                                        </p:attrNameLst>
                                      </p:cBhvr>
                                      <p:to>
                                        <p:strVal val="visible"/>
                                      </p:to>
                                    </p:set>
                                    <p:animEffect transition="in" filter="fade">
                                      <p:cBhvr>
                                        <p:cTn id="1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10"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EA827-BA5D-776C-DA33-FBD4E8F632F1}"/>
              </a:ext>
            </a:extLst>
          </p:cNvPr>
          <p:cNvSpPr>
            <a:spLocks noGrp="1"/>
          </p:cNvSpPr>
          <p:nvPr>
            <p:ph type="title"/>
          </p:nvPr>
        </p:nvSpPr>
        <p:spPr/>
        <p:txBody>
          <a:bodyPr/>
          <a:lstStyle/>
          <a:p>
            <a:r>
              <a:rPr lang="en-US" dirty="0"/>
              <a:t>Pointing Budget (example)</a:t>
            </a:r>
          </a:p>
        </p:txBody>
      </p:sp>
      <p:graphicFrame>
        <p:nvGraphicFramePr>
          <p:cNvPr id="5" name="Content Placeholder 4">
            <a:extLst>
              <a:ext uri="{FF2B5EF4-FFF2-40B4-BE49-F238E27FC236}">
                <a16:creationId xmlns:a16="http://schemas.microsoft.com/office/drawing/2014/main" id="{5396975B-D2BB-9F86-F973-AE1AE62DEBE9}"/>
              </a:ext>
            </a:extLst>
          </p:cNvPr>
          <p:cNvGraphicFramePr>
            <a:graphicFrameLocks noGrp="1"/>
          </p:cNvGraphicFramePr>
          <p:nvPr>
            <p:ph idx="1"/>
            <p:extLst>
              <p:ext uri="{D42A27DB-BD31-4B8C-83A1-F6EECF244321}">
                <p14:modId xmlns:p14="http://schemas.microsoft.com/office/powerpoint/2010/main" val="469926895"/>
              </p:ext>
            </p:extLst>
          </p:nvPr>
        </p:nvGraphicFramePr>
        <p:xfrm>
          <a:off x="866966" y="1965960"/>
          <a:ext cx="7550604" cy="2926080"/>
        </p:xfrm>
        <a:graphic>
          <a:graphicData uri="http://schemas.openxmlformats.org/drawingml/2006/table">
            <a:tbl>
              <a:tblPr/>
              <a:tblGrid>
                <a:gridCol w="3341461">
                  <a:extLst>
                    <a:ext uri="{9D8B030D-6E8A-4147-A177-3AD203B41FA5}">
                      <a16:colId xmlns:a16="http://schemas.microsoft.com/office/drawing/2014/main" val="3150741836"/>
                    </a:ext>
                  </a:extLst>
                </a:gridCol>
                <a:gridCol w="4209143">
                  <a:extLst>
                    <a:ext uri="{9D8B030D-6E8A-4147-A177-3AD203B41FA5}">
                      <a16:colId xmlns:a16="http://schemas.microsoft.com/office/drawing/2014/main" val="302277945"/>
                    </a:ext>
                  </a:extLst>
                </a:gridCol>
              </a:tblGrid>
              <a:tr h="365760">
                <a:tc>
                  <a:txBody>
                    <a:bodyPr/>
                    <a:lstStyle/>
                    <a:p>
                      <a:pPr>
                        <a:buNone/>
                      </a:pPr>
                      <a:r>
                        <a:rPr lang="en-US" sz="1800" b="1" dirty="0"/>
                        <a:t>Error Source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b="1" dirty="0"/>
                        <a:t>Contribution (arcsec)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7574761"/>
                  </a:ext>
                </a:extLst>
              </a:tr>
              <a:tr h="365760">
                <a:tc>
                  <a:txBody>
                    <a:bodyPr/>
                    <a:lstStyle/>
                    <a:p>
                      <a:pPr>
                        <a:buNone/>
                      </a:pPr>
                      <a:r>
                        <a:rPr lang="en-US" sz="1800"/>
                        <a:t>Star tracker noise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t>10</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426533310"/>
                  </a:ext>
                </a:extLst>
              </a:tr>
              <a:tr h="365760">
                <a:tc>
                  <a:txBody>
                    <a:bodyPr/>
                    <a:lstStyle/>
                    <a:p>
                      <a:pPr>
                        <a:buNone/>
                      </a:pPr>
                      <a:r>
                        <a:rPr lang="en-US" sz="1800" dirty="0"/>
                        <a:t>Gyro drift (between updates)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916130465"/>
                  </a:ext>
                </a:extLst>
              </a:tr>
              <a:tr h="365760">
                <a:tc>
                  <a:txBody>
                    <a:bodyPr/>
                    <a:lstStyle/>
                    <a:p>
                      <a:pPr>
                        <a:buNone/>
                      </a:pPr>
                      <a:r>
                        <a:rPr lang="en-US" sz="1800" dirty="0"/>
                        <a:t>Reaction wheel jitter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a:t>8</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599599924"/>
                  </a:ext>
                </a:extLst>
              </a:tr>
              <a:tr h="365760">
                <a:tc>
                  <a:txBody>
                    <a:bodyPr/>
                    <a:lstStyle/>
                    <a:p>
                      <a:pPr>
                        <a:buNone/>
                      </a:pPr>
                      <a:r>
                        <a:rPr lang="en-US" sz="1800"/>
                        <a:t>Thermal flexing</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dirty="0"/>
                        <a:t>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386565156"/>
                  </a:ext>
                </a:extLst>
              </a:tr>
              <a:tr h="365760">
                <a:tc>
                  <a:txBody>
                    <a:bodyPr/>
                    <a:lstStyle/>
                    <a:p>
                      <a:pPr>
                        <a:buNone/>
                      </a:pPr>
                      <a:r>
                        <a:rPr lang="en-US" sz="1800" dirty="0"/>
                        <a:t>Navigation residuals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dirty="0"/>
                        <a:t>4</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25519464"/>
                  </a:ext>
                </a:extLst>
              </a:tr>
              <a:tr h="365760">
                <a:tc>
                  <a:txBody>
                    <a:bodyPr/>
                    <a:lstStyle/>
                    <a:p>
                      <a:pPr>
                        <a:buNone/>
                      </a:pPr>
                      <a:r>
                        <a:rPr lang="en-US" sz="1800" dirty="0"/>
                        <a:t>Control error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dirty="0"/>
                        <a:t>5</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178487090"/>
                  </a:ext>
                </a:extLst>
              </a:tr>
              <a:tr h="365760">
                <a:tc>
                  <a:txBody>
                    <a:bodyPr/>
                    <a:lstStyle/>
                    <a:p>
                      <a:pPr>
                        <a:buNone/>
                      </a:pPr>
                      <a:r>
                        <a:rPr lang="en-US" sz="1800" b="1" dirty="0"/>
                        <a:t>Total</a:t>
                      </a:r>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buNone/>
                      </a:pPr>
                      <a:r>
                        <a:rPr lang="en-US" sz="1800" b="1" dirty="0"/>
                        <a:t>38</a:t>
                      </a:r>
                      <a:endParaRPr lang="en-US" sz="18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293513605"/>
                  </a:ext>
                </a:extLst>
              </a:tr>
            </a:tbl>
          </a:graphicData>
        </a:graphic>
      </p:graphicFrame>
      <p:sp>
        <p:nvSpPr>
          <p:cNvPr id="4" name="Slide Number Placeholder 3">
            <a:extLst>
              <a:ext uri="{FF2B5EF4-FFF2-40B4-BE49-F238E27FC236}">
                <a16:creationId xmlns:a16="http://schemas.microsoft.com/office/drawing/2014/main" id="{5212B741-3F7D-CFD4-3741-A3E37813C13F}"/>
              </a:ext>
            </a:extLst>
          </p:cNvPr>
          <p:cNvSpPr>
            <a:spLocks noGrp="1"/>
          </p:cNvSpPr>
          <p:nvPr>
            <p:ph type="sldNum" sz="quarter" idx="12"/>
          </p:nvPr>
        </p:nvSpPr>
        <p:spPr/>
        <p:txBody>
          <a:bodyPr/>
          <a:lstStyle/>
          <a:p>
            <a:fld id="{9A3029B7-FE6B-4680-9049-80E8298A0825}" type="slidenum">
              <a:rPr lang="en-US" smtClean="0"/>
              <a:t>22</a:t>
            </a:fld>
            <a:endParaRPr lang="en-US"/>
          </a:p>
        </p:txBody>
      </p:sp>
    </p:spTree>
    <p:extLst>
      <p:ext uri="{BB962C8B-B14F-4D97-AF65-F5344CB8AC3E}">
        <p14:creationId xmlns:p14="http://schemas.microsoft.com/office/powerpoint/2010/main" val="145854830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002E0-26B1-FD8E-0857-A4C9B35DC8FA}"/>
              </a:ext>
            </a:extLst>
          </p:cNvPr>
          <p:cNvSpPr>
            <a:spLocks noGrp="1"/>
          </p:cNvSpPr>
          <p:nvPr>
            <p:ph type="title"/>
          </p:nvPr>
        </p:nvSpPr>
        <p:spPr/>
        <p:txBody>
          <a:bodyPr/>
          <a:lstStyle/>
          <a:p>
            <a:r>
              <a:rPr lang="en-US" dirty="0"/>
              <a:t>Cost Budget</a:t>
            </a:r>
          </a:p>
        </p:txBody>
      </p:sp>
      <p:sp>
        <p:nvSpPr>
          <p:cNvPr id="3" name="Content Placeholder 2">
            <a:extLst>
              <a:ext uri="{FF2B5EF4-FFF2-40B4-BE49-F238E27FC236}">
                <a16:creationId xmlns:a16="http://schemas.microsoft.com/office/drawing/2014/main" id="{E7DBF57B-C600-7682-1F82-0CBA56C56783}"/>
              </a:ext>
            </a:extLst>
          </p:cNvPr>
          <p:cNvSpPr>
            <a:spLocks noGrp="1"/>
          </p:cNvSpPr>
          <p:nvPr>
            <p:ph idx="1"/>
          </p:nvPr>
        </p:nvSpPr>
        <p:spPr/>
        <p:txBody>
          <a:bodyPr>
            <a:normAutofit/>
          </a:bodyPr>
          <a:lstStyle/>
          <a:p>
            <a:pPr marL="0" indent="0">
              <a:buNone/>
            </a:pPr>
            <a:r>
              <a:rPr lang="en-US" sz="2400" b="1" dirty="0"/>
              <a:t>Planned allocation of financial resources required to design, build, test, launch, and operate a spacecraft mission.</a:t>
            </a:r>
          </a:p>
        </p:txBody>
      </p:sp>
      <p:sp>
        <p:nvSpPr>
          <p:cNvPr id="4" name="Slide Number Placeholder 3">
            <a:extLst>
              <a:ext uri="{FF2B5EF4-FFF2-40B4-BE49-F238E27FC236}">
                <a16:creationId xmlns:a16="http://schemas.microsoft.com/office/drawing/2014/main" id="{790D61EA-DD1B-042E-B408-09A2E8515798}"/>
              </a:ext>
            </a:extLst>
          </p:cNvPr>
          <p:cNvSpPr>
            <a:spLocks noGrp="1"/>
          </p:cNvSpPr>
          <p:nvPr>
            <p:ph type="sldNum" sz="quarter" idx="12"/>
          </p:nvPr>
        </p:nvSpPr>
        <p:spPr/>
        <p:txBody>
          <a:bodyPr/>
          <a:lstStyle/>
          <a:p>
            <a:fld id="{9A3029B7-FE6B-4680-9049-80E8298A0825}" type="slidenum">
              <a:rPr lang="en-US" smtClean="0"/>
              <a:t>23</a:t>
            </a:fld>
            <a:endParaRPr lang="en-US"/>
          </a:p>
        </p:txBody>
      </p:sp>
      <p:sp>
        <p:nvSpPr>
          <p:cNvPr id="6" name="TextBox 5">
            <a:extLst>
              <a:ext uri="{FF2B5EF4-FFF2-40B4-BE49-F238E27FC236}">
                <a16:creationId xmlns:a16="http://schemas.microsoft.com/office/drawing/2014/main" id="{0AE27EF8-D203-C69E-1BED-3E109FF78762}"/>
              </a:ext>
            </a:extLst>
          </p:cNvPr>
          <p:cNvSpPr txBox="1"/>
          <p:nvPr/>
        </p:nvSpPr>
        <p:spPr>
          <a:xfrm>
            <a:off x="4040641" y="4505849"/>
            <a:ext cx="5320655" cy="1754326"/>
          </a:xfrm>
          <a:prstGeom prst="rect">
            <a:avLst/>
          </a:prstGeom>
          <a:noFill/>
        </p:spPr>
        <p:txBody>
          <a:bodyPr wrap="square">
            <a:spAutoFit/>
          </a:bodyPr>
          <a:lstStyle/>
          <a:p>
            <a:pPr>
              <a:buNone/>
            </a:pPr>
            <a:r>
              <a:rPr lang="en-US" b="1" u="sng" dirty="0"/>
              <a:t>Phased Mission Costs (NASA/DoD style)</a:t>
            </a:r>
            <a:endParaRPr lang="en-US" u="sng" dirty="0"/>
          </a:p>
          <a:p>
            <a:r>
              <a:rPr lang="en-US" b="1" dirty="0"/>
              <a:t>Phase A:</a:t>
            </a:r>
            <a:r>
              <a:rPr lang="en-US" dirty="0"/>
              <a:t> Concept &amp; feasibility</a:t>
            </a:r>
          </a:p>
          <a:p>
            <a:r>
              <a:rPr lang="en-US" b="1" dirty="0"/>
              <a:t>Phase B:</a:t>
            </a:r>
            <a:r>
              <a:rPr lang="en-US" dirty="0"/>
              <a:t> Preliminary design</a:t>
            </a:r>
          </a:p>
          <a:p>
            <a:r>
              <a:rPr lang="en-US" b="1" dirty="0"/>
              <a:t>Phase C/D:</a:t>
            </a:r>
            <a:r>
              <a:rPr lang="en-US" dirty="0"/>
              <a:t> Final design, integration, test, launch</a:t>
            </a:r>
          </a:p>
          <a:p>
            <a:r>
              <a:rPr lang="en-US" b="1" dirty="0"/>
              <a:t>Phase E:</a:t>
            </a:r>
            <a:r>
              <a:rPr lang="en-US" dirty="0"/>
              <a:t> Operations</a:t>
            </a:r>
          </a:p>
          <a:p>
            <a:r>
              <a:rPr lang="en-US" b="1" dirty="0"/>
              <a:t>Phase F:</a:t>
            </a:r>
            <a:r>
              <a:rPr lang="en-US" dirty="0"/>
              <a:t> Decommissioning/disposal</a:t>
            </a:r>
          </a:p>
        </p:txBody>
      </p:sp>
      <p:sp>
        <p:nvSpPr>
          <p:cNvPr id="8" name="TextBox 7">
            <a:extLst>
              <a:ext uri="{FF2B5EF4-FFF2-40B4-BE49-F238E27FC236}">
                <a16:creationId xmlns:a16="http://schemas.microsoft.com/office/drawing/2014/main" id="{71B70648-68F8-E247-4843-86EBF5A543D4}"/>
              </a:ext>
            </a:extLst>
          </p:cNvPr>
          <p:cNvSpPr txBox="1"/>
          <p:nvPr/>
        </p:nvSpPr>
        <p:spPr>
          <a:xfrm>
            <a:off x="150960" y="2352151"/>
            <a:ext cx="7681232" cy="1754326"/>
          </a:xfrm>
          <a:prstGeom prst="rect">
            <a:avLst/>
          </a:prstGeom>
          <a:noFill/>
        </p:spPr>
        <p:txBody>
          <a:bodyPr wrap="square">
            <a:spAutoFit/>
          </a:bodyPr>
          <a:lstStyle/>
          <a:p>
            <a:pPr>
              <a:buNone/>
            </a:pPr>
            <a:r>
              <a:rPr lang="en-US" b="1" u="sng" dirty="0"/>
              <a:t>Major Space Mission Drivers</a:t>
            </a:r>
            <a:endParaRPr lang="en-US" u="sng" dirty="0"/>
          </a:p>
          <a:p>
            <a:r>
              <a:rPr lang="en-US" b="1" dirty="0"/>
              <a:t>Spacecraft bus:</a:t>
            </a:r>
            <a:r>
              <a:rPr lang="en-US" dirty="0"/>
              <a:t> Structures, power, propulsion, ADCS, C&amp;DH.</a:t>
            </a:r>
          </a:p>
          <a:p>
            <a:r>
              <a:rPr lang="en-US" b="1" dirty="0"/>
              <a:t>Payload:</a:t>
            </a:r>
            <a:r>
              <a:rPr lang="en-US" dirty="0"/>
              <a:t> Scientific instruments or comm packages </a:t>
            </a:r>
            <a:r>
              <a:rPr lang="en-US" dirty="0">
                <a:solidFill>
                  <a:srgbClr val="FF0000"/>
                </a:solidFill>
              </a:rPr>
              <a:t>(can be &gt;50% of cost).</a:t>
            </a:r>
          </a:p>
          <a:p>
            <a:r>
              <a:rPr lang="en-US" b="1" dirty="0"/>
              <a:t>Ground segment:</a:t>
            </a:r>
            <a:r>
              <a:rPr lang="en-US" dirty="0"/>
              <a:t> Ground stations, mission ops center.</a:t>
            </a:r>
          </a:p>
          <a:p>
            <a:r>
              <a:rPr lang="en-US" b="1" dirty="0"/>
              <a:t>Launch vehicle:</a:t>
            </a:r>
            <a:r>
              <a:rPr lang="en-US" dirty="0"/>
              <a:t> Can be 20–50% of total mission cost.</a:t>
            </a:r>
          </a:p>
          <a:p>
            <a:r>
              <a:rPr lang="en-US" b="1" dirty="0"/>
              <a:t>Operations &amp; maintenance:</a:t>
            </a:r>
            <a:r>
              <a:rPr lang="en-US" dirty="0"/>
              <a:t> Staff, software, data handling.</a:t>
            </a:r>
          </a:p>
        </p:txBody>
      </p:sp>
      <p:sp>
        <p:nvSpPr>
          <p:cNvPr id="9" name="TextBox 8">
            <a:extLst>
              <a:ext uri="{FF2B5EF4-FFF2-40B4-BE49-F238E27FC236}">
                <a16:creationId xmlns:a16="http://schemas.microsoft.com/office/drawing/2014/main" id="{4D5425E3-57E9-3121-4EE1-DC5845585B38}"/>
              </a:ext>
            </a:extLst>
          </p:cNvPr>
          <p:cNvSpPr txBox="1"/>
          <p:nvPr/>
        </p:nvSpPr>
        <p:spPr>
          <a:xfrm>
            <a:off x="6188701" y="1811862"/>
            <a:ext cx="2908935" cy="646331"/>
          </a:xfrm>
          <a:prstGeom prst="rect">
            <a:avLst/>
          </a:prstGeom>
          <a:noFill/>
          <a:ln>
            <a:solidFill>
              <a:srgbClr val="00B0F0"/>
            </a:solidFill>
          </a:ln>
        </p:spPr>
        <p:txBody>
          <a:bodyPr wrap="square" rtlCol="0">
            <a:spAutoFit/>
          </a:bodyPr>
          <a:lstStyle/>
          <a:p>
            <a:pPr algn="ctr"/>
            <a:r>
              <a:rPr lang="en-US" dirty="0">
                <a:solidFill>
                  <a:srgbClr val="00B0F0"/>
                </a:solidFill>
              </a:rPr>
              <a:t>Cost of spacecraft/mission components</a:t>
            </a:r>
          </a:p>
        </p:txBody>
      </p:sp>
      <p:sp>
        <p:nvSpPr>
          <p:cNvPr id="10" name="TextBox 9">
            <a:extLst>
              <a:ext uri="{FF2B5EF4-FFF2-40B4-BE49-F238E27FC236}">
                <a16:creationId xmlns:a16="http://schemas.microsoft.com/office/drawing/2014/main" id="{C28F878D-2C8F-6485-097C-42E3B9BDCA4E}"/>
              </a:ext>
            </a:extLst>
          </p:cNvPr>
          <p:cNvSpPr txBox="1"/>
          <p:nvPr/>
        </p:nvSpPr>
        <p:spPr>
          <a:xfrm>
            <a:off x="150960" y="4505849"/>
            <a:ext cx="3271590" cy="923330"/>
          </a:xfrm>
          <a:prstGeom prst="rect">
            <a:avLst/>
          </a:prstGeom>
          <a:noFill/>
          <a:ln>
            <a:solidFill>
              <a:srgbClr val="00B0F0"/>
            </a:solidFill>
          </a:ln>
        </p:spPr>
        <p:txBody>
          <a:bodyPr wrap="square" rtlCol="0">
            <a:spAutoFit/>
          </a:bodyPr>
          <a:lstStyle>
            <a:defPPr>
              <a:defRPr lang="en-US"/>
            </a:defPPr>
            <a:lvl1pPr algn="ctr">
              <a:defRPr>
                <a:solidFill>
                  <a:srgbClr val="00B0F0"/>
                </a:solidFill>
              </a:defRPr>
            </a:lvl1pPr>
          </a:lstStyle>
          <a:p>
            <a:pPr algn="l"/>
            <a:r>
              <a:rPr lang="en-US" u="sng" dirty="0"/>
              <a:t>Considerations:</a:t>
            </a:r>
          </a:p>
          <a:p>
            <a:pPr marL="342900" indent="-342900" algn="l">
              <a:buAutoNum type="arabicParenBoth"/>
            </a:pPr>
            <a:r>
              <a:rPr lang="en-US" dirty="0"/>
              <a:t>Cost of R&amp;D (people!)</a:t>
            </a:r>
          </a:p>
          <a:p>
            <a:pPr marL="342900" indent="-342900" algn="l">
              <a:buAutoNum type="arabicParenBoth"/>
            </a:pPr>
            <a:r>
              <a:rPr lang="en-US" dirty="0"/>
              <a:t>Costs spread out over time</a:t>
            </a:r>
          </a:p>
        </p:txBody>
      </p:sp>
      <p:sp>
        <p:nvSpPr>
          <p:cNvPr id="11" name="Freeform: Shape 10">
            <a:extLst>
              <a:ext uri="{FF2B5EF4-FFF2-40B4-BE49-F238E27FC236}">
                <a16:creationId xmlns:a16="http://schemas.microsoft.com/office/drawing/2014/main" id="{98BD8F76-FEDC-69BA-A84B-B7C4C04F9FF8}"/>
              </a:ext>
            </a:extLst>
          </p:cNvPr>
          <p:cNvSpPr/>
          <p:nvPr/>
        </p:nvSpPr>
        <p:spPr>
          <a:xfrm>
            <a:off x="1786755" y="5511904"/>
            <a:ext cx="2140772" cy="687180"/>
          </a:xfrm>
          <a:custGeom>
            <a:avLst/>
            <a:gdLst>
              <a:gd name="connsiteX0" fmla="*/ 0 w 2140772"/>
              <a:gd name="connsiteY0" fmla="*/ 0 h 687180"/>
              <a:gd name="connsiteX1" fmla="*/ 355003 w 2140772"/>
              <a:gd name="connsiteY1" fmla="*/ 505609 h 687180"/>
              <a:gd name="connsiteX2" fmla="*/ 1140311 w 2140772"/>
              <a:gd name="connsiteY2" fmla="*/ 677732 h 687180"/>
              <a:gd name="connsiteX3" fmla="*/ 2140772 w 2140772"/>
              <a:gd name="connsiteY3" fmla="*/ 258184 h 687180"/>
            </a:gdLst>
            <a:ahLst/>
            <a:cxnLst>
              <a:cxn ang="0">
                <a:pos x="connsiteX0" y="connsiteY0"/>
              </a:cxn>
              <a:cxn ang="0">
                <a:pos x="connsiteX1" y="connsiteY1"/>
              </a:cxn>
              <a:cxn ang="0">
                <a:pos x="connsiteX2" y="connsiteY2"/>
              </a:cxn>
              <a:cxn ang="0">
                <a:pos x="connsiteX3" y="connsiteY3"/>
              </a:cxn>
            </a:cxnLst>
            <a:rect l="l" t="t" r="r" b="b"/>
            <a:pathLst>
              <a:path w="2140772" h="687180">
                <a:moveTo>
                  <a:pt x="0" y="0"/>
                </a:moveTo>
                <a:cubicBezTo>
                  <a:pt x="82475" y="196327"/>
                  <a:pt x="164951" y="392654"/>
                  <a:pt x="355003" y="505609"/>
                </a:cubicBezTo>
                <a:cubicBezTo>
                  <a:pt x="545055" y="618564"/>
                  <a:pt x="842683" y="718970"/>
                  <a:pt x="1140311" y="677732"/>
                </a:cubicBezTo>
                <a:cubicBezTo>
                  <a:pt x="1437939" y="636494"/>
                  <a:pt x="1789355" y="447339"/>
                  <a:pt x="2140772" y="258184"/>
                </a:cubicBezTo>
              </a:path>
            </a:pathLst>
          </a:custGeom>
          <a:noFill/>
          <a:ln w="38100">
            <a:solidFill>
              <a:srgbClr val="00B0F0"/>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65212A2C-A2CA-11D3-D4DA-A716E7DEB8CF}"/>
              </a:ext>
            </a:extLst>
          </p:cNvPr>
          <p:cNvSpPr/>
          <p:nvPr/>
        </p:nvSpPr>
        <p:spPr>
          <a:xfrm>
            <a:off x="7444395" y="2497879"/>
            <a:ext cx="1118968" cy="1112538"/>
          </a:xfrm>
          <a:custGeom>
            <a:avLst/>
            <a:gdLst>
              <a:gd name="connsiteX0" fmla="*/ 462579 w 1055294"/>
              <a:gd name="connsiteY0" fmla="*/ 0 h 1251929"/>
              <a:gd name="connsiteX1" fmla="*/ 892884 w 1055294"/>
              <a:gd name="connsiteY1" fmla="*/ 451821 h 1251929"/>
              <a:gd name="connsiteX2" fmla="*/ 1054249 w 1055294"/>
              <a:gd name="connsiteY2" fmla="*/ 968188 h 1251929"/>
              <a:gd name="connsiteX3" fmla="*/ 828339 w 1055294"/>
              <a:gd name="connsiteY3" fmla="*/ 1247887 h 1251929"/>
              <a:gd name="connsiteX4" fmla="*/ 0 w 1055294"/>
              <a:gd name="connsiteY4" fmla="*/ 1108038 h 1251929"/>
              <a:gd name="connsiteX0" fmla="*/ 494851 w 1055234"/>
              <a:gd name="connsiteY0" fmla="*/ 0 h 1273444"/>
              <a:gd name="connsiteX1" fmla="*/ 892884 w 1055234"/>
              <a:gd name="connsiteY1" fmla="*/ 473336 h 1273444"/>
              <a:gd name="connsiteX2" fmla="*/ 1054249 w 1055234"/>
              <a:gd name="connsiteY2" fmla="*/ 989703 h 1273444"/>
              <a:gd name="connsiteX3" fmla="*/ 828339 w 1055234"/>
              <a:gd name="connsiteY3" fmla="*/ 1269402 h 1273444"/>
              <a:gd name="connsiteX4" fmla="*/ 0 w 1055234"/>
              <a:gd name="connsiteY4" fmla="*/ 1129553 h 1273444"/>
              <a:gd name="connsiteX0" fmla="*/ 494851 w 1055234"/>
              <a:gd name="connsiteY0" fmla="*/ 0 h 1273444"/>
              <a:gd name="connsiteX1" fmla="*/ 892884 w 1055234"/>
              <a:gd name="connsiteY1" fmla="*/ 473336 h 1273444"/>
              <a:gd name="connsiteX2" fmla="*/ 1054249 w 1055234"/>
              <a:gd name="connsiteY2" fmla="*/ 989703 h 1273444"/>
              <a:gd name="connsiteX3" fmla="*/ 828339 w 1055234"/>
              <a:gd name="connsiteY3" fmla="*/ 1269402 h 1273444"/>
              <a:gd name="connsiteX4" fmla="*/ 0 w 1055234"/>
              <a:gd name="connsiteY4" fmla="*/ 1129553 h 1273444"/>
              <a:gd name="connsiteX0" fmla="*/ 494851 w 1057928"/>
              <a:gd name="connsiteY0" fmla="*/ 0 h 1165438"/>
              <a:gd name="connsiteX1" fmla="*/ 892884 w 1057928"/>
              <a:gd name="connsiteY1" fmla="*/ 473336 h 1165438"/>
              <a:gd name="connsiteX2" fmla="*/ 1054249 w 1057928"/>
              <a:gd name="connsiteY2" fmla="*/ 989703 h 1165438"/>
              <a:gd name="connsiteX3" fmla="*/ 753036 w 1057928"/>
              <a:gd name="connsiteY3" fmla="*/ 1108037 h 1165438"/>
              <a:gd name="connsiteX4" fmla="*/ 0 w 1057928"/>
              <a:gd name="connsiteY4" fmla="*/ 1129553 h 1165438"/>
              <a:gd name="connsiteX0" fmla="*/ 355002 w 918079"/>
              <a:gd name="connsiteY0" fmla="*/ 0 h 1112538"/>
              <a:gd name="connsiteX1" fmla="*/ 753035 w 918079"/>
              <a:gd name="connsiteY1" fmla="*/ 473336 h 1112538"/>
              <a:gd name="connsiteX2" fmla="*/ 914400 w 918079"/>
              <a:gd name="connsiteY2" fmla="*/ 989703 h 1112538"/>
              <a:gd name="connsiteX3" fmla="*/ 613187 w 918079"/>
              <a:gd name="connsiteY3" fmla="*/ 1108037 h 1112538"/>
              <a:gd name="connsiteX4" fmla="*/ 0 w 918079"/>
              <a:gd name="connsiteY4" fmla="*/ 978946 h 1112538"/>
              <a:gd name="connsiteX0" fmla="*/ 355002 w 1056054"/>
              <a:gd name="connsiteY0" fmla="*/ 0 h 1112538"/>
              <a:gd name="connsiteX1" fmla="*/ 753035 w 1056054"/>
              <a:gd name="connsiteY1" fmla="*/ 473336 h 1112538"/>
              <a:gd name="connsiteX2" fmla="*/ 1054249 w 1056054"/>
              <a:gd name="connsiteY2" fmla="*/ 914399 h 1112538"/>
              <a:gd name="connsiteX3" fmla="*/ 613187 w 1056054"/>
              <a:gd name="connsiteY3" fmla="*/ 1108037 h 1112538"/>
              <a:gd name="connsiteX4" fmla="*/ 0 w 1056054"/>
              <a:gd name="connsiteY4" fmla="*/ 978946 h 1112538"/>
              <a:gd name="connsiteX0" fmla="*/ 355002 w 1054820"/>
              <a:gd name="connsiteY0" fmla="*/ 0 h 1112538"/>
              <a:gd name="connsiteX1" fmla="*/ 753035 w 1054820"/>
              <a:gd name="connsiteY1" fmla="*/ 473336 h 1112538"/>
              <a:gd name="connsiteX2" fmla="*/ 1054249 w 1054820"/>
              <a:gd name="connsiteY2" fmla="*/ 914399 h 1112538"/>
              <a:gd name="connsiteX3" fmla="*/ 613187 w 1054820"/>
              <a:gd name="connsiteY3" fmla="*/ 1108037 h 1112538"/>
              <a:gd name="connsiteX4" fmla="*/ 0 w 1054820"/>
              <a:gd name="connsiteY4" fmla="*/ 978946 h 1112538"/>
              <a:gd name="connsiteX0" fmla="*/ 355002 w 1054249"/>
              <a:gd name="connsiteY0" fmla="*/ 0 h 1112538"/>
              <a:gd name="connsiteX1" fmla="*/ 1054249 w 1054249"/>
              <a:gd name="connsiteY1" fmla="*/ 914399 h 1112538"/>
              <a:gd name="connsiteX2" fmla="*/ 613187 w 1054249"/>
              <a:gd name="connsiteY2" fmla="*/ 1108037 h 1112538"/>
              <a:gd name="connsiteX3" fmla="*/ 0 w 1054249"/>
              <a:gd name="connsiteY3" fmla="*/ 978946 h 1112538"/>
              <a:gd name="connsiteX0" fmla="*/ 355002 w 1118794"/>
              <a:gd name="connsiteY0" fmla="*/ 0 h 1112538"/>
              <a:gd name="connsiteX1" fmla="*/ 1118794 w 1118794"/>
              <a:gd name="connsiteY1" fmla="*/ 731519 h 1112538"/>
              <a:gd name="connsiteX2" fmla="*/ 613187 w 1118794"/>
              <a:gd name="connsiteY2" fmla="*/ 1108037 h 1112538"/>
              <a:gd name="connsiteX3" fmla="*/ 0 w 1118794"/>
              <a:gd name="connsiteY3" fmla="*/ 978946 h 1112538"/>
              <a:gd name="connsiteX0" fmla="*/ 355002 w 1118968"/>
              <a:gd name="connsiteY0" fmla="*/ 0 h 1112538"/>
              <a:gd name="connsiteX1" fmla="*/ 1118794 w 1118968"/>
              <a:gd name="connsiteY1" fmla="*/ 731519 h 1112538"/>
              <a:gd name="connsiteX2" fmla="*/ 613187 w 1118968"/>
              <a:gd name="connsiteY2" fmla="*/ 1108037 h 1112538"/>
              <a:gd name="connsiteX3" fmla="*/ 0 w 1118968"/>
              <a:gd name="connsiteY3" fmla="*/ 978946 h 1112538"/>
            </a:gdLst>
            <a:ahLst/>
            <a:cxnLst>
              <a:cxn ang="0">
                <a:pos x="connsiteX0" y="connsiteY0"/>
              </a:cxn>
              <a:cxn ang="0">
                <a:pos x="connsiteX1" y="connsiteY1"/>
              </a:cxn>
              <a:cxn ang="0">
                <a:pos x="connsiteX2" y="connsiteY2"/>
              </a:cxn>
              <a:cxn ang="0">
                <a:pos x="connsiteX3" y="connsiteY3"/>
              </a:cxn>
            </a:cxnLst>
            <a:rect l="l" t="t" r="r" b="b"/>
            <a:pathLst>
              <a:path w="1118968" h="1112538">
                <a:moveTo>
                  <a:pt x="355002" y="0"/>
                </a:moveTo>
                <a:cubicBezTo>
                  <a:pt x="500678" y="190500"/>
                  <a:pt x="1109829" y="442856"/>
                  <a:pt x="1118794" y="731519"/>
                </a:cubicBezTo>
                <a:cubicBezTo>
                  <a:pt x="1127759" y="1020182"/>
                  <a:pt x="788895" y="1084729"/>
                  <a:pt x="613187" y="1108037"/>
                </a:cubicBezTo>
                <a:cubicBezTo>
                  <a:pt x="437479" y="1131345"/>
                  <a:pt x="326315" y="1060524"/>
                  <a:pt x="0" y="978946"/>
                </a:cubicBezTo>
              </a:path>
            </a:pathLst>
          </a:custGeom>
          <a:noFill/>
          <a:ln w="38100">
            <a:solidFill>
              <a:srgbClr val="00B0F0"/>
            </a:solidFill>
            <a:headEnd type="none" w="med" len="med"/>
            <a:tailEnd type="arrow"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2178086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500"/>
                                        <p:tgtEl>
                                          <p:spTgt spid="10"/>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fade">
                                      <p:cBhvr>
                                        <p:cTn id="2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9" grpId="0" animBg="1"/>
      <p:bldP spid="10" grpId="0" animBg="1"/>
      <p:bldP spid="11" grpId="0" animBg="1"/>
      <p:bldP spid="12"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3C87EE-9338-D7A6-2B95-7C5888944A03}"/>
              </a:ext>
            </a:extLst>
          </p:cNvPr>
          <p:cNvSpPr>
            <a:spLocks noGrp="1"/>
          </p:cNvSpPr>
          <p:nvPr>
            <p:ph type="title"/>
          </p:nvPr>
        </p:nvSpPr>
        <p:spPr/>
        <p:txBody>
          <a:bodyPr/>
          <a:lstStyle/>
          <a:p>
            <a:r>
              <a:rPr lang="en-US" dirty="0"/>
              <a:t>Schedule</a:t>
            </a:r>
          </a:p>
        </p:txBody>
      </p:sp>
      <p:sp>
        <p:nvSpPr>
          <p:cNvPr id="3" name="Content Placeholder 2">
            <a:extLst>
              <a:ext uri="{FF2B5EF4-FFF2-40B4-BE49-F238E27FC236}">
                <a16:creationId xmlns:a16="http://schemas.microsoft.com/office/drawing/2014/main" id="{51837C0A-585D-513A-D7F1-E2994B355413}"/>
              </a:ext>
            </a:extLst>
          </p:cNvPr>
          <p:cNvSpPr>
            <a:spLocks noGrp="1"/>
          </p:cNvSpPr>
          <p:nvPr>
            <p:ph idx="1"/>
          </p:nvPr>
        </p:nvSpPr>
        <p:spPr>
          <a:xfrm>
            <a:off x="200025" y="973478"/>
            <a:ext cx="8793015" cy="5227553"/>
          </a:xfrm>
        </p:spPr>
        <p:txBody>
          <a:bodyPr>
            <a:normAutofit/>
          </a:bodyPr>
          <a:lstStyle/>
          <a:p>
            <a:pPr marL="0" indent="0">
              <a:buNone/>
            </a:pPr>
            <a:r>
              <a:rPr lang="en-US" sz="2000" b="1" dirty="0"/>
              <a:t>Structured timeline of activities, milestones, and deliverables that defines when tasks must be completed to meet mission objectives.</a:t>
            </a:r>
          </a:p>
          <a:p>
            <a:pPr marL="0" indent="0">
              <a:buNone/>
            </a:pPr>
            <a:endParaRPr lang="en-US" sz="2000" b="1" dirty="0"/>
          </a:p>
        </p:txBody>
      </p:sp>
      <p:sp>
        <p:nvSpPr>
          <p:cNvPr id="4" name="Slide Number Placeholder 3">
            <a:extLst>
              <a:ext uri="{FF2B5EF4-FFF2-40B4-BE49-F238E27FC236}">
                <a16:creationId xmlns:a16="http://schemas.microsoft.com/office/drawing/2014/main" id="{A50110D9-2089-9E97-85BD-E916CC384271}"/>
              </a:ext>
            </a:extLst>
          </p:cNvPr>
          <p:cNvSpPr>
            <a:spLocks noGrp="1"/>
          </p:cNvSpPr>
          <p:nvPr>
            <p:ph type="sldNum" sz="quarter" idx="12"/>
          </p:nvPr>
        </p:nvSpPr>
        <p:spPr/>
        <p:txBody>
          <a:bodyPr/>
          <a:lstStyle/>
          <a:p>
            <a:fld id="{9A3029B7-FE6B-4680-9049-80E8298A0825}" type="slidenum">
              <a:rPr lang="en-US" smtClean="0"/>
              <a:t>24</a:t>
            </a:fld>
            <a:endParaRPr lang="en-US"/>
          </a:p>
        </p:txBody>
      </p:sp>
      <p:sp>
        <p:nvSpPr>
          <p:cNvPr id="6" name="TextBox 5">
            <a:extLst>
              <a:ext uri="{FF2B5EF4-FFF2-40B4-BE49-F238E27FC236}">
                <a16:creationId xmlns:a16="http://schemas.microsoft.com/office/drawing/2014/main" id="{608AF7DE-5419-A493-2D0E-1685BAFD8770}"/>
              </a:ext>
            </a:extLst>
          </p:cNvPr>
          <p:cNvSpPr txBox="1"/>
          <p:nvPr/>
        </p:nvSpPr>
        <p:spPr>
          <a:xfrm>
            <a:off x="386115" y="1633014"/>
            <a:ext cx="8156617" cy="4832092"/>
          </a:xfrm>
          <a:prstGeom prst="rect">
            <a:avLst/>
          </a:prstGeom>
          <a:noFill/>
        </p:spPr>
        <p:txBody>
          <a:bodyPr wrap="square">
            <a:spAutoFit/>
          </a:bodyPr>
          <a:lstStyle/>
          <a:p>
            <a:pPr>
              <a:buNone/>
            </a:pPr>
            <a:r>
              <a:rPr lang="en-US" sz="1400" b="1" u="sng" dirty="0"/>
              <a:t>Characteristics of a Good Schedule</a:t>
            </a:r>
          </a:p>
          <a:p>
            <a:pPr>
              <a:buNone/>
            </a:pPr>
            <a:endParaRPr lang="en-US" sz="1400" b="1" u="sng" dirty="0"/>
          </a:p>
          <a:p>
            <a:pPr>
              <a:buFont typeface="+mj-lt"/>
              <a:buAutoNum type="arabicPeriod"/>
            </a:pPr>
            <a:r>
              <a:rPr lang="en-US" sz="1400" b="1" dirty="0"/>
              <a:t>Phased Planning</a:t>
            </a:r>
            <a:endParaRPr lang="en-US" sz="1400" dirty="0"/>
          </a:p>
          <a:p>
            <a:pPr marL="742950" lvl="1" indent="-285750">
              <a:buFont typeface="+mj-lt"/>
              <a:buAutoNum type="arabicPeriod"/>
            </a:pPr>
            <a:r>
              <a:rPr lang="en-US" sz="1400" dirty="0"/>
              <a:t>Missions are divided into phases (NASA: A–F). Each phase has clear entry/exit criteria.</a:t>
            </a:r>
          </a:p>
          <a:p>
            <a:pPr marL="742950" lvl="1" indent="-285750">
              <a:buFont typeface="+mj-lt"/>
              <a:buAutoNum type="arabicPeriod"/>
            </a:pPr>
            <a:r>
              <a:rPr lang="en-US" sz="1400" dirty="0"/>
              <a:t>Example: Phase C (detailed design) must finish before Phase D (integration and test) begins.</a:t>
            </a:r>
          </a:p>
          <a:p>
            <a:pPr marL="742950" lvl="1" indent="-285750">
              <a:buFont typeface="+mj-lt"/>
              <a:buAutoNum type="arabicPeriod"/>
            </a:pPr>
            <a:endParaRPr lang="en-US" sz="1400" dirty="0"/>
          </a:p>
          <a:p>
            <a:pPr>
              <a:buFont typeface="+mj-lt"/>
              <a:buAutoNum type="arabicPeriod"/>
            </a:pPr>
            <a:r>
              <a:rPr lang="en-US" sz="1400" b="1" dirty="0"/>
              <a:t>Milestones &amp; Deliverables</a:t>
            </a:r>
            <a:endParaRPr lang="en-US" sz="1400" dirty="0"/>
          </a:p>
          <a:p>
            <a:pPr marL="742950" lvl="1" indent="-285750">
              <a:buFont typeface="+mj-lt"/>
              <a:buAutoNum type="arabicPeriod"/>
            </a:pPr>
            <a:r>
              <a:rPr lang="en-US" sz="1400" dirty="0"/>
              <a:t>Key checkpoints: Preliminary Design Review (PDR), Critical Design Review (CDR), Launch Readiness Review (LRR).</a:t>
            </a:r>
          </a:p>
          <a:p>
            <a:pPr marL="742950" lvl="1" indent="-285750">
              <a:buFont typeface="+mj-lt"/>
              <a:buAutoNum type="arabicPeriod"/>
            </a:pPr>
            <a:r>
              <a:rPr lang="en-US" sz="1400" dirty="0"/>
              <a:t>Milestones ensure stakeholders can track progress.</a:t>
            </a:r>
          </a:p>
          <a:p>
            <a:pPr marL="742950" lvl="1" indent="-285750">
              <a:buFont typeface="+mj-lt"/>
              <a:buAutoNum type="arabicPeriod"/>
            </a:pPr>
            <a:endParaRPr lang="en-US" sz="1400" dirty="0"/>
          </a:p>
          <a:p>
            <a:pPr>
              <a:buFont typeface="+mj-lt"/>
              <a:buAutoNum type="arabicPeriod"/>
            </a:pPr>
            <a:r>
              <a:rPr lang="en-US" sz="1400" b="1" dirty="0"/>
              <a:t>Critical Path</a:t>
            </a:r>
            <a:endParaRPr lang="en-US" sz="1400" dirty="0"/>
          </a:p>
          <a:p>
            <a:pPr marL="742950" lvl="1" indent="-285750">
              <a:buFont typeface="+mj-lt"/>
              <a:buAutoNum type="arabicPeriod"/>
            </a:pPr>
            <a:r>
              <a:rPr lang="en-US" sz="1400" dirty="0"/>
              <a:t>The sequence of dependent tasks that determines the </a:t>
            </a:r>
            <a:r>
              <a:rPr lang="en-US" sz="1400" b="1" dirty="0"/>
              <a:t>minimum project duration</a:t>
            </a:r>
            <a:r>
              <a:rPr lang="en-US" sz="1400" dirty="0"/>
              <a:t>.</a:t>
            </a:r>
          </a:p>
          <a:p>
            <a:pPr marL="742950" lvl="1" indent="-285750">
              <a:buFont typeface="+mj-lt"/>
              <a:buAutoNum type="arabicPeriod"/>
            </a:pPr>
            <a:r>
              <a:rPr lang="en-US" sz="1400" dirty="0"/>
              <a:t>Delays on the critical path directly delay the whole mission.</a:t>
            </a:r>
          </a:p>
          <a:p>
            <a:pPr marL="742950" lvl="1" indent="-285750">
              <a:buFont typeface="+mj-lt"/>
              <a:buAutoNum type="arabicPeriod"/>
            </a:pPr>
            <a:endParaRPr lang="en-US" sz="1400" dirty="0"/>
          </a:p>
          <a:p>
            <a:pPr>
              <a:buFont typeface="+mj-lt"/>
              <a:buAutoNum type="arabicPeriod"/>
            </a:pPr>
            <a:r>
              <a:rPr lang="en-US" sz="1400" b="1" dirty="0"/>
              <a:t>Reserves/Margins</a:t>
            </a:r>
            <a:endParaRPr lang="en-US" sz="1400" dirty="0"/>
          </a:p>
          <a:p>
            <a:pPr marL="742950" lvl="1" indent="-285750">
              <a:buFont typeface="+mj-lt"/>
              <a:buAutoNum type="arabicPeriod"/>
            </a:pPr>
            <a:r>
              <a:rPr lang="en-US" sz="1400" dirty="0"/>
              <a:t>Time “cushions” built into the schedule to absorb delays.</a:t>
            </a:r>
          </a:p>
          <a:p>
            <a:pPr marL="742950" lvl="1" indent="-285750">
              <a:buFont typeface="+mj-lt"/>
              <a:buAutoNum type="arabicPeriod"/>
            </a:pPr>
            <a:r>
              <a:rPr lang="en-US" sz="1400" dirty="0"/>
              <a:t>For spacecraft projects, schedule reserves are often 10–30% of task duration.</a:t>
            </a:r>
          </a:p>
          <a:p>
            <a:pPr marL="742950" lvl="1" indent="-285750">
              <a:buFont typeface="+mj-lt"/>
              <a:buAutoNum type="arabicPeriod"/>
            </a:pPr>
            <a:endParaRPr lang="en-US" sz="1400" dirty="0"/>
          </a:p>
          <a:p>
            <a:pPr>
              <a:buFont typeface="+mj-lt"/>
              <a:buAutoNum type="arabicPeriod"/>
            </a:pPr>
            <a:r>
              <a:rPr lang="en-US" sz="1400" b="1" dirty="0"/>
              <a:t>Dependencies</a:t>
            </a:r>
            <a:endParaRPr lang="en-US" sz="1400" dirty="0"/>
          </a:p>
          <a:p>
            <a:pPr marL="742950" lvl="1" indent="-285750">
              <a:buFont typeface="+mj-lt"/>
              <a:buAutoNum type="arabicPeriod"/>
            </a:pPr>
            <a:r>
              <a:rPr lang="en-US" sz="1400" dirty="0"/>
              <a:t>Some tasks must finish before others can begin (e.g., hardware delivery before integration).</a:t>
            </a:r>
          </a:p>
          <a:p>
            <a:pPr marL="742950" lvl="1" indent="-285750">
              <a:buFont typeface="+mj-lt"/>
              <a:buAutoNum type="arabicPeriod"/>
            </a:pPr>
            <a:r>
              <a:rPr lang="en-US" sz="1400" dirty="0"/>
              <a:t>Identifying these prevents bottlenecks.</a:t>
            </a:r>
          </a:p>
        </p:txBody>
      </p:sp>
    </p:spTree>
    <p:extLst>
      <p:ext uri="{BB962C8B-B14F-4D97-AF65-F5344CB8AC3E}">
        <p14:creationId xmlns:p14="http://schemas.microsoft.com/office/powerpoint/2010/main" val="11143826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xEl>
                                              <p:pRg st="2" end="2"/>
                                            </p:txEl>
                                          </p:spTgt>
                                        </p:tgtEl>
                                        <p:attrNameLst>
                                          <p:attrName>style.visibility</p:attrName>
                                        </p:attrNameLst>
                                      </p:cBhvr>
                                      <p:to>
                                        <p:strVal val="visible"/>
                                      </p:to>
                                    </p:set>
                                    <p:animEffect transition="in" filter="fade">
                                      <p:cBhvr>
                                        <p:cTn id="7" dur="500"/>
                                        <p:tgtEl>
                                          <p:spTgt spid="6">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6">
                                            <p:txEl>
                                              <p:pRg st="3" end="3"/>
                                            </p:txEl>
                                          </p:spTgt>
                                        </p:tgtEl>
                                        <p:attrNameLst>
                                          <p:attrName>style.visibility</p:attrName>
                                        </p:attrNameLst>
                                      </p:cBhvr>
                                      <p:to>
                                        <p:strVal val="visible"/>
                                      </p:to>
                                    </p:set>
                                    <p:animEffect transition="in" filter="fade">
                                      <p:cBhvr>
                                        <p:cTn id="10" dur="500"/>
                                        <p:tgtEl>
                                          <p:spTgt spid="6">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6">
                                            <p:txEl>
                                              <p:pRg st="4" end="4"/>
                                            </p:txEl>
                                          </p:spTgt>
                                        </p:tgtEl>
                                        <p:attrNameLst>
                                          <p:attrName>style.visibility</p:attrName>
                                        </p:attrNameLst>
                                      </p:cBhvr>
                                      <p:to>
                                        <p:strVal val="visible"/>
                                      </p:to>
                                    </p:set>
                                    <p:animEffect transition="in" filter="fade">
                                      <p:cBhvr>
                                        <p:cTn id="13" dur="500"/>
                                        <p:tgtEl>
                                          <p:spTgt spid="6">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6">
                                            <p:txEl>
                                              <p:pRg st="6" end="6"/>
                                            </p:txEl>
                                          </p:spTgt>
                                        </p:tgtEl>
                                        <p:attrNameLst>
                                          <p:attrName>style.visibility</p:attrName>
                                        </p:attrNameLst>
                                      </p:cBhvr>
                                      <p:to>
                                        <p:strVal val="visible"/>
                                      </p:to>
                                    </p:set>
                                    <p:animEffect transition="in" filter="fade">
                                      <p:cBhvr>
                                        <p:cTn id="18" dur="500"/>
                                        <p:tgtEl>
                                          <p:spTgt spid="6">
                                            <p:txEl>
                                              <p:pRg st="6" end="6"/>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6">
                                            <p:txEl>
                                              <p:pRg st="7" end="7"/>
                                            </p:txEl>
                                          </p:spTgt>
                                        </p:tgtEl>
                                        <p:attrNameLst>
                                          <p:attrName>style.visibility</p:attrName>
                                        </p:attrNameLst>
                                      </p:cBhvr>
                                      <p:to>
                                        <p:strVal val="visible"/>
                                      </p:to>
                                    </p:set>
                                    <p:animEffect transition="in" filter="fade">
                                      <p:cBhvr>
                                        <p:cTn id="21" dur="500"/>
                                        <p:tgtEl>
                                          <p:spTgt spid="6">
                                            <p:txEl>
                                              <p:pRg st="7" end="7"/>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6">
                                            <p:txEl>
                                              <p:pRg st="8" end="8"/>
                                            </p:txEl>
                                          </p:spTgt>
                                        </p:tgtEl>
                                        <p:attrNameLst>
                                          <p:attrName>style.visibility</p:attrName>
                                        </p:attrNameLst>
                                      </p:cBhvr>
                                      <p:to>
                                        <p:strVal val="visible"/>
                                      </p:to>
                                    </p:set>
                                    <p:animEffect transition="in" filter="fade">
                                      <p:cBhvr>
                                        <p:cTn id="24" dur="500"/>
                                        <p:tgtEl>
                                          <p:spTgt spid="6">
                                            <p:txEl>
                                              <p:pRg st="8" end="8"/>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6">
                                            <p:txEl>
                                              <p:pRg st="10" end="10"/>
                                            </p:txEl>
                                          </p:spTgt>
                                        </p:tgtEl>
                                        <p:attrNameLst>
                                          <p:attrName>style.visibility</p:attrName>
                                        </p:attrNameLst>
                                      </p:cBhvr>
                                      <p:to>
                                        <p:strVal val="visible"/>
                                      </p:to>
                                    </p:set>
                                    <p:animEffect transition="in" filter="fade">
                                      <p:cBhvr>
                                        <p:cTn id="29" dur="500"/>
                                        <p:tgtEl>
                                          <p:spTgt spid="6">
                                            <p:txEl>
                                              <p:pRg st="10" end="10"/>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6">
                                            <p:txEl>
                                              <p:pRg st="11" end="11"/>
                                            </p:txEl>
                                          </p:spTgt>
                                        </p:tgtEl>
                                        <p:attrNameLst>
                                          <p:attrName>style.visibility</p:attrName>
                                        </p:attrNameLst>
                                      </p:cBhvr>
                                      <p:to>
                                        <p:strVal val="visible"/>
                                      </p:to>
                                    </p:set>
                                    <p:animEffect transition="in" filter="fade">
                                      <p:cBhvr>
                                        <p:cTn id="32" dur="500"/>
                                        <p:tgtEl>
                                          <p:spTgt spid="6">
                                            <p:txEl>
                                              <p:pRg st="11" end="11"/>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6">
                                            <p:txEl>
                                              <p:pRg st="12" end="12"/>
                                            </p:txEl>
                                          </p:spTgt>
                                        </p:tgtEl>
                                        <p:attrNameLst>
                                          <p:attrName>style.visibility</p:attrName>
                                        </p:attrNameLst>
                                      </p:cBhvr>
                                      <p:to>
                                        <p:strVal val="visible"/>
                                      </p:to>
                                    </p:set>
                                    <p:animEffect transition="in" filter="fade">
                                      <p:cBhvr>
                                        <p:cTn id="35" dur="500"/>
                                        <p:tgtEl>
                                          <p:spTgt spid="6">
                                            <p:txEl>
                                              <p:pRg st="12" end="12"/>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6">
                                            <p:txEl>
                                              <p:pRg st="14" end="14"/>
                                            </p:txEl>
                                          </p:spTgt>
                                        </p:tgtEl>
                                        <p:attrNameLst>
                                          <p:attrName>style.visibility</p:attrName>
                                        </p:attrNameLst>
                                      </p:cBhvr>
                                      <p:to>
                                        <p:strVal val="visible"/>
                                      </p:to>
                                    </p:set>
                                    <p:animEffect transition="in" filter="fade">
                                      <p:cBhvr>
                                        <p:cTn id="40" dur="500"/>
                                        <p:tgtEl>
                                          <p:spTgt spid="6">
                                            <p:txEl>
                                              <p:pRg st="14" end="14"/>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6">
                                            <p:txEl>
                                              <p:pRg st="15" end="15"/>
                                            </p:txEl>
                                          </p:spTgt>
                                        </p:tgtEl>
                                        <p:attrNameLst>
                                          <p:attrName>style.visibility</p:attrName>
                                        </p:attrNameLst>
                                      </p:cBhvr>
                                      <p:to>
                                        <p:strVal val="visible"/>
                                      </p:to>
                                    </p:set>
                                    <p:animEffect transition="in" filter="fade">
                                      <p:cBhvr>
                                        <p:cTn id="43" dur="500"/>
                                        <p:tgtEl>
                                          <p:spTgt spid="6">
                                            <p:txEl>
                                              <p:pRg st="15" end="15"/>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6">
                                            <p:txEl>
                                              <p:pRg st="16" end="16"/>
                                            </p:txEl>
                                          </p:spTgt>
                                        </p:tgtEl>
                                        <p:attrNameLst>
                                          <p:attrName>style.visibility</p:attrName>
                                        </p:attrNameLst>
                                      </p:cBhvr>
                                      <p:to>
                                        <p:strVal val="visible"/>
                                      </p:to>
                                    </p:set>
                                    <p:animEffect transition="in" filter="fade">
                                      <p:cBhvr>
                                        <p:cTn id="46" dur="500"/>
                                        <p:tgtEl>
                                          <p:spTgt spid="6">
                                            <p:txEl>
                                              <p:pRg st="16" end="16"/>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6">
                                            <p:txEl>
                                              <p:pRg st="18" end="18"/>
                                            </p:txEl>
                                          </p:spTgt>
                                        </p:tgtEl>
                                        <p:attrNameLst>
                                          <p:attrName>style.visibility</p:attrName>
                                        </p:attrNameLst>
                                      </p:cBhvr>
                                      <p:to>
                                        <p:strVal val="visible"/>
                                      </p:to>
                                    </p:set>
                                    <p:animEffect transition="in" filter="fade">
                                      <p:cBhvr>
                                        <p:cTn id="51" dur="500"/>
                                        <p:tgtEl>
                                          <p:spTgt spid="6">
                                            <p:txEl>
                                              <p:pRg st="18" end="18"/>
                                            </p:txEl>
                                          </p:spTgt>
                                        </p:tgtEl>
                                      </p:cBhvr>
                                    </p:animEffect>
                                  </p:childTnLst>
                                </p:cTn>
                              </p:par>
                              <p:par>
                                <p:cTn id="52" presetID="10" presetClass="entr" presetSubtype="0" fill="hold" nodeType="withEffect">
                                  <p:stCondLst>
                                    <p:cond delay="0"/>
                                  </p:stCondLst>
                                  <p:childTnLst>
                                    <p:set>
                                      <p:cBhvr>
                                        <p:cTn id="53" dur="1" fill="hold">
                                          <p:stCondLst>
                                            <p:cond delay="0"/>
                                          </p:stCondLst>
                                        </p:cTn>
                                        <p:tgtEl>
                                          <p:spTgt spid="6">
                                            <p:txEl>
                                              <p:pRg st="19" end="19"/>
                                            </p:txEl>
                                          </p:spTgt>
                                        </p:tgtEl>
                                        <p:attrNameLst>
                                          <p:attrName>style.visibility</p:attrName>
                                        </p:attrNameLst>
                                      </p:cBhvr>
                                      <p:to>
                                        <p:strVal val="visible"/>
                                      </p:to>
                                    </p:set>
                                    <p:animEffect transition="in" filter="fade">
                                      <p:cBhvr>
                                        <p:cTn id="54" dur="500"/>
                                        <p:tgtEl>
                                          <p:spTgt spid="6">
                                            <p:txEl>
                                              <p:pRg st="19" end="19"/>
                                            </p:txEl>
                                          </p:spTgt>
                                        </p:tgtEl>
                                      </p:cBhvr>
                                    </p:animEffect>
                                  </p:childTnLst>
                                </p:cTn>
                              </p:par>
                              <p:par>
                                <p:cTn id="55" presetID="10" presetClass="entr" presetSubtype="0" fill="hold" nodeType="withEffect">
                                  <p:stCondLst>
                                    <p:cond delay="0"/>
                                  </p:stCondLst>
                                  <p:childTnLst>
                                    <p:set>
                                      <p:cBhvr>
                                        <p:cTn id="56" dur="1" fill="hold">
                                          <p:stCondLst>
                                            <p:cond delay="0"/>
                                          </p:stCondLst>
                                        </p:cTn>
                                        <p:tgtEl>
                                          <p:spTgt spid="6">
                                            <p:txEl>
                                              <p:pRg st="20" end="20"/>
                                            </p:txEl>
                                          </p:spTgt>
                                        </p:tgtEl>
                                        <p:attrNameLst>
                                          <p:attrName>style.visibility</p:attrName>
                                        </p:attrNameLst>
                                      </p:cBhvr>
                                      <p:to>
                                        <p:strVal val="visible"/>
                                      </p:to>
                                    </p:set>
                                    <p:animEffect transition="in" filter="fade">
                                      <p:cBhvr>
                                        <p:cTn id="57" dur="500"/>
                                        <p:tgtEl>
                                          <p:spTgt spid="6">
                                            <p:txEl>
                                              <p:pRg st="20" end="2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DB2FA381-431E-4094-836A-3D5D28839687}"/>
              </a:ext>
            </a:extLst>
          </p:cNvPr>
          <p:cNvPicPr>
            <a:picLocks noChangeAspect="1"/>
          </p:cNvPicPr>
          <p:nvPr/>
        </p:nvPicPr>
        <p:blipFill>
          <a:blip r:embed="rId2"/>
          <a:srcRect l="47386"/>
          <a:stretch>
            <a:fillRect/>
          </a:stretch>
        </p:blipFill>
        <p:spPr>
          <a:xfrm>
            <a:off x="3044779" y="3754421"/>
            <a:ext cx="6052857" cy="3034941"/>
          </a:xfrm>
          <a:prstGeom prst="rect">
            <a:avLst/>
          </a:prstGeom>
        </p:spPr>
      </p:pic>
      <p:sp>
        <p:nvSpPr>
          <p:cNvPr id="2" name="Title 1">
            <a:extLst>
              <a:ext uri="{FF2B5EF4-FFF2-40B4-BE49-F238E27FC236}">
                <a16:creationId xmlns:a16="http://schemas.microsoft.com/office/drawing/2014/main" id="{E21E1985-A513-7F83-7710-A5093AB06DF8}"/>
              </a:ext>
            </a:extLst>
          </p:cNvPr>
          <p:cNvSpPr>
            <a:spLocks noGrp="1"/>
          </p:cNvSpPr>
          <p:nvPr>
            <p:ph type="title"/>
          </p:nvPr>
        </p:nvSpPr>
        <p:spPr/>
        <p:txBody>
          <a:bodyPr/>
          <a:lstStyle/>
          <a:p>
            <a:r>
              <a:rPr lang="en-US" dirty="0"/>
              <a:t>Space Mission Phases</a:t>
            </a:r>
          </a:p>
        </p:txBody>
      </p:sp>
      <p:sp>
        <p:nvSpPr>
          <p:cNvPr id="4" name="Slide Number Placeholder 3">
            <a:extLst>
              <a:ext uri="{FF2B5EF4-FFF2-40B4-BE49-F238E27FC236}">
                <a16:creationId xmlns:a16="http://schemas.microsoft.com/office/drawing/2014/main" id="{0D255A3A-85A1-9DD3-B219-F808D4FF98A9}"/>
              </a:ext>
            </a:extLst>
          </p:cNvPr>
          <p:cNvSpPr>
            <a:spLocks noGrp="1"/>
          </p:cNvSpPr>
          <p:nvPr>
            <p:ph type="sldNum" sz="quarter" idx="12"/>
          </p:nvPr>
        </p:nvSpPr>
        <p:spPr/>
        <p:txBody>
          <a:bodyPr/>
          <a:lstStyle/>
          <a:p>
            <a:fld id="{9A3029B7-FE6B-4680-9049-80E8298A0825}" type="slidenum">
              <a:rPr lang="en-US" smtClean="0"/>
              <a:t>25</a:t>
            </a:fld>
            <a:endParaRPr lang="en-US"/>
          </a:p>
        </p:txBody>
      </p:sp>
      <p:pic>
        <p:nvPicPr>
          <p:cNvPr id="6" name="Picture 5">
            <a:extLst>
              <a:ext uri="{FF2B5EF4-FFF2-40B4-BE49-F238E27FC236}">
                <a16:creationId xmlns:a16="http://schemas.microsoft.com/office/drawing/2014/main" id="{C22DC853-9AE3-9465-D74C-A367A7178CA1}"/>
              </a:ext>
            </a:extLst>
          </p:cNvPr>
          <p:cNvPicPr>
            <a:picLocks noChangeAspect="1"/>
          </p:cNvPicPr>
          <p:nvPr/>
        </p:nvPicPr>
        <p:blipFill>
          <a:blip r:embed="rId2"/>
          <a:srcRect r="51257"/>
          <a:stretch>
            <a:fillRect/>
          </a:stretch>
        </p:blipFill>
        <p:spPr>
          <a:xfrm>
            <a:off x="23182" y="934633"/>
            <a:ext cx="5607447" cy="3034941"/>
          </a:xfrm>
          <a:prstGeom prst="rect">
            <a:avLst/>
          </a:prstGeom>
        </p:spPr>
      </p:pic>
      <p:sp>
        <p:nvSpPr>
          <p:cNvPr id="8" name="Freeform: Shape 7">
            <a:extLst>
              <a:ext uri="{FF2B5EF4-FFF2-40B4-BE49-F238E27FC236}">
                <a16:creationId xmlns:a16="http://schemas.microsoft.com/office/drawing/2014/main" id="{6827B175-4E76-C085-F9A5-3A6DF1CF7036}"/>
              </a:ext>
            </a:extLst>
          </p:cNvPr>
          <p:cNvSpPr/>
          <p:nvPr/>
        </p:nvSpPr>
        <p:spPr>
          <a:xfrm>
            <a:off x="2021538" y="2926080"/>
            <a:ext cx="4481394" cy="2863357"/>
          </a:xfrm>
          <a:custGeom>
            <a:avLst/>
            <a:gdLst>
              <a:gd name="connsiteX0" fmla="*/ 3560228 w 4310662"/>
              <a:gd name="connsiteY0" fmla="*/ 0 h 3090407"/>
              <a:gd name="connsiteX1" fmla="*/ 4162657 w 4310662"/>
              <a:gd name="connsiteY1" fmla="*/ 462579 h 3090407"/>
              <a:gd name="connsiteX2" fmla="*/ 3969019 w 4310662"/>
              <a:gd name="connsiteY2" fmla="*/ 978946 h 3090407"/>
              <a:gd name="connsiteX3" fmla="*/ 687937 w 4310662"/>
              <a:gd name="connsiteY3" fmla="*/ 1065007 h 3090407"/>
              <a:gd name="connsiteX4" fmla="*/ 10205 w 4310662"/>
              <a:gd name="connsiteY4" fmla="*/ 1699708 h 3090407"/>
              <a:gd name="connsiteX5" fmla="*/ 322177 w 4310662"/>
              <a:gd name="connsiteY5" fmla="*/ 2872292 h 3090407"/>
              <a:gd name="connsiteX6" fmla="*/ 892332 w 4310662"/>
              <a:gd name="connsiteY6" fmla="*/ 3087445 h 3090407"/>
              <a:gd name="connsiteX0" fmla="*/ 3560228 w 4369853"/>
              <a:gd name="connsiteY0" fmla="*/ 0 h 3090407"/>
              <a:gd name="connsiteX1" fmla="*/ 4270234 w 4369853"/>
              <a:gd name="connsiteY1" fmla="*/ 430306 h 3090407"/>
              <a:gd name="connsiteX2" fmla="*/ 3969019 w 4369853"/>
              <a:gd name="connsiteY2" fmla="*/ 978946 h 3090407"/>
              <a:gd name="connsiteX3" fmla="*/ 687937 w 4369853"/>
              <a:gd name="connsiteY3" fmla="*/ 1065007 h 3090407"/>
              <a:gd name="connsiteX4" fmla="*/ 10205 w 4369853"/>
              <a:gd name="connsiteY4" fmla="*/ 1699708 h 3090407"/>
              <a:gd name="connsiteX5" fmla="*/ 322177 w 4369853"/>
              <a:gd name="connsiteY5" fmla="*/ 2872292 h 3090407"/>
              <a:gd name="connsiteX6" fmla="*/ 892332 w 4369853"/>
              <a:gd name="connsiteY6" fmla="*/ 3087445 h 3090407"/>
              <a:gd name="connsiteX0" fmla="*/ 3560228 w 4404638"/>
              <a:gd name="connsiteY0" fmla="*/ 0 h 3090407"/>
              <a:gd name="connsiteX1" fmla="*/ 4270234 w 4404638"/>
              <a:gd name="connsiteY1" fmla="*/ 430306 h 3090407"/>
              <a:gd name="connsiteX2" fmla="*/ 3969019 w 4404638"/>
              <a:gd name="connsiteY2" fmla="*/ 978946 h 3090407"/>
              <a:gd name="connsiteX3" fmla="*/ 687937 w 4404638"/>
              <a:gd name="connsiteY3" fmla="*/ 1065007 h 3090407"/>
              <a:gd name="connsiteX4" fmla="*/ 10205 w 4404638"/>
              <a:gd name="connsiteY4" fmla="*/ 1699708 h 3090407"/>
              <a:gd name="connsiteX5" fmla="*/ 322177 w 4404638"/>
              <a:gd name="connsiteY5" fmla="*/ 2872292 h 3090407"/>
              <a:gd name="connsiteX6" fmla="*/ 892332 w 4404638"/>
              <a:gd name="connsiteY6" fmla="*/ 3087445 h 3090407"/>
              <a:gd name="connsiteX0" fmla="*/ 3560228 w 4404638"/>
              <a:gd name="connsiteY0" fmla="*/ 0 h 2974104"/>
              <a:gd name="connsiteX1" fmla="*/ 4270234 w 4404638"/>
              <a:gd name="connsiteY1" fmla="*/ 430306 h 2974104"/>
              <a:gd name="connsiteX2" fmla="*/ 3969019 w 4404638"/>
              <a:gd name="connsiteY2" fmla="*/ 978946 h 2974104"/>
              <a:gd name="connsiteX3" fmla="*/ 687937 w 4404638"/>
              <a:gd name="connsiteY3" fmla="*/ 1065007 h 2974104"/>
              <a:gd name="connsiteX4" fmla="*/ 10205 w 4404638"/>
              <a:gd name="connsiteY4" fmla="*/ 1699708 h 2974104"/>
              <a:gd name="connsiteX5" fmla="*/ 322177 w 4404638"/>
              <a:gd name="connsiteY5" fmla="*/ 2872292 h 2974104"/>
              <a:gd name="connsiteX6" fmla="*/ 849302 w 4404638"/>
              <a:gd name="connsiteY6" fmla="*/ 2861534 h 2974104"/>
              <a:gd name="connsiteX0" fmla="*/ 3579392 w 4423802"/>
              <a:gd name="connsiteY0" fmla="*/ 0 h 2861859"/>
              <a:gd name="connsiteX1" fmla="*/ 4289398 w 4423802"/>
              <a:gd name="connsiteY1" fmla="*/ 430306 h 2861859"/>
              <a:gd name="connsiteX2" fmla="*/ 3988183 w 4423802"/>
              <a:gd name="connsiteY2" fmla="*/ 978946 h 2861859"/>
              <a:gd name="connsiteX3" fmla="*/ 707101 w 4423802"/>
              <a:gd name="connsiteY3" fmla="*/ 1065007 h 2861859"/>
              <a:gd name="connsiteX4" fmla="*/ 29369 w 4423802"/>
              <a:gd name="connsiteY4" fmla="*/ 1699708 h 2861859"/>
              <a:gd name="connsiteX5" fmla="*/ 201491 w 4423802"/>
              <a:gd name="connsiteY5" fmla="*/ 2495775 h 2861859"/>
              <a:gd name="connsiteX6" fmla="*/ 868466 w 4423802"/>
              <a:gd name="connsiteY6" fmla="*/ 2861534 h 2861859"/>
              <a:gd name="connsiteX0" fmla="*/ 3579392 w 4423802"/>
              <a:gd name="connsiteY0" fmla="*/ 0 h 2863357"/>
              <a:gd name="connsiteX1" fmla="*/ 4289398 w 4423802"/>
              <a:gd name="connsiteY1" fmla="*/ 430306 h 2863357"/>
              <a:gd name="connsiteX2" fmla="*/ 3988183 w 4423802"/>
              <a:gd name="connsiteY2" fmla="*/ 978946 h 2863357"/>
              <a:gd name="connsiteX3" fmla="*/ 707101 w 4423802"/>
              <a:gd name="connsiteY3" fmla="*/ 1065007 h 2863357"/>
              <a:gd name="connsiteX4" fmla="*/ 29369 w 4423802"/>
              <a:gd name="connsiteY4" fmla="*/ 1699708 h 2863357"/>
              <a:gd name="connsiteX5" fmla="*/ 201491 w 4423802"/>
              <a:gd name="connsiteY5" fmla="*/ 2495775 h 2863357"/>
              <a:gd name="connsiteX6" fmla="*/ 868466 w 4423802"/>
              <a:gd name="connsiteY6" fmla="*/ 2861534 h 2863357"/>
              <a:gd name="connsiteX0" fmla="*/ 3566251 w 4410661"/>
              <a:gd name="connsiteY0" fmla="*/ 0 h 2863357"/>
              <a:gd name="connsiteX1" fmla="*/ 4276257 w 4410661"/>
              <a:gd name="connsiteY1" fmla="*/ 430306 h 2863357"/>
              <a:gd name="connsiteX2" fmla="*/ 3975042 w 4410661"/>
              <a:gd name="connsiteY2" fmla="*/ 978946 h 2863357"/>
              <a:gd name="connsiteX3" fmla="*/ 693960 w 4410661"/>
              <a:gd name="connsiteY3" fmla="*/ 1065007 h 2863357"/>
              <a:gd name="connsiteX4" fmla="*/ 16228 w 4410661"/>
              <a:gd name="connsiteY4" fmla="*/ 1699708 h 2863357"/>
              <a:gd name="connsiteX5" fmla="*/ 188350 w 4410661"/>
              <a:gd name="connsiteY5" fmla="*/ 2495775 h 2863357"/>
              <a:gd name="connsiteX6" fmla="*/ 855325 w 4410661"/>
              <a:gd name="connsiteY6" fmla="*/ 2861534 h 2863357"/>
              <a:gd name="connsiteX0" fmla="*/ 3593010 w 4437420"/>
              <a:gd name="connsiteY0" fmla="*/ 0 h 2863357"/>
              <a:gd name="connsiteX1" fmla="*/ 4303016 w 4437420"/>
              <a:gd name="connsiteY1" fmla="*/ 430306 h 2863357"/>
              <a:gd name="connsiteX2" fmla="*/ 4001801 w 4437420"/>
              <a:gd name="connsiteY2" fmla="*/ 978946 h 2863357"/>
              <a:gd name="connsiteX3" fmla="*/ 720719 w 4437420"/>
              <a:gd name="connsiteY3" fmla="*/ 1065007 h 2863357"/>
              <a:gd name="connsiteX4" fmla="*/ 42987 w 4437420"/>
              <a:gd name="connsiteY4" fmla="*/ 1699708 h 2863357"/>
              <a:gd name="connsiteX5" fmla="*/ 215109 w 4437420"/>
              <a:gd name="connsiteY5" fmla="*/ 2495775 h 2863357"/>
              <a:gd name="connsiteX6" fmla="*/ 882084 w 4437420"/>
              <a:gd name="connsiteY6" fmla="*/ 2861534 h 2863357"/>
              <a:gd name="connsiteX0" fmla="*/ 3658461 w 4502871"/>
              <a:gd name="connsiteY0" fmla="*/ 0 h 2863357"/>
              <a:gd name="connsiteX1" fmla="*/ 4368467 w 4502871"/>
              <a:gd name="connsiteY1" fmla="*/ 430306 h 2863357"/>
              <a:gd name="connsiteX2" fmla="*/ 4067252 w 4502871"/>
              <a:gd name="connsiteY2" fmla="*/ 978946 h 2863357"/>
              <a:gd name="connsiteX3" fmla="*/ 786170 w 4502871"/>
              <a:gd name="connsiteY3" fmla="*/ 1065007 h 2863357"/>
              <a:gd name="connsiteX4" fmla="*/ 33134 w 4502871"/>
              <a:gd name="connsiteY4" fmla="*/ 1699708 h 2863357"/>
              <a:gd name="connsiteX5" fmla="*/ 280560 w 4502871"/>
              <a:gd name="connsiteY5" fmla="*/ 2495775 h 2863357"/>
              <a:gd name="connsiteX6" fmla="*/ 947535 w 4502871"/>
              <a:gd name="connsiteY6" fmla="*/ 2861534 h 2863357"/>
              <a:gd name="connsiteX0" fmla="*/ 3654385 w 4498795"/>
              <a:gd name="connsiteY0" fmla="*/ 0 h 2863357"/>
              <a:gd name="connsiteX1" fmla="*/ 4364391 w 4498795"/>
              <a:gd name="connsiteY1" fmla="*/ 430306 h 2863357"/>
              <a:gd name="connsiteX2" fmla="*/ 4063176 w 4498795"/>
              <a:gd name="connsiteY2" fmla="*/ 978946 h 2863357"/>
              <a:gd name="connsiteX3" fmla="*/ 782094 w 4498795"/>
              <a:gd name="connsiteY3" fmla="*/ 1065007 h 2863357"/>
              <a:gd name="connsiteX4" fmla="*/ 29058 w 4498795"/>
              <a:gd name="connsiteY4" fmla="*/ 1699708 h 2863357"/>
              <a:gd name="connsiteX5" fmla="*/ 276484 w 4498795"/>
              <a:gd name="connsiteY5" fmla="*/ 2495775 h 2863357"/>
              <a:gd name="connsiteX6" fmla="*/ 943459 w 4498795"/>
              <a:gd name="connsiteY6" fmla="*/ 2861534 h 2863357"/>
              <a:gd name="connsiteX0" fmla="*/ 3625841 w 4470251"/>
              <a:gd name="connsiteY0" fmla="*/ 0 h 2863357"/>
              <a:gd name="connsiteX1" fmla="*/ 4335847 w 4470251"/>
              <a:gd name="connsiteY1" fmla="*/ 430306 h 2863357"/>
              <a:gd name="connsiteX2" fmla="*/ 4034632 w 4470251"/>
              <a:gd name="connsiteY2" fmla="*/ 978946 h 2863357"/>
              <a:gd name="connsiteX3" fmla="*/ 753550 w 4470251"/>
              <a:gd name="connsiteY3" fmla="*/ 1065007 h 2863357"/>
              <a:gd name="connsiteX4" fmla="*/ 514 w 4470251"/>
              <a:gd name="connsiteY4" fmla="*/ 1699708 h 2863357"/>
              <a:gd name="connsiteX5" fmla="*/ 247940 w 4470251"/>
              <a:gd name="connsiteY5" fmla="*/ 2495775 h 2863357"/>
              <a:gd name="connsiteX6" fmla="*/ 914915 w 4470251"/>
              <a:gd name="connsiteY6" fmla="*/ 2861534 h 2863357"/>
              <a:gd name="connsiteX0" fmla="*/ 3639134 w 4483544"/>
              <a:gd name="connsiteY0" fmla="*/ 0 h 2863357"/>
              <a:gd name="connsiteX1" fmla="*/ 4349140 w 4483544"/>
              <a:gd name="connsiteY1" fmla="*/ 430306 h 2863357"/>
              <a:gd name="connsiteX2" fmla="*/ 4047925 w 4483544"/>
              <a:gd name="connsiteY2" fmla="*/ 978946 h 2863357"/>
              <a:gd name="connsiteX3" fmla="*/ 766843 w 4483544"/>
              <a:gd name="connsiteY3" fmla="*/ 1065007 h 2863357"/>
              <a:gd name="connsiteX4" fmla="*/ 13807 w 4483544"/>
              <a:gd name="connsiteY4" fmla="*/ 1699708 h 2863357"/>
              <a:gd name="connsiteX5" fmla="*/ 261233 w 4483544"/>
              <a:gd name="connsiteY5" fmla="*/ 2495775 h 2863357"/>
              <a:gd name="connsiteX6" fmla="*/ 928208 w 4483544"/>
              <a:gd name="connsiteY6" fmla="*/ 2861534 h 2863357"/>
              <a:gd name="connsiteX0" fmla="*/ 3639134 w 4483544"/>
              <a:gd name="connsiteY0" fmla="*/ 0 h 2863357"/>
              <a:gd name="connsiteX1" fmla="*/ 4349140 w 4483544"/>
              <a:gd name="connsiteY1" fmla="*/ 430306 h 2863357"/>
              <a:gd name="connsiteX2" fmla="*/ 4047925 w 4483544"/>
              <a:gd name="connsiteY2" fmla="*/ 978946 h 2863357"/>
              <a:gd name="connsiteX3" fmla="*/ 766843 w 4483544"/>
              <a:gd name="connsiteY3" fmla="*/ 1065007 h 2863357"/>
              <a:gd name="connsiteX4" fmla="*/ 13807 w 4483544"/>
              <a:gd name="connsiteY4" fmla="*/ 1699708 h 2863357"/>
              <a:gd name="connsiteX5" fmla="*/ 261233 w 4483544"/>
              <a:gd name="connsiteY5" fmla="*/ 2495775 h 2863357"/>
              <a:gd name="connsiteX6" fmla="*/ 928208 w 4483544"/>
              <a:gd name="connsiteY6" fmla="*/ 2861534 h 2863357"/>
              <a:gd name="connsiteX0" fmla="*/ 3636984 w 4481394"/>
              <a:gd name="connsiteY0" fmla="*/ 0 h 2863357"/>
              <a:gd name="connsiteX1" fmla="*/ 4346990 w 4481394"/>
              <a:gd name="connsiteY1" fmla="*/ 430306 h 2863357"/>
              <a:gd name="connsiteX2" fmla="*/ 4045775 w 4481394"/>
              <a:gd name="connsiteY2" fmla="*/ 978946 h 2863357"/>
              <a:gd name="connsiteX3" fmla="*/ 764693 w 4481394"/>
              <a:gd name="connsiteY3" fmla="*/ 1065007 h 2863357"/>
              <a:gd name="connsiteX4" fmla="*/ 11657 w 4481394"/>
              <a:gd name="connsiteY4" fmla="*/ 1699708 h 2863357"/>
              <a:gd name="connsiteX5" fmla="*/ 259083 w 4481394"/>
              <a:gd name="connsiteY5" fmla="*/ 2495775 h 2863357"/>
              <a:gd name="connsiteX6" fmla="*/ 926058 w 4481394"/>
              <a:gd name="connsiteY6" fmla="*/ 2861534 h 2863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81394" h="2863357">
                <a:moveTo>
                  <a:pt x="3636984" y="0"/>
                </a:moveTo>
                <a:cubicBezTo>
                  <a:pt x="3904132" y="149710"/>
                  <a:pt x="4192797" y="234875"/>
                  <a:pt x="4346990" y="430306"/>
                </a:cubicBezTo>
                <a:cubicBezTo>
                  <a:pt x="4501183" y="625737"/>
                  <a:pt x="4642824" y="873163"/>
                  <a:pt x="4045775" y="978946"/>
                </a:cubicBezTo>
                <a:cubicBezTo>
                  <a:pt x="3448726" y="1084729"/>
                  <a:pt x="1297197" y="966396"/>
                  <a:pt x="764693" y="1065007"/>
                </a:cubicBezTo>
                <a:cubicBezTo>
                  <a:pt x="232189" y="1163618"/>
                  <a:pt x="74410" y="1515035"/>
                  <a:pt x="11657" y="1699708"/>
                </a:cubicBezTo>
                <a:cubicBezTo>
                  <a:pt x="-51096" y="1884381"/>
                  <a:pt x="155093" y="2415093"/>
                  <a:pt x="259083" y="2495775"/>
                </a:cubicBezTo>
                <a:cubicBezTo>
                  <a:pt x="513681" y="2866913"/>
                  <a:pt x="714491" y="2869602"/>
                  <a:pt x="926058" y="2861534"/>
                </a:cubicBezTo>
              </a:path>
            </a:pathLst>
          </a:custGeom>
          <a:noFill/>
          <a:ln w="57150">
            <a:solidFill>
              <a:srgbClr val="0070C0"/>
            </a:solidFill>
            <a:prstDash val="sysDot"/>
            <a:headEnd type="none" w="med" len="med"/>
            <a:tailEnd type="triangle" w="med" len="me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408490607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24A2C3-84A2-F9D2-906F-D895675D9811}"/>
              </a:ext>
            </a:extLst>
          </p:cNvPr>
          <p:cNvSpPr>
            <a:spLocks noGrp="1"/>
          </p:cNvSpPr>
          <p:nvPr>
            <p:ph type="title"/>
          </p:nvPr>
        </p:nvSpPr>
        <p:spPr/>
        <p:txBody>
          <a:bodyPr/>
          <a:lstStyle/>
          <a:p>
            <a:r>
              <a:rPr lang="en-US" dirty="0"/>
              <a:t>Scheduling Methods: Gantt Charts</a:t>
            </a:r>
          </a:p>
        </p:txBody>
      </p:sp>
      <p:sp>
        <p:nvSpPr>
          <p:cNvPr id="3" name="Content Placeholder 2">
            <a:extLst>
              <a:ext uri="{FF2B5EF4-FFF2-40B4-BE49-F238E27FC236}">
                <a16:creationId xmlns:a16="http://schemas.microsoft.com/office/drawing/2014/main" id="{2937E640-F1BF-160F-8AE3-3E763DCE1A98}"/>
              </a:ext>
            </a:extLst>
          </p:cNvPr>
          <p:cNvSpPr>
            <a:spLocks noGrp="1"/>
          </p:cNvSpPr>
          <p:nvPr>
            <p:ph idx="1"/>
          </p:nvPr>
        </p:nvSpPr>
        <p:spPr/>
        <p:txBody>
          <a:bodyPr>
            <a:normAutofit/>
          </a:bodyPr>
          <a:lstStyle/>
          <a:p>
            <a:pPr marL="0" indent="0">
              <a:buNone/>
            </a:pPr>
            <a:r>
              <a:rPr lang="en-US" sz="2000" b="1" dirty="0"/>
              <a:t>Project management tool that visually displays tasks and their timelines in a bar chart format, showing start and end dates, durations, dependencies, and progress against a project schedule.</a:t>
            </a:r>
          </a:p>
        </p:txBody>
      </p:sp>
      <p:sp>
        <p:nvSpPr>
          <p:cNvPr id="4" name="Slide Number Placeholder 3">
            <a:extLst>
              <a:ext uri="{FF2B5EF4-FFF2-40B4-BE49-F238E27FC236}">
                <a16:creationId xmlns:a16="http://schemas.microsoft.com/office/drawing/2014/main" id="{3C916155-6DA9-2C56-7E56-84CB7F732AA8}"/>
              </a:ext>
            </a:extLst>
          </p:cNvPr>
          <p:cNvSpPr>
            <a:spLocks noGrp="1"/>
          </p:cNvSpPr>
          <p:nvPr>
            <p:ph type="sldNum" sz="quarter" idx="12"/>
          </p:nvPr>
        </p:nvSpPr>
        <p:spPr/>
        <p:txBody>
          <a:bodyPr/>
          <a:lstStyle/>
          <a:p>
            <a:fld id="{9A3029B7-FE6B-4680-9049-80E8298A0825}" type="slidenum">
              <a:rPr lang="en-US" smtClean="0"/>
              <a:t>26</a:t>
            </a:fld>
            <a:endParaRPr lang="en-US"/>
          </a:p>
        </p:txBody>
      </p:sp>
      <p:pic>
        <p:nvPicPr>
          <p:cNvPr id="11266" name="Picture 2" descr="What is a Gantt Chart? Gantt Chart Software, Information, and History">
            <a:extLst>
              <a:ext uri="{FF2B5EF4-FFF2-40B4-BE49-F238E27FC236}">
                <a16:creationId xmlns:a16="http://schemas.microsoft.com/office/drawing/2014/main" id="{3F9E7FCF-3618-08D5-3BC6-8C782ACC20B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5796" y="2085975"/>
            <a:ext cx="8952407" cy="39814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557504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60006A-D12A-34E3-C332-223B1C48BE58}"/>
              </a:ext>
            </a:extLst>
          </p:cNvPr>
          <p:cNvSpPr>
            <a:spLocks noGrp="1"/>
          </p:cNvSpPr>
          <p:nvPr>
            <p:ph type="title"/>
          </p:nvPr>
        </p:nvSpPr>
        <p:spPr/>
        <p:txBody>
          <a:bodyPr>
            <a:noAutofit/>
          </a:bodyPr>
          <a:lstStyle/>
          <a:p>
            <a:r>
              <a:rPr lang="en-US" sz="2000" dirty="0"/>
              <a:t>Scheduling Methods: Critical Path Method (CPM) / Workflow </a:t>
            </a:r>
          </a:p>
        </p:txBody>
      </p:sp>
      <p:sp>
        <p:nvSpPr>
          <p:cNvPr id="3" name="Content Placeholder 2">
            <a:extLst>
              <a:ext uri="{FF2B5EF4-FFF2-40B4-BE49-F238E27FC236}">
                <a16:creationId xmlns:a16="http://schemas.microsoft.com/office/drawing/2014/main" id="{5A0939E4-C52D-55E9-0DBE-E07889D62595}"/>
              </a:ext>
            </a:extLst>
          </p:cNvPr>
          <p:cNvSpPr>
            <a:spLocks noGrp="1"/>
          </p:cNvSpPr>
          <p:nvPr>
            <p:ph idx="1"/>
          </p:nvPr>
        </p:nvSpPr>
        <p:spPr/>
        <p:txBody>
          <a:bodyPr>
            <a:normAutofit/>
          </a:bodyPr>
          <a:lstStyle/>
          <a:p>
            <a:pPr marL="0" indent="0">
              <a:buNone/>
            </a:pPr>
            <a:r>
              <a:rPr lang="en-US" sz="2000" b="1" dirty="0"/>
              <a:t>Identifies the sequence of dependent tasks that determines the project’s minimum completion time.</a:t>
            </a:r>
          </a:p>
        </p:txBody>
      </p:sp>
      <p:sp>
        <p:nvSpPr>
          <p:cNvPr id="4" name="Slide Number Placeholder 3">
            <a:extLst>
              <a:ext uri="{FF2B5EF4-FFF2-40B4-BE49-F238E27FC236}">
                <a16:creationId xmlns:a16="http://schemas.microsoft.com/office/drawing/2014/main" id="{31F35D3E-6090-D280-C775-25D57741C726}"/>
              </a:ext>
            </a:extLst>
          </p:cNvPr>
          <p:cNvSpPr>
            <a:spLocks noGrp="1"/>
          </p:cNvSpPr>
          <p:nvPr>
            <p:ph type="sldNum" sz="quarter" idx="12"/>
          </p:nvPr>
        </p:nvSpPr>
        <p:spPr/>
        <p:txBody>
          <a:bodyPr/>
          <a:lstStyle/>
          <a:p>
            <a:fld id="{9A3029B7-FE6B-4680-9049-80E8298A0825}" type="slidenum">
              <a:rPr lang="en-US" smtClean="0"/>
              <a:t>27</a:t>
            </a:fld>
            <a:endParaRPr lang="en-US"/>
          </a:p>
        </p:txBody>
      </p:sp>
      <p:pic>
        <p:nvPicPr>
          <p:cNvPr id="12290" name="Picture 2" descr="Beginner's Guide to Critical Path Method (CPM) | Smartsheet">
            <a:extLst>
              <a:ext uri="{FF2B5EF4-FFF2-40B4-BE49-F238E27FC236}">
                <a16:creationId xmlns:a16="http://schemas.microsoft.com/office/drawing/2014/main" id="{DEFDA94B-9B0D-3F15-4D57-D9F6357160E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2518569"/>
            <a:ext cx="9144000" cy="33369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3556330"/>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_ip_UnifiedCompliancePolicyProperties xmlns="http://schemas.microsoft.com/sharepoint/v3" xsi:nil="true"/>
    <TaxCatchAll xmlns="723aa48c-73f2-40da-86b1-f1ae286477fe" xsi:nil="true"/>
    <lcf76f155ced4ddcb4097134ff3c332f xmlns="7584c457-6b5a-4caa-be47-be979cbe6555">
      <Terms xmlns="http://schemas.microsoft.com/office/infopath/2007/PartnerControls"/>
    </lcf76f155ced4ddcb4097134ff3c332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0C902C3CBC54D4FA7075784AD88F5EC" ma:contentTypeVersion="21" ma:contentTypeDescription="Create a new document." ma:contentTypeScope="" ma:versionID="aab13084cbfb645f826f7dc6731109d6">
  <xsd:schema xmlns:xsd="http://www.w3.org/2001/XMLSchema" xmlns:xs="http://www.w3.org/2001/XMLSchema" xmlns:p="http://schemas.microsoft.com/office/2006/metadata/properties" xmlns:ns1="http://schemas.microsoft.com/sharepoint/v3" xmlns:ns2="7584c457-6b5a-4caa-be47-be979cbe6555" xmlns:ns3="723aa48c-73f2-40da-86b1-f1ae286477fe" targetNamespace="http://schemas.microsoft.com/office/2006/metadata/properties" ma:root="true" ma:fieldsID="2636cc15ff2f3d2629ecec77a65aea39" ns1:_="" ns2:_="" ns3:_="">
    <xsd:import namespace="http://schemas.microsoft.com/sharepoint/v3"/>
    <xsd:import namespace="7584c457-6b5a-4caa-be47-be979cbe6555"/>
    <xsd:import namespace="723aa48c-73f2-40da-86b1-f1ae286477fe"/>
    <xsd:element name="properties">
      <xsd:complexType>
        <xsd:sequence>
          <xsd:element name="documentManagement">
            <xsd:complexType>
              <xsd:all>
                <xsd:element ref="ns2:MediaServiceMetadata" minOccurs="0"/>
                <xsd:element ref="ns2:MediaServiceFastMetadata" minOccurs="0"/>
                <xsd:element ref="ns1:_ip_UnifiedCompliancePolicyProperties" minOccurs="0"/>
                <xsd:element ref="ns1:_ip_UnifiedCompliancePolicyUIAction" minOccurs="0"/>
                <xsd:element ref="ns2:MediaServiceAutoKeyPoints" minOccurs="0"/>
                <xsd:element ref="ns2:MediaServiceKeyPoints" minOccurs="0"/>
                <xsd:element ref="ns2:MediaServiceDateTaken" minOccurs="0"/>
                <xsd:element ref="ns2:MediaServiceAutoTags" minOccurs="0"/>
                <xsd:element ref="ns2:MediaServiceGenerationTime" minOccurs="0"/>
                <xsd:element ref="ns2:MediaServiceEventHashCode" minOccurs="0"/>
                <xsd:element ref="ns2:MediaServiceLocation" minOccurs="0"/>
                <xsd:element ref="ns2:MediaServiceOCR" minOccurs="0"/>
                <xsd:element ref="ns3:SharedWithUsers" minOccurs="0"/>
                <xsd:element ref="ns3:SharedWithDetails" minOccurs="0"/>
                <xsd:element ref="ns2:MediaLengthInSeconds" minOccurs="0"/>
                <xsd:element ref="ns2:lcf76f155ced4ddcb4097134ff3c332f" minOccurs="0"/>
                <xsd:element ref="ns3:TaxCatchAll"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0" nillable="true" ma:displayName="Unified Compliance Policy Properties" ma:hidden="true" ma:internalName="_ip_UnifiedCompliancePolicyProperties">
      <xsd:simpleType>
        <xsd:restriction base="dms:Note"/>
      </xsd:simpleType>
    </xsd:element>
    <xsd:element name="_ip_UnifiedCompliancePolicyUIAction" ma:index="1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584c457-6b5a-4caa-be47-be979cbe655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Location" ma:index="18" nillable="true" ma:displayName="Location" ma:internalName="MediaServiceLocation" ma:readOnly="true">
      <xsd:simpleType>
        <xsd:restriction base="dms:Text"/>
      </xsd:simpleType>
    </xsd:element>
    <xsd:element name="MediaServiceOCR" ma:index="19" nillable="true" ma:displayName="Extracted Text" ma:internalName="MediaServiceOCR" ma:readOnly="true">
      <xsd:simpleType>
        <xsd:restriction base="dms:Note">
          <xsd:maxLength value="255"/>
        </xsd:restriction>
      </xsd:simpleType>
    </xsd:element>
    <xsd:element name="MediaLengthInSeconds" ma:index="22" nillable="true" ma:displayName="Length (seconds)" ma:internalName="MediaLengthInSeconds" ma:readOnly="true">
      <xsd:simpleType>
        <xsd:restriction base="dms:Unknown"/>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d16a427a-858a-487d-80a3-21f23792e061" ma:termSetId="09814cd3-568e-fe90-9814-8d621ff8fb84" ma:anchorId="fba54fb3-c3e1-fe81-a776-ca4b69148c4d" ma:open="true" ma:isKeyword="false">
      <xsd:complexType>
        <xsd:sequence>
          <xsd:element ref="pc:Terms" minOccurs="0" maxOccurs="1"/>
        </xsd:sequence>
      </xsd:complex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SearchProperties" ma:index="27" nillable="true" ma:displayName="MediaServiceSearchProperties" ma:hidden="true" ma:internalName="MediaServiceSearchProperties" ma:readOnly="true">
      <xsd:simpleType>
        <xsd:restriction base="dms:Note"/>
      </xsd:simpleType>
    </xsd:element>
    <xsd:element name="MediaServiceBillingMetadata" ma:index="28"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23aa48c-73f2-40da-86b1-f1ae286477fe" elementFormDefault="qualified">
    <xsd:import namespace="http://schemas.microsoft.com/office/2006/documentManagement/types"/>
    <xsd:import namespace="http://schemas.microsoft.com/office/infopath/2007/PartnerControls"/>
    <xsd:element name="SharedWithUsers" ma:index="2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1" nillable="true" ma:displayName="Shared With Details" ma:internalName="SharedWithDetails" ma:readOnly="true">
      <xsd:simpleType>
        <xsd:restriction base="dms:Note">
          <xsd:maxLength value="255"/>
        </xsd:restriction>
      </xsd:simpleType>
    </xsd:element>
    <xsd:element name="TaxCatchAll" ma:index="25" nillable="true" ma:displayName="Taxonomy Catch All Column" ma:hidden="true" ma:list="{18387b12-f69f-4719-8b38-c3231d645ace}" ma:internalName="TaxCatchAll" ma:showField="CatchAllData" ma:web="723aa48c-73f2-40da-86b1-f1ae286477f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C286B8C-FFD3-47CE-9E8F-4104A49DEB88}">
  <ds:schemaRefs>
    <ds:schemaRef ds:uri="http://schemas.microsoft.com/sharepoint/v3/contenttype/forms"/>
  </ds:schemaRefs>
</ds:datastoreItem>
</file>

<file path=customXml/itemProps2.xml><?xml version="1.0" encoding="utf-8"?>
<ds:datastoreItem xmlns:ds="http://schemas.openxmlformats.org/officeDocument/2006/customXml" ds:itemID="{0996DB7C-76B3-472D-8F6F-C8E69FE568F8}">
  <ds:schemaRefs>
    <ds:schemaRef ds:uri="http://schemas.microsoft.com/office/2006/documentManagement/types"/>
    <ds:schemaRef ds:uri="http://purl.org/dc/terms/"/>
    <ds:schemaRef ds:uri="http://www.w3.org/XML/1998/namespace"/>
    <ds:schemaRef ds:uri="c2d23aaa-6876-4856-882c-18271699c7a8"/>
    <ds:schemaRef ds:uri="http://schemas.microsoft.com/office/2006/metadata/properties"/>
    <ds:schemaRef ds:uri="http://schemas.openxmlformats.org/package/2006/metadata/core-properties"/>
    <ds:schemaRef ds:uri="http://schemas.microsoft.com/office/infopath/2007/PartnerControls"/>
    <ds:schemaRef ds:uri="http://purl.org/dc/dcmitype/"/>
    <ds:schemaRef ds:uri="http://purl.org/dc/elements/1.1/"/>
    <ds:schemaRef ds:uri="http://schemas.microsoft.com/sharepoint/v3"/>
    <ds:schemaRef ds:uri="723aa48c-73f2-40da-86b1-f1ae286477fe"/>
    <ds:schemaRef ds:uri="7584c457-6b5a-4caa-be47-be979cbe6555"/>
  </ds:schemaRefs>
</ds:datastoreItem>
</file>

<file path=customXml/itemProps3.xml><?xml version="1.0" encoding="utf-8"?>
<ds:datastoreItem xmlns:ds="http://schemas.openxmlformats.org/officeDocument/2006/customXml" ds:itemID="{DEB3F353-8CF5-441F-A0EB-F3032248ACA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584c457-6b5a-4caa-be47-be979cbe6555"/>
    <ds:schemaRef ds:uri="723aa48c-73f2-40da-86b1-f1ae286477f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7ab80a06-f029-45c0-84d1-7dad19ce3c61}" enabled="0" method="" siteId="{7ab80a06-f029-45c0-84d1-7dad19ce3c61}" removed="1"/>
</clbl:labelList>
</file>

<file path=docProps/app.xml><?xml version="1.0" encoding="utf-8"?>
<Properties xmlns="http://schemas.openxmlformats.org/officeDocument/2006/extended-properties" xmlns:vt="http://schemas.openxmlformats.org/officeDocument/2006/docPropsVTypes">
  <Template>Office Theme</Template>
  <TotalTime>29729</TotalTime>
  <Words>3656</Words>
  <Application>Microsoft Office PowerPoint</Application>
  <PresentationFormat>Letter Paper (8.5x11 in)</PresentationFormat>
  <Paragraphs>432</Paragraphs>
  <Slides>27</Slides>
  <Notes>12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Aptos</vt:lpstr>
      <vt:lpstr>Arial</vt:lpstr>
      <vt:lpstr>Cambria Math</vt:lpstr>
      <vt:lpstr>Segoe UI</vt:lpstr>
      <vt:lpstr>Wingdings</vt:lpstr>
      <vt:lpstr>Office Theme</vt:lpstr>
      <vt:lpstr>Lesson 11</vt:lpstr>
      <vt:lpstr>Triple Constraint </vt:lpstr>
      <vt:lpstr>Budgets</vt:lpstr>
      <vt:lpstr>Selected Budgeting Terms</vt:lpstr>
      <vt:lpstr>Methods of Budget Estimation</vt:lpstr>
      <vt:lpstr>Parametric Budgeting Example</vt:lpstr>
      <vt:lpstr>Methods of Budget Estimation (2)</vt:lpstr>
      <vt:lpstr>Methods of Budget Estimation (2)</vt:lpstr>
      <vt:lpstr>Methods of Budget Estimation (3)</vt:lpstr>
      <vt:lpstr>Types of Budgets</vt:lpstr>
      <vt:lpstr>Types of Budgets</vt:lpstr>
      <vt:lpstr>Power Budget</vt:lpstr>
      <vt:lpstr>Power Budget (2)</vt:lpstr>
      <vt:lpstr>Mass Budget</vt:lpstr>
      <vt:lpstr>Mass Budget (2)</vt:lpstr>
      <vt:lpstr>Mass Budget (example)</vt:lpstr>
      <vt:lpstr>Mass Growth</vt:lpstr>
      <vt:lpstr>Volumetric (Configuration) Budget</vt:lpstr>
      <vt:lpstr>Propellant Budget</vt:lpstr>
      <vt:lpstr>Reliability Budget</vt:lpstr>
      <vt:lpstr>Pointing Budget</vt:lpstr>
      <vt:lpstr>Pointing Budget (example)</vt:lpstr>
      <vt:lpstr>Cost Budget</vt:lpstr>
      <vt:lpstr>Schedule</vt:lpstr>
      <vt:lpstr>Space Mission Phases</vt:lpstr>
      <vt:lpstr>Scheduling Methods: Gantt Charts</vt:lpstr>
      <vt:lpstr>Scheduling Methods: Critical Path Method (CPM) / Workflow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Harris, Wyatt J Lt Col USAF USAFA DF/DFAS</dc:creator>
  <cp:lastModifiedBy>Harris, Wyatt J Lt Col USAF USAFA DF/DFAS</cp:lastModifiedBy>
  <cp:revision>4</cp:revision>
  <cp:lastPrinted>2025-08-01T16:37:26Z</cp:lastPrinted>
  <dcterms:created xsi:type="dcterms:W3CDTF">2025-07-17T17:53:42Z</dcterms:created>
  <dcterms:modified xsi:type="dcterms:W3CDTF">2026-03-09T14:25:39Z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0x010100E0C902C3CBC54D4FA7075784AD88F5EC</vt:lpwstr>
  </property>
  <property fmtid="{D5CDD505-2E9C-101B-9397-08002B2CF9AE}" pid="3" name="MediaServiceImageTags">
    <vt:lpwstr/>
  </property>
</Properties>
</file>