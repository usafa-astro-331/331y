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8"/>
  </p:notesMasterIdLst>
  <p:sldIdLst>
    <p:sldId id="256" r:id="rId5"/>
    <p:sldId id="265" r:id="rId6"/>
    <p:sldId id="645" r:id="rId7"/>
    <p:sldId id="257" r:id="rId8"/>
    <p:sldId id="258" r:id="rId9"/>
    <p:sldId id="651" r:id="rId10"/>
    <p:sldId id="644" r:id="rId11"/>
    <p:sldId id="658" r:id="rId12"/>
    <p:sldId id="646" r:id="rId13"/>
    <p:sldId id="650" r:id="rId14"/>
    <p:sldId id="659" r:id="rId15"/>
    <p:sldId id="642" r:id="rId16"/>
    <p:sldId id="641" r:id="rId17"/>
    <p:sldId id="656" r:id="rId18"/>
    <p:sldId id="655" r:id="rId19"/>
    <p:sldId id="261" r:id="rId20"/>
    <p:sldId id="653" r:id="rId21"/>
    <p:sldId id="266" r:id="rId22"/>
    <p:sldId id="654" r:id="rId23"/>
    <p:sldId id="263" r:id="rId24"/>
    <p:sldId id="262" r:id="rId25"/>
    <p:sldId id="260" r:id="rId26"/>
    <p:sldId id="264" r:id="rId27"/>
    <p:sldId id="647" r:id="rId28"/>
    <p:sldId id="648" r:id="rId29"/>
    <p:sldId id="649" r:id="rId30"/>
    <p:sldId id="652" r:id="rId31"/>
    <p:sldId id="640" r:id="rId32"/>
    <p:sldId id="639" r:id="rId33"/>
    <p:sldId id="289" r:id="rId34"/>
    <p:sldId id="290" r:id="rId35"/>
    <p:sldId id="291" r:id="rId36"/>
    <p:sldId id="317" r:id="rId37"/>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92C56F-1D25-49C8-BBEB-71F51CFF1B42}" v="3" dt="2026-01-14T15:44:42.654"/>
    <p1510:client id="{B1D41206-8B54-41C9-8A5B-646179D28698}" v="98" dt="2026-01-14T04:20:28.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9935" autoAdjust="0"/>
  </p:normalViewPr>
  <p:slideViewPr>
    <p:cSldViewPr snapToGrid="0">
      <p:cViewPr varScale="1">
        <p:scale>
          <a:sx n="49" d="100"/>
          <a:sy n="49" d="100"/>
        </p:scale>
        <p:origin x="2462"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modSld">
      <pc:chgData name="Harris, Wyatt J Lt Col USAF USAFA DF/DFAS" userId="768bfb95-c272-4014-8fa2-010c15306053" providerId="ADAL" clId="{E18DAD13-4A53-44B8-9F3F-46E167733190}" dt="2026-01-14T15:44:42.654" v="19" actId="1076"/>
      <pc:docMkLst>
        <pc:docMk/>
      </pc:docMkLst>
      <pc:sldChg chg="modNotesTx">
        <pc:chgData name="Harris, Wyatt J Lt Col USAF USAFA DF/DFAS" userId="768bfb95-c272-4014-8fa2-010c15306053" providerId="ADAL" clId="{E18DAD13-4A53-44B8-9F3F-46E167733190}" dt="2026-01-14T01:15:15.321" v="0" actId="20577"/>
        <pc:sldMkLst>
          <pc:docMk/>
          <pc:sldMk cId="3188062351" sldId="256"/>
        </pc:sldMkLst>
      </pc:sldChg>
      <pc:sldChg chg="modSp mod">
        <pc:chgData name="Harris, Wyatt J Lt Col USAF USAFA DF/DFAS" userId="768bfb95-c272-4014-8fa2-010c15306053" providerId="ADAL" clId="{E18DAD13-4A53-44B8-9F3F-46E167733190}" dt="2026-01-14T15:35:51.262" v="3" actId="20577"/>
        <pc:sldMkLst>
          <pc:docMk/>
          <pc:sldMk cId="863421724" sldId="265"/>
        </pc:sldMkLst>
        <pc:spChg chg="mod">
          <ac:chgData name="Harris, Wyatt J Lt Col USAF USAFA DF/DFAS" userId="768bfb95-c272-4014-8fa2-010c15306053" providerId="ADAL" clId="{E18DAD13-4A53-44B8-9F3F-46E167733190}" dt="2026-01-14T15:35:51.262" v="3" actId="20577"/>
          <ac:spMkLst>
            <pc:docMk/>
            <pc:sldMk cId="863421724" sldId="265"/>
            <ac:spMk id="3" creationId="{DFF0F380-A02E-E9DA-568F-EEDD2A0A9E9E}"/>
          </ac:spMkLst>
        </pc:spChg>
      </pc:sldChg>
      <pc:sldChg chg="modSp mod">
        <pc:chgData name="Harris, Wyatt J Lt Col USAF USAFA DF/DFAS" userId="768bfb95-c272-4014-8fa2-010c15306053" providerId="ADAL" clId="{E18DAD13-4A53-44B8-9F3F-46E167733190}" dt="2026-01-14T15:39:51.602" v="7" actId="207"/>
        <pc:sldMkLst>
          <pc:docMk/>
          <pc:sldMk cId="3585430481" sldId="644"/>
        </pc:sldMkLst>
        <pc:spChg chg="mod">
          <ac:chgData name="Harris, Wyatt J Lt Col USAF USAFA DF/DFAS" userId="768bfb95-c272-4014-8fa2-010c15306053" providerId="ADAL" clId="{E18DAD13-4A53-44B8-9F3F-46E167733190}" dt="2026-01-14T15:39:51.602" v="7" actId="207"/>
          <ac:spMkLst>
            <pc:docMk/>
            <pc:sldMk cId="3585430481" sldId="644"/>
            <ac:spMk id="3" creationId="{A39B16BE-848D-EB64-0D30-3DFAF2AB50FC}"/>
          </ac:spMkLst>
        </pc:spChg>
      </pc:sldChg>
      <pc:sldChg chg="modSp mod">
        <pc:chgData name="Harris, Wyatt J Lt Col USAF USAFA DF/DFAS" userId="768bfb95-c272-4014-8fa2-010c15306053" providerId="ADAL" clId="{E18DAD13-4A53-44B8-9F3F-46E167733190}" dt="2026-01-14T15:40:06.868" v="9" actId="207"/>
        <pc:sldMkLst>
          <pc:docMk/>
          <pc:sldMk cId="2346472860" sldId="646"/>
        </pc:sldMkLst>
        <pc:graphicFrameChg chg="modGraphic">
          <ac:chgData name="Harris, Wyatt J Lt Col USAF USAFA DF/DFAS" userId="768bfb95-c272-4014-8fa2-010c15306053" providerId="ADAL" clId="{E18DAD13-4A53-44B8-9F3F-46E167733190}" dt="2026-01-14T15:40:06.868" v="9" actId="207"/>
          <ac:graphicFrameMkLst>
            <pc:docMk/>
            <pc:sldMk cId="2346472860" sldId="646"/>
            <ac:graphicFrameMk id="5" creationId="{EB5ADE0D-C7CA-8E85-3239-3A61859C3FEB}"/>
          </ac:graphicFrameMkLst>
        </pc:graphicFrameChg>
      </pc:sldChg>
      <pc:sldChg chg="modSp mod">
        <pc:chgData name="Harris, Wyatt J Lt Col USAF USAFA DF/DFAS" userId="768bfb95-c272-4014-8fa2-010c15306053" providerId="ADAL" clId="{E18DAD13-4A53-44B8-9F3F-46E167733190}" dt="2026-01-14T15:44:42.654" v="19" actId="1076"/>
        <pc:sldMkLst>
          <pc:docMk/>
          <pc:sldMk cId="2112644900" sldId="654"/>
        </pc:sldMkLst>
        <pc:spChg chg="mod">
          <ac:chgData name="Harris, Wyatt J Lt Col USAF USAFA DF/DFAS" userId="768bfb95-c272-4014-8fa2-010c15306053" providerId="ADAL" clId="{E18DAD13-4A53-44B8-9F3F-46E167733190}" dt="2026-01-14T15:44:38.973" v="18" actId="1076"/>
          <ac:spMkLst>
            <pc:docMk/>
            <pc:sldMk cId="2112644900" sldId="654"/>
            <ac:spMk id="8" creationId="{4795FC0E-0AAA-BD23-C397-9B8EA34F7EB0}"/>
          </ac:spMkLst>
        </pc:spChg>
        <pc:picChg chg="mod">
          <ac:chgData name="Harris, Wyatt J Lt Col USAF USAFA DF/DFAS" userId="768bfb95-c272-4014-8fa2-010c15306053" providerId="ADAL" clId="{E18DAD13-4A53-44B8-9F3F-46E167733190}" dt="2026-01-14T15:44:42.654" v="19" actId="1076"/>
          <ac:picMkLst>
            <pc:docMk/>
            <pc:sldMk cId="2112644900" sldId="654"/>
            <ac:picMk id="7170" creationId="{1FDDCF8B-7484-D44D-83CA-030CC988030C}"/>
          </ac:picMkLst>
        </pc:picChg>
      </pc:sldChg>
      <pc:sldChg chg="modSp mod">
        <pc:chgData name="Harris, Wyatt J Lt Col USAF USAFA DF/DFAS" userId="768bfb95-c272-4014-8fa2-010c15306053" providerId="ADAL" clId="{E18DAD13-4A53-44B8-9F3F-46E167733190}" dt="2026-01-14T15:44:14.753" v="15" actId="313"/>
        <pc:sldMkLst>
          <pc:docMk/>
          <pc:sldMk cId="2233247623" sldId="656"/>
        </pc:sldMkLst>
        <pc:spChg chg="mod">
          <ac:chgData name="Harris, Wyatt J Lt Col USAF USAFA DF/DFAS" userId="768bfb95-c272-4014-8fa2-010c15306053" providerId="ADAL" clId="{E18DAD13-4A53-44B8-9F3F-46E167733190}" dt="2026-01-14T15:44:14.753" v="15" actId="313"/>
          <ac:spMkLst>
            <pc:docMk/>
            <pc:sldMk cId="2233247623" sldId="656"/>
            <ac:spMk id="2" creationId="{8E6F5641-AF60-C27E-3DA8-83B4FB749B4A}"/>
          </ac:spMkLst>
        </pc:spChg>
      </pc:sldChg>
    </pc:docChg>
  </pc:docChgLst>
  <pc:docChgLst>
    <pc:chgData name="Harris, Wyatt J Lt Col USAF USAFA DF/DFAS" userId="768bfb95-c272-4014-8fa2-010c15306053" providerId="ADAL" clId="{95571437-1CDD-49A9-9F44-9267EE8F1204}"/>
    <pc:docChg chg="undo custSel addSld delSld modSld sldOrd">
      <pc:chgData name="Harris, Wyatt J Lt Col USAF USAFA DF/DFAS" userId="768bfb95-c272-4014-8fa2-010c15306053" providerId="ADAL" clId="{95571437-1CDD-49A9-9F44-9267EE8F1204}" dt="2026-01-14T04:22:02.736" v="971" actId="729"/>
      <pc:docMkLst>
        <pc:docMk/>
      </pc:docMkLst>
      <pc:sldChg chg="addSp delSp modSp mod ord addAnim delAnim modAnim modNotesTx">
        <pc:chgData name="Harris, Wyatt J Lt Col USAF USAFA DF/DFAS" userId="768bfb95-c272-4014-8fa2-010c15306053" providerId="ADAL" clId="{95571437-1CDD-49A9-9F44-9267EE8F1204}" dt="2026-01-11T04:08:47.434" v="215" actId="20577"/>
        <pc:sldMkLst>
          <pc:docMk/>
          <pc:sldMk cId="2697232708" sldId="257"/>
        </pc:sldMkLst>
        <pc:spChg chg="add mod">
          <ac:chgData name="Harris, Wyatt J Lt Col USAF USAFA DF/DFAS" userId="768bfb95-c272-4014-8fa2-010c15306053" providerId="ADAL" clId="{95571437-1CDD-49A9-9F44-9267EE8F1204}" dt="2026-01-11T03:52:57.790" v="56" actId="20577"/>
          <ac:spMkLst>
            <pc:docMk/>
            <pc:sldMk cId="2697232708" sldId="257"/>
            <ac:spMk id="3" creationId="{FA8B206C-A6CD-6D99-2716-3001053F1D7B}"/>
          </ac:spMkLst>
        </pc:spChg>
        <pc:spChg chg="add mod">
          <ac:chgData name="Harris, Wyatt J Lt Col USAF USAFA DF/DFAS" userId="768bfb95-c272-4014-8fa2-010c15306053" providerId="ADAL" clId="{95571437-1CDD-49A9-9F44-9267EE8F1204}" dt="2026-01-11T03:56:54.040" v="110" actId="1076"/>
          <ac:spMkLst>
            <pc:docMk/>
            <pc:sldMk cId="2697232708" sldId="257"/>
            <ac:spMk id="8" creationId="{D30DF146-02FF-B78E-19CB-31B731ACA938}"/>
          </ac:spMkLst>
        </pc:spChg>
        <pc:spChg chg="add mod">
          <ac:chgData name="Harris, Wyatt J Lt Col USAF USAFA DF/DFAS" userId="768bfb95-c272-4014-8fa2-010c15306053" providerId="ADAL" clId="{95571437-1CDD-49A9-9F44-9267EE8F1204}" dt="2026-01-11T04:01:38.291" v="158" actId="20578"/>
          <ac:spMkLst>
            <pc:docMk/>
            <pc:sldMk cId="2697232708" sldId="257"/>
            <ac:spMk id="10" creationId="{C7ED6CBE-C988-800C-D292-307CB01E40E2}"/>
          </ac:spMkLst>
        </pc:spChg>
        <pc:spChg chg="add mod">
          <ac:chgData name="Harris, Wyatt J Lt Col USAF USAFA DF/DFAS" userId="768bfb95-c272-4014-8fa2-010c15306053" providerId="ADAL" clId="{95571437-1CDD-49A9-9F44-9267EE8F1204}" dt="2026-01-11T04:02:53.408" v="184" actId="1076"/>
          <ac:spMkLst>
            <pc:docMk/>
            <pc:sldMk cId="2697232708" sldId="257"/>
            <ac:spMk id="13" creationId="{24D1CB5E-906F-9120-87CE-17CA37726D44}"/>
          </ac:spMkLst>
        </pc:spChg>
        <pc:picChg chg="add mod">
          <ac:chgData name="Harris, Wyatt J Lt Col USAF USAFA DF/DFAS" userId="768bfb95-c272-4014-8fa2-010c15306053" providerId="ADAL" clId="{95571437-1CDD-49A9-9F44-9267EE8F1204}" dt="2026-01-11T04:01:13.672" v="134" actId="1076"/>
          <ac:picMkLst>
            <pc:docMk/>
            <pc:sldMk cId="2697232708" sldId="257"/>
            <ac:picMk id="2" creationId="{82215F39-C7C1-4783-285D-E8C7EE7AF577}"/>
          </ac:picMkLst>
        </pc:picChg>
        <pc:picChg chg="add mod">
          <ac:chgData name="Harris, Wyatt J Lt Col USAF USAFA DF/DFAS" userId="768bfb95-c272-4014-8fa2-010c15306053" providerId="ADAL" clId="{95571437-1CDD-49A9-9F44-9267EE8F1204}" dt="2026-01-11T04:01:17.664" v="137" actId="1076"/>
          <ac:picMkLst>
            <pc:docMk/>
            <pc:sldMk cId="2697232708" sldId="257"/>
            <ac:picMk id="6" creationId="{F7CC286B-78C7-0384-C5FA-09304BF96561}"/>
          </ac:picMkLst>
        </pc:picChg>
        <pc:picChg chg="add mod">
          <ac:chgData name="Harris, Wyatt J Lt Col USAF USAFA DF/DFAS" userId="768bfb95-c272-4014-8fa2-010c15306053" providerId="ADAL" clId="{95571437-1CDD-49A9-9F44-9267EE8F1204}" dt="2026-01-11T04:02:51.343" v="183" actId="1076"/>
          <ac:picMkLst>
            <pc:docMk/>
            <pc:sldMk cId="2697232708" sldId="257"/>
            <ac:picMk id="1028" creationId="{A680C95D-B812-34C1-D072-1908E824D96E}"/>
          </ac:picMkLst>
        </pc:picChg>
      </pc:sldChg>
      <pc:sldChg chg="addSp delSp modSp mod">
        <pc:chgData name="Harris, Wyatt J Lt Col USAF USAFA DF/DFAS" userId="768bfb95-c272-4014-8fa2-010c15306053" providerId="ADAL" clId="{95571437-1CDD-49A9-9F44-9267EE8F1204}" dt="2026-01-14T04:01:08.559" v="579" actId="1076"/>
        <pc:sldMkLst>
          <pc:docMk/>
          <pc:sldMk cId="959544760" sldId="258"/>
        </pc:sldMkLst>
        <pc:spChg chg="mod">
          <ac:chgData name="Harris, Wyatt J Lt Col USAF USAFA DF/DFAS" userId="768bfb95-c272-4014-8fa2-010c15306053" providerId="ADAL" clId="{95571437-1CDD-49A9-9F44-9267EE8F1204}" dt="2026-01-14T04:00:04.072" v="563" actId="20577"/>
          <ac:spMkLst>
            <pc:docMk/>
            <pc:sldMk cId="959544760" sldId="258"/>
            <ac:spMk id="2" creationId="{EE574445-6B2F-C4C3-8997-B576A628A65D}"/>
          </ac:spMkLst>
        </pc:spChg>
        <pc:spChg chg="mod">
          <ac:chgData name="Harris, Wyatt J Lt Col USAF USAFA DF/DFAS" userId="768bfb95-c272-4014-8fa2-010c15306053" providerId="ADAL" clId="{95571437-1CDD-49A9-9F44-9267EE8F1204}" dt="2026-01-14T04:00:58.390" v="577" actId="113"/>
          <ac:spMkLst>
            <pc:docMk/>
            <pc:sldMk cId="959544760" sldId="258"/>
            <ac:spMk id="3" creationId="{077A6258-6FAE-1CC7-BCB5-F4A4EB023340}"/>
          </ac:spMkLst>
        </pc:spChg>
        <pc:spChg chg="add del mod">
          <ac:chgData name="Harris, Wyatt J Lt Col USAF USAFA DF/DFAS" userId="768bfb95-c272-4014-8fa2-010c15306053" providerId="ADAL" clId="{95571437-1CDD-49A9-9F44-9267EE8F1204}" dt="2026-01-14T03:56:29.610" v="444" actId="21"/>
          <ac:spMkLst>
            <pc:docMk/>
            <pc:sldMk cId="959544760" sldId="258"/>
            <ac:spMk id="9" creationId="{A18582B1-4118-AA76-D7B4-D47260B1D07A}"/>
          </ac:spMkLst>
        </pc:spChg>
        <pc:spChg chg="mod">
          <ac:chgData name="Harris, Wyatt J Lt Col USAF USAFA DF/DFAS" userId="768bfb95-c272-4014-8fa2-010c15306053" providerId="ADAL" clId="{95571437-1CDD-49A9-9F44-9267EE8F1204}" dt="2026-01-14T03:59:22.737" v="545" actId="1076"/>
          <ac:spMkLst>
            <pc:docMk/>
            <pc:sldMk cId="959544760" sldId="258"/>
            <ac:spMk id="11" creationId="{CB99B0FA-4879-10DD-1F5E-6FEFCAEE2341}"/>
          </ac:spMkLst>
        </pc:spChg>
        <pc:spChg chg="add mod">
          <ac:chgData name="Harris, Wyatt J Lt Col USAF USAFA DF/DFAS" userId="768bfb95-c272-4014-8fa2-010c15306053" providerId="ADAL" clId="{95571437-1CDD-49A9-9F44-9267EE8F1204}" dt="2026-01-14T03:59:53.968" v="554" actId="1076"/>
          <ac:spMkLst>
            <pc:docMk/>
            <pc:sldMk cId="959544760" sldId="258"/>
            <ac:spMk id="13" creationId="{6ED07084-2FA9-86CA-44CF-694A870CDC37}"/>
          </ac:spMkLst>
        </pc:spChg>
        <pc:spChg chg="add mod">
          <ac:chgData name="Harris, Wyatt J Lt Col USAF USAFA DF/DFAS" userId="768bfb95-c272-4014-8fa2-010c15306053" providerId="ADAL" clId="{95571437-1CDD-49A9-9F44-9267EE8F1204}" dt="2026-01-14T03:59:51.385" v="553" actId="1076"/>
          <ac:spMkLst>
            <pc:docMk/>
            <pc:sldMk cId="959544760" sldId="258"/>
            <ac:spMk id="15" creationId="{65AEB373-D0C6-5639-B68B-039FB1817138}"/>
          </ac:spMkLst>
        </pc:spChg>
        <pc:spChg chg="add mod">
          <ac:chgData name="Harris, Wyatt J Lt Col USAF USAFA DF/DFAS" userId="768bfb95-c272-4014-8fa2-010c15306053" providerId="ADAL" clId="{95571437-1CDD-49A9-9F44-9267EE8F1204}" dt="2026-01-14T03:59:45.382" v="552" actId="207"/>
          <ac:spMkLst>
            <pc:docMk/>
            <pc:sldMk cId="959544760" sldId="258"/>
            <ac:spMk id="17" creationId="{1E5AE65A-76C4-0909-34EF-C5987989CABF}"/>
          </ac:spMkLst>
        </pc:spChg>
        <pc:picChg chg="add mod">
          <ac:chgData name="Harris, Wyatt J Lt Col USAF USAFA DF/DFAS" userId="768bfb95-c272-4014-8fa2-010c15306053" providerId="ADAL" clId="{95571437-1CDD-49A9-9F44-9267EE8F1204}" dt="2026-01-14T04:01:08.559" v="579" actId="1076"/>
          <ac:picMkLst>
            <pc:docMk/>
            <pc:sldMk cId="959544760" sldId="258"/>
            <ac:picMk id="6" creationId="{FFBE5E50-DBA4-FC79-5973-C6546A211973}"/>
          </ac:picMkLst>
        </pc:picChg>
        <pc:picChg chg="mod">
          <ac:chgData name="Harris, Wyatt J Lt Col USAF USAFA DF/DFAS" userId="768bfb95-c272-4014-8fa2-010c15306053" providerId="ADAL" clId="{95571437-1CDD-49A9-9F44-9267EE8F1204}" dt="2026-01-14T03:59:22.737" v="545" actId="1076"/>
          <ac:picMkLst>
            <pc:docMk/>
            <pc:sldMk cId="959544760" sldId="258"/>
            <ac:picMk id="8" creationId="{BE68230E-9E71-F819-D32B-C84082EBEEB1}"/>
          </ac:picMkLst>
        </pc:picChg>
      </pc:sldChg>
      <pc:sldChg chg="ord">
        <pc:chgData name="Harris, Wyatt J Lt Col USAF USAFA DF/DFAS" userId="768bfb95-c272-4014-8fa2-010c15306053" providerId="ADAL" clId="{95571437-1CDD-49A9-9F44-9267EE8F1204}" dt="2026-01-11T03:59:02.243" v="123"/>
        <pc:sldMkLst>
          <pc:docMk/>
          <pc:sldMk cId="863421724" sldId="265"/>
        </pc:sldMkLst>
      </pc:sldChg>
      <pc:sldChg chg="modSp mod">
        <pc:chgData name="Harris, Wyatt J Lt Col USAF USAFA DF/DFAS" userId="768bfb95-c272-4014-8fa2-010c15306053" providerId="ADAL" clId="{95571437-1CDD-49A9-9F44-9267EE8F1204}" dt="2026-01-14T04:03:27.551" v="616" actId="20577"/>
        <pc:sldMkLst>
          <pc:docMk/>
          <pc:sldMk cId="2861233368" sldId="642"/>
        </pc:sldMkLst>
        <pc:spChg chg="mod">
          <ac:chgData name="Harris, Wyatt J Lt Col USAF USAFA DF/DFAS" userId="768bfb95-c272-4014-8fa2-010c15306053" providerId="ADAL" clId="{95571437-1CDD-49A9-9F44-9267EE8F1204}" dt="2026-01-14T04:03:27.551" v="616" actId="20577"/>
          <ac:spMkLst>
            <pc:docMk/>
            <pc:sldMk cId="2861233368" sldId="642"/>
            <ac:spMk id="3" creationId="{A8DC4C84-1C70-986B-1EBF-6C5A1FFC2301}"/>
          </ac:spMkLst>
        </pc:spChg>
      </pc:sldChg>
      <pc:sldChg chg="addSp delSp modSp mod">
        <pc:chgData name="Harris, Wyatt J Lt Col USAF USAFA DF/DFAS" userId="768bfb95-c272-4014-8fa2-010c15306053" providerId="ADAL" clId="{95571437-1CDD-49A9-9F44-9267EE8F1204}" dt="2026-01-14T04:01:35.838" v="598" actId="5793"/>
        <pc:sldMkLst>
          <pc:docMk/>
          <pc:sldMk cId="3585430481" sldId="644"/>
        </pc:sldMkLst>
        <pc:spChg chg="mod">
          <ac:chgData name="Harris, Wyatt J Lt Col USAF USAFA DF/DFAS" userId="768bfb95-c272-4014-8fa2-010c15306053" providerId="ADAL" clId="{95571437-1CDD-49A9-9F44-9267EE8F1204}" dt="2026-01-14T04:01:35.838" v="598" actId="5793"/>
          <ac:spMkLst>
            <pc:docMk/>
            <pc:sldMk cId="3585430481" sldId="644"/>
            <ac:spMk id="3" creationId="{A39B16BE-848D-EB64-0D30-3DFAF2AB50FC}"/>
          </ac:spMkLst>
        </pc:spChg>
        <pc:picChg chg="add mod">
          <ac:chgData name="Harris, Wyatt J Lt Col USAF USAFA DF/DFAS" userId="768bfb95-c272-4014-8fa2-010c15306053" providerId="ADAL" clId="{95571437-1CDD-49A9-9F44-9267EE8F1204}" dt="2026-01-14T03:48:58.439" v="311" actId="1076"/>
          <ac:picMkLst>
            <pc:docMk/>
            <pc:sldMk cId="3585430481" sldId="644"/>
            <ac:picMk id="6" creationId="{7940513F-FFF6-59DD-AECB-50A046DAFA53}"/>
          </ac:picMkLst>
        </pc:picChg>
        <pc:picChg chg="mod">
          <ac:chgData name="Harris, Wyatt J Lt Col USAF USAFA DF/DFAS" userId="768bfb95-c272-4014-8fa2-010c15306053" providerId="ADAL" clId="{95571437-1CDD-49A9-9F44-9267EE8F1204}" dt="2026-01-14T03:48:56.911" v="310" actId="1076"/>
          <ac:picMkLst>
            <pc:docMk/>
            <pc:sldMk cId="3585430481" sldId="644"/>
            <ac:picMk id="8" creationId="{473C5AB7-9875-359B-1FD6-A27B97366318}"/>
          </ac:picMkLst>
        </pc:picChg>
        <pc:picChg chg="mod">
          <ac:chgData name="Harris, Wyatt J Lt Col USAF USAFA DF/DFAS" userId="768bfb95-c272-4014-8fa2-010c15306053" providerId="ADAL" clId="{95571437-1CDD-49A9-9F44-9267EE8F1204}" dt="2026-01-14T03:49:02.575" v="313" actId="1076"/>
          <ac:picMkLst>
            <pc:docMk/>
            <pc:sldMk cId="3585430481" sldId="644"/>
            <ac:picMk id="9" creationId="{30BD5EB4-AE65-CD2D-E09B-48641F6A05CD}"/>
          </ac:picMkLst>
        </pc:picChg>
        <pc:picChg chg="del">
          <ac:chgData name="Harris, Wyatt J Lt Col USAF USAFA DF/DFAS" userId="768bfb95-c272-4014-8fa2-010c15306053" providerId="ADAL" clId="{95571437-1CDD-49A9-9F44-9267EE8F1204}" dt="2026-01-14T03:48:07.902" v="294" actId="21"/>
          <ac:picMkLst>
            <pc:docMk/>
            <pc:sldMk cId="3585430481" sldId="644"/>
            <ac:picMk id="5124" creationId="{6AEE13BE-5E79-8EB8-E278-E84A05D63195}"/>
          </ac:picMkLst>
        </pc:picChg>
      </pc:sldChg>
      <pc:sldChg chg="modSp mod">
        <pc:chgData name="Harris, Wyatt J Lt Col USAF USAFA DF/DFAS" userId="768bfb95-c272-4014-8fa2-010c15306053" providerId="ADAL" clId="{95571437-1CDD-49A9-9F44-9267EE8F1204}" dt="2026-01-14T03:49:58.119" v="336" actId="20577"/>
        <pc:sldMkLst>
          <pc:docMk/>
          <pc:sldMk cId="2346472860" sldId="646"/>
        </pc:sldMkLst>
        <pc:spChg chg="mod">
          <ac:chgData name="Harris, Wyatt J Lt Col USAF USAFA DF/DFAS" userId="768bfb95-c272-4014-8fa2-010c15306053" providerId="ADAL" clId="{95571437-1CDD-49A9-9F44-9267EE8F1204}" dt="2026-01-14T03:49:58.119" v="336" actId="20577"/>
          <ac:spMkLst>
            <pc:docMk/>
            <pc:sldMk cId="2346472860" sldId="646"/>
            <ac:spMk id="2" creationId="{BFE6A9CB-3270-DA95-D109-028BAD6231CB}"/>
          </ac:spMkLst>
        </pc:spChg>
        <pc:graphicFrameChg chg="mod modGraphic">
          <ac:chgData name="Harris, Wyatt J Lt Col USAF USAFA DF/DFAS" userId="768bfb95-c272-4014-8fa2-010c15306053" providerId="ADAL" clId="{95571437-1CDD-49A9-9F44-9267EE8F1204}" dt="2026-01-14T03:49:50.303" v="319" actId="1076"/>
          <ac:graphicFrameMkLst>
            <pc:docMk/>
            <pc:sldMk cId="2346472860" sldId="646"/>
            <ac:graphicFrameMk id="5" creationId="{EB5ADE0D-C7CA-8E85-3239-3A61859C3FEB}"/>
          </ac:graphicFrameMkLst>
        </pc:graphicFrameChg>
      </pc:sldChg>
      <pc:sldChg chg="delSp modSp mod delAnim">
        <pc:chgData name="Harris, Wyatt J Lt Col USAF USAFA DF/DFAS" userId="768bfb95-c272-4014-8fa2-010c15306053" providerId="ADAL" clId="{95571437-1CDD-49A9-9F44-9267EE8F1204}" dt="2026-01-14T04:02:46.258" v="607" actId="1076"/>
        <pc:sldMkLst>
          <pc:docMk/>
          <pc:sldMk cId="4016315431" sldId="650"/>
        </pc:sldMkLst>
        <pc:spChg chg="mod">
          <ac:chgData name="Harris, Wyatt J Lt Col USAF USAFA DF/DFAS" userId="768bfb95-c272-4014-8fa2-010c15306053" providerId="ADAL" clId="{95571437-1CDD-49A9-9F44-9267EE8F1204}" dt="2026-01-14T04:02:09.157" v="599" actId="1076"/>
          <ac:spMkLst>
            <pc:docMk/>
            <pc:sldMk cId="4016315431" sldId="650"/>
            <ac:spMk id="4" creationId="{D0D5A4B9-127A-4FA2-DE8E-96DBA04DC5AD}"/>
          </ac:spMkLst>
        </pc:spChg>
        <pc:spChg chg="mod">
          <ac:chgData name="Harris, Wyatt J Lt Col USAF USAFA DF/DFAS" userId="768bfb95-c272-4014-8fa2-010c15306053" providerId="ADAL" clId="{95571437-1CDD-49A9-9F44-9267EE8F1204}" dt="2026-01-14T04:02:12.251" v="601" actId="1076"/>
          <ac:spMkLst>
            <pc:docMk/>
            <pc:sldMk cId="4016315431" sldId="650"/>
            <ac:spMk id="5" creationId="{202625A1-15DC-6D72-D6BD-F2ECD6D5A534}"/>
          </ac:spMkLst>
        </pc:spChg>
        <pc:spChg chg="mod">
          <ac:chgData name="Harris, Wyatt J Lt Col USAF USAFA DF/DFAS" userId="768bfb95-c272-4014-8fa2-010c15306053" providerId="ADAL" clId="{95571437-1CDD-49A9-9F44-9267EE8F1204}" dt="2026-01-14T04:02:09.157" v="599" actId="1076"/>
          <ac:spMkLst>
            <pc:docMk/>
            <pc:sldMk cId="4016315431" sldId="650"/>
            <ac:spMk id="6" creationId="{2E14ED04-4218-0C03-FF80-15099092C67B}"/>
          </ac:spMkLst>
        </pc:spChg>
        <pc:spChg chg="mod">
          <ac:chgData name="Harris, Wyatt J Lt Col USAF USAFA DF/DFAS" userId="768bfb95-c272-4014-8fa2-010c15306053" providerId="ADAL" clId="{95571437-1CDD-49A9-9F44-9267EE8F1204}" dt="2026-01-14T04:02:09.157" v="599" actId="1076"/>
          <ac:spMkLst>
            <pc:docMk/>
            <pc:sldMk cId="4016315431" sldId="650"/>
            <ac:spMk id="7" creationId="{C1F2222A-5C43-9E6F-EE9F-5A2646B2ED44}"/>
          </ac:spMkLst>
        </pc:spChg>
        <pc:spChg chg="mod">
          <ac:chgData name="Harris, Wyatt J Lt Col USAF USAFA DF/DFAS" userId="768bfb95-c272-4014-8fa2-010c15306053" providerId="ADAL" clId="{95571437-1CDD-49A9-9F44-9267EE8F1204}" dt="2026-01-14T04:02:24.802" v="603" actId="1076"/>
          <ac:spMkLst>
            <pc:docMk/>
            <pc:sldMk cId="4016315431" sldId="650"/>
            <ac:spMk id="9" creationId="{F9968EC2-C134-9F7D-EB33-8507228F0488}"/>
          </ac:spMkLst>
        </pc:spChg>
        <pc:spChg chg="del mod">
          <ac:chgData name="Harris, Wyatt J Lt Col USAF USAFA DF/DFAS" userId="768bfb95-c272-4014-8fa2-010c15306053" providerId="ADAL" clId="{95571437-1CDD-49A9-9F44-9267EE8F1204}" dt="2026-01-14T04:02:40.474" v="605" actId="478"/>
          <ac:spMkLst>
            <pc:docMk/>
            <pc:sldMk cId="4016315431" sldId="650"/>
            <ac:spMk id="10" creationId="{EF9FEDE0-52A9-427D-539E-CF1C001DDD59}"/>
          </ac:spMkLst>
        </pc:spChg>
        <pc:spChg chg="mod">
          <ac:chgData name="Harris, Wyatt J Lt Col USAF USAFA DF/DFAS" userId="768bfb95-c272-4014-8fa2-010c15306053" providerId="ADAL" clId="{95571437-1CDD-49A9-9F44-9267EE8F1204}" dt="2026-01-14T04:02:46.258" v="607" actId="1076"/>
          <ac:spMkLst>
            <pc:docMk/>
            <pc:sldMk cId="4016315431" sldId="650"/>
            <ac:spMk id="11" creationId="{D445F4AF-7C5D-C1D2-8BC2-8FA9049A29B0}"/>
          </ac:spMkLst>
        </pc:spChg>
        <pc:spChg chg="mod">
          <ac:chgData name="Harris, Wyatt J Lt Col USAF USAFA DF/DFAS" userId="768bfb95-c272-4014-8fa2-010c15306053" providerId="ADAL" clId="{95571437-1CDD-49A9-9F44-9267EE8F1204}" dt="2026-01-14T04:02:09.157" v="599" actId="1076"/>
          <ac:spMkLst>
            <pc:docMk/>
            <pc:sldMk cId="4016315431" sldId="650"/>
            <ac:spMk id="13" creationId="{FC55F5A2-94AD-441F-7E07-86A53F41E806}"/>
          </ac:spMkLst>
        </pc:spChg>
        <pc:spChg chg="mod">
          <ac:chgData name="Harris, Wyatt J Lt Col USAF USAFA DF/DFAS" userId="768bfb95-c272-4014-8fa2-010c15306053" providerId="ADAL" clId="{95571437-1CDD-49A9-9F44-9267EE8F1204}" dt="2026-01-14T04:02:09.157" v="599" actId="1076"/>
          <ac:spMkLst>
            <pc:docMk/>
            <pc:sldMk cId="4016315431" sldId="650"/>
            <ac:spMk id="14" creationId="{2D64BD24-C42E-FFBF-2353-E49D276C0F5C}"/>
          </ac:spMkLst>
        </pc:spChg>
        <pc:spChg chg="mod">
          <ac:chgData name="Harris, Wyatt J Lt Col USAF USAFA DF/DFAS" userId="768bfb95-c272-4014-8fa2-010c15306053" providerId="ADAL" clId="{95571437-1CDD-49A9-9F44-9267EE8F1204}" dt="2026-01-14T04:02:09.157" v="599" actId="1076"/>
          <ac:spMkLst>
            <pc:docMk/>
            <pc:sldMk cId="4016315431" sldId="650"/>
            <ac:spMk id="15" creationId="{B604CD2C-81A2-7BC0-786D-5508217E4B25}"/>
          </ac:spMkLst>
        </pc:spChg>
        <pc:cxnChg chg="mod">
          <ac:chgData name="Harris, Wyatt J Lt Col USAF USAFA DF/DFAS" userId="768bfb95-c272-4014-8fa2-010c15306053" providerId="ADAL" clId="{95571437-1CDD-49A9-9F44-9267EE8F1204}" dt="2026-01-14T04:02:24.802" v="603" actId="1076"/>
          <ac:cxnSpMkLst>
            <pc:docMk/>
            <pc:sldMk cId="4016315431" sldId="650"/>
            <ac:cxnSpMk id="18" creationId="{73DE36D4-C4B3-2439-1D9B-A50D1C5A45C6}"/>
          </ac:cxnSpMkLst>
        </pc:cxnChg>
        <pc:cxnChg chg="mod">
          <ac:chgData name="Harris, Wyatt J Lt Col USAF USAFA DF/DFAS" userId="768bfb95-c272-4014-8fa2-010c15306053" providerId="ADAL" clId="{95571437-1CDD-49A9-9F44-9267EE8F1204}" dt="2026-01-14T04:02:24.802" v="603" actId="1076"/>
          <ac:cxnSpMkLst>
            <pc:docMk/>
            <pc:sldMk cId="4016315431" sldId="650"/>
            <ac:cxnSpMk id="22" creationId="{7D71B96E-B012-C278-AB14-5974EA1C933E}"/>
          </ac:cxnSpMkLst>
        </pc:cxnChg>
        <pc:cxnChg chg="mod">
          <ac:chgData name="Harris, Wyatt J Lt Col USAF USAFA DF/DFAS" userId="768bfb95-c272-4014-8fa2-010c15306053" providerId="ADAL" clId="{95571437-1CDD-49A9-9F44-9267EE8F1204}" dt="2026-01-14T04:02:24.802" v="603" actId="1076"/>
          <ac:cxnSpMkLst>
            <pc:docMk/>
            <pc:sldMk cId="4016315431" sldId="650"/>
            <ac:cxnSpMk id="25" creationId="{979D3A99-29AF-8F7F-731A-2978EC00B084}"/>
          </ac:cxnSpMkLst>
        </pc:cxnChg>
        <pc:cxnChg chg="mod">
          <ac:chgData name="Harris, Wyatt J Lt Col USAF USAFA DF/DFAS" userId="768bfb95-c272-4014-8fa2-010c15306053" providerId="ADAL" clId="{95571437-1CDD-49A9-9F44-9267EE8F1204}" dt="2026-01-14T04:02:24.802" v="603" actId="1076"/>
          <ac:cxnSpMkLst>
            <pc:docMk/>
            <pc:sldMk cId="4016315431" sldId="650"/>
            <ac:cxnSpMk id="29" creationId="{ECB0E21A-088A-3965-7140-396C6CE16AE3}"/>
          </ac:cxnSpMkLst>
        </pc:cxnChg>
        <pc:cxnChg chg="mod">
          <ac:chgData name="Harris, Wyatt J Lt Col USAF USAFA DF/DFAS" userId="768bfb95-c272-4014-8fa2-010c15306053" providerId="ADAL" clId="{95571437-1CDD-49A9-9F44-9267EE8F1204}" dt="2026-01-14T04:02:24.802" v="603" actId="1076"/>
          <ac:cxnSpMkLst>
            <pc:docMk/>
            <pc:sldMk cId="4016315431" sldId="650"/>
            <ac:cxnSpMk id="43" creationId="{01734DDA-6024-6E7F-9380-8EBC0AFD2DD3}"/>
          </ac:cxnSpMkLst>
        </pc:cxnChg>
        <pc:cxnChg chg="mod">
          <ac:chgData name="Harris, Wyatt J Lt Col USAF USAFA DF/DFAS" userId="768bfb95-c272-4014-8fa2-010c15306053" providerId="ADAL" clId="{95571437-1CDD-49A9-9F44-9267EE8F1204}" dt="2026-01-14T04:02:24.802" v="603" actId="1076"/>
          <ac:cxnSpMkLst>
            <pc:docMk/>
            <pc:sldMk cId="4016315431" sldId="650"/>
            <ac:cxnSpMk id="46" creationId="{A0C62EF3-3407-7433-4649-3EEAF7D17D6D}"/>
          </ac:cxnSpMkLst>
        </pc:cxnChg>
        <pc:cxnChg chg="mod">
          <ac:chgData name="Harris, Wyatt J Lt Col USAF USAFA DF/DFAS" userId="768bfb95-c272-4014-8fa2-010c15306053" providerId="ADAL" clId="{95571437-1CDD-49A9-9F44-9267EE8F1204}" dt="2026-01-14T04:02:12.251" v="601" actId="1076"/>
          <ac:cxnSpMkLst>
            <pc:docMk/>
            <pc:sldMk cId="4016315431" sldId="650"/>
            <ac:cxnSpMk id="53" creationId="{6FE9177C-7476-4E23-7A29-A7A8F7336D76}"/>
          </ac:cxnSpMkLst>
        </pc:cxnChg>
        <pc:cxnChg chg="mod">
          <ac:chgData name="Harris, Wyatt J Lt Col USAF USAFA DF/DFAS" userId="768bfb95-c272-4014-8fa2-010c15306053" providerId="ADAL" clId="{95571437-1CDD-49A9-9F44-9267EE8F1204}" dt="2026-01-14T04:02:12.251" v="601" actId="1076"/>
          <ac:cxnSpMkLst>
            <pc:docMk/>
            <pc:sldMk cId="4016315431" sldId="650"/>
            <ac:cxnSpMk id="56" creationId="{D101057A-2A61-0766-0C26-D09BCFAAB752}"/>
          </ac:cxnSpMkLst>
        </pc:cxnChg>
        <pc:cxnChg chg="mod">
          <ac:chgData name="Harris, Wyatt J Lt Col USAF USAFA DF/DFAS" userId="768bfb95-c272-4014-8fa2-010c15306053" providerId="ADAL" clId="{95571437-1CDD-49A9-9F44-9267EE8F1204}" dt="2026-01-14T04:02:12.251" v="601" actId="1076"/>
          <ac:cxnSpMkLst>
            <pc:docMk/>
            <pc:sldMk cId="4016315431" sldId="650"/>
            <ac:cxnSpMk id="59" creationId="{C5AA53E1-E5CC-E48B-6EF5-C5D737BA351E}"/>
          </ac:cxnSpMkLst>
        </pc:cxnChg>
        <pc:cxnChg chg="mod">
          <ac:chgData name="Harris, Wyatt J Lt Col USAF USAFA DF/DFAS" userId="768bfb95-c272-4014-8fa2-010c15306053" providerId="ADAL" clId="{95571437-1CDD-49A9-9F44-9267EE8F1204}" dt="2026-01-14T04:02:12.251" v="601" actId="1076"/>
          <ac:cxnSpMkLst>
            <pc:docMk/>
            <pc:sldMk cId="4016315431" sldId="650"/>
            <ac:cxnSpMk id="62" creationId="{8530A0E1-55DB-5F36-A335-2A59A2E1111E}"/>
          </ac:cxnSpMkLst>
        </pc:cxnChg>
        <pc:cxnChg chg="mod">
          <ac:chgData name="Harris, Wyatt J Lt Col USAF USAFA DF/DFAS" userId="768bfb95-c272-4014-8fa2-010c15306053" providerId="ADAL" clId="{95571437-1CDD-49A9-9F44-9267EE8F1204}" dt="2026-01-14T04:02:12.251" v="601" actId="1076"/>
          <ac:cxnSpMkLst>
            <pc:docMk/>
            <pc:sldMk cId="4016315431" sldId="650"/>
            <ac:cxnSpMk id="65" creationId="{4DC9762B-A404-C406-3C93-1E827B962E69}"/>
          </ac:cxnSpMkLst>
        </pc:cxnChg>
        <pc:cxnChg chg="del mod">
          <ac:chgData name="Harris, Wyatt J Lt Col USAF USAFA DF/DFAS" userId="768bfb95-c272-4014-8fa2-010c15306053" providerId="ADAL" clId="{95571437-1CDD-49A9-9F44-9267EE8F1204}" dt="2026-01-14T04:02:42.337" v="606" actId="478"/>
          <ac:cxnSpMkLst>
            <pc:docMk/>
            <pc:sldMk cId="4016315431" sldId="650"/>
            <ac:cxnSpMk id="68" creationId="{C9AD3120-FB91-4FFA-865F-5CF7A459EBC2}"/>
          </ac:cxnSpMkLst>
        </pc:cxnChg>
        <pc:cxnChg chg="mod">
          <ac:chgData name="Harris, Wyatt J Lt Col USAF USAFA DF/DFAS" userId="768bfb95-c272-4014-8fa2-010c15306053" providerId="ADAL" clId="{95571437-1CDD-49A9-9F44-9267EE8F1204}" dt="2026-01-14T04:02:46.258" v="607" actId="1076"/>
          <ac:cxnSpMkLst>
            <pc:docMk/>
            <pc:sldMk cId="4016315431" sldId="650"/>
            <ac:cxnSpMk id="71" creationId="{610E8E39-4117-3AD9-6A10-8AB291F60FB8}"/>
          </ac:cxnSpMkLst>
        </pc:cxnChg>
        <pc:cxnChg chg="mod">
          <ac:chgData name="Harris, Wyatt J Lt Col USAF USAFA DF/DFAS" userId="768bfb95-c272-4014-8fa2-010c15306053" providerId="ADAL" clId="{95571437-1CDD-49A9-9F44-9267EE8F1204}" dt="2026-01-14T04:02:12.251" v="601" actId="1076"/>
          <ac:cxnSpMkLst>
            <pc:docMk/>
            <pc:sldMk cId="4016315431" sldId="650"/>
            <ac:cxnSpMk id="74" creationId="{FD935DD1-B81D-8A9D-3414-892BD238C7A5}"/>
          </ac:cxnSpMkLst>
        </pc:cxnChg>
      </pc:sldChg>
      <pc:sldChg chg="modSp mod ord modAnim">
        <pc:chgData name="Harris, Wyatt J Lt Col USAF USAFA DF/DFAS" userId="768bfb95-c272-4014-8fa2-010c15306053" providerId="ADAL" clId="{95571437-1CDD-49A9-9F44-9267EE8F1204}" dt="2026-01-14T04:01:28.073" v="596" actId="20577"/>
        <pc:sldMkLst>
          <pc:docMk/>
          <pc:sldMk cId="3173633691" sldId="651"/>
        </pc:sldMkLst>
        <pc:spChg chg="mod">
          <ac:chgData name="Harris, Wyatt J Lt Col USAF USAFA DF/DFAS" userId="768bfb95-c272-4014-8fa2-010c15306053" providerId="ADAL" clId="{95571437-1CDD-49A9-9F44-9267EE8F1204}" dt="2026-01-14T04:01:21.254" v="595" actId="20577"/>
          <ac:spMkLst>
            <pc:docMk/>
            <pc:sldMk cId="3173633691" sldId="651"/>
            <ac:spMk id="2" creationId="{A9DF955C-E8A4-7043-170F-98830C3E44FA}"/>
          </ac:spMkLst>
        </pc:spChg>
        <pc:spChg chg="mod">
          <ac:chgData name="Harris, Wyatt J Lt Col USAF USAFA DF/DFAS" userId="768bfb95-c272-4014-8fa2-010c15306053" providerId="ADAL" clId="{95571437-1CDD-49A9-9F44-9267EE8F1204}" dt="2026-01-14T03:52:19.129" v="406" actId="14100"/>
          <ac:spMkLst>
            <pc:docMk/>
            <pc:sldMk cId="3173633691" sldId="651"/>
            <ac:spMk id="3" creationId="{6FB2B18A-C870-FE9D-2AC5-5108773E16B0}"/>
          </ac:spMkLst>
        </pc:spChg>
      </pc:sldChg>
      <pc:sldChg chg="modSp mod">
        <pc:chgData name="Harris, Wyatt J Lt Col USAF USAFA DF/DFAS" userId="768bfb95-c272-4014-8fa2-010c15306053" providerId="ADAL" clId="{95571437-1CDD-49A9-9F44-9267EE8F1204}" dt="2026-01-14T04:07:23.726" v="683" actId="20577"/>
        <pc:sldMkLst>
          <pc:docMk/>
          <pc:sldMk cId="4049267184" sldId="652"/>
        </pc:sldMkLst>
        <pc:spChg chg="mod">
          <ac:chgData name="Harris, Wyatt J Lt Col USAF USAFA DF/DFAS" userId="768bfb95-c272-4014-8fa2-010c15306053" providerId="ADAL" clId="{95571437-1CDD-49A9-9F44-9267EE8F1204}" dt="2026-01-14T04:07:23.726" v="683" actId="20577"/>
          <ac:spMkLst>
            <pc:docMk/>
            <pc:sldMk cId="4049267184" sldId="652"/>
            <ac:spMk id="5" creationId="{5E6E9355-F9FE-CA42-BA0D-CDC007F8B6A4}"/>
          </ac:spMkLst>
        </pc:spChg>
      </pc:sldChg>
      <pc:sldChg chg="ord">
        <pc:chgData name="Harris, Wyatt J Lt Col USAF USAFA DF/DFAS" userId="768bfb95-c272-4014-8fa2-010c15306053" providerId="ADAL" clId="{95571437-1CDD-49A9-9F44-9267EE8F1204}" dt="2026-01-14T04:06:52.780" v="661"/>
        <pc:sldMkLst>
          <pc:docMk/>
          <pc:sldMk cId="2112644900" sldId="654"/>
        </pc:sldMkLst>
      </pc:sldChg>
      <pc:sldChg chg="modSp new mod">
        <pc:chgData name="Harris, Wyatt J Lt Col USAF USAFA DF/DFAS" userId="768bfb95-c272-4014-8fa2-010c15306053" providerId="ADAL" clId="{95571437-1CDD-49A9-9F44-9267EE8F1204}" dt="2026-01-14T04:05:49.193" v="659" actId="20577"/>
        <pc:sldMkLst>
          <pc:docMk/>
          <pc:sldMk cId="2233247623" sldId="656"/>
        </pc:sldMkLst>
        <pc:spChg chg="mod">
          <ac:chgData name="Harris, Wyatt J Lt Col USAF USAFA DF/DFAS" userId="768bfb95-c272-4014-8fa2-010c15306053" providerId="ADAL" clId="{95571437-1CDD-49A9-9F44-9267EE8F1204}" dt="2026-01-11T03:49:00.166" v="18" actId="20577"/>
          <ac:spMkLst>
            <pc:docMk/>
            <pc:sldMk cId="2233247623" sldId="656"/>
            <ac:spMk id="2" creationId="{8E6F5641-AF60-C27E-3DA8-83B4FB749B4A}"/>
          </ac:spMkLst>
        </pc:spChg>
        <pc:spChg chg="mod">
          <ac:chgData name="Harris, Wyatt J Lt Col USAF USAFA DF/DFAS" userId="768bfb95-c272-4014-8fa2-010c15306053" providerId="ADAL" clId="{95571437-1CDD-49A9-9F44-9267EE8F1204}" dt="2026-01-14T04:05:49.193" v="659" actId="20577"/>
          <ac:spMkLst>
            <pc:docMk/>
            <pc:sldMk cId="2233247623" sldId="656"/>
            <ac:spMk id="3" creationId="{F28E4A31-C3DF-23DE-DA92-82CF7FC3CC28}"/>
          </ac:spMkLst>
        </pc:spChg>
      </pc:sldChg>
      <pc:sldChg chg="addSp delSp modSp new del mod modAnim">
        <pc:chgData name="Harris, Wyatt J Lt Col USAF USAFA DF/DFAS" userId="768bfb95-c272-4014-8fa2-010c15306053" providerId="ADAL" clId="{95571437-1CDD-49A9-9F44-9267EE8F1204}" dt="2026-01-14T04:01:13.997" v="580" actId="47"/>
        <pc:sldMkLst>
          <pc:docMk/>
          <pc:sldMk cId="2177069456" sldId="657"/>
        </pc:sldMkLst>
        <pc:spChg chg="mod">
          <ac:chgData name="Harris, Wyatt J Lt Col USAF USAFA DF/DFAS" userId="768bfb95-c272-4014-8fa2-010c15306053" providerId="ADAL" clId="{95571437-1CDD-49A9-9F44-9267EE8F1204}" dt="2026-01-14T03:58:35.637" v="522" actId="21"/>
          <ac:spMkLst>
            <pc:docMk/>
            <pc:sldMk cId="2177069456" sldId="657"/>
            <ac:spMk id="2" creationId="{0CC9FC82-6CF0-D17A-1218-33296773A87A}"/>
          </ac:spMkLst>
        </pc:spChg>
        <pc:spChg chg="add del mod">
          <ac:chgData name="Harris, Wyatt J Lt Col USAF USAFA DF/DFAS" userId="768bfb95-c272-4014-8fa2-010c15306053" providerId="ADAL" clId="{95571437-1CDD-49A9-9F44-9267EE8F1204}" dt="2026-01-14T03:56:57.816" v="461" actId="478"/>
          <ac:spMkLst>
            <pc:docMk/>
            <pc:sldMk cId="2177069456" sldId="657"/>
            <ac:spMk id="3" creationId="{FD6AAC07-3DA8-7EBB-529D-F3EE60A04E0E}"/>
          </ac:spMkLst>
        </pc:spChg>
        <pc:spChg chg="add mod">
          <ac:chgData name="Harris, Wyatt J Lt Col USAF USAFA DF/DFAS" userId="768bfb95-c272-4014-8fa2-010c15306053" providerId="ADAL" clId="{95571437-1CDD-49A9-9F44-9267EE8F1204}" dt="2026-01-14T03:45:01.232" v="218"/>
          <ac:spMkLst>
            <pc:docMk/>
            <pc:sldMk cId="2177069456" sldId="657"/>
            <ac:spMk id="5" creationId="{54371477-07D5-5DD0-CB93-E040109C0A78}"/>
          </ac:spMkLst>
        </pc:spChg>
        <pc:spChg chg="add mod">
          <ac:chgData name="Harris, Wyatt J Lt Col USAF USAFA DF/DFAS" userId="768bfb95-c272-4014-8fa2-010c15306053" providerId="ADAL" clId="{95571437-1CDD-49A9-9F44-9267EE8F1204}" dt="2026-01-14T03:58:15.067" v="513" actId="21"/>
          <ac:spMkLst>
            <pc:docMk/>
            <pc:sldMk cId="2177069456" sldId="657"/>
            <ac:spMk id="9" creationId="{A18582B1-4118-AA76-D7B4-D47260B1D07A}"/>
          </ac:spMkLst>
        </pc:spChg>
      </pc:sldChg>
      <pc:sldChg chg="addSp modSp new mod modShow">
        <pc:chgData name="Harris, Wyatt J Lt Col USAF USAFA DF/DFAS" userId="768bfb95-c272-4014-8fa2-010c15306053" providerId="ADAL" clId="{95571437-1CDD-49A9-9F44-9267EE8F1204}" dt="2026-01-14T03:48:15.565" v="297" actId="729"/>
        <pc:sldMkLst>
          <pc:docMk/>
          <pc:sldMk cId="1184297518" sldId="658"/>
        </pc:sldMkLst>
        <pc:spChg chg="mod">
          <ac:chgData name="Harris, Wyatt J Lt Col USAF USAFA DF/DFAS" userId="768bfb95-c272-4014-8fa2-010c15306053" providerId="ADAL" clId="{95571437-1CDD-49A9-9F44-9267EE8F1204}" dt="2026-01-14T03:47:58.898" v="290" actId="20577"/>
          <ac:spMkLst>
            <pc:docMk/>
            <pc:sldMk cId="1184297518" sldId="658"/>
            <ac:spMk id="2" creationId="{FDC3DD3E-1CE8-BBFB-7D4F-DEA996F5C136}"/>
          </ac:spMkLst>
        </pc:spChg>
        <pc:spChg chg="mod">
          <ac:chgData name="Harris, Wyatt J Lt Col USAF USAFA DF/DFAS" userId="768bfb95-c272-4014-8fa2-010c15306053" providerId="ADAL" clId="{95571437-1CDD-49A9-9F44-9267EE8F1204}" dt="2026-01-14T03:48:05.038" v="293"/>
          <ac:spMkLst>
            <pc:docMk/>
            <pc:sldMk cId="1184297518" sldId="658"/>
            <ac:spMk id="3" creationId="{21D42616-5305-11A7-4C6B-0C1A3B5A8AA8}"/>
          </ac:spMkLst>
        </pc:spChg>
        <pc:picChg chg="add mod">
          <ac:chgData name="Harris, Wyatt J Lt Col USAF USAFA DF/DFAS" userId="768bfb95-c272-4014-8fa2-010c15306053" providerId="ADAL" clId="{95571437-1CDD-49A9-9F44-9267EE8F1204}" dt="2026-01-14T03:48:10.502" v="296" actId="1076"/>
          <ac:picMkLst>
            <pc:docMk/>
            <pc:sldMk cId="1184297518" sldId="658"/>
            <ac:picMk id="5124" creationId="{6AEE13BE-5E79-8EB8-E278-E84A05D63195}"/>
          </ac:picMkLst>
        </pc:picChg>
      </pc:sldChg>
      <pc:sldChg chg="modSp new mod modShow modNotesTx">
        <pc:chgData name="Harris, Wyatt J Lt Col USAF USAFA DF/DFAS" userId="768bfb95-c272-4014-8fa2-010c15306053" providerId="ADAL" clId="{95571437-1CDD-49A9-9F44-9267EE8F1204}" dt="2026-01-14T04:22:02.736" v="971" actId="729"/>
        <pc:sldMkLst>
          <pc:docMk/>
          <pc:sldMk cId="2463693651" sldId="659"/>
        </pc:sldMkLst>
        <pc:spChg chg="mod">
          <ac:chgData name="Harris, Wyatt J Lt Col USAF USAFA DF/DFAS" userId="768bfb95-c272-4014-8fa2-010c15306053" providerId="ADAL" clId="{95571437-1CDD-49A9-9F44-9267EE8F1204}" dt="2026-01-14T04:04:08.790" v="618"/>
          <ac:spMkLst>
            <pc:docMk/>
            <pc:sldMk cId="2463693651" sldId="659"/>
            <ac:spMk id="2" creationId="{7436FA72-F09D-6148-79AE-AF71482D620E}"/>
          </ac:spMkLst>
        </pc:spChg>
        <pc:spChg chg="mod">
          <ac:chgData name="Harris, Wyatt J Lt Col USAF USAFA DF/DFAS" userId="768bfb95-c272-4014-8fa2-010c15306053" providerId="ADAL" clId="{95571437-1CDD-49A9-9F44-9267EE8F1204}" dt="2026-01-14T04:05:17.333" v="658" actId="27636"/>
          <ac:spMkLst>
            <pc:docMk/>
            <pc:sldMk cId="2463693651" sldId="659"/>
            <ac:spMk id="3" creationId="{3DB51FFF-F508-ECDE-D716-791D47BAB213}"/>
          </ac:spMkLst>
        </pc:spChg>
      </pc:sldChg>
    </pc:docChg>
  </pc:docChgLst>
  <pc:docChgLst>
    <pc:chgData name="Harris, Wyatt J Lt Col USAF USAFA DF/DFAS" userId="768bfb95-c272-4014-8fa2-010c15306053" providerId="ADAL" clId="{F3711698-5DD9-46F6-BE65-19B04B1F152B}"/>
    <pc:docChg chg="custSel addSld delSld modSld">
      <pc:chgData name="Harris, Wyatt J Lt Col USAF USAFA DF/DFAS" userId="768bfb95-c272-4014-8fa2-010c15306053" providerId="ADAL" clId="{F3711698-5DD9-46F6-BE65-19B04B1F152B}" dt="2025-12-15T19:58:11.313" v="210" actId="20577"/>
      <pc:docMkLst>
        <pc:docMk/>
      </pc:docMkLst>
      <pc:sldChg chg="modSp mod">
        <pc:chgData name="Harris, Wyatt J Lt Col USAF USAFA DF/DFAS" userId="768bfb95-c272-4014-8fa2-010c15306053" providerId="ADAL" clId="{F3711698-5DD9-46F6-BE65-19B04B1F152B}" dt="2025-12-15T19:51:58.778" v="160" actId="20577"/>
        <pc:sldMkLst>
          <pc:docMk/>
          <pc:sldMk cId="3188062351" sldId="256"/>
        </pc:sldMkLst>
        <pc:spChg chg="mod">
          <ac:chgData name="Harris, Wyatt J Lt Col USAF USAFA DF/DFAS" userId="768bfb95-c272-4014-8fa2-010c15306053" providerId="ADAL" clId="{F3711698-5DD9-46F6-BE65-19B04B1F152B}" dt="2025-12-15T19:51:58.778" v="160" actId="20577"/>
          <ac:spMkLst>
            <pc:docMk/>
            <pc:sldMk cId="3188062351" sldId="256"/>
            <ac:spMk id="3" creationId="{1D63E707-3906-1580-6A39-D3696F120305}"/>
          </ac:spMkLst>
        </pc:spChg>
      </pc:sldChg>
      <pc:sldChg chg="add">
        <pc:chgData name="Harris, Wyatt J Lt Col USAF USAFA DF/DFAS" userId="768bfb95-c272-4014-8fa2-010c15306053" providerId="ADAL" clId="{F3711698-5DD9-46F6-BE65-19B04B1F152B}" dt="2025-12-15T19:52:37.267" v="162"/>
        <pc:sldMkLst>
          <pc:docMk/>
          <pc:sldMk cId="1171352706" sldId="260"/>
        </pc:sldMkLst>
      </pc:sldChg>
      <pc:sldChg chg="add">
        <pc:chgData name="Harris, Wyatt J Lt Col USAF USAFA DF/DFAS" userId="768bfb95-c272-4014-8fa2-010c15306053" providerId="ADAL" clId="{F3711698-5DD9-46F6-BE65-19B04B1F152B}" dt="2025-12-15T19:52:37.267" v="162"/>
        <pc:sldMkLst>
          <pc:docMk/>
          <pc:sldMk cId="358727242" sldId="261"/>
        </pc:sldMkLst>
      </pc:sldChg>
      <pc:sldChg chg="add">
        <pc:chgData name="Harris, Wyatt J Lt Col USAF USAFA DF/DFAS" userId="768bfb95-c272-4014-8fa2-010c15306053" providerId="ADAL" clId="{F3711698-5DD9-46F6-BE65-19B04B1F152B}" dt="2025-12-15T19:52:37.267" v="162"/>
        <pc:sldMkLst>
          <pc:docMk/>
          <pc:sldMk cId="271683662" sldId="262"/>
        </pc:sldMkLst>
      </pc:sldChg>
      <pc:sldChg chg="add">
        <pc:chgData name="Harris, Wyatt J Lt Col USAF USAFA DF/DFAS" userId="768bfb95-c272-4014-8fa2-010c15306053" providerId="ADAL" clId="{F3711698-5DD9-46F6-BE65-19B04B1F152B}" dt="2025-12-15T19:52:37.267" v="162"/>
        <pc:sldMkLst>
          <pc:docMk/>
          <pc:sldMk cId="3234092902" sldId="263"/>
        </pc:sldMkLst>
      </pc:sldChg>
      <pc:sldChg chg="add">
        <pc:chgData name="Harris, Wyatt J Lt Col USAF USAFA DF/DFAS" userId="768bfb95-c272-4014-8fa2-010c15306053" providerId="ADAL" clId="{F3711698-5DD9-46F6-BE65-19B04B1F152B}" dt="2025-12-15T19:52:37.267" v="162"/>
        <pc:sldMkLst>
          <pc:docMk/>
          <pc:sldMk cId="428592062" sldId="264"/>
        </pc:sldMkLst>
      </pc:sldChg>
      <pc:sldChg chg="add">
        <pc:chgData name="Harris, Wyatt J Lt Col USAF USAFA DF/DFAS" userId="768bfb95-c272-4014-8fa2-010c15306053" providerId="ADAL" clId="{F3711698-5DD9-46F6-BE65-19B04B1F152B}" dt="2025-12-15T19:52:16.212" v="161"/>
        <pc:sldMkLst>
          <pc:docMk/>
          <pc:sldMk cId="863421724" sldId="265"/>
        </pc:sldMkLst>
      </pc:sldChg>
      <pc:sldChg chg="add">
        <pc:chgData name="Harris, Wyatt J Lt Col USAF USAFA DF/DFAS" userId="768bfb95-c272-4014-8fa2-010c15306053" providerId="ADAL" clId="{F3711698-5DD9-46F6-BE65-19B04B1F152B}" dt="2025-12-15T19:52:37.267" v="162"/>
        <pc:sldMkLst>
          <pc:docMk/>
          <pc:sldMk cId="2826820954" sldId="266"/>
        </pc:sldMkLst>
      </pc:sldChg>
      <pc:sldChg chg="modSp mod">
        <pc:chgData name="Harris, Wyatt J Lt Col USAF USAFA DF/DFAS" userId="768bfb95-c272-4014-8fa2-010c15306053" providerId="ADAL" clId="{F3711698-5DD9-46F6-BE65-19B04B1F152B}" dt="2025-12-15T19:58:11.313" v="210" actId="20577"/>
        <pc:sldMkLst>
          <pc:docMk/>
          <pc:sldMk cId="4016315431" sldId="650"/>
        </pc:sldMkLst>
        <pc:spChg chg="mod">
          <ac:chgData name="Harris, Wyatt J Lt Col USAF USAFA DF/DFAS" userId="768bfb95-c272-4014-8fa2-010c15306053" providerId="ADAL" clId="{F3711698-5DD9-46F6-BE65-19B04B1F152B}" dt="2025-12-15T19:58:11.313" v="210" actId="20577"/>
          <ac:spMkLst>
            <pc:docMk/>
            <pc:sldMk cId="4016315431" sldId="650"/>
            <ac:spMk id="2" creationId="{91192465-D2B6-462A-292B-857857DCC8B7}"/>
          </ac:spMkLst>
        </pc:spChg>
      </pc:sldChg>
      <pc:sldChg chg="addSp delSp modSp new mod modClrScheme chgLayout">
        <pc:chgData name="Harris, Wyatt J Lt Col USAF USAFA DF/DFAS" userId="768bfb95-c272-4014-8fa2-010c15306053" providerId="ADAL" clId="{F3711698-5DD9-46F6-BE65-19B04B1F152B}" dt="2025-12-15T19:50:04.449" v="152" actId="478"/>
        <pc:sldMkLst>
          <pc:docMk/>
          <pc:sldMk cId="4049267184" sldId="652"/>
        </pc:sldMkLst>
        <pc:spChg chg="mod ord">
          <ac:chgData name="Harris, Wyatt J Lt Col USAF USAFA DF/DFAS" userId="768bfb95-c272-4014-8fa2-010c15306053" providerId="ADAL" clId="{F3711698-5DD9-46F6-BE65-19B04B1F152B}" dt="2025-12-15T19:49:37.312" v="94" actId="700"/>
          <ac:spMkLst>
            <pc:docMk/>
            <pc:sldMk cId="4049267184" sldId="652"/>
            <ac:spMk id="4" creationId="{F7F22959-C75E-8B94-1B51-B83016EF82E9}"/>
          </ac:spMkLst>
        </pc:spChg>
        <pc:spChg chg="add mod ord">
          <ac:chgData name="Harris, Wyatt J Lt Col USAF USAFA DF/DFAS" userId="768bfb95-c272-4014-8fa2-010c15306053" providerId="ADAL" clId="{F3711698-5DD9-46F6-BE65-19B04B1F152B}" dt="2025-12-15T19:50:01.629" v="151" actId="114"/>
          <ac:spMkLst>
            <pc:docMk/>
            <pc:sldMk cId="4049267184" sldId="652"/>
            <ac:spMk id="5" creationId="{5E6E9355-F9FE-CA42-BA0D-CDC007F8B6A4}"/>
          </ac:spMkLst>
        </pc:spChg>
      </pc:sldChg>
      <pc:sldChg chg="add">
        <pc:chgData name="Harris, Wyatt J Lt Col USAF USAFA DF/DFAS" userId="768bfb95-c272-4014-8fa2-010c15306053" providerId="ADAL" clId="{F3711698-5DD9-46F6-BE65-19B04B1F152B}" dt="2025-12-15T19:52:37.267" v="162"/>
        <pc:sldMkLst>
          <pc:docMk/>
          <pc:sldMk cId="1604580116" sldId="653"/>
        </pc:sldMkLst>
      </pc:sldChg>
      <pc:sldChg chg="add">
        <pc:chgData name="Harris, Wyatt J Lt Col USAF USAFA DF/DFAS" userId="768bfb95-c272-4014-8fa2-010c15306053" providerId="ADAL" clId="{F3711698-5DD9-46F6-BE65-19B04B1F152B}" dt="2025-12-15T19:52:37.267" v="162"/>
        <pc:sldMkLst>
          <pc:docMk/>
          <pc:sldMk cId="2112644900" sldId="654"/>
        </pc:sldMkLst>
      </pc:sldChg>
      <pc:sldChg chg="addSp delSp modSp new mod modClrScheme chgLayout">
        <pc:chgData name="Harris, Wyatt J Lt Col USAF USAFA DF/DFAS" userId="768bfb95-c272-4014-8fa2-010c15306053" providerId="ADAL" clId="{F3711698-5DD9-46F6-BE65-19B04B1F152B}" dt="2025-12-15T19:53:54.588" v="201" actId="478"/>
        <pc:sldMkLst>
          <pc:docMk/>
          <pc:sldMk cId="78468782" sldId="655"/>
        </pc:sldMkLst>
        <pc:spChg chg="mod ord">
          <ac:chgData name="Harris, Wyatt J Lt Col USAF USAFA DF/DFAS" userId="768bfb95-c272-4014-8fa2-010c15306053" providerId="ADAL" clId="{F3711698-5DD9-46F6-BE65-19B04B1F152B}" dt="2025-12-15T19:53:44.429" v="164" actId="700"/>
          <ac:spMkLst>
            <pc:docMk/>
            <pc:sldMk cId="78468782" sldId="655"/>
            <ac:spMk id="4" creationId="{DCECD33A-A413-1156-2841-A2554A0AFF5A}"/>
          </ac:spMkLst>
        </pc:spChg>
        <pc:spChg chg="add mod ord">
          <ac:chgData name="Harris, Wyatt J Lt Col USAF USAFA DF/DFAS" userId="768bfb95-c272-4014-8fa2-010c15306053" providerId="ADAL" clId="{F3711698-5DD9-46F6-BE65-19B04B1F152B}" dt="2025-12-15T19:53:51.765" v="200" actId="20577"/>
          <ac:spMkLst>
            <pc:docMk/>
            <pc:sldMk cId="78468782" sldId="655"/>
            <ac:spMk id="5" creationId="{5A470386-7851-29C2-9E22-60286985900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1/14/2026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see more meteors between midnight and dawn because, </a:t>
            </a:r>
            <a:r>
              <a:rPr lang="en-US" dirty="0"/>
              <a:t>like driving through a snowfall, the Earth rotates into the leading edge of its orbit, facing more space debris head-on after midnight, increasing the frequency and speed of impacts</a:t>
            </a:r>
            <a:r>
              <a:rPr lang="en-US" sz="1200" b="0" i="0" kern="1200" dirty="0">
                <a:solidFill>
                  <a:schemeClr val="tx1"/>
                </a:solidFill>
                <a:effectLst/>
                <a:latin typeface="+mn-lt"/>
                <a:ea typeface="+mn-ea"/>
                <a:cs typeface="+mn-cs"/>
              </a:rPr>
              <a:t>, similar to windshield wipers catching more snowflakes when the car moves forward. The Earth's rotation brings observers from the "rear" of the planet's path (evening) to the "front" (morning), allowing more direct collisions with meteoroid streams, making them brighter and more numerous before sunrise washes them out. </a:t>
            </a:r>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494609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3</a:t>
            </a:fld>
            <a:endParaRPr lang="en-US"/>
          </a:p>
        </p:txBody>
      </p:sp>
    </p:spTree>
    <p:extLst>
      <p:ext uri="{BB962C8B-B14F-4D97-AF65-F5344CB8AC3E}">
        <p14:creationId xmlns:p14="http://schemas.microsoft.com/office/powerpoint/2010/main" val="3647961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Apollo Guidance Computer (AGC)</a:t>
            </a:r>
            <a:r>
              <a:rPr lang="en-US" dirty="0"/>
              <a:t> was </a:t>
            </a:r>
            <a:r>
              <a:rPr lang="en-US" b="0" dirty="0"/>
              <a:t>the primary onboard flight computer for the Apollo spacecraft, used in both the Command Module (CM) and Lunar Module (LM). It was responsible for</a:t>
            </a:r>
            <a:r>
              <a:rPr lang="en-US" dirty="0"/>
              <a:t>:</a:t>
            </a:r>
          </a:p>
          <a:p>
            <a:pPr marL="171450" indent="-171450">
              <a:buFont typeface="Arial" panose="020B0604020202020204" pitchFamily="34" charset="0"/>
              <a:buChar char="•"/>
            </a:pPr>
            <a:r>
              <a:rPr lang="en-US" dirty="0"/>
              <a:t>Navigation state estimation</a:t>
            </a:r>
          </a:p>
          <a:p>
            <a:pPr marL="171450" indent="-171450">
              <a:buFont typeface="Arial" panose="020B0604020202020204" pitchFamily="34" charset="0"/>
              <a:buChar char="•"/>
            </a:pPr>
            <a:r>
              <a:rPr lang="en-US" dirty="0"/>
              <a:t>Guidance law execution</a:t>
            </a:r>
          </a:p>
          <a:p>
            <a:pPr marL="171450" indent="-171450">
              <a:buFont typeface="Arial" panose="020B0604020202020204" pitchFamily="34" charset="0"/>
              <a:buChar char="•"/>
            </a:pPr>
            <a:r>
              <a:rPr lang="en-US" dirty="0"/>
              <a:t>Attitude control commands</a:t>
            </a:r>
          </a:p>
          <a:p>
            <a:pPr marL="171450" indent="-171450">
              <a:buFont typeface="Arial" panose="020B0604020202020204" pitchFamily="34" charset="0"/>
              <a:buChar char="•"/>
            </a:pPr>
            <a:r>
              <a:rPr lang="en-US" dirty="0"/>
              <a:t>Crew interface and monitoring</a:t>
            </a:r>
          </a:p>
          <a:p>
            <a:pPr marL="171450" indent="-171450">
              <a:buFont typeface="Arial" panose="020B0604020202020204" pitchFamily="34" charset="0"/>
              <a:buChar char="•"/>
            </a:pPr>
            <a:r>
              <a:rPr lang="en-US" dirty="0"/>
              <a:t>Fault detection and recovery</a:t>
            </a:r>
          </a:p>
          <a:p>
            <a:r>
              <a:rPr lang="en-US" dirty="0"/>
              <a:t>It was the </a:t>
            </a:r>
            <a:r>
              <a:rPr lang="en-US" b="1" dirty="0"/>
              <a:t>first digital computer used for real-time crewed spaceflight control</a:t>
            </a:r>
            <a:r>
              <a:rPr lang="en-US" dirty="0"/>
              <a:t> and one of the earliest embedded real-time systems ever deployed.</a:t>
            </a:r>
            <a:endParaRPr lang="en-US" b="0" dirty="0"/>
          </a:p>
          <a:p>
            <a:pPr marL="171450" indent="-171450">
              <a:buFont typeface="Arial" panose="020B0604020202020204" pitchFamily="34" charset="0"/>
              <a:buChar char="•"/>
            </a:pPr>
            <a:r>
              <a:rPr lang="en-US" b="0" dirty="0"/>
              <a:t>The Apollo Guidance Computer was a purpose-built real-time embedded system</a:t>
            </a:r>
          </a:p>
          <a:p>
            <a:pPr marL="171450" indent="-171450">
              <a:buFont typeface="Arial" panose="020B0604020202020204" pitchFamily="34" charset="0"/>
              <a:buChar char="•"/>
            </a:pPr>
            <a:r>
              <a:rPr lang="en-US" b="0" dirty="0"/>
              <a:t>It used minimal hardware to achieve maximum mission assurance</a:t>
            </a:r>
          </a:p>
          <a:p>
            <a:pPr marL="171450" indent="-171450">
              <a:buFont typeface="Arial" panose="020B0604020202020204" pitchFamily="34" charset="0"/>
              <a:buChar char="•"/>
            </a:pPr>
            <a:r>
              <a:rPr lang="en-US" b="0" dirty="0"/>
              <a:t>Its architecture emphasized determinism, reliability, and human integration</a:t>
            </a:r>
          </a:p>
          <a:p>
            <a:pPr marL="171450" indent="-171450">
              <a:buFont typeface="Arial" panose="020B0604020202020204" pitchFamily="34" charset="0"/>
              <a:buChar char="•"/>
            </a:pPr>
            <a:r>
              <a:rPr lang="en-US" b="0" dirty="0"/>
              <a:t>Many of its design principles remain best practice for spacecraft avionics today</a:t>
            </a:r>
          </a:p>
          <a:p>
            <a:endParaRPr lang="en-US" dirty="0"/>
          </a:p>
          <a:p>
            <a:endParaRPr lang="en-US" dirty="0"/>
          </a:p>
          <a:p>
            <a:r>
              <a:rPr lang="en-US" b="1" dirty="0"/>
              <a:t>Core rope memory</a:t>
            </a:r>
            <a:r>
              <a:rPr lang="en-US" b="0" dirty="0"/>
              <a:t> was the primary read-only memory (ROM) technology used by the Apollo Guidance Computer to store its flight software. It represents one of the most physically literal implementations of software ever flown: programs were </a:t>
            </a:r>
            <a:r>
              <a:rPr lang="en-US" b="0" i="1" dirty="0"/>
              <a:t>woven</a:t>
            </a:r>
            <a:r>
              <a:rPr lang="en-US" b="0" dirty="0"/>
              <a:t> into hardware.</a:t>
            </a:r>
          </a:p>
          <a:p>
            <a:endParaRPr lang="en-US" b="0" dirty="0"/>
          </a:p>
          <a:p>
            <a:r>
              <a:rPr lang="en-US" dirty="0"/>
              <a:t>Core rope memory stores data using </a:t>
            </a:r>
            <a:r>
              <a:rPr lang="en-US" b="1" dirty="0"/>
              <a:t>magnetic cores</a:t>
            </a:r>
            <a:r>
              <a:rPr lang="en-US" dirty="0"/>
              <a:t> (tiny ferrite rings) threaded by wires:</a:t>
            </a:r>
          </a:p>
          <a:p>
            <a:r>
              <a:rPr lang="en-US" b="1" dirty="0"/>
              <a:t>Wire passing through a core</a:t>
            </a:r>
            <a:r>
              <a:rPr lang="en-US" dirty="0"/>
              <a:t> → represents a binary </a:t>
            </a:r>
            <a:r>
              <a:rPr lang="en-US" b="1" dirty="0"/>
              <a:t>1</a:t>
            </a:r>
            <a:endParaRPr lang="en-US" dirty="0"/>
          </a:p>
          <a:p>
            <a:r>
              <a:rPr lang="en-US" b="1" dirty="0"/>
              <a:t>Wire bypassing a core</a:t>
            </a:r>
            <a:r>
              <a:rPr lang="en-US" dirty="0"/>
              <a:t> → represents a binary </a:t>
            </a:r>
            <a:r>
              <a:rPr lang="en-US" b="1" dirty="0"/>
              <a:t>0</a:t>
            </a:r>
            <a:endParaRPr lang="en-US" dirty="0"/>
          </a:p>
          <a:p>
            <a:r>
              <a:rPr lang="en-US" dirty="0"/>
              <a:t>The pattern of wire routing </a:t>
            </a:r>
            <a:r>
              <a:rPr lang="en-US" i="1" dirty="0"/>
              <a:t>is</a:t>
            </a:r>
            <a:r>
              <a:rPr lang="en-US" dirty="0"/>
              <a:t> the program. Once manufactured, the contents cannot be changed without physically rewiring the module.</a:t>
            </a:r>
          </a:p>
          <a:p>
            <a:r>
              <a:rPr lang="en-US" dirty="0"/>
              <a:t>This differs from </a:t>
            </a:r>
            <a:r>
              <a:rPr lang="en-US" b="1" dirty="0"/>
              <a:t>core RAM</a:t>
            </a:r>
            <a:r>
              <a:rPr lang="en-US" dirty="0"/>
              <a:t> (used elsewhere in the AGC), where current direction magnetizes cores dynamically. Core rope memory is passive, non-volatile, and immutable.</a:t>
            </a:r>
          </a:p>
          <a:p>
            <a:endParaRPr lang="en-US" dirty="0"/>
          </a:p>
          <a:p>
            <a:r>
              <a:rPr lang="en-US" dirty="0"/>
              <a:t>Core rope memory was selected because it was:</a:t>
            </a:r>
          </a:p>
          <a:p>
            <a:r>
              <a:rPr lang="en-US" b="1" dirty="0"/>
              <a:t>Radiation-hard</a:t>
            </a:r>
            <a:r>
              <a:rPr lang="en-US" dirty="0"/>
              <a:t> – immune to SEUs and ionizing radiation</a:t>
            </a:r>
          </a:p>
          <a:p>
            <a:r>
              <a:rPr lang="en-US" b="1" dirty="0"/>
              <a:t>Non-volatile</a:t>
            </a:r>
            <a:r>
              <a:rPr lang="en-US" dirty="0"/>
              <a:t> – retained data with no power</a:t>
            </a:r>
          </a:p>
          <a:p>
            <a:r>
              <a:rPr lang="en-US" b="1" dirty="0"/>
              <a:t>Extremely reliable</a:t>
            </a:r>
            <a:r>
              <a:rPr lang="en-US" dirty="0"/>
              <a:t> – no moving parts, no refresh</a:t>
            </a:r>
          </a:p>
          <a:p>
            <a:r>
              <a:rPr lang="en-US" b="1" dirty="0"/>
              <a:t>High density (for the era)</a:t>
            </a:r>
            <a:r>
              <a:rPr lang="en-US" dirty="0"/>
              <a:t> – much denser than flip-flop or diode ROM</a:t>
            </a:r>
          </a:p>
          <a:p>
            <a:r>
              <a:rPr lang="en-US" b="1" dirty="0"/>
              <a:t>Deterministic</a:t>
            </a:r>
            <a:r>
              <a:rPr lang="en-US" dirty="0"/>
              <a:t> – no corruption, no bit drift</a:t>
            </a:r>
          </a:p>
          <a:p>
            <a:r>
              <a:rPr lang="en-US" dirty="0"/>
              <a:t>For a crewed lunar mission in the 1960s, these attributes mattered more than flexibility.</a:t>
            </a:r>
          </a:p>
          <a:p>
            <a:endParaRPr lang="en-US" dirty="0"/>
          </a:p>
          <a:p>
            <a:r>
              <a:rPr lang="en-US" b="1" dirty="0"/>
              <a:t>How It Was Made (“Weaving Software”)</a:t>
            </a:r>
          </a:p>
          <a:p>
            <a:r>
              <a:rPr lang="en-US" dirty="0"/>
              <a:t>Software engineers finalized the program in assembly language.</a:t>
            </a:r>
          </a:p>
          <a:p>
            <a:r>
              <a:rPr lang="en-US" dirty="0"/>
              <a:t>Memory specialists translated the binary into </a:t>
            </a:r>
            <a:r>
              <a:rPr lang="en-US" b="1" dirty="0"/>
              <a:t>wiring patterns</a:t>
            </a:r>
            <a:r>
              <a:rPr lang="en-US" dirty="0"/>
              <a:t>.</a:t>
            </a:r>
          </a:p>
          <a:p>
            <a:r>
              <a:rPr lang="en-US" dirty="0"/>
              <a:t>Skilled technicians (many were textile workers) </a:t>
            </a:r>
            <a:r>
              <a:rPr lang="en-US" b="1" dirty="0"/>
              <a:t>hand-wove</a:t>
            </a:r>
            <a:r>
              <a:rPr lang="en-US" dirty="0"/>
              <a:t> the wires through or around each core.</a:t>
            </a:r>
          </a:p>
          <a:p>
            <a:r>
              <a:rPr lang="en-US" dirty="0"/>
              <a:t>Errors required </a:t>
            </a:r>
            <a:r>
              <a:rPr lang="en-US" b="1" dirty="0"/>
              <a:t>manual rework</a:t>
            </a:r>
            <a:r>
              <a:rPr lang="en-US" dirty="0"/>
              <a:t>, cutting and rethreading wires.</a:t>
            </a:r>
          </a:p>
          <a:p>
            <a:r>
              <a:rPr lang="en-US" dirty="0"/>
              <a:t>This process earned the nickname </a:t>
            </a:r>
            <a:r>
              <a:rPr lang="en-US" b="1" dirty="0"/>
              <a:t>“LOL memory”</a:t>
            </a:r>
            <a:r>
              <a:rPr lang="en-US" dirty="0"/>
              <a:t> — </a:t>
            </a:r>
            <a:r>
              <a:rPr lang="en-US" i="1" dirty="0"/>
              <a:t>Little Old Ladies memory</a:t>
            </a:r>
            <a:r>
              <a:rPr lang="en-US" dirty="0"/>
              <a:t> — a reflection of who performed the meticulous weaving, not an official term.</a:t>
            </a:r>
          </a:p>
          <a:p>
            <a:endParaRPr lang="en-US" b="0" dirty="0"/>
          </a:p>
        </p:txBody>
      </p:sp>
      <p:sp>
        <p:nvSpPr>
          <p:cNvPr id="4" name="Slide Number Placeholder 3"/>
          <p:cNvSpPr>
            <a:spLocks noGrp="1"/>
          </p:cNvSpPr>
          <p:nvPr>
            <p:ph type="sldNum" sz="quarter" idx="5"/>
          </p:nvPr>
        </p:nvSpPr>
        <p:spPr/>
        <p:txBody>
          <a:bodyPr/>
          <a:lstStyle/>
          <a:p>
            <a:fld id="{9EB4C982-825B-414E-ABB9-79AB251390A5}" type="slidenum">
              <a:rPr lang="en-US" smtClean="0"/>
              <a:t>4</a:t>
            </a:fld>
            <a:endParaRPr lang="en-US"/>
          </a:p>
        </p:txBody>
      </p:sp>
    </p:spTree>
    <p:extLst>
      <p:ext uri="{BB962C8B-B14F-4D97-AF65-F5344CB8AC3E}">
        <p14:creationId xmlns:p14="http://schemas.microsoft.com/office/powerpoint/2010/main" val="889375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8</a:t>
            </a:fld>
            <a:endParaRPr lang="en-US"/>
          </a:p>
        </p:txBody>
      </p:sp>
    </p:spTree>
    <p:extLst>
      <p:ext uri="{BB962C8B-B14F-4D97-AF65-F5344CB8AC3E}">
        <p14:creationId xmlns:p14="http://schemas.microsoft.com/office/powerpoint/2010/main" val="3680980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Execution Models</a:t>
            </a:r>
          </a:p>
          <a:p>
            <a:endParaRPr lang="en-US" b="1" dirty="0"/>
          </a:p>
          <a:p>
            <a:r>
              <a:rPr lang="en-US" b="1" dirty="0"/>
              <a:t>Super-Loop (Cyclic Executive)</a:t>
            </a:r>
          </a:p>
          <a:p>
            <a:r>
              <a:rPr lang="en-US" dirty="0"/>
              <a:t>A super-loop is the simplest embedded software architecture: the processor executes an infinite loop that sequentially calls each function (e.g., read sensors → compute control → send telemetry → check faults).</a:t>
            </a:r>
          </a:p>
          <a:p>
            <a:r>
              <a:rPr lang="en-US" b="0" u="sng" dirty="0"/>
              <a:t>Why it exists</a:t>
            </a:r>
          </a:p>
          <a:p>
            <a:r>
              <a:rPr lang="en-US" dirty="0"/>
              <a:t>Extremely predictable</a:t>
            </a:r>
          </a:p>
          <a:p>
            <a:r>
              <a:rPr lang="en-US" dirty="0"/>
              <a:t>Easy to analyze and test</a:t>
            </a:r>
          </a:p>
          <a:p>
            <a:r>
              <a:rPr lang="en-US" dirty="0"/>
              <a:t>Minimal overhead (no scheduler)</a:t>
            </a:r>
          </a:p>
          <a:p>
            <a:r>
              <a:rPr lang="en-US" b="0" u="sng" dirty="0"/>
              <a:t>Space relevance</a:t>
            </a:r>
          </a:p>
          <a:p>
            <a:r>
              <a:rPr lang="en-US" dirty="0"/>
              <a:t>Used in early spacecraft, sounding rockets, simple CubeSats</a:t>
            </a:r>
          </a:p>
          <a:p>
            <a:r>
              <a:rPr lang="en-US" dirty="0"/>
              <a:t>Still viable when:</a:t>
            </a:r>
          </a:p>
          <a:p>
            <a:pPr lvl="1"/>
            <a:r>
              <a:rPr lang="en-US" dirty="0"/>
              <a:t>Task timing is slow and regular</a:t>
            </a:r>
          </a:p>
          <a:p>
            <a:pPr lvl="1"/>
            <a:r>
              <a:rPr lang="en-US" dirty="0"/>
              <a:t>Few asynchronous events exist</a:t>
            </a:r>
          </a:p>
          <a:p>
            <a:pPr lvl="1"/>
            <a:r>
              <a:rPr lang="en-US" dirty="0"/>
              <a:t>Control laws are simple</a:t>
            </a:r>
          </a:p>
          <a:p>
            <a:r>
              <a:rPr lang="en-US" b="0" u="sng" dirty="0"/>
              <a:t>Limitations</a:t>
            </a:r>
          </a:p>
          <a:p>
            <a:r>
              <a:rPr lang="en-US" dirty="0"/>
              <a:t>Poor scalability as system complexity grows</a:t>
            </a:r>
          </a:p>
          <a:p>
            <a:r>
              <a:rPr lang="en-US" dirty="0"/>
              <a:t>Long execution of one task delays all others</a:t>
            </a:r>
          </a:p>
          <a:p>
            <a:r>
              <a:rPr lang="en-US" dirty="0"/>
              <a:t>Difficult to handle asynchronous events (e.g., radio interrupts)</a:t>
            </a:r>
          </a:p>
          <a:p>
            <a:endParaRPr lang="en-US" dirty="0"/>
          </a:p>
          <a:p>
            <a:r>
              <a:rPr lang="en-US" b="1" dirty="0"/>
              <a:t>Interrupt-Driven Architecture</a:t>
            </a:r>
          </a:p>
          <a:p>
            <a:r>
              <a:rPr lang="en-US" dirty="0"/>
              <a:t>Here, the CPU executes a main loop, but </a:t>
            </a:r>
            <a:r>
              <a:rPr lang="en-US" b="1" dirty="0"/>
              <a:t>interrupts preempt execution</a:t>
            </a:r>
            <a:r>
              <a:rPr lang="en-US" dirty="0"/>
              <a:t> when hardware events occur (timers, sensors, radios).</a:t>
            </a:r>
          </a:p>
          <a:p>
            <a:r>
              <a:rPr lang="en-US" b="0" u="sng" dirty="0"/>
              <a:t>Common interrupt sources</a:t>
            </a:r>
          </a:p>
          <a:p>
            <a:r>
              <a:rPr lang="en-US" dirty="0"/>
              <a:t>IMU data ready</a:t>
            </a:r>
          </a:p>
          <a:p>
            <a:r>
              <a:rPr lang="en-US" dirty="0"/>
              <a:t>Radio packet received</a:t>
            </a:r>
          </a:p>
          <a:p>
            <a:r>
              <a:rPr lang="en-US" dirty="0"/>
              <a:t>Timer tick</a:t>
            </a:r>
          </a:p>
          <a:p>
            <a:r>
              <a:rPr lang="en-US" dirty="0"/>
              <a:t>Fault signals</a:t>
            </a:r>
          </a:p>
          <a:p>
            <a:r>
              <a:rPr lang="en-US" b="0" u="sng" dirty="0"/>
              <a:t>Advantages</a:t>
            </a:r>
          </a:p>
          <a:p>
            <a:r>
              <a:rPr lang="en-US" dirty="0"/>
              <a:t>Fast response to real-world events</a:t>
            </a:r>
          </a:p>
          <a:p>
            <a:r>
              <a:rPr lang="en-US" dirty="0"/>
              <a:t>Efficient CPU usage</a:t>
            </a:r>
          </a:p>
          <a:p>
            <a:r>
              <a:rPr lang="en-US" dirty="0"/>
              <a:t>Enables precise timing (e.g., sensor sampling)</a:t>
            </a:r>
          </a:p>
          <a:p>
            <a:r>
              <a:rPr lang="en-US" b="0" u="sng" dirty="0"/>
              <a:t>Risks</a:t>
            </a:r>
          </a:p>
          <a:p>
            <a:r>
              <a:rPr lang="en-US" dirty="0"/>
              <a:t>Interrupt storms</a:t>
            </a:r>
          </a:p>
          <a:p>
            <a:r>
              <a:rPr lang="en-US" dirty="0"/>
              <a:t>Priority conflicts</a:t>
            </a:r>
          </a:p>
          <a:p>
            <a:r>
              <a:rPr lang="en-US" dirty="0"/>
              <a:t>Hard-to-debug race conditions</a:t>
            </a:r>
          </a:p>
          <a:p>
            <a:r>
              <a:rPr lang="en-US" dirty="0"/>
              <a:t>Stack corruption if poorly managed</a:t>
            </a:r>
          </a:p>
          <a:p>
            <a:r>
              <a:rPr lang="en-US" b="0" u="sng" dirty="0"/>
              <a:t>Space relevance</a:t>
            </a:r>
          </a:p>
          <a:p>
            <a:r>
              <a:rPr lang="en-US" dirty="0"/>
              <a:t>Essential for:</a:t>
            </a:r>
          </a:p>
          <a:p>
            <a:pPr lvl="1"/>
            <a:r>
              <a:rPr lang="en-US" dirty="0"/>
              <a:t>Control loops</a:t>
            </a:r>
          </a:p>
          <a:p>
            <a:pPr lvl="1"/>
            <a:r>
              <a:rPr lang="en-US" dirty="0"/>
              <a:t>High-rate sensors</a:t>
            </a:r>
          </a:p>
          <a:p>
            <a:pPr lvl="1"/>
            <a:r>
              <a:rPr lang="en-US" dirty="0"/>
              <a:t>Communication links</a:t>
            </a:r>
          </a:p>
          <a:p>
            <a:r>
              <a:rPr lang="en-US" b="0" dirty="0">
                <a:sym typeface="Wingdings" panose="05000000000000000000" pitchFamily="2" charset="2"/>
              </a:rPr>
              <a:t> </a:t>
            </a:r>
            <a:r>
              <a:rPr lang="en-US" b="0" dirty="0"/>
              <a:t>Interrupts give responsiveness, but discipline is required — every interrupt must be short, bounded, and justified.</a:t>
            </a:r>
          </a:p>
          <a:p>
            <a:endParaRPr lang="en-US" dirty="0"/>
          </a:p>
          <a:p>
            <a:r>
              <a:rPr lang="en-US" b="1" dirty="0"/>
              <a:t>RTOS-Based Architecture</a:t>
            </a:r>
          </a:p>
          <a:p>
            <a:r>
              <a:rPr lang="en-US" dirty="0"/>
              <a:t>A Real-Time Operating System schedules multiple tasks according to priority and timing constraints.</a:t>
            </a:r>
          </a:p>
          <a:p>
            <a:r>
              <a:rPr lang="en-US" b="0" u="sng" dirty="0"/>
              <a:t>Key RTOS concepts</a:t>
            </a:r>
          </a:p>
          <a:p>
            <a:r>
              <a:rPr lang="en-US" dirty="0"/>
              <a:t>Tasks/threads</a:t>
            </a:r>
          </a:p>
          <a:p>
            <a:r>
              <a:rPr lang="en-US" dirty="0"/>
              <a:t>Priorities</a:t>
            </a:r>
          </a:p>
          <a:p>
            <a:r>
              <a:rPr lang="en-US" dirty="0"/>
              <a:t>Semaphores and mutexes</a:t>
            </a:r>
          </a:p>
          <a:p>
            <a:r>
              <a:rPr lang="en-US" dirty="0"/>
              <a:t>Message queues</a:t>
            </a:r>
          </a:p>
          <a:p>
            <a:r>
              <a:rPr lang="en-US" dirty="0"/>
              <a:t>Timers</a:t>
            </a:r>
          </a:p>
          <a:p>
            <a:r>
              <a:rPr lang="en-US" b="0" u="sng" dirty="0"/>
              <a:t>Why spacecraft use RTOS</a:t>
            </a:r>
          </a:p>
          <a:p>
            <a:r>
              <a:rPr lang="en-US" dirty="0"/>
              <a:t>Clean separation of functions (ADCS, comms, payload)</a:t>
            </a:r>
          </a:p>
          <a:p>
            <a:r>
              <a:rPr lang="en-US" dirty="0"/>
              <a:t>Easier scaling to complex missions</a:t>
            </a:r>
          </a:p>
          <a:p>
            <a:r>
              <a:rPr lang="en-US" dirty="0"/>
              <a:t>Explicit timing guarantees</a:t>
            </a:r>
          </a:p>
          <a:p>
            <a:r>
              <a:rPr lang="en-US" b="0" u="sng" dirty="0"/>
              <a:t>Tradeoffs</a:t>
            </a:r>
          </a:p>
          <a:p>
            <a:r>
              <a:rPr lang="en-US" dirty="0"/>
              <a:t>Increased software complexity</a:t>
            </a:r>
          </a:p>
          <a:p>
            <a:r>
              <a:rPr lang="en-US" dirty="0"/>
              <a:t>Scheduler overhead</a:t>
            </a:r>
          </a:p>
          <a:p>
            <a:r>
              <a:rPr lang="en-US" dirty="0"/>
              <a:t>New failure modes (priority inversion, deadlock)</a:t>
            </a:r>
          </a:p>
          <a:p>
            <a:r>
              <a:rPr lang="en-US" b="0" u="sng" dirty="0"/>
              <a:t>Space relevance</a:t>
            </a:r>
          </a:p>
          <a:p>
            <a:r>
              <a:rPr lang="en-US" dirty="0"/>
              <a:t>Common on modern CubeSats and small satellites</a:t>
            </a:r>
          </a:p>
          <a:p>
            <a:r>
              <a:rPr lang="en-US" dirty="0"/>
              <a:t>Often used with:</a:t>
            </a:r>
          </a:p>
          <a:p>
            <a:pPr lvl="1"/>
            <a:r>
              <a:rPr lang="en-US" dirty="0"/>
              <a:t>Deterministic kernels</a:t>
            </a:r>
          </a:p>
          <a:p>
            <a:pPr lvl="1"/>
            <a:r>
              <a:rPr lang="en-US" dirty="0"/>
              <a:t>Static task allocation</a:t>
            </a:r>
          </a:p>
          <a:p>
            <a:pPr lvl="1"/>
            <a:r>
              <a:rPr lang="en-US" dirty="0"/>
              <a:t>Conservative scheduling</a:t>
            </a:r>
          </a:p>
          <a:p>
            <a:pPr lvl="1"/>
            <a:endParaRPr lang="en-US" dirty="0"/>
          </a:p>
          <a:p>
            <a:r>
              <a:rPr lang="en-US" b="1" u="none" dirty="0"/>
              <a:t>-----------------------------------------------------------</a:t>
            </a:r>
          </a:p>
          <a:p>
            <a:endParaRPr lang="en-US" b="1" u="sng" dirty="0"/>
          </a:p>
          <a:p>
            <a:pPr algn="l"/>
            <a:r>
              <a:rPr lang="en-US" b="1" u="sng" dirty="0"/>
              <a:t>Real-Time Considerations</a:t>
            </a:r>
          </a:p>
          <a:p>
            <a:pPr algn="l"/>
            <a:endParaRPr lang="en-US" b="1" u="sng" dirty="0"/>
          </a:p>
          <a:p>
            <a:pPr marL="0" marR="0" lvl="0" indent="0" algn="l" defTabSz="914315" rtl="0" eaLnBrk="1" fontAlgn="auto" latinLnBrk="0" hangingPunct="1">
              <a:lnSpc>
                <a:spcPct val="100000"/>
              </a:lnSpc>
              <a:spcBef>
                <a:spcPts val="0"/>
              </a:spcBef>
              <a:spcAft>
                <a:spcPts val="0"/>
              </a:spcAft>
              <a:buClrTx/>
              <a:buSzTx/>
              <a:buFontTx/>
              <a:buNone/>
              <a:tabLst/>
              <a:defRPr/>
            </a:pPr>
            <a:r>
              <a:rPr lang="en-US" b="1" dirty="0"/>
              <a:t>Hard vs soft deadlines</a:t>
            </a:r>
            <a:endParaRPr lang="en-US" b="1" u="sng" dirty="0"/>
          </a:p>
          <a:p>
            <a:r>
              <a:rPr lang="en-US" b="0" u="sng" dirty="0"/>
              <a:t>Hard real-time</a:t>
            </a:r>
          </a:p>
          <a:p>
            <a:r>
              <a:rPr lang="en-US" dirty="0"/>
              <a:t>Missing a deadline is a system failure</a:t>
            </a:r>
          </a:p>
          <a:p>
            <a:r>
              <a:rPr lang="en-US" dirty="0"/>
              <a:t>Example: reaction wheel control update</a:t>
            </a:r>
          </a:p>
          <a:p>
            <a:r>
              <a:rPr lang="en-US" b="0" u="sng" dirty="0"/>
              <a:t>Soft real-time</a:t>
            </a:r>
          </a:p>
          <a:p>
            <a:r>
              <a:rPr lang="en-US" dirty="0"/>
              <a:t>Performance degrades, but system survives</a:t>
            </a:r>
          </a:p>
          <a:p>
            <a:r>
              <a:rPr lang="en-US" dirty="0"/>
              <a:t>Example: delayed telemetry packet</a:t>
            </a:r>
          </a:p>
          <a:p>
            <a:r>
              <a:rPr lang="en-US" b="0" u="sng" dirty="0"/>
              <a:t>Why this matters</a:t>
            </a:r>
          </a:p>
          <a:p>
            <a:r>
              <a:rPr lang="en-US" dirty="0"/>
              <a:t>Drives architecture decisions</a:t>
            </a:r>
          </a:p>
          <a:p>
            <a:r>
              <a:rPr lang="en-US" dirty="0"/>
              <a:t>Determines which tasks get highest priority</a:t>
            </a:r>
          </a:p>
          <a:p>
            <a:r>
              <a:rPr lang="en-US" dirty="0"/>
              <a:t>Influences processor selection</a:t>
            </a:r>
            <a:br>
              <a:rPr lang="en-US" dirty="0"/>
            </a:br>
            <a:endParaRPr lang="en-US" dirty="0"/>
          </a:p>
          <a:p>
            <a:r>
              <a:rPr lang="en-US" b="1" u="none" dirty="0"/>
              <a:t>Sensor Sampling Jitter</a:t>
            </a:r>
          </a:p>
          <a:p>
            <a:r>
              <a:rPr lang="en-US" dirty="0"/>
              <a:t>Jitter is variation in the timing of sensor reads.</a:t>
            </a:r>
          </a:p>
          <a:p>
            <a:r>
              <a:rPr lang="en-US" b="0" u="sng" dirty="0"/>
              <a:t>Why it matters</a:t>
            </a:r>
          </a:p>
          <a:p>
            <a:r>
              <a:rPr lang="en-US" dirty="0"/>
              <a:t>Control laws assume fixed sample periods</a:t>
            </a:r>
          </a:p>
          <a:p>
            <a:r>
              <a:rPr lang="en-US" dirty="0"/>
              <a:t>Variable timing introduces noise and instability</a:t>
            </a:r>
          </a:p>
          <a:p>
            <a:r>
              <a:rPr lang="en-US" b="0" u="sng" dirty="0"/>
              <a:t>Sources of jitter</a:t>
            </a:r>
          </a:p>
          <a:p>
            <a:r>
              <a:rPr lang="en-US" dirty="0"/>
              <a:t>Interrupt interference</a:t>
            </a:r>
          </a:p>
          <a:p>
            <a:r>
              <a:rPr lang="en-US" dirty="0"/>
              <a:t>Task preemption</a:t>
            </a:r>
          </a:p>
          <a:p>
            <a:r>
              <a:rPr lang="en-US" dirty="0"/>
              <a:t>Poor scheduler design</a:t>
            </a:r>
          </a:p>
          <a:p>
            <a:r>
              <a:rPr lang="en-US" b="0" u="sng" dirty="0"/>
              <a:t>Mitigation strategies</a:t>
            </a:r>
          </a:p>
          <a:p>
            <a:r>
              <a:rPr lang="en-US" dirty="0"/>
              <a:t>Timer-driven sampling</a:t>
            </a:r>
          </a:p>
          <a:p>
            <a:r>
              <a:rPr lang="en-US" dirty="0"/>
              <a:t>High-priority sensor tasks</a:t>
            </a:r>
          </a:p>
          <a:p>
            <a:r>
              <a:rPr lang="en-US" dirty="0"/>
              <a:t>DMA where possible</a:t>
            </a:r>
            <a:br>
              <a:rPr lang="en-US" dirty="0"/>
            </a:br>
            <a:endParaRPr lang="en-US" dirty="0"/>
          </a:p>
          <a:p>
            <a:r>
              <a:rPr lang="en-US" b="1" u="none" dirty="0"/>
              <a:t>Control Loop Timing</a:t>
            </a:r>
          </a:p>
          <a:p>
            <a:r>
              <a:rPr lang="en-US" dirty="0"/>
              <a:t>Control algorithms assume:</a:t>
            </a:r>
          </a:p>
          <a:p>
            <a:r>
              <a:rPr lang="en-US" dirty="0"/>
              <a:t>Fixed update rates</a:t>
            </a:r>
          </a:p>
          <a:p>
            <a:r>
              <a:rPr lang="en-US" dirty="0"/>
              <a:t>Known latency between sensing and actuation</a:t>
            </a:r>
          </a:p>
          <a:p>
            <a:r>
              <a:rPr lang="en-US" b="0" u="sng" dirty="0"/>
              <a:t>Violations cause</a:t>
            </a:r>
          </a:p>
          <a:p>
            <a:r>
              <a:rPr lang="en-US" dirty="0"/>
              <a:t>Phase lag</a:t>
            </a:r>
          </a:p>
          <a:p>
            <a:r>
              <a:rPr lang="en-US" dirty="0"/>
              <a:t>Reduced stability margins</a:t>
            </a:r>
          </a:p>
          <a:p>
            <a:r>
              <a:rPr lang="en-US" dirty="0"/>
              <a:t>Oscillations or divergence</a:t>
            </a:r>
          </a:p>
          <a:p>
            <a:r>
              <a:rPr lang="en-US" b="0" u="sng" dirty="0"/>
              <a:t>Spacecraft implication</a:t>
            </a:r>
          </a:p>
          <a:p>
            <a:r>
              <a:rPr lang="en-US" dirty="0"/>
              <a:t>Software timing errors can destabilize a physically stable vehicle</a:t>
            </a:r>
            <a:br>
              <a:rPr lang="en-US" dirty="0"/>
            </a:br>
            <a:endParaRPr lang="en-US" dirty="0"/>
          </a:p>
          <a:p>
            <a:r>
              <a:rPr lang="en-US" b="1" u="none" dirty="0"/>
              <a:t>Interrupt Latency</a:t>
            </a:r>
          </a:p>
          <a:p>
            <a:r>
              <a:rPr lang="en-US" dirty="0"/>
              <a:t>Interrupt latency is the delay between a hardware event and the start of its handler.</a:t>
            </a:r>
          </a:p>
          <a:p>
            <a:r>
              <a:rPr lang="en-US" b="0" u="sng" dirty="0"/>
              <a:t>Why it matters</a:t>
            </a:r>
          </a:p>
          <a:p>
            <a:r>
              <a:rPr lang="en-US" dirty="0"/>
              <a:t>Late control updates</a:t>
            </a:r>
          </a:p>
          <a:p>
            <a:r>
              <a:rPr lang="en-US" dirty="0"/>
              <a:t>Missed communication windows</a:t>
            </a:r>
          </a:p>
          <a:p>
            <a:r>
              <a:rPr lang="en-US" dirty="0"/>
              <a:t>Loss of synchronization</a:t>
            </a:r>
          </a:p>
          <a:p>
            <a:r>
              <a:rPr lang="en-US" b="0" u="sng" dirty="0"/>
              <a:t>Sources</a:t>
            </a:r>
          </a:p>
          <a:p>
            <a:r>
              <a:rPr lang="en-US" dirty="0"/>
              <a:t>Disabled interrupts</a:t>
            </a:r>
          </a:p>
          <a:p>
            <a:r>
              <a:rPr lang="en-US" dirty="0"/>
              <a:t>Long ISRs</a:t>
            </a:r>
          </a:p>
          <a:p>
            <a:r>
              <a:rPr lang="en-US" dirty="0"/>
              <a:t>RTOS critical sections</a:t>
            </a:r>
            <a:br>
              <a:rPr lang="en-US" dirty="0"/>
            </a:br>
            <a:endParaRPr lang="en-US" dirty="0"/>
          </a:p>
          <a:p>
            <a:r>
              <a:rPr lang="en-US" b="1" u="none" dirty="0"/>
              <a:t>-----------------------------------------------------------</a:t>
            </a:r>
            <a:endParaRPr lang="en-US" dirty="0"/>
          </a:p>
          <a:p>
            <a:endParaRPr lang="en-US" dirty="0"/>
          </a:p>
          <a:p>
            <a:r>
              <a:rPr lang="en-US" b="1" u="sng" dirty="0"/>
              <a:t>Failure Modes</a:t>
            </a:r>
          </a:p>
          <a:p>
            <a:endParaRPr lang="en-US" b="1" u="sng" dirty="0"/>
          </a:p>
          <a:p>
            <a:r>
              <a:rPr lang="en-US" b="1" u="none" dirty="0"/>
              <a:t>Priority Inversion</a:t>
            </a:r>
          </a:p>
          <a:p>
            <a:r>
              <a:rPr lang="en-US" dirty="0"/>
              <a:t>Occurs when:</a:t>
            </a:r>
          </a:p>
          <a:p>
            <a:r>
              <a:rPr lang="en-US" dirty="0"/>
              <a:t>A low-priority task holds a resource</a:t>
            </a:r>
          </a:p>
          <a:p>
            <a:r>
              <a:rPr lang="en-US" dirty="0"/>
              <a:t>A high-priority task waits for it</a:t>
            </a:r>
          </a:p>
          <a:p>
            <a:r>
              <a:rPr lang="en-US" dirty="0"/>
              <a:t>A medium-priority task preempts both</a:t>
            </a:r>
          </a:p>
          <a:p>
            <a:r>
              <a:rPr lang="en-US" b="0" u="sng" dirty="0"/>
              <a:t>Impact</a:t>
            </a:r>
          </a:p>
          <a:p>
            <a:r>
              <a:rPr lang="en-US" dirty="0"/>
              <a:t>High-priority task misses deadline</a:t>
            </a:r>
          </a:p>
          <a:p>
            <a:r>
              <a:rPr lang="en-US" dirty="0"/>
              <a:t>System behaves unpredictably</a:t>
            </a:r>
          </a:p>
          <a:p>
            <a:r>
              <a:rPr lang="en-US" b="0" u="sng" dirty="0"/>
              <a:t>Mitigation</a:t>
            </a:r>
          </a:p>
          <a:p>
            <a:r>
              <a:rPr lang="en-US" dirty="0"/>
              <a:t>Priority inheritance</a:t>
            </a:r>
          </a:p>
          <a:p>
            <a:r>
              <a:rPr lang="en-US" dirty="0"/>
              <a:t>Careful resource design</a:t>
            </a:r>
          </a:p>
          <a:p>
            <a:endParaRPr lang="en-US" dirty="0"/>
          </a:p>
          <a:p>
            <a:r>
              <a:rPr lang="en-US" b="1" dirty="0"/>
              <a:t>Watchdog Resets</a:t>
            </a:r>
          </a:p>
          <a:p>
            <a:r>
              <a:rPr lang="en-US" dirty="0"/>
              <a:t>Watchdogs reset the processor if software becomes unresponsive.</a:t>
            </a:r>
          </a:p>
          <a:p>
            <a:r>
              <a:rPr lang="en-US" b="0" u="sng" dirty="0"/>
              <a:t>Common causes</a:t>
            </a:r>
          </a:p>
          <a:p>
            <a:r>
              <a:rPr lang="en-US" dirty="0"/>
              <a:t>Infinite loops</a:t>
            </a:r>
          </a:p>
          <a:p>
            <a:r>
              <a:rPr lang="en-US" dirty="0"/>
              <a:t>Deadlocks</a:t>
            </a:r>
          </a:p>
          <a:p>
            <a:r>
              <a:rPr lang="en-US" dirty="0"/>
              <a:t>Memory corruption</a:t>
            </a:r>
          </a:p>
          <a:p>
            <a:r>
              <a:rPr lang="en-US" b="0" u="sng" dirty="0"/>
              <a:t>Space practice</a:t>
            </a:r>
          </a:p>
          <a:p>
            <a:r>
              <a:rPr lang="en-US" dirty="0"/>
              <a:t>Watchdog is mandatory</a:t>
            </a:r>
          </a:p>
          <a:p>
            <a:r>
              <a:rPr lang="en-US" dirty="0"/>
              <a:t>Reset paths must be deterministic</a:t>
            </a:r>
          </a:p>
          <a:p>
            <a:r>
              <a:rPr lang="en-US" dirty="0"/>
              <a:t>Post-reset behavior must be safe</a:t>
            </a:r>
            <a:br>
              <a:rPr lang="en-US" dirty="0"/>
            </a:br>
            <a:endParaRPr lang="en-US" dirty="0"/>
          </a:p>
          <a:p>
            <a:r>
              <a:rPr lang="en-US" b="1" dirty="0"/>
              <a:t>Stack Overflows</a:t>
            </a:r>
          </a:p>
          <a:p>
            <a:r>
              <a:rPr lang="en-US" dirty="0"/>
              <a:t>Embedded systems use limited stack memory.</a:t>
            </a:r>
          </a:p>
          <a:p>
            <a:r>
              <a:rPr lang="en-US" b="0" u="sng" dirty="0"/>
              <a:t>Causes</a:t>
            </a:r>
          </a:p>
          <a:p>
            <a:r>
              <a:rPr lang="en-US" dirty="0"/>
              <a:t>Deep recursion</a:t>
            </a:r>
          </a:p>
          <a:p>
            <a:r>
              <a:rPr lang="en-US" dirty="0"/>
              <a:t>Large local variables</a:t>
            </a:r>
          </a:p>
          <a:p>
            <a:r>
              <a:rPr lang="en-US" dirty="0"/>
              <a:t>Too many RTOS tasks</a:t>
            </a:r>
          </a:p>
          <a:p>
            <a:r>
              <a:rPr lang="en-US" b="0" u="sng" dirty="0"/>
              <a:t>Consequences</a:t>
            </a:r>
          </a:p>
          <a:p>
            <a:r>
              <a:rPr lang="en-US" dirty="0"/>
              <a:t>Silent memory corruption</a:t>
            </a:r>
          </a:p>
          <a:p>
            <a:r>
              <a:rPr lang="en-US" dirty="0"/>
              <a:t>Random crashes</a:t>
            </a:r>
          </a:p>
          <a:p>
            <a:r>
              <a:rPr lang="en-US" dirty="0"/>
              <a:t>Extremely difficult debugging</a:t>
            </a:r>
            <a:br>
              <a:rPr lang="en-US" dirty="0"/>
            </a:br>
            <a:endParaRPr lang="en-US" dirty="0"/>
          </a:p>
          <a:p>
            <a:r>
              <a:rPr lang="en-US" b="1" dirty="0"/>
              <a:t>Race Conditions</a:t>
            </a:r>
          </a:p>
          <a:p>
            <a:r>
              <a:rPr lang="en-US" dirty="0"/>
              <a:t>Occurs when:</a:t>
            </a:r>
          </a:p>
          <a:p>
            <a:r>
              <a:rPr lang="en-US" dirty="0"/>
              <a:t>Multiple tasks access shared data</a:t>
            </a:r>
          </a:p>
          <a:p>
            <a:r>
              <a:rPr lang="en-US" dirty="0"/>
              <a:t>Execution order is nondeterministic</a:t>
            </a:r>
          </a:p>
          <a:p>
            <a:r>
              <a:rPr lang="en-US" b="0" u="sng" dirty="0"/>
              <a:t>Space impact</a:t>
            </a:r>
          </a:p>
          <a:p>
            <a:r>
              <a:rPr lang="en-US" dirty="0"/>
              <a:t>Rare, unreproducible failures</a:t>
            </a:r>
          </a:p>
          <a:p>
            <a:r>
              <a:rPr lang="en-US" dirty="0"/>
              <a:t>Often appear late in mission</a:t>
            </a:r>
            <a:br>
              <a:rPr lang="en-US" dirty="0"/>
            </a:br>
            <a:endParaRPr lang="en-US" dirty="0"/>
          </a:p>
          <a:p>
            <a:pPr marL="0" marR="0" lvl="0" indent="0" algn="l" defTabSz="914315" rtl="0" eaLnBrk="1" fontAlgn="auto" latinLnBrk="0" hangingPunct="1">
              <a:lnSpc>
                <a:spcPct val="100000"/>
              </a:lnSpc>
              <a:spcBef>
                <a:spcPts val="0"/>
              </a:spcBef>
              <a:spcAft>
                <a:spcPts val="0"/>
              </a:spcAft>
              <a:buClrTx/>
              <a:buSzTx/>
              <a:buFontTx/>
              <a:buNone/>
              <a:tabLst/>
              <a:defRPr/>
            </a:pPr>
            <a:r>
              <a:rPr lang="en-US" b="1" u="none" dirty="0"/>
              <a:t>-----------------------------------------------------------</a:t>
            </a:r>
            <a:endParaRPr lang="en-US" dirty="0"/>
          </a:p>
          <a:p>
            <a:endParaRPr lang="en-US" dirty="0"/>
          </a:p>
          <a:p>
            <a:r>
              <a:rPr lang="en-US" b="1" u="sng" dirty="0"/>
              <a:t>Space-Specific Practice</a:t>
            </a:r>
          </a:p>
          <a:p>
            <a:r>
              <a:rPr lang="en-US" b="1" dirty="0"/>
              <a:t>Mandatory Watchdogs</a:t>
            </a:r>
          </a:p>
          <a:p>
            <a:r>
              <a:rPr lang="en-US" dirty="0"/>
              <a:t>Hardware watchdogs preferred</a:t>
            </a:r>
          </a:p>
          <a:p>
            <a:r>
              <a:rPr lang="en-US" dirty="0"/>
              <a:t>Software watchdogs as secondary layer</a:t>
            </a:r>
          </a:p>
          <a:p>
            <a:r>
              <a:rPr lang="en-US" dirty="0"/>
              <a:t>Must reset on real progress, not loops</a:t>
            </a:r>
          </a:p>
          <a:p>
            <a:br>
              <a:rPr lang="en-US" dirty="0"/>
            </a:br>
            <a:endParaRPr lang="en-US" dirty="0"/>
          </a:p>
          <a:p>
            <a:r>
              <a:rPr lang="en-US" b="1" dirty="0"/>
              <a:t>Safe-Mode Code Paths</a:t>
            </a:r>
          </a:p>
          <a:p>
            <a:r>
              <a:rPr lang="en-US" dirty="0"/>
              <a:t>Safe mode is a </a:t>
            </a:r>
            <a:r>
              <a:rPr lang="en-US" b="1" dirty="0"/>
              <a:t>minimal, survivable configuration</a:t>
            </a:r>
            <a:r>
              <a:rPr lang="en-US" dirty="0"/>
              <a:t>.</a:t>
            </a:r>
          </a:p>
          <a:p>
            <a:r>
              <a:rPr lang="en-US" b="0" u="sng" dirty="0"/>
              <a:t>Characteristics</a:t>
            </a:r>
          </a:p>
          <a:p>
            <a:r>
              <a:rPr lang="en-US" dirty="0"/>
              <a:t>Reduced functionality</a:t>
            </a:r>
          </a:p>
          <a:p>
            <a:r>
              <a:rPr lang="en-US" dirty="0"/>
              <a:t>Guaranteed power positivity</a:t>
            </a:r>
          </a:p>
          <a:p>
            <a:r>
              <a:rPr lang="en-US" dirty="0"/>
              <a:t>Minimal code paths</a:t>
            </a:r>
          </a:p>
          <a:p>
            <a:endParaRPr lang="en-US" dirty="0"/>
          </a:p>
          <a:p>
            <a:r>
              <a:rPr lang="en-US" b="1" dirty="0"/>
              <a:t>Deterministic Boot Behavior</a:t>
            </a:r>
          </a:p>
          <a:p>
            <a:r>
              <a:rPr lang="en-US" dirty="0"/>
              <a:t>After reset:</a:t>
            </a:r>
          </a:p>
          <a:p>
            <a:r>
              <a:rPr lang="en-US" dirty="0"/>
              <a:t>System must reach known state</a:t>
            </a:r>
          </a:p>
          <a:p>
            <a:r>
              <a:rPr lang="en-US" dirty="0"/>
              <a:t>Critical subsystems initialized first</a:t>
            </a:r>
          </a:p>
          <a:p>
            <a:r>
              <a:rPr lang="en-US" dirty="0"/>
              <a:t>No dependency on prior memory state</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11</a:t>
            </a:fld>
            <a:endParaRPr lang="en-US"/>
          </a:p>
        </p:txBody>
      </p:sp>
    </p:spTree>
    <p:extLst>
      <p:ext uri="{BB962C8B-B14F-4D97-AF65-F5344CB8AC3E}">
        <p14:creationId xmlns:p14="http://schemas.microsoft.com/office/powerpoint/2010/main" val="2155058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UART (</a:t>
            </a:r>
            <a:r>
              <a:rPr lang="en-US" dirty="0"/>
              <a:t>Universal Asynchronous Receiver/Transmitter</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dirty="0"/>
              <a:t>Serial Peripheral Interface (SPI)</a:t>
            </a:r>
          </a:p>
          <a:p>
            <a:endParaRPr lang="en-US" dirty="0"/>
          </a:p>
          <a:p>
            <a:r>
              <a:rPr lang="en-US" sz="1200" b="0" i="0" kern="1200" dirty="0">
                <a:solidFill>
                  <a:schemeClr val="tx1"/>
                </a:solidFill>
                <a:effectLst/>
                <a:latin typeface="+mn-lt"/>
                <a:ea typeface="+mn-ea"/>
                <a:cs typeface="+mn-cs"/>
              </a:rPr>
              <a:t>Controller Area Network (CAN)</a:t>
            </a:r>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12</a:t>
            </a:fld>
            <a:endParaRPr lang="en-US"/>
          </a:p>
        </p:txBody>
      </p:sp>
    </p:spTree>
    <p:extLst>
      <p:ext uri="{BB962C8B-B14F-4D97-AF65-F5344CB8AC3E}">
        <p14:creationId xmlns:p14="http://schemas.microsoft.com/office/powerpoint/2010/main" val="1198810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13</a:t>
            </a:fld>
            <a:endParaRPr lang="en-US"/>
          </a:p>
        </p:txBody>
      </p:sp>
    </p:spTree>
    <p:extLst>
      <p:ext uri="{BB962C8B-B14F-4D97-AF65-F5344CB8AC3E}">
        <p14:creationId xmlns:p14="http://schemas.microsoft.com/office/powerpoint/2010/main" val="3382183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Radiation Matters</a:t>
            </a:r>
          </a:p>
          <a:p>
            <a:r>
              <a:rPr lang="en-US" dirty="0"/>
              <a:t>Spacecraft electronics operate outside Earth’s atmospheric and magnetic shielding</a:t>
            </a:r>
          </a:p>
          <a:p>
            <a:r>
              <a:rPr lang="en-US" dirty="0"/>
              <a:t>Ionizing radiation </a:t>
            </a:r>
            <a:r>
              <a:rPr lang="en-US" b="1" dirty="0"/>
              <a:t>alters electronic behavior</a:t>
            </a:r>
            <a:r>
              <a:rPr lang="en-US" dirty="0"/>
              <a:t>, even when no physical damage is visible</a:t>
            </a:r>
          </a:p>
          <a:p>
            <a:r>
              <a:rPr lang="en-US" dirty="0"/>
              <a:t>Most space anomalies trace back to </a:t>
            </a:r>
            <a:r>
              <a:rPr lang="en-US" b="1" dirty="0"/>
              <a:t>radiation-induced faults</a:t>
            </a:r>
            <a:r>
              <a:rPr lang="en-US" dirty="0"/>
              <a:t>, not mechanical failure</a:t>
            </a:r>
          </a:p>
          <a:p>
            <a:br>
              <a:rPr lang="en-US" dirty="0"/>
            </a:br>
            <a:endParaRPr lang="en-US" dirty="0"/>
          </a:p>
          <a:p>
            <a:r>
              <a:rPr lang="en-US" b="1" dirty="0"/>
              <a:t>Primary Radiation Effects on Embedded Systems</a:t>
            </a:r>
          </a:p>
          <a:p>
            <a:r>
              <a:rPr lang="en-US" b="1" dirty="0"/>
              <a:t>Single-Event Effects (SEE)</a:t>
            </a:r>
            <a:endParaRPr lang="en-US" dirty="0"/>
          </a:p>
          <a:p>
            <a:r>
              <a:rPr lang="en-US" dirty="0"/>
              <a:t>Caused by a single high-energy particle strike</a:t>
            </a:r>
          </a:p>
          <a:p>
            <a:r>
              <a:rPr lang="en-US" dirty="0"/>
              <a:t>Includes:</a:t>
            </a:r>
          </a:p>
          <a:p>
            <a:pPr lvl="1"/>
            <a:r>
              <a:rPr lang="en-US" b="1" dirty="0"/>
              <a:t>SEU</a:t>
            </a:r>
            <a:r>
              <a:rPr lang="en-US" dirty="0"/>
              <a:t> (bit flip in memory or registers)</a:t>
            </a:r>
          </a:p>
          <a:p>
            <a:pPr lvl="1"/>
            <a:r>
              <a:rPr lang="en-US" b="1" dirty="0"/>
              <a:t>SEL</a:t>
            </a:r>
            <a:r>
              <a:rPr lang="en-US" dirty="0"/>
              <a:t> (latch-up → destructive overcurrent)</a:t>
            </a:r>
          </a:p>
          <a:p>
            <a:pPr lvl="1"/>
            <a:r>
              <a:rPr lang="en-US" b="1" dirty="0"/>
              <a:t>SEFI</a:t>
            </a:r>
            <a:r>
              <a:rPr lang="en-US" dirty="0"/>
              <a:t> (functional interrupt requiring reset)</a:t>
            </a:r>
          </a:p>
          <a:p>
            <a:r>
              <a:rPr lang="en-US" b="1" dirty="0"/>
              <a:t>Total Ionizing Dose (TID)</a:t>
            </a:r>
            <a:endParaRPr lang="en-US" dirty="0"/>
          </a:p>
          <a:p>
            <a:r>
              <a:rPr lang="en-US" dirty="0"/>
              <a:t>Long-term charge accumulation in materials</a:t>
            </a:r>
          </a:p>
          <a:p>
            <a:r>
              <a:rPr lang="en-US" dirty="0"/>
              <a:t>Gradual degradation of:</a:t>
            </a:r>
          </a:p>
          <a:p>
            <a:pPr lvl="1"/>
            <a:r>
              <a:rPr lang="en-US" dirty="0"/>
              <a:t>Transistor thresholds</a:t>
            </a:r>
          </a:p>
          <a:p>
            <a:pPr lvl="1"/>
            <a:r>
              <a:rPr lang="en-US" dirty="0"/>
              <a:t>Leakage currents</a:t>
            </a:r>
          </a:p>
          <a:p>
            <a:pPr lvl="1"/>
            <a:r>
              <a:rPr lang="en-US" dirty="0"/>
              <a:t>Timing margins</a:t>
            </a:r>
          </a:p>
          <a:p>
            <a:r>
              <a:rPr lang="en-US" b="1" dirty="0"/>
              <a:t>Displacement Damage</a:t>
            </a:r>
            <a:endParaRPr lang="en-US" dirty="0"/>
          </a:p>
          <a:p>
            <a:r>
              <a:rPr lang="en-US" dirty="0"/>
              <a:t>Crystal lattice damage in semiconductors</a:t>
            </a:r>
          </a:p>
          <a:p>
            <a:r>
              <a:rPr lang="en-US" dirty="0"/>
              <a:t>Primarily affects sensors and analog components</a:t>
            </a:r>
          </a:p>
          <a:p>
            <a:br>
              <a:rPr lang="en-US" dirty="0"/>
            </a:br>
            <a:endParaRPr lang="en-US" dirty="0"/>
          </a:p>
          <a:p>
            <a:r>
              <a:rPr lang="en-US" b="1" dirty="0"/>
              <a:t>Hardware-Level Hardening Approaches</a:t>
            </a:r>
          </a:p>
          <a:p>
            <a:r>
              <a:rPr lang="en-US" b="1" dirty="0"/>
              <a:t>Rad-Hard Components</a:t>
            </a:r>
            <a:endParaRPr lang="en-US" dirty="0"/>
          </a:p>
          <a:p>
            <a:r>
              <a:rPr lang="en-US" dirty="0"/>
              <a:t>Designed and fabricated for radiation tolerance</a:t>
            </a:r>
          </a:p>
          <a:p>
            <a:r>
              <a:rPr lang="en-US" dirty="0"/>
              <a:t>Advantages:</a:t>
            </a:r>
          </a:p>
          <a:p>
            <a:pPr lvl="1"/>
            <a:r>
              <a:rPr lang="en-US" dirty="0"/>
              <a:t>Predictable behavior</a:t>
            </a:r>
          </a:p>
          <a:p>
            <a:pPr lvl="1"/>
            <a:r>
              <a:rPr lang="en-US" dirty="0"/>
              <a:t>Minimal mitigation required</a:t>
            </a:r>
          </a:p>
          <a:p>
            <a:r>
              <a:rPr lang="en-US" dirty="0"/>
              <a:t>Disadvantages:</a:t>
            </a:r>
          </a:p>
          <a:p>
            <a:pPr lvl="1"/>
            <a:r>
              <a:rPr lang="en-US" dirty="0"/>
              <a:t>Very high cost</a:t>
            </a:r>
          </a:p>
          <a:p>
            <a:pPr lvl="1"/>
            <a:r>
              <a:rPr lang="en-US" dirty="0"/>
              <a:t>Low performance</a:t>
            </a:r>
          </a:p>
          <a:p>
            <a:pPr lvl="1"/>
            <a:r>
              <a:rPr lang="en-US" dirty="0"/>
              <a:t>Limited availability</a:t>
            </a:r>
          </a:p>
          <a:p>
            <a:r>
              <a:rPr lang="en-US" b="1" dirty="0"/>
              <a:t>Rad-Tolerant Components</a:t>
            </a:r>
            <a:endParaRPr lang="en-US" dirty="0"/>
          </a:p>
          <a:p>
            <a:r>
              <a:rPr lang="en-US" dirty="0"/>
              <a:t>Screened or characterized COTS parts</a:t>
            </a:r>
          </a:p>
          <a:p>
            <a:r>
              <a:rPr lang="en-US" dirty="0"/>
              <a:t>Balance between cost and reliability</a:t>
            </a:r>
          </a:p>
          <a:p>
            <a:r>
              <a:rPr lang="en-US" b="1" dirty="0"/>
              <a:t>Key Reality</a:t>
            </a:r>
            <a:endParaRPr lang="en-US" dirty="0"/>
          </a:p>
          <a:p>
            <a:r>
              <a:rPr lang="en-US" dirty="0"/>
              <a:t>Radiation tolerance is rarely a </a:t>
            </a:r>
            <a:r>
              <a:rPr lang="en-US" i="1" dirty="0"/>
              <a:t>single part</a:t>
            </a:r>
            <a:r>
              <a:rPr lang="en-US" dirty="0"/>
              <a:t> decision — it is a </a:t>
            </a:r>
            <a:r>
              <a:rPr lang="en-US" b="1" dirty="0"/>
              <a:t>system architecture decision</a:t>
            </a:r>
            <a:endParaRPr lang="en-US" dirty="0"/>
          </a:p>
          <a:p>
            <a:br>
              <a:rPr lang="en-US" dirty="0"/>
            </a:br>
            <a:endParaRPr lang="en-US" dirty="0"/>
          </a:p>
          <a:p>
            <a:r>
              <a:rPr lang="en-US" b="1" dirty="0"/>
              <a:t>Software &amp; System-Level Mitigation (Most Common in Small Satellites)</a:t>
            </a:r>
          </a:p>
          <a:p>
            <a:r>
              <a:rPr lang="en-US" b="1" dirty="0"/>
              <a:t>Memory Protection</a:t>
            </a:r>
            <a:endParaRPr lang="en-US" dirty="0"/>
          </a:p>
          <a:p>
            <a:r>
              <a:rPr lang="en-US" dirty="0"/>
              <a:t>ECC / parity memory</a:t>
            </a:r>
          </a:p>
          <a:p>
            <a:r>
              <a:rPr lang="en-US" dirty="0"/>
              <a:t>Periodic memory scrubbing</a:t>
            </a:r>
          </a:p>
          <a:p>
            <a:r>
              <a:rPr lang="en-US" b="1" dirty="0"/>
              <a:t>Fault Tolerance</a:t>
            </a:r>
            <a:endParaRPr lang="en-US" dirty="0"/>
          </a:p>
          <a:p>
            <a:r>
              <a:rPr lang="en-US" dirty="0"/>
              <a:t>Watchdog timers</a:t>
            </a:r>
          </a:p>
          <a:p>
            <a:r>
              <a:rPr lang="en-US" dirty="0"/>
              <a:t>Automatic reboot capability</a:t>
            </a:r>
          </a:p>
          <a:p>
            <a:r>
              <a:rPr lang="en-US" dirty="0"/>
              <a:t>Known-safe boot states</a:t>
            </a:r>
          </a:p>
          <a:p>
            <a:r>
              <a:rPr lang="en-US" b="1" dirty="0"/>
              <a:t>Redundancy</a:t>
            </a:r>
            <a:endParaRPr lang="en-US" dirty="0"/>
          </a:p>
          <a:p>
            <a:r>
              <a:rPr lang="en-US" dirty="0"/>
              <a:t>Cold or warm redundant processors</a:t>
            </a:r>
          </a:p>
          <a:p>
            <a:r>
              <a:rPr lang="en-US" dirty="0"/>
              <a:t>Task-level redundancy</a:t>
            </a:r>
          </a:p>
          <a:p>
            <a:r>
              <a:rPr lang="en-US" dirty="0"/>
              <a:t>Voting schemes (where justified)</a:t>
            </a:r>
          </a:p>
          <a:p>
            <a:r>
              <a:rPr lang="en-US" b="1" dirty="0"/>
              <a:t>Design Philosophy</a:t>
            </a:r>
            <a:endParaRPr lang="en-US" dirty="0"/>
          </a:p>
          <a:p>
            <a:r>
              <a:rPr lang="en-US" dirty="0"/>
              <a:t>Assume faults </a:t>
            </a:r>
            <a:r>
              <a:rPr lang="en-US" i="1" dirty="0"/>
              <a:t>will</a:t>
            </a:r>
            <a:r>
              <a:rPr lang="en-US" dirty="0"/>
              <a:t> occur</a:t>
            </a:r>
          </a:p>
          <a:p>
            <a:r>
              <a:rPr lang="en-US" dirty="0"/>
              <a:t>Focus on </a:t>
            </a:r>
            <a:r>
              <a:rPr lang="en-US" b="1" dirty="0"/>
              <a:t>detection, isolation, and recovery</a:t>
            </a:r>
            <a:r>
              <a:rPr lang="en-US" dirty="0"/>
              <a:t>, not prevention alone</a:t>
            </a:r>
          </a:p>
          <a:p>
            <a:br>
              <a:rPr lang="en-US" dirty="0"/>
            </a:br>
            <a:endParaRPr lang="en-US" dirty="0"/>
          </a:p>
          <a:p>
            <a:r>
              <a:rPr lang="en-US" b="1" dirty="0"/>
              <a:t>Embedded Design Tradeoff (Key Slide Message)</a:t>
            </a:r>
          </a:p>
          <a:p>
            <a:r>
              <a:rPr lang="en-US" b="1" dirty="0"/>
              <a:t>Radiation hardening trades performance and cost for predictability and survivability.</a:t>
            </a:r>
            <a:endParaRPr lang="en-US" dirty="0"/>
          </a:p>
          <a:p>
            <a:r>
              <a:rPr lang="en-US" dirty="0"/>
              <a:t>Large spacecraft: favor rad-hard hardware</a:t>
            </a:r>
          </a:p>
          <a:p>
            <a:r>
              <a:rPr lang="en-US" dirty="0"/>
              <a:t>CubeSats &amp; small missions: favor </a:t>
            </a:r>
            <a:r>
              <a:rPr lang="en-US" b="1" dirty="0"/>
              <a:t>COTS + mitigation</a:t>
            </a:r>
            <a:endParaRPr lang="en-US" dirty="0"/>
          </a:p>
          <a:p>
            <a:r>
              <a:rPr lang="en-US" dirty="0"/>
              <a:t>Mission success depends more on </a:t>
            </a:r>
            <a:r>
              <a:rPr lang="en-US" b="1" dirty="0"/>
              <a:t>fault recovery</a:t>
            </a:r>
            <a:r>
              <a:rPr lang="en-US" dirty="0"/>
              <a:t> than raw tolerance</a:t>
            </a:r>
          </a:p>
          <a:p>
            <a:br>
              <a:rPr lang="en-US" dirty="0"/>
            </a:br>
            <a:endParaRPr lang="en-US" dirty="0"/>
          </a:p>
          <a:p>
            <a:r>
              <a:rPr lang="en-US" b="1" dirty="0"/>
              <a:t>Takeaway for Space Systems Engineers</a:t>
            </a:r>
          </a:p>
          <a:p>
            <a:r>
              <a:rPr lang="en-US" dirty="0"/>
              <a:t>Radiation is not just an electrical problem — it is a </a:t>
            </a:r>
            <a:r>
              <a:rPr lang="en-US" b="1" dirty="0"/>
              <a:t>software, power, and systems engineering problem</a:t>
            </a:r>
            <a:endParaRPr lang="en-US" dirty="0"/>
          </a:p>
          <a:p>
            <a:r>
              <a:rPr lang="en-US" dirty="0"/>
              <a:t>The question is not </a:t>
            </a:r>
            <a:r>
              <a:rPr lang="en-US" i="1" dirty="0"/>
              <a:t>“Will radiation affect my system?”</a:t>
            </a:r>
            <a:endParaRPr lang="en-US" dirty="0"/>
          </a:p>
          <a:p>
            <a:pPr lvl="1"/>
            <a:r>
              <a:rPr lang="en-US" dirty="0"/>
              <a:t>It is </a:t>
            </a:r>
            <a:r>
              <a:rPr lang="en-US" i="1" dirty="0"/>
              <a:t>“How will my system behave when it does?”</a:t>
            </a:r>
            <a:endParaRPr lang="en-US" dirty="0"/>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14</a:t>
            </a:fld>
            <a:endParaRPr lang="en-US"/>
          </a:p>
        </p:txBody>
      </p:sp>
    </p:spTree>
    <p:extLst>
      <p:ext uri="{BB962C8B-B14F-4D97-AF65-F5344CB8AC3E}">
        <p14:creationId xmlns:p14="http://schemas.microsoft.com/office/powerpoint/2010/main" val="3197533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
            </a:r>
            <a:r>
              <a:rPr lang="en-US" b="1" dirty="0"/>
              <a:t>Integrated Circuit (IC)</a:t>
            </a:r>
            <a:r>
              <a:rPr lang="en-US" dirty="0"/>
              <a:t> is a tiny electronic circuit built onto a small piece of semiconductor material (usually silicon) that contains a combination of components such as </a:t>
            </a:r>
            <a:r>
              <a:rPr lang="en-US" b="1" dirty="0"/>
              <a:t>transistors, resistors, capacitors, and diodes</a:t>
            </a:r>
            <a:r>
              <a:rPr lang="en-US" dirty="0"/>
              <a:t>, all interconnected to perform a specific function.</a:t>
            </a:r>
          </a:p>
          <a:p>
            <a:endParaRPr lang="en-US" dirty="0"/>
          </a:p>
          <a:p>
            <a:r>
              <a:rPr lang="en-US" dirty="0"/>
              <a:t>https://learn.sparkfun.com/tutorials/integrated-circuits/all</a:t>
            </a:r>
          </a:p>
        </p:txBody>
      </p:sp>
      <p:sp>
        <p:nvSpPr>
          <p:cNvPr id="4" name="Slide Number Placeholder 3"/>
          <p:cNvSpPr>
            <a:spLocks noGrp="1"/>
          </p:cNvSpPr>
          <p:nvPr>
            <p:ph type="sldNum" sz="quarter" idx="5"/>
          </p:nvPr>
        </p:nvSpPr>
        <p:spPr/>
        <p:txBody>
          <a:bodyPr/>
          <a:lstStyle/>
          <a:p>
            <a:fld id="{9EB4C982-825B-414E-ABB9-79AB251390A5}" type="slidenum">
              <a:rPr lang="en-US" smtClean="0"/>
              <a:t>17</a:t>
            </a:fld>
            <a:endParaRPr lang="en-US"/>
          </a:p>
        </p:txBody>
      </p:sp>
    </p:spTree>
    <p:extLst>
      <p:ext uri="{BB962C8B-B14F-4D97-AF65-F5344CB8AC3E}">
        <p14:creationId xmlns:p14="http://schemas.microsoft.com/office/powerpoint/2010/main" val="4103470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113AA86-EB8A-46B1-B5C1-58B997C64F59}" type="slidenum">
              <a:rPr kumimoji="0" 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456293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1/14/2026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1/14/2026</a:t>
            </a:fld>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1/14/2026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1/14/2026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1/14/2026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1/14/2026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1/14/2026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1/14/2026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1/14/2026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1/14/2026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1/14/2026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1/14/2026</a:t>
            </a:fld>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8115301" y="72097"/>
            <a:ext cx="970472"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2025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pod.nasa.gov/apod/ap240811.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O5Z-uMsgEwo&amp;list=PLdanzm1LNngB_w_wZ8Mn_xixFQ68_NT8W&amp;index=46"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youtube.com/watch?v=n50KCWhBu9k&amp;list=PLdanzm1LNngB_w_wZ8Mn_xixFQ68_NT8W&amp;index=47"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gif"/><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google.com/url?sa=i&amp;rct=j&amp;q=&amp;esrc=s&amp;frm=1&amp;source=images&amp;cd=&amp;cad=rja&amp;docid=V0SJksSrMmwpEM&amp;tbnid=nTm_Eky2ASNuvM:&amp;ved=0CAUQjRw&amp;url=http://www.clker.com/clipart-digital-logic-gates.html&amp;ei=NWMeUZzUOciI0QHZlYCwDA&amp;bvm=bv.42553238,d.dmQ&amp;psig=AFQjCNEkAtUE3o7GMHx5K0ATtVJ-47sZxA&amp;ust=1361032347870565"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www.google.com/url?sa=i&amp;rct=j&amp;q=&amp;esrc=s&amp;frm=1&amp;source=images&amp;cd=&amp;cad=rja&amp;docid=V0SJksSrMmwpEM&amp;tbnid=nTm_Eky2ASNuvM:&amp;ved=0CAUQjRw&amp;url=http://www.clker.com/clipart-digital-logic-gates.html&amp;ei=NWMeUZzUOciI0QHZlYCwDA&amp;bvm=bv.42553238,d.dmQ&amp;psig=AFQjCNEkAtUE3o7GMHx5K0ATtVJ-47sZxA&amp;ust=1361032347870565"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www.google.com/url?sa=i&amp;rct=j&amp;q=&amp;esrc=s&amp;frm=1&amp;source=images&amp;cd=&amp;cad=rja&amp;docid=V0SJksSrMmwpEM&amp;tbnid=nTm_Eky2ASNuvM:&amp;ved=0CAUQjRw&amp;url=http://www.clker.com/clipart-digital-logic-gates.html&amp;ei=NWMeUZzUOciI0QHZlYCwDA&amp;bvm=bv.42553238,d.dmQ&amp;psig=AFQjCNEkAtUE3o7GMHx5K0ATtVJ-47sZxA&amp;ust=1361032347870565"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dirty="0"/>
              <a:t>Lesson 4</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Embedded Systems</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F0F380-A02E-E9DA-568F-EEDD2A0A9E9E}"/>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sz="2000" b="1" dirty="0">
                <a:hlinkClick r:id="rId3"/>
              </a:rPr>
              <a:t>Why do some meteor showers happen at the same time every year?</a:t>
            </a:r>
            <a:endParaRPr lang="en-US" sz="2000" b="1" dirty="0"/>
          </a:p>
          <a:p>
            <a:pPr marL="0" indent="0">
              <a:buNone/>
            </a:pPr>
            <a:endParaRPr lang="en-US" sz="2000" b="1" dirty="0"/>
          </a:p>
          <a:p>
            <a:pPr marL="0" indent="0">
              <a:buNone/>
            </a:pPr>
            <a:endParaRPr lang="en-US" sz="2000" b="1" dirty="0"/>
          </a:p>
          <a:p>
            <a:pPr marL="0" indent="0">
              <a:buNone/>
            </a:pPr>
            <a:r>
              <a:rPr lang="en-US" sz="2000" b="1" dirty="0"/>
              <a:t>Why do we see more meteors between midnight and early morning?</a:t>
            </a:r>
          </a:p>
          <a:p>
            <a:pPr marL="0" indent="0">
              <a:buNone/>
            </a:pPr>
            <a:endParaRPr lang="en-US" sz="2000" b="1" dirty="0"/>
          </a:p>
        </p:txBody>
      </p:sp>
      <p:sp>
        <p:nvSpPr>
          <p:cNvPr id="4" name="Slide Number Placeholder 3">
            <a:extLst>
              <a:ext uri="{FF2B5EF4-FFF2-40B4-BE49-F238E27FC236}">
                <a16:creationId xmlns:a16="http://schemas.microsoft.com/office/drawing/2014/main" id="{3B4AD997-DA3D-2E8A-52F3-68A9F5973CB0}"/>
              </a:ext>
            </a:extLst>
          </p:cNvPr>
          <p:cNvSpPr>
            <a:spLocks noGrp="1"/>
          </p:cNvSpPr>
          <p:nvPr>
            <p:ph type="sldNum" sz="quarter" idx="12"/>
          </p:nvPr>
        </p:nvSpPr>
        <p:spPr/>
        <p:txBody>
          <a:bodyPr/>
          <a:lstStyle/>
          <a:p>
            <a:fld id="{9A3029B7-FE6B-4680-9049-80E8298A0825}" type="slidenum">
              <a:rPr lang="en-US" smtClean="0"/>
              <a:t>2</a:t>
            </a:fld>
            <a:endParaRPr lang="en-US"/>
          </a:p>
        </p:txBody>
      </p:sp>
    </p:spTree>
    <p:extLst>
      <p:ext uri="{BB962C8B-B14F-4D97-AF65-F5344CB8AC3E}">
        <p14:creationId xmlns:p14="http://schemas.microsoft.com/office/powerpoint/2010/main" val="86342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CDF6A-4B4B-28EF-85B8-EAACF5CBE4BA}"/>
              </a:ext>
            </a:extLst>
          </p:cNvPr>
          <p:cNvSpPr>
            <a:spLocks noGrp="1"/>
          </p:cNvSpPr>
          <p:nvPr>
            <p:ph idx="1"/>
          </p:nvPr>
        </p:nvSpPr>
        <p:spPr/>
        <p:txBody>
          <a:bodyPr anchor="ctr"/>
          <a:lstStyle/>
          <a:p>
            <a:pPr marL="0" indent="0" algn="ctr">
              <a:buNone/>
            </a:pPr>
            <a:r>
              <a:rPr lang="en-US" b="1" dirty="0">
                <a:hlinkClick r:id="rId3"/>
              </a:rPr>
              <a:t>ASD or OCD</a:t>
            </a:r>
            <a:br>
              <a:rPr lang="en-US" b="1" dirty="0"/>
            </a:br>
            <a:endParaRPr lang="en-US" b="1" dirty="0"/>
          </a:p>
          <a:p>
            <a:pPr marL="0" indent="0" algn="ctr">
              <a:buNone/>
            </a:pPr>
            <a:r>
              <a:rPr lang="en-US" b="1" dirty="0">
                <a:hlinkClick r:id="rId4"/>
              </a:rPr>
              <a:t>Making Art with Circuits</a:t>
            </a:r>
            <a:endParaRPr lang="en-US" b="1" dirty="0"/>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3E3D5B9D-AEE3-31DD-5447-A93E54AE197F}"/>
              </a:ext>
            </a:extLst>
          </p:cNvPr>
          <p:cNvSpPr>
            <a:spLocks noGrp="1"/>
          </p:cNvSpPr>
          <p:nvPr>
            <p:ph type="sldNum" sz="quarter" idx="12"/>
          </p:nvPr>
        </p:nvSpPr>
        <p:spPr/>
        <p:txBody>
          <a:bodyPr/>
          <a:lstStyle/>
          <a:p>
            <a:fld id="{9A3029B7-FE6B-4680-9049-80E8298A0825}" type="slidenum">
              <a:rPr lang="en-US" smtClean="0"/>
              <a:t>3</a:t>
            </a:fld>
            <a:endParaRPr lang="en-US"/>
          </a:p>
        </p:txBody>
      </p:sp>
      <p:sp>
        <p:nvSpPr>
          <p:cNvPr id="5" name="Title 1">
            <a:extLst>
              <a:ext uri="{FF2B5EF4-FFF2-40B4-BE49-F238E27FC236}">
                <a16:creationId xmlns:a16="http://schemas.microsoft.com/office/drawing/2014/main" id="{450F7FC6-B3AC-CD37-6420-65FAB88A3480}"/>
              </a:ext>
            </a:extLst>
          </p:cNvPr>
          <p:cNvSpPr>
            <a:spLocks noGrp="1"/>
          </p:cNvSpPr>
          <p:nvPr>
            <p:ph type="title"/>
          </p:nvPr>
        </p:nvSpPr>
        <p:spPr>
          <a:xfrm>
            <a:off x="866966" y="133186"/>
            <a:ext cx="7886700" cy="652197"/>
          </a:xfrm>
        </p:spPr>
        <p:txBody>
          <a:bodyPr/>
          <a:lstStyle/>
          <a:p>
            <a:r>
              <a:rPr lang="en-US" dirty="0"/>
              <a:t>How to Breadboard…</a:t>
            </a:r>
          </a:p>
        </p:txBody>
      </p:sp>
    </p:spTree>
    <p:extLst>
      <p:ext uri="{BB962C8B-B14F-4D97-AF65-F5344CB8AC3E}">
        <p14:creationId xmlns:p14="http://schemas.microsoft.com/office/powerpoint/2010/main" val="2133447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5CCAA0-08D2-5A21-C7C5-0AA45680C3AF}"/>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2" name="Picture 4" descr="Apollo Guidance Computer - Wikipedia">
            <a:extLst>
              <a:ext uri="{FF2B5EF4-FFF2-40B4-BE49-F238E27FC236}">
                <a16:creationId xmlns:a16="http://schemas.microsoft.com/office/drawing/2014/main" id="{82215F39-C7C1-4783-285D-E8C7EE7AF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84" y="1114372"/>
            <a:ext cx="4618732" cy="316014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FA8B206C-A6CD-6D99-2716-3001053F1D7B}"/>
              </a:ext>
            </a:extLst>
          </p:cNvPr>
          <p:cNvSpPr>
            <a:spLocks noGrp="1"/>
          </p:cNvSpPr>
          <p:nvPr>
            <p:ph type="title"/>
          </p:nvPr>
        </p:nvSpPr>
        <p:spPr>
          <a:xfrm>
            <a:off x="866966" y="133186"/>
            <a:ext cx="7886700" cy="652197"/>
          </a:xfrm>
        </p:spPr>
        <p:txBody>
          <a:bodyPr/>
          <a:lstStyle/>
          <a:p>
            <a:r>
              <a:rPr lang="en-US" dirty="0"/>
              <a:t>What is this?</a:t>
            </a:r>
          </a:p>
        </p:txBody>
      </p:sp>
      <p:pic>
        <p:nvPicPr>
          <p:cNvPr id="6" name="Picture 5">
            <a:extLst>
              <a:ext uri="{FF2B5EF4-FFF2-40B4-BE49-F238E27FC236}">
                <a16:creationId xmlns:a16="http://schemas.microsoft.com/office/drawing/2014/main" id="{F7CC286B-78C7-0384-C5FA-09304BF96561}"/>
              </a:ext>
            </a:extLst>
          </p:cNvPr>
          <p:cNvPicPr>
            <a:picLocks noChangeAspect="1"/>
          </p:cNvPicPr>
          <p:nvPr/>
        </p:nvPicPr>
        <p:blipFill>
          <a:blip r:embed="rId4"/>
          <a:stretch>
            <a:fillRect/>
          </a:stretch>
        </p:blipFill>
        <p:spPr>
          <a:xfrm>
            <a:off x="5253271" y="459284"/>
            <a:ext cx="1786965" cy="3938928"/>
          </a:xfrm>
          <a:prstGeom prst="rect">
            <a:avLst/>
          </a:prstGeom>
        </p:spPr>
      </p:pic>
      <p:sp>
        <p:nvSpPr>
          <p:cNvPr id="8" name="TextBox 7">
            <a:extLst>
              <a:ext uri="{FF2B5EF4-FFF2-40B4-BE49-F238E27FC236}">
                <a16:creationId xmlns:a16="http://schemas.microsoft.com/office/drawing/2014/main" id="{D30DF146-02FF-B78E-19CB-31B731ACA938}"/>
              </a:ext>
            </a:extLst>
          </p:cNvPr>
          <p:cNvSpPr txBox="1"/>
          <p:nvPr/>
        </p:nvSpPr>
        <p:spPr>
          <a:xfrm>
            <a:off x="46364" y="4603505"/>
            <a:ext cx="3500498" cy="2062103"/>
          </a:xfrm>
          <a:prstGeom prst="rect">
            <a:avLst/>
          </a:prstGeom>
          <a:noFill/>
        </p:spPr>
        <p:txBody>
          <a:bodyPr wrap="square">
            <a:spAutoFit/>
          </a:bodyPr>
          <a:lstStyle/>
          <a:p>
            <a:pPr>
              <a:buNone/>
            </a:pPr>
            <a:r>
              <a:rPr lang="en-US" sz="1600" b="1" u="sng" dirty="0"/>
              <a:t>Apollo Guidance Computer</a:t>
            </a:r>
          </a:p>
          <a:p>
            <a:r>
              <a:rPr lang="en-US" sz="1600" b="1" dirty="0"/>
              <a:t>CPU word size:</a:t>
            </a:r>
            <a:r>
              <a:rPr lang="en-US" sz="1600" dirty="0"/>
              <a:t> 15-bit (plus parity)</a:t>
            </a:r>
          </a:p>
          <a:p>
            <a:r>
              <a:rPr lang="en-US" sz="1600" b="1" dirty="0"/>
              <a:t>Clock speed:</a:t>
            </a:r>
            <a:r>
              <a:rPr lang="en-US" sz="1600" dirty="0"/>
              <a:t> ~1.024 MHz</a:t>
            </a:r>
          </a:p>
          <a:p>
            <a:r>
              <a:rPr lang="en-US" sz="1600" b="1" dirty="0"/>
              <a:t>Instruction rate:</a:t>
            </a:r>
            <a:r>
              <a:rPr lang="en-US" sz="1600" dirty="0"/>
              <a:t> ~85,000 </a:t>
            </a:r>
            <a:r>
              <a:rPr lang="en-US" sz="1600" dirty="0" err="1"/>
              <a:t>instr</a:t>
            </a:r>
            <a:r>
              <a:rPr lang="en-US" sz="1600" dirty="0"/>
              <a:t>/sec</a:t>
            </a:r>
          </a:p>
          <a:p>
            <a:r>
              <a:rPr lang="en-US" sz="1600" b="1" dirty="0"/>
              <a:t>RAM:</a:t>
            </a:r>
            <a:r>
              <a:rPr lang="en-US" sz="1600" dirty="0"/>
              <a:t> ~2 KB (erasable core memory)</a:t>
            </a:r>
          </a:p>
          <a:p>
            <a:r>
              <a:rPr lang="en-US" sz="1600" b="1" dirty="0"/>
              <a:t>ROM:</a:t>
            </a:r>
            <a:r>
              <a:rPr lang="en-US" sz="1600" dirty="0"/>
              <a:t> ~36 KB (core rope memory)</a:t>
            </a:r>
          </a:p>
          <a:p>
            <a:r>
              <a:rPr lang="en-US" sz="1600" b="1" dirty="0"/>
              <a:t>Mass:</a:t>
            </a:r>
            <a:r>
              <a:rPr lang="en-US" sz="1600" dirty="0"/>
              <a:t> ~32 kg</a:t>
            </a:r>
          </a:p>
          <a:p>
            <a:r>
              <a:rPr lang="en-US" sz="1600" b="1" dirty="0"/>
              <a:t>Power:</a:t>
            </a:r>
            <a:r>
              <a:rPr lang="en-US" sz="1600" dirty="0"/>
              <a:t> ~55 W</a:t>
            </a:r>
          </a:p>
        </p:txBody>
      </p:sp>
      <p:sp>
        <p:nvSpPr>
          <p:cNvPr id="10" name="TextBox 9">
            <a:extLst>
              <a:ext uri="{FF2B5EF4-FFF2-40B4-BE49-F238E27FC236}">
                <a16:creationId xmlns:a16="http://schemas.microsoft.com/office/drawing/2014/main" id="{C7ED6CBE-C988-800C-D292-307CB01E40E2}"/>
              </a:ext>
            </a:extLst>
          </p:cNvPr>
          <p:cNvSpPr txBox="1"/>
          <p:nvPr/>
        </p:nvSpPr>
        <p:spPr>
          <a:xfrm>
            <a:off x="3352433" y="4588398"/>
            <a:ext cx="3829198" cy="2062103"/>
          </a:xfrm>
          <a:prstGeom prst="rect">
            <a:avLst/>
          </a:prstGeom>
          <a:noFill/>
        </p:spPr>
        <p:txBody>
          <a:bodyPr wrap="square">
            <a:spAutoFit/>
          </a:bodyPr>
          <a:lstStyle/>
          <a:p>
            <a:pPr>
              <a:buNone/>
            </a:pPr>
            <a:r>
              <a:rPr lang="en-US" sz="1600" b="1" u="sng" dirty="0"/>
              <a:t>Modern Smartphone (~2024)</a:t>
            </a:r>
          </a:p>
          <a:p>
            <a:r>
              <a:rPr lang="en-US" sz="1600" b="1" dirty="0"/>
              <a:t>CPU word size:</a:t>
            </a:r>
            <a:r>
              <a:rPr lang="en-US" sz="1600" dirty="0"/>
              <a:t> 64-bit</a:t>
            </a:r>
          </a:p>
          <a:p>
            <a:r>
              <a:rPr lang="en-US" sz="1600" b="1" dirty="0"/>
              <a:t>Clock speed:</a:t>
            </a:r>
            <a:r>
              <a:rPr lang="en-US" sz="1600" dirty="0"/>
              <a:t> 2–3.5 GHz </a:t>
            </a:r>
            <a:r>
              <a:rPr lang="en-US" sz="1200" dirty="0"/>
              <a:t>(multiple cores)</a:t>
            </a:r>
          </a:p>
          <a:p>
            <a:r>
              <a:rPr lang="en-US" sz="1600" b="1" dirty="0"/>
              <a:t>Instruction rate:</a:t>
            </a:r>
            <a:r>
              <a:rPr lang="en-US" sz="1600" dirty="0"/>
              <a:t> ~10¹¹–10¹² </a:t>
            </a:r>
            <a:r>
              <a:rPr lang="en-US" sz="1600" dirty="0" err="1"/>
              <a:t>instr</a:t>
            </a:r>
            <a:r>
              <a:rPr lang="en-US" sz="1600" dirty="0"/>
              <a:t>/sec </a:t>
            </a:r>
            <a:r>
              <a:rPr lang="en-US" sz="1600" b="1" dirty="0"/>
              <a:t>RAM:</a:t>
            </a:r>
            <a:r>
              <a:rPr lang="en-US" sz="1600" dirty="0"/>
              <a:t> 8–16 GB</a:t>
            </a:r>
          </a:p>
          <a:p>
            <a:r>
              <a:rPr lang="en-US" sz="1600" b="1" dirty="0"/>
              <a:t>Storage:</a:t>
            </a:r>
            <a:r>
              <a:rPr lang="en-US" sz="1600" dirty="0"/>
              <a:t> 128 GB–1 TB flash</a:t>
            </a:r>
          </a:p>
          <a:p>
            <a:r>
              <a:rPr lang="en-US" sz="1600" b="1" dirty="0"/>
              <a:t>Mass:</a:t>
            </a:r>
            <a:r>
              <a:rPr lang="en-US" sz="1600" dirty="0"/>
              <a:t> ~200 g</a:t>
            </a:r>
          </a:p>
          <a:p>
            <a:r>
              <a:rPr lang="en-US" sz="1600" b="1" dirty="0"/>
              <a:t>Power:</a:t>
            </a:r>
            <a:r>
              <a:rPr lang="en-US" sz="1600" dirty="0"/>
              <a:t> ~2–6 W (active SoC)</a:t>
            </a:r>
          </a:p>
        </p:txBody>
      </p:sp>
      <p:sp>
        <p:nvSpPr>
          <p:cNvPr id="13" name="TextBox 12">
            <a:extLst>
              <a:ext uri="{FF2B5EF4-FFF2-40B4-BE49-F238E27FC236}">
                <a16:creationId xmlns:a16="http://schemas.microsoft.com/office/drawing/2014/main" id="{24D1CB5E-906F-9120-87CE-17CA37726D44}"/>
              </a:ext>
            </a:extLst>
          </p:cNvPr>
          <p:cNvSpPr txBox="1"/>
          <p:nvPr/>
        </p:nvSpPr>
        <p:spPr>
          <a:xfrm>
            <a:off x="6852931" y="6245456"/>
            <a:ext cx="1987534" cy="584775"/>
          </a:xfrm>
          <a:prstGeom prst="rect">
            <a:avLst/>
          </a:prstGeom>
          <a:noFill/>
        </p:spPr>
        <p:txBody>
          <a:bodyPr wrap="square">
            <a:spAutoFit/>
          </a:bodyPr>
          <a:lstStyle/>
          <a:p>
            <a:pPr algn="ctr"/>
            <a:r>
              <a:rPr lang="en-US" sz="1600" b="1" dirty="0"/>
              <a:t>AGC Core Rope Memory</a:t>
            </a:r>
            <a:endParaRPr lang="en-US" sz="1600" dirty="0"/>
          </a:p>
        </p:txBody>
      </p:sp>
      <p:pic>
        <p:nvPicPr>
          <p:cNvPr id="1028" name="Picture 4" descr="undefined">
            <a:extLst>
              <a:ext uri="{FF2B5EF4-FFF2-40B4-BE49-F238E27FC236}">
                <a16:creationId xmlns:a16="http://schemas.microsoft.com/office/drawing/2014/main" id="{A680C95D-B812-34C1-D072-1908E824D9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6395250" y="3949750"/>
            <a:ext cx="2829804" cy="1887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232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028"/>
                                        </p:tgtEl>
                                        <p:attrNameLst>
                                          <p:attrName>style.visibility</p:attrName>
                                        </p:attrNameLst>
                                      </p:cBhvr>
                                      <p:to>
                                        <p:strVal val="visible"/>
                                      </p:to>
                                    </p:set>
                                    <p:animEffect transition="in" filter="fade">
                                      <p:cBhvr>
                                        <p:cTn id="23"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74445-6B2F-C4C3-8997-B576A628A65D}"/>
              </a:ext>
            </a:extLst>
          </p:cNvPr>
          <p:cNvSpPr>
            <a:spLocks noGrp="1"/>
          </p:cNvSpPr>
          <p:nvPr>
            <p:ph type="title"/>
          </p:nvPr>
        </p:nvSpPr>
        <p:spPr/>
        <p:txBody>
          <a:bodyPr/>
          <a:lstStyle/>
          <a:p>
            <a:r>
              <a:rPr lang="en-US" dirty="0"/>
              <a:t>Embedded Systems Overview</a:t>
            </a:r>
          </a:p>
        </p:txBody>
      </p:sp>
      <p:sp>
        <p:nvSpPr>
          <p:cNvPr id="3" name="Content Placeholder 2">
            <a:extLst>
              <a:ext uri="{FF2B5EF4-FFF2-40B4-BE49-F238E27FC236}">
                <a16:creationId xmlns:a16="http://schemas.microsoft.com/office/drawing/2014/main" id="{077A6258-6FAE-1CC7-BCB5-F4A4EB023340}"/>
              </a:ext>
            </a:extLst>
          </p:cNvPr>
          <p:cNvSpPr>
            <a:spLocks noGrp="1"/>
          </p:cNvSpPr>
          <p:nvPr>
            <p:ph idx="1"/>
          </p:nvPr>
        </p:nvSpPr>
        <p:spPr/>
        <p:txBody>
          <a:bodyPr>
            <a:normAutofit/>
          </a:bodyPr>
          <a:lstStyle/>
          <a:p>
            <a:pPr marL="0" indent="0">
              <a:buNone/>
            </a:pPr>
            <a:r>
              <a:rPr lang="en-US" sz="1600" b="1" dirty="0"/>
              <a:t>Embedded system: a dedicated computing system designed to perform specific, deterministic functions within a larger system, subject to tight constraints on power, timing, mass, and reliability.</a:t>
            </a:r>
          </a:p>
          <a:p>
            <a:pPr marL="0" indent="0">
              <a:buNone/>
            </a:pPr>
            <a:r>
              <a:rPr lang="en-US" sz="1600" dirty="0">
                <a:sym typeface="Wingdings" panose="05000000000000000000" pitchFamily="2" charset="2"/>
              </a:rPr>
              <a:t> </a:t>
            </a:r>
            <a:r>
              <a:rPr lang="en-US" sz="1600" dirty="0"/>
              <a:t>The “nervous system” of a spacecraft—manages commands, data, and coordination between subsystems.</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D3C864AD-8905-844E-9931-A641BC148903}"/>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8" name="Picture 7">
            <a:extLst>
              <a:ext uri="{FF2B5EF4-FFF2-40B4-BE49-F238E27FC236}">
                <a16:creationId xmlns:a16="http://schemas.microsoft.com/office/drawing/2014/main" id="{BE68230E-9E71-F819-D32B-C84082EBEEB1}"/>
              </a:ext>
            </a:extLst>
          </p:cNvPr>
          <p:cNvPicPr>
            <a:picLocks noChangeAspect="1"/>
          </p:cNvPicPr>
          <p:nvPr/>
        </p:nvPicPr>
        <p:blipFill>
          <a:blip r:embed="rId2"/>
          <a:stretch>
            <a:fillRect/>
          </a:stretch>
        </p:blipFill>
        <p:spPr>
          <a:xfrm>
            <a:off x="4747492" y="2326579"/>
            <a:ext cx="2802152" cy="2023000"/>
          </a:xfrm>
          <a:prstGeom prst="rect">
            <a:avLst/>
          </a:prstGeom>
        </p:spPr>
      </p:pic>
      <p:sp>
        <p:nvSpPr>
          <p:cNvPr id="11" name="TextBox 10">
            <a:extLst>
              <a:ext uri="{FF2B5EF4-FFF2-40B4-BE49-F238E27FC236}">
                <a16:creationId xmlns:a16="http://schemas.microsoft.com/office/drawing/2014/main" id="{CB99B0FA-4879-10DD-1F5E-6FEFCAEE2341}"/>
              </a:ext>
            </a:extLst>
          </p:cNvPr>
          <p:cNvSpPr txBox="1"/>
          <p:nvPr/>
        </p:nvSpPr>
        <p:spPr>
          <a:xfrm>
            <a:off x="5524220" y="3850976"/>
            <a:ext cx="3619780" cy="646331"/>
          </a:xfrm>
          <a:prstGeom prst="rect">
            <a:avLst/>
          </a:prstGeom>
          <a:noFill/>
        </p:spPr>
        <p:txBody>
          <a:bodyPr wrap="square">
            <a:spAutoFit/>
          </a:bodyPr>
          <a:lstStyle/>
          <a:p>
            <a:pPr algn="ctr"/>
            <a:r>
              <a:rPr lang="en-US" sz="1800" b="1" dirty="0">
                <a:solidFill>
                  <a:srgbClr val="0070C0"/>
                </a:solidFill>
                <a:latin typeface="Segoe UI" panose="020B0502040204020203" pitchFamily="34" charset="0"/>
                <a:cs typeface="Segoe UI" panose="020B0502040204020203" pitchFamily="34" charset="0"/>
              </a:rPr>
              <a:t>COTS CubeSat </a:t>
            </a:r>
          </a:p>
          <a:p>
            <a:pPr algn="ctr"/>
            <a:r>
              <a:rPr lang="en-US" sz="1800" b="1" dirty="0">
                <a:solidFill>
                  <a:srgbClr val="0070C0"/>
                </a:solidFill>
                <a:latin typeface="Segoe UI" panose="020B0502040204020203" pitchFamily="34" charset="0"/>
                <a:cs typeface="Segoe UI" panose="020B0502040204020203" pitchFamily="34" charset="0"/>
              </a:rPr>
              <a:t>Computer</a:t>
            </a:r>
            <a:endParaRPr lang="en-US" b="1" dirty="0">
              <a:solidFill>
                <a:srgbClr val="0070C0"/>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FFBE5E50-DBA4-FC79-5973-C6546A211973}"/>
              </a:ext>
            </a:extLst>
          </p:cNvPr>
          <p:cNvPicPr>
            <a:picLocks noChangeAspect="1"/>
          </p:cNvPicPr>
          <p:nvPr/>
        </p:nvPicPr>
        <p:blipFill>
          <a:blip r:embed="rId3"/>
          <a:stretch>
            <a:fillRect/>
          </a:stretch>
        </p:blipFill>
        <p:spPr>
          <a:xfrm>
            <a:off x="759388" y="2475600"/>
            <a:ext cx="3038027" cy="2116073"/>
          </a:xfrm>
          <a:prstGeom prst="rect">
            <a:avLst/>
          </a:prstGeom>
        </p:spPr>
      </p:pic>
      <p:sp>
        <p:nvSpPr>
          <p:cNvPr id="13" name="TextBox 12">
            <a:extLst>
              <a:ext uri="{FF2B5EF4-FFF2-40B4-BE49-F238E27FC236}">
                <a16:creationId xmlns:a16="http://schemas.microsoft.com/office/drawing/2014/main" id="{6ED07084-2FA9-86CA-44CF-694A870CDC37}"/>
              </a:ext>
            </a:extLst>
          </p:cNvPr>
          <p:cNvSpPr txBox="1"/>
          <p:nvPr/>
        </p:nvSpPr>
        <p:spPr>
          <a:xfrm>
            <a:off x="573803" y="5055371"/>
            <a:ext cx="4749500" cy="1569660"/>
          </a:xfrm>
          <a:prstGeom prst="rect">
            <a:avLst/>
          </a:prstGeom>
          <a:noFill/>
        </p:spPr>
        <p:txBody>
          <a:bodyPr wrap="square">
            <a:spAutoFit/>
          </a:bodyPr>
          <a:lstStyle/>
          <a:p>
            <a:r>
              <a:rPr lang="en-US" sz="1600" b="1" dirty="0"/>
              <a:t>Characteristics:</a:t>
            </a:r>
            <a:endParaRPr lang="en-US" sz="1600" dirty="0"/>
          </a:p>
          <a:p>
            <a:r>
              <a:rPr lang="en-US" sz="1600" dirty="0"/>
              <a:t>Dedicated function (not general-purpose)</a:t>
            </a:r>
          </a:p>
          <a:p>
            <a:r>
              <a:rPr lang="en-US" sz="1600" dirty="0"/>
              <a:t>Deterministic timing behavior</a:t>
            </a:r>
          </a:p>
          <a:p>
            <a:r>
              <a:rPr lang="en-US" sz="1600" dirty="0"/>
              <a:t>Tight hardware–software coupling</a:t>
            </a:r>
          </a:p>
          <a:p>
            <a:r>
              <a:rPr lang="en-US" sz="1600" dirty="0"/>
              <a:t>Long operational lifetime</a:t>
            </a:r>
          </a:p>
          <a:p>
            <a:r>
              <a:rPr lang="en-US" sz="1600" dirty="0"/>
              <a:t>Often safety- or mission-critical</a:t>
            </a:r>
          </a:p>
        </p:txBody>
      </p:sp>
      <p:sp>
        <p:nvSpPr>
          <p:cNvPr id="15" name="TextBox 14">
            <a:extLst>
              <a:ext uri="{FF2B5EF4-FFF2-40B4-BE49-F238E27FC236}">
                <a16:creationId xmlns:a16="http://schemas.microsoft.com/office/drawing/2014/main" id="{65AEB373-D0C6-5639-B68B-039FB1817138}"/>
              </a:ext>
            </a:extLst>
          </p:cNvPr>
          <p:cNvSpPr txBox="1"/>
          <p:nvPr/>
        </p:nvSpPr>
        <p:spPr>
          <a:xfrm>
            <a:off x="4804937" y="5055371"/>
            <a:ext cx="4760258" cy="1569660"/>
          </a:xfrm>
          <a:prstGeom prst="rect">
            <a:avLst/>
          </a:prstGeom>
          <a:noFill/>
        </p:spPr>
        <p:txBody>
          <a:bodyPr wrap="square">
            <a:spAutoFit/>
          </a:bodyPr>
          <a:lstStyle/>
          <a:p>
            <a:r>
              <a:rPr lang="en-US" sz="1600" b="1" dirty="0"/>
              <a:t>Challenges:</a:t>
            </a:r>
          </a:p>
          <a:p>
            <a:r>
              <a:rPr lang="en-US" sz="1600" dirty="0"/>
              <a:t>No physical access after deployment</a:t>
            </a:r>
          </a:p>
          <a:p>
            <a:r>
              <a:rPr lang="en-US" sz="1600" dirty="0"/>
              <a:t>Severe power and mass limits</a:t>
            </a:r>
          </a:p>
          <a:p>
            <a:r>
              <a:rPr lang="en-US" sz="1600" dirty="0"/>
              <a:t>Harsh radiation and thermal environments</a:t>
            </a:r>
          </a:p>
          <a:p>
            <a:r>
              <a:rPr lang="en-US" sz="1600" dirty="0"/>
              <a:t>Hard real-time control requirements</a:t>
            </a:r>
          </a:p>
          <a:p>
            <a:r>
              <a:rPr lang="en-US" sz="1600" dirty="0"/>
              <a:t>Mission-critical reliability expectations</a:t>
            </a:r>
          </a:p>
        </p:txBody>
      </p:sp>
      <p:sp>
        <p:nvSpPr>
          <p:cNvPr id="17" name="TextBox 16">
            <a:extLst>
              <a:ext uri="{FF2B5EF4-FFF2-40B4-BE49-F238E27FC236}">
                <a16:creationId xmlns:a16="http://schemas.microsoft.com/office/drawing/2014/main" id="{1E5AE65A-76C4-0909-34EF-C5987989CABF}"/>
              </a:ext>
            </a:extLst>
          </p:cNvPr>
          <p:cNvSpPr txBox="1"/>
          <p:nvPr/>
        </p:nvSpPr>
        <p:spPr>
          <a:xfrm>
            <a:off x="0" y="4686039"/>
            <a:ext cx="9144000" cy="369332"/>
          </a:xfrm>
          <a:prstGeom prst="rect">
            <a:avLst/>
          </a:prstGeom>
          <a:solidFill>
            <a:schemeClr val="accent1">
              <a:lumMod val="40000"/>
              <a:lumOff val="60000"/>
            </a:schemeClr>
          </a:solidFill>
        </p:spPr>
        <p:txBody>
          <a:bodyPr wrap="square">
            <a:spAutoFit/>
          </a:bodyPr>
          <a:lstStyle/>
          <a:p>
            <a:pPr algn="ctr"/>
            <a:r>
              <a:rPr lang="en-US" b="1" u="sng" dirty="0"/>
              <a:t>Spacecraft Embedded Systems</a:t>
            </a:r>
          </a:p>
        </p:txBody>
      </p:sp>
    </p:spTree>
    <p:extLst>
      <p:ext uri="{BB962C8B-B14F-4D97-AF65-F5344CB8AC3E}">
        <p14:creationId xmlns:p14="http://schemas.microsoft.com/office/powerpoint/2010/main" val="959544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F955C-E8A4-7043-170F-98830C3E44FA}"/>
              </a:ext>
            </a:extLst>
          </p:cNvPr>
          <p:cNvSpPr>
            <a:spLocks noGrp="1"/>
          </p:cNvSpPr>
          <p:nvPr>
            <p:ph type="title"/>
          </p:nvPr>
        </p:nvSpPr>
        <p:spPr/>
        <p:txBody>
          <a:bodyPr/>
          <a:lstStyle/>
          <a:p>
            <a:r>
              <a:rPr lang="en-US" dirty="0"/>
              <a:t>Computer Components </a:t>
            </a:r>
          </a:p>
        </p:txBody>
      </p:sp>
      <p:sp>
        <p:nvSpPr>
          <p:cNvPr id="3" name="Content Placeholder 2">
            <a:extLst>
              <a:ext uri="{FF2B5EF4-FFF2-40B4-BE49-F238E27FC236}">
                <a16:creationId xmlns:a16="http://schemas.microsoft.com/office/drawing/2014/main" id="{6FB2B18A-C870-FE9D-2AC5-5108773E16B0}"/>
              </a:ext>
            </a:extLst>
          </p:cNvPr>
          <p:cNvSpPr>
            <a:spLocks noGrp="1"/>
          </p:cNvSpPr>
          <p:nvPr>
            <p:ph idx="1"/>
          </p:nvPr>
        </p:nvSpPr>
        <p:spPr>
          <a:xfrm>
            <a:off x="200025" y="1002506"/>
            <a:ext cx="8897611" cy="5227553"/>
          </a:xfrm>
        </p:spPr>
        <p:txBody>
          <a:bodyPr>
            <a:normAutofit fontScale="55000" lnSpcReduction="20000"/>
          </a:bodyPr>
          <a:lstStyle/>
          <a:p>
            <a:pPr marL="0" indent="0">
              <a:buNone/>
            </a:pPr>
            <a:r>
              <a:rPr lang="en-US" sz="3300" b="1" dirty="0"/>
              <a:t>CPU – Central Processing Unit</a:t>
            </a:r>
          </a:p>
          <a:p>
            <a:pPr lvl="1"/>
            <a:r>
              <a:rPr lang="en-US" sz="2900" dirty="0"/>
              <a:t>Where processing occurs</a:t>
            </a:r>
          </a:p>
          <a:p>
            <a:pPr lvl="1"/>
            <a:r>
              <a:rPr lang="en-US" sz="2900" dirty="0"/>
              <a:t>Electronic circuitry that executes instructions, including performing basic arithmetic, logic, controlling, and input/output (I/O) operations </a:t>
            </a:r>
          </a:p>
          <a:p>
            <a:pPr marL="0" indent="0">
              <a:buNone/>
            </a:pPr>
            <a:r>
              <a:rPr lang="en-US" sz="3300" b="1" dirty="0"/>
              <a:t>I/O – input/output devices (AKA GPIO – General Purpose Input/Output)</a:t>
            </a:r>
          </a:p>
          <a:p>
            <a:pPr lvl="1"/>
            <a:r>
              <a:rPr lang="en-US" sz="2900" dirty="0"/>
              <a:t>Allows computer to communicate with other devices</a:t>
            </a:r>
          </a:p>
          <a:p>
            <a:pPr marL="0" indent="0">
              <a:buNone/>
            </a:pPr>
            <a:r>
              <a:rPr lang="en-US" sz="3300" b="1" dirty="0"/>
              <a:t>RAM – Random access memory</a:t>
            </a:r>
          </a:p>
          <a:p>
            <a:pPr lvl="1"/>
            <a:r>
              <a:rPr lang="en-US" sz="2900" dirty="0"/>
              <a:t>Volatile storage: memory that only retains information while computer is powered</a:t>
            </a:r>
          </a:p>
          <a:p>
            <a:pPr lvl="1"/>
            <a:r>
              <a:rPr lang="en-US" sz="2900" dirty="0"/>
              <a:t>Fast: memory device that allows data items to be read or written in almost the same amount of time irrespective of the physical location of data inside the memory</a:t>
            </a:r>
          </a:p>
          <a:p>
            <a:pPr lvl="1"/>
            <a:r>
              <a:rPr lang="en-US" sz="2900" dirty="0"/>
              <a:t>Used to record and store data quickly</a:t>
            </a:r>
          </a:p>
          <a:p>
            <a:pPr marL="0" indent="0">
              <a:buNone/>
            </a:pPr>
            <a:r>
              <a:rPr lang="en-US" sz="3300" b="1" dirty="0"/>
              <a:t>PROM – Programmable read-only memory</a:t>
            </a:r>
          </a:p>
          <a:p>
            <a:pPr lvl="1"/>
            <a:r>
              <a:rPr lang="en-US" sz="2900" dirty="0"/>
              <a:t>Non-volatile storage: memory that retains information when not powered</a:t>
            </a:r>
          </a:p>
          <a:p>
            <a:pPr lvl="1"/>
            <a:r>
              <a:rPr lang="en-US" sz="2900" dirty="0"/>
              <a:t>Permanent: Form of digital memory where the contents can be changed once after manufacture of the device, but once written, the data is then permanent and cannot be changed</a:t>
            </a:r>
          </a:p>
          <a:p>
            <a:pPr lvl="1"/>
            <a:r>
              <a:rPr lang="en-US" sz="2900" dirty="0"/>
              <a:t>Used to store spacecraft software “image” which is like an operating system, which ideally is not changed during the mission</a:t>
            </a:r>
          </a:p>
          <a:p>
            <a:pPr marL="0" indent="0">
              <a:buNone/>
            </a:pPr>
            <a:r>
              <a:rPr lang="en-US" sz="3300" b="1" dirty="0"/>
              <a:t>Flash memory</a:t>
            </a:r>
          </a:p>
          <a:p>
            <a:pPr lvl="1"/>
            <a:r>
              <a:rPr lang="en-US" sz="2900" dirty="0"/>
              <a:t>Non-volatile memory storage that can be electrically erased and reprogrammed</a:t>
            </a:r>
          </a:p>
          <a:p>
            <a:pPr lvl="1"/>
            <a:r>
              <a:rPr lang="en-US" sz="2900" dirty="0"/>
              <a:t>Fast read-access time, mechanically shock-resistant</a:t>
            </a:r>
          </a:p>
          <a:p>
            <a:pPr lvl="1"/>
            <a:r>
              <a:rPr lang="en-US" sz="2900" dirty="0"/>
              <a:t>Can endure only a relatively small number of write cycles for a single block</a:t>
            </a: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B4470CC9-C47F-2245-630E-8E9B19D4E699}"/>
              </a:ext>
            </a:extLst>
          </p:cNvPr>
          <p:cNvSpPr>
            <a:spLocks noGrp="1"/>
          </p:cNvSpPr>
          <p:nvPr>
            <p:ph type="sldNum" sz="quarter" idx="12"/>
          </p:nvPr>
        </p:nvSpPr>
        <p:spPr/>
        <p:txBody>
          <a:bodyPr/>
          <a:lstStyle/>
          <a:p>
            <a:fld id="{9A3029B7-FE6B-4680-9049-80E8298A0825}" type="slidenum">
              <a:rPr lang="en-US" smtClean="0"/>
              <a:t>6</a:t>
            </a:fld>
            <a:endParaRPr lang="en-US"/>
          </a:p>
        </p:txBody>
      </p:sp>
    </p:spTree>
    <p:extLst>
      <p:ext uri="{BB962C8B-B14F-4D97-AF65-F5344CB8AC3E}">
        <p14:creationId xmlns:p14="http://schemas.microsoft.com/office/powerpoint/2010/main" val="317363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animEffect transition="in" filter="fade">
                                      <p:cBhvr>
                                        <p:cTn id="33" dur="500"/>
                                        <p:tgtEl>
                                          <p:spTgt spid="3">
                                            <p:txEl>
                                              <p:pRg st="11" end="11"/>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2" end="12"/>
                                            </p:txEl>
                                          </p:spTgt>
                                        </p:tgtEl>
                                        <p:attrNameLst>
                                          <p:attrName>style.visibility</p:attrName>
                                        </p:attrNameLst>
                                      </p:cBhvr>
                                      <p:to>
                                        <p:strVal val="visible"/>
                                      </p:to>
                                    </p:set>
                                    <p:animEffect transition="in" filter="fade">
                                      <p:cBhvr>
                                        <p:cTn id="36" dur="500"/>
                                        <p:tgtEl>
                                          <p:spTgt spid="3">
                                            <p:txEl>
                                              <p:pRg st="12" end="1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C375A-2051-CEB8-6480-C2E5BB06E2F5}"/>
              </a:ext>
            </a:extLst>
          </p:cNvPr>
          <p:cNvSpPr>
            <a:spLocks noGrp="1"/>
          </p:cNvSpPr>
          <p:nvPr>
            <p:ph type="title"/>
          </p:nvPr>
        </p:nvSpPr>
        <p:spPr/>
        <p:txBody>
          <a:bodyPr/>
          <a:lstStyle/>
          <a:p>
            <a:r>
              <a:rPr lang="en-US" dirty="0"/>
              <a:t>Types of computers</a:t>
            </a:r>
          </a:p>
        </p:txBody>
      </p:sp>
      <p:sp>
        <p:nvSpPr>
          <p:cNvPr id="3" name="Content Placeholder 2">
            <a:extLst>
              <a:ext uri="{FF2B5EF4-FFF2-40B4-BE49-F238E27FC236}">
                <a16:creationId xmlns:a16="http://schemas.microsoft.com/office/drawing/2014/main" id="{A39B16BE-848D-EB64-0D30-3DFAF2AB50FC}"/>
              </a:ext>
            </a:extLst>
          </p:cNvPr>
          <p:cNvSpPr>
            <a:spLocks noGrp="1"/>
          </p:cNvSpPr>
          <p:nvPr>
            <p:ph idx="1"/>
          </p:nvPr>
        </p:nvSpPr>
        <p:spPr>
          <a:xfrm>
            <a:off x="200025" y="1002506"/>
            <a:ext cx="5732145" cy="5855494"/>
          </a:xfrm>
        </p:spPr>
        <p:txBody>
          <a:bodyPr>
            <a:normAutofit fontScale="85000" lnSpcReduction="20000"/>
          </a:bodyPr>
          <a:lstStyle/>
          <a:p>
            <a:pPr marL="0" indent="0">
              <a:buNone/>
            </a:pPr>
            <a:r>
              <a:rPr lang="en-US" b="1" dirty="0">
                <a:solidFill>
                  <a:srgbClr val="FF0000"/>
                </a:solidFill>
              </a:rPr>
              <a:t>Microcontroller (MCU)</a:t>
            </a:r>
          </a:p>
          <a:p>
            <a:pPr lvl="1"/>
            <a:r>
              <a:rPr lang="en-US" sz="2500" dirty="0">
                <a:solidFill>
                  <a:srgbClr val="FF0000"/>
                </a:solidFill>
              </a:rPr>
              <a:t>A single-chip computer that integrates a processor, memory, and peripherals for control-oriented tasks.</a:t>
            </a:r>
          </a:p>
          <a:p>
            <a:pPr lvl="2"/>
            <a:r>
              <a:rPr lang="en-US" sz="2300" dirty="0">
                <a:solidFill>
                  <a:srgbClr val="FF0000"/>
                </a:solidFill>
              </a:rPr>
              <a:t>No or very rudimentary operating system</a:t>
            </a:r>
          </a:p>
          <a:p>
            <a:pPr lvl="2"/>
            <a:r>
              <a:rPr lang="en-US" sz="2300" dirty="0">
                <a:solidFill>
                  <a:srgbClr val="FF0000"/>
                </a:solidFill>
              </a:rPr>
              <a:t>Designed for embedded control of devices, e.g. controlling a reaction wheel motor or reading sensor data.</a:t>
            </a:r>
          </a:p>
          <a:p>
            <a:pPr lvl="2"/>
            <a:r>
              <a:rPr lang="en-US" sz="2300" dirty="0">
                <a:solidFill>
                  <a:srgbClr val="FF0000"/>
                </a:solidFill>
              </a:rPr>
              <a:t>Includes processor core + RAM + Flash + I/O interfaces.</a:t>
            </a:r>
          </a:p>
          <a:p>
            <a:pPr lvl="2"/>
            <a:r>
              <a:rPr lang="en-US" sz="2300" dirty="0">
                <a:solidFill>
                  <a:srgbClr val="FF0000"/>
                </a:solidFill>
              </a:rPr>
              <a:t>Example: Arduino Uno, Raspberry Pi Pico</a:t>
            </a:r>
          </a:p>
          <a:p>
            <a:endParaRPr lang="en-US" dirty="0"/>
          </a:p>
          <a:p>
            <a:pPr marL="0" indent="0">
              <a:buNone/>
            </a:pPr>
            <a:r>
              <a:rPr lang="en-US" b="1" dirty="0">
                <a:solidFill>
                  <a:srgbClr val="0070C0"/>
                </a:solidFill>
              </a:rPr>
              <a:t>Microprocessor (MPU)</a:t>
            </a:r>
          </a:p>
          <a:p>
            <a:pPr lvl="1"/>
            <a:r>
              <a:rPr lang="en-US" dirty="0">
                <a:solidFill>
                  <a:srgbClr val="0070C0"/>
                </a:solidFill>
              </a:rPr>
              <a:t>Computer optimized for high-level processing and flexibility, not necessarily direct hardware control.</a:t>
            </a:r>
          </a:p>
          <a:p>
            <a:pPr lvl="2"/>
            <a:r>
              <a:rPr lang="en-US" dirty="0">
                <a:solidFill>
                  <a:srgbClr val="0070C0"/>
                </a:solidFill>
              </a:rPr>
              <a:t>Has operating system (Windows, Linux, etc.)</a:t>
            </a:r>
          </a:p>
          <a:p>
            <a:pPr lvl="2"/>
            <a:r>
              <a:rPr lang="en-US" dirty="0">
                <a:solidFill>
                  <a:srgbClr val="0070C0"/>
                </a:solidFill>
              </a:rPr>
              <a:t>Example: Onboard computer for payload data processing (e.g., image analysis</a:t>
            </a:r>
          </a:p>
          <a:p>
            <a:endParaRPr lang="en-US" dirty="0"/>
          </a:p>
        </p:txBody>
      </p:sp>
      <p:sp>
        <p:nvSpPr>
          <p:cNvPr id="4" name="Slide Number Placeholder 3">
            <a:extLst>
              <a:ext uri="{FF2B5EF4-FFF2-40B4-BE49-F238E27FC236}">
                <a16:creationId xmlns:a16="http://schemas.microsoft.com/office/drawing/2014/main" id="{F4D4B22E-EB6C-ECCB-FB30-B797E1E7672D}"/>
              </a:ext>
            </a:extLst>
          </p:cNvPr>
          <p:cNvSpPr>
            <a:spLocks noGrp="1"/>
          </p:cNvSpPr>
          <p:nvPr>
            <p:ph type="sldNum" sz="quarter" idx="12"/>
          </p:nvPr>
        </p:nvSpPr>
        <p:spPr/>
        <p:txBody>
          <a:bodyPr/>
          <a:lstStyle/>
          <a:p>
            <a:fld id="{9A3029B7-FE6B-4680-9049-80E8298A0825}" type="slidenum">
              <a:rPr lang="en-US" smtClean="0"/>
              <a:t>7</a:t>
            </a:fld>
            <a:endParaRPr lang="en-US"/>
          </a:p>
        </p:txBody>
      </p:sp>
      <p:pic>
        <p:nvPicPr>
          <p:cNvPr id="8" name="Picture 7">
            <a:extLst>
              <a:ext uri="{FF2B5EF4-FFF2-40B4-BE49-F238E27FC236}">
                <a16:creationId xmlns:a16="http://schemas.microsoft.com/office/drawing/2014/main" id="{473C5AB7-9875-359B-1FD6-A27B97366318}"/>
              </a:ext>
            </a:extLst>
          </p:cNvPr>
          <p:cNvPicPr>
            <a:picLocks noChangeAspect="1"/>
          </p:cNvPicPr>
          <p:nvPr/>
        </p:nvPicPr>
        <p:blipFill>
          <a:blip r:embed="rId2">
            <a:clrChange>
              <a:clrFrom>
                <a:srgbClr val="FFFFFF"/>
              </a:clrFrom>
              <a:clrTo>
                <a:srgbClr val="FFFFFF">
                  <a:alpha val="0"/>
                </a:srgbClr>
              </a:clrTo>
            </a:clrChange>
          </a:blip>
          <a:stretch>
            <a:fillRect/>
          </a:stretch>
        </p:blipFill>
        <p:spPr>
          <a:xfrm rot="372720">
            <a:off x="5872080" y="930177"/>
            <a:ext cx="2336313" cy="1769165"/>
          </a:xfrm>
          <a:prstGeom prst="rect">
            <a:avLst/>
          </a:prstGeom>
        </p:spPr>
      </p:pic>
      <p:pic>
        <p:nvPicPr>
          <p:cNvPr id="9" name="Picture 8">
            <a:extLst>
              <a:ext uri="{FF2B5EF4-FFF2-40B4-BE49-F238E27FC236}">
                <a16:creationId xmlns:a16="http://schemas.microsoft.com/office/drawing/2014/main" id="{30BD5EB4-AE65-CD2D-E09B-48641F6A05CD}"/>
              </a:ext>
            </a:extLst>
          </p:cNvPr>
          <p:cNvPicPr>
            <a:picLocks noChangeAspect="1"/>
          </p:cNvPicPr>
          <p:nvPr/>
        </p:nvPicPr>
        <p:blipFill>
          <a:blip r:embed="rId3"/>
          <a:stretch>
            <a:fillRect/>
          </a:stretch>
        </p:blipFill>
        <p:spPr>
          <a:xfrm>
            <a:off x="5916157" y="4186673"/>
            <a:ext cx="3027818" cy="2278433"/>
          </a:xfrm>
          <a:prstGeom prst="rect">
            <a:avLst/>
          </a:prstGeom>
        </p:spPr>
      </p:pic>
      <p:pic>
        <p:nvPicPr>
          <p:cNvPr id="6" name="Picture 5">
            <a:extLst>
              <a:ext uri="{FF2B5EF4-FFF2-40B4-BE49-F238E27FC236}">
                <a16:creationId xmlns:a16="http://schemas.microsoft.com/office/drawing/2014/main" id="{7940513F-FFF6-59DD-AECB-50A046DAFA53}"/>
              </a:ext>
            </a:extLst>
          </p:cNvPr>
          <p:cNvPicPr>
            <a:picLocks noChangeAspect="1"/>
          </p:cNvPicPr>
          <p:nvPr/>
        </p:nvPicPr>
        <p:blipFill>
          <a:blip r:embed="rId4">
            <a:clrChange>
              <a:clrFrom>
                <a:srgbClr val="FFFFFF"/>
              </a:clrFrom>
              <a:clrTo>
                <a:srgbClr val="FFFFFF">
                  <a:alpha val="0"/>
                </a:srgbClr>
              </a:clrTo>
            </a:clrChange>
          </a:blip>
          <a:stretch>
            <a:fillRect/>
          </a:stretch>
        </p:blipFill>
        <p:spPr>
          <a:xfrm rot="1127048">
            <a:off x="6249767" y="1608664"/>
            <a:ext cx="2564707" cy="2470944"/>
          </a:xfrm>
          <a:prstGeom prst="rect">
            <a:avLst/>
          </a:prstGeom>
        </p:spPr>
      </p:pic>
    </p:spTree>
    <p:extLst>
      <p:ext uri="{BB962C8B-B14F-4D97-AF65-F5344CB8AC3E}">
        <p14:creationId xmlns:p14="http://schemas.microsoft.com/office/powerpoint/2010/main" val="3585430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3DD3E-1CE8-BBFB-7D4F-DEA996F5C136}"/>
              </a:ext>
            </a:extLst>
          </p:cNvPr>
          <p:cNvSpPr>
            <a:spLocks noGrp="1"/>
          </p:cNvSpPr>
          <p:nvPr>
            <p:ph type="title"/>
          </p:nvPr>
        </p:nvSpPr>
        <p:spPr/>
        <p:txBody>
          <a:bodyPr/>
          <a:lstStyle/>
          <a:p>
            <a:r>
              <a:rPr lang="en-US" dirty="0"/>
              <a:t>FPGA’s</a:t>
            </a:r>
          </a:p>
        </p:txBody>
      </p:sp>
      <p:sp>
        <p:nvSpPr>
          <p:cNvPr id="3" name="Content Placeholder 2">
            <a:extLst>
              <a:ext uri="{FF2B5EF4-FFF2-40B4-BE49-F238E27FC236}">
                <a16:creationId xmlns:a16="http://schemas.microsoft.com/office/drawing/2014/main" id="{21D42616-5305-11A7-4C6B-0C1A3B5A8AA8}"/>
              </a:ext>
            </a:extLst>
          </p:cNvPr>
          <p:cNvSpPr>
            <a:spLocks noGrp="1"/>
          </p:cNvSpPr>
          <p:nvPr>
            <p:ph idx="1"/>
          </p:nvPr>
        </p:nvSpPr>
        <p:spPr/>
        <p:txBody>
          <a:bodyPr/>
          <a:lstStyle/>
          <a:p>
            <a:r>
              <a:rPr lang="en-US" b="1" dirty="0"/>
              <a:t>Field-Programmable Gate Array (FPGA)</a:t>
            </a:r>
          </a:p>
          <a:p>
            <a:pPr lvl="1"/>
            <a:r>
              <a:rPr lang="en-US" dirty="0"/>
              <a:t>An integrated circuit that can be configured after manufacturing to implement custom digital logic circuits.</a:t>
            </a:r>
          </a:p>
          <a:p>
            <a:pPr lvl="2"/>
            <a:r>
              <a:rPr lang="en-US" dirty="0"/>
              <a:t>Key trait: Hardware reconfigurability—can perform massively parallel tasks.</a:t>
            </a:r>
          </a:p>
          <a:p>
            <a:pPr lvl="2"/>
            <a:r>
              <a:rPr lang="en-US" dirty="0"/>
              <a:t>Example: Real-time high-speed signal processing for radar or communications.</a:t>
            </a:r>
          </a:p>
          <a:p>
            <a:pPr lvl="2"/>
            <a:r>
              <a:rPr lang="en-US" dirty="0"/>
              <a:t>Contains: Arrays of configurable logic blocks (CLBs), programmable interconnects, and sometimes embedded processors.</a:t>
            </a:r>
          </a:p>
          <a:p>
            <a:endParaRPr lang="en-US" dirty="0"/>
          </a:p>
        </p:txBody>
      </p:sp>
      <p:sp>
        <p:nvSpPr>
          <p:cNvPr id="4" name="Slide Number Placeholder 3">
            <a:extLst>
              <a:ext uri="{FF2B5EF4-FFF2-40B4-BE49-F238E27FC236}">
                <a16:creationId xmlns:a16="http://schemas.microsoft.com/office/drawing/2014/main" id="{75D6DBD4-8BBC-F0BF-2060-35E44E8D3FE4}"/>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5124" name="Picture 4" descr="Enginursday: A New Approach to FPGAs! - News - SparkFun Electronics">
            <a:extLst>
              <a:ext uri="{FF2B5EF4-FFF2-40B4-BE49-F238E27FC236}">
                <a16:creationId xmlns:a16="http://schemas.microsoft.com/office/drawing/2014/main" id="{6AEE13BE-5E79-8EB8-E278-E84A05D6319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45093" y="4000500"/>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4297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6A9CB-3270-DA95-D109-028BAD6231CB}"/>
              </a:ext>
            </a:extLst>
          </p:cNvPr>
          <p:cNvSpPr>
            <a:spLocks noGrp="1"/>
          </p:cNvSpPr>
          <p:nvPr>
            <p:ph type="title"/>
          </p:nvPr>
        </p:nvSpPr>
        <p:spPr/>
        <p:txBody>
          <a:bodyPr/>
          <a:lstStyle/>
          <a:p>
            <a:r>
              <a:rPr lang="en-US" dirty="0"/>
              <a:t>Comparison of MCU’s and MPU’s</a:t>
            </a:r>
          </a:p>
        </p:txBody>
      </p:sp>
      <p:graphicFrame>
        <p:nvGraphicFramePr>
          <p:cNvPr id="5" name="Content Placeholder 4">
            <a:extLst>
              <a:ext uri="{FF2B5EF4-FFF2-40B4-BE49-F238E27FC236}">
                <a16:creationId xmlns:a16="http://schemas.microsoft.com/office/drawing/2014/main" id="{EB5ADE0D-C7CA-8E85-3239-3A61859C3FEB}"/>
              </a:ext>
            </a:extLst>
          </p:cNvPr>
          <p:cNvGraphicFramePr>
            <a:graphicFrameLocks noGrp="1"/>
          </p:cNvGraphicFramePr>
          <p:nvPr>
            <p:ph idx="1"/>
            <p:extLst>
              <p:ext uri="{D42A27DB-BD31-4B8C-83A1-F6EECF244321}">
                <p14:modId xmlns:p14="http://schemas.microsoft.com/office/powerpoint/2010/main" val="2259971767"/>
              </p:ext>
            </p:extLst>
          </p:nvPr>
        </p:nvGraphicFramePr>
        <p:xfrm>
          <a:off x="280578" y="1102481"/>
          <a:ext cx="8582844" cy="5444038"/>
        </p:xfrm>
        <a:graphic>
          <a:graphicData uri="http://schemas.openxmlformats.org/drawingml/2006/table">
            <a:tbl>
              <a:tblPr/>
              <a:tblGrid>
                <a:gridCol w="2860948">
                  <a:extLst>
                    <a:ext uri="{9D8B030D-6E8A-4147-A177-3AD203B41FA5}">
                      <a16:colId xmlns:a16="http://schemas.microsoft.com/office/drawing/2014/main" val="1039108234"/>
                    </a:ext>
                  </a:extLst>
                </a:gridCol>
                <a:gridCol w="2860948">
                  <a:extLst>
                    <a:ext uri="{9D8B030D-6E8A-4147-A177-3AD203B41FA5}">
                      <a16:colId xmlns:a16="http://schemas.microsoft.com/office/drawing/2014/main" val="1145080089"/>
                    </a:ext>
                  </a:extLst>
                </a:gridCol>
                <a:gridCol w="2860948">
                  <a:extLst>
                    <a:ext uri="{9D8B030D-6E8A-4147-A177-3AD203B41FA5}">
                      <a16:colId xmlns:a16="http://schemas.microsoft.com/office/drawing/2014/main" val="4071200250"/>
                    </a:ext>
                  </a:extLst>
                </a:gridCol>
              </a:tblGrid>
              <a:tr h="357209">
                <a:tc>
                  <a:txBody>
                    <a:bodyPr/>
                    <a:lstStyle/>
                    <a:p>
                      <a:pPr>
                        <a:buNone/>
                      </a:pPr>
                      <a:r>
                        <a:rPr lang="en-US" sz="1600" b="1" dirty="0"/>
                        <a:t>Feature / Device</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sz="1600" b="1" dirty="0">
                          <a:solidFill>
                            <a:srgbClr val="FF0000"/>
                          </a:solidFill>
                        </a:rPr>
                        <a:t>Microcontroller (MCU)</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sz="1600" b="1" dirty="0">
                          <a:solidFill>
                            <a:srgbClr val="0070C0"/>
                          </a:solidFill>
                        </a:rPr>
                        <a:t>Microprocessor (MPU)</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088824507"/>
                  </a:ext>
                </a:extLst>
              </a:tr>
              <a:tr h="816478">
                <a:tc>
                  <a:txBody>
                    <a:bodyPr/>
                    <a:lstStyle/>
                    <a:p>
                      <a:pPr>
                        <a:buNone/>
                      </a:pPr>
                      <a:r>
                        <a:rPr lang="en-US" sz="1600" b="1" dirty="0"/>
                        <a:t>Description</a:t>
                      </a:r>
                      <a:endParaRPr lang="en-US" sz="1600" dirty="0"/>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FF0000"/>
                          </a:solidFill>
                        </a:rPr>
                        <a:t>Single-chip computer with CPU, memory, and peripherals integrated.</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0070C0"/>
                          </a:solidFill>
                        </a:rPr>
                        <a:t>General-purpose CPU chip; needs external memory &amp; peripherals.</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415237"/>
                  </a:ext>
                </a:extLst>
              </a:tr>
              <a:tr h="816478">
                <a:tc>
                  <a:txBody>
                    <a:bodyPr/>
                    <a:lstStyle/>
                    <a:p>
                      <a:pPr>
                        <a:buNone/>
                      </a:pPr>
                      <a:r>
                        <a:rPr lang="en-US" sz="1600" b="1"/>
                        <a:t>Main Role</a:t>
                      </a:r>
                      <a:endParaRPr lang="en-US" sz="1600"/>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FF0000"/>
                          </a:solidFill>
                        </a:rPr>
                        <a:t>Device control, simple data processing, direct hardware interfacing.</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0070C0"/>
                          </a:solidFill>
                        </a:rPr>
                        <a:t>Complex computations, operating systems, data processing.</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9544032"/>
                  </a:ext>
                </a:extLst>
              </a:tr>
              <a:tr h="663389">
                <a:tc>
                  <a:txBody>
                    <a:bodyPr/>
                    <a:lstStyle/>
                    <a:p>
                      <a:pPr>
                        <a:buNone/>
                      </a:pPr>
                      <a:r>
                        <a:rPr lang="en-US" sz="1600" b="1"/>
                        <a:t>Integration</a:t>
                      </a:r>
                      <a:endParaRPr lang="en-US" sz="1600"/>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FF0000"/>
                          </a:solidFill>
                        </a:rPr>
                        <a:t>CPU + RAM + Flash + I/O all on-chip.</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0070C0"/>
                          </a:solidFill>
                        </a:rPr>
                        <a:t>CPU only; memory &amp; I/O are external.</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5798290"/>
                  </a:ext>
                </a:extLst>
              </a:tr>
              <a:tr h="510299">
                <a:tc>
                  <a:txBody>
                    <a:bodyPr/>
                    <a:lstStyle/>
                    <a:p>
                      <a:pPr>
                        <a:buNone/>
                      </a:pPr>
                      <a:r>
                        <a:rPr lang="en-US" sz="1600" b="1"/>
                        <a:t>Performance</a:t>
                      </a:r>
                      <a:endParaRPr lang="en-US" sz="1600"/>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FF0000"/>
                          </a:solidFill>
                        </a:rPr>
                        <a:t>Moderate speed, optimized for low power.</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0070C0"/>
                          </a:solidFill>
                        </a:rPr>
                        <a:t>High performance for sequential tasks.</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5543091"/>
                  </a:ext>
                </a:extLst>
              </a:tr>
              <a:tr h="357209">
                <a:tc>
                  <a:txBody>
                    <a:bodyPr/>
                    <a:lstStyle/>
                    <a:p>
                      <a:pPr>
                        <a:buNone/>
                      </a:pPr>
                      <a:r>
                        <a:rPr lang="en-US" sz="1600" b="1"/>
                        <a:t>Flexibility</a:t>
                      </a:r>
                      <a:endParaRPr lang="en-US" sz="1600"/>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FF0000"/>
                          </a:solidFill>
                        </a:rPr>
                        <a:t>Fixed hardware &amp; peripherals.</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0070C0"/>
                          </a:solidFill>
                        </a:rPr>
                        <a:t>Flexible software, fixed hardware.</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8731057"/>
                  </a:ext>
                </a:extLst>
              </a:tr>
              <a:tr h="510299">
                <a:tc>
                  <a:txBody>
                    <a:bodyPr/>
                    <a:lstStyle/>
                    <a:p>
                      <a:pPr>
                        <a:buNone/>
                      </a:pPr>
                      <a:r>
                        <a:rPr lang="en-US" sz="1600" b="1"/>
                        <a:t>Spacecraft Example</a:t>
                      </a:r>
                      <a:endParaRPr lang="en-US" sz="1600"/>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FF0000"/>
                          </a:solidFill>
                        </a:rPr>
                        <a:t>Reading sensors, controlling motors.</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0070C0"/>
                          </a:solidFill>
                        </a:rPr>
                        <a:t>Onboard computer for image compression.</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9334805"/>
                  </a:ext>
                </a:extLst>
              </a:tr>
              <a:tr h="663389">
                <a:tc>
                  <a:txBody>
                    <a:bodyPr/>
                    <a:lstStyle/>
                    <a:p>
                      <a:pPr>
                        <a:buNone/>
                      </a:pPr>
                      <a:r>
                        <a:rPr lang="en-US" sz="1600" b="1"/>
                        <a:t>Radiation Tolerance</a:t>
                      </a:r>
                      <a:endParaRPr lang="en-US" sz="1600"/>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FF0000"/>
                          </a:solidFill>
                        </a:rPr>
                        <a:t>Available in rad-tolerant versions.</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0070C0"/>
                          </a:solidFill>
                        </a:rPr>
                        <a:t>Available in rad-tolerant versions.</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5007923"/>
                  </a:ext>
                </a:extLst>
              </a:tr>
              <a:tr h="510299">
                <a:tc>
                  <a:txBody>
                    <a:bodyPr/>
                    <a:lstStyle/>
                    <a:p>
                      <a:pPr>
                        <a:buNone/>
                      </a:pPr>
                      <a:r>
                        <a:rPr lang="en-US" sz="1600" b="1"/>
                        <a:t>Power Consumption</a:t>
                      </a:r>
                      <a:endParaRPr lang="en-US" sz="1600"/>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FF0000"/>
                          </a:solidFill>
                        </a:rPr>
                        <a:t>Low.</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solidFill>
                            <a:srgbClr val="0070C0"/>
                          </a:solidFill>
                        </a:rPr>
                        <a:t>Medium to high.</a:t>
                      </a:r>
                    </a:p>
                  </a:txBody>
                  <a:tcPr marL="51251" marR="51251" marT="25626" marB="256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554298"/>
                  </a:ext>
                </a:extLst>
              </a:tr>
            </a:tbl>
          </a:graphicData>
        </a:graphic>
      </p:graphicFrame>
      <p:sp>
        <p:nvSpPr>
          <p:cNvPr id="4" name="Slide Number Placeholder 3">
            <a:extLst>
              <a:ext uri="{FF2B5EF4-FFF2-40B4-BE49-F238E27FC236}">
                <a16:creationId xmlns:a16="http://schemas.microsoft.com/office/drawing/2014/main" id="{57D80F10-F89C-045C-A4A4-C3F0E0F10526}"/>
              </a:ext>
            </a:extLst>
          </p:cNvPr>
          <p:cNvSpPr>
            <a:spLocks noGrp="1"/>
          </p:cNvSpPr>
          <p:nvPr>
            <p:ph type="sldNum" sz="quarter" idx="12"/>
          </p:nvPr>
        </p:nvSpPr>
        <p:spPr/>
        <p:txBody>
          <a:bodyPr/>
          <a:lstStyle/>
          <a:p>
            <a:fld id="{9A3029B7-FE6B-4680-9049-80E8298A0825}" type="slidenum">
              <a:rPr lang="en-US" smtClean="0"/>
              <a:t>9</a:t>
            </a:fld>
            <a:endParaRPr lang="en-US"/>
          </a:p>
        </p:txBody>
      </p:sp>
    </p:spTree>
    <p:extLst>
      <p:ext uri="{BB962C8B-B14F-4D97-AF65-F5344CB8AC3E}">
        <p14:creationId xmlns:p14="http://schemas.microsoft.com/office/powerpoint/2010/main" val="2346472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 name="Straight Connector 64">
            <a:extLst>
              <a:ext uri="{FF2B5EF4-FFF2-40B4-BE49-F238E27FC236}">
                <a16:creationId xmlns:a16="http://schemas.microsoft.com/office/drawing/2014/main" id="{4DC9762B-A404-C406-3C93-1E827B962E69}"/>
              </a:ext>
            </a:extLst>
          </p:cNvPr>
          <p:cNvCxnSpPr>
            <a:cxnSpLocks/>
            <a:stCxn id="5" idx="2"/>
            <a:endCxn id="7" idx="0"/>
          </p:cNvCxnSpPr>
          <p:nvPr/>
        </p:nvCxnSpPr>
        <p:spPr>
          <a:xfrm flipH="1">
            <a:off x="2558235" y="4135002"/>
            <a:ext cx="1474251" cy="15392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91192465-D2B6-462A-292B-857857DCC8B7}"/>
              </a:ext>
            </a:extLst>
          </p:cNvPr>
          <p:cNvSpPr>
            <a:spLocks noGrp="1"/>
          </p:cNvSpPr>
          <p:nvPr>
            <p:ph type="title"/>
          </p:nvPr>
        </p:nvSpPr>
        <p:spPr/>
        <p:txBody>
          <a:bodyPr/>
          <a:lstStyle/>
          <a:p>
            <a:r>
              <a:rPr lang="en-US" dirty="0"/>
              <a:t>Example Embedded Systems Architecture</a:t>
            </a:r>
          </a:p>
        </p:txBody>
      </p:sp>
      <p:sp>
        <p:nvSpPr>
          <p:cNvPr id="4" name="Slide Number Placeholder 3">
            <a:extLst>
              <a:ext uri="{FF2B5EF4-FFF2-40B4-BE49-F238E27FC236}">
                <a16:creationId xmlns:a16="http://schemas.microsoft.com/office/drawing/2014/main" id="{D0D5A4B9-127A-4FA2-DE8E-96DBA04DC5AD}"/>
              </a:ext>
            </a:extLst>
          </p:cNvPr>
          <p:cNvSpPr>
            <a:spLocks noGrp="1"/>
          </p:cNvSpPr>
          <p:nvPr>
            <p:ph type="sldNum" sz="quarter" idx="12"/>
          </p:nvPr>
        </p:nvSpPr>
        <p:spPr>
          <a:xfrm>
            <a:off x="7287662" y="6623333"/>
            <a:ext cx="2057400" cy="365125"/>
          </a:xfrm>
        </p:spPr>
        <p:txBody>
          <a:bodyPr/>
          <a:lstStyle/>
          <a:p>
            <a:fld id="{9A3029B7-FE6B-4680-9049-80E8298A0825}" type="slidenum">
              <a:rPr lang="en-US" smtClean="0"/>
              <a:t>10</a:t>
            </a:fld>
            <a:endParaRPr lang="en-US"/>
          </a:p>
        </p:txBody>
      </p:sp>
      <p:sp>
        <p:nvSpPr>
          <p:cNvPr id="5" name="Rectangle: Rounded Corners 4">
            <a:extLst>
              <a:ext uri="{FF2B5EF4-FFF2-40B4-BE49-F238E27FC236}">
                <a16:creationId xmlns:a16="http://schemas.microsoft.com/office/drawing/2014/main" id="{202625A1-15DC-6D72-D6BD-F2ECD6D5A534}"/>
              </a:ext>
            </a:extLst>
          </p:cNvPr>
          <p:cNvSpPr/>
          <p:nvPr/>
        </p:nvSpPr>
        <p:spPr>
          <a:xfrm>
            <a:off x="3413921" y="3390035"/>
            <a:ext cx="1237130" cy="7449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MCU</a:t>
            </a:r>
          </a:p>
        </p:txBody>
      </p:sp>
      <p:sp>
        <p:nvSpPr>
          <p:cNvPr id="6" name="Rectangle: Rounded Corners 5">
            <a:extLst>
              <a:ext uri="{FF2B5EF4-FFF2-40B4-BE49-F238E27FC236}">
                <a16:creationId xmlns:a16="http://schemas.microsoft.com/office/drawing/2014/main" id="{2E14ED04-4218-0C03-FF80-15099092C67B}"/>
              </a:ext>
            </a:extLst>
          </p:cNvPr>
          <p:cNvSpPr/>
          <p:nvPr/>
        </p:nvSpPr>
        <p:spPr>
          <a:xfrm>
            <a:off x="3560722" y="5674290"/>
            <a:ext cx="1237130" cy="744967"/>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Sensor - IMU</a:t>
            </a:r>
          </a:p>
        </p:txBody>
      </p:sp>
      <p:sp>
        <p:nvSpPr>
          <p:cNvPr id="7" name="Rectangle: Rounded Corners 6">
            <a:extLst>
              <a:ext uri="{FF2B5EF4-FFF2-40B4-BE49-F238E27FC236}">
                <a16:creationId xmlns:a16="http://schemas.microsoft.com/office/drawing/2014/main" id="{C1F2222A-5C43-9E6F-EE9F-5A2646B2ED44}"/>
              </a:ext>
            </a:extLst>
          </p:cNvPr>
          <p:cNvSpPr/>
          <p:nvPr/>
        </p:nvSpPr>
        <p:spPr>
          <a:xfrm>
            <a:off x="1818646" y="5674291"/>
            <a:ext cx="1479177" cy="744967"/>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Sensor – Sun Sensor</a:t>
            </a:r>
          </a:p>
        </p:txBody>
      </p:sp>
      <p:sp>
        <p:nvSpPr>
          <p:cNvPr id="8" name="Rectangle: Rounded Corners 7">
            <a:extLst>
              <a:ext uri="{FF2B5EF4-FFF2-40B4-BE49-F238E27FC236}">
                <a16:creationId xmlns:a16="http://schemas.microsoft.com/office/drawing/2014/main" id="{7D3DDA38-1ED3-ED47-F77A-E49DB577217B}"/>
              </a:ext>
            </a:extLst>
          </p:cNvPr>
          <p:cNvSpPr/>
          <p:nvPr/>
        </p:nvSpPr>
        <p:spPr>
          <a:xfrm>
            <a:off x="7399996" y="4411787"/>
            <a:ext cx="1601096" cy="12985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Actuator – Reaction Wheel Motor Driver</a:t>
            </a:r>
          </a:p>
        </p:txBody>
      </p:sp>
      <p:sp>
        <p:nvSpPr>
          <p:cNvPr id="9" name="Rectangle: Rounded Corners 8">
            <a:extLst>
              <a:ext uri="{FF2B5EF4-FFF2-40B4-BE49-F238E27FC236}">
                <a16:creationId xmlns:a16="http://schemas.microsoft.com/office/drawing/2014/main" id="{F9968EC2-C134-9F7D-EB33-8507228F0488}"/>
              </a:ext>
            </a:extLst>
          </p:cNvPr>
          <p:cNvSpPr/>
          <p:nvPr/>
        </p:nvSpPr>
        <p:spPr>
          <a:xfrm>
            <a:off x="537572" y="4532161"/>
            <a:ext cx="1237130" cy="744967"/>
          </a:xfrm>
          <a:prstGeom prst="roundRect">
            <a:avLst/>
          </a:prstGeom>
          <a:solidFill>
            <a:srgbClr val="FF0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Power</a:t>
            </a:r>
          </a:p>
        </p:txBody>
      </p:sp>
      <p:sp>
        <p:nvSpPr>
          <p:cNvPr id="11" name="Rectangle: Rounded Corners 10">
            <a:extLst>
              <a:ext uri="{FF2B5EF4-FFF2-40B4-BE49-F238E27FC236}">
                <a16:creationId xmlns:a16="http://schemas.microsoft.com/office/drawing/2014/main" id="{D445F4AF-7C5D-C1D2-8BC2-8FA9049A29B0}"/>
              </a:ext>
            </a:extLst>
          </p:cNvPr>
          <p:cNvSpPr/>
          <p:nvPr/>
        </p:nvSpPr>
        <p:spPr>
          <a:xfrm>
            <a:off x="1949210" y="1782120"/>
            <a:ext cx="1824571" cy="98366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 – Nonvolatile (flash)</a:t>
            </a:r>
          </a:p>
        </p:txBody>
      </p:sp>
      <p:sp>
        <p:nvSpPr>
          <p:cNvPr id="13" name="Rectangle: Rounded Corners 12">
            <a:extLst>
              <a:ext uri="{FF2B5EF4-FFF2-40B4-BE49-F238E27FC236}">
                <a16:creationId xmlns:a16="http://schemas.microsoft.com/office/drawing/2014/main" id="{FC55F5A2-94AD-441F-7E07-86A53F41E806}"/>
              </a:ext>
            </a:extLst>
          </p:cNvPr>
          <p:cNvSpPr/>
          <p:nvPr/>
        </p:nvSpPr>
        <p:spPr>
          <a:xfrm>
            <a:off x="4549895" y="1891064"/>
            <a:ext cx="1824571" cy="78603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 – Volatile (RAM)</a:t>
            </a:r>
          </a:p>
        </p:txBody>
      </p:sp>
      <p:sp>
        <p:nvSpPr>
          <p:cNvPr id="14" name="Rectangle: Rounded Corners 13">
            <a:extLst>
              <a:ext uri="{FF2B5EF4-FFF2-40B4-BE49-F238E27FC236}">
                <a16:creationId xmlns:a16="http://schemas.microsoft.com/office/drawing/2014/main" id="{2D64BD24-C42E-FFBF-2353-E49D276C0F5C}"/>
              </a:ext>
            </a:extLst>
          </p:cNvPr>
          <p:cNvSpPr/>
          <p:nvPr/>
        </p:nvSpPr>
        <p:spPr>
          <a:xfrm>
            <a:off x="5245489" y="5674289"/>
            <a:ext cx="1824571" cy="744967"/>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Sensor – Voltage/current</a:t>
            </a:r>
          </a:p>
        </p:txBody>
      </p:sp>
      <p:sp>
        <p:nvSpPr>
          <p:cNvPr id="15" name="Rectangle: Rounded Corners 14">
            <a:extLst>
              <a:ext uri="{FF2B5EF4-FFF2-40B4-BE49-F238E27FC236}">
                <a16:creationId xmlns:a16="http://schemas.microsoft.com/office/drawing/2014/main" id="{B604CD2C-81A2-7BC0-786D-5508217E4B25}"/>
              </a:ext>
            </a:extLst>
          </p:cNvPr>
          <p:cNvSpPr/>
          <p:nvPr/>
        </p:nvSpPr>
        <p:spPr>
          <a:xfrm>
            <a:off x="6504132" y="3141338"/>
            <a:ext cx="1601097" cy="1050963"/>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 – </a:t>
            </a:r>
            <a:r>
              <a:rPr lang="en-US" dirty="0" err="1"/>
              <a:t>Xbee</a:t>
            </a:r>
            <a:r>
              <a:rPr lang="en-US" dirty="0"/>
              <a:t> Transceiver</a:t>
            </a:r>
          </a:p>
        </p:txBody>
      </p:sp>
      <p:cxnSp>
        <p:nvCxnSpPr>
          <p:cNvPr id="18" name="Straight Connector 17">
            <a:extLst>
              <a:ext uri="{FF2B5EF4-FFF2-40B4-BE49-F238E27FC236}">
                <a16:creationId xmlns:a16="http://schemas.microsoft.com/office/drawing/2014/main" id="{73DE36D4-C4B3-2439-1D9B-A50D1C5A45C6}"/>
              </a:ext>
            </a:extLst>
          </p:cNvPr>
          <p:cNvCxnSpPr>
            <a:cxnSpLocks/>
            <a:stCxn id="9" idx="3"/>
            <a:endCxn id="7" idx="0"/>
          </p:cNvCxnSpPr>
          <p:nvPr/>
        </p:nvCxnSpPr>
        <p:spPr>
          <a:xfrm>
            <a:off x="1774702" y="4904645"/>
            <a:ext cx="783533" cy="7696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D71B96E-B012-C278-AB14-5974EA1C933E}"/>
              </a:ext>
            </a:extLst>
          </p:cNvPr>
          <p:cNvCxnSpPr>
            <a:cxnSpLocks/>
            <a:stCxn id="9" idx="3"/>
            <a:endCxn id="14" idx="0"/>
          </p:cNvCxnSpPr>
          <p:nvPr/>
        </p:nvCxnSpPr>
        <p:spPr>
          <a:xfrm>
            <a:off x="1774702" y="4904645"/>
            <a:ext cx="4383073" cy="7696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79D3A99-29AF-8F7F-731A-2978EC00B084}"/>
              </a:ext>
            </a:extLst>
          </p:cNvPr>
          <p:cNvCxnSpPr>
            <a:cxnSpLocks/>
            <a:stCxn id="9" idx="3"/>
            <a:endCxn id="8" idx="1"/>
          </p:cNvCxnSpPr>
          <p:nvPr/>
        </p:nvCxnSpPr>
        <p:spPr>
          <a:xfrm>
            <a:off x="1774702" y="4904645"/>
            <a:ext cx="5625294" cy="1564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ECB0E21A-088A-3965-7140-396C6CE16AE3}"/>
              </a:ext>
            </a:extLst>
          </p:cNvPr>
          <p:cNvCxnSpPr>
            <a:cxnSpLocks/>
            <a:stCxn id="9" idx="3"/>
            <a:endCxn id="15" idx="1"/>
          </p:cNvCxnSpPr>
          <p:nvPr/>
        </p:nvCxnSpPr>
        <p:spPr>
          <a:xfrm flipV="1">
            <a:off x="1774702" y="3666820"/>
            <a:ext cx="4729430" cy="123782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1734DDA-6024-6E7F-9380-8EBC0AFD2DD3}"/>
              </a:ext>
            </a:extLst>
          </p:cNvPr>
          <p:cNvCxnSpPr>
            <a:cxnSpLocks/>
            <a:stCxn id="9" idx="3"/>
            <a:endCxn id="6" idx="0"/>
          </p:cNvCxnSpPr>
          <p:nvPr/>
        </p:nvCxnSpPr>
        <p:spPr>
          <a:xfrm>
            <a:off x="1774702" y="4904645"/>
            <a:ext cx="2404585" cy="76964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0C62EF3-3407-7433-4649-3EEAF7D17D6D}"/>
              </a:ext>
            </a:extLst>
          </p:cNvPr>
          <p:cNvCxnSpPr>
            <a:cxnSpLocks/>
            <a:stCxn id="9" idx="3"/>
            <a:endCxn id="5" idx="1"/>
          </p:cNvCxnSpPr>
          <p:nvPr/>
        </p:nvCxnSpPr>
        <p:spPr>
          <a:xfrm flipV="1">
            <a:off x="1774702" y="3762519"/>
            <a:ext cx="1639219" cy="114212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6FE9177C-7476-4E23-7A29-A7A8F7336D76}"/>
              </a:ext>
            </a:extLst>
          </p:cNvPr>
          <p:cNvCxnSpPr>
            <a:cxnSpLocks/>
            <a:stCxn id="5" idx="3"/>
            <a:endCxn id="15" idx="1"/>
          </p:cNvCxnSpPr>
          <p:nvPr/>
        </p:nvCxnSpPr>
        <p:spPr>
          <a:xfrm flipV="1">
            <a:off x="4651051" y="3666820"/>
            <a:ext cx="1853081" cy="9569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D101057A-2A61-0766-0C26-D09BCFAAB752}"/>
              </a:ext>
            </a:extLst>
          </p:cNvPr>
          <p:cNvCxnSpPr>
            <a:cxnSpLocks/>
            <a:stCxn id="5" idx="3"/>
            <a:endCxn id="8" idx="1"/>
          </p:cNvCxnSpPr>
          <p:nvPr/>
        </p:nvCxnSpPr>
        <p:spPr>
          <a:xfrm>
            <a:off x="4651051" y="3762519"/>
            <a:ext cx="2748945" cy="12985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C5AA53E1-E5CC-E48B-6EF5-C5D737BA351E}"/>
              </a:ext>
            </a:extLst>
          </p:cNvPr>
          <p:cNvCxnSpPr>
            <a:cxnSpLocks/>
            <a:stCxn id="5" idx="2"/>
            <a:endCxn id="14" idx="0"/>
          </p:cNvCxnSpPr>
          <p:nvPr/>
        </p:nvCxnSpPr>
        <p:spPr>
          <a:xfrm>
            <a:off x="4032486" y="4135002"/>
            <a:ext cx="2125289" cy="153928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8530A0E1-55DB-5F36-A335-2A59A2E1111E}"/>
              </a:ext>
            </a:extLst>
          </p:cNvPr>
          <p:cNvCxnSpPr>
            <a:cxnSpLocks/>
            <a:stCxn id="5" idx="2"/>
            <a:endCxn id="6" idx="0"/>
          </p:cNvCxnSpPr>
          <p:nvPr/>
        </p:nvCxnSpPr>
        <p:spPr>
          <a:xfrm>
            <a:off x="4032486" y="4135002"/>
            <a:ext cx="146801" cy="15392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610E8E39-4117-3AD9-6A10-8AB291F60FB8}"/>
              </a:ext>
            </a:extLst>
          </p:cNvPr>
          <p:cNvCxnSpPr>
            <a:cxnSpLocks/>
            <a:stCxn id="5" idx="0"/>
            <a:endCxn id="11" idx="2"/>
          </p:cNvCxnSpPr>
          <p:nvPr/>
        </p:nvCxnSpPr>
        <p:spPr>
          <a:xfrm flipH="1" flipV="1">
            <a:off x="2861496" y="2765782"/>
            <a:ext cx="1170990" cy="6242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FD935DD1-B81D-8A9D-3414-892BD238C7A5}"/>
              </a:ext>
            </a:extLst>
          </p:cNvPr>
          <p:cNvCxnSpPr>
            <a:cxnSpLocks/>
            <a:stCxn id="5" idx="0"/>
            <a:endCxn id="13" idx="1"/>
          </p:cNvCxnSpPr>
          <p:nvPr/>
        </p:nvCxnSpPr>
        <p:spPr>
          <a:xfrm flipV="1">
            <a:off x="4032486" y="2284080"/>
            <a:ext cx="517409" cy="110595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631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5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9"/>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FA72-F09D-6148-79AE-AF71482D620E}"/>
              </a:ext>
            </a:extLst>
          </p:cNvPr>
          <p:cNvSpPr>
            <a:spLocks noGrp="1"/>
          </p:cNvSpPr>
          <p:nvPr>
            <p:ph type="title"/>
          </p:nvPr>
        </p:nvSpPr>
        <p:spPr/>
        <p:txBody>
          <a:bodyPr/>
          <a:lstStyle/>
          <a:p>
            <a:r>
              <a:rPr lang="en-US" dirty="0"/>
              <a:t>Software Architecture &amp; Timing</a:t>
            </a:r>
          </a:p>
        </p:txBody>
      </p:sp>
      <p:sp>
        <p:nvSpPr>
          <p:cNvPr id="3" name="Content Placeholder 2">
            <a:extLst>
              <a:ext uri="{FF2B5EF4-FFF2-40B4-BE49-F238E27FC236}">
                <a16:creationId xmlns:a16="http://schemas.microsoft.com/office/drawing/2014/main" id="{3DB51FFF-F508-ECDE-D716-791D47BAB213}"/>
              </a:ext>
            </a:extLst>
          </p:cNvPr>
          <p:cNvSpPr>
            <a:spLocks noGrp="1"/>
          </p:cNvSpPr>
          <p:nvPr>
            <p:ph idx="1"/>
          </p:nvPr>
        </p:nvSpPr>
        <p:spPr>
          <a:xfrm>
            <a:off x="200025" y="1002506"/>
            <a:ext cx="8793015" cy="5827725"/>
          </a:xfrm>
        </p:spPr>
        <p:txBody>
          <a:bodyPr>
            <a:normAutofit fontScale="47500" lnSpcReduction="20000"/>
          </a:bodyPr>
          <a:lstStyle/>
          <a:p>
            <a:pPr marL="0" indent="0">
              <a:buNone/>
            </a:pPr>
            <a:r>
              <a:rPr lang="en-US" b="1" dirty="0"/>
              <a:t>Execution Models</a:t>
            </a:r>
            <a:endParaRPr lang="en-US" dirty="0"/>
          </a:p>
          <a:p>
            <a:r>
              <a:rPr lang="en-US" dirty="0"/>
              <a:t>Super-loop</a:t>
            </a:r>
          </a:p>
          <a:p>
            <a:r>
              <a:rPr lang="en-US" dirty="0"/>
              <a:t>Interrupt-driven</a:t>
            </a:r>
          </a:p>
          <a:p>
            <a:r>
              <a:rPr lang="en-US" dirty="0"/>
              <a:t>RTOS-based (tasks, priorities, semaphores)</a:t>
            </a:r>
          </a:p>
          <a:p>
            <a:pPr marL="0" indent="0">
              <a:buNone/>
            </a:pPr>
            <a:endParaRPr lang="en-US" b="1" dirty="0"/>
          </a:p>
          <a:p>
            <a:pPr marL="0" indent="0">
              <a:buNone/>
            </a:pPr>
            <a:r>
              <a:rPr lang="en-US" b="1" dirty="0"/>
              <a:t>Real-Time Considerations</a:t>
            </a:r>
            <a:endParaRPr lang="en-US" dirty="0"/>
          </a:p>
          <a:p>
            <a:r>
              <a:rPr lang="en-US" dirty="0"/>
              <a:t>Hard vs soft deadlines</a:t>
            </a:r>
          </a:p>
          <a:p>
            <a:r>
              <a:rPr lang="en-US" dirty="0"/>
              <a:t>Sensor sampling jitter</a:t>
            </a:r>
          </a:p>
          <a:p>
            <a:r>
              <a:rPr lang="en-US" dirty="0"/>
              <a:t>Control loop timing</a:t>
            </a:r>
          </a:p>
          <a:p>
            <a:r>
              <a:rPr lang="en-US" dirty="0"/>
              <a:t>Interrupt latency</a:t>
            </a:r>
          </a:p>
          <a:p>
            <a:pPr marL="0" indent="0">
              <a:buNone/>
            </a:pPr>
            <a:endParaRPr lang="en-US" b="1" dirty="0"/>
          </a:p>
          <a:p>
            <a:pPr marL="0" indent="0">
              <a:buNone/>
            </a:pPr>
            <a:r>
              <a:rPr lang="en-US" b="1" dirty="0"/>
              <a:t>Failure Modes</a:t>
            </a:r>
            <a:endParaRPr lang="en-US" dirty="0"/>
          </a:p>
          <a:p>
            <a:r>
              <a:rPr lang="en-US" dirty="0"/>
              <a:t>Priority inversion</a:t>
            </a:r>
          </a:p>
          <a:p>
            <a:r>
              <a:rPr lang="en-US" dirty="0"/>
              <a:t>Watchdog resets</a:t>
            </a:r>
          </a:p>
          <a:p>
            <a:r>
              <a:rPr lang="en-US" dirty="0"/>
              <a:t>Stack overflows</a:t>
            </a:r>
          </a:p>
          <a:p>
            <a:r>
              <a:rPr lang="en-US" dirty="0"/>
              <a:t>Race conditions</a:t>
            </a:r>
          </a:p>
          <a:p>
            <a:pPr marL="0" indent="0">
              <a:buNone/>
            </a:pPr>
            <a:endParaRPr lang="en-US" b="1" dirty="0"/>
          </a:p>
          <a:p>
            <a:pPr marL="0" indent="0">
              <a:buNone/>
            </a:pPr>
            <a:r>
              <a:rPr lang="en-US" b="1" dirty="0"/>
              <a:t>Spacecraft necessities</a:t>
            </a:r>
            <a:endParaRPr lang="en-US" dirty="0"/>
          </a:p>
          <a:p>
            <a:r>
              <a:rPr lang="en-US" dirty="0"/>
              <a:t>Watchdogs are mandatory</a:t>
            </a:r>
          </a:p>
          <a:p>
            <a:r>
              <a:rPr lang="en-US" dirty="0"/>
              <a:t>Safe-mode code paths</a:t>
            </a:r>
          </a:p>
          <a:p>
            <a:r>
              <a:rPr lang="en-US" dirty="0"/>
              <a:t>Deterministic boot behavior</a:t>
            </a:r>
          </a:p>
          <a:p>
            <a:endParaRPr lang="en-US" dirty="0"/>
          </a:p>
        </p:txBody>
      </p:sp>
      <p:sp>
        <p:nvSpPr>
          <p:cNvPr id="4" name="Slide Number Placeholder 3">
            <a:extLst>
              <a:ext uri="{FF2B5EF4-FFF2-40B4-BE49-F238E27FC236}">
                <a16:creationId xmlns:a16="http://schemas.microsoft.com/office/drawing/2014/main" id="{2FDF5D92-1EA2-0805-459B-3348CBAA2489}"/>
              </a:ext>
            </a:extLst>
          </p:cNvPr>
          <p:cNvSpPr>
            <a:spLocks noGrp="1"/>
          </p:cNvSpPr>
          <p:nvPr>
            <p:ph type="sldNum" sz="quarter" idx="12"/>
          </p:nvPr>
        </p:nvSpPr>
        <p:spPr/>
        <p:txBody>
          <a:bodyPr/>
          <a:lstStyle/>
          <a:p>
            <a:fld id="{9A3029B7-FE6B-4680-9049-80E8298A0825}" type="slidenum">
              <a:rPr lang="en-US" smtClean="0"/>
              <a:t>11</a:t>
            </a:fld>
            <a:endParaRPr lang="en-US"/>
          </a:p>
        </p:txBody>
      </p:sp>
    </p:spTree>
    <p:extLst>
      <p:ext uri="{BB962C8B-B14F-4D97-AF65-F5344CB8AC3E}">
        <p14:creationId xmlns:p14="http://schemas.microsoft.com/office/powerpoint/2010/main" val="2463693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C61D4-6514-92CB-D0E1-05283A567C97}"/>
              </a:ext>
            </a:extLst>
          </p:cNvPr>
          <p:cNvSpPr>
            <a:spLocks noGrp="1"/>
          </p:cNvSpPr>
          <p:nvPr>
            <p:ph type="title"/>
          </p:nvPr>
        </p:nvSpPr>
        <p:spPr/>
        <p:txBody>
          <a:bodyPr/>
          <a:lstStyle/>
          <a:p>
            <a:r>
              <a:rPr lang="en-US" dirty="0"/>
              <a:t>Connecting to Peripherals </a:t>
            </a:r>
          </a:p>
        </p:txBody>
      </p:sp>
      <p:sp>
        <p:nvSpPr>
          <p:cNvPr id="3" name="Content Placeholder 2">
            <a:extLst>
              <a:ext uri="{FF2B5EF4-FFF2-40B4-BE49-F238E27FC236}">
                <a16:creationId xmlns:a16="http://schemas.microsoft.com/office/drawing/2014/main" id="{A8DC4C84-1C70-986B-1EBF-6C5A1FFC2301}"/>
              </a:ext>
            </a:extLst>
          </p:cNvPr>
          <p:cNvSpPr>
            <a:spLocks noGrp="1"/>
          </p:cNvSpPr>
          <p:nvPr>
            <p:ph idx="1"/>
          </p:nvPr>
        </p:nvSpPr>
        <p:spPr>
          <a:xfrm>
            <a:off x="200026" y="1002506"/>
            <a:ext cx="3916942" cy="5227553"/>
          </a:xfrm>
        </p:spPr>
        <p:txBody>
          <a:bodyPr>
            <a:normAutofit lnSpcReduction="10000"/>
          </a:bodyPr>
          <a:lstStyle/>
          <a:p>
            <a:pPr marL="0" indent="0" algn="ctr">
              <a:buNone/>
            </a:pPr>
            <a:r>
              <a:rPr lang="en-US" sz="1800" u="sng" dirty="0"/>
              <a:t>Communication Protocols</a:t>
            </a:r>
          </a:p>
          <a:p>
            <a:r>
              <a:rPr lang="en-US" sz="1800" b="1" dirty="0"/>
              <a:t>I</a:t>
            </a:r>
            <a:r>
              <a:rPr lang="en-US" sz="1800" b="1" baseline="30000" dirty="0"/>
              <a:t>2</a:t>
            </a:r>
            <a:r>
              <a:rPr lang="en-US" sz="1800" b="1" dirty="0"/>
              <a:t>C</a:t>
            </a:r>
            <a:r>
              <a:rPr lang="en-US" sz="1800" dirty="0"/>
              <a:t>: two-wire serial protocol for short-distance communication between multiple devices using addresses.</a:t>
            </a:r>
          </a:p>
          <a:p>
            <a:endParaRPr lang="en-US" sz="1800" dirty="0"/>
          </a:p>
          <a:p>
            <a:r>
              <a:rPr lang="en-US" sz="1800" b="1" dirty="0"/>
              <a:t>SPI</a:t>
            </a:r>
            <a:r>
              <a:rPr lang="en-US" sz="1800" dirty="0"/>
              <a:t>: high-speed serial protocol using separate lines for data in, data out, clock, and chip select.</a:t>
            </a:r>
          </a:p>
          <a:p>
            <a:endParaRPr lang="en-US" sz="1800" dirty="0"/>
          </a:p>
          <a:p>
            <a:r>
              <a:rPr lang="en-US" sz="1800" b="1" dirty="0"/>
              <a:t>UART</a:t>
            </a:r>
            <a:r>
              <a:rPr lang="en-US" sz="1800" dirty="0"/>
              <a:t>: simple asynchronous serial communication protocol that sends data one bit at a time over TX/RX lines.</a:t>
            </a:r>
          </a:p>
          <a:p>
            <a:endParaRPr lang="en-US" sz="1800" dirty="0"/>
          </a:p>
          <a:p>
            <a:r>
              <a:rPr lang="en-US" sz="1800" b="1" dirty="0"/>
              <a:t>CAN</a:t>
            </a:r>
            <a:r>
              <a:rPr lang="en-US" sz="1800" dirty="0"/>
              <a:t>: robust multi-master serial bus used in automotive and industrial systems for message-based communication.</a:t>
            </a:r>
          </a:p>
        </p:txBody>
      </p:sp>
      <p:sp>
        <p:nvSpPr>
          <p:cNvPr id="4" name="Slide Number Placeholder 3">
            <a:extLst>
              <a:ext uri="{FF2B5EF4-FFF2-40B4-BE49-F238E27FC236}">
                <a16:creationId xmlns:a16="http://schemas.microsoft.com/office/drawing/2014/main" id="{F4BA848E-6260-332B-2C04-E53000FF9224}"/>
              </a:ext>
            </a:extLst>
          </p:cNvPr>
          <p:cNvSpPr>
            <a:spLocks noGrp="1"/>
          </p:cNvSpPr>
          <p:nvPr>
            <p:ph type="sldNum" sz="quarter" idx="12"/>
          </p:nvPr>
        </p:nvSpPr>
        <p:spPr/>
        <p:txBody>
          <a:bodyPr/>
          <a:lstStyle/>
          <a:p>
            <a:fld id="{9A3029B7-FE6B-4680-9049-80E8298A0825}" type="slidenum">
              <a:rPr lang="en-US" smtClean="0"/>
              <a:t>12</a:t>
            </a:fld>
            <a:endParaRPr lang="en-US"/>
          </a:p>
        </p:txBody>
      </p:sp>
      <p:grpSp>
        <p:nvGrpSpPr>
          <p:cNvPr id="28" name="Group 27">
            <a:extLst>
              <a:ext uri="{FF2B5EF4-FFF2-40B4-BE49-F238E27FC236}">
                <a16:creationId xmlns:a16="http://schemas.microsoft.com/office/drawing/2014/main" id="{22B3A24E-68AA-A9B2-185F-E97D51372C23}"/>
              </a:ext>
            </a:extLst>
          </p:cNvPr>
          <p:cNvGrpSpPr/>
          <p:nvPr/>
        </p:nvGrpSpPr>
        <p:grpSpPr>
          <a:xfrm>
            <a:off x="4572000" y="2862037"/>
            <a:ext cx="3600641" cy="2667630"/>
            <a:chOff x="4872627" y="3010190"/>
            <a:chExt cx="3600641" cy="2667630"/>
          </a:xfrm>
        </p:grpSpPr>
        <p:sp>
          <p:nvSpPr>
            <p:cNvPr id="9" name="TextBox 8">
              <a:extLst>
                <a:ext uri="{FF2B5EF4-FFF2-40B4-BE49-F238E27FC236}">
                  <a16:creationId xmlns:a16="http://schemas.microsoft.com/office/drawing/2014/main" id="{42F37631-AA9C-B389-E64D-9F373AEC6499}"/>
                </a:ext>
              </a:extLst>
            </p:cNvPr>
            <p:cNvSpPr txBox="1"/>
            <p:nvPr/>
          </p:nvSpPr>
          <p:spPr>
            <a:xfrm rot="16200000">
              <a:off x="7457618" y="3987913"/>
              <a:ext cx="1612676" cy="261610"/>
            </a:xfrm>
            <a:prstGeom prst="rect">
              <a:avLst/>
            </a:prstGeom>
            <a:noFill/>
          </p:spPr>
          <p:txBody>
            <a:bodyPr wrap="square">
              <a:spAutoFit/>
            </a:bodyPr>
            <a:lstStyle/>
            <a:p>
              <a:pPr algn="ctr"/>
              <a:r>
                <a:rPr lang="en-US" sz="1050" b="1" dirty="0">
                  <a:solidFill>
                    <a:srgbClr val="FF0000"/>
                  </a:solidFill>
                  <a:latin typeface="Segoe UI" panose="020B0502040204020203" pitchFamily="34" charset="0"/>
                  <a:cs typeface="Segoe UI" panose="020B0502040204020203" pitchFamily="34" charset="0"/>
                </a:rPr>
                <a:t>Sensors/devices</a:t>
              </a:r>
            </a:p>
          </p:txBody>
        </p:sp>
        <p:pic>
          <p:nvPicPr>
            <p:cNvPr id="9224" name="Picture 8" descr="Chip select - Wikipedia">
              <a:extLst>
                <a:ext uri="{FF2B5EF4-FFF2-40B4-BE49-F238E27FC236}">
                  <a16:creationId xmlns:a16="http://schemas.microsoft.com/office/drawing/2014/main" id="{38A43F3E-2A23-92F9-1777-316D16A53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0943" y="3010190"/>
              <a:ext cx="3362325" cy="266763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F43B5E6-84FE-B9D8-A871-6A76FE2698DE}"/>
                </a:ext>
              </a:extLst>
            </p:cNvPr>
            <p:cNvSpPr txBox="1"/>
            <p:nvPr/>
          </p:nvSpPr>
          <p:spPr>
            <a:xfrm>
              <a:off x="4872627" y="4344005"/>
              <a:ext cx="1612676" cy="261610"/>
            </a:xfrm>
            <a:prstGeom prst="rect">
              <a:avLst/>
            </a:prstGeom>
            <a:noFill/>
          </p:spPr>
          <p:txBody>
            <a:bodyPr wrap="square">
              <a:spAutoFit/>
            </a:bodyPr>
            <a:lstStyle/>
            <a:p>
              <a:pPr algn="ctr"/>
              <a:r>
                <a:rPr lang="en-US" sz="1050" b="1" dirty="0">
                  <a:solidFill>
                    <a:srgbClr val="FF0000"/>
                  </a:solidFill>
                  <a:latin typeface="Segoe UI" panose="020B0502040204020203" pitchFamily="34" charset="0"/>
                  <a:cs typeface="Segoe UI" panose="020B0502040204020203" pitchFamily="34" charset="0"/>
                </a:rPr>
                <a:t>Microcontroller</a:t>
              </a:r>
            </a:p>
          </p:txBody>
        </p:sp>
        <p:cxnSp>
          <p:nvCxnSpPr>
            <p:cNvPr id="22" name="Straight Arrow Connector 21">
              <a:extLst>
                <a:ext uri="{FF2B5EF4-FFF2-40B4-BE49-F238E27FC236}">
                  <a16:creationId xmlns:a16="http://schemas.microsoft.com/office/drawing/2014/main" id="{6382734F-DC6B-FC8E-F8CC-16239E0459AA}"/>
                </a:ext>
              </a:extLst>
            </p:cNvPr>
            <p:cNvCxnSpPr>
              <a:cxnSpLocks/>
              <a:stCxn id="20" idx="0"/>
            </p:cNvCxnSpPr>
            <p:nvPr/>
          </p:nvCxnSpPr>
          <p:spPr>
            <a:xfrm flipV="1">
              <a:off x="5678965" y="4021345"/>
              <a:ext cx="24532" cy="3226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2E943F86-D66B-3ADD-CC17-7EB27D323134}"/>
                </a:ext>
              </a:extLst>
            </p:cNvPr>
            <p:cNvSpPr txBox="1"/>
            <p:nvPr/>
          </p:nvSpPr>
          <p:spPr>
            <a:xfrm>
              <a:off x="5363931" y="4740390"/>
              <a:ext cx="1036262" cy="369332"/>
            </a:xfrm>
            <a:prstGeom prst="rect">
              <a:avLst/>
            </a:prstGeom>
            <a:noFill/>
          </p:spPr>
          <p:txBody>
            <a:bodyPr wrap="square">
              <a:spAutoFit/>
            </a:bodyPr>
            <a:lstStyle/>
            <a:p>
              <a:pPr algn="ctr"/>
              <a:r>
                <a:rPr lang="en-US" sz="1800" b="1" dirty="0">
                  <a:solidFill>
                    <a:srgbClr val="0070C0"/>
                  </a:solidFill>
                  <a:highlight>
                    <a:srgbClr val="FFFF00"/>
                  </a:highlight>
                  <a:latin typeface="Segoe UI" panose="020B0502040204020203" pitchFamily="34" charset="0"/>
                  <a:cs typeface="Segoe UI" panose="020B0502040204020203" pitchFamily="34" charset="0"/>
                </a:rPr>
                <a:t>SPI</a:t>
              </a:r>
              <a:endParaRPr lang="en-US" b="1" dirty="0">
                <a:solidFill>
                  <a:srgbClr val="0070C0"/>
                </a:solidFill>
                <a:highlight>
                  <a:srgbClr val="FFFF00"/>
                </a:highlight>
                <a:latin typeface="Segoe UI" panose="020B0502040204020203" pitchFamily="34" charset="0"/>
                <a:cs typeface="Segoe UI" panose="020B0502040204020203" pitchFamily="34" charset="0"/>
              </a:endParaRPr>
            </a:p>
          </p:txBody>
        </p:sp>
      </p:grpSp>
      <p:grpSp>
        <p:nvGrpSpPr>
          <p:cNvPr id="31" name="Group 30">
            <a:extLst>
              <a:ext uri="{FF2B5EF4-FFF2-40B4-BE49-F238E27FC236}">
                <a16:creationId xmlns:a16="http://schemas.microsoft.com/office/drawing/2014/main" id="{6A961D67-4143-FF0C-1532-1664AD7ED0B4}"/>
              </a:ext>
            </a:extLst>
          </p:cNvPr>
          <p:cNvGrpSpPr/>
          <p:nvPr/>
        </p:nvGrpSpPr>
        <p:grpSpPr>
          <a:xfrm>
            <a:off x="4116967" y="984582"/>
            <a:ext cx="4980669" cy="1790561"/>
            <a:chOff x="4810316" y="1068534"/>
            <a:chExt cx="4980669" cy="1790561"/>
          </a:xfrm>
        </p:grpSpPr>
        <p:grpSp>
          <p:nvGrpSpPr>
            <p:cNvPr id="29" name="Group 28">
              <a:extLst>
                <a:ext uri="{FF2B5EF4-FFF2-40B4-BE49-F238E27FC236}">
                  <a16:creationId xmlns:a16="http://schemas.microsoft.com/office/drawing/2014/main" id="{1DE5A9F0-0247-E8E0-2095-77985880BF73}"/>
                </a:ext>
              </a:extLst>
            </p:cNvPr>
            <p:cNvGrpSpPr/>
            <p:nvPr/>
          </p:nvGrpSpPr>
          <p:grpSpPr>
            <a:xfrm>
              <a:off x="5363931" y="1068534"/>
              <a:ext cx="4427054" cy="1790561"/>
              <a:chOff x="4409452" y="1002506"/>
              <a:chExt cx="4688184" cy="1890756"/>
            </a:xfrm>
          </p:grpSpPr>
          <p:pic>
            <p:nvPicPr>
              <p:cNvPr id="9218" name="Picture 2" descr="I2C Primer: What is I2C? (Part 1) | Analog Devices">
                <a:extLst>
                  <a:ext uri="{FF2B5EF4-FFF2-40B4-BE49-F238E27FC236}">
                    <a16:creationId xmlns:a16="http://schemas.microsoft.com/office/drawing/2014/main" id="{6DD66FE8-AD80-8D13-6FF5-FD26518790EA}"/>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09452" y="1020430"/>
                <a:ext cx="4688184" cy="18728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B685638-83C9-5569-3B0D-4A8C200CED24}"/>
                  </a:ext>
                </a:extLst>
              </p:cNvPr>
              <p:cNvSpPr txBox="1"/>
              <p:nvPr/>
            </p:nvSpPr>
            <p:spPr>
              <a:xfrm>
                <a:off x="5887282" y="1515480"/>
                <a:ext cx="913081" cy="389999"/>
              </a:xfrm>
              <a:prstGeom prst="rect">
                <a:avLst/>
              </a:prstGeom>
              <a:noFill/>
            </p:spPr>
            <p:txBody>
              <a:bodyPr wrap="square">
                <a:spAutoFit/>
              </a:bodyPr>
              <a:lstStyle/>
              <a:p>
                <a:pPr algn="ctr"/>
                <a:r>
                  <a:rPr lang="en-US" sz="1800" b="1" dirty="0">
                    <a:solidFill>
                      <a:srgbClr val="0070C0"/>
                    </a:solidFill>
                    <a:highlight>
                      <a:srgbClr val="FFFF00"/>
                    </a:highlight>
                    <a:latin typeface="Segoe UI" panose="020B0502040204020203" pitchFamily="34" charset="0"/>
                    <a:cs typeface="Segoe UI" panose="020B0502040204020203" pitchFamily="34" charset="0"/>
                  </a:rPr>
                  <a:t>I</a:t>
                </a:r>
                <a:r>
                  <a:rPr lang="en-US" sz="1800" b="1" baseline="30000" dirty="0">
                    <a:solidFill>
                      <a:srgbClr val="0070C0"/>
                    </a:solidFill>
                    <a:highlight>
                      <a:srgbClr val="FFFF00"/>
                    </a:highlight>
                    <a:latin typeface="Segoe UI" panose="020B0502040204020203" pitchFamily="34" charset="0"/>
                    <a:cs typeface="Segoe UI" panose="020B0502040204020203" pitchFamily="34" charset="0"/>
                  </a:rPr>
                  <a:t>2</a:t>
                </a:r>
                <a:r>
                  <a:rPr lang="en-US" sz="1800" b="1" dirty="0">
                    <a:solidFill>
                      <a:srgbClr val="0070C0"/>
                    </a:solidFill>
                    <a:highlight>
                      <a:srgbClr val="FFFF00"/>
                    </a:highlight>
                    <a:latin typeface="Segoe UI" panose="020B0502040204020203" pitchFamily="34" charset="0"/>
                    <a:cs typeface="Segoe UI" panose="020B0502040204020203" pitchFamily="34" charset="0"/>
                  </a:rPr>
                  <a:t>C</a:t>
                </a:r>
                <a:endParaRPr lang="en-US" b="1" dirty="0">
                  <a:solidFill>
                    <a:srgbClr val="0070C0"/>
                  </a:solidFill>
                  <a:highlight>
                    <a:srgbClr val="FFFF00"/>
                  </a:highlight>
                  <a:latin typeface="Segoe UI" panose="020B0502040204020203" pitchFamily="34" charset="0"/>
                  <a:cs typeface="Segoe UI" panose="020B0502040204020203" pitchFamily="34" charset="0"/>
                </a:endParaRPr>
              </a:p>
            </p:txBody>
          </p:sp>
          <p:sp>
            <p:nvSpPr>
              <p:cNvPr id="6" name="TextBox 5">
                <a:extLst>
                  <a:ext uri="{FF2B5EF4-FFF2-40B4-BE49-F238E27FC236}">
                    <a16:creationId xmlns:a16="http://schemas.microsoft.com/office/drawing/2014/main" id="{A56EBE11-2319-90B2-9C14-E8B89B6357D0}"/>
                  </a:ext>
                </a:extLst>
              </p:cNvPr>
              <p:cNvSpPr txBox="1"/>
              <p:nvPr/>
            </p:nvSpPr>
            <p:spPr>
              <a:xfrm>
                <a:off x="4872627" y="1002506"/>
                <a:ext cx="1612676" cy="261610"/>
              </a:xfrm>
              <a:prstGeom prst="rect">
                <a:avLst/>
              </a:prstGeom>
              <a:noFill/>
            </p:spPr>
            <p:txBody>
              <a:bodyPr wrap="square">
                <a:spAutoFit/>
              </a:bodyPr>
              <a:lstStyle/>
              <a:p>
                <a:pPr algn="ctr"/>
                <a:r>
                  <a:rPr lang="en-US" sz="1050" b="1" dirty="0">
                    <a:solidFill>
                      <a:srgbClr val="FF0000"/>
                    </a:solidFill>
                    <a:latin typeface="Segoe UI" panose="020B0502040204020203" pitchFamily="34" charset="0"/>
                    <a:cs typeface="Segoe UI" panose="020B0502040204020203" pitchFamily="34" charset="0"/>
                  </a:rPr>
                  <a:t>Microcontroller</a:t>
                </a:r>
              </a:p>
            </p:txBody>
          </p:sp>
          <p:cxnSp>
            <p:nvCxnSpPr>
              <p:cNvPr id="8" name="Straight Arrow Connector 7">
                <a:extLst>
                  <a:ext uri="{FF2B5EF4-FFF2-40B4-BE49-F238E27FC236}">
                    <a16:creationId xmlns:a16="http://schemas.microsoft.com/office/drawing/2014/main" id="{CA3C12DD-5192-AFB6-FFBE-121C97A9F054}"/>
                  </a:ext>
                </a:extLst>
              </p:cNvPr>
              <p:cNvCxnSpPr>
                <a:stCxn id="6" idx="2"/>
              </p:cNvCxnSpPr>
              <p:nvPr/>
            </p:nvCxnSpPr>
            <p:spPr>
              <a:xfrm flipH="1">
                <a:off x="5530850" y="1264116"/>
                <a:ext cx="148115" cy="19751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25D81C1-56D4-991F-4712-81B99EDC37D5}"/>
                  </a:ext>
                </a:extLst>
              </p:cNvPr>
              <p:cNvCxnSpPr>
                <a:cxnSpLocks/>
              </p:cNvCxnSpPr>
              <p:nvPr/>
            </p:nvCxnSpPr>
            <p:spPr>
              <a:xfrm>
                <a:off x="5175250" y="2628858"/>
                <a:ext cx="29845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30" name="TextBox 29">
              <a:extLst>
                <a:ext uri="{FF2B5EF4-FFF2-40B4-BE49-F238E27FC236}">
                  <a16:creationId xmlns:a16="http://schemas.microsoft.com/office/drawing/2014/main" id="{231AA507-C7B5-DDD6-57B6-CA3A58D2209E}"/>
                </a:ext>
              </a:extLst>
            </p:cNvPr>
            <p:cNvSpPr txBox="1"/>
            <p:nvPr/>
          </p:nvSpPr>
          <p:spPr>
            <a:xfrm>
              <a:off x="4810316" y="2465645"/>
              <a:ext cx="1522851" cy="253916"/>
            </a:xfrm>
            <a:prstGeom prst="rect">
              <a:avLst/>
            </a:prstGeom>
            <a:noFill/>
          </p:spPr>
          <p:txBody>
            <a:bodyPr wrap="square">
              <a:spAutoFit/>
            </a:bodyPr>
            <a:lstStyle/>
            <a:p>
              <a:pPr algn="ctr"/>
              <a:r>
                <a:rPr lang="en-US" sz="1050" b="1" dirty="0">
                  <a:solidFill>
                    <a:srgbClr val="FF0000"/>
                  </a:solidFill>
                  <a:latin typeface="Segoe UI" panose="020B0502040204020203" pitchFamily="34" charset="0"/>
                  <a:cs typeface="Segoe UI" panose="020B0502040204020203" pitchFamily="34" charset="0"/>
                </a:rPr>
                <a:t>Sensors/devices</a:t>
              </a:r>
            </a:p>
          </p:txBody>
        </p:sp>
      </p:grpSp>
      <p:grpSp>
        <p:nvGrpSpPr>
          <p:cNvPr id="33" name="Group 32">
            <a:extLst>
              <a:ext uri="{FF2B5EF4-FFF2-40B4-BE49-F238E27FC236}">
                <a16:creationId xmlns:a16="http://schemas.microsoft.com/office/drawing/2014/main" id="{A110F0EA-11D6-52C1-7158-F224E97DB5C0}"/>
              </a:ext>
            </a:extLst>
          </p:cNvPr>
          <p:cNvGrpSpPr/>
          <p:nvPr/>
        </p:nvGrpSpPr>
        <p:grpSpPr>
          <a:xfrm>
            <a:off x="4937988" y="5267255"/>
            <a:ext cx="3892242" cy="1333815"/>
            <a:chOff x="4810316" y="5279054"/>
            <a:chExt cx="3892242" cy="1333815"/>
          </a:xfrm>
        </p:grpSpPr>
        <p:pic>
          <p:nvPicPr>
            <p:cNvPr id="9226" name="Picture 10" descr="UART">
              <a:extLst>
                <a:ext uri="{FF2B5EF4-FFF2-40B4-BE49-F238E27FC236}">
                  <a16:creationId xmlns:a16="http://schemas.microsoft.com/office/drawing/2014/main" id="{90F5C845-921A-E28A-3A68-A7D6C4B59A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0316" y="5279054"/>
              <a:ext cx="3892242" cy="127768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ED351528-D5A1-29EE-0F64-12ED8E2189A8}"/>
                </a:ext>
              </a:extLst>
            </p:cNvPr>
            <p:cNvSpPr txBox="1"/>
            <p:nvPr/>
          </p:nvSpPr>
          <p:spPr>
            <a:xfrm>
              <a:off x="5899378" y="6243537"/>
              <a:ext cx="1036262" cy="369332"/>
            </a:xfrm>
            <a:prstGeom prst="rect">
              <a:avLst/>
            </a:prstGeom>
            <a:noFill/>
          </p:spPr>
          <p:txBody>
            <a:bodyPr wrap="square">
              <a:spAutoFit/>
            </a:bodyPr>
            <a:lstStyle/>
            <a:p>
              <a:pPr algn="ctr"/>
              <a:r>
                <a:rPr lang="en-US" sz="1800" b="1" dirty="0">
                  <a:solidFill>
                    <a:srgbClr val="0070C0"/>
                  </a:solidFill>
                  <a:highlight>
                    <a:srgbClr val="FFFF00"/>
                  </a:highlight>
                  <a:latin typeface="Segoe UI" panose="020B0502040204020203" pitchFamily="34" charset="0"/>
                  <a:cs typeface="Segoe UI" panose="020B0502040204020203" pitchFamily="34" charset="0"/>
                </a:rPr>
                <a:t>UART</a:t>
              </a:r>
              <a:endParaRPr lang="en-US" b="1" dirty="0">
                <a:solidFill>
                  <a:srgbClr val="0070C0"/>
                </a:solidFill>
                <a:highlight>
                  <a:srgbClr val="FFFF00"/>
                </a:highlight>
                <a:latin typeface="Segoe UI" panose="020B0502040204020203" pitchFamily="34" charset="0"/>
                <a:cs typeface="Segoe UI" panose="020B0502040204020203" pitchFamily="34" charset="0"/>
              </a:endParaRPr>
            </a:p>
          </p:txBody>
        </p:sp>
      </p:grpSp>
      <p:sp>
        <p:nvSpPr>
          <p:cNvPr id="34" name="TextBox 33">
            <a:extLst>
              <a:ext uri="{FF2B5EF4-FFF2-40B4-BE49-F238E27FC236}">
                <a16:creationId xmlns:a16="http://schemas.microsoft.com/office/drawing/2014/main" id="{4A3D661E-77A3-D067-D5BF-FC6F65BDD036}"/>
              </a:ext>
            </a:extLst>
          </p:cNvPr>
          <p:cNvSpPr txBox="1"/>
          <p:nvPr/>
        </p:nvSpPr>
        <p:spPr>
          <a:xfrm>
            <a:off x="46364" y="6293293"/>
            <a:ext cx="4781120" cy="307777"/>
          </a:xfrm>
          <a:prstGeom prst="rect">
            <a:avLst/>
          </a:prstGeom>
          <a:solidFill>
            <a:srgbClr val="FFC000"/>
          </a:solidFill>
        </p:spPr>
        <p:txBody>
          <a:bodyPr wrap="square">
            <a:spAutoFit/>
          </a:bodyPr>
          <a:lstStyle/>
          <a:p>
            <a:pPr algn="ctr"/>
            <a:r>
              <a:rPr lang="en-US" sz="1400" b="1" dirty="0">
                <a:solidFill>
                  <a:srgbClr val="FF0000"/>
                </a:solidFill>
                <a:latin typeface="Segoe UI" panose="020B0502040204020203" pitchFamily="34" charset="0"/>
                <a:cs typeface="Segoe UI" panose="020B0502040204020203" pitchFamily="34" charset="0"/>
              </a:rPr>
              <a:t>**ALWAYS CONNECT GROUNDS BETWEEN DEVICES**</a:t>
            </a:r>
          </a:p>
        </p:txBody>
      </p:sp>
    </p:spTree>
    <p:extLst>
      <p:ext uri="{BB962C8B-B14F-4D97-AF65-F5344CB8AC3E}">
        <p14:creationId xmlns:p14="http://schemas.microsoft.com/office/powerpoint/2010/main" val="2861233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29CF8-3202-67C6-D77B-10D6516C0352}"/>
              </a:ext>
            </a:extLst>
          </p:cNvPr>
          <p:cNvSpPr>
            <a:spLocks noGrp="1"/>
          </p:cNvSpPr>
          <p:nvPr>
            <p:ph type="title"/>
          </p:nvPr>
        </p:nvSpPr>
        <p:spPr/>
        <p:txBody>
          <a:bodyPr/>
          <a:lstStyle/>
          <a:p>
            <a:r>
              <a:rPr lang="en-US" dirty="0"/>
              <a:t>Space Environment Effects</a:t>
            </a:r>
          </a:p>
        </p:txBody>
      </p:sp>
      <p:sp>
        <p:nvSpPr>
          <p:cNvPr id="3" name="Content Placeholder 2">
            <a:extLst>
              <a:ext uri="{FF2B5EF4-FFF2-40B4-BE49-F238E27FC236}">
                <a16:creationId xmlns:a16="http://schemas.microsoft.com/office/drawing/2014/main" id="{6F5A4383-4040-06D2-01EF-9AA771DBDEC9}"/>
              </a:ext>
            </a:extLst>
          </p:cNvPr>
          <p:cNvSpPr>
            <a:spLocks noGrp="1"/>
          </p:cNvSpPr>
          <p:nvPr>
            <p:ph idx="1"/>
          </p:nvPr>
        </p:nvSpPr>
        <p:spPr/>
        <p:txBody>
          <a:bodyPr>
            <a:noAutofit/>
          </a:bodyPr>
          <a:lstStyle/>
          <a:p>
            <a:r>
              <a:rPr lang="en-US" sz="1400" b="1" dirty="0"/>
              <a:t>Radiation Effects</a:t>
            </a:r>
          </a:p>
          <a:p>
            <a:pPr lvl="1"/>
            <a:r>
              <a:rPr lang="en-US" sz="1400" b="1" dirty="0"/>
              <a:t>Total Ionizing Dose (TID)</a:t>
            </a:r>
            <a:r>
              <a:rPr lang="en-US" sz="1400" dirty="0"/>
              <a:t>: Gradual accumulation of radiation can change transistor thresholds and increase leakage currents, eventually causing permanent malfunction.</a:t>
            </a:r>
          </a:p>
          <a:p>
            <a:pPr lvl="1"/>
            <a:r>
              <a:rPr lang="en-US" sz="1400" b="1" dirty="0"/>
              <a:t>Single Event Effects (SEE)</a:t>
            </a:r>
            <a:r>
              <a:rPr lang="en-US" sz="1400" dirty="0"/>
              <a:t>: High-energy particles can flip bits in memory </a:t>
            </a:r>
            <a:r>
              <a:rPr lang="en-US" sz="1400" b="1" dirty="0"/>
              <a:t>(Single Event Upsets, SEU</a:t>
            </a:r>
            <a:r>
              <a:rPr lang="en-US" sz="1400" dirty="0"/>
              <a:t>), trigger transient faults (</a:t>
            </a:r>
            <a:r>
              <a:rPr lang="en-US" sz="1400" b="1" dirty="0"/>
              <a:t>Single Event Transients, SET</a:t>
            </a:r>
            <a:r>
              <a:rPr lang="en-US" sz="1400" dirty="0"/>
              <a:t>), or even cause destructive latch-up (</a:t>
            </a:r>
            <a:r>
              <a:rPr lang="en-US" sz="1400" b="1" dirty="0"/>
              <a:t>Single Event Latch-up, SEL</a:t>
            </a:r>
            <a:r>
              <a:rPr lang="en-US" sz="1400" dirty="0"/>
              <a:t>).</a:t>
            </a:r>
          </a:p>
          <a:p>
            <a:pPr lvl="1"/>
            <a:endParaRPr lang="en-US" sz="1400" dirty="0"/>
          </a:p>
          <a:p>
            <a:r>
              <a:rPr lang="en-US" sz="1400" b="1" dirty="0"/>
              <a:t>Temperature Extremes</a:t>
            </a:r>
          </a:p>
          <a:p>
            <a:pPr lvl="1"/>
            <a:r>
              <a:rPr lang="en-US" sz="1400" dirty="0"/>
              <a:t>Space systems experience wide temperature swings, which can affect clock stability, logic levels, and semiconductor reliability.</a:t>
            </a:r>
          </a:p>
          <a:p>
            <a:pPr lvl="1"/>
            <a:endParaRPr lang="en-US" sz="1400" dirty="0"/>
          </a:p>
          <a:p>
            <a:r>
              <a:rPr lang="en-US" sz="1400" b="1" dirty="0"/>
              <a:t>Vacuum Effects</a:t>
            </a:r>
          </a:p>
          <a:p>
            <a:pPr lvl="1"/>
            <a:r>
              <a:rPr lang="en-US" sz="1400" dirty="0"/>
              <a:t>Outgassing of materials in vacuum can contaminate sensitive electronics, and the lack of convection changes cooling dynamics.</a:t>
            </a:r>
          </a:p>
          <a:p>
            <a:pPr lvl="1"/>
            <a:endParaRPr lang="en-US" sz="1400" dirty="0"/>
          </a:p>
          <a:p>
            <a:r>
              <a:rPr lang="en-US" sz="1400" b="1" dirty="0"/>
              <a:t>Electromagnetic Interference (EMI)</a:t>
            </a:r>
          </a:p>
          <a:p>
            <a:pPr lvl="1"/>
            <a:r>
              <a:rPr lang="en-US" sz="1400" dirty="0"/>
              <a:t>Spacecraft electronics must tolerate interference from solar activity, onboard switching circuits, and communications systems.</a:t>
            </a:r>
          </a:p>
          <a:p>
            <a:pPr lvl="1"/>
            <a:endParaRPr lang="en-US" sz="1400" dirty="0"/>
          </a:p>
          <a:p>
            <a:r>
              <a:rPr lang="en-US" sz="1400" b="1" dirty="0"/>
              <a:t>Mechanical Stress</a:t>
            </a:r>
          </a:p>
          <a:p>
            <a:pPr lvl="1"/>
            <a:r>
              <a:rPr lang="en-US" sz="1400" dirty="0"/>
              <a:t>Vibrations during launch and micro-meteoroid impacts can damage delicate solder joints, PCBs, and connectors, indirectly affecting digital system integrity.</a:t>
            </a:r>
          </a:p>
        </p:txBody>
      </p:sp>
      <p:sp>
        <p:nvSpPr>
          <p:cNvPr id="4" name="Slide Number Placeholder 3">
            <a:extLst>
              <a:ext uri="{FF2B5EF4-FFF2-40B4-BE49-F238E27FC236}">
                <a16:creationId xmlns:a16="http://schemas.microsoft.com/office/drawing/2014/main" id="{75AD7FB8-842F-7F51-8AB1-402DA2C57726}"/>
              </a:ext>
            </a:extLst>
          </p:cNvPr>
          <p:cNvSpPr>
            <a:spLocks noGrp="1"/>
          </p:cNvSpPr>
          <p:nvPr>
            <p:ph type="sldNum" sz="quarter" idx="12"/>
          </p:nvPr>
        </p:nvSpPr>
        <p:spPr/>
        <p:txBody>
          <a:bodyPr/>
          <a:lstStyle/>
          <a:p>
            <a:fld id="{9A3029B7-FE6B-4680-9049-80E8298A0825}" type="slidenum">
              <a:rPr lang="en-US" smtClean="0"/>
              <a:t>13</a:t>
            </a:fld>
            <a:endParaRPr lang="en-US"/>
          </a:p>
        </p:txBody>
      </p:sp>
    </p:spTree>
    <p:extLst>
      <p:ext uri="{BB962C8B-B14F-4D97-AF65-F5344CB8AC3E}">
        <p14:creationId xmlns:p14="http://schemas.microsoft.com/office/powerpoint/2010/main" val="1272319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F5641-AF60-C27E-3DA8-83B4FB749B4A}"/>
              </a:ext>
            </a:extLst>
          </p:cNvPr>
          <p:cNvSpPr>
            <a:spLocks noGrp="1"/>
          </p:cNvSpPr>
          <p:nvPr>
            <p:ph type="title"/>
          </p:nvPr>
        </p:nvSpPr>
        <p:spPr/>
        <p:txBody>
          <a:bodyPr/>
          <a:lstStyle/>
          <a:p>
            <a:r>
              <a:rPr lang="en-US" dirty="0"/>
              <a:t>Radiation hardening </a:t>
            </a:r>
          </a:p>
        </p:txBody>
      </p:sp>
      <p:sp>
        <p:nvSpPr>
          <p:cNvPr id="3" name="Content Placeholder 2">
            <a:extLst>
              <a:ext uri="{FF2B5EF4-FFF2-40B4-BE49-F238E27FC236}">
                <a16:creationId xmlns:a16="http://schemas.microsoft.com/office/drawing/2014/main" id="{F28E4A31-C3DF-23DE-DA92-82CF7FC3CC28}"/>
              </a:ext>
            </a:extLst>
          </p:cNvPr>
          <p:cNvSpPr>
            <a:spLocks noGrp="1"/>
          </p:cNvSpPr>
          <p:nvPr>
            <p:ph idx="1"/>
          </p:nvPr>
        </p:nvSpPr>
        <p:spPr/>
        <p:txBody>
          <a:bodyPr/>
          <a:lstStyle/>
          <a:p>
            <a:r>
              <a:rPr lang="en-US" b="1" dirty="0"/>
              <a:t>Rad-Hard:</a:t>
            </a:r>
            <a:r>
              <a:rPr lang="en-US" dirty="0"/>
              <a:t> Expensive, proven, but lower performance.</a:t>
            </a:r>
          </a:p>
          <a:p>
            <a:endParaRPr lang="en-US" b="1" dirty="0"/>
          </a:p>
          <a:p>
            <a:r>
              <a:rPr lang="en-US" b="1" dirty="0"/>
              <a:t>COTS:</a:t>
            </a:r>
            <a:r>
              <a:rPr lang="en-US" dirty="0"/>
              <a:t> Cheaper, faster, but require techniques like redundancy (using multiple chips) or error-correcting memory to be reliable.</a:t>
            </a:r>
          </a:p>
          <a:p>
            <a:endParaRPr lang="en-US" dirty="0"/>
          </a:p>
        </p:txBody>
      </p:sp>
      <p:sp>
        <p:nvSpPr>
          <p:cNvPr id="4" name="Slide Number Placeholder 3">
            <a:extLst>
              <a:ext uri="{FF2B5EF4-FFF2-40B4-BE49-F238E27FC236}">
                <a16:creationId xmlns:a16="http://schemas.microsoft.com/office/drawing/2014/main" id="{801B25B9-5021-A91A-0DDE-666F3775E03D}"/>
              </a:ext>
            </a:extLst>
          </p:cNvPr>
          <p:cNvSpPr>
            <a:spLocks noGrp="1"/>
          </p:cNvSpPr>
          <p:nvPr>
            <p:ph type="sldNum" sz="quarter" idx="12"/>
          </p:nvPr>
        </p:nvSpPr>
        <p:spPr/>
        <p:txBody>
          <a:bodyPr/>
          <a:lstStyle/>
          <a:p>
            <a:fld id="{9A3029B7-FE6B-4680-9049-80E8298A0825}" type="slidenum">
              <a:rPr lang="en-US" smtClean="0"/>
              <a:t>14</a:t>
            </a:fld>
            <a:endParaRPr lang="en-US"/>
          </a:p>
        </p:txBody>
      </p:sp>
    </p:spTree>
    <p:extLst>
      <p:ext uri="{BB962C8B-B14F-4D97-AF65-F5344CB8AC3E}">
        <p14:creationId xmlns:p14="http://schemas.microsoft.com/office/powerpoint/2010/main" val="2233247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A470386-7851-29C2-9E22-60286985900C}"/>
              </a:ext>
            </a:extLst>
          </p:cNvPr>
          <p:cNvSpPr>
            <a:spLocks noGrp="1"/>
          </p:cNvSpPr>
          <p:nvPr>
            <p:ph type="title"/>
          </p:nvPr>
        </p:nvSpPr>
        <p:spPr/>
        <p:txBody>
          <a:bodyPr/>
          <a:lstStyle/>
          <a:p>
            <a:r>
              <a:rPr lang="en-US" dirty="0"/>
              <a:t>Embedded Systems Hardware Design</a:t>
            </a:r>
          </a:p>
        </p:txBody>
      </p:sp>
      <p:sp>
        <p:nvSpPr>
          <p:cNvPr id="4" name="Slide Number Placeholder 3">
            <a:extLst>
              <a:ext uri="{FF2B5EF4-FFF2-40B4-BE49-F238E27FC236}">
                <a16:creationId xmlns:a16="http://schemas.microsoft.com/office/drawing/2014/main" id="{DCECD33A-A413-1156-2841-A2554A0AFF5A}"/>
              </a:ext>
            </a:extLst>
          </p:cNvPr>
          <p:cNvSpPr>
            <a:spLocks noGrp="1"/>
          </p:cNvSpPr>
          <p:nvPr>
            <p:ph type="sldNum" sz="quarter" idx="12"/>
          </p:nvPr>
        </p:nvSpPr>
        <p:spPr/>
        <p:txBody>
          <a:bodyPr/>
          <a:lstStyle/>
          <a:p>
            <a:fld id="{9A3029B7-FE6B-4680-9049-80E8298A0825}" type="slidenum">
              <a:rPr lang="en-US" smtClean="0"/>
              <a:t>15</a:t>
            </a:fld>
            <a:endParaRPr lang="en-US"/>
          </a:p>
        </p:txBody>
      </p:sp>
    </p:spTree>
    <p:extLst>
      <p:ext uri="{BB962C8B-B14F-4D97-AF65-F5344CB8AC3E}">
        <p14:creationId xmlns:p14="http://schemas.microsoft.com/office/powerpoint/2010/main" val="78468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BBBE-D7B4-2895-16F8-0D0D7352B91C}"/>
              </a:ext>
            </a:extLst>
          </p:cNvPr>
          <p:cNvSpPr>
            <a:spLocks noGrp="1"/>
          </p:cNvSpPr>
          <p:nvPr>
            <p:ph type="title"/>
          </p:nvPr>
        </p:nvSpPr>
        <p:spPr/>
        <p:txBody>
          <a:bodyPr/>
          <a:lstStyle/>
          <a:p>
            <a:r>
              <a:rPr lang="en-US" dirty="0"/>
              <a:t>Embedded Systems Hardware</a:t>
            </a:r>
          </a:p>
        </p:txBody>
      </p:sp>
      <p:sp>
        <p:nvSpPr>
          <p:cNvPr id="3" name="Content Placeholder 2">
            <a:extLst>
              <a:ext uri="{FF2B5EF4-FFF2-40B4-BE49-F238E27FC236}">
                <a16:creationId xmlns:a16="http://schemas.microsoft.com/office/drawing/2014/main" id="{134DC37E-3729-BC83-6C39-43EB6B9545C3}"/>
              </a:ext>
            </a:extLst>
          </p:cNvPr>
          <p:cNvSpPr>
            <a:spLocks noGrp="1"/>
          </p:cNvSpPr>
          <p:nvPr>
            <p:ph idx="1"/>
          </p:nvPr>
        </p:nvSpPr>
        <p:spPr/>
        <p:txBody>
          <a:bodyPr>
            <a:normAutofit/>
          </a:bodyPr>
          <a:lstStyle/>
          <a:p>
            <a:pPr marL="0" indent="0">
              <a:buNone/>
            </a:pPr>
            <a:r>
              <a:rPr lang="en-US" sz="2000" b="1" dirty="0"/>
              <a:t>Like other computer systems, embedded systems contain electronic hardware that house and connect individual components.</a:t>
            </a:r>
          </a:p>
          <a:p>
            <a:pPr marL="457200" lvl="1" indent="0">
              <a:buNone/>
            </a:pPr>
            <a:r>
              <a:rPr lang="en-US" sz="1800" dirty="0">
                <a:sym typeface="Wingdings" panose="05000000000000000000" pitchFamily="2" charset="2"/>
              </a:rPr>
              <a:t></a:t>
            </a:r>
            <a:r>
              <a:rPr lang="en-US" sz="1800" dirty="0"/>
              <a:t>Embedded systems hardware for spacecraft must be well designed and tested in order to meet strict </a:t>
            </a:r>
            <a:r>
              <a:rPr lang="en-US" sz="1800"/>
              <a:t>performance &amp; </a:t>
            </a:r>
            <a:r>
              <a:rPr lang="en-US" sz="1800" dirty="0"/>
              <a:t>resiliency requirements. </a:t>
            </a:r>
          </a:p>
        </p:txBody>
      </p:sp>
      <p:sp>
        <p:nvSpPr>
          <p:cNvPr id="4" name="Slide Number Placeholder 3">
            <a:extLst>
              <a:ext uri="{FF2B5EF4-FFF2-40B4-BE49-F238E27FC236}">
                <a16:creationId xmlns:a16="http://schemas.microsoft.com/office/drawing/2014/main" id="{44C28A8C-0BC7-2E31-B803-0024ACA46CFF}"/>
              </a:ext>
            </a:extLst>
          </p:cNvPr>
          <p:cNvSpPr>
            <a:spLocks noGrp="1"/>
          </p:cNvSpPr>
          <p:nvPr>
            <p:ph type="sldNum" sz="quarter" idx="12"/>
          </p:nvPr>
        </p:nvSpPr>
        <p:spPr/>
        <p:txBody>
          <a:bodyPr/>
          <a:lstStyle/>
          <a:p>
            <a:fld id="{9A3029B7-FE6B-4680-9049-80E8298A0825}" type="slidenum">
              <a:rPr lang="en-US" smtClean="0"/>
              <a:t>16</a:t>
            </a:fld>
            <a:endParaRPr lang="en-US"/>
          </a:p>
        </p:txBody>
      </p:sp>
      <p:pic>
        <p:nvPicPr>
          <p:cNvPr id="3076" name="Picture 4" descr="Embedded systems: What are they? How do they work?">
            <a:extLst>
              <a:ext uri="{FF2B5EF4-FFF2-40B4-BE49-F238E27FC236}">
                <a16:creationId xmlns:a16="http://schemas.microsoft.com/office/drawing/2014/main" id="{4B5676C7-8179-96AD-C944-D114F32AC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62" y="2385230"/>
            <a:ext cx="7460237" cy="4262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27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8DA9D-926B-3BEB-36F9-CDBCF1E257E9}"/>
              </a:ext>
            </a:extLst>
          </p:cNvPr>
          <p:cNvSpPr>
            <a:spLocks noGrp="1"/>
          </p:cNvSpPr>
          <p:nvPr>
            <p:ph type="title"/>
          </p:nvPr>
        </p:nvSpPr>
        <p:spPr/>
        <p:txBody>
          <a:bodyPr/>
          <a:lstStyle/>
          <a:p>
            <a:r>
              <a:rPr lang="en-US" dirty="0"/>
              <a:t>Common Embedded System Components </a:t>
            </a:r>
          </a:p>
        </p:txBody>
      </p:sp>
      <p:sp>
        <p:nvSpPr>
          <p:cNvPr id="3" name="Content Placeholder 2">
            <a:extLst>
              <a:ext uri="{FF2B5EF4-FFF2-40B4-BE49-F238E27FC236}">
                <a16:creationId xmlns:a16="http://schemas.microsoft.com/office/drawing/2014/main" id="{F4E50DE5-A876-FB12-C6BF-14555390945F}"/>
              </a:ext>
            </a:extLst>
          </p:cNvPr>
          <p:cNvSpPr>
            <a:spLocks noGrp="1"/>
          </p:cNvSpPr>
          <p:nvPr>
            <p:ph idx="1"/>
          </p:nvPr>
        </p:nvSpPr>
        <p:spPr>
          <a:xfrm>
            <a:off x="0" y="1313907"/>
            <a:ext cx="8793015" cy="5227553"/>
          </a:xfrm>
        </p:spPr>
        <p:txBody>
          <a:bodyPr>
            <a:normAutofit fontScale="92500" lnSpcReduction="20000"/>
          </a:bodyPr>
          <a:lstStyle/>
          <a:p>
            <a:r>
              <a:rPr lang="en-US" sz="2000" b="1" dirty="0"/>
              <a:t>Discrete components</a:t>
            </a:r>
          </a:p>
          <a:p>
            <a:pPr lvl="1"/>
            <a:r>
              <a:rPr lang="en-US" sz="1800" dirty="0"/>
              <a:t>Resistors</a:t>
            </a:r>
          </a:p>
          <a:p>
            <a:pPr lvl="1"/>
            <a:r>
              <a:rPr lang="en-US" sz="1800" dirty="0"/>
              <a:t>Capacitors</a:t>
            </a:r>
          </a:p>
          <a:p>
            <a:pPr lvl="1"/>
            <a:r>
              <a:rPr lang="en-US" sz="1800" dirty="0"/>
              <a:t>Inductors</a:t>
            </a:r>
          </a:p>
          <a:p>
            <a:pPr lvl="1"/>
            <a:r>
              <a:rPr lang="en-US" sz="1800" dirty="0"/>
              <a:t>Diodes</a:t>
            </a:r>
          </a:p>
          <a:p>
            <a:pPr lvl="1"/>
            <a:r>
              <a:rPr lang="en-US" sz="1800" dirty="0"/>
              <a:t>Transistors </a:t>
            </a:r>
          </a:p>
          <a:p>
            <a:pPr lvl="1"/>
            <a:r>
              <a:rPr lang="en-US" sz="1800" dirty="0"/>
              <a:t>Switches</a:t>
            </a:r>
          </a:p>
          <a:p>
            <a:pPr lvl="1"/>
            <a:r>
              <a:rPr lang="en-US" sz="1800" dirty="0"/>
              <a:t>Relays</a:t>
            </a:r>
          </a:p>
          <a:p>
            <a:pPr lvl="1"/>
            <a:r>
              <a:rPr lang="en-US" sz="1800" dirty="0"/>
              <a:t>Connectors</a:t>
            </a:r>
          </a:p>
          <a:p>
            <a:pPr lvl="1"/>
            <a:r>
              <a:rPr lang="en-US" sz="1800" dirty="0"/>
              <a:t>Fuses</a:t>
            </a:r>
            <a:endParaRPr lang="en-US" sz="2000" b="1" dirty="0"/>
          </a:p>
          <a:p>
            <a:endParaRPr lang="en-US" sz="2000" b="1" dirty="0"/>
          </a:p>
          <a:p>
            <a:r>
              <a:rPr lang="en-US" sz="2000" b="1" dirty="0"/>
              <a:t>Integrated Circuits (IC)</a:t>
            </a:r>
          </a:p>
          <a:p>
            <a:pPr lvl="1"/>
            <a:r>
              <a:rPr lang="en-US" sz="1800" dirty="0"/>
              <a:t>MCU’s</a:t>
            </a:r>
          </a:p>
          <a:p>
            <a:pPr lvl="1"/>
            <a:r>
              <a:rPr lang="en-US" sz="1800" dirty="0"/>
              <a:t>Microelectromechanical (MEMS) sensors</a:t>
            </a:r>
          </a:p>
          <a:p>
            <a:pPr lvl="1"/>
            <a:r>
              <a:rPr lang="en-US" sz="1800" dirty="0"/>
              <a:t>Flash memory</a:t>
            </a:r>
          </a:p>
          <a:p>
            <a:pPr lvl="1"/>
            <a:r>
              <a:rPr lang="en-US" sz="1800" dirty="0"/>
              <a:t>RAM</a:t>
            </a:r>
          </a:p>
          <a:p>
            <a:pPr lvl="1"/>
            <a:r>
              <a:rPr lang="en-US" sz="1800" dirty="0"/>
              <a:t>Voltage regulators</a:t>
            </a:r>
          </a:p>
          <a:p>
            <a:pPr lvl="1"/>
            <a:r>
              <a:rPr lang="en-US" sz="1800" dirty="0"/>
              <a:t>Transceivers</a:t>
            </a:r>
          </a:p>
          <a:p>
            <a:pPr lvl="1"/>
            <a:r>
              <a:rPr lang="en-US" sz="1800" dirty="0"/>
              <a:t>ADCs</a:t>
            </a:r>
          </a:p>
          <a:p>
            <a:pPr marL="457200" lvl="1" indent="0">
              <a:buNone/>
            </a:pPr>
            <a:endParaRPr lang="en-US" sz="1800" dirty="0"/>
          </a:p>
        </p:txBody>
      </p:sp>
      <p:sp>
        <p:nvSpPr>
          <p:cNvPr id="4" name="Slide Number Placeholder 3">
            <a:extLst>
              <a:ext uri="{FF2B5EF4-FFF2-40B4-BE49-F238E27FC236}">
                <a16:creationId xmlns:a16="http://schemas.microsoft.com/office/drawing/2014/main" id="{6F896701-B882-F551-FE76-0136F3C5E958}"/>
              </a:ext>
            </a:extLst>
          </p:cNvPr>
          <p:cNvSpPr>
            <a:spLocks noGrp="1"/>
          </p:cNvSpPr>
          <p:nvPr>
            <p:ph type="sldNum" sz="quarter" idx="12"/>
          </p:nvPr>
        </p:nvSpPr>
        <p:spPr/>
        <p:txBody>
          <a:bodyPr/>
          <a:lstStyle/>
          <a:p>
            <a:fld id="{9A3029B7-FE6B-4680-9049-80E8298A0825}" type="slidenum">
              <a:rPr lang="en-US" smtClean="0"/>
              <a:t>17</a:t>
            </a:fld>
            <a:endParaRPr lang="en-US"/>
          </a:p>
        </p:txBody>
      </p:sp>
      <p:sp>
        <p:nvSpPr>
          <p:cNvPr id="5" name="AutoShape 4" descr="What is an Integrated Circuit (IC)?">
            <a:extLst>
              <a:ext uri="{FF2B5EF4-FFF2-40B4-BE49-F238E27FC236}">
                <a16:creationId xmlns:a16="http://schemas.microsoft.com/office/drawing/2014/main" id="{A70BDF26-B2F5-A26C-DE84-7AB5B70871F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Components, the basic building blocks of electronic circuits. Some samples  of passive discrete components.">
            <a:extLst>
              <a:ext uri="{FF2B5EF4-FFF2-40B4-BE49-F238E27FC236}">
                <a16:creationId xmlns:a16="http://schemas.microsoft.com/office/drawing/2014/main" id="{2BDA383C-8277-BAE7-97F9-6F3B281B5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6654" y="1404601"/>
            <a:ext cx="2336095" cy="233609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11B1EA3-AB51-7ADA-7CF8-447CB89179BC}"/>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80296" y="4020022"/>
            <a:ext cx="3973370" cy="255785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nternal view of an IC">
            <a:extLst>
              <a:ext uri="{FF2B5EF4-FFF2-40B4-BE49-F238E27FC236}">
                <a16:creationId xmlns:a16="http://schemas.microsoft.com/office/drawing/2014/main" id="{B50723EC-F667-7D2B-4D88-3BCB3EAD10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7430" y="978784"/>
            <a:ext cx="2165612" cy="149066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croscopic view of an IC">
            <a:extLst>
              <a:ext uri="{FF2B5EF4-FFF2-40B4-BE49-F238E27FC236}">
                <a16:creationId xmlns:a16="http://schemas.microsoft.com/office/drawing/2014/main" id="{176A3FC1-5824-B944-8DB4-D4E9B50C67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2404" y="2469447"/>
            <a:ext cx="1701275" cy="149255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2FB6E6B-9244-6730-29B3-49C363A78AF1}"/>
              </a:ext>
            </a:extLst>
          </p:cNvPr>
          <p:cNvSpPr txBox="1"/>
          <p:nvPr/>
        </p:nvSpPr>
        <p:spPr>
          <a:xfrm>
            <a:off x="7446791" y="2103649"/>
            <a:ext cx="1557337" cy="307777"/>
          </a:xfrm>
          <a:prstGeom prst="rect">
            <a:avLst/>
          </a:prstGeom>
          <a:noFill/>
        </p:spPr>
        <p:txBody>
          <a:bodyPr wrap="square">
            <a:spAutoFit/>
          </a:bodyPr>
          <a:lstStyle/>
          <a:p>
            <a:pPr algn="ctr"/>
            <a:r>
              <a:rPr lang="en-US" sz="1400" b="1" dirty="0">
                <a:solidFill>
                  <a:srgbClr val="00B0F0"/>
                </a:solidFill>
                <a:latin typeface="Segoe UI" panose="020B0502040204020203" pitchFamily="34" charset="0"/>
                <a:cs typeface="Segoe UI" panose="020B0502040204020203" pitchFamily="34" charset="0"/>
              </a:rPr>
              <a:t>Inside of an IC</a:t>
            </a:r>
          </a:p>
        </p:txBody>
      </p:sp>
    </p:spTree>
    <p:extLst>
      <p:ext uri="{BB962C8B-B14F-4D97-AF65-F5344CB8AC3E}">
        <p14:creationId xmlns:p14="http://schemas.microsoft.com/office/powerpoint/2010/main" val="1604580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8BB2B-8C83-4620-5914-EAB4ED38C7AD}"/>
              </a:ext>
            </a:extLst>
          </p:cNvPr>
          <p:cNvSpPr>
            <a:spLocks noGrp="1"/>
          </p:cNvSpPr>
          <p:nvPr>
            <p:ph type="title"/>
          </p:nvPr>
        </p:nvSpPr>
        <p:spPr/>
        <p:txBody>
          <a:bodyPr/>
          <a:lstStyle/>
          <a:p>
            <a:r>
              <a:rPr lang="en-US" dirty="0"/>
              <a:t>Component Datasheets</a:t>
            </a:r>
          </a:p>
        </p:txBody>
      </p:sp>
      <p:sp>
        <p:nvSpPr>
          <p:cNvPr id="3" name="Content Placeholder 2">
            <a:extLst>
              <a:ext uri="{FF2B5EF4-FFF2-40B4-BE49-F238E27FC236}">
                <a16:creationId xmlns:a16="http://schemas.microsoft.com/office/drawing/2014/main" id="{376BE23A-8454-F6D2-7992-F9403F39605C}"/>
              </a:ext>
            </a:extLst>
          </p:cNvPr>
          <p:cNvSpPr>
            <a:spLocks noGrp="1"/>
          </p:cNvSpPr>
          <p:nvPr>
            <p:ph idx="1"/>
          </p:nvPr>
        </p:nvSpPr>
        <p:spPr/>
        <p:txBody>
          <a:bodyPr>
            <a:normAutofit/>
          </a:bodyPr>
          <a:lstStyle/>
          <a:p>
            <a:pPr marL="0" indent="0">
              <a:spcBef>
                <a:spcPts val="0"/>
              </a:spcBef>
              <a:spcAft>
                <a:spcPts val="600"/>
              </a:spcAft>
              <a:buNone/>
            </a:pPr>
            <a:r>
              <a:rPr lang="en-US" sz="2000" b="1" dirty="0"/>
              <a:t>A manufacturer’s technical document describing the characteristics, limits, and usage of an electronic component.</a:t>
            </a:r>
            <a:endParaRPr lang="en-US" sz="2000" dirty="0"/>
          </a:p>
          <a:p>
            <a:pPr marL="457200" lvl="1" indent="0" eaLnBrk="0" fontAlgn="base" hangingPunct="0">
              <a:lnSpc>
                <a:spcPct val="100000"/>
              </a:lnSpc>
              <a:spcBef>
                <a:spcPts val="0"/>
              </a:spcBef>
              <a:spcAft>
                <a:spcPts val="600"/>
              </a:spcAft>
              <a:buFontTx/>
              <a:buChar char="•"/>
            </a:pPr>
            <a:r>
              <a:rPr lang="en-US" altLang="en-US" sz="1400" b="1" dirty="0">
                <a:latin typeface="Arial" panose="020B0604020202020204" pitchFamily="34" charset="0"/>
              </a:rPr>
              <a:t>Absolute Maximum Ratings</a:t>
            </a:r>
            <a:r>
              <a:rPr lang="en-US" altLang="en-US" sz="1400" dirty="0">
                <a:latin typeface="Arial" panose="020B0604020202020204" pitchFamily="34" charset="0"/>
              </a:rPr>
              <a:t> – Don’t exceed these values (voltage, current, temp).</a:t>
            </a:r>
          </a:p>
          <a:p>
            <a:pPr marL="457200" lvl="1" indent="0" eaLnBrk="0" fontAlgn="base" hangingPunct="0">
              <a:lnSpc>
                <a:spcPct val="100000"/>
              </a:lnSpc>
              <a:spcBef>
                <a:spcPts val="0"/>
              </a:spcBef>
              <a:spcAft>
                <a:spcPts val="600"/>
              </a:spcAft>
              <a:buFontTx/>
              <a:buChar char="•"/>
            </a:pPr>
            <a:r>
              <a:rPr lang="en-US" altLang="en-US" sz="1400" b="1" dirty="0">
                <a:latin typeface="Arial" panose="020B0604020202020204" pitchFamily="34" charset="0"/>
              </a:rPr>
              <a:t>Electrical Characteristics</a:t>
            </a:r>
            <a:r>
              <a:rPr lang="en-US" altLang="en-US" sz="1400" dirty="0">
                <a:latin typeface="Arial" panose="020B0604020202020204" pitchFamily="34" charset="0"/>
              </a:rPr>
              <a:t> – Nominal operating conditions (e.g., </a:t>
            </a:r>
            <a:r>
              <a:rPr lang="en-US" altLang="en-US" sz="1400" dirty="0" err="1">
                <a:latin typeface="Arial" panose="020B0604020202020204" pitchFamily="34" charset="0"/>
              </a:rPr>
              <a:t>Vcc</a:t>
            </a:r>
            <a:r>
              <a:rPr lang="en-US" altLang="en-US" sz="1400" dirty="0">
                <a:latin typeface="Arial" panose="020B0604020202020204" pitchFamily="34" charset="0"/>
              </a:rPr>
              <a:t>, I/O levels, power consumption).</a:t>
            </a:r>
          </a:p>
          <a:p>
            <a:pPr marL="457200" lvl="1" indent="0" eaLnBrk="0" fontAlgn="base" hangingPunct="0">
              <a:lnSpc>
                <a:spcPct val="100000"/>
              </a:lnSpc>
              <a:spcBef>
                <a:spcPts val="0"/>
              </a:spcBef>
              <a:spcAft>
                <a:spcPts val="600"/>
              </a:spcAft>
              <a:buFontTx/>
              <a:buChar char="•"/>
            </a:pPr>
            <a:r>
              <a:rPr lang="en-US" altLang="en-US" sz="1400" b="1" dirty="0">
                <a:latin typeface="Arial" panose="020B0604020202020204" pitchFamily="34" charset="0"/>
              </a:rPr>
              <a:t>Pinout / Pin Functions</a:t>
            </a:r>
            <a:r>
              <a:rPr lang="en-US" altLang="en-US" sz="1400" dirty="0">
                <a:latin typeface="Arial" panose="020B0604020202020204" pitchFamily="34" charset="0"/>
              </a:rPr>
              <a:t> – What each pin does.</a:t>
            </a:r>
          </a:p>
          <a:p>
            <a:pPr marL="457200" lvl="1" indent="0" eaLnBrk="0" fontAlgn="base" hangingPunct="0">
              <a:lnSpc>
                <a:spcPct val="100000"/>
              </a:lnSpc>
              <a:spcBef>
                <a:spcPts val="0"/>
              </a:spcBef>
              <a:spcAft>
                <a:spcPts val="600"/>
              </a:spcAft>
              <a:buFontTx/>
              <a:buChar char="•"/>
            </a:pPr>
            <a:r>
              <a:rPr lang="en-US" altLang="en-US" sz="1400" b="1" dirty="0">
                <a:latin typeface="Arial" panose="020B0604020202020204" pitchFamily="34" charset="0"/>
              </a:rPr>
              <a:t>Block Diagram / Functional Description</a:t>
            </a:r>
            <a:r>
              <a:rPr lang="en-US" altLang="en-US" sz="1400" dirty="0">
                <a:latin typeface="Arial" panose="020B0604020202020204" pitchFamily="34" charset="0"/>
              </a:rPr>
              <a:t> – Internal overview of how it works.</a:t>
            </a:r>
          </a:p>
          <a:p>
            <a:pPr marL="457200" lvl="1" indent="0" eaLnBrk="0" fontAlgn="base" hangingPunct="0">
              <a:lnSpc>
                <a:spcPct val="100000"/>
              </a:lnSpc>
              <a:spcBef>
                <a:spcPts val="0"/>
              </a:spcBef>
              <a:spcAft>
                <a:spcPts val="600"/>
              </a:spcAft>
              <a:buFontTx/>
              <a:buChar char="•"/>
            </a:pPr>
            <a:r>
              <a:rPr lang="en-US" altLang="en-US" sz="1400" b="1" dirty="0">
                <a:latin typeface="Arial" panose="020B0604020202020204" pitchFamily="34" charset="0"/>
              </a:rPr>
              <a:t>Timing Diagrams</a:t>
            </a:r>
            <a:r>
              <a:rPr lang="en-US" altLang="en-US" sz="1400" dirty="0">
                <a:latin typeface="Arial" panose="020B0604020202020204" pitchFamily="34" charset="0"/>
              </a:rPr>
              <a:t> – For digital ICs: setup/hold times, clocking.</a:t>
            </a:r>
          </a:p>
          <a:p>
            <a:pPr marL="457200" lvl="1" indent="0" eaLnBrk="0" fontAlgn="base" hangingPunct="0">
              <a:lnSpc>
                <a:spcPct val="100000"/>
              </a:lnSpc>
              <a:spcBef>
                <a:spcPts val="0"/>
              </a:spcBef>
              <a:spcAft>
                <a:spcPts val="600"/>
              </a:spcAft>
              <a:buFontTx/>
              <a:buChar char="•"/>
            </a:pPr>
            <a:r>
              <a:rPr lang="en-US" altLang="en-US" sz="1400" b="1" dirty="0">
                <a:latin typeface="Arial" panose="020B0604020202020204" pitchFamily="34" charset="0"/>
              </a:rPr>
              <a:t>Application Circuits</a:t>
            </a:r>
            <a:r>
              <a:rPr lang="en-US" altLang="en-US" sz="1400" dirty="0">
                <a:latin typeface="Arial" panose="020B0604020202020204" pitchFamily="34" charset="0"/>
              </a:rPr>
              <a:t> – Example schematics and recommended usage.</a:t>
            </a:r>
          </a:p>
          <a:p>
            <a:pPr marL="457200" lvl="1" indent="0" eaLnBrk="0" fontAlgn="base" hangingPunct="0">
              <a:lnSpc>
                <a:spcPct val="100000"/>
              </a:lnSpc>
              <a:spcBef>
                <a:spcPts val="0"/>
              </a:spcBef>
              <a:spcAft>
                <a:spcPts val="600"/>
              </a:spcAft>
              <a:buFontTx/>
              <a:buChar char="•"/>
            </a:pPr>
            <a:r>
              <a:rPr lang="en-US" altLang="en-US" sz="1400" b="1" dirty="0">
                <a:latin typeface="Arial" panose="020B0604020202020204" pitchFamily="34" charset="0"/>
              </a:rPr>
              <a:t>Package Information</a:t>
            </a:r>
            <a:r>
              <a:rPr lang="en-US" altLang="en-US" sz="1400" dirty="0">
                <a:latin typeface="Arial" panose="020B0604020202020204" pitchFamily="34" charset="0"/>
              </a:rPr>
              <a:t> – Dimensions, footprint for PCB layout.</a:t>
            </a:r>
          </a:p>
          <a:p>
            <a:pPr marL="0" indent="0">
              <a:buNone/>
            </a:pPr>
            <a:endParaRPr lang="en-US" sz="2000" b="1" dirty="0"/>
          </a:p>
        </p:txBody>
      </p:sp>
      <p:sp>
        <p:nvSpPr>
          <p:cNvPr id="4" name="Slide Number Placeholder 3">
            <a:extLst>
              <a:ext uri="{FF2B5EF4-FFF2-40B4-BE49-F238E27FC236}">
                <a16:creationId xmlns:a16="http://schemas.microsoft.com/office/drawing/2014/main" id="{53CD3B26-DD5F-7B65-3FFD-3CE110EF77F0}"/>
              </a:ext>
            </a:extLst>
          </p:cNvPr>
          <p:cNvSpPr>
            <a:spLocks noGrp="1"/>
          </p:cNvSpPr>
          <p:nvPr>
            <p:ph type="sldNum" sz="quarter" idx="12"/>
          </p:nvPr>
        </p:nvSpPr>
        <p:spPr/>
        <p:txBody>
          <a:bodyPr/>
          <a:lstStyle/>
          <a:p>
            <a:fld id="{9A3029B7-FE6B-4680-9049-80E8298A0825}" type="slidenum">
              <a:rPr lang="en-US" smtClean="0"/>
              <a:t>18</a:t>
            </a:fld>
            <a:endParaRPr lang="en-US"/>
          </a:p>
        </p:txBody>
      </p:sp>
      <p:pic>
        <p:nvPicPr>
          <p:cNvPr id="8" name="Picture 7">
            <a:extLst>
              <a:ext uri="{FF2B5EF4-FFF2-40B4-BE49-F238E27FC236}">
                <a16:creationId xmlns:a16="http://schemas.microsoft.com/office/drawing/2014/main" id="{4BD3BE31-C1C7-0095-0AD4-43384E9E791E}"/>
              </a:ext>
            </a:extLst>
          </p:cNvPr>
          <p:cNvPicPr>
            <a:picLocks noChangeAspect="1"/>
          </p:cNvPicPr>
          <p:nvPr/>
        </p:nvPicPr>
        <p:blipFill>
          <a:blip r:embed="rId2"/>
          <a:stretch>
            <a:fillRect/>
          </a:stretch>
        </p:blipFill>
        <p:spPr>
          <a:xfrm>
            <a:off x="2204279" y="3806885"/>
            <a:ext cx="4735441" cy="3051115"/>
          </a:xfrm>
          <a:prstGeom prst="rect">
            <a:avLst/>
          </a:prstGeom>
        </p:spPr>
      </p:pic>
    </p:spTree>
    <p:extLst>
      <p:ext uri="{BB962C8B-B14F-4D97-AF65-F5344CB8AC3E}">
        <p14:creationId xmlns:p14="http://schemas.microsoft.com/office/powerpoint/2010/main" val="2826820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1FDDCF8B-7484-D44D-83CA-030CC9880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2403731"/>
            <a:ext cx="6190194" cy="42439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4C528E4-DE34-ABD1-28D0-F03F55919A17}"/>
              </a:ext>
            </a:extLst>
          </p:cNvPr>
          <p:cNvSpPr>
            <a:spLocks noGrp="1"/>
          </p:cNvSpPr>
          <p:nvPr>
            <p:ph type="title"/>
          </p:nvPr>
        </p:nvSpPr>
        <p:spPr/>
        <p:txBody>
          <a:bodyPr/>
          <a:lstStyle/>
          <a:p>
            <a:r>
              <a:rPr lang="en-US" dirty="0"/>
              <a:t>Schematic Design</a:t>
            </a:r>
          </a:p>
        </p:txBody>
      </p:sp>
      <p:sp>
        <p:nvSpPr>
          <p:cNvPr id="3" name="Content Placeholder 2">
            <a:extLst>
              <a:ext uri="{FF2B5EF4-FFF2-40B4-BE49-F238E27FC236}">
                <a16:creationId xmlns:a16="http://schemas.microsoft.com/office/drawing/2014/main" id="{D607812C-1AD5-4B7D-3735-2908BB95EE55}"/>
              </a:ext>
            </a:extLst>
          </p:cNvPr>
          <p:cNvSpPr>
            <a:spLocks noGrp="1"/>
          </p:cNvSpPr>
          <p:nvPr>
            <p:ph idx="1"/>
          </p:nvPr>
        </p:nvSpPr>
        <p:spPr/>
        <p:txBody>
          <a:bodyPr>
            <a:normAutofit/>
          </a:bodyPr>
          <a:lstStyle/>
          <a:p>
            <a:pPr marL="0" indent="0">
              <a:buNone/>
            </a:pPr>
            <a:r>
              <a:rPr lang="en-US" sz="2000" b="1" dirty="0"/>
              <a:t>A diagram that represents the circuit in symbolic form. </a:t>
            </a:r>
          </a:p>
          <a:p>
            <a:r>
              <a:rPr lang="en-US" sz="2000" dirty="0"/>
              <a:t>Each electronic component (resistor, capacitor, IC, connector, etc.) is drawn using a standardized symbol, and the connections (nets) show how signals and power flow between them.</a:t>
            </a:r>
          </a:p>
        </p:txBody>
      </p:sp>
      <p:sp>
        <p:nvSpPr>
          <p:cNvPr id="4" name="Slide Number Placeholder 3">
            <a:extLst>
              <a:ext uri="{FF2B5EF4-FFF2-40B4-BE49-F238E27FC236}">
                <a16:creationId xmlns:a16="http://schemas.microsoft.com/office/drawing/2014/main" id="{79701EBD-838A-361C-FD2E-606C6006D11A}"/>
              </a:ext>
            </a:extLst>
          </p:cNvPr>
          <p:cNvSpPr>
            <a:spLocks noGrp="1"/>
          </p:cNvSpPr>
          <p:nvPr>
            <p:ph type="sldNum" sz="quarter" idx="12"/>
          </p:nvPr>
        </p:nvSpPr>
        <p:spPr/>
        <p:txBody>
          <a:bodyPr/>
          <a:lstStyle/>
          <a:p>
            <a:fld id="{9A3029B7-FE6B-4680-9049-80E8298A0825}" type="slidenum">
              <a:rPr lang="en-US" smtClean="0"/>
              <a:t>19</a:t>
            </a:fld>
            <a:endParaRPr lang="en-US"/>
          </a:p>
        </p:txBody>
      </p:sp>
      <p:pic>
        <p:nvPicPr>
          <p:cNvPr id="6" name="Picture 5">
            <a:extLst>
              <a:ext uri="{FF2B5EF4-FFF2-40B4-BE49-F238E27FC236}">
                <a16:creationId xmlns:a16="http://schemas.microsoft.com/office/drawing/2014/main" id="{62E230D1-86CF-B857-924D-0C3919F91917}"/>
              </a:ext>
            </a:extLst>
          </p:cNvPr>
          <p:cNvPicPr>
            <a:picLocks noChangeAspect="1"/>
          </p:cNvPicPr>
          <p:nvPr/>
        </p:nvPicPr>
        <p:blipFill>
          <a:blip r:embed="rId3"/>
          <a:stretch>
            <a:fillRect/>
          </a:stretch>
        </p:blipFill>
        <p:spPr>
          <a:xfrm>
            <a:off x="4432591" y="3073088"/>
            <a:ext cx="4511384" cy="1885788"/>
          </a:xfrm>
          <a:prstGeom prst="rect">
            <a:avLst/>
          </a:prstGeom>
          <a:ln>
            <a:noFill/>
          </a:ln>
          <a:effectLst>
            <a:outerShdw blurRad="190500" algn="tl" rotWithShape="0">
              <a:srgbClr val="000000">
                <a:alpha val="70000"/>
              </a:srgbClr>
            </a:outerShdw>
          </a:effectLst>
        </p:spPr>
      </p:pic>
      <p:sp>
        <p:nvSpPr>
          <p:cNvPr id="8" name="TextBox 7">
            <a:extLst>
              <a:ext uri="{FF2B5EF4-FFF2-40B4-BE49-F238E27FC236}">
                <a16:creationId xmlns:a16="http://schemas.microsoft.com/office/drawing/2014/main" id="{4795FC0E-0AAA-BD23-C397-9B8EA34F7EB0}"/>
              </a:ext>
            </a:extLst>
          </p:cNvPr>
          <p:cNvSpPr txBox="1"/>
          <p:nvPr/>
        </p:nvSpPr>
        <p:spPr>
          <a:xfrm>
            <a:off x="6301317" y="5009692"/>
            <a:ext cx="2452349" cy="584775"/>
          </a:xfrm>
          <a:prstGeom prst="rect">
            <a:avLst/>
          </a:prstGeom>
          <a:noFill/>
        </p:spPr>
        <p:txBody>
          <a:bodyPr wrap="square">
            <a:spAutoFit/>
          </a:bodyPr>
          <a:lstStyle/>
          <a:p>
            <a:pPr algn="ctr"/>
            <a:r>
              <a:rPr lang="en-US" sz="1600" b="1" dirty="0" err="1">
                <a:solidFill>
                  <a:srgbClr val="00B0F0"/>
                </a:solidFill>
                <a:latin typeface="Segoe UI" panose="020B0502040204020203" pitchFamily="34" charset="0"/>
                <a:cs typeface="Segoe UI" panose="020B0502040204020203" pitchFamily="34" charset="0"/>
              </a:rPr>
              <a:t>Powerchain</a:t>
            </a:r>
            <a:r>
              <a:rPr lang="en-US" sz="1600" b="1" dirty="0">
                <a:solidFill>
                  <a:srgbClr val="00B0F0"/>
                </a:solidFill>
                <a:latin typeface="Segoe UI" panose="020B0502040204020203" pitchFamily="34" charset="0"/>
                <a:cs typeface="Segoe UI" panose="020B0502040204020203" pitchFamily="34" charset="0"/>
              </a:rPr>
              <a:t> of the Raspberry Pi Pico</a:t>
            </a:r>
          </a:p>
        </p:txBody>
      </p:sp>
    </p:spTree>
    <p:extLst>
      <p:ext uri="{BB962C8B-B14F-4D97-AF65-F5344CB8AC3E}">
        <p14:creationId xmlns:p14="http://schemas.microsoft.com/office/powerpoint/2010/main" val="2112644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6DFA0-0471-7206-B429-9AFBF5D08200}"/>
              </a:ext>
            </a:extLst>
          </p:cNvPr>
          <p:cNvSpPr>
            <a:spLocks noGrp="1"/>
          </p:cNvSpPr>
          <p:nvPr>
            <p:ph type="title"/>
          </p:nvPr>
        </p:nvSpPr>
        <p:spPr/>
        <p:txBody>
          <a:bodyPr/>
          <a:lstStyle/>
          <a:p>
            <a:r>
              <a:rPr lang="en-US" dirty="0"/>
              <a:t>Prototyping Electronic Systems</a:t>
            </a:r>
          </a:p>
        </p:txBody>
      </p:sp>
      <p:sp>
        <p:nvSpPr>
          <p:cNvPr id="3" name="Content Placeholder 2">
            <a:extLst>
              <a:ext uri="{FF2B5EF4-FFF2-40B4-BE49-F238E27FC236}">
                <a16:creationId xmlns:a16="http://schemas.microsoft.com/office/drawing/2014/main" id="{B7A6C070-939A-5E2D-FC9A-C881C8EE747A}"/>
              </a:ext>
            </a:extLst>
          </p:cNvPr>
          <p:cNvSpPr>
            <a:spLocks noGrp="1"/>
          </p:cNvSpPr>
          <p:nvPr>
            <p:ph idx="1"/>
          </p:nvPr>
        </p:nvSpPr>
        <p:spPr/>
        <p:txBody>
          <a:bodyPr>
            <a:normAutofit/>
          </a:bodyPr>
          <a:lstStyle/>
          <a:p>
            <a:pPr marL="0" indent="0">
              <a:spcBef>
                <a:spcPts val="0"/>
              </a:spcBef>
              <a:buNone/>
            </a:pPr>
            <a:r>
              <a:rPr lang="en-US" sz="2400" b="1" dirty="0"/>
              <a:t>How do we connect electronic components into systems?</a:t>
            </a:r>
          </a:p>
          <a:p>
            <a:pPr marL="0" indent="0">
              <a:spcBef>
                <a:spcPts val="0"/>
              </a:spcBef>
              <a:buNone/>
            </a:pPr>
            <a:endParaRPr lang="en-US" sz="2400" dirty="0"/>
          </a:p>
          <a:p>
            <a:pPr marL="0" indent="0">
              <a:spcBef>
                <a:spcPts val="0"/>
              </a:spcBef>
              <a:buNone/>
            </a:pPr>
            <a:r>
              <a:rPr lang="en-US" sz="2400" dirty="0"/>
              <a:t>Prototyping:</a:t>
            </a:r>
          </a:p>
          <a:p>
            <a:pPr marL="0" indent="0">
              <a:spcBef>
                <a:spcPts val="0"/>
              </a:spcBef>
              <a:buNone/>
            </a:pPr>
            <a:endParaRPr lang="en-US" sz="2400" dirty="0"/>
          </a:p>
          <a:p>
            <a:pPr>
              <a:spcBef>
                <a:spcPts val="0"/>
              </a:spcBef>
            </a:pPr>
            <a:r>
              <a:rPr lang="en-US" sz="2400" dirty="0"/>
              <a:t>Breadboarding</a:t>
            </a:r>
          </a:p>
          <a:p>
            <a:pPr>
              <a:spcBef>
                <a:spcPts val="0"/>
              </a:spcBef>
            </a:pPr>
            <a:endParaRPr lang="en-US" sz="2400" dirty="0"/>
          </a:p>
          <a:p>
            <a:pPr>
              <a:spcBef>
                <a:spcPts val="0"/>
              </a:spcBef>
            </a:pPr>
            <a:r>
              <a:rPr lang="en-US" sz="2400" dirty="0" err="1"/>
              <a:t>Perfboard</a:t>
            </a:r>
            <a:r>
              <a:rPr lang="en-US" sz="2400" dirty="0"/>
              <a:t>/protoboard</a:t>
            </a:r>
          </a:p>
          <a:p>
            <a:pPr>
              <a:spcBef>
                <a:spcPts val="0"/>
              </a:spcBef>
            </a:pPr>
            <a:endParaRPr lang="en-US" sz="2400" dirty="0"/>
          </a:p>
        </p:txBody>
      </p:sp>
      <p:sp>
        <p:nvSpPr>
          <p:cNvPr id="4" name="Slide Number Placeholder 3">
            <a:extLst>
              <a:ext uri="{FF2B5EF4-FFF2-40B4-BE49-F238E27FC236}">
                <a16:creationId xmlns:a16="http://schemas.microsoft.com/office/drawing/2014/main" id="{7754AE07-7534-F6F9-A222-276E994DB6C7}"/>
              </a:ext>
            </a:extLst>
          </p:cNvPr>
          <p:cNvSpPr>
            <a:spLocks noGrp="1"/>
          </p:cNvSpPr>
          <p:nvPr>
            <p:ph type="sldNum" sz="quarter" idx="12"/>
          </p:nvPr>
        </p:nvSpPr>
        <p:spPr/>
        <p:txBody>
          <a:bodyPr/>
          <a:lstStyle/>
          <a:p>
            <a:fld id="{9A3029B7-FE6B-4680-9049-80E8298A0825}" type="slidenum">
              <a:rPr lang="en-US" smtClean="0"/>
              <a:t>20</a:t>
            </a:fld>
            <a:endParaRPr lang="en-US"/>
          </a:p>
        </p:txBody>
      </p:sp>
      <p:pic>
        <p:nvPicPr>
          <p:cNvPr id="5122" name="Picture 2" descr="Perfboard Hackduino ($8 Arduino-compatible Circuit) : 12 Steps (with  Pictures) - Instructables">
            <a:extLst>
              <a:ext uri="{FF2B5EF4-FFF2-40B4-BE49-F238E27FC236}">
                <a16:creationId xmlns:a16="http://schemas.microsoft.com/office/drawing/2014/main" id="{50F5C2FC-F120-814C-A2E0-2E03226E3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85" y="4257839"/>
            <a:ext cx="3648075" cy="242961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Building an 8-Bit CPU on a Breadboard - Austin Morlan">
            <a:extLst>
              <a:ext uri="{FF2B5EF4-FFF2-40B4-BE49-F238E27FC236}">
                <a16:creationId xmlns:a16="http://schemas.microsoft.com/office/drawing/2014/main" id="{1D17D52C-C19E-DFAE-AB15-CF26523BD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5057" y="1560550"/>
            <a:ext cx="3527267" cy="2510116"/>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Top view of SchmalzTech 2&quot; x 3&quot; Protoboard">
            <a:extLst>
              <a:ext uri="{FF2B5EF4-FFF2-40B4-BE49-F238E27FC236}">
                <a16:creationId xmlns:a16="http://schemas.microsoft.com/office/drawing/2014/main" id="{F8AC943B-E08C-D0A6-E297-3F2CFAF3EC7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20298" y="4257839"/>
            <a:ext cx="2429618" cy="2429618"/>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lease critique my first protoboard circuit, including soldering, board  layout, all that good stuff. Thanks! : r/AskElectronics">
            <a:extLst>
              <a:ext uri="{FF2B5EF4-FFF2-40B4-BE49-F238E27FC236}">
                <a16:creationId xmlns:a16="http://schemas.microsoft.com/office/drawing/2014/main" id="{1D99CE9F-55ED-BFF1-22DF-2A438190A0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416" t="27593" r="24028" b="14618"/>
          <a:stretch>
            <a:fillRect/>
          </a:stretch>
        </p:blipFill>
        <p:spPr bwMode="auto">
          <a:xfrm>
            <a:off x="6170654" y="4257839"/>
            <a:ext cx="2822386" cy="2020094"/>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Breadboard Circuits - Design-Build-Code: Engineering Projects">
            <a:extLst>
              <a:ext uri="{FF2B5EF4-FFF2-40B4-BE49-F238E27FC236}">
                <a16:creationId xmlns:a16="http://schemas.microsoft.com/office/drawing/2014/main" id="{90563492-0D8D-E1AF-8216-03324F6C18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a:off x="7078527" y="2057244"/>
            <a:ext cx="2298698" cy="1432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092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68E8C-721B-1625-715D-72BD83AA2BE8}"/>
              </a:ext>
            </a:extLst>
          </p:cNvPr>
          <p:cNvSpPr>
            <a:spLocks noGrp="1"/>
          </p:cNvSpPr>
          <p:nvPr>
            <p:ph type="title"/>
          </p:nvPr>
        </p:nvSpPr>
        <p:spPr/>
        <p:txBody>
          <a:bodyPr/>
          <a:lstStyle/>
          <a:p>
            <a:r>
              <a:rPr lang="en-US" dirty="0"/>
              <a:t>Printed Circuit Board (PCB)</a:t>
            </a:r>
          </a:p>
        </p:txBody>
      </p:sp>
      <p:sp>
        <p:nvSpPr>
          <p:cNvPr id="3" name="Content Placeholder 2">
            <a:extLst>
              <a:ext uri="{FF2B5EF4-FFF2-40B4-BE49-F238E27FC236}">
                <a16:creationId xmlns:a16="http://schemas.microsoft.com/office/drawing/2014/main" id="{9B27B56E-4115-9E5D-4505-B513EFF317A0}"/>
              </a:ext>
            </a:extLst>
          </p:cNvPr>
          <p:cNvSpPr>
            <a:spLocks noGrp="1"/>
          </p:cNvSpPr>
          <p:nvPr>
            <p:ph idx="1"/>
          </p:nvPr>
        </p:nvSpPr>
        <p:spPr>
          <a:xfrm>
            <a:off x="200025" y="1002506"/>
            <a:ext cx="8793015" cy="5722308"/>
          </a:xfrm>
        </p:spPr>
        <p:txBody>
          <a:bodyPr>
            <a:normAutofit fontScale="92500" lnSpcReduction="20000"/>
          </a:bodyPr>
          <a:lstStyle/>
          <a:p>
            <a:pPr marL="0" indent="0">
              <a:buNone/>
            </a:pPr>
            <a:r>
              <a:rPr lang="en-US" sz="2400" b="1" dirty="0"/>
              <a:t>A more permanent solution: Printed Circuit Boards (PCBs)</a:t>
            </a:r>
          </a:p>
          <a:p>
            <a:pPr marL="457200" lvl="1" indent="0">
              <a:buNone/>
            </a:pPr>
            <a:r>
              <a:rPr lang="en-US" sz="2000" dirty="0">
                <a:sym typeface="Wingdings" panose="05000000000000000000" pitchFamily="2" charset="2"/>
              </a:rPr>
              <a:t>F</a:t>
            </a:r>
            <a:r>
              <a:rPr lang="en-US" sz="2000" dirty="0"/>
              <a:t>lat board made of insulating material (usually fiberglass epoxy resin, FR-4) with thin layers of conductive copper traces patterned on it to act as “wires” between components.</a:t>
            </a:r>
          </a:p>
          <a:p>
            <a:pPr marL="0" indent="0">
              <a:buNone/>
            </a:pPr>
            <a:endParaRPr lang="en-US" sz="2400" dirty="0"/>
          </a:p>
          <a:p>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000" b="1" dirty="0"/>
              <a:t>Electronic Design Automation (EDA) </a:t>
            </a:r>
          </a:p>
          <a:p>
            <a:r>
              <a:rPr lang="en-US" sz="2200" dirty="0"/>
              <a:t>PCB design software (analogous to CAD for mechanical parts)</a:t>
            </a:r>
          </a:p>
          <a:p>
            <a:r>
              <a:rPr lang="en-US" sz="2200" dirty="0"/>
              <a:t>Facilitates design of schematic &amp; physical PCB</a:t>
            </a:r>
          </a:p>
          <a:p>
            <a:r>
              <a:rPr lang="en-US" sz="2200" dirty="0"/>
              <a:t>Common software:</a:t>
            </a:r>
          </a:p>
          <a:p>
            <a:pPr lvl="1"/>
            <a:r>
              <a:rPr lang="en-US" sz="2000" dirty="0"/>
              <a:t>Altium </a:t>
            </a:r>
          </a:p>
          <a:p>
            <a:pPr lvl="1"/>
            <a:r>
              <a:rPr lang="en-US" sz="2000" dirty="0" err="1"/>
              <a:t>KiCAD</a:t>
            </a:r>
            <a:endParaRPr lang="en-US" sz="2000" dirty="0"/>
          </a:p>
          <a:p>
            <a:pPr lvl="1"/>
            <a:r>
              <a:rPr lang="en-US" sz="2000" dirty="0"/>
              <a:t>Eagle / Fusion 360</a:t>
            </a:r>
          </a:p>
          <a:p>
            <a:pPr lvl="2"/>
            <a:endParaRPr lang="en-US" sz="1800" dirty="0"/>
          </a:p>
        </p:txBody>
      </p:sp>
      <p:sp>
        <p:nvSpPr>
          <p:cNvPr id="4" name="Slide Number Placeholder 3">
            <a:extLst>
              <a:ext uri="{FF2B5EF4-FFF2-40B4-BE49-F238E27FC236}">
                <a16:creationId xmlns:a16="http://schemas.microsoft.com/office/drawing/2014/main" id="{75E16817-A307-5D03-CD8C-AB6D2B6BA8D2}"/>
              </a:ext>
            </a:extLst>
          </p:cNvPr>
          <p:cNvSpPr>
            <a:spLocks noGrp="1"/>
          </p:cNvSpPr>
          <p:nvPr>
            <p:ph type="sldNum" sz="quarter" idx="12"/>
          </p:nvPr>
        </p:nvSpPr>
        <p:spPr/>
        <p:txBody>
          <a:bodyPr/>
          <a:lstStyle/>
          <a:p>
            <a:fld id="{9A3029B7-FE6B-4680-9049-80E8298A0825}" type="slidenum">
              <a:rPr lang="en-US" smtClean="0"/>
              <a:t>21</a:t>
            </a:fld>
            <a:endParaRPr lang="en-US"/>
          </a:p>
        </p:txBody>
      </p:sp>
      <p:pic>
        <p:nvPicPr>
          <p:cNvPr id="8" name="Picture 7">
            <a:extLst>
              <a:ext uri="{FF2B5EF4-FFF2-40B4-BE49-F238E27FC236}">
                <a16:creationId xmlns:a16="http://schemas.microsoft.com/office/drawing/2014/main" id="{36781EFD-7F3A-3A4B-DC9B-32AAB46291CD}"/>
              </a:ext>
            </a:extLst>
          </p:cNvPr>
          <p:cNvPicPr>
            <a:picLocks noChangeAspect="1"/>
          </p:cNvPicPr>
          <p:nvPr/>
        </p:nvPicPr>
        <p:blipFill>
          <a:blip r:embed="rId2"/>
          <a:stretch>
            <a:fillRect/>
          </a:stretch>
        </p:blipFill>
        <p:spPr>
          <a:xfrm>
            <a:off x="5658809" y="2071056"/>
            <a:ext cx="3438827" cy="2271981"/>
          </a:xfrm>
          <a:prstGeom prst="rect">
            <a:avLst/>
          </a:prstGeom>
        </p:spPr>
      </p:pic>
      <p:pic>
        <p:nvPicPr>
          <p:cNvPr id="6152" name="Picture 8" descr="What is a PCB and How Does a PCB Work? | Viasion">
            <a:extLst>
              <a:ext uri="{FF2B5EF4-FFF2-40B4-BE49-F238E27FC236}">
                <a16:creationId xmlns:a16="http://schemas.microsoft.com/office/drawing/2014/main" id="{35D4C5E8-923A-C6F0-CF9D-9E57952CCF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960" y="2147618"/>
            <a:ext cx="2683680" cy="1664485"/>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Altium Designer Reviews, Prices &amp; Ratings | GetApp UK 2025">
            <a:extLst>
              <a:ext uri="{FF2B5EF4-FFF2-40B4-BE49-F238E27FC236}">
                <a16:creationId xmlns:a16="http://schemas.microsoft.com/office/drawing/2014/main" id="{86439B2F-946A-E9C2-220A-1BBCE7B6F6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7860" y="5360786"/>
            <a:ext cx="2424939" cy="136402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ntroduction to PCBs | Hands-On PCB Engineering">
            <a:extLst>
              <a:ext uri="{FF2B5EF4-FFF2-40B4-BE49-F238E27FC236}">
                <a16:creationId xmlns:a16="http://schemas.microsoft.com/office/drawing/2014/main" id="{AA9FBCD6-7722-9073-67C0-BA78953433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5158" y="2596757"/>
            <a:ext cx="3622702" cy="166448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83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9AAAC-8C19-B99E-D2DC-0DFB8B25D5D0}"/>
              </a:ext>
            </a:extLst>
          </p:cNvPr>
          <p:cNvSpPr>
            <a:spLocks noGrp="1"/>
          </p:cNvSpPr>
          <p:nvPr>
            <p:ph type="title"/>
          </p:nvPr>
        </p:nvSpPr>
        <p:spPr/>
        <p:txBody>
          <a:bodyPr/>
          <a:lstStyle/>
          <a:p>
            <a:r>
              <a:rPr lang="en-US" dirty="0"/>
              <a:t>PCB </a:t>
            </a:r>
            <a:r>
              <a:rPr lang="en-US" dirty="0" err="1"/>
              <a:t>Stackup</a:t>
            </a:r>
            <a:endParaRPr lang="en-US" dirty="0"/>
          </a:p>
        </p:txBody>
      </p:sp>
      <p:sp>
        <p:nvSpPr>
          <p:cNvPr id="3" name="Content Placeholder 2">
            <a:extLst>
              <a:ext uri="{FF2B5EF4-FFF2-40B4-BE49-F238E27FC236}">
                <a16:creationId xmlns:a16="http://schemas.microsoft.com/office/drawing/2014/main" id="{5C683DBE-2875-144E-EF51-3F878E886FD2}"/>
              </a:ext>
            </a:extLst>
          </p:cNvPr>
          <p:cNvSpPr>
            <a:spLocks noGrp="1"/>
          </p:cNvSpPr>
          <p:nvPr>
            <p:ph idx="1"/>
          </p:nvPr>
        </p:nvSpPr>
        <p:spPr/>
        <p:txBody>
          <a:bodyPr>
            <a:normAutofit/>
          </a:bodyPr>
          <a:lstStyle/>
          <a:p>
            <a:pPr marL="0" indent="0">
              <a:buNone/>
            </a:pPr>
            <a:r>
              <a:rPr lang="en-US" sz="2000" b="1" dirty="0"/>
              <a:t>The cross-sectional layout of copper and dielectric layers that define how signals, power, and ground are routed within a circuit board.</a:t>
            </a:r>
          </a:p>
        </p:txBody>
      </p:sp>
      <p:sp>
        <p:nvSpPr>
          <p:cNvPr id="4" name="Slide Number Placeholder 3">
            <a:extLst>
              <a:ext uri="{FF2B5EF4-FFF2-40B4-BE49-F238E27FC236}">
                <a16:creationId xmlns:a16="http://schemas.microsoft.com/office/drawing/2014/main" id="{85BD4077-8B8E-7649-1468-42613F147F3C}"/>
              </a:ext>
            </a:extLst>
          </p:cNvPr>
          <p:cNvSpPr>
            <a:spLocks noGrp="1"/>
          </p:cNvSpPr>
          <p:nvPr>
            <p:ph type="sldNum" sz="quarter" idx="12"/>
          </p:nvPr>
        </p:nvSpPr>
        <p:spPr/>
        <p:txBody>
          <a:bodyPr/>
          <a:lstStyle/>
          <a:p>
            <a:fld id="{9A3029B7-FE6B-4680-9049-80E8298A0825}" type="slidenum">
              <a:rPr lang="en-US" smtClean="0"/>
              <a:t>22</a:t>
            </a:fld>
            <a:endParaRPr lang="en-US"/>
          </a:p>
        </p:txBody>
      </p:sp>
      <p:pic>
        <p:nvPicPr>
          <p:cNvPr id="4098" name="Picture 2" descr="pcb - Choosing the right stackup for 6 or 8 layers - Electrical Engineering  Stack Exchange">
            <a:extLst>
              <a:ext uri="{FF2B5EF4-FFF2-40B4-BE49-F238E27FC236}">
                <a16:creationId xmlns:a16="http://schemas.microsoft.com/office/drawing/2014/main" id="{2AE21ECC-BFE8-6269-97B4-BA96417E06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173"/>
          <a:stretch>
            <a:fillRect/>
          </a:stretch>
        </p:blipFill>
        <p:spPr bwMode="auto">
          <a:xfrm>
            <a:off x="490181" y="2033643"/>
            <a:ext cx="7915120" cy="37837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50AD099-BA45-F669-6B98-02E1FA2A385E}"/>
              </a:ext>
            </a:extLst>
          </p:cNvPr>
          <p:cNvSpPr txBox="1"/>
          <p:nvPr/>
        </p:nvSpPr>
        <p:spPr>
          <a:xfrm>
            <a:off x="4810316" y="5937671"/>
            <a:ext cx="3456095" cy="584775"/>
          </a:xfrm>
          <a:prstGeom prst="rect">
            <a:avLst/>
          </a:prstGeom>
          <a:noFill/>
        </p:spPr>
        <p:txBody>
          <a:bodyPr wrap="square">
            <a:spAutoFit/>
          </a:bodyPr>
          <a:lstStyle/>
          <a:p>
            <a:pPr algn="ctr"/>
            <a:r>
              <a:rPr lang="en-US" sz="1600" b="1" dirty="0">
                <a:solidFill>
                  <a:srgbClr val="00B0F0"/>
                </a:solidFill>
                <a:latin typeface="Segoe UI" panose="020B0502040204020203" pitchFamily="34" charset="0"/>
                <a:cs typeface="Segoe UI" panose="020B0502040204020203" pitchFamily="34" charset="0"/>
              </a:rPr>
              <a:t>“Via” used to connect copper on different layers</a:t>
            </a:r>
          </a:p>
        </p:txBody>
      </p:sp>
      <p:sp>
        <p:nvSpPr>
          <p:cNvPr id="6" name="TextBox 5">
            <a:extLst>
              <a:ext uri="{FF2B5EF4-FFF2-40B4-BE49-F238E27FC236}">
                <a16:creationId xmlns:a16="http://schemas.microsoft.com/office/drawing/2014/main" id="{2BA5EF13-E51B-50D9-D929-37D763E3756D}"/>
              </a:ext>
            </a:extLst>
          </p:cNvPr>
          <p:cNvSpPr txBox="1"/>
          <p:nvPr/>
        </p:nvSpPr>
        <p:spPr>
          <a:xfrm>
            <a:off x="200025" y="1798596"/>
            <a:ext cx="4740275" cy="400110"/>
          </a:xfrm>
          <a:prstGeom prst="rect">
            <a:avLst/>
          </a:prstGeom>
          <a:noFill/>
        </p:spPr>
        <p:txBody>
          <a:bodyPr wrap="square">
            <a:spAutoFit/>
          </a:bodyPr>
          <a:lstStyle/>
          <a:p>
            <a:pPr algn="ctr"/>
            <a:r>
              <a:rPr lang="en-US" sz="2000" b="1" dirty="0">
                <a:solidFill>
                  <a:srgbClr val="00B0F0"/>
                </a:solidFill>
                <a:latin typeface="Segoe UI" panose="020B0502040204020203" pitchFamily="34" charset="0"/>
                <a:cs typeface="Segoe UI" panose="020B0502040204020203" pitchFamily="34" charset="0"/>
              </a:rPr>
              <a:t>Example 8-Layer PCB Cross Section</a:t>
            </a:r>
          </a:p>
        </p:txBody>
      </p:sp>
      <p:cxnSp>
        <p:nvCxnSpPr>
          <p:cNvPr id="8" name="Straight Arrow Connector 7">
            <a:extLst>
              <a:ext uri="{FF2B5EF4-FFF2-40B4-BE49-F238E27FC236}">
                <a16:creationId xmlns:a16="http://schemas.microsoft.com/office/drawing/2014/main" id="{FAF1BC80-C309-3F90-EBB8-5535F7D5BA29}"/>
              </a:ext>
            </a:extLst>
          </p:cNvPr>
          <p:cNvCxnSpPr/>
          <p:nvPr/>
        </p:nvCxnSpPr>
        <p:spPr>
          <a:xfrm flipH="1" flipV="1">
            <a:off x="4940300" y="5600700"/>
            <a:ext cx="609600" cy="381000"/>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2AC0A4C-F0BA-8326-5782-7A2BE95782D2}"/>
              </a:ext>
            </a:extLst>
          </p:cNvPr>
          <p:cNvCxnSpPr>
            <a:cxnSpLocks/>
          </p:cNvCxnSpPr>
          <p:nvPr/>
        </p:nvCxnSpPr>
        <p:spPr>
          <a:xfrm flipH="1" flipV="1">
            <a:off x="3022600" y="5600700"/>
            <a:ext cx="1917700" cy="498998"/>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640057E-239A-9F9D-4129-71F7AB7CF3E6}"/>
              </a:ext>
            </a:extLst>
          </p:cNvPr>
          <p:cNvSpPr txBox="1"/>
          <p:nvPr/>
        </p:nvSpPr>
        <p:spPr>
          <a:xfrm>
            <a:off x="5982895" y="1664001"/>
            <a:ext cx="1850612" cy="338554"/>
          </a:xfrm>
          <a:prstGeom prst="rect">
            <a:avLst/>
          </a:prstGeom>
          <a:noFill/>
        </p:spPr>
        <p:txBody>
          <a:bodyPr wrap="square">
            <a:spAutoFit/>
          </a:bodyPr>
          <a:lstStyle/>
          <a:p>
            <a:pPr algn="ctr"/>
            <a:r>
              <a:rPr lang="en-US" sz="1600" b="1" dirty="0">
                <a:solidFill>
                  <a:srgbClr val="00B0F0"/>
                </a:solidFill>
                <a:latin typeface="Segoe UI" panose="020B0502040204020203" pitchFamily="34" charset="0"/>
                <a:cs typeface="Segoe UI" panose="020B0502040204020203" pitchFamily="34" charset="0"/>
              </a:rPr>
              <a:t>Copper traces</a:t>
            </a:r>
          </a:p>
        </p:txBody>
      </p:sp>
      <p:cxnSp>
        <p:nvCxnSpPr>
          <p:cNvPr id="14" name="Straight Arrow Connector 13">
            <a:extLst>
              <a:ext uri="{FF2B5EF4-FFF2-40B4-BE49-F238E27FC236}">
                <a16:creationId xmlns:a16="http://schemas.microsoft.com/office/drawing/2014/main" id="{7B8138C5-C252-336A-B24D-F333FCA0B2C6}"/>
              </a:ext>
            </a:extLst>
          </p:cNvPr>
          <p:cNvCxnSpPr>
            <a:cxnSpLocks/>
          </p:cNvCxnSpPr>
          <p:nvPr/>
        </p:nvCxnSpPr>
        <p:spPr>
          <a:xfrm flipH="1">
            <a:off x="5943600" y="1941839"/>
            <a:ext cx="260888" cy="273156"/>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1352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61200-358D-CC03-E9AE-EFB6DC367D63}"/>
              </a:ext>
            </a:extLst>
          </p:cNvPr>
          <p:cNvSpPr>
            <a:spLocks noGrp="1"/>
          </p:cNvSpPr>
          <p:nvPr>
            <p:ph type="title"/>
          </p:nvPr>
        </p:nvSpPr>
        <p:spPr/>
        <p:txBody>
          <a:bodyPr/>
          <a:lstStyle/>
          <a:p>
            <a:r>
              <a:rPr lang="en-US" dirty="0"/>
              <a:t>PCB Layout and Routing</a:t>
            </a:r>
          </a:p>
        </p:txBody>
      </p:sp>
      <p:sp>
        <p:nvSpPr>
          <p:cNvPr id="3" name="Content Placeholder 2">
            <a:extLst>
              <a:ext uri="{FF2B5EF4-FFF2-40B4-BE49-F238E27FC236}">
                <a16:creationId xmlns:a16="http://schemas.microsoft.com/office/drawing/2014/main" id="{C43A03BC-7D10-988A-EFBE-EDF925ED742F}"/>
              </a:ext>
            </a:extLst>
          </p:cNvPr>
          <p:cNvSpPr>
            <a:spLocks noGrp="1"/>
          </p:cNvSpPr>
          <p:nvPr>
            <p:ph idx="1"/>
          </p:nvPr>
        </p:nvSpPr>
        <p:spPr>
          <a:xfrm>
            <a:off x="200025" y="1002507"/>
            <a:ext cx="3863975" cy="3556794"/>
          </a:xfrm>
        </p:spPr>
        <p:txBody>
          <a:bodyPr>
            <a:normAutofit/>
          </a:bodyPr>
          <a:lstStyle/>
          <a:p>
            <a:pPr marL="0" indent="0">
              <a:buNone/>
            </a:pPr>
            <a:r>
              <a:rPr lang="en-US" sz="2000" dirty="0"/>
              <a:t>PCB </a:t>
            </a:r>
            <a:r>
              <a:rPr lang="en-US" sz="2000" b="1" dirty="0"/>
              <a:t>Layout</a:t>
            </a:r>
            <a:r>
              <a:rPr lang="en-US" sz="2000" dirty="0"/>
              <a:t> is the process of translating the schematic design int a physical board design. </a:t>
            </a:r>
          </a:p>
          <a:p>
            <a:pPr marL="0" indent="0">
              <a:buNone/>
            </a:pPr>
            <a:r>
              <a:rPr lang="en-US" sz="2000" dirty="0">
                <a:sym typeface="Wingdings" panose="05000000000000000000" pitchFamily="2" charset="2"/>
              </a:rPr>
              <a:t>T</a:t>
            </a:r>
            <a:r>
              <a:rPr lang="en-US" sz="2000" dirty="0"/>
              <a:t>he “floor plan” of the circuit.</a:t>
            </a:r>
          </a:p>
          <a:p>
            <a:pPr marL="0" indent="0">
              <a:buNone/>
            </a:pPr>
            <a:endParaRPr lang="en-US" sz="2000" dirty="0"/>
          </a:p>
          <a:p>
            <a:pPr marL="0" indent="0">
              <a:buNone/>
            </a:pPr>
            <a:r>
              <a:rPr lang="en-US" sz="2000" b="1" dirty="0"/>
              <a:t>Routing</a:t>
            </a:r>
            <a:r>
              <a:rPr lang="en-US" sz="2000" dirty="0"/>
              <a:t> is the process of drawing the copper traces (wires) that connect components according to the schematic.</a:t>
            </a:r>
          </a:p>
        </p:txBody>
      </p:sp>
      <p:sp>
        <p:nvSpPr>
          <p:cNvPr id="4" name="Slide Number Placeholder 3">
            <a:extLst>
              <a:ext uri="{FF2B5EF4-FFF2-40B4-BE49-F238E27FC236}">
                <a16:creationId xmlns:a16="http://schemas.microsoft.com/office/drawing/2014/main" id="{E1B94E02-0514-E793-69B2-A8101E6640C3}"/>
              </a:ext>
            </a:extLst>
          </p:cNvPr>
          <p:cNvSpPr>
            <a:spLocks noGrp="1"/>
          </p:cNvSpPr>
          <p:nvPr>
            <p:ph type="sldNum" sz="quarter" idx="12"/>
          </p:nvPr>
        </p:nvSpPr>
        <p:spPr/>
        <p:txBody>
          <a:bodyPr/>
          <a:lstStyle/>
          <a:p>
            <a:fld id="{9A3029B7-FE6B-4680-9049-80E8298A0825}" type="slidenum">
              <a:rPr lang="en-US" smtClean="0"/>
              <a:t>23</a:t>
            </a:fld>
            <a:endParaRPr lang="en-US"/>
          </a:p>
        </p:txBody>
      </p:sp>
      <p:pic>
        <p:nvPicPr>
          <p:cNvPr id="8198" name="Picture 6" descr="KiCad - Schematic Capture &amp; PCB Design Software">
            <a:extLst>
              <a:ext uri="{FF2B5EF4-FFF2-40B4-BE49-F238E27FC236}">
                <a16:creationId xmlns:a16="http://schemas.microsoft.com/office/drawing/2014/main" id="{FD0792EB-BE0E-225C-E71C-B099EC67F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0015" y="1176315"/>
            <a:ext cx="4353651" cy="244892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KiCad - Wikipedia">
            <a:extLst>
              <a:ext uri="{FF2B5EF4-FFF2-40B4-BE49-F238E27FC236}">
                <a16:creationId xmlns:a16="http://schemas.microsoft.com/office/drawing/2014/main" id="{B2028340-74DF-607F-6740-6AB0AE1F6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8904" y="3781130"/>
            <a:ext cx="4486587" cy="2448929"/>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KiCad - Schematic Capture &amp; PCB Design Software">
            <a:extLst>
              <a:ext uri="{FF2B5EF4-FFF2-40B4-BE49-F238E27FC236}">
                <a16:creationId xmlns:a16="http://schemas.microsoft.com/office/drawing/2014/main" id="{09EF4C0C-21F8-397F-213A-1B29E6839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 y="4275884"/>
            <a:ext cx="4353653" cy="2448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92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10D673-0611-9269-025F-8445FB5A41B8}"/>
              </a:ext>
            </a:extLst>
          </p:cNvPr>
          <p:cNvSpPr>
            <a:spLocks noGrp="1"/>
          </p:cNvSpPr>
          <p:nvPr>
            <p:ph type="title"/>
          </p:nvPr>
        </p:nvSpPr>
        <p:spPr/>
        <p:txBody>
          <a:bodyPr>
            <a:normAutofit/>
          </a:bodyPr>
          <a:lstStyle/>
          <a:p>
            <a:r>
              <a:rPr lang="en-US" sz="4000" dirty="0"/>
              <a:t>Intro to Embedded Programming with Arduino</a:t>
            </a:r>
          </a:p>
        </p:txBody>
      </p:sp>
      <p:sp>
        <p:nvSpPr>
          <p:cNvPr id="6" name="Text Placeholder 5">
            <a:extLst>
              <a:ext uri="{FF2B5EF4-FFF2-40B4-BE49-F238E27FC236}">
                <a16:creationId xmlns:a16="http://schemas.microsoft.com/office/drawing/2014/main" id="{07F16509-7C54-EB6B-DC24-75784E5A5C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D4875C-A169-BE2E-EA08-2D4868090CBB}"/>
              </a:ext>
            </a:extLst>
          </p:cNvPr>
          <p:cNvSpPr>
            <a:spLocks noGrp="1"/>
          </p:cNvSpPr>
          <p:nvPr>
            <p:ph type="sldNum" sz="quarter" idx="12"/>
          </p:nvPr>
        </p:nvSpPr>
        <p:spPr/>
        <p:txBody>
          <a:bodyPr/>
          <a:lstStyle/>
          <a:p>
            <a:fld id="{9A3029B7-FE6B-4680-9049-80E8298A0825}" type="slidenum">
              <a:rPr lang="en-US" smtClean="0"/>
              <a:t>24</a:t>
            </a:fld>
            <a:endParaRPr lang="en-US"/>
          </a:p>
        </p:txBody>
      </p:sp>
    </p:spTree>
    <p:extLst>
      <p:ext uri="{BB962C8B-B14F-4D97-AF65-F5344CB8AC3E}">
        <p14:creationId xmlns:p14="http://schemas.microsoft.com/office/powerpoint/2010/main" val="1693270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82044C3-BBCC-8B7D-8826-A9624759B57D}"/>
              </a:ext>
            </a:extLst>
          </p:cNvPr>
          <p:cNvSpPr>
            <a:spLocks noGrp="1"/>
          </p:cNvSpPr>
          <p:nvPr>
            <p:ph type="title"/>
          </p:nvPr>
        </p:nvSpPr>
        <p:spPr/>
        <p:txBody>
          <a:bodyPr/>
          <a:lstStyle/>
          <a:p>
            <a:r>
              <a:rPr lang="en-US" dirty="0"/>
              <a:t>Topics</a:t>
            </a:r>
          </a:p>
        </p:txBody>
      </p:sp>
      <p:sp>
        <p:nvSpPr>
          <p:cNvPr id="6" name="Content Placeholder 5">
            <a:extLst>
              <a:ext uri="{FF2B5EF4-FFF2-40B4-BE49-F238E27FC236}">
                <a16:creationId xmlns:a16="http://schemas.microsoft.com/office/drawing/2014/main" id="{F4747B56-A065-EF83-8836-E52CC5DE520D}"/>
              </a:ext>
            </a:extLst>
          </p:cNvPr>
          <p:cNvSpPr>
            <a:spLocks noGrp="1"/>
          </p:cNvSpPr>
          <p:nvPr>
            <p:ph idx="1"/>
          </p:nvPr>
        </p:nvSpPr>
        <p:spPr/>
        <p:txBody>
          <a:bodyPr/>
          <a:lstStyle/>
          <a:p>
            <a:r>
              <a:rPr lang="en-US" dirty="0"/>
              <a:t>What is</a:t>
            </a:r>
          </a:p>
          <a:p>
            <a:pPr lvl="1"/>
            <a:r>
              <a:rPr lang="en-US" dirty="0"/>
              <a:t>Arduino?</a:t>
            </a:r>
          </a:p>
          <a:p>
            <a:pPr lvl="1"/>
            <a:r>
              <a:rPr lang="en-US" dirty="0"/>
              <a:t>An IDE?</a:t>
            </a:r>
          </a:p>
          <a:p>
            <a:pPr lvl="1"/>
            <a:r>
              <a:rPr lang="en-US" dirty="0"/>
              <a:t>A ‘sketch’?</a:t>
            </a:r>
          </a:p>
          <a:p>
            <a:pPr lvl="2"/>
            <a:r>
              <a:rPr lang="en-US" dirty="0"/>
              <a:t>Basic structure of a sketch?</a:t>
            </a:r>
          </a:p>
          <a:p>
            <a:pPr lvl="1"/>
            <a:r>
              <a:rPr lang="en-US" dirty="0"/>
              <a:t>Arduino syntax?</a:t>
            </a:r>
          </a:p>
          <a:p>
            <a:pPr lvl="2"/>
            <a:r>
              <a:rPr lang="en-US" dirty="0"/>
              <a:t>Type declarations</a:t>
            </a:r>
          </a:p>
          <a:p>
            <a:pPr lvl="2"/>
            <a:r>
              <a:rPr lang="en-US" dirty="0"/>
              <a:t>Semi-colons..</a:t>
            </a:r>
          </a:p>
          <a:p>
            <a:pPr lvl="2"/>
            <a:r>
              <a:rPr lang="en-US" dirty="0"/>
              <a:t>Case-sensitive</a:t>
            </a:r>
          </a:p>
          <a:p>
            <a:pPr lvl="1"/>
            <a:r>
              <a:rPr lang="en-US" dirty="0"/>
              <a:t>Relation to C++ ?</a:t>
            </a:r>
          </a:p>
          <a:p>
            <a:pPr lvl="1"/>
            <a:r>
              <a:rPr lang="en-US" dirty="0"/>
              <a:t>Variable types?</a:t>
            </a:r>
          </a:p>
          <a:p>
            <a:pPr lvl="1"/>
            <a:r>
              <a:rPr lang="en-US" dirty="0"/>
              <a:t>Object-oriented programming…?</a:t>
            </a:r>
          </a:p>
        </p:txBody>
      </p:sp>
      <p:sp>
        <p:nvSpPr>
          <p:cNvPr id="4" name="Slide Number Placeholder 3">
            <a:extLst>
              <a:ext uri="{FF2B5EF4-FFF2-40B4-BE49-F238E27FC236}">
                <a16:creationId xmlns:a16="http://schemas.microsoft.com/office/drawing/2014/main" id="{88B9FF4B-67F3-74AF-7CE1-9A9D42D2C15E}"/>
              </a:ext>
            </a:extLst>
          </p:cNvPr>
          <p:cNvSpPr>
            <a:spLocks noGrp="1"/>
          </p:cNvSpPr>
          <p:nvPr>
            <p:ph type="sldNum" sz="quarter" idx="12"/>
          </p:nvPr>
        </p:nvSpPr>
        <p:spPr/>
        <p:txBody>
          <a:bodyPr/>
          <a:lstStyle/>
          <a:p>
            <a:fld id="{9A3029B7-FE6B-4680-9049-80E8298A0825}" type="slidenum">
              <a:rPr lang="en-US" smtClean="0"/>
              <a:t>25</a:t>
            </a:fld>
            <a:endParaRPr lang="en-US"/>
          </a:p>
        </p:txBody>
      </p:sp>
    </p:spTree>
    <p:extLst>
      <p:ext uri="{BB962C8B-B14F-4D97-AF65-F5344CB8AC3E}">
        <p14:creationId xmlns:p14="http://schemas.microsoft.com/office/powerpoint/2010/main" val="976801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6BE1-1288-C03E-F11F-4ACD556CD85B}"/>
              </a:ext>
            </a:extLst>
          </p:cNvPr>
          <p:cNvSpPr>
            <a:spLocks noGrp="1"/>
          </p:cNvSpPr>
          <p:nvPr>
            <p:ph type="title"/>
          </p:nvPr>
        </p:nvSpPr>
        <p:spPr/>
        <p:txBody>
          <a:bodyPr/>
          <a:lstStyle/>
          <a:p>
            <a:r>
              <a:rPr lang="en-US" dirty="0"/>
              <a:t>Arduino Variable Types Reference</a:t>
            </a:r>
          </a:p>
        </p:txBody>
      </p:sp>
      <p:graphicFrame>
        <p:nvGraphicFramePr>
          <p:cNvPr id="5" name="Content Placeholder 4">
            <a:extLst>
              <a:ext uri="{FF2B5EF4-FFF2-40B4-BE49-F238E27FC236}">
                <a16:creationId xmlns:a16="http://schemas.microsoft.com/office/drawing/2014/main" id="{1DD0462A-1850-091C-626A-E7B34A235670}"/>
              </a:ext>
            </a:extLst>
          </p:cNvPr>
          <p:cNvGraphicFramePr>
            <a:graphicFrameLocks noGrp="1"/>
          </p:cNvGraphicFramePr>
          <p:nvPr>
            <p:ph idx="1"/>
            <p:extLst>
              <p:ext uri="{D42A27DB-BD31-4B8C-83A1-F6EECF244321}">
                <p14:modId xmlns:p14="http://schemas.microsoft.com/office/powerpoint/2010/main" val="371775276"/>
              </p:ext>
            </p:extLst>
          </p:nvPr>
        </p:nvGraphicFramePr>
        <p:xfrm>
          <a:off x="278065" y="964641"/>
          <a:ext cx="8587869" cy="5632312"/>
        </p:xfrm>
        <a:graphic>
          <a:graphicData uri="http://schemas.openxmlformats.org/drawingml/2006/table">
            <a:tbl>
              <a:tblPr/>
              <a:tblGrid>
                <a:gridCol w="963798">
                  <a:extLst>
                    <a:ext uri="{9D8B030D-6E8A-4147-A177-3AD203B41FA5}">
                      <a16:colId xmlns:a16="http://schemas.microsoft.com/office/drawing/2014/main" val="1660044050"/>
                    </a:ext>
                  </a:extLst>
                </a:gridCol>
                <a:gridCol w="1222728">
                  <a:extLst>
                    <a:ext uri="{9D8B030D-6E8A-4147-A177-3AD203B41FA5}">
                      <a16:colId xmlns:a16="http://schemas.microsoft.com/office/drawing/2014/main" val="292113039"/>
                    </a:ext>
                  </a:extLst>
                </a:gridCol>
                <a:gridCol w="1841285">
                  <a:extLst>
                    <a:ext uri="{9D8B030D-6E8A-4147-A177-3AD203B41FA5}">
                      <a16:colId xmlns:a16="http://schemas.microsoft.com/office/drawing/2014/main" val="3299479193"/>
                    </a:ext>
                  </a:extLst>
                </a:gridCol>
                <a:gridCol w="2280029">
                  <a:extLst>
                    <a:ext uri="{9D8B030D-6E8A-4147-A177-3AD203B41FA5}">
                      <a16:colId xmlns:a16="http://schemas.microsoft.com/office/drawing/2014/main" val="42296838"/>
                    </a:ext>
                  </a:extLst>
                </a:gridCol>
                <a:gridCol w="2280029">
                  <a:extLst>
                    <a:ext uri="{9D8B030D-6E8A-4147-A177-3AD203B41FA5}">
                      <a16:colId xmlns:a16="http://schemas.microsoft.com/office/drawing/2014/main" val="367737413"/>
                    </a:ext>
                  </a:extLst>
                </a:gridCol>
              </a:tblGrid>
              <a:tr h="247144">
                <a:tc>
                  <a:txBody>
                    <a:bodyPr/>
                    <a:lstStyle/>
                    <a:p>
                      <a:pPr>
                        <a:buNone/>
                      </a:pPr>
                      <a:r>
                        <a:rPr lang="en-US" sz="110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1100"/>
                        <a:t>Alternate / stdint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1100"/>
                        <a:t>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110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1100"/>
                        <a:t>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744483934"/>
                  </a:ext>
                </a:extLst>
              </a:tr>
              <a:tr h="247144">
                <a:tc>
                  <a:txBody>
                    <a:bodyPr/>
                    <a:lstStyle/>
                    <a:p>
                      <a:pPr>
                        <a:buNone/>
                      </a:pPr>
                      <a:r>
                        <a:rPr lang="en-US" sz="1100"/>
                        <a:t>byte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uint8_t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1 byte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0 to 255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Unsigned 8-bit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994272"/>
                  </a:ext>
                </a:extLst>
              </a:tr>
              <a:tr h="247144">
                <a:tc>
                  <a:txBody>
                    <a:bodyPr/>
                    <a:lstStyle/>
                    <a:p>
                      <a:pPr>
                        <a:buNone/>
                      </a:pPr>
                      <a:r>
                        <a:rPr lang="en-US" sz="1100"/>
                        <a:t>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int8_t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1 byte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-128 to 127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Single 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5333841"/>
                  </a:ext>
                </a:extLst>
              </a:tr>
              <a:tr h="407061">
                <a:tc>
                  <a:txBody>
                    <a:bodyPr/>
                    <a:lstStyle/>
                    <a:p>
                      <a:pPr>
                        <a:buNone/>
                      </a:pPr>
                      <a:r>
                        <a:rPr lang="en-US" sz="1100"/>
                        <a:t>unsigned 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uint8_t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1 byte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0 to 255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Raw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05818"/>
                  </a:ext>
                </a:extLst>
              </a:tr>
              <a:tr h="296369">
                <a:tc>
                  <a:txBody>
                    <a:bodyPr/>
                    <a:lstStyle/>
                    <a:p>
                      <a:pPr>
                        <a:buNone/>
                      </a:pPr>
                      <a:r>
                        <a:rPr lang="en-US" sz="1100"/>
                        <a:t>short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int16_t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2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-32,768 to 32,767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Rarely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9120073"/>
                  </a:ext>
                </a:extLst>
              </a:tr>
              <a:tr h="407061">
                <a:tc>
                  <a:txBody>
                    <a:bodyPr/>
                    <a:lstStyle/>
                    <a:p>
                      <a:pPr>
                        <a:buNone/>
                      </a:pPr>
                      <a:r>
                        <a:rPr lang="en-US" sz="1100"/>
                        <a:t>unsigned short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uint16_t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2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0 to 65,535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Positive 16-bit integer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7856676"/>
                  </a:ext>
                </a:extLst>
              </a:tr>
              <a:tr h="296369">
                <a:tc>
                  <a:txBody>
                    <a:bodyPr/>
                    <a:lstStyle/>
                    <a:p>
                      <a:pPr>
                        <a:buNone/>
                      </a:pPr>
                      <a:r>
                        <a:rPr lang="en-US" sz="1100"/>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int32_t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4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-2,147,483,648 to 2,147,483,647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Default integer on Pico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5118668"/>
                  </a:ext>
                </a:extLst>
              </a:tr>
              <a:tr h="296369">
                <a:tc>
                  <a:txBody>
                    <a:bodyPr/>
                    <a:lstStyle/>
                    <a:p>
                      <a:pPr>
                        <a:buNone/>
                      </a:pPr>
                      <a:r>
                        <a:rPr lang="en-US" sz="1100"/>
                        <a:t>unsigned 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uint32_t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4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0 to 4,294,967,295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Positive 32-bit integer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349290"/>
                  </a:ext>
                </a:extLst>
              </a:tr>
              <a:tr h="247144">
                <a:tc>
                  <a:txBody>
                    <a:bodyPr/>
                    <a:lstStyle/>
                    <a:p>
                      <a:pPr>
                        <a:buNone/>
                      </a:pPr>
                      <a:r>
                        <a:rPr lang="en-US" sz="1100"/>
                        <a:t>long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int32_t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4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-2,147,483,648 to 2,147,483,647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32-bit integer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244303"/>
                  </a:ext>
                </a:extLst>
              </a:tr>
              <a:tr h="407061">
                <a:tc>
                  <a:txBody>
                    <a:bodyPr/>
                    <a:lstStyle/>
                    <a:p>
                      <a:pPr>
                        <a:buNone/>
                      </a:pPr>
                      <a:r>
                        <a:rPr lang="en-US" sz="1100"/>
                        <a:t>unsigned long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uint32_t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4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0 to 4,294,967,295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Positive 32-bit integer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468597"/>
                  </a:ext>
                </a:extLst>
              </a:tr>
              <a:tr h="296369">
                <a:tc>
                  <a:txBody>
                    <a:bodyPr/>
                    <a:lstStyle/>
                    <a:p>
                      <a:pPr>
                        <a:buNone/>
                      </a:pPr>
                      <a:r>
                        <a:rPr lang="en-US" sz="1100"/>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4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±3.4E38, ~6–7 digits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Single-precision decimal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623400"/>
                  </a:ext>
                </a:extLst>
              </a:tr>
              <a:tr h="296369">
                <a:tc>
                  <a:txBody>
                    <a:bodyPr/>
                    <a:lstStyle/>
                    <a:p>
                      <a:pPr>
                        <a:buNone/>
                      </a:pPr>
                      <a:r>
                        <a:rPr lang="en-US" sz="1100"/>
                        <a:t>double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double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8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±1.7E308, ~15–16 digits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Double-precision decimal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0989210"/>
                  </a:ext>
                </a:extLst>
              </a:tr>
              <a:tr h="247144">
                <a:tc>
                  <a:txBody>
                    <a:bodyPr/>
                    <a:lstStyle/>
                    <a:p>
                      <a:pPr>
                        <a:buNone/>
                      </a:pPr>
                      <a:r>
                        <a:rPr lang="en-US" sz="1100"/>
                        <a:t>bool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bool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1 byte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true/false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Logical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4415021"/>
                  </a:ext>
                </a:extLst>
              </a:tr>
              <a:tr h="296369">
                <a:tc>
                  <a:txBody>
                    <a:bodyPr/>
                    <a:lstStyle/>
                    <a:p>
                      <a:pPr>
                        <a:buNone/>
                      </a:pPr>
                      <a:r>
                        <a:rPr lang="en-US" sz="1100"/>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varies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Arduino text string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3922162"/>
                  </a:ext>
                </a:extLst>
              </a:tr>
              <a:tr h="247144">
                <a:tc>
                  <a:txBody>
                    <a:bodyPr/>
                    <a:lstStyle/>
                    <a:p>
                      <a:pPr>
                        <a:buNone/>
                      </a:pPr>
                      <a:r>
                        <a:rPr lang="en-US" sz="1100"/>
                        <a:t>const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const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dirty="0"/>
                        <a:t>Immutable 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8621593"/>
                  </a:ext>
                </a:extLst>
              </a:tr>
              <a:tr h="296369">
                <a:tc>
                  <a:txBody>
                    <a:bodyPr/>
                    <a:lstStyle/>
                    <a:p>
                      <a:pPr>
                        <a:buNone/>
                      </a:pPr>
                      <a:r>
                        <a:rPr lang="en-US" sz="1100"/>
                        <a:t>volatile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volatile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Used in interrupts/hardware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6172589"/>
                  </a:ext>
                </a:extLst>
              </a:tr>
              <a:tr h="296369">
                <a:tc>
                  <a:txBody>
                    <a:bodyPr/>
                    <a:lstStyle/>
                    <a:p>
                      <a:pPr>
                        <a:buNone/>
                      </a:pPr>
                      <a:r>
                        <a:rPr lang="en-US" sz="1100"/>
                        <a:t>enum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enum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4 bytes (default)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Depends on values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Named integer constants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097121"/>
                  </a:ext>
                </a:extLst>
              </a:tr>
              <a:tr h="407061">
                <a:tc>
                  <a:txBody>
                    <a:bodyPr/>
                    <a:lstStyle/>
                    <a:p>
                      <a:pPr>
                        <a:buNone/>
                      </a:pPr>
                      <a:r>
                        <a:rPr lang="en-US" sz="1100"/>
                        <a:t>struct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struct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dirty="0"/>
                        <a:t>Composite type for grouping variables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495774"/>
                  </a:ext>
                </a:extLst>
              </a:tr>
            </a:tbl>
          </a:graphicData>
        </a:graphic>
      </p:graphicFrame>
      <p:sp>
        <p:nvSpPr>
          <p:cNvPr id="4" name="Slide Number Placeholder 3">
            <a:extLst>
              <a:ext uri="{FF2B5EF4-FFF2-40B4-BE49-F238E27FC236}">
                <a16:creationId xmlns:a16="http://schemas.microsoft.com/office/drawing/2014/main" id="{3BE35E79-3053-B21E-C82F-0D3AAAE0BFDB}"/>
              </a:ext>
            </a:extLst>
          </p:cNvPr>
          <p:cNvSpPr>
            <a:spLocks noGrp="1"/>
          </p:cNvSpPr>
          <p:nvPr>
            <p:ph type="sldNum" sz="quarter" idx="12"/>
          </p:nvPr>
        </p:nvSpPr>
        <p:spPr/>
        <p:txBody>
          <a:bodyPr/>
          <a:lstStyle/>
          <a:p>
            <a:fld id="{9A3029B7-FE6B-4680-9049-80E8298A0825}" type="slidenum">
              <a:rPr lang="en-US" smtClean="0"/>
              <a:t>26</a:t>
            </a:fld>
            <a:endParaRPr lang="en-US" dirty="0"/>
          </a:p>
        </p:txBody>
      </p:sp>
    </p:spTree>
    <p:extLst>
      <p:ext uri="{BB962C8B-B14F-4D97-AF65-F5344CB8AC3E}">
        <p14:creationId xmlns:p14="http://schemas.microsoft.com/office/powerpoint/2010/main" val="4148001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6E9355-F9FE-CA42-BA0D-CDC007F8B6A4}"/>
              </a:ext>
            </a:extLst>
          </p:cNvPr>
          <p:cNvSpPr>
            <a:spLocks noGrp="1"/>
          </p:cNvSpPr>
          <p:nvPr>
            <p:ph type="title"/>
          </p:nvPr>
        </p:nvSpPr>
        <p:spPr/>
        <p:txBody>
          <a:bodyPr/>
          <a:lstStyle/>
          <a:p>
            <a:r>
              <a:rPr lang="en-US" dirty="0"/>
              <a:t>EXTRA MATERIAL</a:t>
            </a:r>
            <a:br>
              <a:rPr lang="en-US" dirty="0"/>
            </a:br>
            <a:r>
              <a:rPr lang="en-US" sz="3600" dirty="0"/>
              <a:t>(</a:t>
            </a:r>
            <a:r>
              <a:rPr lang="en-US" sz="3600" i="1" dirty="0"/>
              <a:t>not testable</a:t>
            </a:r>
            <a:r>
              <a:rPr lang="en-US" sz="3600" dirty="0"/>
              <a:t>)</a:t>
            </a:r>
            <a:endParaRPr lang="en-US" dirty="0"/>
          </a:p>
        </p:txBody>
      </p:sp>
      <p:sp>
        <p:nvSpPr>
          <p:cNvPr id="4" name="Slide Number Placeholder 3">
            <a:extLst>
              <a:ext uri="{FF2B5EF4-FFF2-40B4-BE49-F238E27FC236}">
                <a16:creationId xmlns:a16="http://schemas.microsoft.com/office/drawing/2014/main" id="{F7F22959-C75E-8B94-1B51-B83016EF82E9}"/>
              </a:ext>
            </a:extLst>
          </p:cNvPr>
          <p:cNvSpPr>
            <a:spLocks noGrp="1"/>
          </p:cNvSpPr>
          <p:nvPr>
            <p:ph type="sldNum" sz="quarter" idx="12"/>
          </p:nvPr>
        </p:nvSpPr>
        <p:spPr/>
        <p:txBody>
          <a:bodyPr/>
          <a:lstStyle/>
          <a:p>
            <a:fld id="{9A3029B7-FE6B-4680-9049-80E8298A0825}" type="slidenum">
              <a:rPr lang="en-US" smtClean="0"/>
              <a:t>27</a:t>
            </a:fld>
            <a:endParaRPr lang="en-US"/>
          </a:p>
        </p:txBody>
      </p:sp>
    </p:spTree>
    <p:extLst>
      <p:ext uri="{BB962C8B-B14F-4D97-AF65-F5344CB8AC3E}">
        <p14:creationId xmlns:p14="http://schemas.microsoft.com/office/powerpoint/2010/main" val="4049267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EA358B-3353-E910-B442-77CC00A44D19}"/>
              </a:ext>
            </a:extLst>
          </p:cNvPr>
          <p:cNvSpPr>
            <a:spLocks noGrp="1"/>
          </p:cNvSpPr>
          <p:nvPr>
            <p:ph type="title"/>
          </p:nvPr>
        </p:nvSpPr>
        <p:spPr/>
        <p:txBody>
          <a:bodyPr/>
          <a:lstStyle/>
          <a:p>
            <a:r>
              <a:rPr lang="en-US" dirty="0"/>
              <a:t>Digital Logic Reference</a:t>
            </a:r>
          </a:p>
        </p:txBody>
      </p:sp>
      <p:sp>
        <p:nvSpPr>
          <p:cNvPr id="4" name="Slide Number Placeholder 3">
            <a:extLst>
              <a:ext uri="{FF2B5EF4-FFF2-40B4-BE49-F238E27FC236}">
                <a16:creationId xmlns:a16="http://schemas.microsoft.com/office/drawing/2014/main" id="{8B55E115-402D-1225-B6CC-E742A42B8223}"/>
              </a:ext>
            </a:extLst>
          </p:cNvPr>
          <p:cNvSpPr>
            <a:spLocks noGrp="1"/>
          </p:cNvSpPr>
          <p:nvPr>
            <p:ph type="sldNum" sz="quarter" idx="12"/>
          </p:nvPr>
        </p:nvSpPr>
        <p:spPr/>
        <p:txBody>
          <a:bodyPr/>
          <a:lstStyle/>
          <a:p>
            <a:fld id="{9A3029B7-FE6B-4680-9049-80E8298A0825}" type="slidenum">
              <a:rPr lang="en-US" smtClean="0"/>
              <a:t>28</a:t>
            </a:fld>
            <a:endParaRPr lang="en-US"/>
          </a:p>
        </p:txBody>
      </p:sp>
    </p:spTree>
    <p:extLst>
      <p:ext uri="{BB962C8B-B14F-4D97-AF65-F5344CB8AC3E}">
        <p14:creationId xmlns:p14="http://schemas.microsoft.com/office/powerpoint/2010/main" val="1550809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60FA5-ED32-6B60-4A97-0D8B904FCDD4}"/>
              </a:ext>
            </a:extLst>
          </p:cNvPr>
          <p:cNvSpPr>
            <a:spLocks noGrp="1"/>
          </p:cNvSpPr>
          <p:nvPr>
            <p:ph type="title"/>
          </p:nvPr>
        </p:nvSpPr>
        <p:spPr/>
        <p:txBody>
          <a:bodyPr/>
          <a:lstStyle/>
          <a:p>
            <a:r>
              <a:rPr lang="en-US"/>
              <a:t>Boolean Logic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5E7EDB-1F3A-9E2F-076A-A02A6372AE60}"/>
                  </a:ext>
                </a:extLst>
              </p:cNvPr>
              <p:cNvSpPr>
                <a:spLocks noGrp="1"/>
              </p:cNvSpPr>
              <p:nvPr>
                <p:ph idx="1"/>
              </p:nvPr>
            </p:nvSpPr>
            <p:spPr>
              <a:xfrm>
                <a:off x="200025" y="1657978"/>
                <a:ext cx="8793015" cy="4572081"/>
              </a:xfrm>
            </p:spPr>
            <p:txBody>
              <a:bodyPr/>
              <a:lstStyle/>
              <a:p>
                <a:r>
                  <a:rPr lang="en-US" dirty="0"/>
                  <a:t>3 Primary Operators</a:t>
                </a:r>
              </a:p>
              <a:p>
                <a:pPr lvl="1"/>
                <a:r>
                  <a:rPr lang="en-US" dirty="0"/>
                  <a:t>AND, OR, NOT</a:t>
                </a:r>
              </a:p>
              <a:p>
                <a:r>
                  <a:rPr lang="en-US" dirty="0"/>
                  <a:t># of outcomes depends on number of inputs</a:t>
                </a:r>
              </a:p>
              <a:p>
                <a:pPr marL="914400" lvl="2"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𝑜𝑢𝑡𝑐𝑜𝑚𝑒𝑠</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𝑖𝑛𝑝𝑢𝑡𝑠</m:t>
                          </m:r>
                        </m:sup>
                      </m:sSup>
                    </m:oMath>
                  </m:oMathPara>
                </a14:m>
                <a:endParaRPr lang="en-US" dirty="0"/>
              </a:p>
            </p:txBody>
          </p:sp>
        </mc:Choice>
        <mc:Fallback xmlns="">
          <p:sp>
            <p:nvSpPr>
              <p:cNvPr id="3" name="Content Placeholder 2">
                <a:extLst>
                  <a:ext uri="{FF2B5EF4-FFF2-40B4-BE49-F238E27FC236}">
                    <a16:creationId xmlns:a16="http://schemas.microsoft.com/office/drawing/2014/main" id="{175E7EDB-1F3A-9E2F-076A-A02A6372AE60}"/>
                  </a:ext>
                </a:extLst>
              </p:cNvPr>
              <p:cNvSpPr>
                <a:spLocks noGrp="1" noRot="1" noChangeAspect="1" noMove="1" noResize="1" noEditPoints="1" noAdjustHandles="1" noChangeArrowheads="1" noChangeShapeType="1" noTextEdit="1"/>
              </p:cNvSpPr>
              <p:nvPr>
                <p:ph idx="1"/>
              </p:nvPr>
            </p:nvSpPr>
            <p:spPr>
              <a:xfrm>
                <a:off x="200025" y="1657978"/>
                <a:ext cx="8793015" cy="4572081"/>
              </a:xfrm>
              <a:blipFill>
                <a:blip r:embed="rId2"/>
                <a:stretch>
                  <a:fillRect l="-1248" t="-2400"/>
                </a:stretch>
              </a:blipFill>
            </p:spPr>
            <p:txBody>
              <a:bodyPr/>
              <a:lstStyle/>
              <a:p>
                <a:r>
                  <a:rPr lang="en-US">
                    <a:noFill/>
                  </a:rPr>
                  <a:t> </a:t>
                </a:r>
              </a:p>
            </p:txBody>
          </p:sp>
        </mc:Fallback>
      </mc:AlternateContent>
      <p:graphicFrame>
        <p:nvGraphicFramePr>
          <p:cNvPr id="4" name="Content Placeholder 4">
            <a:extLst>
              <a:ext uri="{FF2B5EF4-FFF2-40B4-BE49-F238E27FC236}">
                <a16:creationId xmlns:a16="http://schemas.microsoft.com/office/drawing/2014/main" id="{3F08D5D8-BE6C-80A0-6197-AC8313D738DA}"/>
              </a:ext>
            </a:extLst>
          </p:cNvPr>
          <p:cNvGraphicFramePr>
            <a:graphicFrameLocks/>
          </p:cNvGraphicFramePr>
          <p:nvPr>
            <p:extLst>
              <p:ext uri="{D42A27DB-BD31-4B8C-83A1-F6EECF244321}">
                <p14:modId xmlns:p14="http://schemas.microsoft.com/office/powerpoint/2010/main" val="2178764387"/>
              </p:ext>
            </p:extLst>
          </p:nvPr>
        </p:nvGraphicFramePr>
        <p:xfrm>
          <a:off x="985335" y="3648389"/>
          <a:ext cx="7173330" cy="2460203"/>
        </p:xfrm>
        <a:graphic>
          <a:graphicData uri="http://schemas.openxmlformats.org/drawingml/2006/table">
            <a:tbl>
              <a:tblPr firstRow="1" bandRow="1">
                <a:tableStyleId>{9DCAF9ED-07DC-4A11-8D7F-57B35C25682E}</a:tableStyleId>
              </a:tblPr>
              <a:tblGrid>
                <a:gridCol w="3586665">
                  <a:extLst>
                    <a:ext uri="{9D8B030D-6E8A-4147-A177-3AD203B41FA5}">
                      <a16:colId xmlns:a16="http://schemas.microsoft.com/office/drawing/2014/main" val="20000"/>
                    </a:ext>
                  </a:extLst>
                </a:gridCol>
                <a:gridCol w="3586665">
                  <a:extLst>
                    <a:ext uri="{9D8B030D-6E8A-4147-A177-3AD203B41FA5}">
                      <a16:colId xmlns:a16="http://schemas.microsoft.com/office/drawing/2014/main" val="20001"/>
                    </a:ext>
                  </a:extLst>
                </a:gridCol>
              </a:tblGrid>
              <a:tr h="570443">
                <a:tc gridSpan="2">
                  <a:txBody>
                    <a:bodyPr/>
                    <a:lstStyle/>
                    <a:p>
                      <a:pPr algn="ctr"/>
                      <a:r>
                        <a:rPr lang="en-US" sz="2800"/>
                        <a:t>Two states for a Binary Signal</a:t>
                      </a:r>
                      <a:endParaRPr lang="en-US" sz="2800" b="1"/>
                    </a:p>
                  </a:txBody>
                  <a:tcPr/>
                </a:tc>
                <a:tc hMerge="1">
                  <a:txBody>
                    <a:bodyPr/>
                    <a:lstStyle/>
                    <a:p>
                      <a:endParaRPr lang="en-US"/>
                    </a:p>
                  </a:txBody>
                  <a:tcPr/>
                </a:tc>
                <a:extLst>
                  <a:ext uri="{0D108BD9-81ED-4DB2-BD59-A6C34878D82A}">
                    <a16:rowId xmlns:a16="http://schemas.microsoft.com/office/drawing/2014/main" val="10000"/>
                  </a:ext>
                </a:extLst>
              </a:tr>
              <a:tr h="337527">
                <a:tc>
                  <a:txBody>
                    <a:bodyPr/>
                    <a:lstStyle/>
                    <a:p>
                      <a:pPr algn="ctr"/>
                      <a:r>
                        <a:rPr lang="en-US" sz="2000" b="1"/>
                        <a:t>TRUE</a:t>
                      </a:r>
                    </a:p>
                  </a:txBody>
                  <a:tcPr>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algn="ctr"/>
                      <a:r>
                        <a:rPr lang="en-US" sz="2000" b="1"/>
                        <a:t>FALSE</a:t>
                      </a:r>
                    </a:p>
                  </a:txBody>
                  <a:tcPr>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7527">
                <a:tc>
                  <a:txBody>
                    <a:bodyPr/>
                    <a:lstStyle/>
                    <a:p>
                      <a:pPr algn="ctr"/>
                      <a:r>
                        <a:rPr lang="en-US" sz="2000"/>
                        <a:t>On</a:t>
                      </a:r>
                    </a:p>
                  </a:txBody>
                  <a:tcP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2000"/>
                        <a:t>Off</a:t>
                      </a:r>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7527">
                <a:tc>
                  <a:txBody>
                    <a:bodyPr/>
                    <a:lstStyle/>
                    <a:p>
                      <a:pPr algn="ctr"/>
                      <a:r>
                        <a:rPr lang="en-US" sz="2000"/>
                        <a:t>1</a:t>
                      </a:r>
                    </a:p>
                  </a:txBody>
                  <a:tcP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2000"/>
                        <a:t>0</a:t>
                      </a:r>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07246">
                <a:tc>
                  <a:txBody>
                    <a:bodyPr/>
                    <a:lstStyle/>
                    <a:p>
                      <a:pPr algn="ctr"/>
                      <a:r>
                        <a:rPr lang="en-US" sz="2000" dirty="0"/>
                        <a:t>5 volts </a:t>
                      </a:r>
                      <a:br>
                        <a:rPr lang="en-US" sz="2000" dirty="0"/>
                      </a:br>
                      <a:r>
                        <a:rPr lang="en-US" sz="2000" dirty="0"/>
                        <a:t>(or less in modern circuits)</a:t>
                      </a:r>
                    </a:p>
                  </a:txBody>
                  <a:tcP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tcPr>
                </a:tc>
                <a:tc>
                  <a:txBody>
                    <a:bodyPr/>
                    <a:lstStyle/>
                    <a:p>
                      <a:pPr algn="ctr"/>
                      <a:r>
                        <a:rPr lang="en-US" sz="2000" dirty="0"/>
                        <a:t>0 volts</a:t>
                      </a:r>
                    </a:p>
                  </a:txBody>
                  <a:tcP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860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8236" y="-98435"/>
            <a:ext cx="7772400" cy="1143000"/>
          </a:xfrm>
        </p:spPr>
        <p:txBody>
          <a:bodyPr/>
          <a:lstStyle/>
          <a:p>
            <a:r>
              <a:rPr lang="en-US" dirty="0"/>
              <a:t>Digital Logic Gates</a:t>
            </a:r>
          </a:p>
        </p:txBody>
      </p:sp>
      <p:sp>
        <p:nvSpPr>
          <p:cNvPr id="9" name="TextBox 8"/>
          <p:cNvSpPr txBox="1"/>
          <p:nvPr/>
        </p:nvSpPr>
        <p:spPr>
          <a:xfrm>
            <a:off x="3153182" y="1023223"/>
            <a:ext cx="2837636"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Times New Roman" pitchFamily="18" charset="0"/>
                <a:ea typeface="+mn-ea"/>
                <a:cs typeface="+mn-cs"/>
              </a:rPr>
              <a:t>The “</a:t>
            </a:r>
            <a:r>
              <a:rPr kumimoji="0" lang="en-US" sz="2800" b="1" i="0" u="none" strike="noStrike" kern="1200" cap="none" spc="0" normalizeH="0" baseline="0" noProof="0">
                <a:ln>
                  <a:noFill/>
                </a:ln>
                <a:solidFill>
                  <a:srgbClr val="FF0000"/>
                </a:solidFill>
                <a:effectLst/>
                <a:uLnTx/>
                <a:uFillTx/>
                <a:latin typeface="Times New Roman" pitchFamily="18" charset="0"/>
                <a:ea typeface="+mn-ea"/>
                <a:cs typeface="+mn-cs"/>
              </a:rPr>
              <a:t>AND</a:t>
            </a:r>
            <a:r>
              <a:rPr kumimoji="0" lang="en-US" sz="2800" b="1" i="0" u="none" strike="noStrike" kern="1200" cap="none" spc="0" normalizeH="0" baseline="0" noProof="0">
                <a:ln>
                  <a:noFill/>
                </a:ln>
                <a:solidFill>
                  <a:srgbClr val="000000"/>
                </a:solidFill>
                <a:effectLst/>
                <a:uLnTx/>
                <a:uFillTx/>
                <a:latin typeface="Times New Roman" pitchFamily="18" charset="0"/>
                <a:ea typeface="+mn-ea"/>
                <a:cs typeface="+mn-cs"/>
              </a:rPr>
              <a:t>” Gate</a:t>
            </a:r>
          </a:p>
        </p:txBody>
      </p:sp>
      <p:graphicFrame>
        <p:nvGraphicFramePr>
          <p:cNvPr id="3" name="Table 2"/>
          <p:cNvGraphicFramePr>
            <a:graphicFrameLocks noGrp="1"/>
          </p:cNvGraphicFramePr>
          <p:nvPr>
            <p:extLst>
              <p:ext uri="{D42A27DB-BD31-4B8C-83A1-F6EECF244321}">
                <p14:modId xmlns:p14="http://schemas.microsoft.com/office/powerpoint/2010/main" val="1058640015"/>
              </p:ext>
            </p:extLst>
          </p:nvPr>
        </p:nvGraphicFramePr>
        <p:xfrm>
          <a:off x="1219200" y="2247483"/>
          <a:ext cx="6658383" cy="2590802"/>
        </p:xfrm>
        <a:graphic>
          <a:graphicData uri="http://schemas.openxmlformats.org/drawingml/2006/table">
            <a:tbl>
              <a:tblPr firstRow="1" bandRow="1">
                <a:tableStyleId>{93296810-A885-4BE3-A3E7-6D5BEEA58F35}</a:tableStyleId>
              </a:tblPr>
              <a:tblGrid>
                <a:gridCol w="2219461">
                  <a:extLst>
                    <a:ext uri="{9D8B030D-6E8A-4147-A177-3AD203B41FA5}">
                      <a16:colId xmlns:a16="http://schemas.microsoft.com/office/drawing/2014/main" val="20000"/>
                    </a:ext>
                  </a:extLst>
                </a:gridCol>
                <a:gridCol w="2219461">
                  <a:extLst>
                    <a:ext uri="{9D8B030D-6E8A-4147-A177-3AD203B41FA5}">
                      <a16:colId xmlns:a16="http://schemas.microsoft.com/office/drawing/2014/main" val="20001"/>
                    </a:ext>
                  </a:extLst>
                </a:gridCol>
                <a:gridCol w="2219461">
                  <a:extLst>
                    <a:ext uri="{9D8B030D-6E8A-4147-A177-3AD203B41FA5}">
                      <a16:colId xmlns:a16="http://schemas.microsoft.com/office/drawing/2014/main" val="20002"/>
                    </a:ext>
                  </a:extLst>
                </a:gridCol>
              </a:tblGrid>
              <a:tr h="512466">
                <a:tc>
                  <a:txBody>
                    <a:bodyPr/>
                    <a:lstStyle/>
                    <a:p>
                      <a:pPr algn="ctr"/>
                      <a:r>
                        <a:rPr lang="en-US"/>
                        <a:t>A</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a:t>B</a:t>
                      </a:r>
                    </a:p>
                  </a:txBody>
                  <a:tcPr>
                    <a:lnT w="12700" cap="flat" cmpd="sng" algn="ctr">
                      <a:solidFill>
                        <a:schemeClr val="tx1"/>
                      </a:solidFill>
                      <a:prstDash val="solid"/>
                      <a:round/>
                      <a:headEnd type="none" w="med" len="med"/>
                      <a:tailEnd type="none" w="med" len="med"/>
                    </a:lnT>
                  </a:tcPr>
                </a:tc>
                <a:tc>
                  <a:txBody>
                    <a:bodyPr/>
                    <a:lstStyle/>
                    <a:p>
                      <a:pPr algn="ctr"/>
                      <a:r>
                        <a:rPr lang="en-US"/>
                        <a:t>Output (Q)</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519584">
                <a:tc>
                  <a:txBody>
                    <a:bodyPr/>
                    <a:lstStyle/>
                    <a:p>
                      <a:pPr algn="ctr"/>
                      <a:endParaRPr lang="en-US"/>
                    </a:p>
                  </a:txBody>
                  <a:tcPr>
                    <a:lnL w="12700" cap="flat" cmpd="sng" algn="ctr">
                      <a:solidFill>
                        <a:schemeClr val="tx1"/>
                      </a:solidFill>
                      <a:prstDash val="solid"/>
                      <a:round/>
                      <a:headEnd type="none" w="med" len="med"/>
                      <a:tailEnd type="none" w="med" len="med"/>
                    </a:lnL>
                  </a:tcPr>
                </a:tc>
                <a:tc>
                  <a:txBody>
                    <a:bodyPr/>
                    <a:lstStyle/>
                    <a:p>
                      <a:pPr algn="ctr"/>
                      <a:endParaRPr lang="en-US"/>
                    </a:p>
                  </a:txBody>
                  <a:tcPr/>
                </a:tc>
                <a:tc>
                  <a:txBody>
                    <a:bodyPr/>
                    <a:lstStyle/>
                    <a:p>
                      <a:pPr algn="ctr"/>
                      <a:endParaRPr lang="en-US"/>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519584">
                <a:tc>
                  <a:txBody>
                    <a:bodyPr/>
                    <a:lstStyle/>
                    <a:p>
                      <a:pPr algn="ctr"/>
                      <a:endParaRPr lang="en-US"/>
                    </a:p>
                  </a:txBody>
                  <a:tcPr>
                    <a:lnL w="12700" cap="flat" cmpd="sng" algn="ctr">
                      <a:solidFill>
                        <a:schemeClr val="tx1"/>
                      </a:solidFill>
                      <a:prstDash val="solid"/>
                      <a:round/>
                      <a:headEnd type="none" w="med" len="med"/>
                      <a:tailEnd type="none" w="med" len="med"/>
                    </a:lnL>
                  </a:tcPr>
                </a:tc>
                <a:tc>
                  <a:txBody>
                    <a:bodyPr/>
                    <a:lstStyle/>
                    <a:p>
                      <a:pPr algn="ctr"/>
                      <a:endParaRPr lang="en-US"/>
                    </a:p>
                  </a:txBody>
                  <a:tcPr/>
                </a:tc>
                <a:tc>
                  <a:txBody>
                    <a:bodyPr/>
                    <a:lstStyle/>
                    <a:p>
                      <a:pPr algn="ctr"/>
                      <a:endParaRPr lang="en-US"/>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519584">
                <a:tc>
                  <a:txBody>
                    <a:bodyPr/>
                    <a:lstStyle/>
                    <a:p>
                      <a:pPr algn="ctr"/>
                      <a:endParaRPr lang="en-US"/>
                    </a:p>
                  </a:txBody>
                  <a:tcPr>
                    <a:lnL w="12700" cap="flat" cmpd="sng" algn="ctr">
                      <a:solidFill>
                        <a:schemeClr val="tx1"/>
                      </a:solidFill>
                      <a:prstDash val="solid"/>
                      <a:round/>
                      <a:headEnd type="none" w="med" len="med"/>
                      <a:tailEnd type="none" w="med" len="med"/>
                    </a:lnL>
                  </a:tcPr>
                </a:tc>
                <a:tc>
                  <a:txBody>
                    <a:bodyPr/>
                    <a:lstStyle/>
                    <a:p>
                      <a:pPr algn="ctr"/>
                      <a:endParaRPr lang="en-US"/>
                    </a:p>
                  </a:txBody>
                  <a:tcPr/>
                </a:tc>
                <a:tc>
                  <a:txBody>
                    <a:bodyPr/>
                    <a:lstStyle/>
                    <a:p>
                      <a:pPr algn="ctr"/>
                      <a:endParaRPr lang="en-US"/>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519584">
                <a:tc>
                  <a:txBody>
                    <a:bodyPr/>
                    <a:lstStyle/>
                    <a:p>
                      <a:pPr algn="ctr"/>
                      <a:endParaRPr lang="en-US"/>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endParaRPr lang="en-US"/>
                    </a:p>
                  </a:txBody>
                  <a:tcPr>
                    <a:lnB w="12700" cap="flat" cmpd="sng" algn="ctr">
                      <a:solidFill>
                        <a:schemeClr val="tx1"/>
                      </a:solidFill>
                      <a:prstDash val="solid"/>
                      <a:round/>
                      <a:headEnd type="none" w="med" len="med"/>
                      <a:tailEnd type="none" w="med" len="med"/>
                    </a:lnB>
                  </a:tcPr>
                </a:tc>
                <a:tc>
                  <a:txBody>
                    <a:bodyPr/>
                    <a:lstStyle/>
                    <a:p>
                      <a:pPr algn="ctr"/>
                      <a:endParaRPr lang="en-US"/>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Box 4"/>
          <p:cNvSpPr txBox="1"/>
          <p:nvPr/>
        </p:nvSpPr>
        <p:spPr>
          <a:xfrm>
            <a:off x="1828493" y="279031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0</a:t>
            </a:r>
          </a:p>
        </p:txBody>
      </p:sp>
      <p:sp>
        <p:nvSpPr>
          <p:cNvPr id="6" name="TextBox 5"/>
          <p:cNvSpPr txBox="1"/>
          <p:nvPr/>
        </p:nvSpPr>
        <p:spPr>
          <a:xfrm>
            <a:off x="4091192" y="334669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7" name="TextBox 6"/>
          <p:cNvSpPr txBox="1"/>
          <p:nvPr/>
        </p:nvSpPr>
        <p:spPr>
          <a:xfrm>
            <a:off x="6324293" y="386098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0</a:t>
            </a:r>
          </a:p>
        </p:txBody>
      </p:sp>
      <p:sp>
        <p:nvSpPr>
          <p:cNvPr id="8" name="TextBox 7"/>
          <p:cNvSpPr txBox="1"/>
          <p:nvPr/>
        </p:nvSpPr>
        <p:spPr>
          <a:xfrm>
            <a:off x="6324293" y="334669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0</a:t>
            </a:r>
          </a:p>
        </p:txBody>
      </p:sp>
      <p:sp>
        <p:nvSpPr>
          <p:cNvPr id="10" name="TextBox 9"/>
          <p:cNvSpPr txBox="1"/>
          <p:nvPr/>
        </p:nvSpPr>
        <p:spPr>
          <a:xfrm>
            <a:off x="4114493" y="386098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0</a:t>
            </a:r>
          </a:p>
        </p:txBody>
      </p:sp>
      <p:sp>
        <p:nvSpPr>
          <p:cNvPr id="11" name="TextBox 10"/>
          <p:cNvSpPr txBox="1"/>
          <p:nvPr/>
        </p:nvSpPr>
        <p:spPr>
          <a:xfrm>
            <a:off x="1828493" y="334669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0</a:t>
            </a:r>
          </a:p>
        </p:txBody>
      </p:sp>
      <p:sp>
        <p:nvSpPr>
          <p:cNvPr id="12" name="TextBox 11"/>
          <p:cNvSpPr txBox="1"/>
          <p:nvPr/>
        </p:nvSpPr>
        <p:spPr>
          <a:xfrm>
            <a:off x="4091192" y="2777013"/>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0</a:t>
            </a:r>
          </a:p>
        </p:txBody>
      </p:sp>
      <p:sp>
        <p:nvSpPr>
          <p:cNvPr id="13" name="TextBox 12"/>
          <p:cNvSpPr txBox="1"/>
          <p:nvPr/>
        </p:nvSpPr>
        <p:spPr>
          <a:xfrm>
            <a:off x="6324293" y="2780883"/>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0</a:t>
            </a:r>
          </a:p>
        </p:txBody>
      </p:sp>
      <p:sp>
        <p:nvSpPr>
          <p:cNvPr id="14" name="TextBox 13"/>
          <p:cNvSpPr txBox="1"/>
          <p:nvPr/>
        </p:nvSpPr>
        <p:spPr>
          <a:xfrm>
            <a:off x="1828493" y="439438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15" name="TextBox 14"/>
          <p:cNvSpPr txBox="1"/>
          <p:nvPr/>
        </p:nvSpPr>
        <p:spPr>
          <a:xfrm>
            <a:off x="4119531" y="439438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16" name="TextBox 15"/>
          <p:cNvSpPr txBox="1"/>
          <p:nvPr/>
        </p:nvSpPr>
        <p:spPr>
          <a:xfrm>
            <a:off x="6324293" y="439438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17" name="TextBox 16"/>
          <p:cNvSpPr txBox="1"/>
          <p:nvPr/>
        </p:nvSpPr>
        <p:spPr>
          <a:xfrm>
            <a:off x="1828493" y="3860988"/>
            <a:ext cx="914400" cy="400110"/>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18" name="TextBox 17"/>
          <p:cNvSpPr txBox="1"/>
          <p:nvPr/>
        </p:nvSpPr>
        <p:spPr>
          <a:xfrm>
            <a:off x="1426780" y="1561683"/>
            <a:ext cx="6290440"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Times New Roman" pitchFamily="18" charset="0"/>
                <a:ea typeface="+mn-ea"/>
                <a:cs typeface="+mn-cs"/>
              </a:rPr>
              <a:t>If </a:t>
            </a:r>
            <a:r>
              <a:rPr kumimoji="0" lang="en-US" sz="2800" b="1" i="0" u="sng" strike="noStrike" kern="1200" cap="none" spc="0" normalizeH="0" baseline="0" noProof="0">
                <a:ln>
                  <a:noFill/>
                </a:ln>
                <a:solidFill>
                  <a:srgbClr val="000000"/>
                </a:solidFill>
                <a:effectLst/>
                <a:uLnTx/>
                <a:uFillTx/>
                <a:latin typeface="Times New Roman" pitchFamily="18" charset="0"/>
                <a:ea typeface="+mn-ea"/>
                <a:cs typeface="+mn-cs"/>
              </a:rPr>
              <a:t>both</a:t>
            </a:r>
            <a:r>
              <a:rPr kumimoji="0" lang="en-US" sz="2800" b="1" i="0" u="none" strike="noStrike" kern="1200" cap="none" spc="0" normalizeH="0" baseline="0" noProof="0">
                <a:ln>
                  <a:noFill/>
                </a:ln>
                <a:solidFill>
                  <a:srgbClr val="000000"/>
                </a:solidFill>
                <a:effectLst/>
                <a:uLnTx/>
                <a:uFillTx/>
                <a:latin typeface="Times New Roman" pitchFamily="18" charset="0"/>
                <a:ea typeface="+mn-ea"/>
                <a:cs typeface="+mn-cs"/>
              </a:rPr>
              <a:t> inputs are true, then output true</a:t>
            </a:r>
          </a:p>
        </p:txBody>
      </p:sp>
      <p:sp>
        <p:nvSpPr>
          <p:cNvPr id="24" name="TextBox 23"/>
          <p:cNvSpPr txBox="1"/>
          <p:nvPr/>
        </p:nvSpPr>
        <p:spPr>
          <a:xfrm>
            <a:off x="3550920" y="4990683"/>
            <a:ext cx="1935480"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a:ln>
                  <a:noFill/>
                </a:ln>
                <a:solidFill>
                  <a:srgbClr val="000000"/>
                </a:solidFill>
                <a:effectLst/>
                <a:uLnTx/>
                <a:uFillTx/>
                <a:latin typeface="Times New Roman" pitchFamily="18" charset="0"/>
                <a:ea typeface="+mn-ea"/>
                <a:cs typeface="+mn-cs"/>
              </a:rPr>
              <a:t>Math Symbol:</a:t>
            </a:r>
          </a:p>
        </p:txBody>
      </p:sp>
      <p:sp>
        <p:nvSpPr>
          <p:cNvPr id="25" name="TextBox 24"/>
          <p:cNvSpPr txBox="1"/>
          <p:nvPr/>
        </p:nvSpPr>
        <p:spPr>
          <a:xfrm>
            <a:off x="6112304" y="5002113"/>
            <a:ext cx="265069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a:ln>
                  <a:noFill/>
                </a:ln>
                <a:solidFill>
                  <a:srgbClr val="000000"/>
                </a:solidFill>
                <a:effectLst/>
                <a:uLnTx/>
                <a:uFillTx/>
                <a:latin typeface="Times New Roman" pitchFamily="18" charset="0"/>
                <a:ea typeface="+mn-ea"/>
                <a:cs typeface="+mn-cs"/>
              </a:rPr>
              <a:t>Boolean Equation:</a:t>
            </a:r>
          </a:p>
        </p:txBody>
      </p:sp>
      <p:sp>
        <p:nvSpPr>
          <p:cNvPr id="26" name="TextBox 25"/>
          <p:cNvSpPr txBox="1"/>
          <p:nvPr/>
        </p:nvSpPr>
        <p:spPr>
          <a:xfrm>
            <a:off x="533400" y="4990684"/>
            <a:ext cx="2286000"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a:ln>
                  <a:noFill/>
                </a:ln>
                <a:solidFill>
                  <a:srgbClr val="000000"/>
                </a:solidFill>
                <a:effectLst/>
                <a:uLnTx/>
                <a:uFillTx/>
                <a:latin typeface="Times New Roman" pitchFamily="18" charset="0"/>
                <a:ea typeface="+mn-ea"/>
                <a:cs typeface="+mn-cs"/>
              </a:rPr>
              <a:t>Wiring Symbol:</a:t>
            </a:r>
          </a:p>
        </p:txBody>
      </p:sp>
      <p:sp>
        <p:nvSpPr>
          <p:cNvPr id="31" name="TextBox 30"/>
          <p:cNvSpPr txBox="1"/>
          <p:nvPr/>
        </p:nvSpPr>
        <p:spPr>
          <a:xfrm>
            <a:off x="3600982" y="5739532"/>
            <a:ext cx="1935480" cy="462434"/>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rPr>
              <a:t>*   x   ∙    ()</a:t>
            </a:r>
          </a:p>
        </p:txBody>
      </p:sp>
      <p:sp>
        <p:nvSpPr>
          <p:cNvPr id="32" name="Rectangle 31"/>
          <p:cNvSpPr/>
          <p:nvPr/>
        </p:nvSpPr>
        <p:spPr>
          <a:xfrm>
            <a:off x="6749482" y="5740777"/>
            <a:ext cx="1376339" cy="461665"/>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rPr>
              <a:t>A ∙ B = Q</a:t>
            </a:r>
          </a:p>
        </p:txBody>
      </p:sp>
      <p:grpSp>
        <p:nvGrpSpPr>
          <p:cNvPr id="35" name="Group 34"/>
          <p:cNvGrpSpPr/>
          <p:nvPr/>
        </p:nvGrpSpPr>
        <p:grpSpPr>
          <a:xfrm>
            <a:off x="446208" y="5494586"/>
            <a:ext cx="2500427" cy="1172497"/>
            <a:chOff x="446208" y="5685503"/>
            <a:chExt cx="2500427" cy="1172497"/>
          </a:xfrm>
        </p:grpSpPr>
        <p:pic>
          <p:nvPicPr>
            <p:cNvPr id="23" name="Picture 2" descr="http://www.clker.com/cliparts/d/3/8/2/12065670311495995000nobody_Digital_logic_gates.svg.hi.png">
              <a:hlinkClick r:id="rId3"/>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868932" y="5685503"/>
              <a:ext cx="1873961" cy="11724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46208" y="5700861"/>
              <a:ext cx="407484"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rPr>
                <a:t>A</a:t>
              </a:r>
            </a:p>
          </p:txBody>
        </p:sp>
        <p:sp>
          <p:nvSpPr>
            <p:cNvPr id="33" name="Rectangle 32"/>
            <p:cNvSpPr/>
            <p:nvPr/>
          </p:nvSpPr>
          <p:spPr>
            <a:xfrm>
              <a:off x="446208" y="6162526"/>
              <a:ext cx="389850"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rPr>
                <a:t>B</a:t>
              </a:r>
            </a:p>
          </p:txBody>
        </p:sp>
        <p:sp>
          <p:nvSpPr>
            <p:cNvPr id="34" name="Rectangle 33"/>
            <p:cNvSpPr/>
            <p:nvPr/>
          </p:nvSpPr>
          <p:spPr>
            <a:xfrm>
              <a:off x="2539151" y="5931694"/>
              <a:ext cx="407484"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rPr>
                <a:t>Q</a:t>
              </a:r>
            </a:p>
          </p:txBody>
        </p:sp>
      </p:grpSp>
      <p:cxnSp>
        <p:nvCxnSpPr>
          <p:cNvPr id="36" name="Straight Connector 35"/>
          <p:cNvCxnSpPr/>
          <p:nvPr/>
        </p:nvCxnSpPr>
        <p:spPr>
          <a:xfrm flipV="1">
            <a:off x="5943600" y="5078313"/>
            <a:ext cx="0" cy="143637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3124200" y="5078313"/>
            <a:ext cx="0" cy="143637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45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p:bldP spid="24" grpId="0"/>
      <p:bldP spid="25" grpId="0"/>
      <p:bldP spid="26" grpId="0"/>
      <p:bldP spid="31" grpId="0"/>
      <p:bldP spid="3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692" y="-86380"/>
            <a:ext cx="7772400" cy="1143000"/>
          </a:xfrm>
        </p:spPr>
        <p:txBody>
          <a:bodyPr/>
          <a:lstStyle/>
          <a:p>
            <a:r>
              <a:rPr lang="en-US" dirty="0"/>
              <a:t>Digital Logic Gates</a:t>
            </a:r>
          </a:p>
        </p:txBody>
      </p:sp>
      <p:sp>
        <p:nvSpPr>
          <p:cNvPr id="9" name="TextBox 8"/>
          <p:cNvSpPr txBox="1"/>
          <p:nvPr/>
        </p:nvSpPr>
        <p:spPr>
          <a:xfrm>
            <a:off x="3200400" y="1038330"/>
            <a:ext cx="2597186" cy="523220"/>
          </a:xfrm>
          <a:prstGeom prst="rect">
            <a:avLst/>
          </a:prstGeom>
          <a:noFill/>
        </p:spPr>
        <p:txBody>
          <a:bodyPr wrap="none" rtlCol="0">
            <a:spAutoFit/>
          </a:bodyPr>
          <a:lstStyle/>
          <a:p>
            <a:r>
              <a:rPr lang="en-US" sz="2800" b="1"/>
              <a:t>The “</a:t>
            </a:r>
            <a:r>
              <a:rPr lang="en-US" sz="2800" b="1">
                <a:solidFill>
                  <a:srgbClr val="FF0000"/>
                </a:solidFill>
              </a:rPr>
              <a:t>OR</a:t>
            </a:r>
            <a:r>
              <a:rPr lang="en-US" sz="2800" b="1"/>
              <a:t>” Gate</a:t>
            </a:r>
          </a:p>
        </p:txBody>
      </p:sp>
      <p:sp>
        <p:nvSpPr>
          <p:cNvPr id="19" name="TextBox 18"/>
          <p:cNvSpPr txBox="1"/>
          <p:nvPr/>
        </p:nvSpPr>
        <p:spPr>
          <a:xfrm>
            <a:off x="1426780" y="1571730"/>
            <a:ext cx="6088462" cy="523220"/>
          </a:xfrm>
          <a:prstGeom prst="rect">
            <a:avLst/>
          </a:prstGeom>
          <a:noFill/>
        </p:spPr>
        <p:txBody>
          <a:bodyPr wrap="none" rtlCol="0">
            <a:spAutoFit/>
          </a:bodyPr>
          <a:lstStyle/>
          <a:p>
            <a:r>
              <a:rPr lang="en-US" sz="2800" b="1"/>
              <a:t>If </a:t>
            </a:r>
            <a:r>
              <a:rPr lang="en-US" sz="2800" b="1" u="sng"/>
              <a:t>either</a:t>
            </a:r>
            <a:r>
              <a:rPr lang="en-US" sz="2800" b="1"/>
              <a:t> input is true, then output true</a:t>
            </a:r>
          </a:p>
        </p:txBody>
      </p:sp>
      <p:graphicFrame>
        <p:nvGraphicFramePr>
          <p:cNvPr id="20" name="Table 19"/>
          <p:cNvGraphicFramePr>
            <a:graphicFrameLocks noGrp="1"/>
          </p:cNvGraphicFramePr>
          <p:nvPr>
            <p:extLst>
              <p:ext uri="{D42A27DB-BD31-4B8C-83A1-F6EECF244321}">
                <p14:modId xmlns:p14="http://schemas.microsoft.com/office/powerpoint/2010/main" val="2968441972"/>
              </p:ext>
            </p:extLst>
          </p:nvPr>
        </p:nvGraphicFramePr>
        <p:xfrm>
          <a:off x="1219200" y="2257530"/>
          <a:ext cx="6658383" cy="2590802"/>
        </p:xfrm>
        <a:graphic>
          <a:graphicData uri="http://schemas.openxmlformats.org/drawingml/2006/table">
            <a:tbl>
              <a:tblPr firstRow="1" bandRow="1">
                <a:tableStyleId>{93296810-A885-4BE3-A3E7-6D5BEEA58F35}</a:tableStyleId>
              </a:tblPr>
              <a:tblGrid>
                <a:gridCol w="2219461">
                  <a:extLst>
                    <a:ext uri="{9D8B030D-6E8A-4147-A177-3AD203B41FA5}">
                      <a16:colId xmlns:a16="http://schemas.microsoft.com/office/drawing/2014/main" val="20000"/>
                    </a:ext>
                  </a:extLst>
                </a:gridCol>
                <a:gridCol w="2219461">
                  <a:extLst>
                    <a:ext uri="{9D8B030D-6E8A-4147-A177-3AD203B41FA5}">
                      <a16:colId xmlns:a16="http://schemas.microsoft.com/office/drawing/2014/main" val="20001"/>
                    </a:ext>
                  </a:extLst>
                </a:gridCol>
                <a:gridCol w="2219461">
                  <a:extLst>
                    <a:ext uri="{9D8B030D-6E8A-4147-A177-3AD203B41FA5}">
                      <a16:colId xmlns:a16="http://schemas.microsoft.com/office/drawing/2014/main" val="20002"/>
                    </a:ext>
                  </a:extLst>
                </a:gridCol>
              </a:tblGrid>
              <a:tr h="512466">
                <a:tc>
                  <a:txBody>
                    <a:bodyPr/>
                    <a:lstStyle/>
                    <a:p>
                      <a:pPr algn="ctr"/>
                      <a:r>
                        <a:rPr lang="en-US"/>
                        <a:t>A</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a:t>B</a:t>
                      </a:r>
                    </a:p>
                  </a:txBody>
                  <a:tcPr>
                    <a:lnT w="12700" cap="flat" cmpd="sng" algn="ctr">
                      <a:solidFill>
                        <a:schemeClr val="tx1"/>
                      </a:solidFill>
                      <a:prstDash val="solid"/>
                      <a:round/>
                      <a:headEnd type="none" w="med" len="med"/>
                      <a:tailEnd type="none" w="med" len="med"/>
                    </a:lnT>
                  </a:tcPr>
                </a:tc>
                <a:tc>
                  <a:txBody>
                    <a:bodyPr/>
                    <a:lstStyle/>
                    <a:p>
                      <a:pPr algn="ctr"/>
                      <a:r>
                        <a:rPr lang="en-US"/>
                        <a:t>Output (Q)</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519584">
                <a:tc>
                  <a:txBody>
                    <a:bodyPr/>
                    <a:lstStyle/>
                    <a:p>
                      <a:pPr algn="ctr"/>
                      <a:endParaRPr lang="en-US"/>
                    </a:p>
                  </a:txBody>
                  <a:tcPr>
                    <a:lnL w="12700" cap="flat" cmpd="sng" algn="ctr">
                      <a:solidFill>
                        <a:schemeClr val="tx1"/>
                      </a:solidFill>
                      <a:prstDash val="solid"/>
                      <a:round/>
                      <a:headEnd type="none" w="med" len="med"/>
                      <a:tailEnd type="none" w="med" len="med"/>
                    </a:lnL>
                  </a:tcPr>
                </a:tc>
                <a:tc>
                  <a:txBody>
                    <a:bodyPr/>
                    <a:lstStyle/>
                    <a:p>
                      <a:pPr algn="ctr"/>
                      <a:endParaRPr lang="en-US"/>
                    </a:p>
                  </a:txBody>
                  <a:tcPr/>
                </a:tc>
                <a:tc>
                  <a:txBody>
                    <a:bodyPr/>
                    <a:lstStyle/>
                    <a:p>
                      <a:pPr algn="ctr"/>
                      <a:endParaRPr lang="en-US"/>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519584">
                <a:tc>
                  <a:txBody>
                    <a:bodyPr/>
                    <a:lstStyle/>
                    <a:p>
                      <a:pPr algn="ctr"/>
                      <a:endParaRPr lang="en-US"/>
                    </a:p>
                  </a:txBody>
                  <a:tcPr>
                    <a:lnL w="12700" cap="flat" cmpd="sng" algn="ctr">
                      <a:solidFill>
                        <a:schemeClr val="tx1"/>
                      </a:solidFill>
                      <a:prstDash val="solid"/>
                      <a:round/>
                      <a:headEnd type="none" w="med" len="med"/>
                      <a:tailEnd type="none" w="med" len="med"/>
                    </a:lnL>
                  </a:tcPr>
                </a:tc>
                <a:tc>
                  <a:txBody>
                    <a:bodyPr/>
                    <a:lstStyle/>
                    <a:p>
                      <a:pPr algn="ctr"/>
                      <a:endParaRPr lang="en-US"/>
                    </a:p>
                  </a:txBody>
                  <a:tcPr/>
                </a:tc>
                <a:tc>
                  <a:txBody>
                    <a:bodyPr/>
                    <a:lstStyle/>
                    <a:p>
                      <a:pPr algn="ctr"/>
                      <a:endParaRPr lang="en-US"/>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519584">
                <a:tc>
                  <a:txBody>
                    <a:bodyPr/>
                    <a:lstStyle/>
                    <a:p>
                      <a:pPr algn="ctr"/>
                      <a:endParaRPr lang="en-US"/>
                    </a:p>
                  </a:txBody>
                  <a:tcPr>
                    <a:lnL w="12700" cap="flat" cmpd="sng" algn="ctr">
                      <a:solidFill>
                        <a:schemeClr val="tx1"/>
                      </a:solidFill>
                      <a:prstDash val="solid"/>
                      <a:round/>
                      <a:headEnd type="none" w="med" len="med"/>
                      <a:tailEnd type="none" w="med" len="med"/>
                    </a:lnL>
                  </a:tcPr>
                </a:tc>
                <a:tc>
                  <a:txBody>
                    <a:bodyPr/>
                    <a:lstStyle/>
                    <a:p>
                      <a:pPr algn="ctr"/>
                      <a:endParaRPr lang="en-US"/>
                    </a:p>
                  </a:txBody>
                  <a:tcPr/>
                </a:tc>
                <a:tc>
                  <a:txBody>
                    <a:bodyPr/>
                    <a:lstStyle/>
                    <a:p>
                      <a:pPr algn="ctr"/>
                      <a:endParaRPr lang="en-US"/>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519584">
                <a:tc>
                  <a:txBody>
                    <a:bodyPr/>
                    <a:lstStyle/>
                    <a:p>
                      <a:pPr algn="ctr"/>
                      <a:endParaRPr lang="en-US"/>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endParaRPr lang="en-US"/>
                    </a:p>
                  </a:txBody>
                  <a:tcPr>
                    <a:lnB w="12700" cap="flat" cmpd="sng" algn="ctr">
                      <a:solidFill>
                        <a:schemeClr val="tx1"/>
                      </a:solidFill>
                      <a:prstDash val="solid"/>
                      <a:round/>
                      <a:headEnd type="none" w="med" len="med"/>
                      <a:tailEnd type="none" w="med" len="med"/>
                    </a:lnB>
                  </a:tcPr>
                </a:tc>
                <a:tc>
                  <a:txBody>
                    <a:bodyPr/>
                    <a:lstStyle/>
                    <a:p>
                      <a:pPr algn="ctr"/>
                      <a:endParaRPr lang="en-US"/>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1" name="TextBox 20"/>
          <p:cNvSpPr txBox="1"/>
          <p:nvPr/>
        </p:nvSpPr>
        <p:spPr>
          <a:xfrm>
            <a:off x="1828493" y="2800365"/>
            <a:ext cx="914400" cy="400110"/>
          </a:xfrm>
          <a:prstGeom prst="rect">
            <a:avLst/>
          </a:prstGeom>
          <a:solidFill>
            <a:schemeClr val="bg1"/>
          </a:solidFill>
        </p:spPr>
        <p:txBody>
          <a:bodyPr wrap="square" rtlCol="0">
            <a:spAutoFit/>
          </a:bodyPr>
          <a:lstStyle/>
          <a:p>
            <a:pPr algn="ctr"/>
            <a:r>
              <a:rPr lang="en-US" sz="2000"/>
              <a:t>0</a:t>
            </a:r>
          </a:p>
        </p:txBody>
      </p:sp>
      <p:sp>
        <p:nvSpPr>
          <p:cNvPr id="22" name="TextBox 21"/>
          <p:cNvSpPr txBox="1"/>
          <p:nvPr/>
        </p:nvSpPr>
        <p:spPr>
          <a:xfrm>
            <a:off x="4091192" y="3356745"/>
            <a:ext cx="914400" cy="400110"/>
          </a:xfrm>
          <a:prstGeom prst="rect">
            <a:avLst/>
          </a:prstGeom>
          <a:solidFill>
            <a:schemeClr val="bg1"/>
          </a:solidFill>
        </p:spPr>
        <p:txBody>
          <a:bodyPr wrap="square" rtlCol="0">
            <a:spAutoFit/>
          </a:bodyPr>
          <a:lstStyle/>
          <a:p>
            <a:pPr algn="ctr"/>
            <a:r>
              <a:rPr lang="en-US" sz="2000"/>
              <a:t>1</a:t>
            </a:r>
          </a:p>
        </p:txBody>
      </p:sp>
      <p:sp>
        <p:nvSpPr>
          <p:cNvPr id="23" name="TextBox 22"/>
          <p:cNvSpPr txBox="1"/>
          <p:nvPr/>
        </p:nvSpPr>
        <p:spPr>
          <a:xfrm>
            <a:off x="6324293" y="3871035"/>
            <a:ext cx="914400" cy="400110"/>
          </a:xfrm>
          <a:prstGeom prst="rect">
            <a:avLst/>
          </a:prstGeom>
          <a:solidFill>
            <a:schemeClr val="bg1"/>
          </a:solidFill>
        </p:spPr>
        <p:txBody>
          <a:bodyPr wrap="square" rtlCol="0">
            <a:spAutoFit/>
          </a:bodyPr>
          <a:lstStyle/>
          <a:p>
            <a:pPr algn="ctr"/>
            <a:r>
              <a:rPr lang="en-US" sz="2000"/>
              <a:t>1</a:t>
            </a:r>
          </a:p>
        </p:txBody>
      </p:sp>
      <p:sp>
        <p:nvSpPr>
          <p:cNvPr id="24" name="TextBox 23"/>
          <p:cNvSpPr txBox="1"/>
          <p:nvPr/>
        </p:nvSpPr>
        <p:spPr>
          <a:xfrm>
            <a:off x="6324293" y="3356745"/>
            <a:ext cx="914400" cy="400110"/>
          </a:xfrm>
          <a:prstGeom prst="rect">
            <a:avLst/>
          </a:prstGeom>
          <a:solidFill>
            <a:schemeClr val="bg1"/>
          </a:solidFill>
        </p:spPr>
        <p:txBody>
          <a:bodyPr wrap="square" rtlCol="0">
            <a:spAutoFit/>
          </a:bodyPr>
          <a:lstStyle/>
          <a:p>
            <a:pPr algn="ctr"/>
            <a:r>
              <a:rPr lang="en-US" sz="2000"/>
              <a:t>1</a:t>
            </a:r>
          </a:p>
        </p:txBody>
      </p:sp>
      <p:sp>
        <p:nvSpPr>
          <p:cNvPr id="25" name="TextBox 24"/>
          <p:cNvSpPr txBox="1"/>
          <p:nvPr/>
        </p:nvSpPr>
        <p:spPr>
          <a:xfrm>
            <a:off x="4114493" y="3871035"/>
            <a:ext cx="914400" cy="400110"/>
          </a:xfrm>
          <a:prstGeom prst="rect">
            <a:avLst/>
          </a:prstGeom>
          <a:solidFill>
            <a:schemeClr val="bg1"/>
          </a:solidFill>
        </p:spPr>
        <p:txBody>
          <a:bodyPr wrap="square" rtlCol="0">
            <a:spAutoFit/>
          </a:bodyPr>
          <a:lstStyle/>
          <a:p>
            <a:pPr algn="ctr"/>
            <a:r>
              <a:rPr lang="en-US" sz="2000"/>
              <a:t>0</a:t>
            </a:r>
          </a:p>
        </p:txBody>
      </p:sp>
      <p:sp>
        <p:nvSpPr>
          <p:cNvPr id="26" name="TextBox 25"/>
          <p:cNvSpPr txBox="1"/>
          <p:nvPr/>
        </p:nvSpPr>
        <p:spPr>
          <a:xfrm>
            <a:off x="1828493" y="3356745"/>
            <a:ext cx="914400" cy="400110"/>
          </a:xfrm>
          <a:prstGeom prst="rect">
            <a:avLst/>
          </a:prstGeom>
          <a:solidFill>
            <a:schemeClr val="bg1"/>
          </a:solidFill>
        </p:spPr>
        <p:txBody>
          <a:bodyPr wrap="square" rtlCol="0">
            <a:spAutoFit/>
          </a:bodyPr>
          <a:lstStyle/>
          <a:p>
            <a:pPr algn="ctr"/>
            <a:r>
              <a:rPr lang="en-US" sz="2000"/>
              <a:t>0</a:t>
            </a:r>
          </a:p>
        </p:txBody>
      </p:sp>
      <p:sp>
        <p:nvSpPr>
          <p:cNvPr id="27" name="TextBox 26"/>
          <p:cNvSpPr txBox="1"/>
          <p:nvPr/>
        </p:nvSpPr>
        <p:spPr>
          <a:xfrm>
            <a:off x="4091192" y="2787060"/>
            <a:ext cx="914400" cy="400110"/>
          </a:xfrm>
          <a:prstGeom prst="rect">
            <a:avLst/>
          </a:prstGeom>
          <a:solidFill>
            <a:schemeClr val="bg1"/>
          </a:solidFill>
        </p:spPr>
        <p:txBody>
          <a:bodyPr wrap="square" rtlCol="0">
            <a:spAutoFit/>
          </a:bodyPr>
          <a:lstStyle/>
          <a:p>
            <a:pPr algn="ctr"/>
            <a:r>
              <a:rPr lang="en-US" sz="2000"/>
              <a:t>0</a:t>
            </a:r>
          </a:p>
        </p:txBody>
      </p:sp>
      <p:sp>
        <p:nvSpPr>
          <p:cNvPr id="28" name="TextBox 27"/>
          <p:cNvSpPr txBox="1"/>
          <p:nvPr/>
        </p:nvSpPr>
        <p:spPr>
          <a:xfrm>
            <a:off x="6324293" y="2790930"/>
            <a:ext cx="914400" cy="400110"/>
          </a:xfrm>
          <a:prstGeom prst="rect">
            <a:avLst/>
          </a:prstGeom>
          <a:solidFill>
            <a:schemeClr val="bg1"/>
          </a:solidFill>
        </p:spPr>
        <p:txBody>
          <a:bodyPr wrap="square" rtlCol="0">
            <a:spAutoFit/>
          </a:bodyPr>
          <a:lstStyle/>
          <a:p>
            <a:pPr algn="ctr"/>
            <a:r>
              <a:rPr lang="en-US" sz="2000"/>
              <a:t>0</a:t>
            </a:r>
          </a:p>
        </p:txBody>
      </p:sp>
      <p:sp>
        <p:nvSpPr>
          <p:cNvPr id="29" name="TextBox 28"/>
          <p:cNvSpPr txBox="1"/>
          <p:nvPr/>
        </p:nvSpPr>
        <p:spPr>
          <a:xfrm>
            <a:off x="1828493" y="4404435"/>
            <a:ext cx="914400" cy="400110"/>
          </a:xfrm>
          <a:prstGeom prst="rect">
            <a:avLst/>
          </a:prstGeom>
          <a:solidFill>
            <a:schemeClr val="bg1"/>
          </a:solidFill>
        </p:spPr>
        <p:txBody>
          <a:bodyPr wrap="square" rtlCol="0">
            <a:spAutoFit/>
          </a:bodyPr>
          <a:lstStyle/>
          <a:p>
            <a:pPr algn="ctr"/>
            <a:r>
              <a:rPr lang="en-US" sz="2000"/>
              <a:t>1</a:t>
            </a:r>
          </a:p>
        </p:txBody>
      </p:sp>
      <p:sp>
        <p:nvSpPr>
          <p:cNvPr id="30" name="TextBox 29"/>
          <p:cNvSpPr txBox="1"/>
          <p:nvPr/>
        </p:nvSpPr>
        <p:spPr>
          <a:xfrm>
            <a:off x="4119531" y="4404435"/>
            <a:ext cx="914400" cy="400110"/>
          </a:xfrm>
          <a:prstGeom prst="rect">
            <a:avLst/>
          </a:prstGeom>
          <a:solidFill>
            <a:schemeClr val="bg1"/>
          </a:solidFill>
        </p:spPr>
        <p:txBody>
          <a:bodyPr wrap="square" rtlCol="0">
            <a:spAutoFit/>
          </a:bodyPr>
          <a:lstStyle/>
          <a:p>
            <a:pPr algn="ctr"/>
            <a:r>
              <a:rPr lang="en-US" sz="2000"/>
              <a:t>1</a:t>
            </a:r>
          </a:p>
        </p:txBody>
      </p:sp>
      <p:sp>
        <p:nvSpPr>
          <p:cNvPr id="31" name="TextBox 30"/>
          <p:cNvSpPr txBox="1"/>
          <p:nvPr/>
        </p:nvSpPr>
        <p:spPr>
          <a:xfrm>
            <a:off x="6324293" y="4404435"/>
            <a:ext cx="914400" cy="400110"/>
          </a:xfrm>
          <a:prstGeom prst="rect">
            <a:avLst/>
          </a:prstGeom>
          <a:solidFill>
            <a:schemeClr val="bg1"/>
          </a:solidFill>
        </p:spPr>
        <p:txBody>
          <a:bodyPr wrap="square" rtlCol="0">
            <a:spAutoFit/>
          </a:bodyPr>
          <a:lstStyle/>
          <a:p>
            <a:pPr algn="ctr"/>
            <a:r>
              <a:rPr lang="en-US" sz="2000"/>
              <a:t>1</a:t>
            </a:r>
          </a:p>
        </p:txBody>
      </p:sp>
      <p:sp>
        <p:nvSpPr>
          <p:cNvPr id="32" name="TextBox 31"/>
          <p:cNvSpPr txBox="1"/>
          <p:nvPr/>
        </p:nvSpPr>
        <p:spPr>
          <a:xfrm>
            <a:off x="1828493" y="3871035"/>
            <a:ext cx="914400" cy="400110"/>
          </a:xfrm>
          <a:prstGeom prst="rect">
            <a:avLst/>
          </a:prstGeom>
          <a:solidFill>
            <a:schemeClr val="bg1"/>
          </a:solidFill>
        </p:spPr>
        <p:txBody>
          <a:bodyPr wrap="square" rtlCol="0">
            <a:spAutoFit/>
          </a:bodyPr>
          <a:lstStyle/>
          <a:p>
            <a:pPr algn="ctr"/>
            <a:r>
              <a:rPr lang="en-US" sz="2000"/>
              <a:t>1</a:t>
            </a:r>
          </a:p>
        </p:txBody>
      </p:sp>
      <p:sp>
        <p:nvSpPr>
          <p:cNvPr id="18" name="TextBox 17"/>
          <p:cNvSpPr txBox="1"/>
          <p:nvPr/>
        </p:nvSpPr>
        <p:spPr>
          <a:xfrm>
            <a:off x="3550920" y="5000730"/>
            <a:ext cx="1935480" cy="461665"/>
          </a:xfrm>
          <a:prstGeom prst="rect">
            <a:avLst/>
          </a:prstGeom>
          <a:noFill/>
        </p:spPr>
        <p:txBody>
          <a:bodyPr wrap="square" rtlCol="0">
            <a:spAutoFit/>
          </a:bodyPr>
          <a:lstStyle/>
          <a:p>
            <a:pPr algn="ctr"/>
            <a:r>
              <a:rPr lang="en-US" u="sng"/>
              <a:t>Math Symbol:</a:t>
            </a:r>
          </a:p>
        </p:txBody>
      </p:sp>
      <p:sp>
        <p:nvSpPr>
          <p:cNvPr id="33" name="TextBox 32"/>
          <p:cNvSpPr txBox="1"/>
          <p:nvPr/>
        </p:nvSpPr>
        <p:spPr>
          <a:xfrm>
            <a:off x="6112304" y="5012160"/>
            <a:ext cx="2650696" cy="461665"/>
          </a:xfrm>
          <a:prstGeom prst="rect">
            <a:avLst/>
          </a:prstGeom>
          <a:noFill/>
        </p:spPr>
        <p:txBody>
          <a:bodyPr wrap="square" rtlCol="0">
            <a:spAutoFit/>
          </a:bodyPr>
          <a:lstStyle/>
          <a:p>
            <a:pPr algn="ctr"/>
            <a:r>
              <a:rPr lang="en-US" u="sng"/>
              <a:t>Boolean Equation:</a:t>
            </a:r>
          </a:p>
        </p:txBody>
      </p:sp>
      <p:sp>
        <p:nvSpPr>
          <p:cNvPr id="34" name="TextBox 33"/>
          <p:cNvSpPr txBox="1"/>
          <p:nvPr/>
        </p:nvSpPr>
        <p:spPr>
          <a:xfrm>
            <a:off x="533400" y="5000731"/>
            <a:ext cx="2286000" cy="461665"/>
          </a:xfrm>
          <a:prstGeom prst="rect">
            <a:avLst/>
          </a:prstGeom>
          <a:noFill/>
        </p:spPr>
        <p:txBody>
          <a:bodyPr wrap="square" rtlCol="0">
            <a:spAutoFit/>
          </a:bodyPr>
          <a:lstStyle/>
          <a:p>
            <a:r>
              <a:rPr lang="en-US" u="sng"/>
              <a:t>Wiring Symbol:</a:t>
            </a:r>
          </a:p>
        </p:txBody>
      </p:sp>
      <p:sp>
        <p:nvSpPr>
          <p:cNvPr id="35" name="TextBox 34"/>
          <p:cNvSpPr txBox="1"/>
          <p:nvPr/>
        </p:nvSpPr>
        <p:spPr>
          <a:xfrm>
            <a:off x="3600982" y="5749579"/>
            <a:ext cx="1935480" cy="462434"/>
          </a:xfrm>
          <a:prstGeom prst="rect">
            <a:avLst/>
          </a:prstGeom>
          <a:noFill/>
        </p:spPr>
        <p:txBody>
          <a:bodyPr wrap="square" rtlCol="0">
            <a:spAutoFit/>
          </a:bodyPr>
          <a:lstStyle/>
          <a:p>
            <a:pPr algn="ctr"/>
            <a:r>
              <a:rPr lang="en-US"/>
              <a:t>+</a:t>
            </a:r>
          </a:p>
        </p:txBody>
      </p:sp>
      <p:sp>
        <p:nvSpPr>
          <p:cNvPr id="36" name="Rectangle 35"/>
          <p:cNvSpPr/>
          <p:nvPr/>
        </p:nvSpPr>
        <p:spPr>
          <a:xfrm>
            <a:off x="6701393" y="5750824"/>
            <a:ext cx="1472519" cy="461665"/>
          </a:xfrm>
          <a:prstGeom prst="rect">
            <a:avLst/>
          </a:prstGeom>
        </p:spPr>
        <p:txBody>
          <a:bodyPr wrap="none">
            <a:spAutoFit/>
          </a:bodyPr>
          <a:lstStyle/>
          <a:p>
            <a:pPr algn="ctr"/>
            <a:r>
              <a:rPr lang="en-US"/>
              <a:t>A + B = Q</a:t>
            </a:r>
          </a:p>
        </p:txBody>
      </p:sp>
      <p:cxnSp>
        <p:nvCxnSpPr>
          <p:cNvPr id="42" name="Straight Connector 41"/>
          <p:cNvCxnSpPr/>
          <p:nvPr/>
        </p:nvCxnSpPr>
        <p:spPr>
          <a:xfrm flipV="1">
            <a:off x="5943600" y="5088360"/>
            <a:ext cx="0" cy="143637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3124200" y="5088360"/>
            <a:ext cx="0" cy="143637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446208" y="5450597"/>
            <a:ext cx="2500427" cy="1180873"/>
            <a:chOff x="446208" y="5631467"/>
            <a:chExt cx="2500427" cy="1180873"/>
          </a:xfrm>
        </p:grpSpPr>
        <p:sp>
          <p:nvSpPr>
            <p:cNvPr id="39" name="Rectangle 38"/>
            <p:cNvSpPr/>
            <p:nvPr/>
          </p:nvSpPr>
          <p:spPr>
            <a:xfrm>
              <a:off x="446208" y="5700861"/>
              <a:ext cx="407484" cy="461665"/>
            </a:xfrm>
            <a:prstGeom prst="rect">
              <a:avLst/>
            </a:prstGeom>
          </p:spPr>
          <p:txBody>
            <a:bodyPr wrap="none">
              <a:spAutoFit/>
            </a:bodyPr>
            <a:lstStyle/>
            <a:p>
              <a:r>
                <a:rPr lang="en-US"/>
                <a:t>A</a:t>
              </a:r>
            </a:p>
          </p:txBody>
        </p:sp>
        <p:sp>
          <p:nvSpPr>
            <p:cNvPr id="40" name="Rectangle 39"/>
            <p:cNvSpPr/>
            <p:nvPr/>
          </p:nvSpPr>
          <p:spPr>
            <a:xfrm>
              <a:off x="446208" y="6162526"/>
              <a:ext cx="389850" cy="461665"/>
            </a:xfrm>
            <a:prstGeom prst="rect">
              <a:avLst/>
            </a:prstGeom>
          </p:spPr>
          <p:txBody>
            <a:bodyPr wrap="none">
              <a:spAutoFit/>
            </a:bodyPr>
            <a:lstStyle/>
            <a:p>
              <a:r>
                <a:rPr lang="en-US"/>
                <a:t>B</a:t>
              </a:r>
            </a:p>
          </p:txBody>
        </p:sp>
        <p:sp>
          <p:nvSpPr>
            <p:cNvPr id="41" name="Rectangle 40"/>
            <p:cNvSpPr/>
            <p:nvPr/>
          </p:nvSpPr>
          <p:spPr>
            <a:xfrm>
              <a:off x="2539151" y="5931694"/>
              <a:ext cx="407484" cy="461665"/>
            </a:xfrm>
            <a:prstGeom prst="rect">
              <a:avLst/>
            </a:prstGeom>
          </p:spPr>
          <p:txBody>
            <a:bodyPr wrap="none">
              <a:spAutoFit/>
            </a:bodyPr>
            <a:lstStyle/>
            <a:p>
              <a:r>
                <a:rPr lang="en-US"/>
                <a:t>Q</a:t>
              </a:r>
            </a:p>
          </p:txBody>
        </p:sp>
        <p:pic>
          <p:nvPicPr>
            <p:cNvPr id="44" name="Picture 6" descr="http://www.clker.com/cliparts/d/3/8/2/12065670311495995000nobody_Digital_logic_gates.svg.hi.png">
              <a:hlinkClick r:id="rId2"/>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8409" r="57864" b="55396"/>
            <a:stretch/>
          </p:blipFill>
          <p:spPr bwMode="auto">
            <a:xfrm>
              <a:off x="748318" y="5631467"/>
              <a:ext cx="1856164" cy="118087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4251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18" grpId="0"/>
      <p:bldP spid="33" grpId="0"/>
      <p:bldP spid="34" grpId="0"/>
      <p:bldP spid="35" grpId="0"/>
      <p:bldP spid="3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216" y="-91440"/>
            <a:ext cx="7772400" cy="1143000"/>
          </a:xfrm>
        </p:spPr>
        <p:txBody>
          <a:bodyPr/>
          <a:lstStyle/>
          <a:p>
            <a:r>
              <a:rPr lang="en-US" dirty="0"/>
              <a:t>Digital Logic Gates</a:t>
            </a:r>
          </a:p>
        </p:txBody>
      </p:sp>
      <p:graphicFrame>
        <p:nvGraphicFramePr>
          <p:cNvPr id="8" name="Table 7"/>
          <p:cNvGraphicFramePr>
            <a:graphicFrameLocks noGrp="1"/>
          </p:cNvGraphicFramePr>
          <p:nvPr/>
        </p:nvGraphicFramePr>
        <p:xfrm>
          <a:off x="2489200" y="2667000"/>
          <a:ext cx="4216400" cy="1485900"/>
        </p:xfrm>
        <a:graphic>
          <a:graphicData uri="http://schemas.openxmlformats.org/drawingml/2006/table">
            <a:tbl>
              <a:tblPr firstRow="1" bandRow="1">
                <a:tableStyleId>{21E4AEA4-8DFA-4A89-87EB-49C32662AFE0}</a:tableStyleId>
              </a:tblPr>
              <a:tblGrid>
                <a:gridCol w="2108200">
                  <a:extLst>
                    <a:ext uri="{9D8B030D-6E8A-4147-A177-3AD203B41FA5}">
                      <a16:colId xmlns:a16="http://schemas.microsoft.com/office/drawing/2014/main" val="20000"/>
                    </a:ext>
                  </a:extLst>
                </a:gridCol>
                <a:gridCol w="2108200">
                  <a:extLst>
                    <a:ext uri="{9D8B030D-6E8A-4147-A177-3AD203B41FA5}">
                      <a16:colId xmlns:a16="http://schemas.microsoft.com/office/drawing/2014/main" val="20001"/>
                    </a:ext>
                  </a:extLst>
                </a:gridCol>
              </a:tblGrid>
              <a:tr h="495300">
                <a:tc>
                  <a:txBody>
                    <a:bodyPr/>
                    <a:lstStyle/>
                    <a:p>
                      <a:pPr algn="ctr"/>
                      <a:r>
                        <a:rPr lang="en-US"/>
                        <a:t>A</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a:t>Output (Q)</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495300">
                <a:tc>
                  <a:txBody>
                    <a:bodyPr/>
                    <a:lstStyle/>
                    <a:p>
                      <a:pPr algn="ctr"/>
                      <a:endParaRPr lang="en-US"/>
                    </a:p>
                  </a:txBody>
                  <a:tcPr>
                    <a:lnL w="12700" cap="flat" cmpd="sng" algn="ctr">
                      <a:solidFill>
                        <a:schemeClr val="tx1"/>
                      </a:solidFill>
                      <a:prstDash val="solid"/>
                      <a:round/>
                      <a:headEnd type="none" w="med" len="med"/>
                      <a:tailEnd type="none" w="med" len="med"/>
                    </a:lnL>
                  </a:tcPr>
                </a:tc>
                <a:tc>
                  <a:txBody>
                    <a:bodyPr/>
                    <a:lstStyle/>
                    <a:p>
                      <a:pPr algn="ctr"/>
                      <a:endParaRPr lang="en-US"/>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95300">
                <a:tc>
                  <a:txBody>
                    <a:bodyPr/>
                    <a:lstStyle/>
                    <a:p>
                      <a:pPr algn="ctr"/>
                      <a:endParaRPr lang="en-US"/>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endParaRPr lang="en-US"/>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Box 8"/>
          <p:cNvSpPr txBox="1"/>
          <p:nvPr/>
        </p:nvSpPr>
        <p:spPr>
          <a:xfrm>
            <a:off x="3200400" y="1219200"/>
            <a:ext cx="2836033" cy="523220"/>
          </a:xfrm>
          <a:prstGeom prst="rect">
            <a:avLst/>
          </a:prstGeom>
          <a:noFill/>
        </p:spPr>
        <p:txBody>
          <a:bodyPr wrap="none" rtlCol="0">
            <a:spAutoFit/>
          </a:bodyPr>
          <a:lstStyle/>
          <a:p>
            <a:r>
              <a:rPr lang="en-US" sz="2800" b="1"/>
              <a:t>The “</a:t>
            </a:r>
            <a:r>
              <a:rPr lang="en-US" sz="2800" b="1">
                <a:solidFill>
                  <a:srgbClr val="FF0000"/>
                </a:solidFill>
              </a:rPr>
              <a:t>NOT</a:t>
            </a:r>
            <a:r>
              <a:rPr lang="en-US" sz="2800" b="1"/>
              <a:t>” Gate</a:t>
            </a:r>
          </a:p>
        </p:txBody>
      </p:sp>
      <p:sp>
        <p:nvSpPr>
          <p:cNvPr id="6" name="TextBox 5"/>
          <p:cNvSpPr txBox="1"/>
          <p:nvPr/>
        </p:nvSpPr>
        <p:spPr>
          <a:xfrm>
            <a:off x="3202919" y="3200400"/>
            <a:ext cx="914400" cy="400110"/>
          </a:xfrm>
          <a:prstGeom prst="rect">
            <a:avLst/>
          </a:prstGeom>
          <a:solidFill>
            <a:schemeClr val="bg1"/>
          </a:solidFill>
        </p:spPr>
        <p:txBody>
          <a:bodyPr wrap="square" rtlCol="0">
            <a:spAutoFit/>
          </a:bodyPr>
          <a:lstStyle/>
          <a:p>
            <a:pPr algn="ctr"/>
            <a:r>
              <a:rPr lang="en-US" sz="2000"/>
              <a:t>0</a:t>
            </a:r>
          </a:p>
        </p:txBody>
      </p:sp>
      <p:sp>
        <p:nvSpPr>
          <p:cNvPr id="7" name="TextBox 6"/>
          <p:cNvSpPr txBox="1"/>
          <p:nvPr/>
        </p:nvSpPr>
        <p:spPr>
          <a:xfrm>
            <a:off x="3202919" y="3733182"/>
            <a:ext cx="914400" cy="400110"/>
          </a:xfrm>
          <a:prstGeom prst="rect">
            <a:avLst/>
          </a:prstGeom>
          <a:solidFill>
            <a:schemeClr val="bg1"/>
          </a:solidFill>
        </p:spPr>
        <p:txBody>
          <a:bodyPr wrap="square" rtlCol="0">
            <a:spAutoFit/>
          </a:bodyPr>
          <a:lstStyle/>
          <a:p>
            <a:pPr algn="ctr"/>
            <a:r>
              <a:rPr lang="en-US" sz="2000"/>
              <a:t>1</a:t>
            </a:r>
          </a:p>
        </p:txBody>
      </p:sp>
      <p:sp>
        <p:nvSpPr>
          <p:cNvPr id="10" name="TextBox 9"/>
          <p:cNvSpPr txBox="1"/>
          <p:nvPr/>
        </p:nvSpPr>
        <p:spPr>
          <a:xfrm>
            <a:off x="5257800" y="3733182"/>
            <a:ext cx="914400" cy="400110"/>
          </a:xfrm>
          <a:prstGeom prst="rect">
            <a:avLst/>
          </a:prstGeom>
          <a:solidFill>
            <a:schemeClr val="bg1"/>
          </a:solidFill>
        </p:spPr>
        <p:txBody>
          <a:bodyPr wrap="square" rtlCol="0">
            <a:spAutoFit/>
          </a:bodyPr>
          <a:lstStyle/>
          <a:p>
            <a:pPr algn="ctr"/>
            <a:r>
              <a:rPr lang="en-US" sz="2000"/>
              <a:t>0</a:t>
            </a:r>
          </a:p>
        </p:txBody>
      </p:sp>
      <p:sp>
        <p:nvSpPr>
          <p:cNvPr id="11" name="TextBox 10"/>
          <p:cNvSpPr txBox="1"/>
          <p:nvPr/>
        </p:nvSpPr>
        <p:spPr>
          <a:xfrm>
            <a:off x="5257800" y="3200400"/>
            <a:ext cx="914400" cy="400110"/>
          </a:xfrm>
          <a:prstGeom prst="rect">
            <a:avLst/>
          </a:prstGeom>
          <a:solidFill>
            <a:schemeClr val="bg1"/>
          </a:solidFill>
        </p:spPr>
        <p:txBody>
          <a:bodyPr wrap="square" rtlCol="0">
            <a:spAutoFit/>
          </a:bodyPr>
          <a:lstStyle/>
          <a:p>
            <a:pPr algn="ctr"/>
            <a:r>
              <a:rPr lang="en-US" sz="2000"/>
              <a:t>1</a:t>
            </a:r>
          </a:p>
        </p:txBody>
      </p:sp>
      <p:sp>
        <p:nvSpPr>
          <p:cNvPr id="12" name="TextBox 11"/>
          <p:cNvSpPr txBox="1"/>
          <p:nvPr/>
        </p:nvSpPr>
        <p:spPr>
          <a:xfrm>
            <a:off x="2133600" y="1889760"/>
            <a:ext cx="4870244" cy="523220"/>
          </a:xfrm>
          <a:prstGeom prst="rect">
            <a:avLst/>
          </a:prstGeom>
          <a:noFill/>
        </p:spPr>
        <p:txBody>
          <a:bodyPr wrap="none" rtlCol="0">
            <a:spAutoFit/>
          </a:bodyPr>
          <a:lstStyle/>
          <a:p>
            <a:r>
              <a:rPr lang="en-US" sz="2800" b="1"/>
              <a:t>Output is </a:t>
            </a:r>
            <a:r>
              <a:rPr lang="en-US" sz="2800" b="1" u="sng"/>
              <a:t>opposite</a:t>
            </a:r>
            <a:r>
              <a:rPr lang="en-US" sz="2800" b="1"/>
              <a:t> of the input</a:t>
            </a:r>
          </a:p>
        </p:txBody>
      </p:sp>
      <p:sp>
        <p:nvSpPr>
          <p:cNvPr id="14" name="TextBox 13"/>
          <p:cNvSpPr txBox="1"/>
          <p:nvPr/>
        </p:nvSpPr>
        <p:spPr>
          <a:xfrm>
            <a:off x="3550920" y="4419599"/>
            <a:ext cx="1935480" cy="461665"/>
          </a:xfrm>
          <a:prstGeom prst="rect">
            <a:avLst/>
          </a:prstGeom>
          <a:noFill/>
        </p:spPr>
        <p:txBody>
          <a:bodyPr wrap="square" rtlCol="0">
            <a:spAutoFit/>
          </a:bodyPr>
          <a:lstStyle/>
          <a:p>
            <a:pPr algn="ctr"/>
            <a:r>
              <a:rPr lang="en-US" u="sng"/>
              <a:t>Math Symbol:</a:t>
            </a:r>
          </a:p>
        </p:txBody>
      </p:sp>
      <p:sp>
        <p:nvSpPr>
          <p:cNvPr id="15" name="TextBox 14"/>
          <p:cNvSpPr txBox="1"/>
          <p:nvPr/>
        </p:nvSpPr>
        <p:spPr>
          <a:xfrm>
            <a:off x="6112304" y="4431029"/>
            <a:ext cx="2650696" cy="461665"/>
          </a:xfrm>
          <a:prstGeom prst="rect">
            <a:avLst/>
          </a:prstGeom>
          <a:noFill/>
        </p:spPr>
        <p:txBody>
          <a:bodyPr wrap="square" rtlCol="0">
            <a:spAutoFit/>
          </a:bodyPr>
          <a:lstStyle/>
          <a:p>
            <a:pPr algn="ctr"/>
            <a:r>
              <a:rPr lang="en-US" u="sng"/>
              <a:t>Boolean Equation:</a:t>
            </a:r>
          </a:p>
        </p:txBody>
      </p:sp>
      <p:sp>
        <p:nvSpPr>
          <p:cNvPr id="3" name="TextBox 2"/>
          <p:cNvSpPr txBox="1"/>
          <p:nvPr/>
        </p:nvSpPr>
        <p:spPr>
          <a:xfrm>
            <a:off x="533400" y="4419600"/>
            <a:ext cx="2286000" cy="461665"/>
          </a:xfrm>
          <a:prstGeom prst="rect">
            <a:avLst/>
          </a:prstGeom>
          <a:noFill/>
        </p:spPr>
        <p:txBody>
          <a:bodyPr wrap="square" rtlCol="0">
            <a:spAutoFit/>
          </a:bodyPr>
          <a:lstStyle/>
          <a:p>
            <a:r>
              <a:rPr lang="en-US" u="sng"/>
              <a:t>Wiring Symbol:</a:t>
            </a:r>
          </a:p>
        </p:txBody>
      </p:sp>
      <p:grpSp>
        <p:nvGrpSpPr>
          <p:cNvPr id="17" name="Group 16"/>
          <p:cNvGrpSpPr/>
          <p:nvPr/>
        </p:nvGrpSpPr>
        <p:grpSpPr>
          <a:xfrm>
            <a:off x="465516" y="4953000"/>
            <a:ext cx="2277684" cy="948990"/>
            <a:chOff x="465516" y="4953000"/>
            <a:chExt cx="2277684" cy="948990"/>
          </a:xfrm>
        </p:grpSpPr>
        <p:pic>
          <p:nvPicPr>
            <p:cNvPr id="13" name="Picture 4" descr="http://www.clker.com/cliparts/d/3/8/2/12065670311495995000nobody_Digital_logic_gates.svg.hi.png">
              <a:hlinkClick r:id="rId2"/>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74727" y="4953000"/>
              <a:ext cx="1487473" cy="94899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67236" y="5253335"/>
              <a:ext cx="475964" cy="461665"/>
            </a:xfrm>
            <a:prstGeom prst="rect">
              <a:avLst/>
            </a:prstGeom>
          </p:spPr>
          <p:txBody>
            <a:bodyPr wrap="none">
              <a:spAutoFit/>
            </a:bodyPr>
            <a:lstStyle/>
            <a:p>
              <a:r>
                <a:rPr lang="en-US"/>
                <a:t>A’</a:t>
              </a:r>
            </a:p>
          </p:txBody>
        </p:sp>
        <p:sp>
          <p:nvSpPr>
            <p:cNvPr id="5" name="Rectangle 4"/>
            <p:cNvSpPr/>
            <p:nvPr/>
          </p:nvSpPr>
          <p:spPr>
            <a:xfrm>
              <a:off x="465516" y="5257799"/>
              <a:ext cx="407484" cy="461665"/>
            </a:xfrm>
            <a:prstGeom prst="rect">
              <a:avLst/>
            </a:prstGeom>
          </p:spPr>
          <p:txBody>
            <a:bodyPr wrap="none">
              <a:spAutoFit/>
            </a:bodyPr>
            <a:lstStyle/>
            <a:p>
              <a:r>
                <a:rPr lang="en-US"/>
                <a:t>A</a:t>
              </a:r>
            </a:p>
          </p:txBody>
        </p:sp>
      </p:grpSp>
      <mc:AlternateContent xmlns:mc="http://schemas.openxmlformats.org/markup-compatibility/2006" xmlns:a14="http://schemas.microsoft.com/office/drawing/2010/main">
        <mc:Choice Requires="a14">
          <p:sp>
            <p:nvSpPr>
              <p:cNvPr id="18" name="TextBox 17"/>
              <p:cNvSpPr txBox="1"/>
              <p:nvPr/>
            </p:nvSpPr>
            <p:spPr>
              <a:xfrm>
                <a:off x="3600982" y="5169693"/>
                <a:ext cx="1935480" cy="462434"/>
              </a:xfrm>
              <a:prstGeom prst="rect">
                <a:avLst/>
              </a:prstGeom>
              <a:noFill/>
            </p:spPr>
            <p:txBody>
              <a:bodyPr wrap="square" rtlCol="0">
                <a:spAutoFit/>
              </a:bodyPr>
              <a:lstStyle/>
              <a:p>
                <a:pPr algn="ctr"/>
                <a:r>
                  <a:rPr lang="en-US"/>
                  <a:t>A’   or    </a:t>
                </a:r>
                <a14:m>
                  <m:oMath xmlns:m="http://schemas.openxmlformats.org/officeDocument/2006/math">
                    <m:acc>
                      <m:accPr>
                        <m:chr m:val="̅"/>
                        <m:ctrlPr>
                          <a:rPr lang="en-US" i="1" dirty="0" smtClean="0">
                            <a:latin typeface="Cambria Math" panose="02040503050406030204" pitchFamily="18" charset="0"/>
                          </a:rPr>
                        </m:ctrlPr>
                      </m:accPr>
                      <m:e>
                        <m:r>
                          <m:rPr>
                            <m:sty m:val="p"/>
                          </m:rPr>
                          <a:rPr lang="en-US" b="0" i="0" dirty="0" smtClean="0">
                            <a:latin typeface="Cambria Math"/>
                          </a:rPr>
                          <m:t>A</m:t>
                        </m:r>
                      </m:e>
                    </m:acc>
                  </m:oMath>
                </a14:m>
                <a:endParaRPr lang="en-US"/>
              </a:p>
            </p:txBody>
          </p:sp>
        </mc:Choice>
        <mc:Fallback xmlns="">
          <p:sp>
            <p:nvSpPr>
              <p:cNvPr id="18" name="TextBox 17"/>
              <p:cNvSpPr txBox="1">
                <a:spLocks noRot="1" noChangeAspect="1" noMove="1" noResize="1" noEditPoints="1" noAdjustHandles="1" noChangeArrowheads="1" noChangeShapeType="1" noTextEdit="1"/>
              </p:cNvSpPr>
              <p:nvPr/>
            </p:nvSpPr>
            <p:spPr>
              <a:xfrm>
                <a:off x="3600982" y="5169693"/>
                <a:ext cx="1935480" cy="462434"/>
              </a:xfrm>
              <a:prstGeom prst="rect">
                <a:avLst/>
              </a:prstGeom>
              <a:blipFill rotWithShape="1">
                <a:blip r:embed="rId4"/>
                <a:stretch>
                  <a:fillRect t="-9211" r="-11356" b="-30263"/>
                </a:stretch>
              </a:blipFill>
            </p:spPr>
            <p:txBody>
              <a:bodyPr/>
              <a:lstStyle/>
              <a:p>
                <a:r>
                  <a:rPr lang="en-US">
                    <a:noFill/>
                  </a:rPr>
                  <a:t> </a:t>
                </a:r>
              </a:p>
            </p:txBody>
          </p:sp>
        </mc:Fallback>
      </mc:AlternateContent>
      <p:sp>
        <p:nvSpPr>
          <p:cNvPr id="19" name="Rectangle 18"/>
          <p:cNvSpPr/>
          <p:nvPr/>
        </p:nvSpPr>
        <p:spPr>
          <a:xfrm>
            <a:off x="6930942" y="5169693"/>
            <a:ext cx="1013419" cy="461665"/>
          </a:xfrm>
          <a:prstGeom prst="rect">
            <a:avLst/>
          </a:prstGeom>
        </p:spPr>
        <p:txBody>
          <a:bodyPr wrap="none">
            <a:spAutoFit/>
          </a:bodyPr>
          <a:lstStyle/>
          <a:p>
            <a:pPr algn="ctr"/>
            <a:r>
              <a:rPr lang="en-US"/>
              <a:t>A’ = Q</a:t>
            </a:r>
          </a:p>
        </p:txBody>
      </p:sp>
      <p:cxnSp>
        <p:nvCxnSpPr>
          <p:cNvPr id="21" name="Straight Connector 20"/>
          <p:cNvCxnSpPr/>
          <p:nvPr/>
        </p:nvCxnSpPr>
        <p:spPr>
          <a:xfrm flipV="1">
            <a:off x="5943600" y="4431029"/>
            <a:ext cx="0" cy="174117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124200" y="4431029"/>
            <a:ext cx="0" cy="174117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962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2" grpId="0"/>
      <p:bldP spid="14" grpId="0"/>
      <p:bldP spid="15" grpId="0"/>
      <p:bldP spid="3" grpId="0"/>
      <p:bldP spid="18" grpId="0"/>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9" y="-198120"/>
            <a:ext cx="7772400" cy="1143000"/>
          </a:xfrm>
        </p:spPr>
        <p:txBody>
          <a:bodyPr/>
          <a:lstStyle/>
          <a:p>
            <a:r>
              <a:rPr lang="en-US" dirty="0"/>
              <a:t>Boolean Algebra</a:t>
            </a:r>
          </a:p>
        </p:txBody>
      </p:sp>
      <p:graphicFrame>
        <p:nvGraphicFramePr>
          <p:cNvPr id="8" name="Content Placeholder 7"/>
          <p:cNvGraphicFramePr>
            <a:graphicFrameLocks noGrp="1"/>
          </p:cNvGraphicFramePr>
          <p:nvPr>
            <p:ph idx="1"/>
          </p:nvPr>
        </p:nvGraphicFramePr>
        <p:xfrm>
          <a:off x="1066800" y="1371600"/>
          <a:ext cx="2336800" cy="4541520"/>
        </p:xfrm>
        <a:graphic>
          <a:graphicData uri="http://schemas.openxmlformats.org/drawingml/2006/table">
            <a:tbl>
              <a:tblPr/>
              <a:tblGrid>
                <a:gridCol w="2336800">
                  <a:extLst>
                    <a:ext uri="{9D8B030D-6E8A-4147-A177-3AD203B41FA5}">
                      <a16:colId xmlns:a16="http://schemas.microsoft.com/office/drawing/2014/main" val="20000"/>
                    </a:ext>
                  </a:extLst>
                </a:gridCol>
              </a:tblGrid>
              <a:tr h="200025">
                <a:tc>
                  <a:txBody>
                    <a:bodyPr/>
                    <a:lstStyle/>
                    <a:p>
                      <a:pPr algn="ctr" fontAlgn="b"/>
                      <a:r>
                        <a:rPr lang="en-US" sz="1800" b="1" i="0" u="none" strike="noStrike">
                          <a:solidFill>
                            <a:srgbClr val="000000"/>
                          </a:solidFill>
                          <a:effectLst/>
                          <a:latin typeface="Calibri"/>
                        </a:rPr>
                        <a:t>Identity Element</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0"/>
                  </a:ext>
                </a:extLst>
              </a:tr>
              <a:tr h="190500">
                <a:tc>
                  <a:txBody>
                    <a:bodyPr/>
                    <a:lstStyle/>
                    <a:p>
                      <a:pPr algn="ctr" fontAlgn="b"/>
                      <a:r>
                        <a:rPr lang="en-US" sz="1800" b="0" i="0" u="none" strike="noStrike">
                          <a:solidFill>
                            <a:srgbClr val="000000"/>
                          </a:solidFill>
                          <a:effectLst/>
                          <a:latin typeface="Calibri"/>
                        </a:rPr>
                        <a:t>a+0=a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ctr" fontAlgn="b"/>
                      <a:r>
                        <a:rPr lang="en-US" sz="1800" b="0" i="0" u="none" strike="noStrike" dirty="0">
                          <a:solidFill>
                            <a:srgbClr val="000000"/>
                          </a:solidFill>
                          <a:effectLst/>
                          <a:latin typeface="Calibri"/>
                        </a:rPr>
                        <a:t>a+1=1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ctr" fontAlgn="b"/>
                      <a:r>
                        <a:rPr lang="en-US" sz="1800" b="0" i="0" u="none" strike="noStrike">
                          <a:solidFill>
                            <a:srgbClr val="000000"/>
                          </a:solidFill>
                          <a:effectLst/>
                          <a:latin typeface="Calibri"/>
                        </a:rPr>
                        <a:t>a*0=0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ctr" fontAlgn="b"/>
                      <a:r>
                        <a:rPr lang="en-US" sz="1800" b="0" i="0" u="none" strike="noStrike">
                          <a:solidFill>
                            <a:srgbClr val="000000"/>
                          </a:solidFill>
                          <a:effectLst/>
                          <a:latin typeface="Calibri"/>
                        </a:rPr>
                        <a:t>a*1=a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algn="ctr" fontAlgn="b"/>
                      <a:r>
                        <a:rPr lang="en-US" sz="1800" b="0" i="0" u="none" strike="noStrike">
                          <a:solidFill>
                            <a:srgbClr val="000000"/>
                          </a:solidFill>
                          <a:effectLst/>
                          <a:latin typeface="Calibri"/>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025">
                <a:tc>
                  <a:txBody>
                    <a:bodyPr/>
                    <a:lstStyle/>
                    <a:p>
                      <a:pPr algn="ctr" fontAlgn="b"/>
                      <a:r>
                        <a:rPr lang="en-US" sz="1800" b="1" i="0" u="none" strike="noStrike">
                          <a:solidFill>
                            <a:srgbClr val="000000"/>
                          </a:solidFill>
                          <a:effectLst/>
                          <a:latin typeface="Calibri"/>
                        </a:rPr>
                        <a:t>Involution</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6"/>
                  </a:ext>
                </a:extLst>
              </a:tr>
              <a:tr h="190500">
                <a:tc>
                  <a:txBody>
                    <a:bodyPr/>
                    <a:lstStyle/>
                    <a:p>
                      <a:pPr algn="ctr" fontAlgn="b"/>
                      <a:r>
                        <a:rPr lang="en-US" sz="1800" b="0" i="0" u="none" strike="noStrike">
                          <a:solidFill>
                            <a:srgbClr val="000000"/>
                          </a:solidFill>
                          <a:effectLst/>
                          <a:latin typeface="Calibri"/>
                        </a:rPr>
                        <a:t>(a')'=a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025">
                <a:tc>
                  <a:txBody>
                    <a:bodyPr/>
                    <a:lstStyle/>
                    <a:p>
                      <a:pPr algn="ctr" fontAlgn="b"/>
                      <a:r>
                        <a:rPr lang="en-US" sz="1800" b="0" i="0" u="none" strike="noStrike">
                          <a:solidFill>
                            <a:srgbClr val="000000"/>
                          </a:solidFill>
                          <a:effectLst/>
                          <a:latin typeface="Calibri"/>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0025">
                <a:tc>
                  <a:txBody>
                    <a:bodyPr/>
                    <a:lstStyle/>
                    <a:p>
                      <a:pPr algn="ctr" fontAlgn="b"/>
                      <a:r>
                        <a:rPr lang="en-US" sz="1800" b="1" i="0" u="none" strike="noStrike">
                          <a:solidFill>
                            <a:srgbClr val="000000"/>
                          </a:solidFill>
                          <a:effectLst/>
                          <a:latin typeface="Calibri"/>
                        </a:rPr>
                        <a:t>Complementation</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9"/>
                  </a:ext>
                </a:extLst>
              </a:tr>
              <a:tr h="190500">
                <a:tc>
                  <a:txBody>
                    <a:bodyPr/>
                    <a:lstStyle/>
                    <a:p>
                      <a:pPr algn="ctr" fontAlgn="b"/>
                      <a:r>
                        <a:rPr lang="en-US" sz="1800" b="0" i="0" u="none" strike="noStrike" err="1">
                          <a:solidFill>
                            <a:srgbClr val="000000"/>
                          </a:solidFill>
                          <a:effectLst/>
                          <a:latin typeface="Calibri"/>
                        </a:rPr>
                        <a:t>a+a</a:t>
                      </a:r>
                      <a:r>
                        <a:rPr lang="en-US" sz="1800" b="0" i="0" u="none" strike="noStrike">
                          <a:solidFill>
                            <a:srgbClr val="000000"/>
                          </a:solidFill>
                          <a:effectLst/>
                          <a:latin typeface="Calibri"/>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ctr" fontAlgn="b"/>
                      <a:r>
                        <a:rPr lang="en-US" sz="1800" b="0" i="0" u="none" strike="noStrike">
                          <a:solidFill>
                            <a:srgbClr val="000000"/>
                          </a:solidFill>
                          <a:effectLst/>
                          <a:latin typeface="Calibri"/>
                        </a:rPr>
                        <a:t>a*a'=0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025">
                <a:tc>
                  <a:txBody>
                    <a:bodyPr/>
                    <a:lstStyle/>
                    <a:p>
                      <a:pPr algn="ctr" fontAlgn="b"/>
                      <a:r>
                        <a:rPr lang="en-US" sz="1800" b="0" i="0" u="none" strike="noStrike">
                          <a:solidFill>
                            <a:srgbClr val="000000"/>
                          </a:solidFill>
                          <a:effectLst/>
                          <a:latin typeface="Calibri"/>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025">
                <a:tc>
                  <a:txBody>
                    <a:bodyPr/>
                    <a:lstStyle/>
                    <a:p>
                      <a:pPr algn="ctr" fontAlgn="b"/>
                      <a:r>
                        <a:rPr lang="en-US" sz="1800" b="1" i="0" u="none" strike="noStrike" err="1">
                          <a:solidFill>
                            <a:srgbClr val="000000"/>
                          </a:solidFill>
                          <a:effectLst/>
                          <a:latin typeface="Calibri"/>
                        </a:rPr>
                        <a:t>Idempotency</a:t>
                      </a:r>
                      <a:endParaRPr lang="en-US" sz="1800" b="1" i="0" u="none" strike="noStrike">
                        <a:solidFill>
                          <a:srgbClr val="000000"/>
                        </a:solidFill>
                        <a:effectLst/>
                        <a:latin typeface="Calibri"/>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13"/>
                  </a:ext>
                </a:extLst>
              </a:tr>
              <a:tr h="190500">
                <a:tc>
                  <a:txBody>
                    <a:bodyPr/>
                    <a:lstStyle/>
                    <a:p>
                      <a:pPr algn="ctr" fontAlgn="b"/>
                      <a:r>
                        <a:rPr lang="en-US" sz="1800" b="0" i="0" u="none" strike="noStrike" err="1">
                          <a:solidFill>
                            <a:srgbClr val="000000"/>
                          </a:solidFill>
                          <a:effectLst/>
                          <a:latin typeface="Calibri"/>
                        </a:rPr>
                        <a:t>a+a</a:t>
                      </a:r>
                      <a:r>
                        <a:rPr lang="en-US" sz="1800" b="0" i="0" u="none" strike="noStrike">
                          <a:solidFill>
                            <a:srgbClr val="000000"/>
                          </a:solidFill>
                          <a:effectLst/>
                          <a:latin typeface="Calibri"/>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90500">
                <a:tc>
                  <a:txBody>
                    <a:bodyPr/>
                    <a:lstStyle/>
                    <a:p>
                      <a:pPr algn="ctr" fontAlgn="b"/>
                      <a:r>
                        <a:rPr lang="en-US" sz="1800" b="0" i="0" u="none" strike="noStrike" dirty="0">
                          <a:solidFill>
                            <a:srgbClr val="000000"/>
                          </a:solidFill>
                          <a:effectLst/>
                          <a:latin typeface="Calibri"/>
                        </a:rPr>
                        <a:t>a*a=a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4" name="Slide Number Placeholder 3"/>
          <p:cNvSpPr>
            <a:spLocks noGrp="1"/>
          </p:cNvSpPr>
          <p:nvPr>
            <p:ph type="sldNum" sz="quarter" idx="10"/>
          </p:nvPr>
        </p:nvSpPr>
        <p:spPr/>
        <p:txBody>
          <a:bodyPr/>
          <a:lstStyle/>
          <a:p>
            <a:pPr>
              <a:defRPr/>
            </a:pPr>
            <a:fld id="{9D7CB553-FCAF-47CB-927B-73E76EE51F9F}" type="slidenum">
              <a:rPr lang="en-US" smtClean="0"/>
              <a:pPr>
                <a:defRPr/>
              </a:pPr>
              <a:t>33</a:t>
            </a:fld>
            <a:endParaRPr lang="en-US">
              <a:solidFill>
                <a:schemeClr val="bg2"/>
              </a:solidFill>
            </a:endParaRPr>
          </a:p>
        </p:txBody>
      </p:sp>
      <p:graphicFrame>
        <p:nvGraphicFramePr>
          <p:cNvPr id="10" name="Table 9"/>
          <p:cNvGraphicFramePr>
            <a:graphicFrameLocks noGrp="1"/>
          </p:cNvGraphicFramePr>
          <p:nvPr/>
        </p:nvGraphicFramePr>
        <p:xfrm>
          <a:off x="4267200" y="1371600"/>
          <a:ext cx="3810000" cy="4825365"/>
        </p:xfrm>
        <a:graphic>
          <a:graphicData uri="http://schemas.openxmlformats.org/drawingml/2006/table">
            <a:tbl>
              <a:tblPr/>
              <a:tblGrid>
                <a:gridCol w="3810000">
                  <a:extLst>
                    <a:ext uri="{9D8B030D-6E8A-4147-A177-3AD203B41FA5}">
                      <a16:colId xmlns:a16="http://schemas.microsoft.com/office/drawing/2014/main" val="20000"/>
                    </a:ext>
                  </a:extLst>
                </a:gridCol>
              </a:tblGrid>
              <a:tr h="200025">
                <a:tc>
                  <a:txBody>
                    <a:bodyPr/>
                    <a:lstStyle/>
                    <a:p>
                      <a:pPr algn="ctr" fontAlgn="b"/>
                      <a:r>
                        <a:rPr lang="en-US" sz="1800" b="1" i="0" u="none" strike="noStrike">
                          <a:solidFill>
                            <a:srgbClr val="000000"/>
                          </a:solidFill>
                          <a:effectLst/>
                          <a:latin typeface="Calibri"/>
                        </a:rPr>
                        <a:t>Associative (grouping doesn't matter)</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0"/>
                  </a:ext>
                </a:extLst>
              </a:tr>
              <a:tr h="190500">
                <a:tc>
                  <a:txBody>
                    <a:bodyPr/>
                    <a:lstStyle/>
                    <a:p>
                      <a:pPr algn="ctr" fontAlgn="b"/>
                      <a:r>
                        <a:rPr lang="en-US" sz="1800" b="0" i="0" u="none" strike="noStrike">
                          <a:solidFill>
                            <a:srgbClr val="000000"/>
                          </a:solidFill>
                          <a:effectLst/>
                          <a:latin typeface="Calibri"/>
                        </a:rPr>
                        <a:t>a+(</a:t>
                      </a:r>
                      <a:r>
                        <a:rPr lang="en-US" sz="1800" b="0" i="0" u="none" strike="noStrike" err="1">
                          <a:solidFill>
                            <a:srgbClr val="000000"/>
                          </a:solidFill>
                          <a:effectLst/>
                          <a:latin typeface="Calibri"/>
                        </a:rPr>
                        <a:t>b+c</a:t>
                      </a:r>
                      <a:r>
                        <a:rPr lang="en-US" sz="1800" b="0" i="0" u="none" strike="noStrike">
                          <a:solidFill>
                            <a:srgbClr val="000000"/>
                          </a:solidFill>
                          <a:effectLst/>
                          <a:latin typeface="Calibri"/>
                        </a:rPr>
                        <a:t>)=(</a:t>
                      </a:r>
                      <a:r>
                        <a:rPr lang="en-US" sz="1800" b="0" i="0" u="none" strike="noStrike" err="1">
                          <a:solidFill>
                            <a:srgbClr val="000000"/>
                          </a:solidFill>
                          <a:effectLst/>
                          <a:latin typeface="Calibri"/>
                        </a:rPr>
                        <a:t>a+b</a:t>
                      </a:r>
                      <a:r>
                        <a:rPr lang="en-US" sz="1800" b="0" i="0" u="none" strike="noStrike">
                          <a:solidFill>
                            <a:srgbClr val="000000"/>
                          </a:solidFill>
                          <a:effectLst/>
                          <a:latin typeface="Calibri"/>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ctr" fontAlgn="b"/>
                      <a:r>
                        <a:rPr lang="en-US" sz="1800" b="0" i="0" u="none" strike="noStrike">
                          <a:solidFill>
                            <a:srgbClr val="000000"/>
                          </a:solidFill>
                          <a:effectLst/>
                          <a:latin typeface="Calibri"/>
                        </a:rPr>
                        <a:t>a*(b*c)=(a*b)*c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fontAlgn="b"/>
                      <a:r>
                        <a:rPr lang="en-US" sz="1800" b="0" i="0" u="none" strike="noStrike">
                          <a:solidFill>
                            <a:srgbClr val="000000"/>
                          </a:solidFill>
                          <a:effectLst/>
                          <a:latin typeface="Calibri"/>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fontAlgn="b"/>
                      <a:r>
                        <a:rPr lang="en-US" sz="1800" b="1" i="0" u="none" strike="noStrike">
                          <a:solidFill>
                            <a:srgbClr val="000000"/>
                          </a:solidFill>
                          <a:effectLst/>
                          <a:latin typeface="Calibri"/>
                        </a:rPr>
                        <a:t>Commutative (order doesn't matter)</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4"/>
                  </a:ext>
                </a:extLst>
              </a:tr>
              <a:tr h="200025">
                <a:tc>
                  <a:txBody>
                    <a:bodyPr/>
                    <a:lstStyle/>
                    <a:p>
                      <a:pPr algn="ctr" fontAlgn="b"/>
                      <a:r>
                        <a:rPr lang="en-US" sz="1800" b="0" i="0" u="none" strike="noStrike" err="1">
                          <a:solidFill>
                            <a:srgbClr val="000000"/>
                          </a:solidFill>
                          <a:effectLst/>
                          <a:latin typeface="Calibri"/>
                        </a:rPr>
                        <a:t>a+b</a:t>
                      </a:r>
                      <a:r>
                        <a:rPr lang="en-US" sz="1800" b="0" i="0" u="none" strike="noStrike">
                          <a:solidFill>
                            <a:srgbClr val="000000"/>
                          </a:solidFill>
                          <a:effectLst/>
                          <a:latin typeface="Calibri"/>
                        </a:rPr>
                        <a:t>=</a:t>
                      </a:r>
                      <a:r>
                        <a:rPr lang="en-US" sz="1800" b="0" i="0" u="none" strike="noStrike" err="1">
                          <a:solidFill>
                            <a:srgbClr val="000000"/>
                          </a:solidFill>
                          <a:effectLst/>
                          <a:latin typeface="Calibri"/>
                        </a:rPr>
                        <a:t>b+a</a:t>
                      </a:r>
                      <a:endParaRPr lang="en-US" sz="18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ctr" fontAlgn="b"/>
                      <a:r>
                        <a:rPr lang="en-US" sz="1800" b="0" i="0" u="none" strike="noStrike">
                          <a:solidFill>
                            <a:srgbClr val="000000"/>
                          </a:solidFill>
                          <a:effectLst/>
                          <a:latin typeface="Calibri"/>
                        </a:rPr>
                        <a:t>a*b=b*a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025">
                <a:tc>
                  <a:txBody>
                    <a:bodyPr/>
                    <a:lstStyle/>
                    <a:p>
                      <a:pPr algn="ctr" fontAlgn="b"/>
                      <a:r>
                        <a:rPr lang="en-US" sz="1800" b="0" i="0" u="none" strike="noStrike">
                          <a:solidFill>
                            <a:srgbClr val="000000"/>
                          </a:solidFill>
                          <a:effectLst/>
                          <a:latin typeface="Calibri"/>
                        </a:rPr>
                        <a:t> </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025">
                <a:tc>
                  <a:txBody>
                    <a:bodyPr/>
                    <a:lstStyle/>
                    <a:p>
                      <a:pPr algn="ctr" fontAlgn="b"/>
                      <a:r>
                        <a:rPr lang="en-US" sz="1800" b="1" i="0" u="none" strike="noStrike">
                          <a:solidFill>
                            <a:srgbClr val="000000"/>
                          </a:solidFill>
                          <a:effectLst/>
                          <a:latin typeface="Calibri"/>
                        </a:rPr>
                        <a:t>Distributive for BOOLEAN ALGEBRA</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8"/>
                  </a:ext>
                </a:extLst>
              </a:tr>
              <a:tr h="190500">
                <a:tc>
                  <a:txBody>
                    <a:bodyPr/>
                    <a:lstStyle/>
                    <a:p>
                      <a:pPr algn="ctr" fontAlgn="b"/>
                      <a:r>
                        <a:rPr lang="en-US" sz="1800" b="0" i="0" u="none" strike="noStrike">
                          <a:solidFill>
                            <a:srgbClr val="000000"/>
                          </a:solidFill>
                          <a:effectLst/>
                          <a:latin typeface="Calibri"/>
                        </a:rPr>
                        <a:t>a+(b*c)=(</a:t>
                      </a:r>
                      <a:r>
                        <a:rPr lang="en-US" sz="1800" b="0" i="0" u="none" strike="noStrike" err="1">
                          <a:solidFill>
                            <a:srgbClr val="000000"/>
                          </a:solidFill>
                          <a:effectLst/>
                          <a:latin typeface="Calibri"/>
                        </a:rPr>
                        <a:t>a+b</a:t>
                      </a:r>
                      <a:r>
                        <a:rPr lang="en-US" sz="1800" b="0" i="0" u="none" strike="noStrike">
                          <a:solidFill>
                            <a:srgbClr val="000000"/>
                          </a:solidFill>
                          <a:effectLst/>
                          <a:latin typeface="Calibri"/>
                        </a:rPr>
                        <a:t>)*(</a:t>
                      </a:r>
                      <a:r>
                        <a:rPr lang="en-US" sz="1800" b="0" i="0" u="none" strike="noStrike" err="1">
                          <a:solidFill>
                            <a:srgbClr val="000000"/>
                          </a:solidFill>
                          <a:effectLst/>
                          <a:latin typeface="Calibri"/>
                        </a:rPr>
                        <a:t>a+c</a:t>
                      </a:r>
                      <a:r>
                        <a:rPr lang="en-US" sz="1800" b="0" i="0" u="none" strike="noStrike">
                          <a:solidFill>
                            <a:srgbClr val="000000"/>
                          </a:solidFill>
                          <a:effectLst/>
                          <a:latin typeface="Calibri"/>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90500">
                <a:tc>
                  <a:txBody>
                    <a:bodyPr/>
                    <a:lstStyle/>
                    <a:p>
                      <a:pPr algn="ctr" fontAlgn="b"/>
                      <a:r>
                        <a:rPr lang="en-US" sz="1800" b="0" i="0" u="none" strike="noStrike">
                          <a:solidFill>
                            <a:srgbClr val="000000"/>
                          </a:solidFill>
                          <a:effectLst/>
                          <a:latin typeface="Calibri"/>
                        </a:rPr>
                        <a:t>a*(</a:t>
                      </a:r>
                      <a:r>
                        <a:rPr lang="en-US" sz="1800" b="0" i="0" u="none" strike="noStrike" err="1">
                          <a:solidFill>
                            <a:srgbClr val="000000"/>
                          </a:solidFill>
                          <a:effectLst/>
                          <a:latin typeface="Calibri"/>
                        </a:rPr>
                        <a:t>b+c</a:t>
                      </a:r>
                      <a:r>
                        <a:rPr lang="en-US" sz="1800" b="0" i="0" u="none" strike="noStrike">
                          <a:solidFill>
                            <a:srgbClr val="000000"/>
                          </a:solidFill>
                          <a:effectLst/>
                          <a:latin typeface="Calibri"/>
                        </a:rPr>
                        <a:t>)=(a*b)+(a*c)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025">
                <a:tc>
                  <a:txBody>
                    <a:bodyPr/>
                    <a:lstStyle/>
                    <a:p>
                      <a:pPr algn="ctr" fontAlgn="b"/>
                      <a:r>
                        <a:rPr lang="en-US" sz="1800" b="0" i="0" u="none" strike="noStrike">
                          <a:solidFill>
                            <a:srgbClr val="000000"/>
                          </a:solidFill>
                          <a:effectLst/>
                          <a:latin typeface="Calibri"/>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025">
                <a:tc>
                  <a:txBody>
                    <a:bodyPr/>
                    <a:lstStyle/>
                    <a:p>
                      <a:pPr algn="ctr" fontAlgn="b"/>
                      <a:r>
                        <a:rPr lang="en-US" sz="1800" b="1" i="0" u="none" strike="noStrike">
                          <a:solidFill>
                            <a:srgbClr val="000000"/>
                          </a:solidFill>
                          <a:effectLst/>
                          <a:latin typeface="Calibri"/>
                        </a:rPr>
                        <a:t>Absorption</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12"/>
                  </a:ext>
                </a:extLst>
              </a:tr>
              <a:tr h="190500">
                <a:tc>
                  <a:txBody>
                    <a:bodyPr/>
                    <a:lstStyle/>
                    <a:p>
                      <a:pPr algn="ctr" fontAlgn="b"/>
                      <a:r>
                        <a:rPr lang="en-US" sz="1800" b="0" i="0" u="none" strike="noStrike" err="1">
                          <a:solidFill>
                            <a:srgbClr val="000000"/>
                          </a:solidFill>
                          <a:effectLst/>
                          <a:latin typeface="Calibri"/>
                        </a:rPr>
                        <a:t>a+a</a:t>
                      </a:r>
                      <a:r>
                        <a:rPr lang="en-US" sz="1800" b="0" i="0" u="none" strike="noStrike">
                          <a:solidFill>
                            <a:srgbClr val="000000"/>
                          </a:solidFill>
                          <a:effectLst/>
                          <a:latin typeface="Calibri"/>
                        </a:rPr>
                        <a:t>*b=a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025">
                <a:tc>
                  <a:txBody>
                    <a:bodyPr/>
                    <a:lstStyle/>
                    <a:p>
                      <a:pPr algn="ctr" fontAlgn="b"/>
                      <a:r>
                        <a:rPr lang="en-US" sz="1800" b="0" i="0" u="none" strike="noStrike">
                          <a:solidFill>
                            <a:srgbClr val="000000"/>
                          </a:solidFill>
                          <a:effectLst/>
                          <a:latin typeface="Calibri"/>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00025">
                <a:tc>
                  <a:txBody>
                    <a:bodyPr/>
                    <a:lstStyle/>
                    <a:p>
                      <a:pPr algn="ctr" fontAlgn="b"/>
                      <a:r>
                        <a:rPr lang="en-US" sz="1800" b="1" i="0" u="none" strike="noStrike">
                          <a:solidFill>
                            <a:srgbClr val="000000"/>
                          </a:solidFill>
                          <a:effectLst/>
                          <a:latin typeface="Calibri"/>
                        </a:rPr>
                        <a:t>Adjacency</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15"/>
                  </a:ext>
                </a:extLst>
              </a:tr>
              <a:tr h="190500">
                <a:tc>
                  <a:txBody>
                    <a:bodyPr/>
                    <a:lstStyle/>
                    <a:p>
                      <a:pPr algn="ctr" fontAlgn="b"/>
                      <a:r>
                        <a:rPr lang="en-US" sz="1800" b="0" i="0" u="none" strike="noStrike">
                          <a:solidFill>
                            <a:srgbClr val="000000"/>
                          </a:solidFill>
                          <a:effectLst/>
                          <a:latin typeface="Calibri"/>
                        </a:rPr>
                        <a:t>a*</a:t>
                      </a:r>
                      <a:r>
                        <a:rPr lang="en-US" sz="1800" b="0" i="0" u="none" strike="noStrike" err="1">
                          <a:solidFill>
                            <a:srgbClr val="000000"/>
                          </a:solidFill>
                          <a:effectLst/>
                          <a:latin typeface="Calibri"/>
                        </a:rPr>
                        <a:t>b+a</a:t>
                      </a:r>
                      <a:r>
                        <a:rPr lang="en-US" sz="1800" b="0" i="0" u="none" strike="noStrike">
                          <a:solidFill>
                            <a:srgbClr val="000000"/>
                          </a:solidFill>
                          <a:effectLst/>
                          <a:latin typeface="Calibri"/>
                        </a:rPr>
                        <a:t>*b'=a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7025284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86B8C-FFD3-47CE-9E8F-4104A49DEB88}">
  <ds:schemaRefs>
    <ds:schemaRef ds:uri="http://schemas.microsoft.com/sharepoint/v3/contenttype/forms"/>
  </ds:schemaRefs>
</ds:datastoreItem>
</file>

<file path=customXml/itemProps2.xml><?xml version="1.0" encoding="utf-8"?>
<ds:datastoreItem xmlns:ds="http://schemas.openxmlformats.org/officeDocument/2006/customXml" ds:itemID="{0996DB7C-76B3-472D-8F6F-C8E69FE568F8}">
  <ds:schemaRefs>
    <ds:schemaRef ds:uri="http://purl.org/dc/elements/1.1/"/>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7584c457-6b5a-4caa-be47-be979cbe6555"/>
    <ds:schemaRef ds:uri="http://schemas.microsoft.com/sharepoint/v3"/>
    <ds:schemaRef ds:uri="723aa48c-73f2-40da-86b1-f1ae286477fe"/>
    <ds:schemaRef ds:uri="http://www.w3.org/XML/1998/namespace"/>
  </ds:schemaRefs>
</ds:datastoreItem>
</file>

<file path=customXml/itemProps3.xml><?xml version="1.0" encoding="utf-8"?>
<ds:datastoreItem xmlns:ds="http://schemas.openxmlformats.org/officeDocument/2006/customXml" ds:itemID="{BBE28C75-BFAD-4738-B745-A7F9DA4410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20967</TotalTime>
  <Words>3883</Words>
  <Application>Microsoft Office PowerPoint</Application>
  <PresentationFormat>Letter Paper (8.5x11 in)</PresentationFormat>
  <Paragraphs>805</Paragraphs>
  <Slides>33</Slides>
  <Notes>11</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Aptos</vt:lpstr>
      <vt:lpstr>Arial</vt:lpstr>
      <vt:lpstr>Calibri</vt:lpstr>
      <vt:lpstr>Cambria Math</vt:lpstr>
      <vt:lpstr>Segoe UI</vt:lpstr>
      <vt:lpstr>Times New Roman</vt:lpstr>
      <vt:lpstr>Wingdings</vt:lpstr>
      <vt:lpstr>Office Theme</vt:lpstr>
      <vt:lpstr>Lesson 4</vt:lpstr>
      <vt:lpstr>PowerPoint Presentation</vt:lpstr>
      <vt:lpstr>How to Breadboard…</vt:lpstr>
      <vt:lpstr>What is this?</vt:lpstr>
      <vt:lpstr>Embedded Systems Overview</vt:lpstr>
      <vt:lpstr>Computer Components </vt:lpstr>
      <vt:lpstr>Types of computers</vt:lpstr>
      <vt:lpstr>FPGA’s</vt:lpstr>
      <vt:lpstr>Comparison of MCU’s and MPU’s</vt:lpstr>
      <vt:lpstr>Example Embedded Systems Architecture</vt:lpstr>
      <vt:lpstr>Software Architecture &amp; Timing</vt:lpstr>
      <vt:lpstr>Connecting to Peripherals </vt:lpstr>
      <vt:lpstr>Space Environment Effects</vt:lpstr>
      <vt:lpstr>Radiation hardening </vt:lpstr>
      <vt:lpstr>Embedded Systems Hardware Design</vt:lpstr>
      <vt:lpstr>Embedded Systems Hardware</vt:lpstr>
      <vt:lpstr>Common Embedded System Components </vt:lpstr>
      <vt:lpstr>Component Datasheets</vt:lpstr>
      <vt:lpstr>Schematic Design</vt:lpstr>
      <vt:lpstr>Prototyping Electronic Systems</vt:lpstr>
      <vt:lpstr>Printed Circuit Board (PCB)</vt:lpstr>
      <vt:lpstr>PCB Stackup</vt:lpstr>
      <vt:lpstr>PCB Layout and Routing</vt:lpstr>
      <vt:lpstr>Intro to Embedded Programming with Arduino</vt:lpstr>
      <vt:lpstr>Topics</vt:lpstr>
      <vt:lpstr>Arduino Variable Types Reference</vt:lpstr>
      <vt:lpstr>EXTRA MATERIAL (not testable)</vt:lpstr>
      <vt:lpstr>Digital Logic Reference</vt:lpstr>
      <vt:lpstr>Boolean Logic </vt:lpstr>
      <vt:lpstr>Digital Logic Gates</vt:lpstr>
      <vt:lpstr>Digital Logic Gates</vt:lpstr>
      <vt:lpstr>Digital Logic Gates</vt:lpstr>
      <vt:lpstr>Boolean Algebra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3</cp:revision>
  <cp:lastPrinted>2025-08-01T16:37:26Z</cp:lastPrinted>
  <dcterms:created xsi:type="dcterms:W3CDTF">2025-07-17T17:53:42Z</dcterms:created>
  <dcterms:modified xsi:type="dcterms:W3CDTF">2026-01-14T15:44:43Z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