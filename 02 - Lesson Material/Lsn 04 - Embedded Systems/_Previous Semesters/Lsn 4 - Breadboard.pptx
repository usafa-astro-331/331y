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31"/>
  </p:notesMasterIdLst>
  <p:handoutMasterIdLst>
    <p:handoutMasterId r:id="rId32"/>
  </p:handoutMasterIdLst>
  <p:sldIdLst>
    <p:sldId id="570" r:id="rId6"/>
    <p:sldId id="639" r:id="rId7"/>
    <p:sldId id="289" r:id="rId8"/>
    <p:sldId id="290" r:id="rId9"/>
    <p:sldId id="291" r:id="rId10"/>
    <p:sldId id="317" r:id="rId11"/>
    <p:sldId id="292" r:id="rId12"/>
    <p:sldId id="296" r:id="rId13"/>
    <p:sldId id="297" r:id="rId14"/>
    <p:sldId id="298" r:id="rId15"/>
    <p:sldId id="299" r:id="rId16"/>
    <p:sldId id="308" r:id="rId17"/>
    <p:sldId id="312" r:id="rId18"/>
    <p:sldId id="309" r:id="rId19"/>
    <p:sldId id="313" r:id="rId20"/>
    <p:sldId id="269" r:id="rId21"/>
    <p:sldId id="266" r:id="rId22"/>
    <p:sldId id="318" r:id="rId23"/>
    <p:sldId id="283" r:id="rId24"/>
    <p:sldId id="319" r:id="rId25"/>
    <p:sldId id="314" r:id="rId26"/>
    <p:sldId id="315" r:id="rId27"/>
    <p:sldId id="641" r:id="rId28"/>
    <p:sldId id="642" r:id="rId29"/>
    <p:sldId id="643" r:id="rId3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FF0066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er, Jonathan M Lt Col USSF USAFA DF/DFAS" userId="d003cf6e-ed25-45fa-8706-5841241c5d7b" providerId="ADAL" clId="{B6120A9B-C675-441D-93D9-6F1215A13753}"/>
    <pc:docChg chg="modSld">
      <pc:chgData name="Miller, Jonathan M Lt Col USSF USAFA DF/DFAS" userId="d003cf6e-ed25-45fa-8706-5841241c5d7b" providerId="ADAL" clId="{B6120A9B-C675-441D-93D9-6F1215A13753}" dt="2025-01-14T16:34:53.113" v="142" actId="1076"/>
      <pc:docMkLst>
        <pc:docMk/>
      </pc:docMkLst>
      <pc:sldChg chg="modSp mod">
        <pc:chgData name="Miller, Jonathan M Lt Col USSF USAFA DF/DFAS" userId="d003cf6e-ed25-45fa-8706-5841241c5d7b" providerId="ADAL" clId="{B6120A9B-C675-441D-93D9-6F1215A13753}" dt="2025-01-13T22:10:54.471" v="2" actId="1076"/>
        <pc:sldMkLst>
          <pc:docMk/>
          <pc:sldMk cId="702401834" sldId="297"/>
        </pc:sldMkLst>
        <pc:spChg chg="mod">
          <ac:chgData name="Miller, Jonathan M Lt Col USSF USAFA DF/DFAS" userId="d003cf6e-ed25-45fa-8706-5841241c5d7b" providerId="ADAL" clId="{B6120A9B-C675-441D-93D9-6F1215A13753}" dt="2025-01-13T22:10:44.804" v="0" actId="1076"/>
          <ac:spMkLst>
            <pc:docMk/>
            <pc:sldMk cId="702401834" sldId="297"/>
            <ac:spMk id="15" creationId="{00000000-0000-0000-0000-000000000000}"/>
          </ac:spMkLst>
        </pc:spChg>
        <pc:spChg chg="mod">
          <ac:chgData name="Miller, Jonathan M Lt Col USSF USAFA DF/DFAS" userId="d003cf6e-ed25-45fa-8706-5841241c5d7b" providerId="ADAL" clId="{B6120A9B-C675-441D-93D9-6F1215A13753}" dt="2025-01-13T22:10:54.471" v="2" actId="1076"/>
          <ac:spMkLst>
            <pc:docMk/>
            <pc:sldMk cId="702401834" sldId="297"/>
            <ac:spMk id="20" creationId="{00000000-0000-0000-0000-000000000000}"/>
          </ac:spMkLst>
        </pc:spChg>
      </pc:sldChg>
      <pc:sldChg chg="addSp modSp mod modAnim">
        <pc:chgData name="Miller, Jonathan M Lt Col USSF USAFA DF/DFAS" userId="d003cf6e-ed25-45fa-8706-5841241c5d7b" providerId="ADAL" clId="{B6120A9B-C675-441D-93D9-6F1215A13753}" dt="2025-01-13T22:11:51.058" v="13" actId="1035"/>
        <pc:sldMkLst>
          <pc:docMk/>
          <pc:sldMk cId="2497131182" sldId="299"/>
        </pc:sldMkLst>
        <pc:spChg chg="mod">
          <ac:chgData name="Miller, Jonathan M Lt Col USSF USAFA DF/DFAS" userId="d003cf6e-ed25-45fa-8706-5841241c5d7b" providerId="ADAL" clId="{B6120A9B-C675-441D-93D9-6F1215A13753}" dt="2025-01-13T22:11:45.638" v="6" actId="164"/>
          <ac:spMkLst>
            <pc:docMk/>
            <pc:sldMk cId="2497131182" sldId="299"/>
            <ac:spMk id="2" creationId="{00000000-0000-0000-0000-000000000000}"/>
          </ac:spMkLst>
        </pc:spChg>
        <pc:spChg chg="mod">
          <ac:chgData name="Miller, Jonathan M Lt Col USSF USAFA DF/DFAS" userId="d003cf6e-ed25-45fa-8706-5841241c5d7b" providerId="ADAL" clId="{B6120A9B-C675-441D-93D9-6F1215A13753}" dt="2025-01-13T22:11:45.638" v="6" actId="164"/>
          <ac:spMkLst>
            <pc:docMk/>
            <pc:sldMk cId="2497131182" sldId="299"/>
            <ac:spMk id="13" creationId="{00000000-0000-0000-0000-000000000000}"/>
          </ac:spMkLst>
        </pc:spChg>
        <pc:spChg chg="mod">
          <ac:chgData name="Miller, Jonathan M Lt Col USSF USAFA DF/DFAS" userId="d003cf6e-ed25-45fa-8706-5841241c5d7b" providerId="ADAL" clId="{B6120A9B-C675-441D-93D9-6F1215A13753}" dt="2025-01-13T22:11:45.638" v="6" actId="164"/>
          <ac:spMkLst>
            <pc:docMk/>
            <pc:sldMk cId="2497131182" sldId="299"/>
            <ac:spMk id="14" creationId="{00000000-0000-0000-0000-000000000000}"/>
          </ac:spMkLst>
        </pc:spChg>
        <pc:spChg chg="mod">
          <ac:chgData name="Miller, Jonathan M Lt Col USSF USAFA DF/DFAS" userId="d003cf6e-ed25-45fa-8706-5841241c5d7b" providerId="ADAL" clId="{B6120A9B-C675-441D-93D9-6F1215A13753}" dt="2025-01-13T22:11:45.638" v="6" actId="164"/>
          <ac:spMkLst>
            <pc:docMk/>
            <pc:sldMk cId="2497131182" sldId="299"/>
            <ac:spMk id="19" creationId="{00000000-0000-0000-0000-000000000000}"/>
          </ac:spMkLst>
        </pc:spChg>
        <pc:spChg chg="mod">
          <ac:chgData name="Miller, Jonathan M Lt Col USSF USAFA DF/DFAS" userId="d003cf6e-ed25-45fa-8706-5841241c5d7b" providerId="ADAL" clId="{B6120A9B-C675-441D-93D9-6F1215A13753}" dt="2025-01-13T22:11:45.638" v="6" actId="164"/>
          <ac:spMkLst>
            <pc:docMk/>
            <pc:sldMk cId="2497131182" sldId="299"/>
            <ac:spMk id="21" creationId="{00000000-0000-0000-0000-000000000000}"/>
          </ac:spMkLst>
        </pc:spChg>
        <pc:spChg chg="mod">
          <ac:chgData name="Miller, Jonathan M Lt Col USSF USAFA DF/DFAS" userId="d003cf6e-ed25-45fa-8706-5841241c5d7b" providerId="ADAL" clId="{B6120A9B-C675-441D-93D9-6F1215A13753}" dt="2025-01-13T22:11:45.638" v="6" actId="164"/>
          <ac:spMkLst>
            <pc:docMk/>
            <pc:sldMk cId="2497131182" sldId="299"/>
            <ac:spMk id="22" creationId="{00000000-0000-0000-0000-000000000000}"/>
          </ac:spMkLst>
        </pc:spChg>
        <pc:spChg chg="mod">
          <ac:chgData name="Miller, Jonathan M Lt Col USSF USAFA DF/DFAS" userId="d003cf6e-ed25-45fa-8706-5841241c5d7b" providerId="ADAL" clId="{B6120A9B-C675-441D-93D9-6F1215A13753}" dt="2025-01-13T22:11:45.638" v="6" actId="164"/>
          <ac:spMkLst>
            <pc:docMk/>
            <pc:sldMk cId="2497131182" sldId="299"/>
            <ac:spMk id="24" creationId="{00000000-0000-0000-0000-000000000000}"/>
          </ac:spMkLst>
        </pc:spChg>
        <pc:spChg chg="mod">
          <ac:chgData name="Miller, Jonathan M Lt Col USSF USAFA DF/DFAS" userId="d003cf6e-ed25-45fa-8706-5841241c5d7b" providerId="ADAL" clId="{B6120A9B-C675-441D-93D9-6F1215A13753}" dt="2025-01-13T22:11:45.638" v="6" actId="164"/>
          <ac:spMkLst>
            <pc:docMk/>
            <pc:sldMk cId="2497131182" sldId="299"/>
            <ac:spMk id="25" creationId="{00000000-0000-0000-0000-000000000000}"/>
          </ac:spMkLst>
        </pc:spChg>
        <pc:grpChg chg="add mod">
          <ac:chgData name="Miller, Jonathan M Lt Col USSF USAFA DF/DFAS" userId="d003cf6e-ed25-45fa-8706-5841241c5d7b" providerId="ADAL" clId="{B6120A9B-C675-441D-93D9-6F1215A13753}" dt="2025-01-13T22:11:51.058" v="13" actId="1035"/>
          <ac:grpSpMkLst>
            <pc:docMk/>
            <pc:sldMk cId="2497131182" sldId="299"/>
            <ac:grpSpMk id="5" creationId="{FF5CE788-8894-1735-7AF1-EA06316C7B1B}"/>
          </ac:grpSpMkLst>
        </pc:grpChg>
        <pc:graphicFrameChg chg="mod">
          <ac:chgData name="Miller, Jonathan M Lt Col USSF USAFA DF/DFAS" userId="d003cf6e-ed25-45fa-8706-5841241c5d7b" providerId="ADAL" clId="{B6120A9B-C675-441D-93D9-6F1215A13753}" dt="2025-01-13T22:11:24.127" v="4" actId="1076"/>
          <ac:graphicFrameMkLst>
            <pc:docMk/>
            <pc:sldMk cId="2497131182" sldId="299"/>
            <ac:graphicFrameMk id="4" creationId="{00000000-0000-0000-0000-000000000000}"/>
          </ac:graphicFrameMkLst>
        </pc:graphicFrameChg>
      </pc:sldChg>
      <pc:sldChg chg="modSp modAnim">
        <pc:chgData name="Miller, Jonathan M Lt Col USSF USAFA DF/DFAS" userId="d003cf6e-ed25-45fa-8706-5841241c5d7b" providerId="ADAL" clId="{B6120A9B-C675-441D-93D9-6F1215A13753}" dt="2025-01-13T22:12:49.904" v="21" actId="20577"/>
        <pc:sldMkLst>
          <pc:docMk/>
          <pc:sldMk cId="1603494798" sldId="309"/>
        </pc:sldMkLst>
        <pc:spChg chg="mod">
          <ac:chgData name="Miller, Jonathan M Lt Col USSF USAFA DF/DFAS" userId="d003cf6e-ed25-45fa-8706-5841241c5d7b" providerId="ADAL" clId="{B6120A9B-C675-441D-93D9-6F1215A13753}" dt="2025-01-13T22:12:49.904" v="21" actId="20577"/>
          <ac:spMkLst>
            <pc:docMk/>
            <pc:sldMk cId="1603494798" sldId="309"/>
            <ac:spMk id="12407" creationId="{00000000-0000-0000-0000-000000000000}"/>
          </ac:spMkLst>
        </pc:spChg>
      </pc:sldChg>
      <pc:sldChg chg="modSp mod">
        <pc:chgData name="Miller, Jonathan M Lt Col USSF USAFA DF/DFAS" userId="d003cf6e-ed25-45fa-8706-5841241c5d7b" providerId="ADAL" clId="{B6120A9B-C675-441D-93D9-6F1215A13753}" dt="2025-01-13T22:13:14.978" v="24" actId="1076"/>
        <pc:sldMkLst>
          <pc:docMk/>
          <pc:sldMk cId="3365462457" sldId="313"/>
        </pc:sldMkLst>
        <pc:spChg chg="mod">
          <ac:chgData name="Miller, Jonathan M Lt Col USSF USAFA DF/DFAS" userId="d003cf6e-ed25-45fa-8706-5841241c5d7b" providerId="ADAL" clId="{B6120A9B-C675-441D-93D9-6F1215A13753}" dt="2025-01-13T22:13:14.978" v="24" actId="1076"/>
          <ac:spMkLst>
            <pc:docMk/>
            <pc:sldMk cId="3365462457" sldId="313"/>
            <ac:spMk id="7" creationId="{00000000-0000-0000-0000-000000000000}"/>
          </ac:spMkLst>
        </pc:spChg>
      </pc:sldChg>
      <pc:sldChg chg="modSp mod">
        <pc:chgData name="Miller, Jonathan M Lt Col USSF USAFA DF/DFAS" userId="d003cf6e-ed25-45fa-8706-5841241c5d7b" providerId="ADAL" clId="{B6120A9B-C675-441D-93D9-6F1215A13753}" dt="2025-01-14T16:34:53.113" v="142" actId="1076"/>
        <pc:sldMkLst>
          <pc:docMk/>
          <pc:sldMk cId="178609520" sldId="639"/>
        </pc:sldMkLst>
        <pc:spChg chg="mod">
          <ac:chgData name="Miller, Jonathan M Lt Col USSF USAFA DF/DFAS" userId="d003cf6e-ed25-45fa-8706-5841241c5d7b" providerId="ADAL" clId="{B6120A9B-C675-441D-93D9-6F1215A13753}" dt="2025-01-14T16:34:37.284" v="138" actId="20577"/>
          <ac:spMkLst>
            <pc:docMk/>
            <pc:sldMk cId="178609520" sldId="639"/>
            <ac:spMk id="3" creationId="{175E7EDB-1F3A-9E2F-076A-A02A6372AE60}"/>
          </ac:spMkLst>
        </pc:spChg>
        <pc:graphicFrameChg chg="mod modGraphic">
          <ac:chgData name="Miller, Jonathan M Lt Col USSF USAFA DF/DFAS" userId="d003cf6e-ed25-45fa-8706-5841241c5d7b" providerId="ADAL" clId="{B6120A9B-C675-441D-93D9-6F1215A13753}" dt="2025-01-14T16:34:53.113" v="142" actId="1076"/>
          <ac:graphicFrameMkLst>
            <pc:docMk/>
            <pc:sldMk cId="178609520" sldId="639"/>
            <ac:graphicFrameMk id="4" creationId="{3F08D5D8-BE6C-80A0-6197-AC8313D738DA}"/>
          </ac:graphicFrameMkLst>
        </pc:graphicFrameChg>
      </pc:sldChg>
    </pc:docChg>
  </pc:docChgLst>
  <pc:docChgLst>
    <pc:chgData name="Miller, Jonathan M Lt Col USSF USAFA DF/DFAS" userId="d003cf6e-ed25-45fa-8706-5841241c5d7b" providerId="ADAL" clId="{737FE795-88C1-4342-AAA2-B462898C13C8}"/>
    <pc:docChg chg="addSld delSld modSld sldOrd">
      <pc:chgData name="Miller, Jonathan M Lt Col USSF USAFA DF/DFAS" userId="d003cf6e-ed25-45fa-8706-5841241c5d7b" providerId="ADAL" clId="{737FE795-88C1-4342-AAA2-B462898C13C8}" dt="2024-08-22T21:01:55.950" v="268" actId="164"/>
      <pc:docMkLst>
        <pc:docMk/>
      </pc:docMkLst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0" sldId="266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0" sldId="269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0" sldId="283"/>
        </pc:sldMkLst>
      </pc:sldChg>
      <pc:sldChg chg="add del mod modTransition modShow">
        <pc:chgData name="Miller, Jonathan M Lt Col USSF USAFA DF/DFAS" userId="d003cf6e-ed25-45fa-8706-5841241c5d7b" providerId="ADAL" clId="{737FE795-88C1-4342-AAA2-B462898C13C8}" dt="2024-08-16T16:12:21.585" v="267" actId="729"/>
        <pc:sldMkLst>
          <pc:docMk/>
          <pc:sldMk cId="3519458772" sldId="289"/>
        </pc:sldMkLst>
      </pc:sldChg>
      <pc:sldChg chg="add mod modShow">
        <pc:chgData name="Miller, Jonathan M Lt Col USSF USAFA DF/DFAS" userId="d003cf6e-ed25-45fa-8706-5841241c5d7b" providerId="ADAL" clId="{737FE795-88C1-4342-AAA2-B462898C13C8}" dt="2024-08-16T16:12:21.585" v="267" actId="729"/>
        <pc:sldMkLst>
          <pc:docMk/>
          <pc:sldMk cId="1442516809" sldId="290"/>
        </pc:sldMkLst>
      </pc:sldChg>
      <pc:sldChg chg="add mod modShow">
        <pc:chgData name="Miller, Jonathan M Lt Col USSF USAFA DF/DFAS" userId="d003cf6e-ed25-45fa-8706-5841241c5d7b" providerId="ADAL" clId="{737FE795-88C1-4342-AAA2-B462898C13C8}" dt="2024-08-16T16:12:21.585" v="267" actId="729"/>
        <pc:sldMkLst>
          <pc:docMk/>
          <pc:sldMk cId="2849623029" sldId="291"/>
        </pc:sldMkLst>
      </pc:sldChg>
      <pc:sldChg chg="add mod modShow">
        <pc:chgData name="Miller, Jonathan M Lt Col USSF USAFA DF/DFAS" userId="d003cf6e-ed25-45fa-8706-5841241c5d7b" providerId="ADAL" clId="{737FE795-88C1-4342-AAA2-B462898C13C8}" dt="2024-08-16T16:12:21.585" v="267" actId="729"/>
        <pc:sldMkLst>
          <pc:docMk/>
          <pc:sldMk cId="2749444280" sldId="292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2385180156" sldId="296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702401834" sldId="297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622572284" sldId="298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2497131182" sldId="299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3992662157" sldId="308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1603494798" sldId="309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3299214850" sldId="312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3365462457" sldId="313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2599162235" sldId="314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3474143420" sldId="315"/>
        </pc:sldMkLst>
      </pc:sldChg>
      <pc:sldChg chg="add mod modShow">
        <pc:chgData name="Miller, Jonathan M Lt Col USSF USAFA DF/DFAS" userId="d003cf6e-ed25-45fa-8706-5841241c5d7b" providerId="ADAL" clId="{737FE795-88C1-4342-AAA2-B462898C13C8}" dt="2024-08-16T16:12:21.585" v="267" actId="729"/>
        <pc:sldMkLst>
          <pc:docMk/>
          <pc:sldMk cId="702528449" sldId="317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2255813279" sldId="318"/>
        </pc:sldMkLst>
      </pc:sldChg>
      <pc:sldChg chg="add">
        <pc:chgData name="Miller, Jonathan M Lt Col USSF USAFA DF/DFAS" userId="d003cf6e-ed25-45fa-8706-5841241c5d7b" providerId="ADAL" clId="{737FE795-88C1-4342-AAA2-B462898C13C8}" dt="2024-08-15T21:18:12.648" v="154"/>
        <pc:sldMkLst>
          <pc:docMk/>
          <pc:sldMk cId="2006894558" sldId="319"/>
        </pc:sldMkLst>
      </pc:sldChg>
      <pc:sldChg chg="addSp delSp modSp mod">
        <pc:chgData name="Miller, Jonathan M Lt Col USSF USAFA DF/DFAS" userId="d003cf6e-ed25-45fa-8706-5841241c5d7b" providerId="ADAL" clId="{737FE795-88C1-4342-AAA2-B462898C13C8}" dt="2024-08-22T21:01:55.950" v="268" actId="164"/>
        <pc:sldMkLst>
          <pc:docMk/>
          <pc:sldMk cId="0" sldId="570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3323137568" sldId="620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1940824105" sldId="621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3897429879" sldId="622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3233248735" sldId="623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827012204" sldId="624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504070027" sldId="625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1089227706" sldId="626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291809208" sldId="627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2772586081" sldId="628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2552226282" sldId="629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116640621" sldId="630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2968899800" sldId="631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3337989630" sldId="632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2638948357" sldId="633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588277171" sldId="634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3129270803" sldId="635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4058774868" sldId="636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408809517" sldId="637"/>
        </pc:sldMkLst>
      </pc:sldChg>
      <pc:sldChg chg="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55776452" sldId="638"/>
        </pc:sldMkLst>
      </pc:sldChg>
      <pc:sldChg chg="addSp modSp new mod modAnim">
        <pc:chgData name="Miller, Jonathan M Lt Col USSF USAFA DF/DFAS" userId="d003cf6e-ed25-45fa-8706-5841241c5d7b" providerId="ADAL" clId="{737FE795-88C1-4342-AAA2-B462898C13C8}" dt="2024-08-15T21:12:15.318" v="152" actId="1076"/>
        <pc:sldMkLst>
          <pc:docMk/>
          <pc:sldMk cId="178609520" sldId="639"/>
        </pc:sldMkLst>
      </pc:sldChg>
      <pc:sldChg chg="new del">
        <pc:chgData name="Miller, Jonathan M Lt Col USSF USAFA DF/DFAS" userId="d003cf6e-ed25-45fa-8706-5841241c5d7b" providerId="ADAL" clId="{737FE795-88C1-4342-AAA2-B462898C13C8}" dt="2024-08-15T21:18:56.373" v="156" actId="47"/>
        <pc:sldMkLst>
          <pc:docMk/>
          <pc:sldMk cId="148075405" sldId="640"/>
        </pc:sldMkLst>
      </pc:sldChg>
      <pc:sldChg chg="new del">
        <pc:chgData name="Miller, Jonathan M Lt Col USSF USAFA DF/DFAS" userId="d003cf6e-ed25-45fa-8706-5841241c5d7b" providerId="ADAL" clId="{737FE795-88C1-4342-AAA2-B462898C13C8}" dt="2024-08-15T21:22:07.552" v="213" actId="47"/>
        <pc:sldMkLst>
          <pc:docMk/>
          <pc:sldMk cId="2203292360" sldId="640"/>
        </pc:sldMkLst>
      </pc:sldChg>
      <pc:sldChg chg="modSp new mod ord">
        <pc:chgData name="Miller, Jonathan M Lt Col USSF USAFA DF/DFAS" userId="d003cf6e-ed25-45fa-8706-5841241c5d7b" providerId="ADAL" clId="{737FE795-88C1-4342-AAA2-B462898C13C8}" dt="2024-08-15T21:21:55.436" v="210" actId="255"/>
        <pc:sldMkLst>
          <pc:docMk/>
          <pc:sldMk cId="440269632" sldId="641"/>
        </pc:sldMkLst>
      </pc:sldChg>
      <pc:sldChg chg="new del">
        <pc:chgData name="Miller, Jonathan M Lt Col USSF USAFA DF/DFAS" userId="d003cf6e-ed25-45fa-8706-5841241c5d7b" providerId="ADAL" clId="{737FE795-88C1-4342-AAA2-B462898C13C8}" dt="2024-08-15T21:22:05.214" v="212" actId="47"/>
        <pc:sldMkLst>
          <pc:docMk/>
          <pc:sldMk cId="2015313943" sldId="642"/>
        </pc:sldMkLst>
      </pc:sldChg>
      <pc:sldChg chg="addSp delSp modSp new mod">
        <pc:chgData name="Miller, Jonathan M Lt Col USSF USAFA DF/DFAS" userId="d003cf6e-ed25-45fa-8706-5841241c5d7b" providerId="ADAL" clId="{737FE795-88C1-4342-AAA2-B462898C13C8}" dt="2024-08-16T06:38:08.629" v="230" actId="1076"/>
        <pc:sldMkLst>
          <pc:docMk/>
          <pc:sldMk cId="3982180383" sldId="642"/>
        </pc:sldMkLst>
      </pc:sldChg>
      <pc:sldChg chg="addSp delSp modSp new mod">
        <pc:chgData name="Miller, Jonathan M Lt Col USSF USAFA DF/DFAS" userId="d003cf6e-ed25-45fa-8706-5841241c5d7b" providerId="ADAL" clId="{737FE795-88C1-4342-AAA2-B462898C13C8}" dt="2024-08-16T06:39:54.178" v="246" actId="1076"/>
        <pc:sldMkLst>
          <pc:docMk/>
          <pc:sldMk cId="2012590060" sldId="64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31687C92-D099-43A9-B1E5-793A8B9DD779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7B15040C-6E88-4BFF-9196-21D1001C9A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590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7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A82AE8-4410-479A-ABC2-E87FE01012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203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13AA86-EB8A-46B1-B5C1-58B997C64F5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293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are the three most useful </a:t>
            </a:r>
            <a:r>
              <a:rPr lang="en-US" err="1"/>
              <a:t>boolean</a:t>
            </a:r>
            <a:r>
              <a:rPr lang="en-US"/>
              <a:t> identities, for this class.  There are a number more discussed in your reading,</a:t>
            </a:r>
            <a:r>
              <a:rPr lang="en-US" baseline="0"/>
              <a:t> that you are welcome to use.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3AA86-EB8A-46B1-B5C1-58B997C64F5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8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A2ED0-7B37-48FA-BF1A-6C2923EBE3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281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F71B5-7CC7-42C9-9B7D-4BE09772E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82605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74E1A-88DC-4289-BC2F-C0A52F7B56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9799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6E9A1-516B-4C15-A2C6-E8E12404D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8937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BB52B-3DFD-48AD-9CB6-583188EE5E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1337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DE63E-20C9-4436-BC2C-1F7E7AC93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2018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9B9DB-4BE5-460F-ABE5-106E55B37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8927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CC497-304F-4D07-B956-A2FD1E50B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3782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055ED-F717-423E-B25C-681062F6EB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1872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BED78-0132-46D7-A19E-E8E32750D6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18948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3985F-6A68-4DA4-A9A3-86A8FA238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36316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189387-E5BF-4572-B515-02BD52426F8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20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C3BCC1-EEFD-41F2-BF98-4A7EEC0D941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7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E97EF6-67FA-42CB-8CEB-97C0306E6F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78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401B85-772A-427C-839C-F9D6549F3A9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97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AED5F-E391-4977-8C7A-7DFF6747F6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76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CCB550-B06C-4D74-9C98-082BBDA3B73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292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8A3EFE-73E2-4275-AC4B-32FE5DA87C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45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6448B-9499-464A-B10E-5DF162825D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20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895DB7-8D45-47A6-B30B-863491D8B46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610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0B1352-18A9-42E2-8FC8-7E9DE6C8E3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540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61C476-7466-49DA-89BA-61B7718ABA3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930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086CCAC-644D-41E3-8332-A0296CC00A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642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7BB0E7D-F7D9-4F17-9271-D37DEFD37D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93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6D79952-00B1-4BEC-956F-FD1EBF6B375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B8B6659-4281-4089-8436-E653C42A1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24169F0-4161-436F-99BD-DA572E5541D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2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url?sa=i&amp;rct=j&amp;q=&amp;esrc=s&amp;frm=1&amp;source=images&amp;cd=&amp;cad=rja&amp;docid=V0SJksSrMmwpEM&amp;tbnid=nTm_Eky2ASNuvM:&amp;ved=0CAUQjRw&amp;url=http://www.clker.com/clipart-digital-logic-gates.html&amp;ei=NWMeUZzUOciI0QHZlYCwDA&amp;bvm=bv.42553238,d.dmQ&amp;psig=AFQjCNEkAtUE3o7GMHx5K0ATtVJ-47sZxA&amp;ust=136103234787056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google.com/url?sa=i&amp;rct=j&amp;q=&amp;esrc=s&amp;frm=1&amp;source=images&amp;cd=&amp;cad=rja&amp;docid=V0SJksSrMmwpEM&amp;tbnid=nTm_Eky2ASNuvM:&amp;ved=0CAUQjRw&amp;url=http://www.clker.com/clipart-digital-logic-gates.html&amp;ei=NWMeUZzUOciI0QHZlYCwDA&amp;bvm=bv.42553238,d.dmQ&amp;psig=AFQjCNEkAtUE3o7GMHx5K0ATtVJ-47sZxA&amp;ust=1361032347870565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google.com/url?sa=i&amp;rct=j&amp;q=&amp;esrc=s&amp;frm=1&amp;source=images&amp;cd=&amp;cad=rja&amp;docid=V0SJksSrMmwpEM&amp;tbnid=nTm_Eky2ASNuvM:&amp;ved=0CAUQjRw&amp;url=http://www.clker.com/clipart-digital-logic-gates.html&amp;ei=NWMeUZzUOciI0QHZlYCwDA&amp;bvm=bv.42553238,d.dmQ&amp;psig=AFQjCNEkAtUE3o7GMHx5K0ATtVJ-47sZxA&amp;ust=1361032347870565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imgres?imgurl=http://www.africa-nature-photography.com/images/Captive-Male-Lion-L.jpg&amp;imgrefurl=http://www.africa-nature-photography.com/wildlife-photography.html&amp;h=300&amp;w=450&amp;sz=29&amp;tbnid=VItEiVKnrEoJ::&amp;tbnh=85&amp;tbnw=127&amp;prev=/images?q=lion&amp;sa=X&amp;oi=image_result&amp;resnum=3&amp;ct=image&amp;cd=1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.jpeg"/><Relationship Id="rId5" Type="http://schemas.openxmlformats.org/officeDocument/2006/relationships/hyperlink" Target="http://www.bigfivesafaris.co.za/images/Male_lion.jpg" TargetMode="Externa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09600" y="-152400"/>
            <a:ext cx="7772400" cy="1470025"/>
          </a:xfrm>
        </p:spPr>
        <p:txBody>
          <a:bodyPr/>
          <a:lstStyle/>
          <a:p>
            <a:r>
              <a:rPr lang="en-US" b="1"/>
              <a:t>Digital Logic/Breadboard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487D3-528C-49AE-B47D-E1E08F93FEF1}"/>
              </a:ext>
            </a:extLst>
          </p:cNvPr>
          <p:cNvGrpSpPr/>
          <p:nvPr/>
        </p:nvGrpSpPr>
        <p:grpSpPr>
          <a:xfrm>
            <a:off x="1524000" y="1066800"/>
            <a:ext cx="6096000" cy="5644972"/>
            <a:chOff x="1524000" y="1066800"/>
            <a:chExt cx="6096000" cy="5644972"/>
          </a:xfrm>
        </p:grpSpPr>
        <p:pic>
          <p:nvPicPr>
            <p:cNvPr id="3" name="Picture 2" descr="A cartoon character in a space suit&#10;&#10;Description automatically generated">
              <a:extLst>
                <a:ext uri="{FF2B5EF4-FFF2-40B4-BE49-F238E27FC236}">
                  <a16:creationId xmlns:a16="http://schemas.microsoft.com/office/drawing/2014/main" id="{36D9AE86-3EDF-5E5A-B3BC-526C85B1F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1066800"/>
              <a:ext cx="6096000" cy="564497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9759575-F8C8-A718-14D0-0BB9199F36CA}"/>
                </a:ext>
              </a:extLst>
            </p:cNvPr>
            <p:cNvSpPr/>
            <p:nvPr/>
          </p:nvSpPr>
          <p:spPr>
            <a:xfrm>
              <a:off x="2819400" y="1752600"/>
              <a:ext cx="762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</a:rPr>
                <a:t>OCP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0FA5-ED32-6B60-4A97-0D8B904F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Boolean Logic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E7EDB-1F3A-9E2F-076A-A02A6372AE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3 Primary Operators</a:t>
                </a:r>
              </a:p>
              <a:p>
                <a:pPr lvl="1"/>
                <a:r>
                  <a:rPr lang="en-US"/>
                  <a:t>AND, OR, NOT</a:t>
                </a:r>
              </a:p>
              <a:p>
                <a:r>
                  <a:rPr lang="en-US"/>
                  <a:t># of outcomes depends on number of inputs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𝑜𝑢𝑡𝑐𝑜𝑚𝑒𝑠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𝑖𝑛𝑝𝑢𝑡𝑠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E7EDB-1F3A-9E2F-076A-A02A6372AE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3F08D5D8-BE6C-80A0-6197-AC8313D73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5920177"/>
              </p:ext>
            </p:extLst>
          </p:nvPr>
        </p:nvGraphicFramePr>
        <p:xfrm>
          <a:off x="838200" y="4191000"/>
          <a:ext cx="7173330" cy="246020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586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6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443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/>
                        <a:t>Two states for a Binary Signal</a:t>
                      </a:r>
                      <a:endParaRPr lang="en-US" sz="2800" b="1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27"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TRUE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FALSE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2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On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Off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2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246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5 volts </a:t>
                      </a:r>
                      <a:br>
                        <a:rPr lang="en-US" sz="2000"/>
                      </a:br>
                      <a:r>
                        <a:rPr lang="en-US" sz="2000"/>
                        <a:t>(or less in modern circuits)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 volts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095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Digital Logic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3182" y="1214140"/>
            <a:ext cx="2837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The “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AND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” Gate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19200" y="2438400"/>
          <a:ext cx="6658383" cy="259080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19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46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Output (Q)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58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58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58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58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493" y="298123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1192" y="353761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293" y="40519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293" y="353761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493" y="40519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493" y="353761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1192" y="2967930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293" y="2971800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493" y="45853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9531" y="45853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293" y="45853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493" y="40519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780" y="1752600"/>
            <a:ext cx="6290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If </a:t>
            </a: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both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inputs are true, then output 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0920" y="5181600"/>
            <a:ext cx="1935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Math Symbol: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2304" y="5193030"/>
            <a:ext cx="2650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Boolean Equation: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5181601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Wiring Symbol: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982" y="5930449"/>
            <a:ext cx="1935480" cy="462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*   x   ∙    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49482" y="5931694"/>
            <a:ext cx="13763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A ∙ B = Q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446208" y="5685503"/>
            <a:ext cx="2500427" cy="1172497"/>
            <a:chOff x="446208" y="5685503"/>
            <a:chExt cx="2500427" cy="1172497"/>
          </a:xfrm>
        </p:grpSpPr>
        <p:pic>
          <p:nvPicPr>
            <p:cNvPr id="23" name="Picture 2" descr="http://www.clker.com/cliparts/d/3/8/2/12065670311495995000nobody_Digital_logic_gates.svg.hi.png">
              <a:hlinkClick r:id="rId3"/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68932" y="5685503"/>
              <a:ext cx="1873961" cy="1172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446208" y="5700861"/>
              <a:ext cx="4074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46208" y="6162526"/>
              <a:ext cx="38985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539151" y="5931694"/>
              <a:ext cx="4074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+mn-cs"/>
                </a:rPr>
                <a:t>Q</a:t>
              </a:r>
            </a:p>
          </p:txBody>
        </p:sp>
      </p:grpSp>
      <p:cxnSp>
        <p:nvCxnSpPr>
          <p:cNvPr id="36" name="Straight Connector 35"/>
          <p:cNvCxnSpPr/>
          <p:nvPr/>
        </p:nvCxnSpPr>
        <p:spPr>
          <a:xfrm flipV="1">
            <a:off x="5943600" y="5269230"/>
            <a:ext cx="0" cy="143637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3124200" y="5269230"/>
            <a:ext cx="0" cy="143637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45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24" grpId="0"/>
      <p:bldP spid="25" grpId="0"/>
      <p:bldP spid="26" grpId="0"/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Digital Logic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19200"/>
            <a:ext cx="2597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The “</a:t>
            </a:r>
            <a:r>
              <a:rPr lang="en-US" sz="2800" b="1">
                <a:solidFill>
                  <a:srgbClr val="FF0000"/>
                </a:solidFill>
              </a:rPr>
              <a:t>OR</a:t>
            </a:r>
            <a:r>
              <a:rPr lang="en-US" sz="2800" b="1"/>
              <a:t>”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780" y="1752600"/>
            <a:ext cx="6088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If </a:t>
            </a:r>
            <a:r>
              <a:rPr lang="en-US" sz="2800" b="1" u="sng"/>
              <a:t>either</a:t>
            </a:r>
            <a:r>
              <a:rPr lang="en-US" sz="2800" b="1"/>
              <a:t> input is true, then output true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219200" y="2438400"/>
          <a:ext cx="6658383" cy="259080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19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46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Output (Q)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58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58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58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58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828493" y="298123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1192" y="353761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293" y="40519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293" y="353761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493" y="40519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493" y="353761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1192" y="2967930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293" y="2971800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493" y="45853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9531" y="45853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293" y="45853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493" y="4051905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920" y="5181600"/>
            <a:ext cx="1935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/>
              <a:t>Math Symbol: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12304" y="5193030"/>
            <a:ext cx="2650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/>
              <a:t>Boolean Equation: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" y="5181601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/>
              <a:t>Wiring Symbol: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982" y="5930449"/>
            <a:ext cx="1935480" cy="462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01393" y="5931694"/>
            <a:ext cx="14725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A + B = Q</a:t>
            </a:r>
          </a:p>
        </p:txBody>
      </p:sp>
      <p:cxnSp>
        <p:nvCxnSpPr>
          <p:cNvPr id="42" name="Straight Connector 41"/>
          <p:cNvCxnSpPr/>
          <p:nvPr/>
        </p:nvCxnSpPr>
        <p:spPr>
          <a:xfrm flipV="1">
            <a:off x="5943600" y="5269230"/>
            <a:ext cx="0" cy="143637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3124200" y="5269230"/>
            <a:ext cx="0" cy="143637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446208" y="5631467"/>
            <a:ext cx="2500427" cy="1180873"/>
            <a:chOff x="446208" y="5631467"/>
            <a:chExt cx="2500427" cy="1180873"/>
          </a:xfrm>
        </p:grpSpPr>
        <p:sp>
          <p:nvSpPr>
            <p:cNvPr id="39" name="Rectangle 38"/>
            <p:cNvSpPr/>
            <p:nvPr/>
          </p:nvSpPr>
          <p:spPr>
            <a:xfrm>
              <a:off x="446208" y="5700861"/>
              <a:ext cx="4074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46208" y="6162526"/>
              <a:ext cx="38985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539151" y="5931694"/>
              <a:ext cx="4074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Q</a:t>
              </a:r>
            </a:p>
          </p:txBody>
        </p:sp>
        <p:pic>
          <p:nvPicPr>
            <p:cNvPr id="44" name="Picture 6" descr="http://www.clker.com/cliparts/d/3/8/2/12065670311495995000nobody_Digital_logic_gates.svg.hi.png">
              <a:hlinkClick r:id="rId2"/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409" r="57864" b="55396"/>
            <a:stretch/>
          </p:blipFill>
          <p:spPr bwMode="auto">
            <a:xfrm>
              <a:off x="748318" y="5631467"/>
              <a:ext cx="1856164" cy="11808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4251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18" grpId="0"/>
      <p:bldP spid="33" grpId="0"/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Digital Logic Gates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489200" y="2667000"/>
          <a:ext cx="4216400" cy="14859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Output (Q)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0" y="1219200"/>
            <a:ext cx="2836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The “</a:t>
            </a:r>
            <a:r>
              <a:rPr lang="en-US" sz="2800" b="1">
                <a:solidFill>
                  <a:srgbClr val="FF0000"/>
                </a:solidFill>
              </a:rPr>
              <a:t>NOT</a:t>
            </a:r>
            <a:r>
              <a:rPr lang="en-US" sz="2800" b="1"/>
              <a:t>”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2919" y="3200400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2919" y="3733182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3733182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3200400"/>
            <a:ext cx="914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3600" y="1889760"/>
            <a:ext cx="48702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Output is </a:t>
            </a:r>
            <a:r>
              <a:rPr lang="en-US" sz="2800" b="1" u="sng"/>
              <a:t>opposite</a:t>
            </a:r>
            <a:r>
              <a:rPr lang="en-US" sz="2800" b="1"/>
              <a:t> of the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920" y="4419599"/>
            <a:ext cx="1935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/>
              <a:t>Math Symbol: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2304" y="4431029"/>
            <a:ext cx="2650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/>
              <a:t>Boolean Equation: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4419600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/>
              <a:t>Wiring Symbol: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65516" y="4953000"/>
            <a:ext cx="2277684" cy="948990"/>
            <a:chOff x="465516" y="4953000"/>
            <a:chExt cx="2277684" cy="948990"/>
          </a:xfrm>
        </p:grpSpPr>
        <p:pic>
          <p:nvPicPr>
            <p:cNvPr id="13" name="Picture 4" descr="http://www.clker.com/cliparts/d/3/8/2/12065670311495995000nobody_Digital_logic_gates.svg.hi.png">
              <a:hlinkClick r:id="rId2"/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74727" y="4953000"/>
              <a:ext cx="1487473" cy="948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2267236" y="5253335"/>
              <a:ext cx="4759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A’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65516" y="5257799"/>
              <a:ext cx="4074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600982" y="5169693"/>
                <a:ext cx="1935480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A’   or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/>
                          </a:rPr>
                          <m:t>A</m:t>
                        </m:r>
                      </m:e>
                    </m:acc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982" y="5169693"/>
                <a:ext cx="1935480" cy="462434"/>
              </a:xfrm>
              <a:prstGeom prst="rect">
                <a:avLst/>
              </a:prstGeom>
              <a:blipFill rotWithShape="1">
                <a:blip r:embed="rId4"/>
                <a:stretch>
                  <a:fillRect t="-9211" r="-11356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6930942" y="5169693"/>
            <a:ext cx="10134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A’ = Q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5943600" y="4431029"/>
            <a:ext cx="0" cy="174117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3124200" y="4431029"/>
            <a:ext cx="0" cy="174117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62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2" grpId="0"/>
      <p:bldP spid="14" grpId="0"/>
      <p:bldP spid="15" grpId="0"/>
      <p:bldP spid="3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Boolean Algebra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1066800" y="1371600"/>
          <a:ext cx="2336800" cy="4541520"/>
        </p:xfrm>
        <a:graphic>
          <a:graphicData uri="http://schemas.openxmlformats.org/drawingml/2006/table">
            <a:tbl>
              <a:tblPr/>
              <a:tblGrid>
                <a:gridCol w="23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Identity Element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a+0=a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a+1=1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a*0=0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a*1=a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Involution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(a')'=a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Complementation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a+a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'=1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a*a'=0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Idempotency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a+a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=a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a*a=a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7CB553-FCAF-47CB-927B-73E76EE51F9F}" type="slidenum">
              <a:rPr lang="en-US" smtClean="0"/>
              <a:pPr>
                <a:defRPr/>
              </a:pPr>
              <a:t>6</a:t>
            </a:fld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67200" y="1371600"/>
          <a:ext cx="3810000" cy="4825365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Associative (grouping doesn't matter)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a+(</a:t>
                      </a: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b+c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)=(</a:t>
                      </a: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a+b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)+c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a*(b*c)=(a*b)*c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Commutative (order doesn't matter)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a+b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=</a:t>
                      </a: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b+a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a*b=b*a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Distributive for BOOLEAN ALGEBRA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a+(b*c)=(</a:t>
                      </a: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a+b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)*(</a:t>
                      </a: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a+c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a*(</a:t>
                      </a: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b+c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)=(a*b)+(a*c)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Absorption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a+a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*b=a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Adjacency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a*</a:t>
                      </a: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b+a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*b'=a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52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Combinations and Simplifications (using Boolean Algebra)</a:t>
            </a:r>
            <a:br>
              <a:rPr lang="en-US" sz="4000"/>
            </a:br>
            <a:endParaRPr lang="en-US" sz="4000"/>
          </a:p>
        </p:txBody>
      </p:sp>
      <p:sp>
        <p:nvSpPr>
          <p:cNvPr id="3" name="Rectangle 2"/>
          <p:cNvSpPr/>
          <p:nvPr/>
        </p:nvSpPr>
        <p:spPr>
          <a:xfrm>
            <a:off x="700847" y="1836892"/>
            <a:ext cx="18914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A </a:t>
            </a:r>
            <a:r>
              <a:rPr lang="en-US" sz="32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3200" b="1">
                <a:cs typeface="Times New Roman" pitchFamily="18" charset="0"/>
              </a:rPr>
              <a:t> A’ = 1</a:t>
            </a:r>
            <a:endParaRPr lang="en-US" sz="3200"/>
          </a:p>
        </p:txBody>
      </p:sp>
      <p:cxnSp>
        <p:nvCxnSpPr>
          <p:cNvPr id="5" name="Straight Connector 4"/>
          <p:cNvCxnSpPr/>
          <p:nvPr/>
        </p:nvCxnSpPr>
        <p:spPr>
          <a:xfrm>
            <a:off x="700847" y="2370292"/>
            <a:ext cx="189148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81253" y="2450957"/>
            <a:ext cx="13708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1 </a:t>
            </a:r>
            <a:r>
              <a:rPr lang="en-US" sz="32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3200" b="1">
                <a:cs typeface="Times New Roman" pitchFamily="18" charset="0"/>
              </a:rPr>
              <a:t> 0 =</a:t>
            </a:r>
            <a:endParaRPr lang="en-US" sz="3200"/>
          </a:p>
        </p:txBody>
      </p:sp>
      <p:sp>
        <p:nvSpPr>
          <p:cNvPr id="7" name="Rectangle 6"/>
          <p:cNvSpPr/>
          <p:nvPr/>
        </p:nvSpPr>
        <p:spPr>
          <a:xfrm>
            <a:off x="781253" y="2979892"/>
            <a:ext cx="13708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0 </a:t>
            </a:r>
            <a:r>
              <a:rPr lang="en-US" sz="32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3200" b="1">
                <a:cs typeface="Times New Roman" pitchFamily="18" charset="0"/>
              </a:rPr>
              <a:t> 1 =</a:t>
            </a:r>
            <a:endParaRPr lang="en-US" sz="3200"/>
          </a:p>
        </p:txBody>
      </p:sp>
      <p:sp>
        <p:nvSpPr>
          <p:cNvPr id="8" name="Rectangle 7"/>
          <p:cNvSpPr/>
          <p:nvPr/>
        </p:nvSpPr>
        <p:spPr>
          <a:xfrm>
            <a:off x="2200950" y="2452160"/>
            <a:ext cx="389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1</a:t>
            </a:r>
            <a:endParaRPr lang="en-US" sz="3200"/>
          </a:p>
        </p:txBody>
      </p:sp>
      <p:sp>
        <p:nvSpPr>
          <p:cNvPr id="9" name="Rectangle 8"/>
          <p:cNvSpPr/>
          <p:nvPr/>
        </p:nvSpPr>
        <p:spPr>
          <a:xfrm>
            <a:off x="2200950" y="2975427"/>
            <a:ext cx="389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1</a:t>
            </a:r>
            <a:endParaRPr lang="en-US" sz="3200"/>
          </a:p>
        </p:txBody>
      </p:sp>
      <p:sp>
        <p:nvSpPr>
          <p:cNvPr id="11" name="Rectangle 10"/>
          <p:cNvSpPr/>
          <p:nvPr/>
        </p:nvSpPr>
        <p:spPr>
          <a:xfrm>
            <a:off x="3725508" y="1828800"/>
            <a:ext cx="1718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A </a:t>
            </a:r>
            <a:r>
              <a:rPr lang="en-US" sz="32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3200" b="1">
                <a:cs typeface="Times New Roman" pitchFamily="18" charset="0"/>
              </a:rPr>
              <a:t> 1 = A</a:t>
            </a:r>
            <a:endParaRPr lang="en-US" sz="320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725508" y="2362200"/>
            <a:ext cx="167173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05914" y="2442865"/>
            <a:ext cx="12731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1 </a:t>
            </a:r>
            <a:r>
              <a:rPr lang="en-US" sz="32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3200" b="1">
                <a:cs typeface="Times New Roman" pitchFamily="18" charset="0"/>
              </a:rPr>
              <a:t> 1 =</a:t>
            </a:r>
            <a:endParaRPr lang="en-US" sz="3200"/>
          </a:p>
        </p:txBody>
      </p:sp>
      <p:sp>
        <p:nvSpPr>
          <p:cNvPr id="14" name="Rectangle 13"/>
          <p:cNvSpPr/>
          <p:nvPr/>
        </p:nvSpPr>
        <p:spPr>
          <a:xfrm>
            <a:off x="3805914" y="2971800"/>
            <a:ext cx="12731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0 </a:t>
            </a:r>
            <a:r>
              <a:rPr lang="en-US" sz="32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3200" b="1">
                <a:cs typeface="Times New Roman" pitchFamily="18" charset="0"/>
              </a:rPr>
              <a:t> 1 =</a:t>
            </a:r>
            <a:endParaRPr lang="en-US" sz="3200"/>
          </a:p>
        </p:txBody>
      </p:sp>
      <p:sp>
        <p:nvSpPr>
          <p:cNvPr id="15" name="Rectangle 14"/>
          <p:cNvSpPr/>
          <p:nvPr/>
        </p:nvSpPr>
        <p:spPr>
          <a:xfrm>
            <a:off x="5007388" y="2444068"/>
            <a:ext cx="389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1</a:t>
            </a:r>
            <a:endParaRPr lang="en-US" sz="3200"/>
          </a:p>
        </p:txBody>
      </p:sp>
      <p:sp>
        <p:nvSpPr>
          <p:cNvPr id="16" name="Rectangle 15"/>
          <p:cNvSpPr/>
          <p:nvPr/>
        </p:nvSpPr>
        <p:spPr>
          <a:xfrm>
            <a:off x="5007388" y="2967335"/>
            <a:ext cx="389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0</a:t>
            </a:r>
            <a:endParaRPr lang="en-US" sz="3200"/>
          </a:p>
        </p:txBody>
      </p:sp>
      <p:sp>
        <p:nvSpPr>
          <p:cNvPr id="17" name="Rectangle 16"/>
          <p:cNvSpPr/>
          <p:nvPr/>
        </p:nvSpPr>
        <p:spPr>
          <a:xfrm>
            <a:off x="6620550" y="1828800"/>
            <a:ext cx="17474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A </a:t>
            </a:r>
            <a:r>
              <a:rPr lang="en-US" sz="32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3200" b="1">
                <a:cs typeface="Times New Roman" pitchFamily="18" charset="0"/>
              </a:rPr>
              <a:t> 1 = 1</a:t>
            </a:r>
            <a:endParaRPr lang="en-US" sz="3200"/>
          </a:p>
        </p:txBody>
      </p:sp>
      <p:cxnSp>
        <p:nvCxnSpPr>
          <p:cNvPr id="18" name="Straight Connector 17"/>
          <p:cNvCxnSpPr/>
          <p:nvPr/>
        </p:nvCxnSpPr>
        <p:spPr>
          <a:xfrm>
            <a:off x="6620550" y="2362200"/>
            <a:ext cx="174740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700956" y="2442865"/>
            <a:ext cx="13708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1 </a:t>
            </a:r>
            <a:r>
              <a:rPr lang="en-US" sz="32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3200" b="1">
                <a:cs typeface="Times New Roman" pitchFamily="18" charset="0"/>
              </a:rPr>
              <a:t> 1 =</a:t>
            </a:r>
            <a:endParaRPr lang="en-US" sz="3200"/>
          </a:p>
        </p:txBody>
      </p:sp>
      <p:sp>
        <p:nvSpPr>
          <p:cNvPr id="20" name="Rectangle 19"/>
          <p:cNvSpPr/>
          <p:nvPr/>
        </p:nvSpPr>
        <p:spPr>
          <a:xfrm>
            <a:off x="6700956" y="2971800"/>
            <a:ext cx="13708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0 </a:t>
            </a:r>
            <a:r>
              <a:rPr lang="en-US" sz="32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3200" b="1">
                <a:cs typeface="Times New Roman" pitchFamily="18" charset="0"/>
              </a:rPr>
              <a:t> 1 =</a:t>
            </a:r>
            <a:endParaRPr lang="en-US" sz="3200"/>
          </a:p>
        </p:txBody>
      </p:sp>
      <p:sp>
        <p:nvSpPr>
          <p:cNvPr id="21" name="Rectangle 20"/>
          <p:cNvSpPr/>
          <p:nvPr/>
        </p:nvSpPr>
        <p:spPr>
          <a:xfrm>
            <a:off x="7992150" y="2444068"/>
            <a:ext cx="389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1</a:t>
            </a:r>
            <a:endParaRPr lang="en-US" sz="3200"/>
          </a:p>
        </p:txBody>
      </p:sp>
      <p:sp>
        <p:nvSpPr>
          <p:cNvPr id="22" name="Rectangle 21"/>
          <p:cNvSpPr/>
          <p:nvPr/>
        </p:nvSpPr>
        <p:spPr>
          <a:xfrm>
            <a:off x="7992150" y="2967335"/>
            <a:ext cx="389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/>
              <a:t>1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74944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1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r>
              <a:rPr lang="en-US"/>
              <a:t>Logic Circuit Example Problem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58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>
                <a:latin typeface="Calibri" panose="020F0502020204030204" pitchFamily="34" charset="0"/>
                <a:cs typeface="Times New Roman" pitchFamily="18" charset="0"/>
              </a:rPr>
              <a:t>At a particular zoo, some of the Lions are grouped together and given a large, open common area to use.  </a:t>
            </a:r>
          </a:p>
          <a:p>
            <a:pPr>
              <a:lnSpc>
                <a:spcPct val="90000"/>
              </a:lnSpc>
            </a:pPr>
            <a:endParaRPr lang="en-US" sz="800">
              <a:latin typeface="Calibri" panose="020F0502020204030204" pitchFamily="34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000">
                <a:latin typeface="Calibri" panose="020F0502020204030204" pitchFamily="34" charset="0"/>
                <a:cs typeface="Times New Roman" pitchFamily="18" charset="0"/>
              </a:rPr>
              <a:t>All of the animals have separate cages, but can access the common area at will, through a door in their cages.  </a:t>
            </a:r>
          </a:p>
          <a:p>
            <a:pPr>
              <a:lnSpc>
                <a:spcPct val="90000"/>
              </a:lnSpc>
              <a:buNone/>
            </a:pPr>
            <a:endParaRPr lang="en-US" sz="800">
              <a:latin typeface="Calibri" panose="020F0502020204030204" pitchFamily="34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000">
                <a:latin typeface="Calibri" panose="020F0502020204030204" pitchFamily="34" charset="0"/>
                <a:cs typeface="Times New Roman" pitchFamily="18" charset="0"/>
              </a:rPr>
              <a:t>The zookeepers must sometimes go into the common area to do routine tasks such as cleaning, replacing plants, and other maintenance.  </a:t>
            </a:r>
          </a:p>
          <a:p>
            <a:pPr>
              <a:lnSpc>
                <a:spcPct val="90000"/>
              </a:lnSpc>
            </a:pPr>
            <a:endParaRPr lang="en-US" sz="800">
              <a:latin typeface="Calibri" panose="020F0502020204030204" pitchFamily="34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000">
                <a:latin typeface="Calibri" panose="020F0502020204030204" pitchFamily="34" charset="0"/>
                <a:cs typeface="Times New Roman" pitchFamily="18" charset="0"/>
              </a:rPr>
              <a:t>Three of the Lions (Showoff, Grumpy, and Lady) are dangerous to zookeepers under certain conditions.  </a:t>
            </a:r>
          </a:p>
          <a:p>
            <a:pPr lvl="1">
              <a:lnSpc>
                <a:spcPct val="90000"/>
              </a:lnSpc>
            </a:pPr>
            <a:r>
              <a:rPr lang="en-US" sz="2000" b="1">
                <a:latin typeface="Calibri" panose="020F0502020204030204" pitchFamily="34" charset="0"/>
                <a:cs typeface="Times New Roman" pitchFamily="18" charset="0"/>
              </a:rPr>
              <a:t>See next slide for details</a:t>
            </a:r>
          </a:p>
          <a:p>
            <a:pPr>
              <a:lnSpc>
                <a:spcPct val="90000"/>
              </a:lnSpc>
            </a:pPr>
            <a:endParaRPr lang="en-US" sz="800">
              <a:latin typeface="Calibri" panose="020F0502020204030204" pitchFamily="34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  <a:cs typeface="Times New Roman" pitchFamily="18" charset="0"/>
              </a:rPr>
              <a:t>Your task is to design a silent (i.e., LIGHT) alarm that will warn the zookeepers if it is dangerous to be in the common area.</a:t>
            </a:r>
          </a:p>
        </p:txBody>
      </p:sp>
    </p:spTree>
    <p:extLst>
      <p:ext uri="{BB962C8B-B14F-4D97-AF65-F5344CB8AC3E}">
        <p14:creationId xmlns:p14="http://schemas.microsoft.com/office/powerpoint/2010/main" val="2385180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http://2.bp.blogspot.com/_ET7RRukqAds/TLu8e7r4O5I/AAAAAAAAABo/gAWxw5KiiZY/s1600/graceful-liones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85750"/>
            <a:ext cx="1672167" cy="12541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</p:pic>
      <p:pic>
        <p:nvPicPr>
          <p:cNvPr id="4154" name="Picture 58" descr="http://www.africa-nature-photography.com/wildlife-photography.html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57600" y="304800"/>
            <a:ext cx="1821626" cy="1219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150" name="Picture 54" descr="http://tbn0.google.com/images?q=tbn:kIsxqgNdMAAJ::http://www.bigfivesafaris.co.za/images/Male_lion.jpg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0" y="300613"/>
            <a:ext cx="1295400" cy="12242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098" name="Rectangle 10"/>
          <p:cNvSpPr>
            <a:spLocks noChangeArrowheads="1"/>
          </p:cNvSpPr>
          <p:nvPr/>
        </p:nvSpPr>
        <p:spPr bwMode="auto">
          <a:xfrm>
            <a:off x="304800" y="1524000"/>
            <a:ext cx="8610600" cy="4648200"/>
          </a:xfrm>
          <a:prstGeom prst="rect">
            <a:avLst/>
          </a:prstGeom>
          <a:solidFill>
            <a:srgbClr val="FFCC99"/>
          </a:solidFill>
          <a:ln w="5080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/>
              <a:t> </a:t>
            </a:r>
            <a:r>
              <a:rPr lang="en-US" b="1" u="sng">
                <a:solidFill>
                  <a:srgbClr val="FF0000"/>
                </a:solidFill>
              </a:rPr>
              <a:t>Step 1:  Determine Inputs and Outputs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b="1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b="1">
                <a:cs typeface="Times New Roman" pitchFamily="18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b="1"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b="1"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b="1"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b="1"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b="1"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b="1"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>
              <a:cs typeface="Times New Roman" pitchFamily="18" charset="0"/>
            </a:endParaRPr>
          </a:p>
        </p:txBody>
      </p:sp>
      <p:sp>
        <p:nvSpPr>
          <p:cNvPr id="4102" name="WordArt 14"/>
          <p:cNvSpPr>
            <a:spLocks noChangeArrowheads="1" noChangeShapeType="1" noTextEdit="1"/>
          </p:cNvSpPr>
          <p:nvPr/>
        </p:nvSpPr>
        <p:spPr bwMode="auto">
          <a:xfrm>
            <a:off x="2057400" y="609600"/>
            <a:ext cx="3524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66"/>
                </a:solidFill>
                <a:latin typeface="Arial Black"/>
              </a:rPr>
              <a:t>S</a:t>
            </a:r>
          </a:p>
        </p:txBody>
      </p:sp>
      <p:sp>
        <p:nvSpPr>
          <p:cNvPr id="4144" name="WordArt 15"/>
          <p:cNvSpPr>
            <a:spLocks noChangeArrowheads="1" noChangeShapeType="1" noTextEdit="1"/>
          </p:cNvSpPr>
          <p:nvPr/>
        </p:nvSpPr>
        <p:spPr bwMode="auto">
          <a:xfrm>
            <a:off x="4495800" y="609600"/>
            <a:ext cx="3524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66"/>
                </a:solidFill>
                <a:latin typeface="Arial Black"/>
              </a:rPr>
              <a:t>G</a:t>
            </a:r>
          </a:p>
        </p:txBody>
      </p:sp>
      <p:sp>
        <p:nvSpPr>
          <p:cNvPr id="4104" name="Oval 16"/>
          <p:cNvSpPr>
            <a:spLocks noChangeArrowheads="1"/>
          </p:cNvSpPr>
          <p:nvPr/>
        </p:nvSpPr>
        <p:spPr bwMode="auto">
          <a:xfrm>
            <a:off x="1905000" y="152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Oval 17"/>
          <p:cNvSpPr>
            <a:spLocks noChangeArrowheads="1"/>
          </p:cNvSpPr>
          <p:nvPr/>
        </p:nvSpPr>
        <p:spPr bwMode="auto">
          <a:xfrm>
            <a:off x="6629400" y="152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Oval 18"/>
          <p:cNvSpPr>
            <a:spLocks noChangeArrowheads="1"/>
          </p:cNvSpPr>
          <p:nvPr/>
        </p:nvSpPr>
        <p:spPr bwMode="auto">
          <a:xfrm>
            <a:off x="4419600" y="152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Line 19"/>
          <p:cNvSpPr>
            <a:spLocks noChangeShapeType="1"/>
          </p:cNvSpPr>
          <p:nvPr/>
        </p:nvSpPr>
        <p:spPr bwMode="auto">
          <a:xfrm>
            <a:off x="2057400" y="1600200"/>
            <a:ext cx="3810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8" name="Line 20"/>
          <p:cNvSpPr>
            <a:spLocks noChangeShapeType="1"/>
          </p:cNvSpPr>
          <p:nvPr/>
        </p:nvSpPr>
        <p:spPr bwMode="auto">
          <a:xfrm>
            <a:off x="4572000" y="1600200"/>
            <a:ext cx="3810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9" name="Line 21"/>
          <p:cNvSpPr>
            <a:spLocks noChangeShapeType="1"/>
          </p:cNvSpPr>
          <p:nvPr/>
        </p:nvSpPr>
        <p:spPr bwMode="auto">
          <a:xfrm>
            <a:off x="6781800" y="1600200"/>
            <a:ext cx="3810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" name="WordArt 15"/>
          <p:cNvSpPr>
            <a:spLocks noChangeArrowheads="1" noChangeShapeType="1" noTextEdit="1"/>
          </p:cNvSpPr>
          <p:nvPr/>
        </p:nvSpPr>
        <p:spPr bwMode="auto">
          <a:xfrm>
            <a:off x="6858000" y="609600"/>
            <a:ext cx="3524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66"/>
                </a:solidFill>
                <a:latin typeface="Arial Black"/>
              </a:rPr>
              <a:t>L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266700" y="2783149"/>
            <a:ext cx="84582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Times New Roman" pitchFamily="18" charset="0"/>
              </a:rPr>
              <a:t>Showoff is not dangerous by himself, but if any of the others are present they will hunt anyone in the common area.  </a:t>
            </a:r>
          </a:p>
          <a:p>
            <a:pPr marL="1200150" lvl="2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Times New Roman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Times New Roman" pitchFamily="18" charset="0"/>
              </a:rPr>
              <a:t>Grumpy gets agitated when his mate (Lady) is not present, and will hunt the zookeeper under those conditions, but .  </a:t>
            </a:r>
          </a:p>
          <a:p>
            <a:pPr marL="1200150" lvl="2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endParaRPr lang="en-US" sz="1600" kern="0">
              <a:latin typeface="Calibri" panose="020F0502020204030204" pitchFamily="34" charset="0"/>
              <a:cs typeface="Times New Roman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Times New Roman" pitchFamily="18" charset="0"/>
              </a:rPr>
              <a:t>Lady will hunt with Showoff, but will calm Grumpy and the pair (Lady and Grumpy) are not dangerous when alone together. 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257800" y="5548545"/>
            <a:ext cx="1215759" cy="1212396"/>
            <a:chOff x="3279774" y="5507044"/>
            <a:chExt cx="2362200" cy="2133600"/>
          </a:xfrm>
        </p:grpSpPr>
        <p:sp>
          <p:nvSpPr>
            <p:cNvPr id="17" name="Rectangle 16"/>
            <p:cNvSpPr/>
            <p:nvPr/>
          </p:nvSpPr>
          <p:spPr>
            <a:xfrm>
              <a:off x="4117974" y="6573844"/>
              <a:ext cx="1524000" cy="46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8" name="Straight Connector 17"/>
            <p:cNvCxnSpPr>
              <a:stCxn id="17" idx="1"/>
            </p:cNvCxnSpPr>
            <p:nvPr/>
          </p:nvCxnSpPr>
          <p:spPr>
            <a:xfrm rot="10800000" flipH="1">
              <a:off x="4117974" y="5583244"/>
              <a:ext cx="838200" cy="101282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rc 18"/>
            <p:cNvSpPr/>
            <p:nvPr/>
          </p:nvSpPr>
          <p:spPr>
            <a:xfrm>
              <a:off x="3279774" y="5507044"/>
              <a:ext cx="2362200" cy="2133600"/>
            </a:xfrm>
            <a:prstGeom prst="arc">
              <a:avLst>
                <a:gd name="adj1" fmla="val 17457099"/>
                <a:gd name="adj2" fmla="val 21582186"/>
              </a:avLst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0" name="TextBox 29"/>
          <p:cNvSpPr txBox="1">
            <a:spLocks noChangeArrowheads="1"/>
          </p:cNvSpPr>
          <p:nvPr/>
        </p:nvSpPr>
        <p:spPr bwMode="auto">
          <a:xfrm>
            <a:off x="6775450" y="6223814"/>
            <a:ext cx="1987550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Common Area</a:t>
            </a:r>
            <a:br>
              <a:rPr lang="en-US"/>
            </a:br>
            <a:r>
              <a:rPr lang="en-US" sz="1400" b="1" i="1" u="sng">
                <a:solidFill>
                  <a:srgbClr val="FF0000"/>
                </a:solidFill>
              </a:rPr>
              <a:t>Safe to enter?</a:t>
            </a:r>
          </a:p>
        </p:txBody>
      </p:sp>
      <p:sp>
        <p:nvSpPr>
          <p:cNvPr id="21" name="Oval 20"/>
          <p:cNvSpPr/>
          <p:nvPr/>
        </p:nvSpPr>
        <p:spPr>
          <a:xfrm>
            <a:off x="6705600" y="6248400"/>
            <a:ext cx="152400" cy="1524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705600" y="6477000"/>
            <a:ext cx="152400" cy="1524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6858000" y="6172200"/>
            <a:ext cx="76200" cy="76200"/>
          </a:xfrm>
          <a:prstGeom prst="line">
            <a:avLst/>
          </a:prstGeom>
          <a:ln w="63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0800000">
            <a:off x="6553200" y="6324600"/>
            <a:ext cx="119063" cy="0"/>
          </a:xfrm>
          <a:prstGeom prst="line">
            <a:avLst/>
          </a:prstGeom>
          <a:ln w="63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16200000" flipV="1">
            <a:off x="6858000" y="6400800"/>
            <a:ext cx="76200" cy="76200"/>
          </a:xfrm>
          <a:prstGeom prst="line">
            <a:avLst/>
          </a:prstGeom>
          <a:ln w="63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6629400" y="6400800"/>
            <a:ext cx="76200" cy="76200"/>
          </a:xfrm>
          <a:prstGeom prst="line">
            <a:avLst/>
          </a:prstGeom>
          <a:ln w="63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16200000" flipV="1">
            <a:off x="6629400" y="6172200"/>
            <a:ext cx="76200" cy="76200"/>
          </a:xfrm>
          <a:prstGeom prst="line">
            <a:avLst/>
          </a:prstGeom>
          <a:ln w="63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0800000" flipV="1">
            <a:off x="6905625" y="6324600"/>
            <a:ext cx="104775" cy="4763"/>
          </a:xfrm>
          <a:prstGeom prst="line">
            <a:avLst/>
          </a:prstGeom>
          <a:ln w="63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401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1" y="1371600"/>
            <a:ext cx="8610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How many inputs? </a:t>
            </a:r>
            <a:endParaRPr lang="en-US" sz="3200">
              <a:solidFill>
                <a:srgbClr val="FF0000"/>
              </a:solidFill>
            </a:endParaRPr>
          </a:p>
          <a:p>
            <a:endParaRPr lang="en-US" sz="3200"/>
          </a:p>
          <a:p>
            <a:r>
              <a:rPr lang="en-US" sz="3200"/>
              <a:t>What are the inputs? </a:t>
            </a:r>
            <a:endParaRPr lang="en-US" sz="2000">
              <a:solidFill>
                <a:srgbClr val="FF0000"/>
              </a:solidFill>
            </a:endParaRPr>
          </a:p>
          <a:p>
            <a:endParaRPr lang="en-US" sz="3200"/>
          </a:p>
          <a:p>
            <a:endParaRPr lang="en-US" sz="3200"/>
          </a:p>
          <a:p>
            <a:endParaRPr lang="en-US" sz="3200"/>
          </a:p>
          <a:p>
            <a:r>
              <a:rPr lang="en-US" sz="3200"/>
              <a:t>How many outputs? </a:t>
            </a:r>
          </a:p>
          <a:p>
            <a:endParaRPr lang="en-US" sz="3200">
              <a:solidFill>
                <a:srgbClr val="FF0000"/>
              </a:solidFill>
            </a:endParaRPr>
          </a:p>
          <a:p>
            <a:r>
              <a:rPr lang="en-US" sz="3200"/>
              <a:t>What are the outputs? </a:t>
            </a:r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04800" y="152400"/>
            <a:ext cx="8534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sz="2800" b="1" u="sng">
                <a:solidFill>
                  <a:srgbClr val="FF0000"/>
                </a:solidFill>
              </a:rPr>
              <a:t>Step 1:  Determine Inputs and Outputs</a:t>
            </a:r>
            <a:br>
              <a:rPr lang="en-US" sz="2800"/>
            </a:br>
            <a:endParaRPr lang="en-US" sz="2800">
              <a:solidFill>
                <a:schemeClr val="tx1"/>
              </a:solidFill>
            </a:endParaRPr>
          </a:p>
          <a:p>
            <a:pPr algn="l"/>
            <a:br>
              <a:rPr lang="en-US" sz="2800">
                <a:solidFill>
                  <a:schemeClr val="tx1"/>
                </a:solidFill>
              </a:rPr>
            </a:b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0344" y="1447800"/>
            <a:ext cx="1219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92740"/>
            <a:ext cx="388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1. Showoff is present </a:t>
            </a:r>
          </a:p>
          <a:p>
            <a:r>
              <a:rPr lang="en-US">
                <a:solidFill>
                  <a:srgbClr val="0000FF"/>
                </a:solidFill>
              </a:rPr>
              <a:t>2. Grumpy is present</a:t>
            </a:r>
          </a:p>
          <a:p>
            <a:r>
              <a:rPr lang="en-US">
                <a:solidFill>
                  <a:srgbClr val="0000FF"/>
                </a:solidFill>
              </a:rPr>
              <a:t>3. Lady is present</a:t>
            </a:r>
          </a:p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67031" y="4343400"/>
            <a:ext cx="1219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7030" y="5327273"/>
            <a:ext cx="2367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Silent Alarm</a:t>
            </a:r>
          </a:p>
        </p:txBody>
      </p:sp>
    </p:spTree>
    <p:extLst>
      <p:ext uri="{BB962C8B-B14F-4D97-AF65-F5344CB8AC3E}">
        <p14:creationId xmlns:p14="http://schemas.microsoft.com/office/powerpoint/2010/main" val="62257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 txBox="1">
            <a:spLocks noChangeArrowheads="1"/>
          </p:cNvSpPr>
          <p:nvPr/>
        </p:nvSpPr>
        <p:spPr bwMode="auto">
          <a:xfrm>
            <a:off x="304800" y="152400"/>
            <a:ext cx="8534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sz="2800" b="1" u="sng">
                <a:solidFill>
                  <a:srgbClr val="FF0000"/>
                </a:solidFill>
              </a:rPr>
              <a:t>Step 2:  Derive the Truth Table</a:t>
            </a:r>
            <a:br>
              <a:rPr lang="en-US" sz="2800"/>
            </a:br>
            <a:endParaRPr lang="en-US" sz="2800"/>
          </a:p>
          <a:p>
            <a:pPr algn="l"/>
            <a:endParaRPr lang="en-US" sz="2800">
              <a:solidFill>
                <a:schemeClr val="tx1"/>
              </a:solidFill>
            </a:endParaRPr>
          </a:p>
          <a:p>
            <a:pPr algn="l"/>
            <a:endParaRPr lang="en-US" sz="2800">
              <a:solidFill>
                <a:schemeClr val="tx1"/>
              </a:solidFill>
            </a:endParaRPr>
          </a:p>
        </p:txBody>
      </p:sp>
      <p:graphicFrame>
        <p:nvGraphicFramePr>
          <p:cNvPr id="4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981950"/>
              </p:ext>
            </p:extLst>
          </p:nvPr>
        </p:nvGraphicFramePr>
        <p:xfrm>
          <a:off x="762000" y="2248606"/>
          <a:ext cx="6019800" cy="4421825"/>
        </p:xfrm>
        <a:graphic>
          <a:graphicData uri="http://schemas.openxmlformats.org/drawingml/2006/table">
            <a:tbl>
              <a:tblPr/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SILENT ALARM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F5CE788-8894-1735-7AF1-EA06316C7B1B}"/>
              </a:ext>
            </a:extLst>
          </p:cNvPr>
          <p:cNvGrpSpPr/>
          <p:nvPr/>
        </p:nvGrpSpPr>
        <p:grpSpPr>
          <a:xfrm>
            <a:off x="5536095" y="3200400"/>
            <a:ext cx="990600" cy="3378375"/>
            <a:chOff x="5536095" y="2783886"/>
            <a:chExt cx="990600" cy="3378375"/>
          </a:xfrm>
        </p:grpSpPr>
        <p:sp>
          <p:nvSpPr>
            <p:cNvPr id="2" name="Rectangle 1"/>
            <p:cNvSpPr/>
            <p:nvPr/>
          </p:nvSpPr>
          <p:spPr>
            <a:xfrm>
              <a:off x="5536095" y="2783886"/>
              <a:ext cx="9906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536095" y="3154018"/>
              <a:ext cx="9906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536095" y="3604592"/>
              <a:ext cx="9906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536095" y="5857461"/>
              <a:ext cx="9906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536095" y="4055166"/>
              <a:ext cx="9906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536095" y="4505740"/>
              <a:ext cx="9906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536095" y="4956314"/>
              <a:ext cx="9906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536095" y="5406888"/>
              <a:ext cx="9906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80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76200" y="841801"/>
            <a:ext cx="8839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1400" kern="0">
                <a:cs typeface="Times New Roman" pitchFamily="18" charset="0"/>
              </a:rPr>
              <a:t>Showoff is not dangerous by himself, but if any of the others are present they will hunt anyone in the common area. 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1400" kern="0">
                <a:cs typeface="Times New Roman" pitchFamily="18" charset="0"/>
              </a:rPr>
              <a:t>Grumpy gets agitated when his mate (Lady) is not present, and will hunt the zookeeper under those conditions, but . 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sz="1400" kern="0">
                <a:cs typeface="Times New Roman" pitchFamily="18" charset="0"/>
              </a:rPr>
              <a:t>Lady will hunt with Showoff, but will calm Grumpy, and the pair (Lady and Grumpy) are not dangerous when alone together.  </a:t>
            </a:r>
          </a:p>
        </p:txBody>
      </p:sp>
    </p:spTree>
    <p:extLst>
      <p:ext uri="{BB962C8B-B14F-4D97-AF65-F5344CB8AC3E}">
        <p14:creationId xmlns:p14="http://schemas.microsoft.com/office/powerpoint/2010/main" val="2497131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2209800"/>
          </a:xfrm>
        </p:spPr>
        <p:txBody>
          <a:bodyPr/>
          <a:lstStyle/>
          <a:p>
            <a:pPr algn="l"/>
            <a:r>
              <a:rPr lang="en-US" sz="2800" b="1" u="sng">
                <a:solidFill>
                  <a:srgbClr val="FF0000"/>
                </a:solidFill>
              </a:rPr>
              <a:t>Step 3:  Write the Logic Equation from Truth Table</a:t>
            </a:r>
            <a:br>
              <a:rPr lang="en-US" sz="2800"/>
            </a:br>
            <a:r>
              <a:rPr lang="en-US" sz="2800">
                <a:solidFill>
                  <a:schemeClr val="tx1"/>
                </a:solidFill>
              </a:rPr>
              <a:t>- Use only those inputs where the alarm goes off… where the answer is SILENT ALARM = 1 (ON)</a:t>
            </a:r>
            <a:br>
              <a:rPr lang="en-US" sz="2800">
                <a:solidFill>
                  <a:schemeClr val="tx1"/>
                </a:solidFill>
              </a:rPr>
            </a:br>
            <a:endParaRPr lang="en-US" sz="2800">
              <a:solidFill>
                <a:schemeClr val="tx1"/>
              </a:solidFill>
            </a:endParaRPr>
          </a:p>
        </p:txBody>
      </p:sp>
      <p:graphicFrame>
        <p:nvGraphicFramePr>
          <p:cNvPr id="5" name="Group 2"/>
          <p:cNvGraphicFramePr>
            <a:graphicFrameLocks noGrp="1"/>
          </p:cNvGraphicFramePr>
          <p:nvPr/>
        </p:nvGraphicFramePr>
        <p:xfrm>
          <a:off x="762000" y="1857055"/>
          <a:ext cx="6019800" cy="4421825"/>
        </p:xfrm>
        <a:graphic>
          <a:graphicData uri="http://schemas.openxmlformats.org/drawingml/2006/table">
            <a:tbl>
              <a:tblPr/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SILENT ALARM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662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2209800"/>
          </a:xfrm>
        </p:spPr>
        <p:txBody>
          <a:bodyPr/>
          <a:lstStyle/>
          <a:p>
            <a:pPr algn="l"/>
            <a:r>
              <a:rPr lang="en-US" sz="2800" b="1" u="sng">
                <a:solidFill>
                  <a:srgbClr val="FF0000"/>
                </a:solidFill>
              </a:rPr>
              <a:t>Step 3:  Write the Logic Equation from Truth Table</a:t>
            </a:r>
            <a:br>
              <a:rPr lang="en-US" sz="2800"/>
            </a:br>
            <a:r>
              <a:rPr lang="en-US" sz="2800">
                <a:solidFill>
                  <a:schemeClr val="tx1"/>
                </a:solidFill>
              </a:rPr>
              <a:t>- use only those inputs where the alarm goes off… where the answer is SILENT ALARM = 1 (ON)</a:t>
            </a:r>
            <a:br>
              <a:rPr lang="en-US" sz="2800">
                <a:solidFill>
                  <a:schemeClr val="tx1"/>
                </a:solidFill>
              </a:rPr>
            </a:b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391401" y="3537179"/>
            <a:ext cx="1313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S’</a:t>
            </a:r>
            <a:r>
              <a:rPr lang="en-US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b="1">
                <a:cs typeface="Times New Roman" pitchFamily="18" charset="0"/>
              </a:rPr>
              <a:t>G </a:t>
            </a:r>
            <a:r>
              <a:rPr lang="en-US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b="1">
                <a:cs typeface="Times New Roman" pitchFamily="18" charset="0"/>
              </a:rPr>
              <a:t>L’ 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391401" y="4876800"/>
            <a:ext cx="12220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S</a:t>
            </a:r>
            <a:r>
              <a:rPr lang="en-US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b="1">
                <a:cs typeface="Times New Roman" pitchFamily="18" charset="0"/>
              </a:rPr>
              <a:t>G’ </a:t>
            </a:r>
            <a:r>
              <a:rPr lang="en-US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b="1">
                <a:cs typeface="Times New Roman" pitchFamily="18" charset="0"/>
              </a:rPr>
              <a:t>L 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391401" y="5337315"/>
            <a:ext cx="1210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S</a:t>
            </a:r>
            <a:r>
              <a:rPr lang="en-US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b="1">
                <a:cs typeface="Times New Roman" pitchFamily="18" charset="0"/>
              </a:rPr>
              <a:t>G </a:t>
            </a:r>
            <a:r>
              <a:rPr lang="en-US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b="1">
                <a:cs typeface="Times New Roman" pitchFamily="18" charset="0"/>
              </a:rPr>
              <a:t>L’ 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391400" y="5791274"/>
            <a:ext cx="11423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S</a:t>
            </a:r>
            <a:r>
              <a:rPr lang="en-US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b="1">
                <a:cs typeface="Times New Roman" pitchFamily="18" charset="0"/>
              </a:rPr>
              <a:t>G </a:t>
            </a:r>
            <a:r>
              <a:rPr lang="en-US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b="1">
                <a:cs typeface="Times New Roman" pitchFamily="18" charset="0"/>
              </a:rPr>
              <a:t>L </a:t>
            </a:r>
            <a:endParaRPr lang="en-US"/>
          </a:p>
        </p:txBody>
      </p:sp>
      <p:graphicFrame>
        <p:nvGraphicFramePr>
          <p:cNvPr id="9" name="Group 2"/>
          <p:cNvGraphicFramePr>
            <a:graphicFrameLocks noGrp="1"/>
          </p:cNvGraphicFramePr>
          <p:nvPr/>
        </p:nvGraphicFramePr>
        <p:xfrm>
          <a:off x="762000" y="1857055"/>
          <a:ext cx="6019800" cy="4421825"/>
        </p:xfrm>
        <a:graphic>
          <a:graphicData uri="http://schemas.openxmlformats.org/drawingml/2006/table">
            <a:tbl>
              <a:tblPr/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SILENT ALARM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214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7" name="Rectangle 119"/>
          <p:cNvSpPr>
            <a:spLocks noChangeArrowheads="1"/>
          </p:cNvSpPr>
          <p:nvPr/>
        </p:nvSpPr>
        <p:spPr bwMode="auto">
          <a:xfrm>
            <a:off x="152400" y="1219200"/>
            <a:ext cx="8839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/>
              <a:t>S is not there </a:t>
            </a:r>
            <a:r>
              <a:rPr lang="en-US" sz="2400" u="sng">
                <a:solidFill>
                  <a:srgbClr val="FF0000"/>
                </a:solidFill>
              </a:rPr>
              <a:t>and</a:t>
            </a:r>
            <a:r>
              <a:rPr lang="en-US" sz="2400"/>
              <a:t> G is there </a:t>
            </a:r>
            <a:r>
              <a:rPr lang="en-US" sz="2400" u="sng">
                <a:solidFill>
                  <a:srgbClr val="FF0000"/>
                </a:solidFill>
              </a:rPr>
              <a:t>and</a:t>
            </a:r>
            <a:r>
              <a:rPr lang="en-US" sz="2400"/>
              <a:t> L is not there </a:t>
            </a:r>
            <a:r>
              <a:rPr lang="en-US" sz="2400">
                <a:sym typeface="Wingdings" pitchFamily="2" charset="2"/>
              </a:rPr>
              <a:t> </a:t>
            </a:r>
            <a:r>
              <a:rPr lang="en-US" sz="2400" b="1"/>
              <a:t>S’</a:t>
            </a:r>
            <a:r>
              <a:rPr lang="en-US" sz="24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2400" b="1">
                <a:cs typeface="Times New Roman" pitchFamily="18" charset="0"/>
              </a:rPr>
              <a:t>G </a:t>
            </a:r>
            <a:r>
              <a:rPr lang="en-US" sz="24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2400" b="1">
                <a:cs typeface="Times New Roman" pitchFamily="18" charset="0"/>
              </a:rPr>
              <a:t>L’  </a:t>
            </a:r>
          </a:p>
          <a:p>
            <a:pPr marL="342900" indent="-342900" algn="ctr">
              <a:spcBef>
                <a:spcPct val="20000"/>
              </a:spcBef>
            </a:pPr>
            <a:r>
              <a:rPr lang="en-US" sz="2400" b="1" i="1" u="sng">
                <a:solidFill>
                  <a:srgbClr val="00B050"/>
                </a:solidFill>
                <a:cs typeface="Times New Roman" pitchFamily="18" charset="0"/>
              </a:rPr>
              <a:t>or</a:t>
            </a:r>
            <a:endParaRPr lang="en-US" sz="2400" u="sng">
              <a:solidFill>
                <a:srgbClr val="00B050"/>
              </a:solidFill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/>
              <a:t>S is there </a:t>
            </a:r>
            <a:r>
              <a:rPr lang="en-US" sz="2400" u="sng">
                <a:solidFill>
                  <a:srgbClr val="FF0000"/>
                </a:solidFill>
              </a:rPr>
              <a:t>and</a:t>
            </a:r>
            <a:r>
              <a:rPr lang="en-US" sz="2400"/>
              <a:t> G is not there </a:t>
            </a:r>
            <a:r>
              <a:rPr lang="en-US" sz="2400" u="sng">
                <a:solidFill>
                  <a:srgbClr val="FF0000"/>
                </a:solidFill>
              </a:rPr>
              <a:t>and</a:t>
            </a:r>
            <a:r>
              <a:rPr lang="en-US" sz="2400"/>
              <a:t> L is there </a:t>
            </a:r>
            <a:r>
              <a:rPr lang="en-US" sz="2400">
                <a:sym typeface="Wingdings" pitchFamily="2" charset="2"/>
              </a:rPr>
              <a:t> </a:t>
            </a:r>
            <a:r>
              <a:rPr lang="en-US" sz="2400" b="1"/>
              <a:t>S</a:t>
            </a:r>
            <a:r>
              <a:rPr lang="en-US" sz="24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2400" b="1">
                <a:cs typeface="Times New Roman" pitchFamily="18" charset="0"/>
              </a:rPr>
              <a:t>G’ </a:t>
            </a:r>
            <a:r>
              <a:rPr lang="en-US" sz="24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2400" b="1">
                <a:cs typeface="Times New Roman" pitchFamily="18" charset="0"/>
              </a:rPr>
              <a:t>L  </a:t>
            </a:r>
          </a:p>
          <a:p>
            <a:pPr marL="342900" indent="-342900" algn="ctr">
              <a:spcBef>
                <a:spcPct val="20000"/>
              </a:spcBef>
            </a:pPr>
            <a:r>
              <a:rPr lang="en-US" sz="2400" b="1" i="1" u="sng">
                <a:solidFill>
                  <a:srgbClr val="00B050"/>
                </a:solidFill>
                <a:cs typeface="Times New Roman" pitchFamily="18" charset="0"/>
              </a:rPr>
              <a:t> or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/>
              <a:t>S is there </a:t>
            </a:r>
            <a:r>
              <a:rPr lang="en-US" sz="2400" u="sng">
                <a:solidFill>
                  <a:srgbClr val="FF0000"/>
                </a:solidFill>
              </a:rPr>
              <a:t>and</a:t>
            </a:r>
            <a:r>
              <a:rPr lang="en-US" sz="2400"/>
              <a:t> G is there </a:t>
            </a:r>
            <a:r>
              <a:rPr lang="en-US" sz="2400" u="sng">
                <a:solidFill>
                  <a:srgbClr val="FF0000"/>
                </a:solidFill>
              </a:rPr>
              <a:t>and</a:t>
            </a:r>
            <a:r>
              <a:rPr lang="en-US" sz="2400"/>
              <a:t> L is not there </a:t>
            </a:r>
            <a:r>
              <a:rPr lang="en-US" sz="2400">
                <a:sym typeface="Wingdings" pitchFamily="2" charset="2"/>
              </a:rPr>
              <a:t> </a:t>
            </a:r>
            <a:r>
              <a:rPr lang="en-US" sz="2400" b="1"/>
              <a:t>S</a:t>
            </a:r>
            <a:r>
              <a:rPr lang="en-US" sz="24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2400" b="1">
                <a:cs typeface="Times New Roman" pitchFamily="18" charset="0"/>
              </a:rPr>
              <a:t>G </a:t>
            </a:r>
            <a:r>
              <a:rPr lang="en-US" sz="24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2400" b="1">
                <a:cs typeface="Times New Roman" pitchFamily="18" charset="0"/>
              </a:rPr>
              <a:t>L’         </a:t>
            </a:r>
            <a:endParaRPr lang="en-US" sz="2400" b="1" i="1" u="sng">
              <a:solidFill>
                <a:srgbClr val="00B050"/>
              </a:solidFill>
              <a:cs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</a:pPr>
            <a:r>
              <a:rPr lang="en-US" sz="2400" b="1" i="1" u="sng">
                <a:solidFill>
                  <a:srgbClr val="00B050"/>
                </a:solidFill>
                <a:cs typeface="Times New Roman" pitchFamily="18" charset="0"/>
              </a:rPr>
              <a:t>or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>
                <a:cs typeface="Times New Roman" pitchFamily="18" charset="0"/>
              </a:rPr>
              <a:t>S is there </a:t>
            </a:r>
            <a:r>
              <a:rPr lang="en-US" sz="2400" u="sng">
                <a:solidFill>
                  <a:srgbClr val="FF0000"/>
                </a:solidFill>
              </a:rPr>
              <a:t>and</a:t>
            </a:r>
            <a:r>
              <a:rPr lang="en-US" sz="2400"/>
              <a:t> G is there </a:t>
            </a:r>
            <a:r>
              <a:rPr lang="en-US" sz="2400" u="sng">
                <a:solidFill>
                  <a:srgbClr val="FF0000"/>
                </a:solidFill>
              </a:rPr>
              <a:t>and</a:t>
            </a:r>
            <a:r>
              <a:rPr lang="en-US" sz="2400"/>
              <a:t> L is there </a:t>
            </a:r>
            <a:r>
              <a:rPr lang="en-US" sz="2400">
                <a:sym typeface="Wingdings" pitchFamily="2" charset="2"/>
              </a:rPr>
              <a:t> </a:t>
            </a:r>
            <a:r>
              <a:rPr lang="en-US" sz="2400" b="1"/>
              <a:t>S</a:t>
            </a:r>
            <a:r>
              <a:rPr lang="en-US" sz="24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2400" b="1">
                <a:cs typeface="Times New Roman" pitchFamily="18" charset="0"/>
              </a:rPr>
              <a:t>G</a:t>
            </a:r>
            <a:r>
              <a:rPr lang="en-US" sz="24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2400" b="1">
                <a:cs typeface="Times New Roman" pitchFamily="18" charset="0"/>
              </a:rPr>
              <a:t>L</a:t>
            </a:r>
          </a:p>
          <a:p>
            <a:pPr marL="342900" indent="-342900" algn="ctr">
              <a:spcBef>
                <a:spcPct val="20000"/>
              </a:spcBef>
              <a:buFontTx/>
              <a:buChar char="•"/>
            </a:pPr>
            <a:endParaRPr lang="en-US" sz="900" b="1">
              <a:cs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</a:pPr>
            <a:r>
              <a:rPr lang="en-US" sz="2800" b="1">
                <a:cs typeface="Times New Roman" pitchFamily="18" charset="0"/>
              </a:rPr>
              <a:t>… as a </a:t>
            </a:r>
            <a:r>
              <a:rPr lang="en-US" sz="2800" b="1" u="sng">
                <a:cs typeface="Times New Roman" pitchFamily="18" charset="0"/>
              </a:rPr>
              <a:t>complete equation </a:t>
            </a:r>
            <a:r>
              <a:rPr lang="en-US" sz="2800" b="1">
                <a:cs typeface="Times New Roman" pitchFamily="18" charset="0"/>
              </a:rPr>
              <a:t>this is …  </a:t>
            </a:r>
          </a:p>
          <a:p>
            <a:pPr marL="342900" indent="-342900" algn="ctr">
              <a:spcBef>
                <a:spcPct val="20000"/>
              </a:spcBef>
            </a:pPr>
            <a:endParaRPr lang="en-US" sz="1000" b="1">
              <a:cs typeface="Times New Roman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US" sz="2600" b="1">
                <a:solidFill>
                  <a:srgbClr val="0000FF"/>
                </a:solidFill>
              </a:rPr>
              <a:t>ALARM = S’</a:t>
            </a:r>
            <a:r>
              <a:rPr lang="en-US" sz="2600" b="1">
                <a:solidFill>
                  <a:srgbClr val="0000FF"/>
                </a:solidFill>
                <a:cs typeface="Times New Roman" pitchFamily="18" charset="0"/>
              </a:rPr>
              <a:t> ·G ·L’ </a:t>
            </a:r>
            <a:r>
              <a:rPr lang="en-US" sz="2600" b="1" i="1">
                <a:solidFill>
                  <a:srgbClr val="0000FF"/>
                </a:solidFill>
                <a:cs typeface="Times New Roman" pitchFamily="18" charset="0"/>
              </a:rPr>
              <a:t>+</a:t>
            </a:r>
            <a:r>
              <a:rPr lang="en-US" sz="2600" b="1">
                <a:solidFill>
                  <a:srgbClr val="0000FF"/>
                </a:solidFill>
                <a:cs typeface="Times New Roman" pitchFamily="18" charset="0"/>
              </a:rPr>
              <a:t> S ·G’ ·L </a:t>
            </a:r>
            <a:r>
              <a:rPr lang="en-US" sz="2600" b="1" i="1">
                <a:solidFill>
                  <a:srgbClr val="0000FF"/>
                </a:solidFill>
                <a:cs typeface="Times New Roman" pitchFamily="18" charset="0"/>
              </a:rPr>
              <a:t>+</a:t>
            </a:r>
            <a:r>
              <a:rPr lang="en-US" sz="2600" b="1">
                <a:solidFill>
                  <a:srgbClr val="0000FF"/>
                </a:solidFill>
                <a:cs typeface="Times New Roman" pitchFamily="18" charset="0"/>
              </a:rPr>
              <a:t> S·G·L’ </a:t>
            </a:r>
            <a:r>
              <a:rPr lang="en-US" sz="2600" b="1" i="1">
                <a:solidFill>
                  <a:srgbClr val="0000FF"/>
                </a:solidFill>
                <a:cs typeface="Times New Roman" pitchFamily="18" charset="0"/>
              </a:rPr>
              <a:t>+</a:t>
            </a:r>
            <a:r>
              <a:rPr lang="en-US" sz="2600" b="1">
                <a:solidFill>
                  <a:srgbClr val="0000FF"/>
                </a:solidFill>
                <a:cs typeface="Times New Roman" pitchFamily="18" charset="0"/>
              </a:rPr>
              <a:t> S·G·L</a:t>
            </a:r>
          </a:p>
        </p:txBody>
      </p:sp>
      <p:sp>
        <p:nvSpPr>
          <p:cNvPr id="12408" name="Rectangle 120"/>
          <p:cNvSpPr>
            <a:spLocks noChangeArrowheads="1"/>
          </p:cNvSpPr>
          <p:nvPr/>
        </p:nvSpPr>
        <p:spPr bwMode="auto">
          <a:xfrm>
            <a:off x="152400" y="76200"/>
            <a:ext cx="8229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b="1">
                <a:solidFill>
                  <a:srgbClr val="007434"/>
                </a:solidFill>
              </a:rPr>
              <a:t>In words, the Truth Table says the Alarm will go off if:</a:t>
            </a:r>
          </a:p>
        </p:txBody>
      </p:sp>
    </p:spTree>
    <p:extLst>
      <p:ext uri="{BB962C8B-B14F-4D97-AF65-F5344CB8AC3E}">
        <p14:creationId xmlns:p14="http://schemas.microsoft.com/office/powerpoint/2010/main" val="16034947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4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4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4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4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4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4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4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4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4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5410200"/>
            <a:ext cx="8001000" cy="1371600"/>
          </a:xfrm>
        </p:spPr>
        <p:txBody>
          <a:bodyPr/>
          <a:lstStyle/>
          <a:p>
            <a:pPr marL="0" indent="0">
              <a:buNone/>
              <a:tabLst>
                <a:tab pos="1951038" algn="l"/>
                <a:tab pos="3200400" algn="l"/>
              </a:tabLst>
            </a:pPr>
            <a:r>
              <a:rPr lang="en-US" sz="2400"/>
              <a:t>	</a:t>
            </a:r>
            <a:r>
              <a:rPr lang="en-US" sz="2800" b="1"/>
              <a:t>ALARM = G</a:t>
            </a:r>
            <a:r>
              <a:rPr lang="en-US" sz="2800" b="1">
                <a:cs typeface="Times New Roman" pitchFamily="18" charset="0"/>
              </a:rPr>
              <a:t>·L’ + S·L</a:t>
            </a:r>
          </a:p>
          <a:p>
            <a:pPr marL="0" indent="0">
              <a:buNone/>
            </a:pPr>
            <a:r>
              <a:rPr lang="en-US" sz="2400">
                <a:cs typeface="Times New Roman" pitchFamily="18" charset="0"/>
              </a:rPr>
              <a:t>In Words:  </a:t>
            </a:r>
            <a:r>
              <a:rPr lang="en-US" sz="2400">
                <a:solidFill>
                  <a:srgbClr val="0000FF"/>
                </a:solidFill>
                <a:cs typeface="Times New Roman" pitchFamily="18" charset="0"/>
              </a:rPr>
              <a:t>The alarm will sound if Grumpy is present </a:t>
            </a:r>
            <a:r>
              <a:rPr lang="en-US" sz="2400" b="1" u="sng">
                <a:solidFill>
                  <a:srgbClr val="0000FF"/>
                </a:solidFill>
                <a:cs typeface="Times New Roman" pitchFamily="18" charset="0"/>
              </a:rPr>
              <a:t>AND</a:t>
            </a:r>
            <a:r>
              <a:rPr lang="en-US" sz="2400" b="1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sz="2400" b="1" u="sng">
                <a:solidFill>
                  <a:srgbClr val="0000FF"/>
                </a:solidFill>
                <a:cs typeface="Times New Roman" pitchFamily="18" charset="0"/>
              </a:rPr>
              <a:t>NOT</a:t>
            </a:r>
            <a:r>
              <a:rPr lang="en-US" sz="2400">
                <a:solidFill>
                  <a:srgbClr val="0000FF"/>
                </a:solidFill>
                <a:cs typeface="Times New Roman" pitchFamily="18" charset="0"/>
              </a:rPr>
              <a:t> Lady, </a:t>
            </a:r>
            <a:r>
              <a:rPr lang="en-US" sz="2400" b="1" u="sng">
                <a:solidFill>
                  <a:srgbClr val="0000FF"/>
                </a:solidFill>
                <a:cs typeface="Times New Roman" pitchFamily="18" charset="0"/>
              </a:rPr>
              <a:t>OR</a:t>
            </a:r>
            <a:r>
              <a:rPr lang="en-US" sz="2400" b="1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sz="2400">
                <a:solidFill>
                  <a:srgbClr val="0000FF"/>
                </a:solidFill>
                <a:cs typeface="Times New Roman" pitchFamily="18" charset="0"/>
              </a:rPr>
              <a:t>if Showoff </a:t>
            </a:r>
            <a:r>
              <a:rPr lang="en-US" sz="2400" b="1" u="sng">
                <a:solidFill>
                  <a:srgbClr val="0000FF"/>
                </a:solidFill>
                <a:cs typeface="Times New Roman" pitchFamily="18" charset="0"/>
              </a:rPr>
              <a:t>AND</a:t>
            </a:r>
            <a:r>
              <a:rPr lang="en-US" sz="2400">
                <a:solidFill>
                  <a:srgbClr val="0000FF"/>
                </a:solidFill>
                <a:cs typeface="Times New Roman" pitchFamily="18" charset="0"/>
              </a:rPr>
              <a:t> Lady are present together.</a:t>
            </a:r>
          </a:p>
          <a:p>
            <a:pPr lvl="1"/>
            <a:endParaRPr lang="en-US" sz="2400"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6720" y="381000"/>
            <a:ext cx="8260080" cy="5181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tabLst>
                <a:tab pos="457200" algn="l"/>
              </a:tabLst>
            </a:pPr>
            <a:r>
              <a:rPr lang="en-US" sz="2800" b="1" u="sng">
                <a:solidFill>
                  <a:srgbClr val="FF0000"/>
                </a:solidFill>
              </a:rPr>
              <a:t>Step 4:  Simplify the Boolean Logic Equation</a:t>
            </a:r>
            <a:br>
              <a:rPr lang="en-US" sz="2800" b="1" u="sng">
                <a:solidFill>
                  <a:srgbClr val="FF0000"/>
                </a:solidFill>
              </a:rPr>
            </a:br>
            <a:br>
              <a:rPr lang="en-US" sz="1800"/>
            </a:br>
            <a:r>
              <a:rPr lang="en-US" sz="1800"/>
              <a:t>			</a:t>
            </a:r>
            <a:r>
              <a:rPr lang="en-US" sz="1800" b="1"/>
              <a:t>ALARM = S’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 ·</a:t>
            </a:r>
            <a:r>
              <a:rPr lang="en-US" sz="1800" b="1">
                <a:cs typeface="Times New Roman" pitchFamily="18" charset="0"/>
              </a:rPr>
              <a:t>G 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L’ </a:t>
            </a:r>
            <a:r>
              <a:rPr lang="en-US" sz="18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1800" b="1">
                <a:cs typeface="Times New Roman" pitchFamily="18" charset="0"/>
              </a:rPr>
              <a:t> S 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G’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 ·</a:t>
            </a:r>
            <a:r>
              <a:rPr lang="en-US" sz="1800" b="1">
                <a:cs typeface="Times New Roman" pitchFamily="18" charset="0"/>
              </a:rPr>
              <a:t>L </a:t>
            </a:r>
            <a:r>
              <a:rPr lang="en-US" sz="18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1800" b="1">
                <a:cs typeface="Times New Roman" pitchFamily="18" charset="0"/>
              </a:rPr>
              <a:t> S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G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L’ </a:t>
            </a:r>
            <a:r>
              <a:rPr lang="en-US" sz="18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1800" b="1">
                <a:cs typeface="Times New Roman" pitchFamily="18" charset="0"/>
              </a:rPr>
              <a:t> S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G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L</a:t>
            </a:r>
            <a:br>
              <a:rPr lang="en-US" sz="1800" b="1">
                <a:cs typeface="Times New Roman" pitchFamily="18" charset="0"/>
              </a:rPr>
            </a:br>
            <a:br>
              <a:rPr lang="en-US" sz="1800" b="1">
                <a:cs typeface="Times New Roman" pitchFamily="18" charset="0"/>
              </a:rPr>
            </a:br>
            <a:r>
              <a:rPr lang="en-US" sz="1800" b="1">
                <a:cs typeface="Times New Roman" pitchFamily="18" charset="0"/>
              </a:rPr>
              <a:t>	Rearrange to put terms with common variables together</a:t>
            </a:r>
            <a:br>
              <a:rPr lang="en-US" sz="1800" b="1">
                <a:cs typeface="Times New Roman" pitchFamily="18" charset="0"/>
              </a:rPr>
            </a:br>
            <a:br>
              <a:rPr lang="en-US" sz="1800" b="1">
                <a:cs typeface="Times New Roman" pitchFamily="18" charset="0"/>
              </a:rPr>
            </a:br>
            <a:r>
              <a:rPr lang="en-US" sz="1800" b="1"/>
              <a:t> 			ALARM = S’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 ·</a:t>
            </a:r>
            <a:r>
              <a:rPr lang="en-US" sz="1800" b="1">
                <a:cs typeface="Times New Roman" pitchFamily="18" charset="0"/>
              </a:rPr>
              <a:t>G 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L’ </a:t>
            </a:r>
            <a:r>
              <a:rPr lang="en-US" sz="18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1800" b="1">
                <a:cs typeface="Times New Roman" pitchFamily="18" charset="0"/>
              </a:rPr>
              <a:t> S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G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L’ </a:t>
            </a:r>
            <a:r>
              <a:rPr lang="en-US" sz="18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1800" b="1">
                <a:cs typeface="Times New Roman" pitchFamily="18" charset="0"/>
              </a:rPr>
              <a:t> S 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G’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 ·</a:t>
            </a:r>
            <a:r>
              <a:rPr lang="en-US" sz="1800" b="1">
                <a:cs typeface="Times New Roman" pitchFamily="18" charset="0"/>
              </a:rPr>
              <a:t>L </a:t>
            </a:r>
            <a:r>
              <a:rPr lang="en-US" sz="18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1800" b="1">
                <a:cs typeface="Times New Roman" pitchFamily="18" charset="0"/>
              </a:rPr>
              <a:t> S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G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L </a:t>
            </a:r>
            <a:br>
              <a:rPr lang="en-US" sz="1800" b="1">
                <a:cs typeface="Times New Roman" pitchFamily="18" charset="0"/>
              </a:rPr>
            </a:br>
            <a:br>
              <a:rPr lang="en-US" sz="1800" b="1">
                <a:cs typeface="Times New Roman" pitchFamily="18" charset="0"/>
              </a:rPr>
            </a:br>
            <a:r>
              <a:rPr lang="en-US" sz="1800" b="1">
                <a:cs typeface="Times New Roman" pitchFamily="18" charset="0"/>
              </a:rPr>
              <a:t>	Pull out like terms</a:t>
            </a:r>
            <a:br>
              <a:rPr lang="en-US" sz="1800" b="1">
                <a:cs typeface="Times New Roman" pitchFamily="18" charset="0"/>
              </a:rPr>
            </a:br>
            <a:br>
              <a:rPr lang="en-US" sz="1800" b="1">
                <a:cs typeface="Times New Roman" pitchFamily="18" charset="0"/>
              </a:rPr>
            </a:br>
            <a:r>
              <a:rPr lang="en-US" sz="1800" b="1"/>
              <a:t> 			ALARM = </a:t>
            </a:r>
            <a:r>
              <a:rPr lang="en-US" sz="1800" b="1">
                <a:cs typeface="Times New Roman" pitchFamily="18" charset="0"/>
              </a:rPr>
              <a:t>G 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L’(S’+S) </a:t>
            </a:r>
            <a:r>
              <a:rPr lang="en-US" sz="18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1800" b="1">
                <a:cs typeface="Times New Roman" pitchFamily="18" charset="0"/>
              </a:rPr>
              <a:t> S 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L(G’+G)</a:t>
            </a:r>
            <a:br>
              <a:rPr lang="en-US" sz="1800" b="1">
                <a:cs typeface="Times New Roman" pitchFamily="18" charset="0"/>
              </a:rPr>
            </a:br>
            <a:br>
              <a:rPr lang="en-US" sz="1800" b="1">
                <a:cs typeface="Times New Roman" pitchFamily="18" charset="0"/>
              </a:rPr>
            </a:br>
            <a:r>
              <a:rPr lang="en-US" sz="1800" b="1">
                <a:cs typeface="Times New Roman" pitchFamily="18" charset="0"/>
              </a:rPr>
              <a:t>	From Boolean Identities , recall that a + a’ = 1  (that is, a or a’ = 1)</a:t>
            </a:r>
            <a:br>
              <a:rPr lang="en-US" sz="1800" b="1">
                <a:cs typeface="Times New Roman" pitchFamily="18" charset="0"/>
              </a:rPr>
            </a:br>
            <a:r>
              <a:rPr lang="en-US" sz="1800" b="1">
                <a:cs typeface="Times New Roman" pitchFamily="18" charset="0"/>
              </a:rPr>
              <a:t>	so reduce to</a:t>
            </a:r>
          </a:p>
          <a:p>
            <a:pPr>
              <a:tabLst>
                <a:tab pos="457200" algn="l"/>
              </a:tabLst>
            </a:pPr>
            <a:r>
              <a:rPr lang="en-US" sz="1800" b="1">
                <a:cs typeface="Times New Roman" pitchFamily="18" charset="0"/>
              </a:rPr>
              <a:t> </a:t>
            </a:r>
            <a:r>
              <a:rPr lang="en-US" sz="1800" b="1"/>
              <a:t> 			ALARM = </a:t>
            </a:r>
            <a:r>
              <a:rPr lang="en-US" sz="1800" b="1">
                <a:cs typeface="Times New Roman" pitchFamily="18" charset="0"/>
              </a:rPr>
              <a:t>G 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L’(1) </a:t>
            </a:r>
            <a:r>
              <a:rPr lang="en-US" sz="1800" b="1" i="1">
                <a:solidFill>
                  <a:srgbClr val="007434"/>
                </a:solidFill>
                <a:cs typeface="Times New Roman" pitchFamily="18" charset="0"/>
              </a:rPr>
              <a:t>+</a:t>
            </a:r>
            <a:r>
              <a:rPr lang="en-US" sz="1800" b="1">
                <a:cs typeface="Times New Roman" pitchFamily="18" charset="0"/>
              </a:rPr>
              <a:t> S </a:t>
            </a:r>
            <a:r>
              <a:rPr lang="en-US" sz="1800" b="1">
                <a:solidFill>
                  <a:srgbClr val="C00000"/>
                </a:solidFill>
                <a:cs typeface="Times New Roman" pitchFamily="18" charset="0"/>
              </a:rPr>
              <a:t>·</a:t>
            </a:r>
            <a:r>
              <a:rPr lang="en-US" sz="1800" b="1">
                <a:cs typeface="Times New Roman" pitchFamily="18" charset="0"/>
              </a:rPr>
              <a:t>L(1)</a:t>
            </a:r>
            <a:br>
              <a:rPr lang="en-US" sz="1800" b="1">
                <a:cs typeface="Times New Roman" pitchFamily="18" charset="0"/>
              </a:rPr>
            </a:br>
            <a:br>
              <a:rPr lang="en-US" sz="1800" b="1">
                <a:cs typeface="Times New Roman" pitchFamily="18" charset="0"/>
              </a:rPr>
            </a:br>
            <a:r>
              <a:rPr lang="en-US" sz="1800" b="1">
                <a:cs typeface="Times New Roman" pitchFamily="18" charset="0"/>
              </a:rPr>
              <a:t>	Again, recall from Boolean Identities that a*1 = a (that is, a and 1 = a)</a:t>
            </a:r>
            <a:br>
              <a:rPr lang="en-US" sz="1800" b="1">
                <a:cs typeface="Times New Roman" pitchFamily="18" charset="0"/>
              </a:rPr>
            </a:br>
            <a:r>
              <a:rPr lang="en-US" sz="1800" b="1">
                <a:cs typeface="Times New Roman" pitchFamily="18" charset="0"/>
              </a:rPr>
              <a:t>	so reduce to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28600" y="4876800"/>
            <a:ext cx="8686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600" y="3733800"/>
            <a:ext cx="8686800" cy="99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600" y="2766391"/>
            <a:ext cx="8686800" cy="891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1600200"/>
            <a:ext cx="8686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6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2" grpId="0" animBg="1"/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9" name="Text Box 113"/>
          <p:cNvSpPr txBox="1">
            <a:spLocks noChangeArrowheads="1"/>
          </p:cNvSpPr>
          <p:nvPr/>
        </p:nvSpPr>
        <p:spPr bwMode="auto">
          <a:xfrm>
            <a:off x="6378660" y="3886200"/>
            <a:ext cx="132048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GL’+SL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7383" y="284922"/>
            <a:ext cx="7772400" cy="1143000"/>
          </a:xfrm>
        </p:spPr>
        <p:txBody>
          <a:bodyPr/>
          <a:lstStyle/>
          <a:p>
            <a:pPr algn="l"/>
            <a:r>
              <a:rPr lang="en-US" sz="2800" b="1" u="sng" kern="1200">
                <a:solidFill>
                  <a:srgbClr val="FF0000"/>
                </a:solidFill>
                <a:latin typeface="Times New Roman" pitchFamily="18" charset="0"/>
                <a:ea typeface="+mn-ea"/>
                <a:cs typeface="+mn-cs"/>
              </a:rPr>
              <a:t>Step 5:  Draw simplified circuit</a:t>
            </a:r>
            <a:br>
              <a:rPr lang="en-US" sz="2800" b="1" u="sng" kern="1200">
                <a:solidFill>
                  <a:srgbClr val="FF0000"/>
                </a:solidFill>
                <a:latin typeface="Times New Roman" pitchFamily="18" charset="0"/>
                <a:ea typeface="+mn-ea"/>
                <a:cs typeface="+mn-cs"/>
              </a:rPr>
            </a:br>
            <a:endParaRPr lang="en-US" sz="2800" b="1" u="sng" kern="1200">
              <a:solidFill>
                <a:srgbClr val="FF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540" name="AutoShape 84"/>
          <p:cNvSpPr>
            <a:spLocks noChangeArrowheads="1"/>
          </p:cNvSpPr>
          <p:nvPr/>
        </p:nvSpPr>
        <p:spPr bwMode="auto">
          <a:xfrm>
            <a:off x="3716820" y="3082925"/>
            <a:ext cx="751578" cy="609600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541" name="AutoShape 85"/>
          <p:cNvSpPr>
            <a:spLocks noChangeArrowheads="1"/>
          </p:cNvSpPr>
          <p:nvPr/>
        </p:nvSpPr>
        <p:spPr bwMode="auto">
          <a:xfrm>
            <a:off x="3716820" y="5064125"/>
            <a:ext cx="751578" cy="609600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543" name="Group 87"/>
          <p:cNvGrpSpPr>
            <a:grpSpLocks/>
          </p:cNvGrpSpPr>
          <p:nvPr/>
        </p:nvGrpSpPr>
        <p:grpSpPr bwMode="auto">
          <a:xfrm>
            <a:off x="1378576" y="2930525"/>
            <a:ext cx="918596" cy="685800"/>
            <a:chOff x="768" y="2832"/>
            <a:chExt cx="528" cy="432"/>
          </a:xfrm>
        </p:grpSpPr>
        <p:sp>
          <p:nvSpPr>
            <p:cNvPr id="19544" name="AutoShape 88"/>
            <p:cNvSpPr>
              <a:spLocks noChangeArrowheads="1"/>
            </p:cNvSpPr>
            <p:nvPr/>
          </p:nvSpPr>
          <p:spPr bwMode="auto">
            <a:xfrm>
              <a:off x="1200" y="3000"/>
              <a:ext cx="96" cy="96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45" name="AutoShape 89"/>
            <p:cNvSpPr>
              <a:spLocks noChangeArrowheads="1"/>
            </p:cNvSpPr>
            <p:nvPr/>
          </p:nvSpPr>
          <p:spPr bwMode="auto">
            <a:xfrm rot="5400000">
              <a:off x="768" y="2832"/>
              <a:ext cx="432" cy="432"/>
            </a:xfrm>
            <a:prstGeom prst="flowChartExtra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546" name="Line 90"/>
          <p:cNvSpPr>
            <a:spLocks noChangeShapeType="1"/>
          </p:cNvSpPr>
          <p:nvPr/>
        </p:nvSpPr>
        <p:spPr bwMode="auto">
          <a:xfrm>
            <a:off x="2297172" y="3267693"/>
            <a:ext cx="14196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47" name="Line 91"/>
          <p:cNvSpPr>
            <a:spLocks noChangeShapeType="1"/>
          </p:cNvSpPr>
          <p:nvPr/>
        </p:nvSpPr>
        <p:spPr bwMode="auto">
          <a:xfrm>
            <a:off x="626998" y="3276600"/>
            <a:ext cx="75157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0" name="Line 94"/>
          <p:cNvSpPr>
            <a:spLocks noChangeShapeType="1"/>
          </p:cNvSpPr>
          <p:nvPr/>
        </p:nvSpPr>
        <p:spPr bwMode="auto">
          <a:xfrm>
            <a:off x="634256" y="5521325"/>
            <a:ext cx="308256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451000" y="4419600"/>
            <a:ext cx="1336139" cy="914400"/>
            <a:chOff x="4451000" y="4419600"/>
            <a:chExt cx="1336139" cy="914400"/>
          </a:xfrm>
        </p:grpSpPr>
        <p:sp>
          <p:nvSpPr>
            <p:cNvPr id="19553" name="Line 97"/>
            <p:cNvSpPr>
              <a:spLocks noChangeShapeType="1"/>
            </p:cNvSpPr>
            <p:nvPr/>
          </p:nvSpPr>
          <p:spPr bwMode="auto">
            <a:xfrm flipV="1">
              <a:off x="4451000" y="5334000"/>
              <a:ext cx="5845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554" name="Line 98"/>
            <p:cNvSpPr>
              <a:spLocks noChangeShapeType="1"/>
            </p:cNvSpPr>
            <p:nvPr/>
          </p:nvSpPr>
          <p:spPr bwMode="auto">
            <a:xfrm flipV="1">
              <a:off x="5035561" y="4419600"/>
              <a:ext cx="7515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556" name="Line 100"/>
            <p:cNvSpPr>
              <a:spLocks noChangeShapeType="1"/>
            </p:cNvSpPr>
            <p:nvPr/>
          </p:nvSpPr>
          <p:spPr bwMode="auto">
            <a:xfrm flipH="1">
              <a:off x="5035561" y="44196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57" name="Line 101"/>
          <p:cNvSpPr>
            <a:spLocks noChangeShapeType="1"/>
          </p:cNvSpPr>
          <p:nvPr/>
        </p:nvSpPr>
        <p:spPr bwMode="auto">
          <a:xfrm>
            <a:off x="6378659" y="4297364"/>
            <a:ext cx="125384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558" name="Text Box 102"/>
          <p:cNvSpPr txBox="1">
            <a:spLocks noChangeArrowheads="1"/>
          </p:cNvSpPr>
          <p:nvPr/>
        </p:nvSpPr>
        <p:spPr bwMode="auto">
          <a:xfrm>
            <a:off x="300962" y="3048000"/>
            <a:ext cx="424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L</a:t>
            </a:r>
          </a:p>
        </p:txBody>
      </p:sp>
      <p:sp>
        <p:nvSpPr>
          <p:cNvPr id="19559" name="Text Box 103"/>
          <p:cNvSpPr txBox="1">
            <a:spLocks noChangeArrowheads="1"/>
          </p:cNvSpPr>
          <p:nvPr/>
        </p:nvSpPr>
        <p:spPr bwMode="auto">
          <a:xfrm>
            <a:off x="300962" y="3810000"/>
            <a:ext cx="461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G</a:t>
            </a:r>
          </a:p>
        </p:txBody>
      </p:sp>
      <p:sp>
        <p:nvSpPr>
          <p:cNvPr id="19560" name="Text Box 104"/>
          <p:cNvSpPr txBox="1">
            <a:spLocks noChangeArrowheads="1"/>
          </p:cNvSpPr>
          <p:nvPr/>
        </p:nvSpPr>
        <p:spPr bwMode="auto">
          <a:xfrm>
            <a:off x="300962" y="5292725"/>
            <a:ext cx="38796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S</a:t>
            </a:r>
          </a:p>
        </p:txBody>
      </p:sp>
      <p:sp>
        <p:nvSpPr>
          <p:cNvPr id="19561" name="Text Box 105"/>
          <p:cNvSpPr txBox="1">
            <a:spLocks noChangeArrowheads="1"/>
          </p:cNvSpPr>
          <p:nvPr/>
        </p:nvSpPr>
        <p:spPr bwMode="auto">
          <a:xfrm>
            <a:off x="7708703" y="4038600"/>
            <a:ext cx="105429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Alarm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451000" y="3352799"/>
            <a:ext cx="1336139" cy="838200"/>
            <a:chOff x="4451000" y="3352800"/>
            <a:chExt cx="1336139" cy="880065"/>
          </a:xfrm>
        </p:grpSpPr>
        <p:sp>
          <p:nvSpPr>
            <p:cNvPr id="19552" name="Line 96"/>
            <p:cNvSpPr>
              <a:spLocks noChangeShapeType="1"/>
            </p:cNvSpPr>
            <p:nvPr/>
          </p:nvSpPr>
          <p:spPr bwMode="auto">
            <a:xfrm flipV="1">
              <a:off x="4451000" y="3352800"/>
              <a:ext cx="5845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555" name="Line 99"/>
            <p:cNvSpPr>
              <a:spLocks noChangeShapeType="1"/>
            </p:cNvSpPr>
            <p:nvPr/>
          </p:nvSpPr>
          <p:spPr bwMode="auto">
            <a:xfrm>
              <a:off x="5035561" y="4232865"/>
              <a:ext cx="7515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562" name="Line 106"/>
            <p:cNvSpPr>
              <a:spLocks noChangeShapeType="1"/>
            </p:cNvSpPr>
            <p:nvPr/>
          </p:nvSpPr>
          <p:spPr bwMode="auto">
            <a:xfrm flipH="1">
              <a:off x="5035561" y="3352800"/>
              <a:ext cx="0" cy="8800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66" name="Text Box 110"/>
          <p:cNvSpPr txBox="1">
            <a:spLocks noChangeArrowheads="1"/>
          </p:cNvSpPr>
          <p:nvPr/>
        </p:nvSpPr>
        <p:spPr bwMode="auto">
          <a:xfrm>
            <a:off x="2362889" y="2819400"/>
            <a:ext cx="499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L’</a:t>
            </a:r>
          </a:p>
        </p:txBody>
      </p:sp>
      <p:sp>
        <p:nvSpPr>
          <p:cNvPr id="19567" name="Text Box 111"/>
          <p:cNvSpPr txBox="1">
            <a:spLocks noChangeArrowheads="1"/>
          </p:cNvSpPr>
          <p:nvPr/>
        </p:nvSpPr>
        <p:spPr bwMode="auto">
          <a:xfrm>
            <a:off x="4534509" y="2895600"/>
            <a:ext cx="74114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GL’</a:t>
            </a:r>
          </a:p>
        </p:txBody>
      </p:sp>
      <p:sp>
        <p:nvSpPr>
          <p:cNvPr id="19568" name="Text Box 112"/>
          <p:cNvSpPr txBox="1">
            <a:spLocks noChangeArrowheads="1"/>
          </p:cNvSpPr>
          <p:nvPr/>
        </p:nvSpPr>
        <p:spPr bwMode="auto">
          <a:xfrm>
            <a:off x="4480576" y="4911725"/>
            <a:ext cx="55498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SL</a:t>
            </a:r>
          </a:p>
        </p:txBody>
      </p:sp>
      <p:sp>
        <p:nvSpPr>
          <p:cNvPr id="2" name="Rectangle 1"/>
          <p:cNvSpPr/>
          <p:nvPr/>
        </p:nvSpPr>
        <p:spPr>
          <a:xfrm>
            <a:off x="3002915" y="1671935"/>
            <a:ext cx="30830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b="1"/>
              <a:t>ALARM = G</a:t>
            </a:r>
            <a:r>
              <a:rPr lang="en-US" b="1">
                <a:cs typeface="Times New Roman" pitchFamily="18" charset="0"/>
              </a:rPr>
              <a:t>·L’ + S·L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34256" y="3505200"/>
            <a:ext cx="3082564" cy="533401"/>
            <a:chOff x="634256" y="3505200"/>
            <a:chExt cx="3082564" cy="533401"/>
          </a:xfrm>
        </p:grpSpPr>
        <p:sp>
          <p:nvSpPr>
            <p:cNvPr id="19551" name="Line 95"/>
            <p:cNvSpPr>
              <a:spLocks noChangeShapeType="1"/>
            </p:cNvSpPr>
            <p:nvPr/>
          </p:nvSpPr>
          <p:spPr bwMode="auto">
            <a:xfrm>
              <a:off x="2667000" y="3505200"/>
              <a:ext cx="1049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634256" y="3505200"/>
              <a:ext cx="2042122" cy="533401"/>
              <a:chOff x="634256" y="3505200"/>
              <a:chExt cx="2042122" cy="533401"/>
            </a:xfrm>
          </p:grpSpPr>
          <p:sp>
            <p:nvSpPr>
              <p:cNvPr id="72" name="Line 106"/>
              <p:cNvSpPr>
                <a:spLocks noChangeShapeType="1"/>
              </p:cNvSpPr>
              <p:nvPr/>
            </p:nvSpPr>
            <p:spPr bwMode="auto">
              <a:xfrm>
                <a:off x="2673632" y="3505200"/>
                <a:ext cx="2746" cy="533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Line 95"/>
              <p:cNvSpPr>
                <a:spLocks noChangeShapeType="1"/>
              </p:cNvSpPr>
              <p:nvPr/>
            </p:nvSpPr>
            <p:spPr bwMode="auto">
              <a:xfrm>
                <a:off x="634256" y="4038600"/>
                <a:ext cx="2042122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9542" name="AutoShape 86"/>
          <p:cNvSpPr>
            <a:spLocks noChangeArrowheads="1"/>
          </p:cNvSpPr>
          <p:nvPr/>
        </p:nvSpPr>
        <p:spPr bwMode="auto">
          <a:xfrm flipH="1">
            <a:off x="5637520" y="3997325"/>
            <a:ext cx="741140" cy="609600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867551" y="3276600"/>
            <a:ext cx="2849268" cy="1935480"/>
            <a:chOff x="867551" y="3276600"/>
            <a:chExt cx="2849268" cy="1935480"/>
          </a:xfrm>
        </p:grpSpPr>
        <p:grpSp>
          <p:nvGrpSpPr>
            <p:cNvPr id="6" name="Group 5"/>
            <p:cNvGrpSpPr/>
            <p:nvPr/>
          </p:nvGrpSpPr>
          <p:grpSpPr>
            <a:xfrm>
              <a:off x="1008959" y="4191001"/>
              <a:ext cx="2707860" cy="1021079"/>
              <a:chOff x="1008959" y="4191001"/>
              <a:chExt cx="2707860" cy="1021079"/>
            </a:xfrm>
          </p:grpSpPr>
          <p:sp>
            <p:nvSpPr>
              <p:cNvPr id="19548" name="Line 92"/>
              <p:cNvSpPr>
                <a:spLocks noChangeShapeType="1"/>
              </p:cNvSpPr>
              <p:nvPr/>
            </p:nvSpPr>
            <p:spPr bwMode="auto">
              <a:xfrm>
                <a:off x="1008959" y="4191001"/>
                <a:ext cx="0" cy="1021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9" name="Line 93"/>
              <p:cNvSpPr>
                <a:spLocks noChangeShapeType="1"/>
              </p:cNvSpPr>
              <p:nvPr/>
            </p:nvSpPr>
            <p:spPr bwMode="auto">
              <a:xfrm>
                <a:off x="1008959" y="5212080"/>
                <a:ext cx="27078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0" name="Arc 79"/>
            <p:cNvSpPr/>
            <p:nvPr/>
          </p:nvSpPr>
          <p:spPr>
            <a:xfrm rot="5400000">
              <a:off x="864650" y="3889102"/>
              <a:ext cx="304800" cy="298997"/>
            </a:xfrm>
            <a:prstGeom prst="arc">
              <a:avLst>
                <a:gd name="adj1" fmla="val 11030811"/>
                <a:gd name="adj2" fmla="val 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81" name="Line 92"/>
            <p:cNvSpPr>
              <a:spLocks noChangeShapeType="1"/>
            </p:cNvSpPr>
            <p:nvPr/>
          </p:nvSpPr>
          <p:spPr bwMode="auto">
            <a:xfrm>
              <a:off x="1021248" y="32766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9" grpId="0"/>
      <p:bldP spid="19540" grpId="0" animBg="1"/>
      <p:bldP spid="19541" grpId="0" animBg="1"/>
      <p:bldP spid="19546" grpId="0" animBg="1"/>
      <p:bldP spid="19547" grpId="0" animBg="1"/>
      <p:bldP spid="19550" grpId="0" animBg="1"/>
      <p:bldP spid="19557" grpId="0" animBg="1"/>
      <p:bldP spid="19558" grpId="0"/>
      <p:bldP spid="19559" grpId="0"/>
      <p:bldP spid="19560" grpId="0"/>
      <p:bldP spid="19561" grpId="0"/>
      <p:bldP spid="19566" grpId="0"/>
      <p:bldP spid="19567" grpId="0"/>
      <p:bldP spid="19568" grpId="0"/>
      <p:bldP spid="195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>
                <a:solidFill>
                  <a:schemeClr val="tx2"/>
                </a:solidFill>
              </a:rPr>
              <a:t>What does this really look like?</a:t>
            </a:r>
            <a:br>
              <a:rPr lang="en-US" sz="2800">
                <a:solidFill>
                  <a:schemeClr val="tx2"/>
                </a:solidFill>
              </a:rPr>
            </a:br>
            <a:endParaRPr lang="en-US" sz="2800">
              <a:solidFill>
                <a:schemeClr val="tx2"/>
              </a:solidFill>
            </a:endParaRPr>
          </a:p>
          <a:p>
            <a:r>
              <a:rPr lang="en-US" sz="2800">
                <a:solidFill>
                  <a:schemeClr val="tx2"/>
                </a:solidFill>
              </a:rPr>
              <a:t>Need:</a:t>
            </a:r>
            <a:endParaRPr lang="en-US" sz="2400">
              <a:cs typeface="Times New Roman" pitchFamily="18" charset="0"/>
            </a:endParaRPr>
          </a:p>
          <a:p>
            <a:pPr lvl="1"/>
            <a:r>
              <a:rPr lang="en-US" sz="2400" b="1">
                <a:cs typeface="Times New Roman" pitchFamily="18" charset="0"/>
              </a:rPr>
              <a:t>NOT</a:t>
            </a:r>
            <a:r>
              <a:rPr lang="en-US" sz="2400">
                <a:cs typeface="Times New Roman" pitchFamily="18" charset="0"/>
              </a:rPr>
              <a:t> (1)</a:t>
            </a:r>
          </a:p>
          <a:p>
            <a:pPr lvl="1"/>
            <a:r>
              <a:rPr lang="en-US" sz="2400" b="1">
                <a:cs typeface="Times New Roman" pitchFamily="18" charset="0"/>
              </a:rPr>
              <a:t>AND</a:t>
            </a:r>
            <a:r>
              <a:rPr lang="en-US" sz="2400">
                <a:cs typeface="Times New Roman" pitchFamily="18" charset="0"/>
              </a:rPr>
              <a:t> (2)</a:t>
            </a:r>
          </a:p>
          <a:p>
            <a:pPr lvl="1"/>
            <a:r>
              <a:rPr lang="en-US" sz="2400" b="1">
                <a:cs typeface="Times New Roman" pitchFamily="18" charset="0"/>
              </a:rPr>
              <a:t>OR </a:t>
            </a:r>
            <a:r>
              <a:rPr lang="en-US" sz="2400">
                <a:cs typeface="Times New Roman" pitchFamily="18" charset="0"/>
              </a:rPr>
              <a:t>(1)</a:t>
            </a:r>
          </a:p>
          <a:p>
            <a:endParaRPr lang="en-US" sz="240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27383" y="284922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sz="2800" b="1" u="sng" kern="1200">
                <a:solidFill>
                  <a:srgbClr val="FF0000"/>
                </a:solidFill>
                <a:latin typeface="Times New Roman" pitchFamily="18" charset="0"/>
                <a:ea typeface="+mn-ea"/>
                <a:cs typeface="+mn-cs"/>
              </a:rPr>
              <a:t>Step 6:  Implement in Hardware</a:t>
            </a:r>
            <a:br>
              <a:rPr lang="en-US" sz="2800" b="1" u="sng" kern="1200">
                <a:solidFill>
                  <a:srgbClr val="FF0000"/>
                </a:solidFill>
                <a:latin typeface="Times New Roman" pitchFamily="18" charset="0"/>
                <a:ea typeface="+mn-ea"/>
                <a:cs typeface="+mn-cs"/>
              </a:rPr>
            </a:br>
            <a:endParaRPr lang="en-US" sz="2800" b="1" u="sng" kern="1200">
              <a:solidFill>
                <a:srgbClr val="FF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1295400" y="1143000"/>
            <a:ext cx="1219200" cy="41910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5486400" y="1143000"/>
            <a:ext cx="1098550" cy="41910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505200" y="1143000"/>
            <a:ext cx="1238080" cy="41910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51" name="Text Box 43"/>
          <p:cNvSpPr txBox="1">
            <a:spLocks noChangeArrowheads="1"/>
          </p:cNvSpPr>
          <p:nvPr/>
        </p:nvSpPr>
        <p:spPr bwMode="auto">
          <a:xfrm>
            <a:off x="1524000" y="5410200"/>
            <a:ext cx="8515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NOT</a:t>
            </a:r>
          </a:p>
        </p:txBody>
      </p:sp>
      <p:sp>
        <p:nvSpPr>
          <p:cNvPr id="43052" name="Text Box 44"/>
          <p:cNvSpPr txBox="1">
            <a:spLocks noChangeArrowheads="1"/>
          </p:cNvSpPr>
          <p:nvPr/>
        </p:nvSpPr>
        <p:spPr bwMode="auto">
          <a:xfrm>
            <a:off x="3657600" y="5410200"/>
            <a:ext cx="846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AND</a:t>
            </a:r>
          </a:p>
        </p:txBody>
      </p:sp>
      <p:sp>
        <p:nvSpPr>
          <p:cNvPr id="43053" name="Text Box 45"/>
          <p:cNvSpPr txBox="1">
            <a:spLocks noChangeArrowheads="1"/>
          </p:cNvSpPr>
          <p:nvPr/>
        </p:nvSpPr>
        <p:spPr bwMode="auto">
          <a:xfrm>
            <a:off x="5715000" y="5410200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OR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300962" y="1711325"/>
            <a:ext cx="8462038" cy="2819400"/>
            <a:chOff x="300962" y="2244725"/>
            <a:chExt cx="8462038" cy="2819400"/>
          </a:xfrm>
        </p:grpSpPr>
        <p:sp>
          <p:nvSpPr>
            <p:cNvPr id="36" name="AutoShape 84"/>
            <p:cNvSpPr>
              <a:spLocks noChangeArrowheads="1"/>
            </p:cNvSpPr>
            <p:nvPr/>
          </p:nvSpPr>
          <p:spPr bwMode="auto">
            <a:xfrm>
              <a:off x="3716820" y="2397125"/>
              <a:ext cx="751578" cy="609600"/>
            </a:xfrm>
            <a:prstGeom prst="flowChartDelay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AutoShape 85"/>
            <p:cNvSpPr>
              <a:spLocks noChangeArrowheads="1"/>
            </p:cNvSpPr>
            <p:nvPr/>
          </p:nvSpPr>
          <p:spPr bwMode="auto">
            <a:xfrm>
              <a:off x="3716820" y="4378325"/>
              <a:ext cx="751578" cy="609600"/>
            </a:xfrm>
            <a:prstGeom prst="flowChartDelay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" name="Group 87"/>
            <p:cNvGrpSpPr>
              <a:grpSpLocks/>
            </p:cNvGrpSpPr>
            <p:nvPr/>
          </p:nvGrpSpPr>
          <p:grpSpPr bwMode="auto">
            <a:xfrm>
              <a:off x="1378576" y="2244725"/>
              <a:ext cx="918596" cy="685800"/>
              <a:chOff x="768" y="2832"/>
              <a:chExt cx="528" cy="432"/>
            </a:xfrm>
          </p:grpSpPr>
          <p:sp>
            <p:nvSpPr>
              <p:cNvPr id="70" name="AutoShape 88"/>
              <p:cNvSpPr>
                <a:spLocks noChangeArrowheads="1"/>
              </p:cNvSpPr>
              <p:nvPr/>
            </p:nvSpPr>
            <p:spPr bwMode="auto">
              <a:xfrm>
                <a:off x="1200" y="3000"/>
                <a:ext cx="96" cy="96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AutoShape 89"/>
              <p:cNvSpPr>
                <a:spLocks noChangeArrowheads="1"/>
              </p:cNvSpPr>
              <p:nvPr/>
            </p:nvSpPr>
            <p:spPr bwMode="auto">
              <a:xfrm rot="5400000">
                <a:off x="768" y="2832"/>
                <a:ext cx="432" cy="432"/>
              </a:xfrm>
              <a:prstGeom prst="flowChartExtra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" name="Line 90"/>
            <p:cNvSpPr>
              <a:spLocks noChangeShapeType="1"/>
            </p:cNvSpPr>
            <p:nvPr/>
          </p:nvSpPr>
          <p:spPr bwMode="auto">
            <a:xfrm>
              <a:off x="2297172" y="2581893"/>
              <a:ext cx="1419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1"/>
            <p:cNvSpPr>
              <a:spLocks noChangeShapeType="1"/>
            </p:cNvSpPr>
            <p:nvPr/>
          </p:nvSpPr>
          <p:spPr bwMode="auto">
            <a:xfrm>
              <a:off x="626998" y="2590800"/>
              <a:ext cx="7515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94"/>
            <p:cNvSpPr>
              <a:spLocks noChangeShapeType="1"/>
            </p:cNvSpPr>
            <p:nvPr/>
          </p:nvSpPr>
          <p:spPr bwMode="auto">
            <a:xfrm>
              <a:off x="634256" y="4835525"/>
              <a:ext cx="30825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4451000" y="3733800"/>
              <a:ext cx="1336139" cy="914400"/>
              <a:chOff x="4451000" y="4419600"/>
              <a:chExt cx="1336139" cy="914400"/>
            </a:xfrm>
          </p:grpSpPr>
          <p:sp>
            <p:nvSpPr>
              <p:cNvPr id="67" name="Line 97"/>
              <p:cNvSpPr>
                <a:spLocks noChangeShapeType="1"/>
              </p:cNvSpPr>
              <p:nvPr/>
            </p:nvSpPr>
            <p:spPr bwMode="auto">
              <a:xfrm flipV="1">
                <a:off x="4451000" y="5334000"/>
                <a:ext cx="5845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Line 98"/>
              <p:cNvSpPr>
                <a:spLocks noChangeShapeType="1"/>
              </p:cNvSpPr>
              <p:nvPr/>
            </p:nvSpPr>
            <p:spPr bwMode="auto">
              <a:xfrm flipV="1">
                <a:off x="5035561" y="4419600"/>
                <a:ext cx="7515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Line 100"/>
              <p:cNvSpPr>
                <a:spLocks noChangeShapeType="1"/>
              </p:cNvSpPr>
              <p:nvPr/>
            </p:nvSpPr>
            <p:spPr bwMode="auto">
              <a:xfrm flipH="1">
                <a:off x="5035561" y="4419600"/>
                <a:ext cx="0" cy="914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" name="Line 101"/>
            <p:cNvSpPr>
              <a:spLocks noChangeShapeType="1"/>
            </p:cNvSpPr>
            <p:nvPr/>
          </p:nvSpPr>
          <p:spPr bwMode="auto">
            <a:xfrm>
              <a:off x="6378659" y="3611564"/>
              <a:ext cx="12538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Box 102"/>
            <p:cNvSpPr txBox="1">
              <a:spLocks noChangeArrowheads="1"/>
            </p:cNvSpPr>
            <p:nvPr/>
          </p:nvSpPr>
          <p:spPr bwMode="auto">
            <a:xfrm>
              <a:off x="300962" y="2362200"/>
              <a:ext cx="42450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L</a:t>
              </a:r>
            </a:p>
          </p:txBody>
        </p:sp>
        <p:sp>
          <p:nvSpPr>
            <p:cNvPr id="45" name="Text Box 103"/>
            <p:cNvSpPr txBox="1">
              <a:spLocks noChangeArrowheads="1"/>
            </p:cNvSpPr>
            <p:nvPr/>
          </p:nvSpPr>
          <p:spPr bwMode="auto">
            <a:xfrm>
              <a:off x="300962" y="3124200"/>
              <a:ext cx="4610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G</a:t>
              </a:r>
            </a:p>
          </p:txBody>
        </p:sp>
        <p:sp>
          <p:nvSpPr>
            <p:cNvPr id="46" name="Text Box 104"/>
            <p:cNvSpPr txBox="1">
              <a:spLocks noChangeArrowheads="1"/>
            </p:cNvSpPr>
            <p:nvPr/>
          </p:nvSpPr>
          <p:spPr bwMode="auto">
            <a:xfrm>
              <a:off x="300962" y="4606925"/>
              <a:ext cx="38796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S</a:t>
              </a:r>
            </a:p>
          </p:txBody>
        </p:sp>
        <p:sp>
          <p:nvSpPr>
            <p:cNvPr id="47" name="Text Box 105"/>
            <p:cNvSpPr txBox="1">
              <a:spLocks noChangeArrowheads="1"/>
            </p:cNvSpPr>
            <p:nvPr/>
          </p:nvSpPr>
          <p:spPr bwMode="auto">
            <a:xfrm>
              <a:off x="7708703" y="3352800"/>
              <a:ext cx="105429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Alarm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4451000" y="2666999"/>
              <a:ext cx="1336139" cy="838200"/>
              <a:chOff x="4451000" y="3352800"/>
              <a:chExt cx="1336139" cy="880065"/>
            </a:xfrm>
          </p:grpSpPr>
          <p:sp>
            <p:nvSpPr>
              <p:cNvPr id="64" name="Line 96"/>
              <p:cNvSpPr>
                <a:spLocks noChangeShapeType="1"/>
              </p:cNvSpPr>
              <p:nvPr/>
            </p:nvSpPr>
            <p:spPr bwMode="auto">
              <a:xfrm flipV="1">
                <a:off x="4451000" y="3352800"/>
                <a:ext cx="5845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Line 99"/>
              <p:cNvSpPr>
                <a:spLocks noChangeShapeType="1"/>
              </p:cNvSpPr>
              <p:nvPr/>
            </p:nvSpPr>
            <p:spPr bwMode="auto">
              <a:xfrm>
                <a:off x="5035561" y="4232865"/>
                <a:ext cx="7515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Line 106"/>
              <p:cNvSpPr>
                <a:spLocks noChangeShapeType="1"/>
              </p:cNvSpPr>
              <p:nvPr/>
            </p:nvSpPr>
            <p:spPr bwMode="auto">
              <a:xfrm flipH="1">
                <a:off x="5035561" y="3352800"/>
                <a:ext cx="0" cy="8800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34256" y="2819400"/>
              <a:ext cx="3082564" cy="533401"/>
              <a:chOff x="634256" y="3505200"/>
              <a:chExt cx="3082564" cy="533401"/>
            </a:xfrm>
          </p:grpSpPr>
          <p:sp>
            <p:nvSpPr>
              <p:cNvPr id="60" name="Line 95"/>
              <p:cNvSpPr>
                <a:spLocks noChangeShapeType="1"/>
              </p:cNvSpPr>
              <p:nvPr/>
            </p:nvSpPr>
            <p:spPr bwMode="auto">
              <a:xfrm>
                <a:off x="2667000" y="3505200"/>
                <a:ext cx="10498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634256" y="3505200"/>
                <a:ext cx="2042122" cy="533401"/>
                <a:chOff x="634256" y="3505200"/>
                <a:chExt cx="2042122" cy="533401"/>
              </a:xfrm>
            </p:grpSpPr>
            <p:sp>
              <p:nvSpPr>
                <p:cNvPr id="62" name="Line 106"/>
                <p:cNvSpPr>
                  <a:spLocks noChangeShapeType="1"/>
                </p:cNvSpPr>
                <p:nvPr/>
              </p:nvSpPr>
              <p:spPr bwMode="auto">
                <a:xfrm>
                  <a:off x="2673632" y="3505200"/>
                  <a:ext cx="2746" cy="53340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" name="Line 95"/>
                <p:cNvSpPr>
                  <a:spLocks noChangeShapeType="1"/>
                </p:cNvSpPr>
                <p:nvPr/>
              </p:nvSpPr>
              <p:spPr bwMode="auto">
                <a:xfrm>
                  <a:off x="634256" y="4038600"/>
                  <a:ext cx="2042122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3" name="AutoShape 86"/>
            <p:cNvSpPr>
              <a:spLocks noChangeArrowheads="1"/>
            </p:cNvSpPr>
            <p:nvPr/>
          </p:nvSpPr>
          <p:spPr bwMode="auto">
            <a:xfrm flipH="1">
              <a:off x="5637520" y="3311525"/>
              <a:ext cx="741140" cy="609600"/>
            </a:xfrm>
            <a:prstGeom prst="flowChartOnlineStora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867551" y="2590800"/>
              <a:ext cx="2849268" cy="1935480"/>
              <a:chOff x="867551" y="3276600"/>
              <a:chExt cx="2849268" cy="1935480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1008959" y="4191001"/>
                <a:ext cx="2707860" cy="1021079"/>
                <a:chOff x="1008959" y="4191001"/>
                <a:chExt cx="2707860" cy="1021079"/>
              </a:xfrm>
            </p:grpSpPr>
            <p:sp>
              <p:nvSpPr>
                <p:cNvPr id="58" name="Line 92"/>
                <p:cNvSpPr>
                  <a:spLocks noChangeShapeType="1"/>
                </p:cNvSpPr>
                <p:nvPr/>
              </p:nvSpPr>
              <p:spPr bwMode="auto">
                <a:xfrm>
                  <a:off x="1008959" y="4191001"/>
                  <a:ext cx="0" cy="1021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Line 93"/>
                <p:cNvSpPr>
                  <a:spLocks noChangeShapeType="1"/>
                </p:cNvSpPr>
                <p:nvPr/>
              </p:nvSpPr>
              <p:spPr bwMode="auto">
                <a:xfrm>
                  <a:off x="1008959" y="5212080"/>
                  <a:ext cx="27078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" name="Arc 55"/>
              <p:cNvSpPr/>
              <p:nvPr/>
            </p:nvSpPr>
            <p:spPr>
              <a:xfrm rot="5400000">
                <a:off x="864650" y="3889102"/>
                <a:ext cx="304800" cy="298997"/>
              </a:xfrm>
              <a:prstGeom prst="arc">
                <a:avLst>
                  <a:gd name="adj1" fmla="val 11030811"/>
                  <a:gd name="adj2" fmla="val 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57" name="Line 92"/>
              <p:cNvSpPr>
                <a:spLocks noChangeShapeType="1"/>
              </p:cNvSpPr>
              <p:nvPr/>
            </p:nvSpPr>
            <p:spPr bwMode="auto">
              <a:xfrm>
                <a:off x="1021248" y="3276600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5813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-3429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457200" y="609600"/>
            <a:ext cx="3284874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4400"/>
              <a:t>Chip 04</a:t>
            </a:r>
          </a:p>
          <a:p>
            <a:r>
              <a:rPr lang="en-US" sz="4400"/>
              <a:t>NOT Gate (‘)</a:t>
            </a:r>
          </a:p>
          <a:p>
            <a:endParaRPr lang="en-US" sz="4400"/>
          </a:p>
          <a:p>
            <a:r>
              <a:rPr lang="en-US" sz="4400"/>
              <a:t>Chip 08</a:t>
            </a:r>
          </a:p>
          <a:p>
            <a:r>
              <a:rPr lang="en-US" sz="4400"/>
              <a:t>AND gate (x)</a:t>
            </a:r>
          </a:p>
          <a:p>
            <a:endParaRPr lang="en-US" sz="4400"/>
          </a:p>
          <a:p>
            <a:r>
              <a:rPr lang="en-US" sz="4400"/>
              <a:t>Chip 32</a:t>
            </a:r>
          </a:p>
          <a:p>
            <a:r>
              <a:rPr lang="en-US" sz="4400"/>
              <a:t>OR gate (+)</a:t>
            </a:r>
          </a:p>
          <a:p>
            <a:endParaRPr lang="en-US" sz="4400"/>
          </a:p>
        </p:txBody>
      </p:sp>
      <p:sp>
        <p:nvSpPr>
          <p:cNvPr id="50183" name="Line 7"/>
          <p:cNvSpPr>
            <a:spLocks noChangeShapeType="1"/>
          </p:cNvSpPr>
          <p:nvPr/>
        </p:nvSpPr>
        <p:spPr bwMode="auto">
          <a:xfrm>
            <a:off x="762000" y="22860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184" name="Line 8"/>
          <p:cNvSpPr>
            <a:spLocks noChangeShapeType="1"/>
          </p:cNvSpPr>
          <p:nvPr/>
        </p:nvSpPr>
        <p:spPr bwMode="auto">
          <a:xfrm>
            <a:off x="914400" y="43434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04800"/>
            <a:ext cx="4876800" cy="5792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1371600" y="1443335"/>
            <a:ext cx="1219200" cy="41910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5562600" y="1443335"/>
            <a:ext cx="1098550" cy="41910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581400" y="1443335"/>
            <a:ext cx="1238080" cy="41910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51" name="Text Box 43"/>
          <p:cNvSpPr txBox="1">
            <a:spLocks noChangeArrowheads="1"/>
          </p:cNvSpPr>
          <p:nvPr/>
        </p:nvSpPr>
        <p:spPr bwMode="auto">
          <a:xfrm>
            <a:off x="1600200" y="5710535"/>
            <a:ext cx="8515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NOT</a:t>
            </a:r>
          </a:p>
        </p:txBody>
      </p:sp>
      <p:sp>
        <p:nvSpPr>
          <p:cNvPr id="43052" name="Text Box 44"/>
          <p:cNvSpPr txBox="1">
            <a:spLocks noChangeArrowheads="1"/>
          </p:cNvSpPr>
          <p:nvPr/>
        </p:nvSpPr>
        <p:spPr bwMode="auto">
          <a:xfrm>
            <a:off x="3733800" y="5710535"/>
            <a:ext cx="846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AND</a:t>
            </a:r>
          </a:p>
        </p:txBody>
      </p:sp>
      <p:sp>
        <p:nvSpPr>
          <p:cNvPr id="43053" name="Text Box 45"/>
          <p:cNvSpPr txBox="1">
            <a:spLocks noChangeArrowheads="1"/>
          </p:cNvSpPr>
          <p:nvPr/>
        </p:nvSpPr>
        <p:spPr bwMode="auto">
          <a:xfrm>
            <a:off x="5791200" y="5710535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OR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377162" y="2011660"/>
            <a:ext cx="8462038" cy="2819400"/>
            <a:chOff x="300962" y="2244725"/>
            <a:chExt cx="8462038" cy="2819400"/>
          </a:xfrm>
        </p:grpSpPr>
        <p:sp>
          <p:nvSpPr>
            <p:cNvPr id="36" name="AutoShape 84"/>
            <p:cNvSpPr>
              <a:spLocks noChangeArrowheads="1"/>
            </p:cNvSpPr>
            <p:nvPr/>
          </p:nvSpPr>
          <p:spPr bwMode="auto">
            <a:xfrm>
              <a:off x="3716820" y="2397125"/>
              <a:ext cx="751578" cy="609600"/>
            </a:xfrm>
            <a:prstGeom prst="flowChartDelay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AutoShape 85"/>
            <p:cNvSpPr>
              <a:spLocks noChangeArrowheads="1"/>
            </p:cNvSpPr>
            <p:nvPr/>
          </p:nvSpPr>
          <p:spPr bwMode="auto">
            <a:xfrm>
              <a:off x="3716820" y="4378325"/>
              <a:ext cx="751578" cy="609600"/>
            </a:xfrm>
            <a:prstGeom prst="flowChartDelay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" name="Group 87"/>
            <p:cNvGrpSpPr>
              <a:grpSpLocks/>
            </p:cNvGrpSpPr>
            <p:nvPr/>
          </p:nvGrpSpPr>
          <p:grpSpPr bwMode="auto">
            <a:xfrm>
              <a:off x="1378576" y="2244725"/>
              <a:ext cx="918596" cy="685800"/>
              <a:chOff x="768" y="2832"/>
              <a:chExt cx="528" cy="432"/>
            </a:xfrm>
          </p:grpSpPr>
          <p:sp>
            <p:nvSpPr>
              <p:cNvPr id="70" name="AutoShape 88"/>
              <p:cNvSpPr>
                <a:spLocks noChangeArrowheads="1"/>
              </p:cNvSpPr>
              <p:nvPr/>
            </p:nvSpPr>
            <p:spPr bwMode="auto">
              <a:xfrm>
                <a:off x="1200" y="3000"/>
                <a:ext cx="96" cy="96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AutoShape 89"/>
              <p:cNvSpPr>
                <a:spLocks noChangeArrowheads="1"/>
              </p:cNvSpPr>
              <p:nvPr/>
            </p:nvSpPr>
            <p:spPr bwMode="auto">
              <a:xfrm rot="5400000">
                <a:off x="768" y="2832"/>
                <a:ext cx="432" cy="432"/>
              </a:xfrm>
              <a:prstGeom prst="flowChartExtra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" name="Line 90"/>
            <p:cNvSpPr>
              <a:spLocks noChangeShapeType="1"/>
            </p:cNvSpPr>
            <p:nvPr/>
          </p:nvSpPr>
          <p:spPr bwMode="auto">
            <a:xfrm>
              <a:off x="2297172" y="2581893"/>
              <a:ext cx="1419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1"/>
            <p:cNvSpPr>
              <a:spLocks noChangeShapeType="1"/>
            </p:cNvSpPr>
            <p:nvPr/>
          </p:nvSpPr>
          <p:spPr bwMode="auto">
            <a:xfrm>
              <a:off x="626998" y="2590800"/>
              <a:ext cx="7515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94"/>
            <p:cNvSpPr>
              <a:spLocks noChangeShapeType="1"/>
            </p:cNvSpPr>
            <p:nvPr/>
          </p:nvSpPr>
          <p:spPr bwMode="auto">
            <a:xfrm>
              <a:off x="634256" y="4835525"/>
              <a:ext cx="30825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4451000" y="3733800"/>
              <a:ext cx="1336139" cy="914400"/>
              <a:chOff x="4451000" y="4419600"/>
              <a:chExt cx="1336139" cy="914400"/>
            </a:xfrm>
          </p:grpSpPr>
          <p:sp>
            <p:nvSpPr>
              <p:cNvPr id="67" name="Line 97"/>
              <p:cNvSpPr>
                <a:spLocks noChangeShapeType="1"/>
              </p:cNvSpPr>
              <p:nvPr/>
            </p:nvSpPr>
            <p:spPr bwMode="auto">
              <a:xfrm flipV="1">
                <a:off x="4451000" y="5334000"/>
                <a:ext cx="5845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Line 98"/>
              <p:cNvSpPr>
                <a:spLocks noChangeShapeType="1"/>
              </p:cNvSpPr>
              <p:nvPr/>
            </p:nvSpPr>
            <p:spPr bwMode="auto">
              <a:xfrm flipV="1">
                <a:off x="5035561" y="4419600"/>
                <a:ext cx="7515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Line 100"/>
              <p:cNvSpPr>
                <a:spLocks noChangeShapeType="1"/>
              </p:cNvSpPr>
              <p:nvPr/>
            </p:nvSpPr>
            <p:spPr bwMode="auto">
              <a:xfrm flipH="1">
                <a:off x="5035561" y="4419600"/>
                <a:ext cx="0" cy="914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" name="Line 101"/>
            <p:cNvSpPr>
              <a:spLocks noChangeShapeType="1"/>
            </p:cNvSpPr>
            <p:nvPr/>
          </p:nvSpPr>
          <p:spPr bwMode="auto">
            <a:xfrm>
              <a:off x="6378659" y="3611564"/>
              <a:ext cx="12538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Box 102"/>
            <p:cNvSpPr txBox="1">
              <a:spLocks noChangeArrowheads="1"/>
            </p:cNvSpPr>
            <p:nvPr/>
          </p:nvSpPr>
          <p:spPr bwMode="auto">
            <a:xfrm>
              <a:off x="300962" y="2362200"/>
              <a:ext cx="42450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L</a:t>
              </a:r>
            </a:p>
          </p:txBody>
        </p:sp>
        <p:sp>
          <p:nvSpPr>
            <p:cNvPr id="45" name="Text Box 103"/>
            <p:cNvSpPr txBox="1">
              <a:spLocks noChangeArrowheads="1"/>
            </p:cNvSpPr>
            <p:nvPr/>
          </p:nvSpPr>
          <p:spPr bwMode="auto">
            <a:xfrm>
              <a:off x="300962" y="3124200"/>
              <a:ext cx="4610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G</a:t>
              </a:r>
            </a:p>
          </p:txBody>
        </p:sp>
        <p:sp>
          <p:nvSpPr>
            <p:cNvPr id="46" name="Text Box 104"/>
            <p:cNvSpPr txBox="1">
              <a:spLocks noChangeArrowheads="1"/>
            </p:cNvSpPr>
            <p:nvPr/>
          </p:nvSpPr>
          <p:spPr bwMode="auto">
            <a:xfrm>
              <a:off x="300962" y="4606925"/>
              <a:ext cx="38796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S</a:t>
              </a:r>
            </a:p>
          </p:txBody>
        </p:sp>
        <p:sp>
          <p:nvSpPr>
            <p:cNvPr id="47" name="Text Box 105"/>
            <p:cNvSpPr txBox="1">
              <a:spLocks noChangeArrowheads="1"/>
            </p:cNvSpPr>
            <p:nvPr/>
          </p:nvSpPr>
          <p:spPr bwMode="auto">
            <a:xfrm>
              <a:off x="7708703" y="3352800"/>
              <a:ext cx="105429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Alarm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4451000" y="2666999"/>
              <a:ext cx="1336139" cy="838200"/>
              <a:chOff x="4451000" y="3352800"/>
              <a:chExt cx="1336139" cy="880065"/>
            </a:xfrm>
          </p:grpSpPr>
          <p:sp>
            <p:nvSpPr>
              <p:cNvPr id="64" name="Line 96"/>
              <p:cNvSpPr>
                <a:spLocks noChangeShapeType="1"/>
              </p:cNvSpPr>
              <p:nvPr/>
            </p:nvSpPr>
            <p:spPr bwMode="auto">
              <a:xfrm flipV="1">
                <a:off x="4451000" y="3352800"/>
                <a:ext cx="5845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Line 99"/>
              <p:cNvSpPr>
                <a:spLocks noChangeShapeType="1"/>
              </p:cNvSpPr>
              <p:nvPr/>
            </p:nvSpPr>
            <p:spPr bwMode="auto">
              <a:xfrm>
                <a:off x="5035561" y="4232865"/>
                <a:ext cx="7515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Line 106"/>
              <p:cNvSpPr>
                <a:spLocks noChangeShapeType="1"/>
              </p:cNvSpPr>
              <p:nvPr/>
            </p:nvSpPr>
            <p:spPr bwMode="auto">
              <a:xfrm flipH="1">
                <a:off x="5035561" y="3352800"/>
                <a:ext cx="0" cy="8800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34256" y="2819400"/>
              <a:ext cx="3082564" cy="533401"/>
              <a:chOff x="634256" y="3505200"/>
              <a:chExt cx="3082564" cy="533401"/>
            </a:xfrm>
          </p:grpSpPr>
          <p:sp>
            <p:nvSpPr>
              <p:cNvPr id="60" name="Line 95"/>
              <p:cNvSpPr>
                <a:spLocks noChangeShapeType="1"/>
              </p:cNvSpPr>
              <p:nvPr/>
            </p:nvSpPr>
            <p:spPr bwMode="auto">
              <a:xfrm>
                <a:off x="2667000" y="3505200"/>
                <a:ext cx="10498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634256" y="3505200"/>
                <a:ext cx="2042122" cy="533401"/>
                <a:chOff x="634256" y="3505200"/>
                <a:chExt cx="2042122" cy="533401"/>
              </a:xfrm>
            </p:grpSpPr>
            <p:sp>
              <p:nvSpPr>
                <p:cNvPr id="62" name="Line 106"/>
                <p:cNvSpPr>
                  <a:spLocks noChangeShapeType="1"/>
                </p:cNvSpPr>
                <p:nvPr/>
              </p:nvSpPr>
              <p:spPr bwMode="auto">
                <a:xfrm>
                  <a:off x="2673632" y="3505200"/>
                  <a:ext cx="2746" cy="53340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" name="Line 95"/>
                <p:cNvSpPr>
                  <a:spLocks noChangeShapeType="1"/>
                </p:cNvSpPr>
                <p:nvPr/>
              </p:nvSpPr>
              <p:spPr bwMode="auto">
                <a:xfrm>
                  <a:off x="634256" y="4038600"/>
                  <a:ext cx="2042122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3" name="AutoShape 86"/>
            <p:cNvSpPr>
              <a:spLocks noChangeArrowheads="1"/>
            </p:cNvSpPr>
            <p:nvPr/>
          </p:nvSpPr>
          <p:spPr bwMode="auto">
            <a:xfrm flipH="1">
              <a:off x="5637520" y="3311525"/>
              <a:ext cx="741140" cy="609600"/>
            </a:xfrm>
            <a:prstGeom prst="flowChartOnlineStora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867551" y="2590800"/>
              <a:ext cx="2849268" cy="1935480"/>
              <a:chOff x="867551" y="3276600"/>
              <a:chExt cx="2849268" cy="1935480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1008959" y="4191001"/>
                <a:ext cx="2707860" cy="1021079"/>
                <a:chOff x="1008959" y="4191001"/>
                <a:chExt cx="2707860" cy="1021079"/>
              </a:xfrm>
            </p:grpSpPr>
            <p:sp>
              <p:nvSpPr>
                <p:cNvPr id="58" name="Line 92"/>
                <p:cNvSpPr>
                  <a:spLocks noChangeShapeType="1"/>
                </p:cNvSpPr>
                <p:nvPr/>
              </p:nvSpPr>
              <p:spPr bwMode="auto">
                <a:xfrm>
                  <a:off x="1008959" y="4191001"/>
                  <a:ext cx="0" cy="1021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Line 93"/>
                <p:cNvSpPr>
                  <a:spLocks noChangeShapeType="1"/>
                </p:cNvSpPr>
                <p:nvPr/>
              </p:nvSpPr>
              <p:spPr bwMode="auto">
                <a:xfrm>
                  <a:off x="1008959" y="5212080"/>
                  <a:ext cx="27078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" name="Arc 55"/>
              <p:cNvSpPr/>
              <p:nvPr/>
            </p:nvSpPr>
            <p:spPr>
              <a:xfrm rot="5400000">
                <a:off x="864650" y="3889102"/>
                <a:ext cx="304800" cy="298997"/>
              </a:xfrm>
              <a:prstGeom prst="arc">
                <a:avLst>
                  <a:gd name="adj1" fmla="val 11030811"/>
                  <a:gd name="adj2" fmla="val 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57" name="Line 92"/>
              <p:cNvSpPr>
                <a:spLocks noChangeShapeType="1"/>
              </p:cNvSpPr>
              <p:nvPr/>
            </p:nvSpPr>
            <p:spPr bwMode="auto">
              <a:xfrm>
                <a:off x="1021248" y="3276600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pPr algn="l"/>
            <a:r>
              <a:rPr lang="en-US" sz="2800"/>
              <a:t>We should adjust our diagram to show pin numbers</a:t>
            </a:r>
          </a:p>
        </p:txBody>
      </p:sp>
      <p:sp>
        <p:nvSpPr>
          <p:cNvPr id="50" name="Oval 30"/>
          <p:cNvSpPr>
            <a:spLocks noChangeArrowheads="1"/>
          </p:cNvSpPr>
          <p:nvPr/>
        </p:nvSpPr>
        <p:spPr bwMode="auto">
          <a:xfrm>
            <a:off x="1149975" y="2044028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1" name="Oval 31"/>
          <p:cNvSpPr>
            <a:spLocks noChangeArrowheads="1"/>
          </p:cNvSpPr>
          <p:nvPr/>
        </p:nvSpPr>
        <p:spPr bwMode="auto">
          <a:xfrm>
            <a:off x="2445032" y="2044028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72" name="Oval 32"/>
          <p:cNvSpPr>
            <a:spLocks noChangeArrowheads="1"/>
          </p:cNvSpPr>
          <p:nvPr/>
        </p:nvSpPr>
        <p:spPr bwMode="auto">
          <a:xfrm>
            <a:off x="3429000" y="2023284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3" name="Oval 33"/>
          <p:cNvSpPr>
            <a:spLocks noChangeArrowheads="1"/>
          </p:cNvSpPr>
          <p:nvPr/>
        </p:nvSpPr>
        <p:spPr bwMode="auto">
          <a:xfrm>
            <a:off x="3429000" y="2586335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74" name="Oval 34"/>
          <p:cNvSpPr>
            <a:spLocks noChangeArrowheads="1"/>
          </p:cNvSpPr>
          <p:nvPr/>
        </p:nvSpPr>
        <p:spPr bwMode="auto">
          <a:xfrm>
            <a:off x="3423834" y="3964393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75" name="Oval 35"/>
          <p:cNvSpPr>
            <a:spLocks noChangeArrowheads="1"/>
          </p:cNvSpPr>
          <p:nvPr/>
        </p:nvSpPr>
        <p:spPr bwMode="auto">
          <a:xfrm>
            <a:off x="3429000" y="4602460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76" name="Oval 36"/>
          <p:cNvSpPr>
            <a:spLocks noChangeArrowheads="1"/>
          </p:cNvSpPr>
          <p:nvPr/>
        </p:nvSpPr>
        <p:spPr bwMode="auto">
          <a:xfrm>
            <a:off x="5408920" y="2967334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7" name="Oval 37"/>
          <p:cNvSpPr>
            <a:spLocks noChangeArrowheads="1"/>
          </p:cNvSpPr>
          <p:nvPr/>
        </p:nvSpPr>
        <p:spPr bwMode="auto">
          <a:xfrm>
            <a:off x="5408920" y="3503318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78" name="Oval 38"/>
          <p:cNvSpPr>
            <a:spLocks noChangeArrowheads="1"/>
          </p:cNvSpPr>
          <p:nvPr/>
        </p:nvSpPr>
        <p:spPr bwMode="auto">
          <a:xfrm>
            <a:off x="6508750" y="3073699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79" name="Oval 39"/>
          <p:cNvSpPr>
            <a:spLocks noChangeArrowheads="1"/>
          </p:cNvSpPr>
          <p:nvPr/>
        </p:nvSpPr>
        <p:spPr bwMode="auto">
          <a:xfrm>
            <a:off x="4667080" y="2124669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91" name="Oval 40"/>
          <p:cNvSpPr>
            <a:spLocks noChangeArrowheads="1"/>
          </p:cNvSpPr>
          <p:nvPr/>
        </p:nvSpPr>
        <p:spPr bwMode="auto">
          <a:xfrm>
            <a:off x="4667080" y="4110335"/>
            <a:ext cx="3048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6894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-3429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37" t="73670"/>
          <a:stretch>
            <a:fillRect/>
          </a:stretch>
        </p:blipFill>
        <p:spPr bwMode="auto">
          <a:xfrm>
            <a:off x="3124200" y="4572000"/>
            <a:ext cx="3124200" cy="1525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37" t="40782" r="10937" b="31592"/>
          <a:stretch>
            <a:fillRect/>
          </a:stretch>
        </p:blipFill>
        <p:spPr bwMode="auto">
          <a:xfrm>
            <a:off x="3048000" y="2362200"/>
            <a:ext cx="25908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5" t="7893" r="6250" b="63165"/>
          <a:stretch>
            <a:fillRect/>
          </a:stretch>
        </p:blipFill>
        <p:spPr bwMode="auto">
          <a:xfrm>
            <a:off x="2895600" y="381000"/>
            <a:ext cx="2895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Straight Connector 9"/>
          <p:cNvCxnSpPr/>
          <p:nvPr/>
        </p:nvCxnSpPr>
        <p:spPr>
          <a:xfrm rot="10800000">
            <a:off x="1905000" y="533400"/>
            <a:ext cx="175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00200" y="304800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</a:t>
            </a:r>
          </a:p>
        </p:txBody>
      </p:sp>
      <p:cxnSp>
        <p:nvCxnSpPr>
          <p:cNvPr id="13" name="Straight Connector 12"/>
          <p:cNvCxnSpPr/>
          <p:nvPr/>
        </p:nvCxnSpPr>
        <p:spPr>
          <a:xfrm rot="10800000">
            <a:off x="2819400" y="76200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1943100" y="1638300"/>
            <a:ext cx="175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819400" y="251460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38400" y="762000"/>
            <a:ext cx="446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L’</a:t>
            </a:r>
          </a:p>
        </p:txBody>
      </p:sp>
      <p:cxnSp>
        <p:nvCxnSpPr>
          <p:cNvPr id="20" name="Straight Connector 19"/>
          <p:cNvCxnSpPr/>
          <p:nvPr/>
        </p:nvCxnSpPr>
        <p:spPr>
          <a:xfrm rot="16200000" flipH="1">
            <a:off x="751332" y="1839468"/>
            <a:ext cx="2621280" cy="9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066544" y="3163824"/>
            <a:ext cx="1676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0800000">
            <a:off x="1752600" y="3352800"/>
            <a:ext cx="19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47800" y="312420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10800000" flipV="1">
            <a:off x="2121408" y="2743200"/>
            <a:ext cx="1612392" cy="9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71600" y="243840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</a:t>
            </a:r>
          </a:p>
        </p:txBody>
      </p:sp>
      <p:cxnSp>
        <p:nvCxnSpPr>
          <p:cNvPr id="30" name="Straight Connector 29"/>
          <p:cNvCxnSpPr/>
          <p:nvPr/>
        </p:nvCxnSpPr>
        <p:spPr>
          <a:xfrm rot="10800000">
            <a:off x="2743200" y="2971800"/>
            <a:ext cx="99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>
            <a:off x="2670571" y="3039666"/>
            <a:ext cx="142879" cy="2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733675" y="4895850"/>
            <a:ext cx="1079373" cy="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0800000" flipV="1">
            <a:off x="3074194" y="3581399"/>
            <a:ext cx="659606" cy="2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>
            <a:off x="2512839" y="4143423"/>
            <a:ext cx="1118521" cy="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3069431" y="4702970"/>
            <a:ext cx="733425" cy="2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10800000">
            <a:off x="1981200" y="51054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38200" y="4724400"/>
            <a:ext cx="13326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GL’ + SL</a:t>
            </a:r>
          </a:p>
          <a:p>
            <a:r>
              <a:rPr lang="en-US">
                <a:solidFill>
                  <a:srgbClr val="FF0000"/>
                </a:solidFill>
              </a:rPr>
              <a:t>ALARM</a:t>
            </a:r>
          </a:p>
        </p:txBody>
      </p:sp>
      <p:sp>
        <p:nvSpPr>
          <p:cNvPr id="53" name="Block Arc 52"/>
          <p:cNvSpPr/>
          <p:nvPr/>
        </p:nvSpPr>
        <p:spPr>
          <a:xfrm rot="16650812">
            <a:off x="2691925" y="3010900"/>
            <a:ext cx="109972" cy="304800"/>
          </a:xfrm>
          <a:prstGeom prst="blockArc">
            <a:avLst>
              <a:gd name="adj1" fmla="val 10800000"/>
              <a:gd name="adj2" fmla="val 20412065"/>
              <a:gd name="adj3" fmla="val 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Block Arc 53"/>
          <p:cNvSpPr/>
          <p:nvPr/>
        </p:nvSpPr>
        <p:spPr>
          <a:xfrm rot="16650812">
            <a:off x="2691925" y="3208544"/>
            <a:ext cx="109972" cy="304800"/>
          </a:xfrm>
          <a:prstGeom prst="blockArc">
            <a:avLst>
              <a:gd name="adj1" fmla="val 10800000"/>
              <a:gd name="adj2" fmla="val 20412065"/>
              <a:gd name="adj3" fmla="val 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8" name="Straight Connector 57"/>
          <p:cNvCxnSpPr>
            <a:stCxn id="53" idx="0"/>
            <a:endCxn id="54" idx="1"/>
          </p:cNvCxnSpPr>
          <p:nvPr/>
        </p:nvCxnSpPr>
        <p:spPr>
          <a:xfrm flipH="1">
            <a:off x="2738438" y="3217691"/>
            <a:ext cx="1299" cy="92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4" idx="0"/>
          </p:cNvCxnSpPr>
          <p:nvPr/>
        </p:nvCxnSpPr>
        <p:spPr>
          <a:xfrm flipH="1">
            <a:off x="2733675" y="3415335"/>
            <a:ext cx="6062" cy="1485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Block Arc 67"/>
          <p:cNvSpPr/>
          <p:nvPr/>
        </p:nvSpPr>
        <p:spPr>
          <a:xfrm rot="22140000">
            <a:off x="2009199" y="2592627"/>
            <a:ext cx="109972" cy="304800"/>
          </a:xfrm>
          <a:prstGeom prst="blockArc">
            <a:avLst>
              <a:gd name="adj1" fmla="val 10800000"/>
              <a:gd name="adj2" fmla="val 20412065"/>
              <a:gd name="adj3" fmla="val 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 rot="10800000">
            <a:off x="1676400" y="2743200"/>
            <a:ext cx="332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162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-3429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37" t="73670"/>
          <a:stretch>
            <a:fillRect/>
          </a:stretch>
        </p:blipFill>
        <p:spPr bwMode="auto">
          <a:xfrm>
            <a:off x="3124200" y="4572000"/>
            <a:ext cx="3124200" cy="1525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37" t="40782" r="10937" b="31592"/>
          <a:stretch>
            <a:fillRect/>
          </a:stretch>
        </p:blipFill>
        <p:spPr bwMode="auto">
          <a:xfrm>
            <a:off x="3048000" y="2362200"/>
            <a:ext cx="25908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5" t="7893" r="6250" b="63165"/>
          <a:stretch>
            <a:fillRect/>
          </a:stretch>
        </p:blipFill>
        <p:spPr bwMode="auto">
          <a:xfrm>
            <a:off x="2895600" y="381000"/>
            <a:ext cx="2895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Straight Connector 9"/>
          <p:cNvCxnSpPr/>
          <p:nvPr/>
        </p:nvCxnSpPr>
        <p:spPr>
          <a:xfrm rot="10800000">
            <a:off x="1905000" y="533400"/>
            <a:ext cx="175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00200" y="304800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</a:t>
            </a:r>
          </a:p>
        </p:txBody>
      </p:sp>
      <p:cxnSp>
        <p:nvCxnSpPr>
          <p:cNvPr id="13" name="Straight Connector 12"/>
          <p:cNvCxnSpPr/>
          <p:nvPr/>
        </p:nvCxnSpPr>
        <p:spPr>
          <a:xfrm rot="10800000">
            <a:off x="2819400" y="76200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1943100" y="1638300"/>
            <a:ext cx="175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819400" y="251460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38400" y="762000"/>
            <a:ext cx="446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L’</a:t>
            </a:r>
          </a:p>
        </p:txBody>
      </p:sp>
      <p:cxnSp>
        <p:nvCxnSpPr>
          <p:cNvPr id="20" name="Straight Connector 19"/>
          <p:cNvCxnSpPr/>
          <p:nvPr/>
        </p:nvCxnSpPr>
        <p:spPr>
          <a:xfrm rot="16200000" flipH="1">
            <a:off x="751332" y="1839468"/>
            <a:ext cx="2621280" cy="9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066544" y="3163824"/>
            <a:ext cx="1676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0800000">
            <a:off x="1752600" y="3352800"/>
            <a:ext cx="19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47800" y="312420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10800000" flipV="1">
            <a:off x="2121408" y="2743200"/>
            <a:ext cx="1612392" cy="9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71600" y="243840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</a:t>
            </a:r>
          </a:p>
        </p:txBody>
      </p:sp>
      <p:cxnSp>
        <p:nvCxnSpPr>
          <p:cNvPr id="30" name="Straight Connector 29"/>
          <p:cNvCxnSpPr/>
          <p:nvPr/>
        </p:nvCxnSpPr>
        <p:spPr>
          <a:xfrm rot="10800000">
            <a:off x="2743200" y="2971800"/>
            <a:ext cx="99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>
            <a:off x="2670571" y="3039666"/>
            <a:ext cx="142879" cy="2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733675" y="4895850"/>
            <a:ext cx="1079373" cy="5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0800000" flipV="1">
            <a:off x="3074194" y="3581399"/>
            <a:ext cx="659606" cy="2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>
            <a:off x="2512839" y="4143423"/>
            <a:ext cx="1118521" cy="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3069431" y="4702970"/>
            <a:ext cx="733425" cy="2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10800000">
            <a:off x="1981200" y="51054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38200" y="4724400"/>
            <a:ext cx="13326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GL’ + SL</a:t>
            </a:r>
          </a:p>
          <a:p>
            <a:r>
              <a:rPr lang="en-US">
                <a:solidFill>
                  <a:srgbClr val="FF0000"/>
                </a:solidFill>
              </a:rPr>
              <a:t>ALARM</a:t>
            </a:r>
          </a:p>
        </p:txBody>
      </p:sp>
      <p:sp>
        <p:nvSpPr>
          <p:cNvPr id="53" name="Block Arc 52"/>
          <p:cNvSpPr/>
          <p:nvPr/>
        </p:nvSpPr>
        <p:spPr>
          <a:xfrm rot="16650812">
            <a:off x="2691925" y="3010900"/>
            <a:ext cx="109972" cy="304800"/>
          </a:xfrm>
          <a:prstGeom prst="blockArc">
            <a:avLst>
              <a:gd name="adj1" fmla="val 10800000"/>
              <a:gd name="adj2" fmla="val 20412065"/>
              <a:gd name="adj3" fmla="val 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Block Arc 53"/>
          <p:cNvSpPr/>
          <p:nvPr/>
        </p:nvSpPr>
        <p:spPr>
          <a:xfrm rot="16650812">
            <a:off x="2691925" y="3208544"/>
            <a:ext cx="109972" cy="304800"/>
          </a:xfrm>
          <a:prstGeom prst="blockArc">
            <a:avLst>
              <a:gd name="adj1" fmla="val 10800000"/>
              <a:gd name="adj2" fmla="val 20412065"/>
              <a:gd name="adj3" fmla="val 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8" name="Straight Connector 57"/>
          <p:cNvCxnSpPr>
            <a:stCxn id="53" idx="0"/>
            <a:endCxn id="54" idx="1"/>
          </p:cNvCxnSpPr>
          <p:nvPr/>
        </p:nvCxnSpPr>
        <p:spPr>
          <a:xfrm flipH="1">
            <a:off x="2738438" y="3217691"/>
            <a:ext cx="1299" cy="92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54" idx="0"/>
          </p:cNvCxnSpPr>
          <p:nvPr/>
        </p:nvCxnSpPr>
        <p:spPr>
          <a:xfrm flipH="1">
            <a:off x="2733675" y="3415335"/>
            <a:ext cx="6062" cy="14852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Block Arc 67"/>
          <p:cNvSpPr/>
          <p:nvPr/>
        </p:nvSpPr>
        <p:spPr>
          <a:xfrm rot="22140000">
            <a:off x="2009199" y="2592627"/>
            <a:ext cx="109972" cy="304800"/>
          </a:xfrm>
          <a:prstGeom prst="blockArc">
            <a:avLst>
              <a:gd name="adj1" fmla="val 10800000"/>
              <a:gd name="adj2" fmla="val 20412065"/>
              <a:gd name="adj3" fmla="val 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 rot="10800000">
            <a:off x="1676400" y="2743200"/>
            <a:ext cx="332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85800"/>
            <a:ext cx="1752600" cy="1676400"/>
          </a:xfrm>
        </p:spPr>
        <p:txBody>
          <a:bodyPr/>
          <a:lstStyle/>
          <a:p>
            <a:pPr algn="l"/>
            <a:r>
              <a:rPr lang="en-US" sz="2000"/>
              <a:t>We should adjust our diagram to show pin numbers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3800" y="440323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3800" y="6858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800" y="9144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3800" y="11430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3800" y="13716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3800" y="1583323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8200" y="1295400"/>
            <a:ext cx="65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endParaRPr lang="en-US" sz="1100"/>
          </a:p>
        </p:txBody>
      </p:sp>
      <p:sp>
        <p:nvSpPr>
          <p:cNvPr id="49" name="TextBox 48"/>
          <p:cNvSpPr txBox="1"/>
          <p:nvPr/>
        </p:nvSpPr>
        <p:spPr>
          <a:xfrm>
            <a:off x="3810000" y="23622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0000" y="25908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0000" y="28194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0000" y="30480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10000" y="32766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0000" y="3488323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91868" y="45720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91868" y="48006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91868" y="50292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91868" y="52578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91868" y="5486400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91868" y="5698123"/>
            <a:ext cx="70532" cy="169277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74143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4156-97C8-E6B1-9B63-AE4B75C55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5510D-B760-D79A-820E-FC47D5845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400" b="0" i="0">
                <a:effectLst/>
                <a:latin typeface="-apple-system"/>
              </a:rPr>
              <a:t>When you get stuck, try on your own (in your group) to figure out what’s wrong.</a:t>
            </a:r>
          </a:p>
          <a:p>
            <a:pPr algn="l"/>
            <a:r>
              <a:rPr lang="en-US" sz="2400" b="0" i="0">
                <a:effectLst/>
                <a:latin typeface="-apple-system"/>
              </a:rPr>
              <a:t>In the context of this course, it is always safe to connect a multimeter in volt mode.</a:t>
            </a:r>
          </a:p>
          <a:p>
            <a:pPr algn="l"/>
            <a:r>
              <a:rPr lang="en-US" sz="2400" b="0" i="0">
                <a:effectLst/>
                <a:latin typeface="-apple-system"/>
              </a:rPr>
              <a:t>The simplest thing to do is check voltages down the chain of your circuit to see whether it matches your expectation.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-apple-system"/>
              </a:rPr>
              <a:t>power supply providing 5V/ground?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-apple-system"/>
              </a:rPr>
              <a:t>breadboard rails providing 5V/ground?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-apple-system"/>
              </a:rPr>
              <a:t>circuit inputs?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-apple-system"/>
              </a:rPr>
              <a:t>intermediate connections?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-apple-system"/>
              </a:rPr>
              <a:t>circuit output?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69632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3C44-8F69-0F8B-3924-D203D1DD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Breadboard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0763FD-74FF-5327-D10E-B0E4436D9A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01638"/>
            <a:ext cx="7086600" cy="528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180383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C093-B27F-2E39-BDA7-32DE76D9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Gates</a:t>
            </a:r>
          </a:p>
        </p:txBody>
      </p:sp>
      <p:pic>
        <p:nvPicPr>
          <p:cNvPr id="5" name="Content Placeholder 4" descr="A diagram of a circuit board&#10;&#10;Description automatically generated">
            <a:extLst>
              <a:ext uri="{FF2B5EF4-FFF2-40B4-BE49-F238E27FC236}">
                <a16:creationId xmlns:a16="http://schemas.microsoft.com/office/drawing/2014/main" id="{182FE2D3-AC0A-A637-F06D-638F0EB68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98" y="2514600"/>
            <a:ext cx="7674603" cy="3294909"/>
          </a:xfrm>
        </p:spPr>
      </p:pic>
    </p:spTree>
    <p:extLst>
      <p:ext uri="{BB962C8B-B14F-4D97-AF65-F5344CB8AC3E}">
        <p14:creationId xmlns:p14="http://schemas.microsoft.com/office/powerpoint/2010/main" val="2012590060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FB12AD-D38A-4D07-8971-F3A27B46400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E4D8E05-AE77-408D-98A6-E99EC3D083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78A6BA-7885-4A3C-AAF1-205492CF6C9B}"/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25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Default Design</vt:lpstr>
      <vt:lpstr>1_Default Design</vt:lpstr>
      <vt:lpstr>Digital Logic/Breadboard</vt:lpstr>
      <vt:lpstr>Boolean Logic </vt:lpstr>
      <vt:lpstr>Digital Logic Gates</vt:lpstr>
      <vt:lpstr>Digital Logic Gates</vt:lpstr>
      <vt:lpstr>Digital Logic Gates</vt:lpstr>
      <vt:lpstr>Boolean Algebra</vt:lpstr>
      <vt:lpstr>Combinations and Simplifications (using Boolean Algebra) </vt:lpstr>
      <vt:lpstr>Logic Circuit Example Problem</vt:lpstr>
      <vt:lpstr>PowerPoint Presentation</vt:lpstr>
      <vt:lpstr>PowerPoint Presentation</vt:lpstr>
      <vt:lpstr>PowerPoint Presentation</vt:lpstr>
      <vt:lpstr>Step 3:  Write the Logic Equation from Truth Table - Use only those inputs where the alarm goes off… where the answer is SILENT ALARM = 1 (ON) </vt:lpstr>
      <vt:lpstr>Step 3:  Write the Logic Equation from Truth Table - use only those inputs where the alarm goes off… where the answer is SILENT ALARM = 1 (ON) </vt:lpstr>
      <vt:lpstr>PowerPoint Presentation</vt:lpstr>
      <vt:lpstr>PowerPoint Presentation</vt:lpstr>
      <vt:lpstr>Step 5:  Draw simplified circuit </vt:lpstr>
      <vt:lpstr>PowerPoint Presentation</vt:lpstr>
      <vt:lpstr>PowerPoint Presentation</vt:lpstr>
      <vt:lpstr>PowerPoint Presentation</vt:lpstr>
      <vt:lpstr>We should adjust our diagram to show pin numbers</vt:lpstr>
      <vt:lpstr>PowerPoint Presentation</vt:lpstr>
      <vt:lpstr>We should adjust our diagram to show pin numbers</vt:lpstr>
      <vt:lpstr>Troubleshooting</vt:lpstr>
      <vt:lpstr>Breadboard</vt:lpstr>
      <vt:lpstr>Gates</vt:lpstr>
    </vt:vector>
  </TitlesOfParts>
  <Company>usafa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david.french</dc:creator>
  <cp:revision>3</cp:revision>
  <cp:lastPrinted>2012-08-09T15:11:59Z</cp:lastPrinted>
  <dcterms:created xsi:type="dcterms:W3CDTF">2005-08-29T21:27:48Z</dcterms:created>
  <dcterms:modified xsi:type="dcterms:W3CDTF">2025-02-06T05:27:52Z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