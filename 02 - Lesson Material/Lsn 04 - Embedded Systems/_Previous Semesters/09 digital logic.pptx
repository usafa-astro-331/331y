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17"/>
  </p:handoutMasterIdLst>
  <p:sldIdLst>
    <p:sldId id="258" r:id="rId5"/>
    <p:sldId id="309" r:id="rId6"/>
    <p:sldId id="311" r:id="rId7"/>
    <p:sldId id="312" r:id="rId8"/>
    <p:sldId id="313" r:id="rId9"/>
    <p:sldId id="310" r:id="rId10"/>
    <p:sldId id="314" r:id="rId11"/>
    <p:sldId id="307" r:id="rId12"/>
    <p:sldId id="315" r:id="rId13"/>
    <p:sldId id="316" r:id="rId14"/>
    <p:sldId id="317" r:id="rId15"/>
    <p:sldId id="318" r:id="rId16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el, Ethan S C2C USAF USAFA CW/CS14" userId="S::c23ethan.patel@afacademy.af.edu::73a69d87-cee0-45a4-8629-ceff843f9a20" providerId="AD" clId="Web-{E7640A0E-B1D5-E7D4-2ED6-1907522DA806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2023-02-01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Astro 331 Lesson 9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Digital Logic &amp; </a:t>
            </a:r>
            <a:r>
              <a:rPr lang="en-US" sz="3200" dirty="0" err="1"/>
              <a:t>Breadboarding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dirty="0" err="1"/>
              <a:t>Supp</a:t>
            </a:r>
            <a:r>
              <a:rPr lang="en-US" sz="3200" dirty="0"/>
              <a:t> </a:t>
            </a:r>
            <a:r>
              <a:rPr lang="en-US" sz="3200" dirty="0" err="1"/>
              <a:t>Crs</a:t>
            </a:r>
            <a:r>
              <a:rPr lang="en-US" sz="3200" dirty="0"/>
              <a:t> </a:t>
            </a:r>
            <a:r>
              <a:rPr lang="en-US" sz="3200" dirty="0" err="1"/>
              <a:t>Mtl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dirty="0"/>
              <a:t>Construct the truth table corresponding to a scenario described in words</a:t>
            </a:r>
          </a:p>
          <a:p>
            <a:pPr lvl="0" fontAlgn="base"/>
            <a:r>
              <a:rPr lang="en-US" dirty="0"/>
              <a:t>Apply Boolean algebra to simplify a Boolean expression</a:t>
            </a:r>
          </a:p>
          <a:p>
            <a:pPr lvl="0" fontAlgn="base"/>
            <a:r>
              <a:rPr lang="en-US" dirty="0"/>
              <a:t>Using AND, OR, and NOT gates, construct a graphical representation of a Boolean expression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35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67" y="1747641"/>
            <a:ext cx="8547334" cy="351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05" y="1530490"/>
            <a:ext cx="8748995" cy="353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1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29" y="1586689"/>
            <a:ext cx="8860871" cy="370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1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/>
          <a:lstStyle/>
          <a:p>
            <a:pPr algn="ctr"/>
            <a:r>
              <a:rPr lang="en-US" dirty="0"/>
              <a:t>Boolean Algebra Laws &amp; Theorems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533181"/>
                  </p:ext>
                </p:extLst>
              </p:nvPr>
            </p:nvGraphicFramePr>
            <p:xfrm>
              <a:off x="650533" y="2226119"/>
              <a:ext cx="7857109" cy="354364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68670">
                      <a:extLst>
                        <a:ext uri="{9D8B030D-6E8A-4147-A177-3AD203B41FA5}">
                          <a16:colId xmlns:a16="http://schemas.microsoft.com/office/drawing/2014/main" val="1428010529"/>
                        </a:ext>
                      </a:extLst>
                    </a:gridCol>
                    <a:gridCol w="2719769">
                      <a:extLst>
                        <a:ext uri="{9D8B030D-6E8A-4147-A177-3AD203B41FA5}">
                          <a16:colId xmlns:a16="http://schemas.microsoft.com/office/drawing/2014/main" val="2474963089"/>
                        </a:ext>
                      </a:extLst>
                    </a:gridCol>
                    <a:gridCol w="2568670">
                      <a:extLst>
                        <a:ext uri="{9D8B030D-6E8A-4147-A177-3AD203B41FA5}">
                          <a16:colId xmlns:a16="http://schemas.microsoft.com/office/drawing/2014/main" val="2175317821"/>
                        </a:ext>
                      </a:extLst>
                    </a:gridCol>
                  </a:tblGrid>
                  <a:tr h="34978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X•0 = 0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X+1 = 1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Annulment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52675483"/>
                      </a:ext>
                    </a:extLst>
                  </a:tr>
                  <a:tr h="34978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X•1 = 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X+0 = 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Identity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36146708"/>
                      </a:ext>
                    </a:extLst>
                  </a:tr>
                  <a:tr h="34978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X•X = 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X+X = 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Idempotent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757162"/>
                      </a:ext>
                    </a:extLst>
                  </a:tr>
                  <a:tr h="34978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Arial" panose="020B0604020202020204" pitchFamily="34" charset="0"/>
                            </a:rPr>
                            <a:t> = 0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Arial" panose="020B0604020202020204" pitchFamily="34" charset="0"/>
                            </a:rPr>
                            <a:t> = 1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Complement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55509201"/>
                      </a:ext>
                    </a:extLst>
                  </a:tr>
                  <a:tr h="394855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acc>
                            </m:oMath>
                          </a14:m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Arial" panose="020B0604020202020204" pitchFamily="34" charset="0"/>
                            </a:rPr>
                            <a:t> = 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Double Negation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8277024"/>
                      </a:ext>
                    </a:extLst>
                  </a:tr>
                  <a:tr h="34978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X•Y = Y•X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X+Y = Y+X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Commutative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30918958"/>
                      </a:ext>
                    </a:extLst>
                  </a:tr>
                  <a:tr h="699569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X(YZ) = (XY)Z = 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(XZ)Y = XYZ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X+(Y+Z) = (X+Y)+Z = (X+Z)+Y = X+Y+Z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Associative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8906702"/>
                      </a:ext>
                    </a:extLst>
                  </a:tr>
                  <a:tr h="34978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X•(Y+Z) = XY+XZ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X+YZ = (X+Y)•(X+Z)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Distributive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0043927"/>
                      </a:ext>
                    </a:extLst>
                  </a:tr>
                  <a:tr h="34978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•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9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•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9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de Morgan’s Theorem</a:t>
                          </a:r>
                          <a:endParaRPr lang="en-US" sz="19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246517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533181"/>
                  </p:ext>
                </p:extLst>
              </p:nvPr>
            </p:nvGraphicFramePr>
            <p:xfrm>
              <a:off x="650533" y="2226119"/>
              <a:ext cx="7857109" cy="355041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68670">
                      <a:extLst>
                        <a:ext uri="{9D8B030D-6E8A-4147-A177-3AD203B41FA5}">
                          <a16:colId xmlns:a16="http://schemas.microsoft.com/office/drawing/2014/main" val="1428010529"/>
                        </a:ext>
                      </a:extLst>
                    </a:gridCol>
                    <a:gridCol w="2719769">
                      <a:extLst>
                        <a:ext uri="{9D8B030D-6E8A-4147-A177-3AD203B41FA5}">
                          <a16:colId xmlns:a16="http://schemas.microsoft.com/office/drawing/2014/main" val="2474963089"/>
                        </a:ext>
                      </a:extLst>
                    </a:gridCol>
                    <a:gridCol w="2568670">
                      <a:extLst>
                        <a:ext uri="{9D8B030D-6E8A-4147-A177-3AD203B41FA5}">
                          <a16:colId xmlns:a16="http://schemas.microsoft.com/office/drawing/2014/main" val="217531782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X•0 = 0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X+1 = 1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Annulment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5267548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X•1 = 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X+0 = 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Identity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3614670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X•X = 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X+X = 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Idempotent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75716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7" t="-321053" r="-206161" b="-65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843" t="-321053" r="-95067" b="-65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Complement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55509201"/>
                      </a:ext>
                    </a:extLst>
                  </a:tr>
                  <a:tr h="395732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5" t="-369231" r="-48848" b="-47538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Double Negation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827702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X•Y = Y•X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X+Y = Y+X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Commutative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3091895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X(YZ) = (XY)Z = 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(XZ)Y = XYZ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X+(Y+Z) = (X+Y)+Z = (X+Z)+Y = X+Y+Z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Associative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8906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X•(Y+Z) = XY+XZ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X+YZ = (X+Y)•(X+Z)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Distributive Law</a:t>
                          </a:r>
                          <a:endParaRPr lang="en-US" sz="19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0043927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7" t="-922414" r="-206161" b="-36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843" t="-922414" r="-95067" b="-36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de Morgan’s Theorem</a:t>
                          </a:r>
                          <a:endParaRPr lang="en-US" sz="19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3324" marR="11332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246517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78840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036" y="373335"/>
            <a:ext cx="4138819" cy="616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995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11142" y="1814392"/>
            <a:ext cx="1937576" cy="20783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38847" y="2035523"/>
            <a:ext cx="1658908" cy="1636079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478921" y="1435503"/>
            <a:ext cx="7688535" cy="49564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57583" y="2684278"/>
            <a:ext cx="621436" cy="3385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5870" y="2648770"/>
            <a:ext cx="773920" cy="3385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NOT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448906" y="4071004"/>
            <a:ext cx="1658908" cy="1636079"/>
          </a:xfrm>
          <a:prstGeom prst="rect">
            <a:avLst/>
          </a:prstGeom>
          <a:ln>
            <a:noFill/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93266" y="4090647"/>
            <a:ext cx="1658908" cy="1636079"/>
          </a:xfrm>
          <a:prstGeom prst="rect">
            <a:avLst/>
          </a:prstGeom>
          <a:ln>
            <a:noFill/>
          </a:ln>
        </p:spPr>
      </p:pic>
      <p:sp>
        <p:nvSpPr>
          <p:cNvPr id="16" name="Rectangle 15"/>
          <p:cNvSpPr/>
          <p:nvPr/>
        </p:nvSpPr>
        <p:spPr>
          <a:xfrm>
            <a:off x="2967641" y="4719760"/>
            <a:ext cx="752104" cy="3385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8110" y="4739402"/>
            <a:ext cx="752104" cy="3385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AND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832836" y="35875"/>
            <a:ext cx="7886700" cy="1325563"/>
          </a:xfrm>
        </p:spPr>
        <p:txBody>
          <a:bodyPr/>
          <a:lstStyle/>
          <a:p>
            <a:r>
              <a:rPr lang="en-US" dirty="0"/>
              <a:t>Breadboard Layout</a:t>
            </a:r>
          </a:p>
        </p:txBody>
      </p:sp>
    </p:spTree>
    <p:extLst>
      <p:ext uri="{BB962C8B-B14F-4D97-AF65-F5344CB8AC3E}">
        <p14:creationId xmlns:p14="http://schemas.microsoft.com/office/powerpoint/2010/main" val="490858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13198"/>
          </a:xfrm>
        </p:spPr>
        <p:txBody>
          <a:bodyPr>
            <a:normAutofit/>
          </a:bodyPr>
          <a:lstStyle/>
          <a:p>
            <a:r>
              <a:rPr lang="en-US" dirty="0"/>
              <a:t>Create a truth table that represents all possible scenarios for wanting to buy a coke from a vending machine.</a:t>
            </a:r>
          </a:p>
          <a:p>
            <a:pPr lvl="1"/>
            <a:r>
              <a:rPr lang="en-US" dirty="0"/>
              <a:t>First item: vending machine must have a coke in stock</a:t>
            </a:r>
          </a:p>
          <a:p>
            <a:pPr lvl="1"/>
            <a:r>
              <a:rPr lang="en-US" dirty="0"/>
              <a:t>Second item: I must have exact change</a:t>
            </a:r>
          </a:p>
          <a:p>
            <a:pPr lvl="1"/>
            <a:r>
              <a:rPr lang="en-US" dirty="0"/>
              <a:t>Third item: I must have a dollar bill</a:t>
            </a:r>
          </a:p>
          <a:p>
            <a:r>
              <a:rPr lang="en-US" dirty="0"/>
              <a:t>Then, present the Boolean algebra statement that represents all scenarios that result in success and draw a logical schematic that illustrates that statement.</a:t>
            </a:r>
          </a:p>
        </p:txBody>
      </p:sp>
    </p:spTree>
    <p:extLst>
      <p:ext uri="{BB962C8B-B14F-4D97-AF65-F5344CB8AC3E}">
        <p14:creationId xmlns:p14="http://schemas.microsoft.com/office/powerpoint/2010/main" val="82059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(1/3)</a:t>
            </a: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5280283"/>
              </p:ext>
            </p:extLst>
          </p:nvPr>
        </p:nvGraphicFramePr>
        <p:xfrm>
          <a:off x="628650" y="1825625"/>
          <a:ext cx="7281772" cy="3828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0443">
                  <a:extLst>
                    <a:ext uri="{9D8B030D-6E8A-4147-A177-3AD203B41FA5}">
                      <a16:colId xmlns:a16="http://schemas.microsoft.com/office/drawing/2014/main" val="2800565692"/>
                    </a:ext>
                  </a:extLst>
                </a:gridCol>
                <a:gridCol w="1820443">
                  <a:extLst>
                    <a:ext uri="{9D8B030D-6E8A-4147-A177-3AD203B41FA5}">
                      <a16:colId xmlns:a16="http://schemas.microsoft.com/office/drawing/2014/main" val="3046933954"/>
                    </a:ext>
                  </a:extLst>
                </a:gridCol>
                <a:gridCol w="1820443">
                  <a:extLst>
                    <a:ext uri="{9D8B030D-6E8A-4147-A177-3AD203B41FA5}">
                      <a16:colId xmlns:a16="http://schemas.microsoft.com/office/drawing/2014/main" val="3915095181"/>
                    </a:ext>
                  </a:extLst>
                </a:gridCol>
                <a:gridCol w="1820443">
                  <a:extLst>
                    <a:ext uri="{9D8B030D-6E8A-4147-A177-3AD203B41FA5}">
                      <a16:colId xmlns:a16="http://schemas.microsoft.com/office/drawing/2014/main" val="34617501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Inputs</a:t>
                      </a:r>
                      <a:endParaRPr lang="en-US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Output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247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 Stock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Exact Change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Dollar Bill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Coca Cola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Y </a:t>
                      </a:r>
                      <a:r>
                        <a:rPr lang="en-US" sz="1400" b="1" baseline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= A(B+C)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761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2980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484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376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413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178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444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288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319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8651" y="5917721"/>
                <a:ext cx="7281772" cy="400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0000FF"/>
                    </a:solidFill>
                  </a:rPr>
                  <a:t>Success: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endParaRPr lang="en-US" sz="1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5917721"/>
                <a:ext cx="7281772" cy="400815"/>
              </a:xfrm>
              <a:prstGeom prst="rect">
                <a:avLst/>
              </a:prstGeom>
              <a:blipFill>
                <a:blip r:embed="rId3"/>
                <a:stretch>
                  <a:fillRect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446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(2/3)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9562" y="1825625"/>
                <a:ext cx="8566029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US" sz="1800" dirty="0">
                    <a:solidFill>
                      <a:srgbClr val="0000FF"/>
                    </a:solidFill>
                  </a:rPr>
                  <a:t>					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)		     </a:t>
                </a:r>
                <a:r>
                  <a:rPr lang="en-US" sz="2000" dirty="0">
                    <a:solidFill>
                      <a:srgbClr val="0000FF"/>
                    </a:solidFill>
                  </a:rPr>
                  <a:t>Associative/Distributive Laws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)	     </a:t>
                </a:r>
                <a:r>
                  <a:rPr lang="en-US" sz="2000" dirty="0">
                    <a:solidFill>
                      <a:srgbClr val="0000FF"/>
                    </a:solidFill>
                  </a:rPr>
                  <a:t>Idempotent Law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((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))  </a:t>
                </a:r>
                <a:r>
                  <a:rPr lang="en-US" sz="2000" dirty="0">
                    <a:solidFill>
                      <a:srgbClr val="0000FF"/>
                    </a:solidFill>
                  </a:rPr>
                  <a:t>Associative Law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))	     </a:t>
                </a:r>
                <a:r>
                  <a:rPr lang="en-US" sz="2000" dirty="0">
                    <a:solidFill>
                      <a:srgbClr val="0000FF"/>
                    </a:solidFill>
                  </a:rPr>
                  <a:t>Distributive Law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(1)+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(1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))		     </a:t>
                </a:r>
                <a:r>
                  <a:rPr lang="en-US" sz="2000" dirty="0">
                    <a:solidFill>
                      <a:srgbClr val="0000FF"/>
                    </a:solidFill>
                  </a:rPr>
                  <a:t>Complement Law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)			     </a:t>
                </a:r>
                <a:r>
                  <a:rPr lang="en-US" sz="2000" dirty="0">
                    <a:solidFill>
                      <a:srgbClr val="0000FF"/>
                    </a:solidFill>
                  </a:rPr>
                  <a:t>Identity Law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00FF"/>
                    </a:solidFill>
                  </a:rPr>
                  <a:t>Answer makes sense: I can get a coca cola if it is in stock AND I have either exact change OR a dollar bill.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562" y="1825625"/>
                <a:ext cx="8566029" cy="4351338"/>
              </a:xfrm>
              <a:blipFill>
                <a:blip r:embed="rId2"/>
                <a:stretch>
                  <a:fillRect l="-712" r="-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075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(3/3)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04181" y="1846378"/>
            <a:ext cx="63749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Schematic from simplified Boolean expression: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6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88" y="2238554"/>
            <a:ext cx="5691699" cy="250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32963" y="5011621"/>
            <a:ext cx="4572000" cy="13665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914400" algn="l"/>
              </a:tabLst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Requires:	</a:t>
            </a:r>
          </a:p>
          <a:p>
            <a:pPr marL="28575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914400" algn="l"/>
              </a:tabLst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1 AND Gate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 OR Gate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0 NOT Gates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4181" y="2308043"/>
            <a:ext cx="33855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46" y="3339463"/>
            <a:ext cx="33855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46" y="4242322"/>
            <a:ext cx="3513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6498" y="3304718"/>
            <a:ext cx="79363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(B+C)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3025" y="2579449"/>
            <a:ext cx="167640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 = A(B+C)</a:t>
            </a:r>
          </a:p>
        </p:txBody>
      </p:sp>
    </p:spTree>
    <p:extLst>
      <p:ext uri="{BB962C8B-B14F-4D97-AF65-F5344CB8AC3E}">
        <p14:creationId xmlns:p14="http://schemas.microsoft.com/office/powerpoint/2010/main" val="1622111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A6396B-BFF9-4A22-9D96-4875D8CCD7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57994C-EDE8-48A9-AF26-DBCF0E9EE091}">
  <ds:schemaRefs>
    <ds:schemaRef ds:uri="http://purl.org/dc/elements/1.1/"/>
    <ds:schemaRef ds:uri="http://purl.org/dc/terms/"/>
    <ds:schemaRef ds:uri="http://www.w3.org/XML/1998/namespace"/>
    <ds:schemaRef ds:uri="6b599e9f-786e-4913-82a4-35bb55491707"/>
    <ds:schemaRef ds:uri="http://schemas.openxmlformats.org/package/2006/metadata/core-properties"/>
    <ds:schemaRef ds:uri="http://schemas.microsoft.com/office/2006/documentManagement/types"/>
    <ds:schemaRef ds:uri="43c5c5c6-2005-43c0-9dfb-f590327e4472"/>
    <ds:schemaRef ds:uri="http://purl.org/dc/dcmitype/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6E427C1-1874-49B2-819D-58FB672625FE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4192</TotalTime>
  <Words>541</Words>
  <Application>Microsoft Office PowerPoint</Application>
  <PresentationFormat>On-screen Show (4:3)</PresentationFormat>
  <Paragraphs>111</Paragraphs>
  <Slides>12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SimSun</vt:lpstr>
      <vt:lpstr>Arial</vt:lpstr>
      <vt:lpstr>Arial Unicode MS</vt:lpstr>
      <vt:lpstr>Calibri</vt:lpstr>
      <vt:lpstr>Cambria Math</vt:lpstr>
      <vt:lpstr>Helvetica</vt:lpstr>
      <vt:lpstr>Times New Roman</vt:lpstr>
      <vt:lpstr>Office Theme</vt:lpstr>
      <vt:lpstr>PowerPoint Presentation</vt:lpstr>
      <vt:lpstr>Lesson Objectives</vt:lpstr>
      <vt:lpstr>PowerPoint Presentation</vt:lpstr>
      <vt:lpstr>PowerPoint Presentation</vt:lpstr>
      <vt:lpstr>PowerPoint Presentation</vt:lpstr>
      <vt:lpstr>Boolean Algebra Laws &amp; Theorems</vt:lpstr>
      <vt:lpstr>PowerPoint Presentation</vt:lpstr>
      <vt:lpstr>Breadboard Layout</vt:lpstr>
      <vt:lpstr>Example</vt:lpstr>
      <vt:lpstr>Solution (1/3)</vt:lpstr>
      <vt:lpstr>Solution (2/3)</vt:lpstr>
      <vt:lpstr>Solution (3/3)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Firth, Jordan A Lt Col USAF USAFA DF/DFAS</cp:lastModifiedBy>
  <cp:revision>101</cp:revision>
  <cp:lastPrinted>2019-06-26T14:29:45Z</cp:lastPrinted>
  <dcterms:created xsi:type="dcterms:W3CDTF">2019-06-13T20:36:51Z</dcterms:created>
  <dcterms:modified xsi:type="dcterms:W3CDTF">2023-02-01T15:01:44Z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