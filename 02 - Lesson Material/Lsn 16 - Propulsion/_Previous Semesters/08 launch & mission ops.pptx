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6"/>
  </p:notesMasterIdLst>
  <p:handoutMasterIdLst>
    <p:handoutMasterId r:id="rId37"/>
  </p:handoutMasterIdLst>
  <p:sldIdLst>
    <p:sldId id="258" r:id="rId5"/>
    <p:sldId id="312" r:id="rId6"/>
    <p:sldId id="345" r:id="rId7"/>
    <p:sldId id="334" r:id="rId8"/>
    <p:sldId id="325" r:id="rId9"/>
    <p:sldId id="335" r:id="rId10"/>
    <p:sldId id="319" r:id="rId11"/>
    <p:sldId id="326" r:id="rId12"/>
    <p:sldId id="336" r:id="rId13"/>
    <p:sldId id="331" r:id="rId14"/>
    <p:sldId id="337" r:id="rId15"/>
    <p:sldId id="320" r:id="rId16"/>
    <p:sldId id="322" r:id="rId17"/>
    <p:sldId id="321" r:id="rId18"/>
    <p:sldId id="324" r:id="rId19"/>
    <p:sldId id="323" r:id="rId20"/>
    <p:sldId id="327" r:id="rId21"/>
    <p:sldId id="338" r:id="rId22"/>
    <p:sldId id="328" r:id="rId23"/>
    <p:sldId id="330" r:id="rId24"/>
    <p:sldId id="329" r:id="rId25"/>
    <p:sldId id="332" r:id="rId26"/>
    <p:sldId id="333" r:id="rId27"/>
    <p:sldId id="344" r:id="rId28"/>
    <p:sldId id="339" r:id="rId29"/>
    <p:sldId id="315" r:id="rId30"/>
    <p:sldId id="340" r:id="rId31"/>
    <p:sldId id="341" r:id="rId32"/>
    <p:sldId id="342" r:id="rId33"/>
    <p:sldId id="343" r:id="rId34"/>
    <p:sldId id="346" r:id="rId35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DD4BFF-1346-4E8A-803F-245DADD6DB39}" v="26" dt="2023-01-31T17:46:16.621"/>
    <p1510:client id="{22D88C08-EB1C-478D-855C-F4812A8C9D2A}" v="4" dt="2023-02-03T05:20:24.496"/>
    <p1510:client id="{3BCB8613-0656-4775-A681-E167DC3AA689}" v="2" dt="2023-02-03T05:14:27.9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iza, Ian M C1C USAF USAFA CW/CS23" userId="S::c23ian.geniza@afacademy.af.edu::420ce931-abd4-4013-ac63-baf203412247" providerId="AD" clId="Web-{22D88C08-EB1C-478D-855C-F4812A8C9D2A}"/>
    <pc:docChg chg="modSld">
      <pc:chgData name="Geniza, Ian M C1C USAF USAFA CW/CS23" userId="S::c23ian.geniza@afacademy.af.edu::420ce931-abd4-4013-ac63-baf203412247" providerId="AD" clId="Web-{22D88C08-EB1C-478D-855C-F4812A8C9D2A}" dt="2023-02-03T05:20:24.496" v="3" actId="20577"/>
      <pc:docMkLst>
        <pc:docMk/>
      </pc:docMkLst>
      <pc:sldChg chg="modSp">
        <pc:chgData name="Geniza, Ian M C1C USAF USAFA CW/CS23" userId="S::c23ian.geniza@afacademy.af.edu::420ce931-abd4-4013-ac63-baf203412247" providerId="AD" clId="Web-{22D88C08-EB1C-478D-855C-F4812A8C9D2A}" dt="2023-02-03T05:20:24.496" v="3" actId="20577"/>
        <pc:sldMkLst>
          <pc:docMk/>
          <pc:sldMk cId="1321450072" sldId="258"/>
        </pc:sldMkLst>
        <pc:spChg chg="mod">
          <ac:chgData name="Geniza, Ian M C1C USAF USAFA CW/CS23" userId="S::c23ian.geniza@afacademy.af.edu::420ce931-abd4-4013-ac63-baf203412247" providerId="AD" clId="Web-{22D88C08-EB1C-478D-855C-F4812A8C9D2A}" dt="2023-02-03T05:20:24.496" v="3" actId="20577"/>
          <ac:spMkLst>
            <pc:docMk/>
            <pc:sldMk cId="1321450072" sldId="258"/>
            <ac:spMk id="4" creationId="{00000000-0000-0000-0000-000000000000}"/>
          </ac:spMkLst>
        </pc:spChg>
      </pc:sldChg>
    </pc:docChg>
  </pc:docChgLst>
  <pc:docChgLst>
    <pc:chgData name="Nguyen, Xuan A C2C USAF USAFA CW/CS14" userId="S::c24anxuan.nguyen.vn@afacademy.af.edu::e8396f62-c72a-4f07-86b9-ad32df6d605c" providerId="AD" clId="Web-{1DDD4BFF-1346-4E8A-803F-245DADD6DB39}"/>
    <pc:docChg chg="modSld">
      <pc:chgData name="Nguyen, Xuan A C2C USAF USAFA CW/CS14" userId="S::c24anxuan.nguyen.vn@afacademy.af.edu::e8396f62-c72a-4f07-86b9-ad32df6d605c" providerId="AD" clId="Web-{1DDD4BFF-1346-4E8A-803F-245DADD6DB39}" dt="2023-01-31T17:46:16.621" v="25" actId="20577"/>
      <pc:docMkLst>
        <pc:docMk/>
      </pc:docMkLst>
      <pc:sldChg chg="modSp">
        <pc:chgData name="Nguyen, Xuan A C2C USAF USAFA CW/CS14" userId="S::c24anxuan.nguyen.vn@afacademy.af.edu::e8396f62-c72a-4f07-86b9-ad32df6d605c" providerId="AD" clId="Web-{1DDD4BFF-1346-4E8A-803F-245DADD6DB39}" dt="2023-01-31T17:46:16.621" v="25" actId="20577"/>
        <pc:sldMkLst>
          <pc:docMk/>
          <pc:sldMk cId="4162341963" sldId="339"/>
        </pc:sldMkLst>
        <pc:spChg chg="mod">
          <ac:chgData name="Nguyen, Xuan A C2C USAF USAFA CW/CS14" userId="S::c24anxuan.nguyen.vn@afacademy.af.edu::e8396f62-c72a-4f07-86b9-ad32df6d605c" providerId="AD" clId="Web-{1DDD4BFF-1346-4E8A-803F-245DADD6DB39}" dt="2023-01-31T17:46:16.621" v="25" actId="20577"/>
          <ac:spMkLst>
            <pc:docMk/>
            <pc:sldMk cId="4162341963" sldId="339"/>
            <ac:spMk id="3" creationId="{00000000-0000-0000-0000-000000000000}"/>
          </ac:spMkLst>
        </pc:spChg>
      </pc:sldChg>
    </pc:docChg>
  </pc:docChgLst>
  <pc:docChgLst>
    <pc:chgData name="Avila, Daniel G C2C USAF USAFA CW/CS34" userId="S::c24daniel.avila@afacademy.af.edu::659ea037-9a52-4b48-8ce6-d320d5ac9455" providerId="AD" clId="Web-{3BCB8613-0656-4775-A681-E167DC3AA689}"/>
    <pc:docChg chg="modSld">
      <pc:chgData name="Avila, Daniel G C2C USAF USAFA CW/CS34" userId="S::c24daniel.avila@afacademy.af.edu::659ea037-9a52-4b48-8ce6-d320d5ac9455" providerId="AD" clId="Web-{3BCB8613-0656-4775-A681-E167DC3AA689}" dt="2023-02-03T05:14:27.941" v="1" actId="1076"/>
      <pc:docMkLst>
        <pc:docMk/>
      </pc:docMkLst>
      <pc:sldChg chg="modSp">
        <pc:chgData name="Avila, Daniel G C2C USAF USAFA CW/CS34" userId="S::c24daniel.avila@afacademy.af.edu::659ea037-9a52-4b48-8ce6-d320d5ac9455" providerId="AD" clId="Web-{3BCB8613-0656-4775-A681-E167DC3AA689}" dt="2023-02-03T05:14:27.941" v="1" actId="1076"/>
        <pc:sldMkLst>
          <pc:docMk/>
          <pc:sldMk cId="1295558979" sldId="326"/>
        </pc:sldMkLst>
        <pc:picChg chg="mod">
          <ac:chgData name="Avila, Daniel G C2C USAF USAFA CW/CS34" userId="S::c24daniel.avila@afacademy.af.edu::659ea037-9a52-4b48-8ce6-d320d5ac9455" providerId="AD" clId="Web-{3BCB8613-0656-4775-A681-E167DC3AA689}" dt="2023-02-03T05:14:27.941" v="1" actId="1076"/>
          <ac:picMkLst>
            <pc:docMk/>
            <pc:sldMk cId="1295558979" sldId="326"/>
            <ac:picMk id="2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A195-A930-461F-9F68-63674CBC1F57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5C700-0AF4-4EE1-AD5E-8E73BEF58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FA975-85A1-44C6-B324-592D950BD05D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1813" y="876300"/>
            <a:ext cx="3152775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3373438"/>
            <a:ext cx="7435850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29075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6659563"/>
            <a:ext cx="4029075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74E78-36D7-4A68-A7BE-41514770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7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Astro 331 Lesson 8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4287" y="3886200"/>
            <a:ext cx="8798943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/>
              <a:t>Launch Systems &amp; Mission Operations</a:t>
            </a:r>
          </a:p>
          <a:p>
            <a:pPr marL="0" indent="0" algn="ctr">
              <a:buNone/>
            </a:pPr>
            <a:endParaRPr lang="en-US" sz="3200"/>
          </a:p>
          <a:p>
            <a:pPr marL="0" indent="0" algn="ctr">
              <a:buNone/>
            </a:pPr>
            <a:r>
              <a:rPr lang="en-US" sz="3200" err="1"/>
              <a:t>Supp</a:t>
            </a:r>
            <a:r>
              <a:rPr lang="en-US" sz="3200"/>
              <a:t> </a:t>
            </a:r>
            <a:r>
              <a:rPr lang="en-US" sz="3200" err="1"/>
              <a:t>Crs</a:t>
            </a:r>
            <a:r>
              <a:rPr lang="en-US" sz="3200"/>
              <a:t> </a:t>
            </a:r>
            <a:r>
              <a:rPr lang="en-US" sz="3200" err="1"/>
              <a:t>Mtl</a:t>
            </a:r>
            <a:r>
              <a:rPr lang="en-US"/>
              <a:t>, SMAD </a:t>
            </a:r>
            <a:r>
              <a:rPr lang="en-US" err="1"/>
              <a:t>Ch</a:t>
            </a:r>
            <a:r>
              <a:rPr lang="en-US"/>
              <a:t> 8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32145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024" y="118228"/>
            <a:ext cx="7886700" cy="1325563"/>
          </a:xfrm>
        </p:spPr>
        <p:txBody>
          <a:bodyPr/>
          <a:lstStyle/>
          <a:p>
            <a:pPr algn="ctr"/>
            <a:r>
              <a:rPr lang="en-US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439" y="1347536"/>
            <a:ext cx="8211550" cy="5385335"/>
          </a:xfrm>
        </p:spPr>
        <p:txBody>
          <a:bodyPr>
            <a:normAutofit fontScale="85000" lnSpcReduction="20000"/>
          </a:bodyPr>
          <a:lstStyle/>
          <a:p>
            <a:pPr lvl="0" fontAlgn="base"/>
            <a:r>
              <a:rPr lang="en-US"/>
              <a:t>Describe the objective of a launch vehicle and why staging is required</a:t>
            </a:r>
          </a:p>
          <a:p>
            <a:pPr lvl="0" fontAlgn="base"/>
            <a:r>
              <a:rPr lang="en-US"/>
              <a:t>Describe the purpose of a launch vehicle’s payload fairing (PLF)</a:t>
            </a:r>
          </a:p>
          <a:p>
            <a:pPr lvl="0" fontAlgn="base"/>
            <a:r>
              <a:rPr lang="en-US"/>
              <a:t>Describe what is meant by maximum dynamic pressure (max-q) and why it is important for launch vehicles</a:t>
            </a:r>
          </a:p>
          <a:p>
            <a:pPr lvl="0" fontAlgn="base"/>
            <a:r>
              <a:rPr lang="en-US"/>
              <a:t>Describe the loading conditions during launch that drive spacecraft structural design</a:t>
            </a:r>
          </a:p>
          <a:p>
            <a:pPr lvl="0" fontAlgn="base"/>
            <a:r>
              <a:rPr lang="en-US"/>
              <a:t>Understand how launch site latitude and allowable azimuths impact which orbits launch vehicles can insert into</a:t>
            </a:r>
          </a:p>
          <a:p>
            <a:pPr lvl="0" fontAlgn="base"/>
            <a:r>
              <a:rPr lang="en-US"/>
              <a:t>Describe the functions of space mission operations</a:t>
            </a:r>
          </a:p>
          <a:p>
            <a:pPr lvl="0" fontAlgn="base"/>
            <a:r>
              <a:rPr lang="en-US"/>
              <a:t>Describe different spacecraft functions that can be automated and some of the advantages and disadvantages of automation</a:t>
            </a:r>
          </a:p>
          <a:p>
            <a:pPr lvl="0" fontAlgn="base"/>
            <a:r>
              <a:rPr lang="en-US"/>
              <a:t>Describe contingency planning in operations and what an anomaly response team does</a:t>
            </a:r>
          </a:p>
        </p:txBody>
      </p:sp>
    </p:spTree>
    <p:extLst>
      <p:ext uri="{BB962C8B-B14F-4D97-AF65-F5344CB8AC3E}">
        <p14:creationId xmlns:p14="http://schemas.microsoft.com/office/powerpoint/2010/main" val="694369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LAUNCH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01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Launch Systems 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07151"/>
          </a:xfrm>
        </p:spPr>
        <p:txBody>
          <a:bodyPr>
            <a:normAutofit lnSpcReduction="10000"/>
          </a:bodyPr>
          <a:lstStyle/>
          <a:p>
            <a:r>
              <a:rPr lang="en-US"/>
              <a:t>Objective: to accelerate and positon a mass (the payload, usually a satellite or spacecraft) up to the velocity and location required for the payload’s trajectory</a:t>
            </a:r>
          </a:p>
          <a:p>
            <a:pPr lvl="0" fontAlgn="base"/>
            <a:r>
              <a:rPr lang="en-US"/>
              <a:t>Staging: using multiple propulsive units which separate and are discarded after use to get to orbit</a:t>
            </a:r>
            <a:endParaRPr lang="en-US" sz="2400"/>
          </a:p>
          <a:p>
            <a:pPr lvl="1" fontAlgn="base"/>
            <a:r>
              <a:rPr lang="en-US"/>
              <a:t>Why do we do staging?  </a:t>
            </a:r>
          </a:p>
          <a:p>
            <a:pPr lvl="2" fontAlgn="base"/>
            <a:r>
              <a:rPr lang="en-US"/>
              <a:t>B/c of the performance limitations on chemical propellants as well as the current state of the art in materials engineering and structural design, it is not practical to send a launch vehicle to orbit using a single propulsion system.</a:t>
            </a:r>
            <a:endParaRPr lang="en-US" sz="1800"/>
          </a:p>
          <a:p>
            <a:pPr lvl="1" fontAlgn="base"/>
            <a:r>
              <a:rPr lang="en-US"/>
              <a:t>Two types: series and parallel</a:t>
            </a:r>
            <a:endParaRPr lang="en-US" sz="22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81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771048" y="0"/>
            <a:ext cx="5399773" cy="685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2527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Payload Fairing (PLF)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/>
              <a:t>Payload Fairing (PLF) protects the payload from aerodynamic and heating loads as the LV climbs out of the atmosphere, keeps FOD away from payload, and serves as a container with a specially conditioned atmosphere to meet the payload’s thermal requirements</a:t>
            </a:r>
            <a:endParaRPr lang="en-US" sz="2400"/>
          </a:p>
          <a:p>
            <a:pPr lvl="1" fontAlgn="base"/>
            <a:r>
              <a:rPr lang="en-US"/>
              <a:t>PLF is jettisoned once environment is safe for payload (above atmosphere)</a:t>
            </a:r>
            <a:endParaRPr lang="en-US" sz="2200"/>
          </a:p>
          <a:p>
            <a:pPr lvl="1" fontAlgn="base"/>
            <a:r>
              <a:rPr lang="en-US"/>
              <a:t>Shock associated with the PLF jettison can be among the most significant transient design environment that a spacecraft must endure</a:t>
            </a:r>
            <a:endParaRPr lang="en-US" sz="22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01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1523968" y="57838"/>
            <a:ext cx="5679152" cy="679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92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413886" y="317634"/>
            <a:ext cx="7921592" cy="613129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5558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Dynamic Pressure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9443"/>
          </a:xfrm>
        </p:spPr>
        <p:txBody>
          <a:bodyPr>
            <a:normAutofit/>
          </a:bodyPr>
          <a:lstStyle/>
          <a:p>
            <a:pPr lvl="0" fontAlgn="base"/>
            <a:r>
              <a:rPr lang="en-US"/>
              <a:t>Max-Q (maximum dynamic pressure): point during ascent at which aerodynamic loads on vehicle are at highest</a:t>
            </a:r>
            <a:endParaRPr lang="en-US" sz="2400"/>
          </a:p>
          <a:p>
            <a:pPr lvl="1" fontAlgn="base"/>
            <a:r>
              <a:rPr lang="en-US"/>
              <a:t>Sets maximum bending load values for vehicle (and payload)</a:t>
            </a:r>
            <a:endParaRPr lang="en-US" sz="2200"/>
          </a:p>
          <a:p>
            <a:pPr lvl="1" fontAlgn="base"/>
            <a:r>
              <a:rPr lang="en-US"/>
              <a:t>Usually occurs just after vehicle passes Mach 1</a:t>
            </a:r>
            <a:endParaRPr lang="en-US" sz="2200"/>
          </a:p>
          <a:p>
            <a:pPr lvl="1" fontAlgn="base"/>
            <a:r>
              <a:rPr lang="en-US"/>
              <a:t>Buffeting loads are also highest near Max-Q</a:t>
            </a:r>
            <a:endParaRPr lang="en-US" sz="2200"/>
          </a:p>
          <a:p>
            <a:pPr lvl="1" fontAlgn="base"/>
            <a:r>
              <a:rPr lang="en-US"/>
              <a:t>Common for motors to be throttled back near Max-Q to reduce vehicle acceleration and loading</a:t>
            </a:r>
          </a:p>
          <a:p>
            <a:pPr lvl="1" fontAlgn="base"/>
            <a:r>
              <a:rPr lang="en-US"/>
              <a:t>After Max-Q, the atmospheric density decreases faster than the vehicle’s speed increases, which causes the dynamic pressure to decrease</a:t>
            </a:r>
          </a:p>
          <a:p>
            <a:pPr marL="457200" lvl="1" indent="0" fontAlgn="base">
              <a:buNone/>
            </a:pPr>
            <a:endParaRPr lang="en-US" sz="22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08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068512" y="102740"/>
            <a:ext cx="7284378" cy="667820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192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Loading Conditions during Launch &amp; Ascent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Axial and lateral loading during liftoff</a:t>
            </a:r>
          </a:p>
          <a:p>
            <a:r>
              <a:rPr lang="en-US"/>
              <a:t>Vibrations during liftoff </a:t>
            </a:r>
          </a:p>
          <a:p>
            <a:r>
              <a:rPr lang="en-US"/>
              <a:t>Acoustic loading due to noise during liftoff &amp; ascent</a:t>
            </a:r>
          </a:p>
          <a:p>
            <a:r>
              <a:rPr lang="en-US"/>
              <a:t>Pyrotechnic shock due to separation events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88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1197081" y="277586"/>
            <a:ext cx="6802298" cy="635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99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01" y="1371599"/>
            <a:ext cx="8140425" cy="41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13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52387" y="871537"/>
            <a:ext cx="9039225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768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647700" y="762000"/>
            <a:ext cx="78486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852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32" y="669471"/>
            <a:ext cx="8711106" cy="529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389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558265" y="173254"/>
            <a:ext cx="8142973" cy="64585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1610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Launch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/>
              <a:t>Recall that the latitude of the launch site must be less than or equal to the inclination of the orbit</a:t>
            </a:r>
          </a:p>
          <a:p>
            <a:pPr lvl="0" fontAlgn="base"/>
            <a:r>
              <a:rPr lang="en-US"/>
              <a:t>Recall also that each launch site has allowable launch azimuths that must be met</a:t>
            </a:r>
          </a:p>
          <a:p>
            <a:pPr lvl="0" fontAlgn="base"/>
            <a:r>
              <a:rPr lang="en-US"/>
              <a:t>Also need to consider transportation of spacecraft to launch site and weather at launch site during expected launch timeframe</a:t>
            </a:r>
          </a:p>
        </p:txBody>
      </p:sp>
    </p:spTree>
    <p:extLst>
      <p:ext uri="{BB962C8B-B14F-4D97-AF65-F5344CB8AC3E}">
        <p14:creationId xmlns:p14="http://schemas.microsoft.com/office/powerpoint/2010/main" val="4265209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798897" y="173254"/>
            <a:ext cx="7401828" cy="64585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4592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21379" y="413885"/>
            <a:ext cx="8556859" cy="595803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5660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194559" y="0"/>
            <a:ext cx="3850106" cy="685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0836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32" y="107344"/>
            <a:ext cx="7181635" cy="634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5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56" y="200045"/>
            <a:ext cx="7510408" cy="665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04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MISSION OPERATIONS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60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Space Mission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Objective: Execute the mission and preserve the health and safety of the vehicle</a:t>
            </a:r>
          </a:p>
          <a:p>
            <a:pPr marL="0" indent="0">
              <a:buNone/>
            </a:pPr>
            <a:endParaRPr lang="en-US">
              <a:cs typeface="Arial"/>
            </a:endParaRPr>
          </a:p>
          <a:p>
            <a:r>
              <a:rPr lang="en-US"/>
              <a:t>Functions include:</a:t>
            </a:r>
          </a:p>
          <a:p>
            <a:pPr lvl="1" fontAlgn="base"/>
            <a:r>
              <a:rPr lang="en-US"/>
              <a:t>Mission Planning: deciding what to do and when</a:t>
            </a:r>
          </a:p>
          <a:p>
            <a:pPr lvl="1" fontAlgn="base"/>
            <a:r>
              <a:rPr lang="en-US"/>
              <a:t>Activity Planning &amp; Development: creating operational scenarios and developing command loads</a:t>
            </a:r>
          </a:p>
          <a:p>
            <a:pPr lvl="1" fontAlgn="base"/>
            <a:r>
              <a:rPr lang="en-US"/>
              <a:t>Mission Control: managing daily activities</a:t>
            </a:r>
          </a:p>
          <a:p>
            <a:pPr lvl="1" fontAlgn="base"/>
            <a:r>
              <a:rPr lang="en-US"/>
              <a:t>Data Transport and Delivery: establishing communication links and managing data flow</a:t>
            </a:r>
          </a:p>
          <a:p>
            <a:pPr lvl="1" fontAlgn="base"/>
            <a:r>
              <a:rPr lang="en-US"/>
              <a:t>Navigation and Orbit Control: determining where the spacecraft is and planning maneuvers</a:t>
            </a:r>
          </a:p>
          <a:p>
            <a:pPr lvl="1" fontAlgn="base"/>
            <a:r>
              <a:rPr lang="en-US"/>
              <a:t>Spacecraft Ops: managing the spacecraft bus</a:t>
            </a:r>
          </a:p>
          <a:p>
            <a:pPr lvl="1" fontAlgn="base"/>
            <a:r>
              <a:rPr lang="en-US"/>
              <a:t>Payload Ops: managing the spacecraft payload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41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561468"/>
            <a:ext cx="7245123" cy="591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04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Mission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Operations Plan: details the operations organization, processes and procedures to be followed by the operations team, the software tools that support them, and the interfaces between other teams (</a:t>
            </a:r>
            <a:r>
              <a:rPr lang="en-US" err="1"/>
              <a:t>ie</a:t>
            </a:r>
            <a:r>
              <a:rPr lang="en-US"/>
              <a:t>, spacecraft development team)</a:t>
            </a:r>
          </a:p>
          <a:p>
            <a:pPr lvl="1" fontAlgn="base"/>
            <a:r>
              <a:rPr lang="en-US"/>
              <a:t>Best way to train operators it to involve them in the development and testing phases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Mission Plan: documents the planned spacecraft activities during the mission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471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Automation in Operations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631736"/>
          </a:xfrm>
        </p:spPr>
        <p:txBody>
          <a:bodyPr>
            <a:normAutofit lnSpcReduction="10000"/>
          </a:bodyPr>
          <a:lstStyle/>
          <a:p>
            <a:r>
              <a:rPr lang="en-US"/>
              <a:t>Many functions in space operations can be automated, either on-board the spacecraft or on the ground</a:t>
            </a:r>
          </a:p>
          <a:p>
            <a:pPr lvl="1" fontAlgn="base"/>
            <a:r>
              <a:rPr lang="en-US"/>
              <a:t>Monitoring alarms</a:t>
            </a:r>
          </a:p>
          <a:p>
            <a:pPr lvl="1" fontAlgn="base"/>
            <a:r>
              <a:rPr lang="en-US"/>
              <a:t>Managing spacecraft resources</a:t>
            </a:r>
          </a:p>
          <a:p>
            <a:pPr lvl="1" fontAlgn="base"/>
            <a:r>
              <a:rPr lang="en-US"/>
              <a:t>Analyzing performance and trends</a:t>
            </a:r>
          </a:p>
          <a:p>
            <a:pPr lvl="1" fontAlgn="base"/>
            <a:r>
              <a:rPr lang="en-US"/>
              <a:t>Onboard navigation &amp; orbit control</a:t>
            </a:r>
          </a:p>
          <a:p>
            <a:pPr lvl="1" fontAlgn="base"/>
            <a:r>
              <a:rPr lang="en-US"/>
              <a:t>Adaptively planning activities</a:t>
            </a:r>
          </a:p>
          <a:p>
            <a:pPr lvl="1" fontAlgn="base"/>
            <a:r>
              <a:rPr lang="en-US"/>
              <a:t>Processing payload data</a:t>
            </a:r>
          </a:p>
          <a:p>
            <a:pPr lvl="1" fontAlgn="base"/>
            <a:r>
              <a:rPr lang="en-US"/>
              <a:t>Detecting faults, </a:t>
            </a:r>
            <a:r>
              <a:rPr lang="en-US" err="1"/>
              <a:t>safing</a:t>
            </a:r>
            <a:r>
              <a:rPr lang="en-US"/>
              <a:t> the vehicle</a:t>
            </a:r>
          </a:p>
          <a:p>
            <a:pPr lvl="1" fontAlgn="base"/>
            <a:r>
              <a:rPr lang="en-US"/>
              <a:t>Constraint checking commands</a:t>
            </a:r>
          </a:p>
          <a:p>
            <a:pPr lvl="1" fontAlgn="base"/>
            <a:r>
              <a:rPr lang="en-US"/>
              <a:t>Filtering/archiving data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15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Automation in Operations (2/2)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1992058"/>
              </p:ext>
            </p:extLst>
          </p:nvPr>
        </p:nvGraphicFramePr>
        <p:xfrm>
          <a:off x="628650" y="1825625"/>
          <a:ext cx="7886046" cy="3657600"/>
        </p:xfrm>
        <a:graphic>
          <a:graphicData uri="http://schemas.openxmlformats.org/drawingml/2006/table">
            <a:tbl>
              <a:tblPr firstRow="1" firstCol="1" bandRow="1"/>
              <a:tblGrid>
                <a:gridCol w="3943023">
                  <a:extLst>
                    <a:ext uri="{9D8B030D-6E8A-4147-A177-3AD203B41FA5}">
                      <a16:colId xmlns:a16="http://schemas.microsoft.com/office/drawing/2014/main" val="1611078346"/>
                    </a:ext>
                  </a:extLst>
                </a:gridCol>
                <a:gridCol w="3943023">
                  <a:extLst>
                    <a:ext uri="{9D8B030D-6E8A-4147-A177-3AD203B41FA5}">
                      <a16:colId xmlns:a16="http://schemas.microsoft.com/office/drawing/2014/main" val="1191871571"/>
                    </a:ext>
                  </a:extLst>
                </a:gridCol>
              </a:tblGrid>
              <a:tr h="32759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Advantages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Disadvantages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6053704"/>
                  </a:ext>
                </a:extLst>
              </a:tr>
              <a:tr h="655179"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staffing = reduced operations cost</a:t>
                      </a:r>
                      <a:endParaRPr lang="en-US" sz="2000" u="none" strike="noStrike" kern="0" spc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Potential to miss unexpected signatures</a:t>
                      </a:r>
                      <a:endParaRPr lang="en-US" sz="2000" u="none" strike="noStrike" kern="0" spc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524528"/>
                  </a:ext>
                </a:extLst>
              </a:tr>
              <a:tr h="655179"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changes for operator error</a:t>
                      </a:r>
                      <a:endParaRPr lang="en-US" sz="2000" u="none" strike="noStrike" kern="0" spc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Potential for fault response to be improper</a:t>
                      </a:r>
                      <a:endParaRPr lang="en-US" sz="2000" u="none" strike="noStrike" kern="0" spc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459840"/>
                  </a:ext>
                </a:extLst>
              </a:tr>
              <a:tr h="655179"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response time to fault responses</a:t>
                      </a:r>
                      <a:endParaRPr lang="en-US" sz="2000" u="none" strike="noStrike" kern="0" spc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Potential to misuse spacecraft resources</a:t>
                      </a:r>
                      <a:endParaRPr lang="en-US" sz="2000" u="none" strike="noStrike" kern="0" spc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871670"/>
                  </a:ext>
                </a:extLst>
              </a:tr>
              <a:tr h="655179"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Potential to reduce data transmitted from spacecraft to ground</a:t>
                      </a:r>
                      <a:endParaRPr lang="en-US" sz="2000" u="none" strike="noStrike" kern="0" spc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50"/>
                        <a:buFont typeface="Symbol" panose="05050102010706020507" pitchFamily="18" charset="2"/>
                        <a:buNone/>
                      </a:pPr>
                      <a:r>
                        <a:rPr lang="en-US" sz="2400" u="none" strike="noStrike" kern="0" spc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Potential to damage spacecraft</a:t>
                      </a:r>
                      <a:endParaRPr lang="en-US" sz="2000" u="none" strike="noStrike" kern="0" spc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194" marR="651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50155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8649" y="5769204"/>
            <a:ext cx="779891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*Decision on how much and where to automate depends on risk posture, mission objectives and budget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47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Contingency Planning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16577"/>
          </a:xfrm>
        </p:spPr>
        <p:txBody>
          <a:bodyPr>
            <a:normAutofit fontScale="92500"/>
          </a:bodyPr>
          <a:lstStyle/>
          <a:p>
            <a:r>
              <a:rPr lang="en-US"/>
              <a:t>Definition: Identifying potential problems and a plan of action to mitigate impact if problem occurs</a:t>
            </a:r>
          </a:p>
          <a:p>
            <a:pPr lvl="1" fontAlgn="base"/>
            <a:r>
              <a:rPr lang="en-US"/>
              <a:t>Not every problem can be anticipated, but the process of developing a contingency plan helps prepare the team to deal with problems when they occur</a:t>
            </a:r>
          </a:p>
          <a:p>
            <a:pPr lvl="1" fontAlgn="base"/>
            <a:r>
              <a:rPr lang="en-US"/>
              <a:t>Prior to flight, identify </a:t>
            </a:r>
            <a:r>
              <a:rPr lang="en-US" b="1"/>
              <a:t>anomaly response team </a:t>
            </a:r>
            <a:r>
              <a:rPr lang="en-US"/>
              <a:t>– should have members of operations and development teams (and possibly other teams)</a:t>
            </a:r>
          </a:p>
          <a:p>
            <a:pPr lvl="1" fontAlgn="base"/>
            <a:r>
              <a:rPr lang="en-US"/>
              <a:t>Prior to flight, the design and operations teams should work together to brainstorm every conceivable potential anomaly and for each case, develop operational responses</a:t>
            </a:r>
          </a:p>
          <a:p>
            <a:pPr lvl="1" fontAlgn="base"/>
            <a:r>
              <a:rPr lang="en-US"/>
              <a:t>During flight, have development team members support operations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771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Contingency Planning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4230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In case of a failure: </a:t>
            </a:r>
          </a:p>
          <a:p>
            <a:pPr lvl="1"/>
            <a:r>
              <a:rPr lang="en-US"/>
              <a:t>Determine how much time is available before a decision is required </a:t>
            </a:r>
          </a:p>
          <a:p>
            <a:pPr lvl="1"/>
            <a:r>
              <a:rPr lang="en-US"/>
              <a:t>Make a timeline of events and include everything that is known </a:t>
            </a:r>
          </a:p>
          <a:p>
            <a:pPr lvl="1"/>
            <a:r>
              <a:rPr lang="en-US"/>
              <a:t>Give all team members all known facts and check every theory against them </a:t>
            </a:r>
          </a:p>
          <a:p>
            <a:pPr lvl="1"/>
            <a:r>
              <a:rPr lang="en-US"/>
              <a:t>Have multiple teams: some should investigate timeline </a:t>
            </a:r>
            <a:r>
              <a:rPr lang="en-US" err="1"/>
              <a:t>replanning</a:t>
            </a:r>
            <a:r>
              <a:rPr lang="en-US"/>
              <a:t>, others should work on hardware/software repair or workarounds </a:t>
            </a:r>
          </a:p>
          <a:p>
            <a:pPr lvl="1"/>
            <a:r>
              <a:rPr lang="en-US"/>
              <a:t>Make sure any deviation from the norm is explained—remember, the wrong conclusion is prologue to the next failure </a:t>
            </a:r>
          </a:p>
          <a:p>
            <a:pPr lvl="1"/>
            <a:r>
              <a:rPr lang="en-US"/>
              <a:t>Do not arrive at a conclusion too rapidly </a:t>
            </a:r>
          </a:p>
          <a:p>
            <a:pPr lvl="1"/>
            <a:r>
              <a:rPr lang="en-US"/>
              <a:t>Know when to stop trying to force-fit a scenario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40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0D0C28-8281-4A5E-933E-6D55CB5DE211}">
  <ds:schemaRefs>
    <ds:schemaRef ds:uri="723aa48c-73f2-40da-86b1-f1ae286477fe"/>
    <ds:schemaRef ds:uri="7584c457-6b5a-4caa-be47-be979cbe655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6D64742-C1D9-4D7A-930D-A3648A9CD5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8F1D8E-A12C-4383-9432-AAC319BE97F3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(4:3)</PresentationFormat>
  <Slides>31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Lesson Objectives</vt:lpstr>
      <vt:lpstr>LAUNCH SYSTEMS</vt:lpstr>
      <vt:lpstr>Launch Systems Intro</vt:lpstr>
      <vt:lpstr>PowerPoint Presentation</vt:lpstr>
      <vt:lpstr>Payload Fairing (PLF)</vt:lpstr>
      <vt:lpstr>PowerPoint Presentation</vt:lpstr>
      <vt:lpstr>PowerPoint Presentation</vt:lpstr>
      <vt:lpstr>Maximum Dynamic Pressure</vt:lpstr>
      <vt:lpstr>PowerPoint Presentation</vt:lpstr>
      <vt:lpstr>Loading Conditions during Launch &amp; Ascent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Launch Limitations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MISSION OPERATIONS</vt:lpstr>
      <vt:lpstr>Space Mission Operations</vt:lpstr>
      <vt:lpstr>PowerPoint Presentation</vt:lpstr>
      <vt:lpstr>Mission Planning</vt:lpstr>
      <vt:lpstr>Automation in Operations (1/2)</vt:lpstr>
      <vt:lpstr>Automation in Operations (2/2)</vt:lpstr>
      <vt:lpstr>Contingency Planning (1/2)</vt:lpstr>
      <vt:lpstr>Contingency Planning (2/2)</vt:lpstr>
    </vt:vector>
  </TitlesOfParts>
  <Company>USAF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Yale, Gary E. Civ USAF USAFA USAFA/DFAS</dc:creator>
  <cp:revision>1</cp:revision>
  <cp:lastPrinted>2019-06-26T14:29:45Z</cp:lastPrinted>
  <dcterms:created xsi:type="dcterms:W3CDTF">2019-06-13T20:36:51Z</dcterms:created>
  <dcterms:modified xsi:type="dcterms:W3CDTF">2023-02-03T05:21:01Z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