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63"/>
  </p:notesMasterIdLst>
  <p:sldIdLst>
    <p:sldId id="256" r:id="rId5"/>
    <p:sldId id="257" r:id="rId6"/>
    <p:sldId id="312" r:id="rId7"/>
    <p:sldId id="301" r:id="rId8"/>
    <p:sldId id="302" r:id="rId9"/>
    <p:sldId id="313" r:id="rId10"/>
    <p:sldId id="314" r:id="rId11"/>
    <p:sldId id="315" r:id="rId12"/>
    <p:sldId id="317" r:id="rId13"/>
    <p:sldId id="318" r:id="rId14"/>
    <p:sldId id="303" r:id="rId15"/>
    <p:sldId id="316" r:id="rId16"/>
    <p:sldId id="319" r:id="rId17"/>
    <p:sldId id="320" r:id="rId18"/>
    <p:sldId id="304" r:id="rId19"/>
    <p:sldId id="305" r:id="rId20"/>
    <p:sldId id="306" r:id="rId21"/>
    <p:sldId id="307" r:id="rId22"/>
    <p:sldId id="322" r:id="rId23"/>
    <p:sldId id="308" r:id="rId24"/>
    <p:sldId id="323" r:id="rId25"/>
    <p:sldId id="309" r:id="rId26"/>
    <p:sldId id="310" r:id="rId27"/>
    <p:sldId id="299" r:id="rId28"/>
    <p:sldId id="324" r:id="rId29"/>
    <p:sldId id="311" r:id="rId30"/>
    <p:sldId id="325" r:id="rId31"/>
    <p:sldId id="326" r:id="rId32"/>
    <p:sldId id="345" r:id="rId33"/>
    <p:sldId id="334" r:id="rId34"/>
    <p:sldId id="346" r:id="rId35"/>
    <p:sldId id="335" r:id="rId36"/>
    <p:sldId id="347" r:id="rId37"/>
    <p:sldId id="348" r:id="rId38"/>
    <p:sldId id="336" r:id="rId39"/>
    <p:sldId id="331" r:id="rId40"/>
    <p:sldId id="337" r:id="rId41"/>
    <p:sldId id="349" r:id="rId42"/>
    <p:sldId id="350" r:id="rId43"/>
    <p:sldId id="351" r:id="rId44"/>
    <p:sldId id="352" r:id="rId45"/>
    <p:sldId id="353" r:id="rId46"/>
    <p:sldId id="327" r:id="rId47"/>
    <p:sldId id="338" r:id="rId48"/>
    <p:sldId id="328" r:id="rId49"/>
    <p:sldId id="330" r:id="rId50"/>
    <p:sldId id="329" r:id="rId51"/>
    <p:sldId id="332" r:id="rId52"/>
    <p:sldId id="333" r:id="rId53"/>
    <p:sldId id="344" r:id="rId54"/>
    <p:sldId id="339" r:id="rId55"/>
    <p:sldId id="354" r:id="rId56"/>
    <p:sldId id="340" r:id="rId57"/>
    <p:sldId id="356" r:id="rId58"/>
    <p:sldId id="341" r:id="rId59"/>
    <p:sldId id="342" r:id="rId60"/>
    <p:sldId id="343" r:id="rId61"/>
    <p:sldId id="355" r:id="rId6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89442" autoAdjust="0"/>
  </p:normalViewPr>
  <p:slideViewPr>
    <p:cSldViewPr snapToGrid="0">
      <p:cViewPr varScale="1">
        <p:scale>
          <a:sx n="87" d="100"/>
          <a:sy n="87" d="100"/>
        </p:scale>
        <p:origin x="228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F3711698-5DD9-46F6-BE65-19B04B1F152B}"/>
    <pc:docChg chg="undo redo custSel addSld delSld modSld sldOrd">
      <pc:chgData name="Harris, Wyatt J Lt Col USAF USAFA DF/DFAS" userId="768bfb95-c272-4014-8fa2-010c15306053" providerId="ADAL" clId="{F3711698-5DD9-46F6-BE65-19B04B1F152B}" dt="2025-12-15T21:18:45.010" v="17769" actId="20577"/>
      <pc:docMkLst>
        <pc:docMk/>
      </pc:docMkLst>
      <pc:sldChg chg="modSp mod">
        <pc:chgData name="Harris, Wyatt J Lt Col USAF USAFA DF/DFAS" userId="768bfb95-c272-4014-8fa2-010c15306053" providerId="ADAL" clId="{F3711698-5DD9-46F6-BE65-19B04B1F152B}" dt="2025-12-15T21:18:45.010" v="17769" actId="20577"/>
        <pc:sldMkLst>
          <pc:docMk/>
          <pc:sldMk cId="3188062351" sldId="256"/>
        </pc:sldMkLst>
        <pc:spChg chg="mod">
          <ac:chgData name="Harris, Wyatt J Lt Col USAF USAFA DF/DFAS" userId="768bfb95-c272-4014-8fa2-010c15306053" providerId="ADAL" clId="{F3711698-5DD9-46F6-BE65-19B04B1F152B}" dt="2025-12-15T21:18:45.010" v="17769" actId="20577"/>
          <ac:spMkLst>
            <pc:docMk/>
            <pc:sldMk cId="3188062351" sldId="256"/>
            <ac:spMk id="2" creationId="{1560E2C4-BC94-2EEF-55E0-A1575A57F5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8115301" y="72097"/>
            <a:ext cx="97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2025 Fall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Lesson </a:t>
            </a:r>
            <a:r>
              <a:rPr lang="en-US" dirty="0"/>
              <a:t>16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Propulsion, Launch Systems, and Mission Operations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DBF176-DFA6-67C7-6558-BF18553F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Propulsion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2618E-C17B-0EDA-E2D8-DDDE32B3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2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S/C Propulsion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 fontAlgn="base">
                  <a:buNone/>
                </a:pPr>
                <a:r>
                  <a:rPr lang="en-US" dirty="0"/>
                  <a:t>Provide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for:</a:t>
                </a:r>
              </a:p>
              <a:p>
                <a:pPr lvl="1" fontAlgn="base"/>
                <a:endParaRPr lang="en-US" dirty="0"/>
              </a:p>
              <a:p>
                <a:pPr marL="457200" lvl="1" indent="0" fontAlgn="base">
                  <a:buNone/>
                </a:pPr>
                <a:r>
                  <a:rPr lang="en-US" dirty="0"/>
                  <a:t>Attitude control</a:t>
                </a:r>
              </a:p>
              <a:p>
                <a:pPr lvl="1" fontAlgn="base"/>
                <a:endParaRPr lang="en-US" dirty="0"/>
              </a:p>
              <a:p>
                <a:pPr marL="457200" lvl="1" indent="0" fontAlgn="base">
                  <a:buNone/>
                </a:pPr>
                <a:r>
                  <a:rPr lang="en-US" dirty="0"/>
                  <a:t>Momentum dumping</a:t>
                </a:r>
              </a:p>
              <a:p>
                <a:pPr lvl="1" fontAlgn="base"/>
                <a:endParaRPr lang="en-US" dirty="0"/>
              </a:p>
              <a:p>
                <a:pPr marL="457200" lvl="1" indent="0" fontAlgn="base">
                  <a:buNone/>
                </a:pPr>
                <a:r>
                  <a:rPr lang="en-US" dirty="0"/>
                  <a:t>Orbit maintenance</a:t>
                </a:r>
              </a:p>
              <a:p>
                <a:pPr lvl="1" fontAlgn="base"/>
                <a:endParaRPr lang="en-US" dirty="0"/>
              </a:p>
              <a:p>
                <a:pPr marL="457200" lvl="1" indent="0" fontAlgn="base">
                  <a:buNone/>
                </a:pPr>
                <a:r>
                  <a:rPr lang="en-US" dirty="0"/>
                  <a:t>Maneuvers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6" t="-1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47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1576198" y="76735"/>
            <a:ext cx="6024099" cy="67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9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06" y="240250"/>
            <a:ext cx="8683733" cy="638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5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Rocket </a:t>
            </a:r>
            <a:r>
              <a:rPr lang="en-US" dirty="0" err="1"/>
              <a:t>Eqn</a:t>
            </a:r>
            <a:r>
              <a:rPr lang="en-US" dirty="0"/>
              <a:t> (and its variants)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2381" y="1197664"/>
                <a:ext cx="7886700" cy="48834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Review of basic rocket theory</a:t>
                </a:r>
              </a:p>
              <a:p>
                <a:pPr lvl="1" fontAlgn="base"/>
                <a:r>
                  <a:rPr lang="en-US" sz="2600" dirty="0"/>
                  <a:t>Newton’s 3</a:t>
                </a:r>
                <a:r>
                  <a:rPr lang="en-US" sz="2600" baseline="30000" dirty="0"/>
                  <a:t>rd</a:t>
                </a:r>
                <a:r>
                  <a:rPr lang="en-US" sz="2600" dirty="0"/>
                  <a:t> Law – equal and opposite reactions</a:t>
                </a:r>
              </a:p>
              <a:p>
                <a:pPr lvl="1" fontAlgn="base"/>
                <a:r>
                  <a:rPr lang="en-US" sz="2600" dirty="0"/>
                  <a:t>Newton’s 2</a:t>
                </a:r>
                <a:r>
                  <a:rPr lang="en-US" sz="2600" baseline="30000" dirty="0"/>
                  <a:t>nd</a:t>
                </a:r>
                <a:r>
                  <a:rPr lang="en-US" sz="2600" dirty="0"/>
                  <a:t> Law – derive </a:t>
                </a:r>
              </a:p>
              <a:p>
                <a:pPr marL="457200" lvl="1" indent="0" fontAlgn="base">
                  <a:buNone/>
                </a:pPr>
                <a:endParaRPr lang="en-US" dirty="0"/>
              </a:p>
              <a:p>
                <a:pPr marL="457200" lvl="1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𝑚𝑣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𝑑𝑚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3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𝑚𝑎</m:t>
                      </m:r>
                    </m:oMath>
                  </m:oMathPara>
                </a14:m>
                <a:endParaRPr lang="en-US" sz="3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:endParaRPr lang="en-US" sz="2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600" dirty="0"/>
                  <a:t> = force of thrust (N)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600" dirty="0"/>
                  <a:t> = linear momentum (</a:t>
                </a:r>
                <a:r>
                  <a:rPr lang="en-US" sz="2600" dirty="0" err="1"/>
                  <a:t>kg·m</a:t>
                </a:r>
                <a:r>
                  <a:rPr lang="en-US" sz="2600" dirty="0"/>
                  <a:t>/s)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600" dirty="0"/>
                  <a:t> = mass (kg)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600" dirty="0"/>
                  <a:t> = velocity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sz="2600" dirty="0"/>
                  <a:t> = time rate of change of mass (kg/s)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600" dirty="0"/>
                  <a:t> = acceleration (m/s</a:t>
                </a:r>
                <a:r>
                  <a:rPr lang="en-US" sz="2600" baseline="30000" dirty="0"/>
                  <a:t>2</a:t>
                </a:r>
                <a:r>
                  <a:rPr lang="en-US" sz="2600" dirty="0"/>
                  <a:t>)</a:t>
                </a:r>
              </a:p>
              <a:p>
                <a:pPr marL="457200" lvl="1" indent="0" fontAlgn="base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381" y="1197664"/>
                <a:ext cx="7886700" cy="4883400"/>
              </a:xfrm>
              <a:blipFill>
                <a:blip r:embed="rId2"/>
                <a:stretch>
                  <a:fillRect l="-1391" t="-3367" b="-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50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Parameters of Rocket Design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0025" y="1002506"/>
                <a:ext cx="8793015" cy="572230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Thrust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𝑒𝑥𝑖𝑡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𝑒𝑥𝑖𝑡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𝑒𝑥𝑖𝑡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𝑎𝑡𝑚𝑜𝑠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	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force of thrust (N)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dirty="0"/>
                  <a:t> = propellant mass flow rate (kg/s)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𝑒𝑥𝑖𝑡</m:t>
                        </m:r>
                      </m:sub>
                    </m:sSub>
                  </m:oMath>
                </a14:m>
                <a:r>
                  <a:rPr lang="en-US" dirty="0"/>
                  <a:t> = propellant exhaust velocity (m/s)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𝑒𝑥𝑖𝑡</m:t>
                        </m:r>
                      </m:sub>
                    </m:sSub>
                  </m:oMath>
                </a14:m>
                <a:r>
                  <a:rPr lang="en-US" dirty="0"/>
                  <a:t> = nozzle exit area (m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𝑒𝑥𝑖𝑡</m:t>
                        </m:r>
                      </m:sub>
                    </m:sSub>
                  </m:oMath>
                </a14:m>
                <a:r>
                  <a:rPr lang="en-US" dirty="0"/>
                  <a:t> = gas pressure at nozzle exit (Pa or N/m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𝑎𝑡𝑚𝑜𝑠</m:t>
                        </m:r>
                      </m:sub>
                    </m:sSub>
                  </m:oMath>
                </a14:m>
                <a:r>
                  <a:rPr lang="en-US" dirty="0"/>
                  <a:t> = ambient pressure (Pa or N/m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1002506"/>
                <a:ext cx="8793015" cy="5722308"/>
              </a:xfrm>
              <a:blipFill>
                <a:blip r:embed="rId2"/>
                <a:stretch>
                  <a:fillRect l="-1248" t="-2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61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Parameters of Rocket Design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Specific Impulse</a:t>
                </a:r>
              </a:p>
              <a:p>
                <a:pPr marL="457200" lvl="1" indent="0">
                  <a:buNone/>
                </a:pPr>
                <a:r>
                  <a:rPr lang="en-US" dirty="0"/>
                  <a:t>Ratio of the thrust to the weight flow rate of the propellant – it is a measure of the efficiency of the flow (a larger number is better)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force of thrust (N)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dirty="0"/>
                  <a:t> = mass flow rate (kg/s)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acceleration due to gravity of central body (m/s</a:t>
                </a:r>
                <a:r>
                  <a:rPr lang="en-US" baseline="30000" dirty="0"/>
                  <a:t>2</a:t>
                </a:r>
                <a:r>
                  <a:rPr lang="en-US" dirty="0"/>
                  <a:t>) (9.807 m/s</a:t>
                </a:r>
                <a:r>
                  <a:rPr lang="en-US" baseline="30000" dirty="0"/>
                  <a:t>2</a:t>
                </a:r>
                <a:r>
                  <a:rPr lang="en-US" dirty="0"/>
                  <a:t> for Earth)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6" t="-1981" r="-1040" b="-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291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Rocket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8135" y="1178806"/>
                <a:ext cx="8857561" cy="534528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Developed by Konstantin Tsiolkovsky in 1903: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= velocity change produced by propulsion system (m/s)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𝑠𝑝</m:t>
                        </m:r>
                      </m:sub>
                    </m:sSub>
                  </m:oMath>
                </a14:m>
                <a:r>
                  <a:rPr lang="en-US" dirty="0"/>
                  <a:t> = specific impulse (s)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acceleration due to gravity of central body (m/s</a:t>
                </a:r>
                <a:r>
                  <a:rPr lang="en-US" baseline="30000" dirty="0"/>
                  <a:t>2</a:t>
                </a:r>
                <a:r>
                  <a:rPr lang="en-US" dirty="0"/>
                  <a:t>) (9.807 m/s</a:t>
                </a:r>
                <a:r>
                  <a:rPr lang="en-US" baseline="30000" dirty="0"/>
                  <a:t>2</a:t>
                </a:r>
                <a:r>
                  <a:rPr lang="en-US" dirty="0"/>
                  <a:t> for Earth)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initial vehicle mass (kg)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= final vehicle mass (kg) (after propellant has been expended)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135" y="1178806"/>
                <a:ext cx="8857561" cy="5345284"/>
              </a:xfrm>
              <a:blipFill>
                <a:blip r:embed="rId2"/>
                <a:stretch>
                  <a:fillRect l="-1239" t="-3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722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Rocket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284324"/>
            <a:ext cx="7886700" cy="22294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Note that we achieve greatest thrust when exit pressure = ambient pressure</a:t>
            </a:r>
          </a:p>
          <a:p>
            <a:pPr lvl="1" fontAlgn="base"/>
            <a:r>
              <a:rPr lang="en-US" dirty="0"/>
              <a:t>Although it looks like thrust would be greater with exit pressure greater than ambient pressure, the exhaust velocity is reduced, resulting in a loss of thrust</a:t>
            </a:r>
          </a:p>
          <a:p>
            <a:pPr lvl="1" fontAlgn="base"/>
            <a:r>
              <a:rPr lang="en-US" dirty="0"/>
              <a:t>Thus, we design rocket exhaust nozzles with an exit pressure equal to ambient pressure whenever possible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66966" y="1128688"/>
            <a:ext cx="7087212" cy="288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3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50" y="951469"/>
            <a:ext cx="8870899" cy="590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6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Nozzle Expansion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b="796"/>
          <a:stretch/>
        </p:blipFill>
        <p:spPr bwMode="auto">
          <a:xfrm>
            <a:off x="1433245" y="1510303"/>
            <a:ext cx="6277510" cy="43973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4687" y="6000107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atmos</a:t>
            </a:r>
            <a:r>
              <a:rPr lang="en-US" dirty="0"/>
              <a:t> &gt; </a:t>
            </a:r>
            <a:r>
              <a:rPr lang="en-US" dirty="0" err="1"/>
              <a:t>P</a:t>
            </a:r>
            <a:r>
              <a:rPr lang="en-US" baseline="-25000" dirty="0" err="1"/>
              <a:t>exit</a:t>
            </a:r>
            <a:r>
              <a:rPr lang="en-US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3657" y="6000107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atmos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baseline="-25000" dirty="0" err="1"/>
              <a:t>exit</a:t>
            </a:r>
            <a:r>
              <a:rPr lang="en-US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1136" y="6000107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atmos</a:t>
            </a:r>
            <a:r>
              <a:rPr lang="en-US" dirty="0"/>
              <a:t> &lt; </a:t>
            </a:r>
            <a:r>
              <a:rPr lang="en-US" dirty="0" err="1"/>
              <a:t>P</a:t>
            </a:r>
            <a:r>
              <a:rPr lang="en-US" baseline="-25000" dirty="0" err="1"/>
              <a:t>exit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3116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Nozzle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For spacecraft propulsion, where the ambient pressure is zero, thrust is always higher with larger nozzle expansion ratios: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	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= nozzle area expansion ratio (</a:t>
                </a:r>
                <a:r>
                  <a:rPr lang="en-US" dirty="0" err="1"/>
                  <a:t>unitless</a:t>
                </a:r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 = area of nozzle exit (m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area of the throat (m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6" t="-2797" r="-1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169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Common Types of Spacecraft Propulsion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" y="1002506"/>
            <a:ext cx="8793015" cy="5722308"/>
          </a:xfrm>
        </p:spPr>
        <p:txBody>
          <a:bodyPr>
            <a:normAutofit fontScale="92500" lnSpcReduction="10000"/>
          </a:bodyPr>
          <a:lstStyle/>
          <a:p>
            <a:pPr marL="0" lvl="0" indent="0" fontAlgn="base">
              <a:buNone/>
            </a:pPr>
            <a:r>
              <a:rPr lang="en-US" b="1" dirty="0"/>
              <a:t>Cold gas</a:t>
            </a:r>
            <a:endParaRPr lang="en-US" sz="2400" b="1" dirty="0"/>
          </a:p>
          <a:p>
            <a:pPr marL="457200" lvl="1" indent="0" fontAlgn="base">
              <a:buNone/>
            </a:pPr>
            <a:r>
              <a:rPr lang="en-US" dirty="0"/>
              <a:t>Controlled, pressurized gas source with a nozzle</a:t>
            </a:r>
          </a:p>
          <a:p>
            <a:pPr lvl="2" fontAlgn="base"/>
            <a:r>
              <a:rPr lang="en-US" dirty="0"/>
              <a:t>Simplest form of a rocket engine</a:t>
            </a:r>
            <a:endParaRPr lang="en-US" sz="1800" dirty="0"/>
          </a:p>
          <a:p>
            <a:pPr lvl="3" fontAlgn="base"/>
            <a:endParaRPr lang="en-US" sz="1600" dirty="0"/>
          </a:p>
          <a:p>
            <a:pPr marL="0" lvl="0" indent="0" fontAlgn="base">
              <a:buNone/>
            </a:pPr>
            <a:r>
              <a:rPr lang="en-US" b="1" dirty="0"/>
              <a:t>Chemical</a:t>
            </a:r>
            <a:endParaRPr lang="en-US" sz="2400" b="1" dirty="0"/>
          </a:p>
          <a:p>
            <a:pPr marL="457200" lvl="1" indent="0" fontAlgn="base">
              <a:buNone/>
            </a:pPr>
            <a:r>
              <a:rPr lang="en-US" b="1" dirty="0"/>
              <a:t>Liquid</a:t>
            </a:r>
            <a:r>
              <a:rPr lang="en-US" dirty="0"/>
              <a:t>: stored as liquids in tanks and fed on demand into the combustion chamber by gas pressurization or a pump</a:t>
            </a:r>
            <a:endParaRPr lang="en-US" sz="2200" dirty="0"/>
          </a:p>
          <a:p>
            <a:pPr lvl="2" fontAlgn="base"/>
            <a:r>
              <a:rPr lang="en-US" b="1" dirty="0"/>
              <a:t>Bipropellant</a:t>
            </a:r>
            <a:r>
              <a:rPr lang="en-US" dirty="0"/>
              <a:t>: chemically react a fuel and an oxidizer</a:t>
            </a:r>
            <a:endParaRPr lang="en-US" sz="1800" dirty="0"/>
          </a:p>
          <a:p>
            <a:pPr lvl="3" fontAlgn="base"/>
            <a:r>
              <a:rPr lang="en-US" dirty="0"/>
              <a:t>Higher specific impulse but additional complexity and cost</a:t>
            </a:r>
          </a:p>
          <a:p>
            <a:pPr lvl="2" fontAlgn="base"/>
            <a:r>
              <a:rPr lang="en-US" b="1" dirty="0"/>
              <a:t>Monopropellant</a:t>
            </a:r>
            <a:r>
              <a:rPr lang="en-US" dirty="0"/>
              <a:t>: catalytically decompose a single propellant</a:t>
            </a:r>
          </a:p>
          <a:p>
            <a:pPr marL="457200" lvl="1" indent="0" fontAlgn="base">
              <a:buNone/>
            </a:pPr>
            <a:endParaRPr lang="en-US" b="1" dirty="0"/>
          </a:p>
          <a:p>
            <a:pPr marL="457200" lvl="1" indent="0" fontAlgn="base">
              <a:buNone/>
            </a:pPr>
            <a:r>
              <a:rPr lang="en-US" b="1" dirty="0"/>
              <a:t>Solid</a:t>
            </a:r>
            <a:r>
              <a:rPr lang="en-US" dirty="0"/>
              <a:t>: stores propellants in solid form</a:t>
            </a:r>
          </a:p>
          <a:p>
            <a:pPr lvl="2" fontAlgn="base"/>
            <a:r>
              <a:rPr lang="en-US" dirty="0"/>
              <a:t>lower specific impulse, but simpler than liquid engines</a:t>
            </a:r>
          </a:p>
          <a:p>
            <a:pPr marL="457200" lvl="1" indent="0" fontAlgn="base">
              <a:buNone/>
            </a:pPr>
            <a:endParaRPr lang="en-US" b="1" dirty="0"/>
          </a:p>
          <a:p>
            <a:pPr marL="457200" lvl="1" indent="0" fontAlgn="base">
              <a:buNone/>
            </a:pPr>
            <a:r>
              <a:rPr lang="en-US" b="1" dirty="0"/>
              <a:t>Hybrid</a:t>
            </a:r>
            <a:r>
              <a:rPr lang="en-US" dirty="0"/>
              <a:t>: propellants are stored in different forms; typically, fuel is solid and oxidizer is a liquid or gas</a:t>
            </a:r>
            <a:endParaRPr lang="en-US" sz="2200" dirty="0"/>
          </a:p>
          <a:p>
            <a:pPr lvl="2" fontAlgn="base"/>
            <a:r>
              <a:rPr lang="en-US" dirty="0"/>
              <a:t>Attractive because of safety, allow for throttling and restart, fuel storability, environmentally clean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81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2298288" y="958604"/>
            <a:ext cx="4547425" cy="574998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70333" y="0"/>
            <a:ext cx="3947504" cy="837282"/>
          </a:xfrm>
        </p:spPr>
        <p:txBody>
          <a:bodyPr/>
          <a:lstStyle/>
          <a:p>
            <a:r>
              <a:rPr lang="en-US" dirty="0"/>
              <a:t>Liquid Bipropellant</a:t>
            </a:r>
          </a:p>
        </p:txBody>
      </p:sp>
    </p:spTree>
    <p:extLst>
      <p:ext uri="{BB962C8B-B14F-4D97-AF65-F5344CB8AC3E}">
        <p14:creationId xmlns:p14="http://schemas.microsoft.com/office/powerpoint/2010/main" val="959827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0" y="1551521"/>
            <a:ext cx="9040979" cy="4147977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 Monopropellant</a:t>
            </a:r>
          </a:p>
        </p:txBody>
      </p:sp>
    </p:spTree>
    <p:extLst>
      <p:ext uri="{BB962C8B-B14F-4D97-AF65-F5344CB8AC3E}">
        <p14:creationId xmlns:p14="http://schemas.microsoft.com/office/powerpoint/2010/main" val="3112704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8" y="1033830"/>
            <a:ext cx="8784403" cy="56479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72567" y="1"/>
            <a:ext cx="7886700" cy="837282"/>
          </a:xfrm>
        </p:spPr>
        <p:txBody>
          <a:bodyPr/>
          <a:lstStyle/>
          <a:p>
            <a:r>
              <a:rPr lang="en-US" dirty="0"/>
              <a:t>Solid</a:t>
            </a:r>
          </a:p>
        </p:txBody>
      </p:sp>
    </p:spTree>
    <p:extLst>
      <p:ext uri="{BB962C8B-B14F-4D97-AF65-F5344CB8AC3E}">
        <p14:creationId xmlns:p14="http://schemas.microsoft.com/office/powerpoint/2010/main" val="363580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0" y="1434208"/>
            <a:ext cx="8835519" cy="398958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</a:t>
            </a:r>
          </a:p>
        </p:txBody>
      </p:sp>
    </p:spTree>
    <p:extLst>
      <p:ext uri="{BB962C8B-B14F-4D97-AF65-F5344CB8AC3E}">
        <p14:creationId xmlns:p14="http://schemas.microsoft.com/office/powerpoint/2010/main" val="1683058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Common Types of Spacecraft Propellant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7" y="1399142"/>
            <a:ext cx="8725359" cy="5197610"/>
          </a:xfrm>
        </p:spPr>
        <p:txBody>
          <a:bodyPr>
            <a:normAutofit/>
          </a:bodyPr>
          <a:lstStyle/>
          <a:p>
            <a:pPr marL="0" lvl="0" indent="0" fontAlgn="base">
              <a:buNone/>
            </a:pPr>
            <a:r>
              <a:rPr lang="en-US" b="1" dirty="0"/>
              <a:t>Electric</a:t>
            </a:r>
            <a:r>
              <a:rPr lang="en-US" dirty="0"/>
              <a:t>: produces thrust using externally provided electrical power either from Sun, nuclear, or thermodynamic conversion to accelerate fluid.</a:t>
            </a:r>
          </a:p>
          <a:p>
            <a:pPr marL="0" lvl="0" indent="0" fontAlgn="base">
              <a:buNone/>
            </a:pPr>
            <a:endParaRPr lang="en-US" sz="2400" dirty="0"/>
          </a:p>
          <a:p>
            <a:pPr marL="457200" lvl="1" indent="0" fontAlgn="base">
              <a:buNone/>
            </a:pPr>
            <a:r>
              <a:rPr lang="en-US" b="1" dirty="0" err="1"/>
              <a:t>Electrothermal</a:t>
            </a:r>
            <a:r>
              <a:rPr lang="en-US" dirty="0"/>
              <a:t>: gas heat via resistance element or arc and expanded through nozzle</a:t>
            </a:r>
            <a:endParaRPr lang="en-US" sz="2200" dirty="0"/>
          </a:p>
          <a:p>
            <a:pPr lvl="1" fontAlgn="base"/>
            <a:endParaRPr lang="en-US" b="1" dirty="0"/>
          </a:p>
          <a:p>
            <a:pPr marL="457200" lvl="1" indent="0" fontAlgn="base">
              <a:buNone/>
            </a:pPr>
            <a:r>
              <a:rPr lang="en-US" b="1" dirty="0"/>
              <a:t>Electrostatic</a:t>
            </a:r>
            <a:r>
              <a:rPr lang="en-US" dirty="0"/>
              <a:t>: ions electrostatically accelerated</a:t>
            </a:r>
            <a:endParaRPr lang="en-US" sz="2200" dirty="0"/>
          </a:p>
          <a:p>
            <a:pPr lvl="1" fontAlgn="base"/>
            <a:endParaRPr lang="en-US" b="1" dirty="0"/>
          </a:p>
          <a:p>
            <a:pPr marL="457200" lvl="1" indent="0" fontAlgn="base">
              <a:buNone/>
            </a:pPr>
            <a:r>
              <a:rPr lang="en-US" b="1" dirty="0"/>
              <a:t>Electromagnetic</a:t>
            </a:r>
            <a:r>
              <a:rPr lang="en-US" dirty="0"/>
              <a:t>: plasma accelerated via interaction of current and magnetic field</a:t>
            </a:r>
            <a:endParaRPr lang="en-US" sz="2200" dirty="0"/>
          </a:p>
          <a:p>
            <a:pPr lvl="3" fontAlgn="base"/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477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1099648" y="1062658"/>
            <a:ext cx="6944705" cy="573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686467-35CE-42F8-EFC9-FBE54DDE4BCC}"/>
              </a:ext>
            </a:extLst>
          </p:cNvPr>
          <p:cNvSpPr txBox="1">
            <a:spLocks/>
          </p:cNvSpPr>
          <p:nvPr/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Electric Propulsion Comparison</a:t>
            </a:r>
          </a:p>
        </p:txBody>
      </p:sp>
    </p:spTree>
    <p:extLst>
      <p:ext uri="{BB962C8B-B14F-4D97-AF65-F5344CB8AC3E}">
        <p14:creationId xmlns:p14="http://schemas.microsoft.com/office/powerpoint/2010/main" val="1381250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Propulsion Concepts (gee-whiz)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base">
              <a:buNone/>
            </a:pPr>
            <a:r>
              <a:rPr lang="en-US" b="1" dirty="0"/>
              <a:t>Solar Sails </a:t>
            </a:r>
            <a:r>
              <a:rPr lang="en-US" dirty="0"/>
              <a:t>– large sheets of thin reflective material, using photons to push the sail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lvl="0" indent="0" fontAlgn="base">
              <a:buNone/>
            </a:pPr>
            <a:r>
              <a:rPr lang="en-US" b="1" dirty="0"/>
              <a:t>Solar Thermal </a:t>
            </a:r>
            <a:r>
              <a:rPr lang="en-US" dirty="0"/>
              <a:t>– use large solar reflectors to heat propellant in a “combustion” chamber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lvl="0" indent="0" fontAlgn="base">
              <a:buNone/>
            </a:pPr>
            <a:r>
              <a:rPr lang="en-US" b="1" dirty="0"/>
              <a:t>Nuclear Thermal </a:t>
            </a:r>
            <a:r>
              <a:rPr lang="en-US" dirty="0"/>
              <a:t>– heat propellant in “combustion” chamber using a nuclear reactor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011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631758" y="37877"/>
            <a:ext cx="4400550" cy="68865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471" y="1024568"/>
            <a:ext cx="3778963" cy="2786401"/>
          </a:xfrm>
        </p:spPr>
        <p:txBody>
          <a:bodyPr>
            <a:normAutofit/>
          </a:bodyPr>
          <a:lstStyle/>
          <a:p>
            <a:r>
              <a:rPr lang="en-US" sz="3200" dirty="0"/>
              <a:t>Performance Comparison of Different Propellants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F1D212E-71E1-8E62-DB33-80FC3E5C6D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7854048"/>
              </p:ext>
            </p:extLst>
          </p:nvPr>
        </p:nvGraphicFramePr>
        <p:xfrm>
          <a:off x="136231" y="3810969"/>
          <a:ext cx="4358649" cy="256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883">
                  <a:extLst>
                    <a:ext uri="{9D8B030D-6E8A-4147-A177-3AD203B41FA5}">
                      <a16:colId xmlns:a16="http://schemas.microsoft.com/office/drawing/2014/main" val="2407587894"/>
                    </a:ext>
                  </a:extLst>
                </a:gridCol>
                <a:gridCol w="1452883">
                  <a:extLst>
                    <a:ext uri="{9D8B030D-6E8A-4147-A177-3AD203B41FA5}">
                      <a16:colId xmlns:a16="http://schemas.microsoft.com/office/drawing/2014/main" val="3775332367"/>
                    </a:ext>
                  </a:extLst>
                </a:gridCol>
                <a:gridCol w="1452883">
                  <a:extLst>
                    <a:ext uri="{9D8B030D-6E8A-4147-A177-3AD203B41FA5}">
                      <a16:colId xmlns:a16="http://schemas.microsoft.com/office/drawing/2014/main" val="2060337542"/>
                    </a:ext>
                  </a:extLst>
                </a:gridCol>
              </a:tblGrid>
              <a:tr h="4516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Isp (sec)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Thrust (N)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0046888"/>
                  </a:ext>
                </a:extLst>
              </a:tr>
              <a:tr h="4516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Chemical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140 – 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450 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 – 12,000,000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24550"/>
                  </a:ext>
                </a:extLst>
              </a:tr>
              <a:tr h="4516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Electric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 – 10,000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0.0001 - 20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4992193"/>
                  </a:ext>
                </a:extLst>
              </a:tr>
              <a:tr h="4516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Nuclear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800 – 1100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Up to 12,000,000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1792904"/>
                  </a:ext>
                </a:extLst>
              </a:tr>
              <a:tr h="4516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Cold Gas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60 - 250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0.1 - 50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539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41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209" y="0"/>
            <a:ext cx="5408791" cy="685800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45857" y="980584"/>
            <a:ext cx="3399879" cy="26452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Advantages &amp; Disadvantages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C443722-835C-76CF-EA53-8A96ADCBD7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1213836"/>
              </p:ext>
            </p:extLst>
          </p:nvPr>
        </p:nvGraphicFramePr>
        <p:xfrm>
          <a:off x="0" y="2110574"/>
          <a:ext cx="3745736" cy="4747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0165">
                  <a:extLst>
                    <a:ext uri="{9D8B030D-6E8A-4147-A177-3AD203B41FA5}">
                      <a16:colId xmlns:a16="http://schemas.microsoft.com/office/drawing/2014/main" val="1903696095"/>
                    </a:ext>
                  </a:extLst>
                </a:gridCol>
                <a:gridCol w="1736859">
                  <a:extLst>
                    <a:ext uri="{9D8B030D-6E8A-4147-A177-3AD203B41FA5}">
                      <a16:colId xmlns:a16="http://schemas.microsoft.com/office/drawing/2014/main" val="1810184541"/>
                    </a:ext>
                  </a:extLst>
                </a:gridCol>
                <a:gridCol w="1248712">
                  <a:extLst>
                    <a:ext uri="{9D8B030D-6E8A-4147-A177-3AD203B41FA5}">
                      <a16:colId xmlns:a16="http://schemas.microsoft.com/office/drawing/2014/main" val="237802568"/>
                    </a:ext>
                  </a:extLst>
                </a:gridCol>
              </a:tblGrid>
              <a:tr h="1926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5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Pros</a:t>
                      </a:r>
                      <a:endParaRPr lang="en-US" sz="105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Cons</a:t>
                      </a:r>
                      <a:endParaRPr lang="en-US" sz="105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extLst>
                  <a:ext uri="{0D108BD9-81ED-4DB2-BD59-A6C34878D82A}">
                    <a16:rowId xmlns:a16="http://schemas.microsoft.com/office/drawing/2014/main" val="2324892019"/>
                  </a:ext>
                </a:extLst>
              </a:tr>
              <a:tr h="12639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Chemical - Liquid</a:t>
                      </a:r>
                      <a:endParaRPr lang="en-US" sz="105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Higher Isp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Throttleable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Re-start able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Two propellants - complicated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Intense combustion temps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Sometimes cryogenic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Sometimes toxic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extLst>
                  <a:ext uri="{0D108BD9-81ED-4DB2-BD59-A6C34878D82A}">
                    <a16:rowId xmlns:a16="http://schemas.microsoft.com/office/drawing/2014/main" val="2019813866"/>
                  </a:ext>
                </a:extLst>
              </a:tr>
              <a:tr h="970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solidFill>
                            <a:schemeClr val="tx1"/>
                          </a:solidFill>
                          <a:effectLst/>
                        </a:rPr>
                        <a:t>Chemical - Solid</a:t>
                      </a:r>
                      <a:endParaRPr lang="en-US" sz="105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Simple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Reliable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No propellant management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Higher Thrust-to-Weight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Cracks can form in propellant grain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No restart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Can’t stop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Modest Isp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extLst>
                  <a:ext uri="{0D108BD9-81ED-4DB2-BD59-A6C34878D82A}">
                    <a16:rowId xmlns:a16="http://schemas.microsoft.com/office/drawing/2014/main" val="3081817957"/>
                  </a:ext>
                </a:extLst>
              </a:tr>
              <a:tr h="7419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Electric</a:t>
                      </a:r>
                      <a:endParaRPr lang="en-US" sz="105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Simple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Can achieve very high specific impulses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No moving parts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Large amount of electrical power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Low thrust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extLst>
                  <a:ext uri="{0D108BD9-81ED-4DB2-BD59-A6C34878D82A}">
                    <a16:rowId xmlns:a16="http://schemas.microsoft.com/office/drawing/2014/main" val="1556727027"/>
                  </a:ext>
                </a:extLst>
              </a:tr>
              <a:tr h="7419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solidFill>
                            <a:schemeClr val="tx1"/>
                          </a:solidFill>
                          <a:effectLst/>
                        </a:rPr>
                        <a:t>Nuclear</a:t>
                      </a:r>
                      <a:endParaRPr lang="en-US" sz="105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Long-term energy supply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High Isp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High thrust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Environmental issues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Political issues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No flight heritage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extLst>
                  <a:ext uri="{0D108BD9-81ED-4DB2-BD59-A6C34878D82A}">
                    <a16:rowId xmlns:a16="http://schemas.microsoft.com/office/drawing/2014/main" val="1710122746"/>
                  </a:ext>
                </a:extLst>
              </a:tr>
              <a:tr h="8230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Cold Gas</a:t>
                      </a:r>
                      <a:endParaRPr lang="en-US" sz="105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Simplest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Safest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Restart able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Throttleable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Low Isp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97" marR="64097" marT="0" marB="0"/>
                </a:tc>
                <a:extLst>
                  <a:ext uri="{0D108BD9-81ED-4DB2-BD59-A6C34878D82A}">
                    <a16:rowId xmlns:a16="http://schemas.microsoft.com/office/drawing/2014/main" val="3042455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390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146" y="87724"/>
            <a:ext cx="7713869" cy="716507"/>
          </a:xfrm>
        </p:spPr>
        <p:txBody>
          <a:bodyPr/>
          <a:lstStyle/>
          <a:p>
            <a:r>
              <a:rPr lang="en-US" dirty="0"/>
              <a:t>Propulsion Systems Suitability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96" y="1078720"/>
            <a:ext cx="7991368" cy="50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0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Propellant Tank Sizing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base">
              <a:buNone/>
            </a:pPr>
            <a:endParaRPr lang="en-US" dirty="0"/>
          </a:p>
          <a:p>
            <a:pPr marL="0" lvl="0" indent="0" fontAlgn="base">
              <a:buNone/>
            </a:pPr>
            <a:endParaRPr lang="en-US" dirty="0"/>
          </a:p>
          <a:p>
            <a:pPr marL="514350" lvl="0" indent="-514350" fontAlgn="base">
              <a:buAutoNum type="arabicParenBoth"/>
            </a:pPr>
            <a:r>
              <a:rPr lang="en-US" dirty="0"/>
              <a:t>Calculate propellant volume using densities </a:t>
            </a:r>
          </a:p>
          <a:p>
            <a:pPr marL="457200" lvl="1" indent="0" fontAlgn="base">
              <a:buNone/>
            </a:pPr>
            <a:r>
              <a:rPr lang="en-US" dirty="0"/>
              <a:t>(Table 17-4)</a:t>
            </a:r>
          </a:p>
          <a:p>
            <a:pPr marL="457200" lvl="0" indent="-457200" fontAlgn="base">
              <a:buAutoNum type="arabicParenBoth"/>
            </a:pPr>
            <a:endParaRPr lang="en-US" dirty="0"/>
          </a:p>
          <a:p>
            <a:pPr marL="457200" lvl="0" indent="-457200" fontAlgn="base">
              <a:buAutoNum type="arabicParenBoth"/>
            </a:pPr>
            <a:r>
              <a:rPr lang="en-US" dirty="0"/>
              <a:t>Add additional volume to account for ullage &amp; possible shrinkage (an issue for cryogenic fuels)</a:t>
            </a:r>
            <a:endParaRPr lang="en-US" sz="2400" dirty="0"/>
          </a:p>
          <a:p>
            <a:pPr marL="457200" lvl="1" indent="0" fontAlgn="base">
              <a:buNone/>
            </a:pPr>
            <a:endParaRPr lang="en-US" b="1" dirty="0"/>
          </a:p>
          <a:p>
            <a:pPr marL="457200" lvl="1" indent="0" fontAlgn="base">
              <a:buNone/>
            </a:pPr>
            <a:r>
              <a:rPr lang="en-US" b="1" dirty="0"/>
              <a:t>Ullage</a:t>
            </a:r>
            <a:r>
              <a:rPr lang="en-US" dirty="0"/>
              <a:t>: extra tank volume at the top of the tank to provide space for pressurization gas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896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76046" y="113015"/>
            <a:ext cx="7089168" cy="66473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6058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Tank Size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(3) Select general tank geometry:  solve for dimensions and mass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198012"/>
                  </p:ext>
                </p:extLst>
              </p:nvPr>
            </p:nvGraphicFramePr>
            <p:xfrm>
              <a:off x="605985" y="2241248"/>
              <a:ext cx="7981093" cy="35128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56000">
                      <a:extLst>
                        <a:ext uri="{9D8B030D-6E8A-4147-A177-3AD203B41FA5}">
                          <a16:colId xmlns:a16="http://schemas.microsoft.com/office/drawing/2014/main" val="187161968"/>
                        </a:ext>
                      </a:extLst>
                    </a:gridCol>
                    <a:gridCol w="1775821">
                      <a:extLst>
                        <a:ext uri="{9D8B030D-6E8A-4147-A177-3AD203B41FA5}">
                          <a16:colId xmlns:a16="http://schemas.microsoft.com/office/drawing/2014/main" val="3128387550"/>
                        </a:ext>
                      </a:extLst>
                    </a:gridCol>
                    <a:gridCol w="2424636">
                      <a:extLst>
                        <a:ext uri="{9D8B030D-6E8A-4147-A177-3AD203B41FA5}">
                          <a16:colId xmlns:a16="http://schemas.microsoft.com/office/drawing/2014/main" val="464484569"/>
                        </a:ext>
                      </a:extLst>
                    </a:gridCol>
                    <a:gridCol w="2424636">
                      <a:extLst>
                        <a:ext uri="{9D8B030D-6E8A-4147-A177-3AD203B41FA5}">
                          <a16:colId xmlns:a16="http://schemas.microsoft.com/office/drawing/2014/main" val="669139310"/>
                        </a:ext>
                      </a:extLst>
                    </a:gridCol>
                  </a:tblGrid>
                  <a:tr h="5581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Tank Shape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7624882"/>
                      </a:ext>
                    </a:extLst>
                  </a:tr>
                  <a:tr h="7397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Spherical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Cylinder with Hemispherical Caps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Reference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8538974"/>
                      </a:ext>
                    </a:extLst>
                  </a:tr>
                  <a:tr h="65503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Volume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Std definition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1252676"/>
                      </a:ext>
                    </a:extLst>
                  </a:tr>
                  <a:tr h="39302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Surface Area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𝑆𝐴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=4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𝑟𝑙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+4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Std definition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7348673"/>
                      </a:ext>
                    </a:extLst>
                  </a:tr>
                  <a:tr h="95028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Wall Thickness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𝑝𝑟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𝑝𝑟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534335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198012"/>
                  </p:ext>
                </p:extLst>
              </p:nvPr>
            </p:nvGraphicFramePr>
            <p:xfrm>
              <a:off x="605985" y="2241248"/>
              <a:ext cx="7981093" cy="35128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56000">
                      <a:extLst>
                        <a:ext uri="{9D8B030D-6E8A-4147-A177-3AD203B41FA5}">
                          <a16:colId xmlns:a16="http://schemas.microsoft.com/office/drawing/2014/main" val="187161968"/>
                        </a:ext>
                      </a:extLst>
                    </a:gridCol>
                    <a:gridCol w="1775821">
                      <a:extLst>
                        <a:ext uri="{9D8B030D-6E8A-4147-A177-3AD203B41FA5}">
                          <a16:colId xmlns:a16="http://schemas.microsoft.com/office/drawing/2014/main" val="3128387550"/>
                        </a:ext>
                      </a:extLst>
                    </a:gridCol>
                    <a:gridCol w="2424636">
                      <a:extLst>
                        <a:ext uri="{9D8B030D-6E8A-4147-A177-3AD203B41FA5}">
                          <a16:colId xmlns:a16="http://schemas.microsoft.com/office/drawing/2014/main" val="464484569"/>
                        </a:ext>
                      </a:extLst>
                    </a:gridCol>
                    <a:gridCol w="2424636">
                      <a:extLst>
                        <a:ext uri="{9D8B030D-6E8A-4147-A177-3AD203B41FA5}">
                          <a16:colId xmlns:a16="http://schemas.microsoft.com/office/drawing/2014/main" val="669139310"/>
                        </a:ext>
                      </a:extLst>
                    </a:gridCol>
                  </a:tblGrid>
                  <a:tr h="5581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Tank Shape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7624882"/>
                      </a:ext>
                    </a:extLst>
                  </a:tr>
                  <a:tr h="7397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Spherical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Cylinder with Hemispherical Caps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Reference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8538974"/>
                      </a:ext>
                    </a:extLst>
                  </a:tr>
                  <a:tr h="65503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Volume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976" t="-199074" r="-274227" b="-23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9397" t="-199074" r="-100503" b="-23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Std definition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1252676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Surface Area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976" t="-323000" r="-274227" b="-15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9397" t="-323000" r="-100503" b="-15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Std definition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7348673"/>
                      </a:ext>
                    </a:extLst>
                  </a:tr>
                  <a:tr h="95028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Wall Thickness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976" t="-271154" r="-274227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9397" t="-271154" r="-10050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534335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2286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Tank Size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0975" y="1283065"/>
                <a:ext cx="8829675" cy="487449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= propellant volume (m</a:t>
                </a:r>
                <a:r>
                  <a:rPr lang="en-US" baseline="30000" dirty="0"/>
                  <a:t>3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= surface area of tank (m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= radius of tank (m)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= cylinder length of tank (m)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= tank operating pressure (Pa)</a:t>
                </a:r>
              </a:p>
              <a:p>
                <a:pPr marL="457200" lvl="1" indent="0">
                  <a:buNone/>
                </a:pPr>
                <a:r>
                  <a:rPr lang="en-US" dirty="0"/>
                  <a:t>Assume ~20.7 MPa for high-pressure (gas) tanks</a:t>
                </a:r>
              </a:p>
              <a:p>
                <a:pPr marL="457200" lvl="1" indent="0">
                  <a:buNone/>
                </a:pPr>
                <a:r>
                  <a:rPr lang="en-US" dirty="0"/>
                  <a:t>Assume ~2.07 MPa for low-pressure (liquid) tanks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= tank thickness (m)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= limit stress of tank material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= material density (kg/m</a:t>
                </a:r>
                <a:r>
                  <a:rPr lang="en-US" baseline="30000" dirty="0"/>
                  <a:t>3</a:t>
                </a:r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:r>
                  <a:rPr lang="en-US" dirty="0"/>
                  <a:t>	[note: chart gives values in g/cm</a:t>
                </a:r>
                <a:r>
                  <a:rPr lang="en-US" baseline="30000" dirty="0"/>
                  <a:t>3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multiply by 1000 to get kg/m</a:t>
                </a:r>
                <a:r>
                  <a:rPr lang="en-US" baseline="30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]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𝑡𝑎𝑛𝑘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𝑚𝑎𝑡𝑒𝑟𝑖𝑎𝑙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𝑡𝑎𝑛𝑘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𝑡𝑎𝑛𝑘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𝑚𝑎𝑡𝑒𝑟𝑖𝑎𝑙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𝑣𝑜𝑙𝑢𝑚𝑒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𝑡𝑎𝑛𝑘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𝑚𝑎𝑡𝑒𝑟𝑖𝑎𝑙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75" y="1283065"/>
                <a:ext cx="8829675" cy="4874498"/>
              </a:xfrm>
              <a:blipFill>
                <a:blip r:embed="rId2"/>
                <a:stretch>
                  <a:fillRect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662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 SYSTEMS</a:t>
            </a:r>
          </a:p>
        </p:txBody>
      </p:sp>
    </p:spTree>
    <p:extLst>
      <p:ext uri="{BB962C8B-B14F-4D97-AF65-F5344CB8AC3E}">
        <p14:creationId xmlns:p14="http://schemas.microsoft.com/office/powerpoint/2010/main" val="3017201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9585"/>
            <a:ext cx="9055865" cy="5165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Purpose</a:t>
            </a:r>
            <a:r>
              <a:rPr lang="en-US" sz="2400" dirty="0"/>
              <a:t>: to accelerate and position spacecraft up to the velocity and location required for the payload’s desired trajectory</a:t>
            </a:r>
          </a:p>
          <a:p>
            <a:pPr marL="0" lvl="0" indent="0" fontAlgn="base">
              <a:buNone/>
            </a:pPr>
            <a:endParaRPr lang="en-US" sz="2400" dirty="0"/>
          </a:p>
          <a:p>
            <a:pPr marL="0" lvl="0" indent="0" fontAlgn="base">
              <a:buNone/>
            </a:pPr>
            <a:r>
              <a:rPr lang="en-US" sz="2400" b="1" dirty="0"/>
              <a:t>Staging</a:t>
            </a:r>
            <a:r>
              <a:rPr lang="en-US" sz="2400" dirty="0"/>
              <a:t>: using multiple propulsive units which separate and are discarded after use to get to orbit</a:t>
            </a:r>
            <a:endParaRPr lang="en-US" sz="2000" dirty="0"/>
          </a:p>
          <a:p>
            <a:pPr marL="457200" lvl="1" indent="0" fontAlgn="base">
              <a:buNone/>
            </a:pPr>
            <a:r>
              <a:rPr lang="en-US" sz="2000" dirty="0"/>
              <a:t>Why do we do staging?  </a:t>
            </a:r>
          </a:p>
          <a:p>
            <a:pPr lvl="2" fontAlgn="base"/>
            <a:r>
              <a:rPr lang="en-US" sz="1800" dirty="0"/>
              <a:t>B/c of the performance limitations on chemical propellants as well as the current state of the art in materials engineering and structural design, it is not practical to send a launch vehicle to orbit using a single propulsion system.</a:t>
            </a:r>
            <a:endParaRPr lang="en-US" sz="1600" dirty="0"/>
          </a:p>
          <a:p>
            <a:pPr marL="457200" lvl="1" indent="0" fontAlgn="base">
              <a:buNone/>
            </a:pPr>
            <a:endParaRPr lang="en-US" sz="20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D371D-D7A1-E19F-F448-85CE279F6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90" y="4438814"/>
            <a:ext cx="3598075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539BD4-6112-5A19-BC67-C0517871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701" y="4438814"/>
            <a:ext cx="36052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81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71048" y="0"/>
            <a:ext cx="5399773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2527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Payload Fairing (PLF)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base">
              <a:buNone/>
            </a:pPr>
            <a:r>
              <a:rPr lang="en-US" dirty="0"/>
              <a:t>Protects the payload from aerodynamic and heating loads as the LV climbs out of the atmosphere, keeps FOD away from payload, and serves as a container with a specially conditioned atmosphere to meet the payload’s thermal requirements</a:t>
            </a:r>
            <a:endParaRPr lang="en-US" sz="2400" dirty="0"/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PLF is jettisoned once environment is safe for payload (above atmosphere)</a:t>
            </a:r>
            <a:endParaRPr lang="en-US" sz="2200" dirty="0"/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Shock associated with the PLF jettison can be among the most significant transient design environment that a spacecraft must endure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401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1523968" y="57838"/>
            <a:ext cx="5679152" cy="679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92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90111" y="250959"/>
            <a:ext cx="7921592" cy="61312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55589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Dynamic Pressure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076325"/>
            <a:ext cx="8420100" cy="5581650"/>
          </a:xfrm>
        </p:spPr>
        <p:txBody>
          <a:bodyPr>
            <a:normAutofit fontScale="92500" lnSpcReduction="10000"/>
          </a:bodyPr>
          <a:lstStyle/>
          <a:p>
            <a:pPr marL="0" lvl="0" indent="0" fontAlgn="base">
              <a:buNone/>
            </a:pPr>
            <a:r>
              <a:rPr lang="en-US" b="1" dirty="0"/>
              <a:t>Max-Q (maximum dynamic pressure)</a:t>
            </a:r>
            <a:r>
              <a:rPr lang="en-US" dirty="0"/>
              <a:t>: point during ascent at which aerodynamic loads on vehicle are at highest</a:t>
            </a:r>
            <a:endParaRPr lang="en-US" sz="2400" dirty="0"/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Sets maximum bending load values for vehicle (and payload)</a:t>
            </a:r>
            <a:endParaRPr lang="en-US" sz="2200" dirty="0"/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Usually occurs just after vehicle passes Mach 1</a:t>
            </a:r>
            <a:endParaRPr lang="en-US" sz="2200" dirty="0"/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Buffeting loads are also highest near Max-Q</a:t>
            </a:r>
            <a:endParaRPr lang="en-US" sz="2200" dirty="0"/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Common for motors to be throttled back near Max-Q to reduce vehicle acceleration and loading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After Max-Q, the atmospheric density decreases faster than the vehicle’s speed increases, which causes the dynamic pressure to decrease</a:t>
            </a:r>
          </a:p>
        </p:txBody>
      </p:sp>
    </p:spTree>
    <p:extLst>
      <p:ext uri="{BB962C8B-B14F-4D97-AF65-F5344CB8AC3E}">
        <p14:creationId xmlns:p14="http://schemas.microsoft.com/office/powerpoint/2010/main" val="1742108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068512" y="102740"/>
            <a:ext cx="7284378" cy="66782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1921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Conditions during Launch &amp; Ascent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Axial and lateral loading during liftoff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Vibrations during liftoff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Acoustic loading due to noise during liftoff &amp; ascent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Pyrotechnic shock due to separation events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88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1197081" y="277586"/>
            <a:ext cx="6802298" cy="635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9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01" y="1371599"/>
            <a:ext cx="8140425" cy="4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31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52387" y="871537"/>
            <a:ext cx="90392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68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647700" y="762000"/>
            <a:ext cx="78486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528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32" y="669471"/>
            <a:ext cx="8711106" cy="529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89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58265" y="173254"/>
            <a:ext cx="8142973" cy="64585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16101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Recall that the latitude of the launch site must be less than or equal to the inclination of the orbit</a:t>
            </a:r>
          </a:p>
          <a:p>
            <a:pPr lvl="0" fontAlgn="base"/>
            <a:r>
              <a:rPr lang="en-US"/>
              <a:t>Recall also that each launch site has allowable launch azimuths that must be met</a:t>
            </a:r>
          </a:p>
          <a:p>
            <a:pPr lvl="0" fontAlgn="base"/>
            <a:r>
              <a:rPr lang="en-US"/>
              <a:t>Also need to consider transportation of spacecraft to launch site and weather at launch site during expected launch timeframe</a:t>
            </a:r>
          </a:p>
        </p:txBody>
      </p:sp>
    </p:spTree>
    <p:extLst>
      <p:ext uri="{BB962C8B-B14F-4D97-AF65-F5344CB8AC3E}">
        <p14:creationId xmlns:p14="http://schemas.microsoft.com/office/powerpoint/2010/main" val="42652097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98897" y="173254"/>
            <a:ext cx="7401828" cy="64585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45926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21379" y="413885"/>
            <a:ext cx="8556859" cy="59580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660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194559" y="0"/>
            <a:ext cx="3850106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08365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32" y="107344"/>
            <a:ext cx="7181635" cy="634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5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56" y="200045"/>
            <a:ext cx="7510408" cy="665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045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MISSION OPERATIONS</a:t>
            </a:r>
          </a:p>
        </p:txBody>
      </p:sp>
    </p:spTree>
    <p:extLst>
      <p:ext uri="{BB962C8B-B14F-4D97-AF65-F5344CB8AC3E}">
        <p14:creationId xmlns:p14="http://schemas.microsoft.com/office/powerpoint/2010/main" val="707260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Space Mission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" y="1085850"/>
            <a:ext cx="8629841" cy="544830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Execute the mission and preserve the health and safety of the vehicle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/>
              <a:t>Functions include:</a:t>
            </a:r>
          </a:p>
          <a:p>
            <a:pPr lvl="1" fontAlgn="base"/>
            <a:r>
              <a:rPr lang="en-US" dirty="0"/>
              <a:t>Mission Planning: deciding what to do and when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Activity Planning &amp; Development: creating operational scenarios and developing command loads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Mission Control: managing daily activities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Data Transport and Delivery: establishing communication links and managing data flow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Navigation and Orbit Control: determining where the spacecraft is and planning maneuvers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Spacecraft Ops: managing the spacecraft bus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Payload Ops: managing the spacecraft payload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419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561468"/>
            <a:ext cx="7245123" cy="59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04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Mission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Operations Plan:</a:t>
            </a:r>
            <a:r>
              <a:rPr lang="en-US" dirty="0"/>
              <a:t> details the operations organization, processes and procedures to be followed by the operations team, the software tools that support them, and the interfaces between other teams (</a:t>
            </a:r>
            <a:r>
              <a:rPr lang="en-US" dirty="0" err="1"/>
              <a:t>ie</a:t>
            </a:r>
            <a:r>
              <a:rPr lang="en-US" dirty="0"/>
              <a:t>, spacecraft development team)</a:t>
            </a:r>
          </a:p>
          <a:p>
            <a:pPr lvl="1" fontAlgn="base"/>
            <a:r>
              <a:rPr lang="en-US" dirty="0"/>
              <a:t>Best way to train operators it to involve them in the development and testing phases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Mission Plan:</a:t>
            </a:r>
            <a:r>
              <a:rPr lang="en-US" dirty="0"/>
              <a:t> documents the planned spacecraft activities during the 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4712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2B1E5A-943B-3670-C025-205C8934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0BDDA-D5CB-AC83-FC45-CA704377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747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 in Operations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123950"/>
            <a:ext cx="8229600" cy="5333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functions in space operations can be automated, either on-board the spacecraft or on the ground.</a:t>
            </a:r>
          </a:p>
          <a:p>
            <a:pPr lvl="1" fontAlgn="base"/>
            <a:r>
              <a:rPr lang="en-US" dirty="0"/>
              <a:t>Monitoring alarms</a:t>
            </a:r>
          </a:p>
          <a:p>
            <a:pPr lvl="1" fontAlgn="base"/>
            <a:r>
              <a:rPr lang="en-US" dirty="0"/>
              <a:t>Managing spacecraft resources</a:t>
            </a:r>
          </a:p>
          <a:p>
            <a:pPr lvl="1" fontAlgn="base"/>
            <a:r>
              <a:rPr lang="en-US" dirty="0"/>
              <a:t>Analyzing performance and trends</a:t>
            </a:r>
          </a:p>
          <a:p>
            <a:pPr lvl="1" fontAlgn="base"/>
            <a:r>
              <a:rPr lang="en-US" dirty="0"/>
              <a:t>Onboard navigation &amp; orbit control</a:t>
            </a:r>
          </a:p>
          <a:p>
            <a:pPr lvl="1" fontAlgn="base"/>
            <a:r>
              <a:rPr lang="en-US" dirty="0"/>
              <a:t>Adaptively planning activities</a:t>
            </a:r>
          </a:p>
          <a:p>
            <a:pPr lvl="1" fontAlgn="base"/>
            <a:r>
              <a:rPr lang="en-US" dirty="0"/>
              <a:t>Processing payload data</a:t>
            </a:r>
          </a:p>
          <a:p>
            <a:pPr lvl="1" fontAlgn="base"/>
            <a:r>
              <a:rPr lang="en-US" dirty="0"/>
              <a:t>Detecting faults, </a:t>
            </a:r>
            <a:r>
              <a:rPr lang="en-US" dirty="0" err="1"/>
              <a:t>safing</a:t>
            </a:r>
            <a:r>
              <a:rPr lang="en-US" dirty="0"/>
              <a:t> the vehicle</a:t>
            </a:r>
          </a:p>
          <a:p>
            <a:pPr lvl="1" fontAlgn="base"/>
            <a:r>
              <a:rPr lang="en-US" dirty="0"/>
              <a:t>Constraint checking commands</a:t>
            </a:r>
          </a:p>
          <a:p>
            <a:pPr lvl="1" fontAlgn="base"/>
            <a:r>
              <a:rPr lang="en-US" dirty="0"/>
              <a:t>Filtering/archiving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15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 in Operations (2/2)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114479"/>
              </p:ext>
            </p:extLst>
          </p:nvPr>
        </p:nvGraphicFramePr>
        <p:xfrm>
          <a:off x="466725" y="1457325"/>
          <a:ext cx="8047970" cy="4025900"/>
        </p:xfrm>
        <a:graphic>
          <a:graphicData uri="http://schemas.openxmlformats.org/drawingml/2006/table">
            <a:tbl>
              <a:tblPr firstRow="1" firstCol="1" bandRow="1"/>
              <a:tblGrid>
                <a:gridCol w="4023985">
                  <a:extLst>
                    <a:ext uri="{9D8B030D-6E8A-4147-A177-3AD203B41FA5}">
                      <a16:colId xmlns:a16="http://schemas.microsoft.com/office/drawing/2014/main" val="1611078346"/>
                    </a:ext>
                  </a:extLst>
                </a:gridCol>
                <a:gridCol w="4023985">
                  <a:extLst>
                    <a:ext uri="{9D8B030D-6E8A-4147-A177-3AD203B41FA5}">
                      <a16:colId xmlns:a16="http://schemas.microsoft.com/office/drawing/2014/main" val="1191871571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Advantages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Disadvantages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053704"/>
                  </a:ext>
                </a:extLst>
              </a:tr>
              <a:tr h="805180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staffing = reduced operations cost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miss unexpected signatures</a:t>
                      </a:r>
                      <a:endParaRPr lang="en-US" sz="2000" u="none" strike="noStrike" kern="0" spc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524528"/>
                  </a:ext>
                </a:extLst>
              </a:tr>
              <a:tr h="805180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changes for operator error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for fault response to be improper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459840"/>
                  </a:ext>
                </a:extLst>
              </a:tr>
              <a:tr h="805180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response time to fault responses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misuse spacecraft resources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871670"/>
                  </a:ext>
                </a:extLst>
              </a:tr>
              <a:tr h="1207770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reduce data transmitted from spacecraft to ground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damage spacecraft</a:t>
                      </a:r>
                      <a:endParaRPr lang="en-US" sz="2000" u="none" strike="noStrike" kern="0" spc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50155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8649" y="5769204"/>
            <a:ext cx="779891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*Decision on how much and where to automate depends on risk posture, mission objectives and budget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477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Contingency Planning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04900"/>
            <a:ext cx="8201025" cy="54373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Identifying potential problems and a plan of action to mitigate impact if problem occurs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Not every problem can be anticipated, but the process of developing a contingency plan helps prepare the team to deal with problems when they occur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Prior to flight, identify </a:t>
            </a:r>
            <a:r>
              <a:rPr lang="en-US" b="1" dirty="0"/>
              <a:t>anomaly response team </a:t>
            </a:r>
            <a:r>
              <a:rPr lang="en-US" dirty="0"/>
              <a:t>– should have members of operations and development teams (and possibly other teams)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Prior to flight, the design and operations teams should work together to brainstorm every conceivable potential anomaly and for each case, develop operational responses</a:t>
            </a:r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During flight, have development team members support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977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Contingency Planning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14426"/>
            <a:ext cx="8201025" cy="55535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 case of a failure: </a:t>
            </a:r>
          </a:p>
          <a:p>
            <a:pPr lvl="1"/>
            <a:r>
              <a:rPr lang="en-US" dirty="0"/>
              <a:t>Determine how much time is available before a decision is required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Make a timeline of events and include everything that is known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Give all team members all known facts and check every theory against them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Have multiple teams: some should investigate timeline replanning, others should work on hardware/software repair or workarounds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Make sure any deviation from the norm is explained—remember, the wrong conclusion is prologue to the next failure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Do not arrive at a conclusion too rapidly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Know when to stop trying to force-fit a scenario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4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C322C3-330A-4168-905A-A8F715EADB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96DB7C-76B3-472D-8F6F-C8E69FE568F8}">
  <ds:schemaRefs>
    <ds:schemaRef ds:uri="c2d23aaa-6876-4856-882c-18271699c7a8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sharepoint/v3"/>
    <ds:schemaRef ds:uri="723aa48c-73f2-40da-86b1-f1ae286477fe"/>
    <ds:schemaRef ds:uri="7584c457-6b5a-4caa-be47-be979cbe6555"/>
  </ds:schemaRefs>
</ds:datastoreItem>
</file>

<file path=customXml/itemProps3.xml><?xml version="1.0" encoding="utf-8"?>
<ds:datastoreItem xmlns:ds="http://schemas.openxmlformats.org/officeDocument/2006/customXml" ds:itemID="{3C286B8C-FFD3-47CE-9E8F-4104A49DEB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32814</TotalTime>
  <Words>1950</Words>
  <Application>Microsoft Office PowerPoint</Application>
  <PresentationFormat>Letter Paper (8.5x11 in)</PresentationFormat>
  <Paragraphs>339</Paragraphs>
  <Slides>58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Aptos</vt:lpstr>
      <vt:lpstr>Arial</vt:lpstr>
      <vt:lpstr>Calibri</vt:lpstr>
      <vt:lpstr>Cambria Math</vt:lpstr>
      <vt:lpstr>Segoe UI</vt:lpstr>
      <vt:lpstr>Symbol</vt:lpstr>
      <vt:lpstr>Times New Roman</vt:lpstr>
      <vt:lpstr>Wingdings</vt:lpstr>
      <vt:lpstr>Office Theme</vt:lpstr>
      <vt:lpstr>Lesson 16</vt:lpstr>
      <vt:lpstr>Propulsion</vt:lpstr>
      <vt:lpstr>S/C Propulsion Functions</vt:lpstr>
      <vt:lpstr>PowerPoint Presentation</vt:lpstr>
      <vt:lpstr>PowerPoint Presentation</vt:lpstr>
      <vt:lpstr>Ideal Rocket Eqn (and its variants)</vt:lpstr>
      <vt:lpstr>Basic Parameters of Rocket Design (1/2)</vt:lpstr>
      <vt:lpstr>Basic Parameters of Rocket Design (2/2)</vt:lpstr>
      <vt:lpstr>Ideal Rocket Equation</vt:lpstr>
      <vt:lpstr>Classic Rocket Engine</vt:lpstr>
      <vt:lpstr>PowerPoint Presentation</vt:lpstr>
      <vt:lpstr>Nozzle Expansion</vt:lpstr>
      <vt:lpstr>Nozzle Expansion</vt:lpstr>
      <vt:lpstr>Common Types of Spacecraft Propulsion (1/2)</vt:lpstr>
      <vt:lpstr>Liquid Bipropellant</vt:lpstr>
      <vt:lpstr>Liquid Monopropellant</vt:lpstr>
      <vt:lpstr>Solid</vt:lpstr>
      <vt:lpstr>Hybrid</vt:lpstr>
      <vt:lpstr>Common Types of Spacecraft Propellant (2/2)</vt:lpstr>
      <vt:lpstr>PowerPoint Presentation</vt:lpstr>
      <vt:lpstr>Advanced Propulsion Concepts (gee-whiz)</vt:lpstr>
      <vt:lpstr>Performance Comparison of Different Propellants</vt:lpstr>
      <vt:lpstr>PowerPoint Presentation</vt:lpstr>
      <vt:lpstr>Propulsion Systems Suitability</vt:lpstr>
      <vt:lpstr>Propellant Tank Sizing (1/3)</vt:lpstr>
      <vt:lpstr>PowerPoint Presentation</vt:lpstr>
      <vt:lpstr>Calculate Tank Size (2/3)</vt:lpstr>
      <vt:lpstr>Calculate Tank Size (3/3)</vt:lpstr>
      <vt:lpstr>LAUNCH SYSTEMS</vt:lpstr>
      <vt:lpstr>Launch Systems</vt:lpstr>
      <vt:lpstr>PowerPoint Presentation</vt:lpstr>
      <vt:lpstr>Payload Fairing (PLF)</vt:lpstr>
      <vt:lpstr>PowerPoint Presentation</vt:lpstr>
      <vt:lpstr>PowerPoint Presentation</vt:lpstr>
      <vt:lpstr>Maximum Dynamic Pressure</vt:lpstr>
      <vt:lpstr>PowerPoint Presentation</vt:lpstr>
      <vt:lpstr>Loading Conditions during Launch &amp; Ascent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Launch Limitations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MISSION OPERATIONS</vt:lpstr>
      <vt:lpstr>Space Mission Operations</vt:lpstr>
      <vt:lpstr>PowerPoint Presentation</vt:lpstr>
      <vt:lpstr>Mission Planning</vt:lpstr>
      <vt:lpstr>Extra Material</vt:lpstr>
      <vt:lpstr>Automation in Operations (1/2)</vt:lpstr>
      <vt:lpstr>Automation in Operations (2/2)</vt:lpstr>
      <vt:lpstr>Contingency Planning (1/2)</vt:lpstr>
      <vt:lpstr>Contingency Planning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4</cp:revision>
  <cp:lastPrinted>2025-08-01T16:37:26Z</cp:lastPrinted>
  <dcterms:created xsi:type="dcterms:W3CDTF">2025-07-17T17:53:42Z</dcterms:created>
  <dcterms:modified xsi:type="dcterms:W3CDTF">2025-12-15T21:18:48Z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