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8"/>
  </p:notesMasterIdLst>
  <p:sldIdLst>
    <p:sldId id="256" r:id="rId5"/>
    <p:sldId id="257" r:id="rId6"/>
    <p:sldId id="258" r:id="rId7"/>
    <p:sldId id="262" r:id="rId8"/>
    <p:sldId id="259" r:id="rId9"/>
    <p:sldId id="264" r:id="rId10"/>
    <p:sldId id="260" r:id="rId11"/>
    <p:sldId id="272" r:id="rId12"/>
    <p:sldId id="261" r:id="rId13"/>
    <p:sldId id="273" r:id="rId14"/>
    <p:sldId id="274" r:id="rId15"/>
    <p:sldId id="265" r:id="rId16"/>
    <p:sldId id="268" r:id="rId17"/>
    <p:sldId id="263" r:id="rId18"/>
    <p:sldId id="276" r:id="rId19"/>
    <p:sldId id="271" r:id="rId20"/>
    <p:sldId id="266" r:id="rId21"/>
    <p:sldId id="277" r:id="rId22"/>
    <p:sldId id="278" r:id="rId23"/>
    <p:sldId id="267" r:id="rId24"/>
    <p:sldId id="269" r:id="rId25"/>
    <p:sldId id="279" r:id="rId26"/>
    <p:sldId id="280" r:id="rId27"/>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484BD1-8E4A-4E83-A1CC-297F2A6C27FD}" v="2" dt="2026-03-11T14:15:14.0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47" autoAdjust="0"/>
  </p:normalViewPr>
  <p:slideViewPr>
    <p:cSldViewPr snapToGrid="0">
      <p:cViewPr varScale="1">
        <p:scale>
          <a:sx n="95" d="100"/>
          <a:sy n="95" d="100"/>
        </p:scale>
        <p:origin x="2022"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modSld">
      <pc:chgData name="Harris, Wyatt J Lt Col USAF USAFA DF/DFAS" userId="768bfb95-c272-4014-8fa2-010c15306053" providerId="ADAL" clId="{E18DAD13-4A53-44B8-9F3F-46E167733190}" dt="2026-03-11T14:15:18.495" v="4" actId="207"/>
      <pc:docMkLst>
        <pc:docMk/>
      </pc:docMkLst>
      <pc:sldChg chg="modSp mod">
        <pc:chgData name="Harris, Wyatt J Lt Col USAF USAFA DF/DFAS" userId="768bfb95-c272-4014-8fa2-010c15306053" providerId="ADAL" clId="{E18DAD13-4A53-44B8-9F3F-46E167733190}" dt="2026-03-11T14:14:24.152" v="1" actId="207"/>
        <pc:sldMkLst>
          <pc:docMk/>
          <pc:sldMk cId="3319851485" sldId="279"/>
        </pc:sldMkLst>
        <pc:spChg chg="mod">
          <ac:chgData name="Harris, Wyatt J Lt Col USAF USAFA DF/DFAS" userId="768bfb95-c272-4014-8fa2-010c15306053" providerId="ADAL" clId="{E18DAD13-4A53-44B8-9F3F-46E167733190}" dt="2026-03-11T14:14:21.606" v="0" actId="207"/>
          <ac:spMkLst>
            <pc:docMk/>
            <pc:sldMk cId="3319851485" sldId="279"/>
            <ac:spMk id="2" creationId="{32AA889C-BB99-E1CA-45AA-C49A7D280B51}"/>
          </ac:spMkLst>
        </pc:spChg>
        <pc:spChg chg="mod">
          <ac:chgData name="Harris, Wyatt J Lt Col USAF USAFA DF/DFAS" userId="768bfb95-c272-4014-8fa2-010c15306053" providerId="ADAL" clId="{E18DAD13-4A53-44B8-9F3F-46E167733190}" dt="2026-03-11T14:14:24.152" v="1" actId="207"/>
          <ac:spMkLst>
            <pc:docMk/>
            <pc:sldMk cId="3319851485" sldId="279"/>
            <ac:spMk id="3" creationId="{AEBC8801-0326-64FC-D267-BE81F92222D3}"/>
          </ac:spMkLst>
        </pc:spChg>
      </pc:sldChg>
      <pc:sldChg chg="modSp mod">
        <pc:chgData name="Harris, Wyatt J Lt Col USAF USAFA DF/DFAS" userId="768bfb95-c272-4014-8fa2-010c15306053" providerId="ADAL" clId="{E18DAD13-4A53-44B8-9F3F-46E167733190}" dt="2026-03-11T14:15:18.495" v="4" actId="207"/>
        <pc:sldMkLst>
          <pc:docMk/>
          <pc:sldMk cId="3254537557" sldId="280"/>
        </pc:sldMkLst>
        <pc:spChg chg="mod">
          <ac:chgData name="Harris, Wyatt J Lt Col USAF USAFA DF/DFAS" userId="768bfb95-c272-4014-8fa2-010c15306053" providerId="ADAL" clId="{E18DAD13-4A53-44B8-9F3F-46E167733190}" dt="2026-03-11T14:15:18.495" v="4" actId="207"/>
          <ac:spMkLst>
            <pc:docMk/>
            <pc:sldMk cId="3254537557" sldId="280"/>
            <ac:spMk id="2" creationId="{01F9AA0A-7E7A-B747-FDFD-4B2586C63CE2}"/>
          </ac:spMkLst>
        </pc:spChg>
        <pc:picChg chg="mod">
          <ac:chgData name="Harris, Wyatt J Lt Col USAF USAFA DF/DFAS" userId="768bfb95-c272-4014-8fa2-010c15306053" providerId="ADAL" clId="{E18DAD13-4A53-44B8-9F3F-46E167733190}" dt="2026-03-11T14:15:09.939" v="2"/>
          <ac:picMkLst>
            <pc:docMk/>
            <pc:sldMk cId="3254537557" sldId="280"/>
            <ac:picMk id="6" creationId="{EB4C8EB9-93CC-1170-A191-9824CFC30B35}"/>
          </ac:picMkLst>
        </pc:picChg>
        <pc:picChg chg="mod">
          <ac:chgData name="Harris, Wyatt J Lt Col USAF USAFA DF/DFAS" userId="768bfb95-c272-4014-8fa2-010c15306053" providerId="ADAL" clId="{E18DAD13-4A53-44B8-9F3F-46E167733190}" dt="2026-03-11T14:15:14.040" v="3"/>
          <ac:picMkLst>
            <pc:docMk/>
            <pc:sldMk cId="3254537557" sldId="280"/>
            <ac:picMk id="8" creationId="{825883AB-5F21-4213-2512-06DB0EA6E65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3/10/2026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gao.gov/products/gao-17-673"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a:t>
            </a:fld>
            <a:endParaRPr lang="en-US"/>
          </a:p>
        </p:txBody>
      </p:sp>
    </p:spTree>
    <p:extLst>
      <p:ext uri="{BB962C8B-B14F-4D97-AF65-F5344CB8AC3E}">
        <p14:creationId xmlns:p14="http://schemas.microsoft.com/office/powerpoint/2010/main" val="466204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r>
              <a:rPr lang="en-US" b="1" dirty="0"/>
              <a:t>The Hubble Space Telescope – EPS Challenges</a:t>
            </a:r>
          </a:p>
          <a:p>
            <a:r>
              <a:rPr lang="en-US" dirty="0"/>
              <a:t>When the </a:t>
            </a:r>
            <a:r>
              <a:rPr lang="en-US" b="1" dirty="0"/>
              <a:t>Hubble Space Telescope (HST)</a:t>
            </a:r>
            <a:r>
              <a:rPr lang="en-US" dirty="0"/>
              <a:t> launched in 1990, its </a:t>
            </a:r>
            <a:r>
              <a:rPr lang="en-US" b="1" dirty="0"/>
              <a:t>Electrical Power Subsystem</a:t>
            </a:r>
            <a:r>
              <a:rPr lang="en-US" dirty="0"/>
              <a:t> was designed around </a:t>
            </a:r>
            <a:r>
              <a:rPr lang="en-US" b="1" dirty="0"/>
              <a:t>silicon solar arrays</a:t>
            </a:r>
            <a:r>
              <a:rPr lang="en-US" dirty="0"/>
              <a:t> and </a:t>
            </a:r>
            <a:r>
              <a:rPr lang="en-US" b="1" dirty="0"/>
              <a:t>nickel-hydrogen (</a:t>
            </a:r>
            <a:r>
              <a:rPr lang="en-US" b="1" dirty="0" err="1"/>
              <a:t>NiH</a:t>
            </a:r>
            <a:r>
              <a:rPr lang="en-US" b="1" dirty="0"/>
              <a:t>₂) batteries</a:t>
            </a:r>
            <a:r>
              <a:rPr lang="en-US" dirty="0"/>
              <a:t>.</a:t>
            </a:r>
          </a:p>
          <a:p>
            <a:endParaRPr lang="en-US" b="1" dirty="0"/>
          </a:p>
          <a:p>
            <a:r>
              <a:rPr lang="en-US" b="1" dirty="0"/>
              <a:t>Initial Problems</a:t>
            </a:r>
          </a:p>
          <a:p>
            <a:r>
              <a:rPr lang="en-US" dirty="0"/>
              <a:t>The original solar arrays were designed in Europe by ESA.</a:t>
            </a:r>
          </a:p>
          <a:p>
            <a:r>
              <a:rPr lang="en-US" dirty="0"/>
              <a:t>Once in orbit, they experienced </a:t>
            </a:r>
            <a:r>
              <a:rPr lang="en-US" b="1" dirty="0"/>
              <a:t>“jitter” problems</a:t>
            </a:r>
            <a:r>
              <a:rPr lang="en-US" dirty="0"/>
              <a:t>: as Hubble passed in and out of sunlight during each orbit, the solar arrays flexed and vibrated due to thermal changes.</a:t>
            </a:r>
          </a:p>
          <a:p>
            <a:r>
              <a:rPr lang="en-US" dirty="0"/>
              <a:t>This vibration transferred into the spacecraft, disturbing pointing stability and affecting the fine guidance system.</a:t>
            </a:r>
          </a:p>
          <a:p>
            <a:endParaRPr lang="en-US" b="1" dirty="0"/>
          </a:p>
          <a:p>
            <a:r>
              <a:rPr lang="en-US" b="1" dirty="0"/>
              <a:t>Upgrades Over Time</a:t>
            </a:r>
          </a:p>
          <a:p>
            <a:r>
              <a:rPr lang="en-US" dirty="0"/>
              <a:t>During </a:t>
            </a:r>
            <a:r>
              <a:rPr lang="en-US" b="1" dirty="0"/>
              <a:t>Servicing Mission 2 (1997)</a:t>
            </a:r>
            <a:r>
              <a:rPr lang="en-US" dirty="0"/>
              <a:t>, astronauts replaced the original solar arrays with newer, smaller, more efficient ones that reduced vibration and generated more power.</a:t>
            </a:r>
          </a:p>
          <a:p>
            <a:r>
              <a:rPr lang="en-US" dirty="0"/>
              <a:t>Later servicing missions swapped in even more advanced </a:t>
            </a:r>
            <a:r>
              <a:rPr lang="en-US" b="1" dirty="0"/>
              <a:t>triple-junction gallium arsenide arrays</a:t>
            </a:r>
            <a:r>
              <a:rPr lang="en-US" dirty="0"/>
              <a:t>, which doubled Hubble’s power output while being smaller in size.</a:t>
            </a:r>
          </a:p>
          <a:p>
            <a:r>
              <a:rPr lang="en-US" dirty="0"/>
              <a:t>Batteries were also upgraded from </a:t>
            </a:r>
            <a:r>
              <a:rPr lang="en-US" dirty="0" err="1"/>
              <a:t>NiH</a:t>
            </a:r>
            <a:r>
              <a:rPr lang="en-US" dirty="0"/>
              <a:t>₂ to </a:t>
            </a:r>
            <a:r>
              <a:rPr lang="en-US" b="1" dirty="0"/>
              <a:t>NiMH and later Li-ion chemistries</a:t>
            </a:r>
            <a:r>
              <a:rPr lang="en-US" dirty="0"/>
              <a:t>, improving storage efficiency and extending mission lifetime.</a:t>
            </a:r>
          </a:p>
          <a:p>
            <a:endParaRPr lang="en-US" b="1" dirty="0"/>
          </a:p>
          <a:p>
            <a:r>
              <a:rPr lang="en-US" b="1" dirty="0"/>
              <a:t>Why It Matters</a:t>
            </a:r>
          </a:p>
          <a:p>
            <a:r>
              <a:rPr lang="en-US" dirty="0"/>
              <a:t>Without these EPS upgrades, Hubble could not have supported the new, more power-hungry scientific instruments installed during later servicing missions.</a:t>
            </a:r>
          </a:p>
          <a:p>
            <a:r>
              <a:rPr lang="en-US" dirty="0"/>
              <a:t>Power margin directly determined </a:t>
            </a:r>
            <a:r>
              <a:rPr lang="en-US" b="1" dirty="0"/>
              <a:t>science capability</a:t>
            </a:r>
            <a:r>
              <a:rPr lang="en-US" dirty="0"/>
              <a:t> and </a:t>
            </a:r>
            <a:r>
              <a:rPr lang="en-US" b="1" dirty="0"/>
              <a:t>mission longevity</a:t>
            </a:r>
            <a:r>
              <a:rPr lang="en-US" dirty="0"/>
              <a:t>.</a:t>
            </a:r>
          </a:p>
          <a:p>
            <a:r>
              <a:rPr lang="en-US" dirty="0"/>
              <a:t>This shows how EPS isn’t just “support hardware”—it </a:t>
            </a:r>
            <a:r>
              <a:rPr lang="en-US" b="1" dirty="0"/>
              <a:t>enables the science</a:t>
            </a:r>
            <a:r>
              <a:rPr lang="en-US" dirty="0"/>
              <a:t>.</a:t>
            </a:r>
          </a:p>
          <a:p>
            <a:endParaRPr lang="en-US" b="1" dirty="0"/>
          </a:p>
          <a:p>
            <a:r>
              <a:rPr lang="en-US" b="1" dirty="0"/>
              <a:t>Lessons</a:t>
            </a:r>
          </a:p>
          <a:p>
            <a:r>
              <a:rPr lang="en-US" dirty="0"/>
              <a:t>The Hubble story highlights three key EPS lessons for spacecraft engineers:</a:t>
            </a:r>
          </a:p>
          <a:p>
            <a:r>
              <a:rPr lang="en-US" b="1" dirty="0"/>
              <a:t>Environmental effects matter</a:t>
            </a:r>
            <a:r>
              <a:rPr lang="en-US" dirty="0"/>
              <a:t> (thermal cycling caused unexpected vibration).</a:t>
            </a:r>
          </a:p>
          <a:p>
            <a:r>
              <a:rPr lang="en-US" b="1" dirty="0"/>
              <a:t>EPS margin enables growth</a:t>
            </a:r>
            <a:r>
              <a:rPr lang="en-US" dirty="0"/>
              <a:t> (more power → more instruments, more science).</a:t>
            </a:r>
          </a:p>
          <a:p>
            <a:r>
              <a:rPr lang="en-US" b="1" dirty="0"/>
              <a:t>Technology advances keep spacecraft alive</a:t>
            </a:r>
            <a:r>
              <a:rPr lang="en-US" dirty="0"/>
              <a:t> (modern solar arrays and batteries extended Hubble’s mission decades beyond its original design life).</a:t>
            </a:r>
          </a:p>
          <a:p>
            <a:endParaRPr lang="en-US" dirty="0"/>
          </a:p>
          <a:p>
            <a:r>
              <a:rPr lang="en-US" dirty="0">
                <a:effectLst/>
              </a:rPr>
              <a:t>----------------------------------------</a:t>
            </a:r>
          </a:p>
          <a:p>
            <a:endParaRPr lang="en-US" dirty="0">
              <a:effectLst/>
            </a:endParaRPr>
          </a:p>
          <a:p>
            <a:r>
              <a:rPr lang="en-US" dirty="0">
                <a:effectLst/>
              </a:rPr>
              <a:t>The most significant Hubble solar power problem was </a:t>
            </a:r>
          </a:p>
          <a:p>
            <a:r>
              <a:rPr lang="en-US" dirty="0"/>
              <a:t>a "jitter" caused by the spacecraft's flexible solar panels experiencing rapid thermal expansion and contraction during orbital day-night cycles. This vibration interfered with the telescope's ability to maintain precise pointing for its scientific observations. </a:t>
            </a:r>
            <a:endParaRPr lang="en-US" dirty="0">
              <a:effectLst/>
            </a:endParaRPr>
          </a:p>
          <a:p>
            <a:r>
              <a:rPr lang="en-US" dirty="0"/>
              <a:t>This initial problem was corrected by replacing the original panels, and the subsequent replacements have focused on improving efficiency and stability. </a:t>
            </a:r>
            <a:endParaRPr lang="en-US" dirty="0">
              <a:effectLst/>
            </a:endParaRPr>
          </a:p>
          <a:p>
            <a:r>
              <a:rPr lang="en-US" dirty="0"/>
              <a:t>The original solar panel jitter </a:t>
            </a:r>
          </a:p>
          <a:p>
            <a:endParaRPr lang="en-US" dirty="0">
              <a:effectLst/>
            </a:endParaRPr>
          </a:p>
          <a:p>
            <a:pPr rtl="0"/>
            <a:r>
              <a:rPr lang="en-US" b="1" dirty="0"/>
              <a:t>The initial problem:</a:t>
            </a:r>
            <a:r>
              <a:rPr lang="en-US" dirty="0"/>
              <a:t> When Hubble was launched in 1990, its flexible, roll-out solar panels were sensitive to the extreme temperature fluctuations of its low-Earth orbit. Every 97-minute orbit, Hubble transitions between the cold of Earth's shadow (</a:t>
            </a:r>
            <a:r>
              <a:rPr lang="en-US" dirty="0">
                <a:effectLst/>
              </a:rPr>
              <a:t>-85∘Cnegative 85 space raised to the composed with power C</a:t>
            </a:r>
          </a:p>
          <a:p>
            <a:pPr rtl="0"/>
            <a:r>
              <a:rPr lang="en-US" dirty="0">
                <a:effectLst/>
              </a:rPr>
              <a:t>−85∘C</a:t>
            </a:r>
          </a:p>
          <a:p>
            <a:pPr rtl="0"/>
            <a:r>
              <a:rPr lang="en-US" dirty="0"/>
              <a:t>) and the heat of full sunlight (</a:t>
            </a:r>
            <a:r>
              <a:rPr lang="en-US" dirty="0">
                <a:effectLst/>
              </a:rPr>
              <a:t>+60∘Cpositive 60 space raised to the composed with power C</a:t>
            </a:r>
          </a:p>
          <a:p>
            <a:pPr rtl="0"/>
            <a:r>
              <a:rPr lang="en-US" dirty="0">
                <a:effectLst/>
              </a:rPr>
              <a:t>+60∘C</a:t>
            </a:r>
          </a:p>
          <a:p>
            <a:r>
              <a:rPr lang="en-US" dirty="0"/>
              <a:t>).</a:t>
            </a:r>
          </a:p>
          <a:p>
            <a:r>
              <a:rPr lang="en-US" b="1" dirty="0"/>
              <a:t>The cause:</a:t>
            </a:r>
            <a:r>
              <a:rPr lang="en-US" dirty="0"/>
              <a:t> This dramatic temperature shift caused the panel's supporting booms to bend and expand rapidly, creating a vibration or "jitter" that lasted for several minutes after each sunrise.</a:t>
            </a:r>
          </a:p>
          <a:p>
            <a:r>
              <a:rPr lang="en-US" b="1" dirty="0"/>
              <a:t>The effect:</a:t>
            </a:r>
            <a:r>
              <a:rPr lang="en-US" dirty="0"/>
              <a:t> For a telescope that requires extreme stability for high-resolution imaging, this vibration was a major issue. It interfered with Hubble's sensitive pointing controls and reduced its observation time.</a:t>
            </a:r>
          </a:p>
          <a:p>
            <a:r>
              <a:rPr lang="en-US" b="1" dirty="0"/>
              <a:t>The temporary solution:</a:t>
            </a:r>
            <a:r>
              <a:rPr lang="en-US" dirty="0"/>
              <a:t> Ground controllers created special software to compensate for the jitter, but this took up computer memory and was not a perfect fix.</a:t>
            </a:r>
          </a:p>
          <a:p>
            <a:r>
              <a:rPr lang="en-US" b="1" dirty="0"/>
              <a:t>The permanent solution:</a:t>
            </a:r>
            <a:r>
              <a:rPr lang="en-US" dirty="0"/>
              <a:t> During the first servicing mission in 1993, astronauts replaced the original panels with a redesigned pair. The new arrays were built to be more resistant to thermal changes, eliminating the jitter problem. </a:t>
            </a:r>
            <a:endParaRPr lang="en-US" dirty="0">
              <a:effectLst/>
            </a:endParaRPr>
          </a:p>
          <a:p>
            <a:r>
              <a:rPr lang="en-US" dirty="0"/>
              <a:t>Subsequent solar panel replacements </a:t>
            </a:r>
            <a:endParaRPr lang="en-US" dirty="0">
              <a:effectLst/>
            </a:endParaRPr>
          </a:p>
          <a:p>
            <a:r>
              <a:rPr lang="en-US" dirty="0"/>
              <a:t>Over its lifetime, Hubble's solar arrays have been replaced twice during Space Shuttle servicing missions to improve power output and increase stability. </a:t>
            </a:r>
            <a:endParaRPr lang="en-US" dirty="0">
              <a:effectLst/>
            </a:endParaRPr>
          </a:p>
          <a:p>
            <a:r>
              <a:rPr lang="en-US" b="1" dirty="0"/>
              <a:t>First replacement (1993):</a:t>
            </a:r>
            <a:r>
              <a:rPr lang="en-US" dirty="0"/>
              <a:t> Astronauts on Servicing Mission 1 (STS-61) replaced the original vibrating panels with a new, flexible set that addressed the thermal-expansion problem.</a:t>
            </a:r>
          </a:p>
          <a:p>
            <a:r>
              <a:rPr lang="en-US" b="1" dirty="0"/>
              <a:t>Second replacement (2002):</a:t>
            </a:r>
            <a:r>
              <a:rPr lang="en-US" dirty="0"/>
              <a:t> During Servicing Mission 3B (STS-109), the second set of arrays was replaced with a new, third-generation pair.</a:t>
            </a:r>
          </a:p>
          <a:p>
            <a:pPr lvl="1"/>
            <a:r>
              <a:rPr lang="en-US" dirty="0"/>
              <a:t>The new arrays were derived from the rigid design of Iridium communications satellites.</a:t>
            </a:r>
          </a:p>
          <a:p>
            <a:pPr lvl="1"/>
            <a:r>
              <a:rPr lang="en-US" dirty="0"/>
              <a:t>Although 45% smaller than the previous versions, their increased efficiency produced 25% more power.</a:t>
            </a:r>
          </a:p>
          <a:p>
            <a:pPr lvl="1"/>
            <a:r>
              <a:rPr lang="en-US" dirty="0"/>
              <a:t>Their rigid structure also allowed for more stable observations by minimizing vibrations.</a:t>
            </a:r>
          </a:p>
          <a:p>
            <a:r>
              <a:rPr lang="en-US" b="1" dirty="0"/>
              <a:t>Degradation:</a:t>
            </a:r>
            <a:r>
              <a:rPr lang="en-US" dirty="0"/>
              <a:t> The older solar panels, which were returned to Earth for inspection, provided a unique opportunity to study the effects of the space environment. Examination revealed impacts from micrometeoroids and corrosion caused by atomic oxygen. </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4005940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Preq</a:t>
            </a:r>
            <a:r>
              <a:rPr lang="en-US" dirty="0"/>
              <a:t> = 991W</a:t>
            </a:r>
          </a:p>
        </p:txBody>
      </p:sp>
      <p:sp>
        <p:nvSpPr>
          <p:cNvPr id="4" name="Slide Number Placeholder 3"/>
          <p:cNvSpPr>
            <a:spLocks noGrp="1"/>
          </p:cNvSpPr>
          <p:nvPr>
            <p:ph type="sldNum" sz="quarter" idx="5"/>
          </p:nvPr>
        </p:nvSpPr>
        <p:spPr/>
        <p:txBody>
          <a:bodyPr/>
          <a:lstStyle/>
          <a:p>
            <a:fld id="{9EB4C982-825B-414E-ABB9-79AB251390A5}" type="slidenum">
              <a:rPr lang="en-US" smtClean="0"/>
              <a:t>3</a:t>
            </a:fld>
            <a:endParaRPr lang="en-US"/>
          </a:p>
        </p:txBody>
      </p:sp>
    </p:spTree>
    <p:extLst>
      <p:ext uri="{BB962C8B-B14F-4D97-AF65-F5344CB8AC3E}">
        <p14:creationId xmlns:p14="http://schemas.microsoft.com/office/powerpoint/2010/main" val="1888946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6</a:t>
            </a:fld>
            <a:endParaRPr lang="en-US"/>
          </a:p>
        </p:txBody>
      </p:sp>
    </p:spTree>
    <p:extLst>
      <p:ext uri="{BB962C8B-B14F-4D97-AF65-F5344CB8AC3E}">
        <p14:creationId xmlns:p14="http://schemas.microsoft.com/office/powerpoint/2010/main" val="756288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Silicon (Si) Solar Cells</a:t>
            </a:r>
          </a:p>
          <a:p>
            <a:r>
              <a:rPr lang="en-US" b="1" dirty="0"/>
              <a:t>Overview</a:t>
            </a:r>
            <a:endParaRPr lang="en-US" dirty="0"/>
          </a:p>
          <a:p>
            <a:r>
              <a:rPr lang="en-US" dirty="0"/>
              <a:t>First widely used space solar cell technology.</a:t>
            </a:r>
          </a:p>
          <a:p>
            <a:r>
              <a:rPr lang="en-US" dirty="0"/>
              <a:t>Typically monocrystalline silicon.</a:t>
            </a:r>
          </a:p>
          <a:p>
            <a:r>
              <a:rPr lang="en-US" b="1" dirty="0"/>
              <a:t>Key Characteristics</a:t>
            </a:r>
            <a:endParaRPr lang="en-US" dirty="0"/>
          </a:p>
          <a:p>
            <a:r>
              <a:rPr lang="en-US" b="1" dirty="0"/>
              <a:t>Efficiency:</a:t>
            </a:r>
            <a:r>
              <a:rPr lang="en-US" dirty="0"/>
              <a:t> ~12–15% (space-qualified)</a:t>
            </a:r>
          </a:p>
          <a:p>
            <a:r>
              <a:rPr lang="en-US" b="1" dirty="0"/>
              <a:t>Radiation tolerance:</a:t>
            </a:r>
            <a:r>
              <a:rPr lang="en-US" dirty="0"/>
              <a:t> Poor by modern standards</a:t>
            </a:r>
          </a:p>
          <a:p>
            <a:r>
              <a:rPr lang="en-US" b="1" dirty="0"/>
              <a:t>Temperature performance:</a:t>
            </a:r>
            <a:r>
              <a:rPr lang="en-US" dirty="0"/>
              <a:t> Moderate degradation at high temperatures</a:t>
            </a:r>
          </a:p>
          <a:p>
            <a:r>
              <a:rPr lang="en-US" b="1" dirty="0"/>
              <a:t>Mass efficiency:</a:t>
            </a:r>
            <a:r>
              <a:rPr lang="en-US" dirty="0"/>
              <a:t> Low (heavy for the power produced)</a:t>
            </a:r>
          </a:p>
          <a:p>
            <a:r>
              <a:rPr lang="en-US" b="1" dirty="0"/>
              <a:t>Typical Use</a:t>
            </a:r>
            <a:endParaRPr lang="en-US" dirty="0"/>
          </a:p>
          <a:p>
            <a:r>
              <a:rPr lang="en-US" dirty="0"/>
              <a:t>Early satellites</a:t>
            </a:r>
          </a:p>
          <a:p>
            <a:r>
              <a:rPr lang="en-US" dirty="0"/>
              <a:t>Educational missions</a:t>
            </a:r>
          </a:p>
          <a:p>
            <a:r>
              <a:rPr lang="en-US" dirty="0"/>
              <a:t>Very low-cost or heritage-constrained spacecraft</a:t>
            </a:r>
          </a:p>
          <a:p>
            <a:r>
              <a:rPr lang="en-US" b="1" dirty="0"/>
              <a:t>Status</a:t>
            </a:r>
            <a:endParaRPr lang="en-US" dirty="0"/>
          </a:p>
          <a:p>
            <a:r>
              <a:rPr lang="en-US" dirty="0"/>
              <a:t>Largely obsolete for modern operational missions.</a:t>
            </a:r>
          </a:p>
          <a:p>
            <a:br>
              <a:rPr lang="en-US" dirty="0"/>
            </a:br>
            <a:endParaRPr lang="en-US" dirty="0"/>
          </a:p>
          <a:p>
            <a:r>
              <a:rPr lang="en-US" b="1" dirty="0"/>
              <a:t>2. Gallium Arsenide (GaAs) Solar Cells</a:t>
            </a:r>
          </a:p>
          <a:p>
            <a:r>
              <a:rPr lang="en-US" b="1" dirty="0"/>
              <a:t>Overview</a:t>
            </a:r>
            <a:endParaRPr lang="en-US" dirty="0"/>
          </a:p>
          <a:p>
            <a:r>
              <a:rPr lang="en-US" dirty="0"/>
              <a:t>Supplanted silicon as the baseline space solar cell in the 1990s.</a:t>
            </a:r>
          </a:p>
          <a:p>
            <a:r>
              <a:rPr lang="en-US" b="1" dirty="0"/>
              <a:t>Key Characteristics</a:t>
            </a:r>
            <a:endParaRPr lang="en-US" dirty="0"/>
          </a:p>
          <a:p>
            <a:r>
              <a:rPr lang="en-US" b="1" dirty="0"/>
              <a:t>Efficiency:</a:t>
            </a:r>
            <a:r>
              <a:rPr lang="en-US" dirty="0"/>
              <a:t> ~18–22%</a:t>
            </a:r>
          </a:p>
          <a:p>
            <a:r>
              <a:rPr lang="en-US" b="1" dirty="0"/>
              <a:t>Radiation tolerance:</a:t>
            </a:r>
            <a:r>
              <a:rPr lang="en-US" dirty="0"/>
              <a:t> Significantly better than silicon</a:t>
            </a:r>
          </a:p>
          <a:p>
            <a:r>
              <a:rPr lang="en-US" b="1" dirty="0"/>
              <a:t>Temperature performance:</a:t>
            </a:r>
            <a:r>
              <a:rPr lang="en-US" dirty="0"/>
              <a:t> Better high-temperature behavior</a:t>
            </a:r>
          </a:p>
          <a:p>
            <a:r>
              <a:rPr lang="en-US" b="1" dirty="0"/>
              <a:t>Mass efficiency:</a:t>
            </a:r>
            <a:r>
              <a:rPr lang="en-US" dirty="0"/>
              <a:t> Moderate</a:t>
            </a:r>
          </a:p>
          <a:p>
            <a:r>
              <a:rPr lang="en-US" b="1" dirty="0"/>
              <a:t>Typical Use</a:t>
            </a:r>
            <a:endParaRPr lang="en-US" dirty="0"/>
          </a:p>
          <a:p>
            <a:r>
              <a:rPr lang="en-US" dirty="0"/>
              <a:t>Legacy GEO satellites</a:t>
            </a:r>
          </a:p>
          <a:p>
            <a:r>
              <a:rPr lang="en-US" dirty="0"/>
              <a:t>Early LEO/MEO spacecraft</a:t>
            </a:r>
          </a:p>
          <a:p>
            <a:r>
              <a:rPr lang="en-US" b="1" dirty="0"/>
              <a:t>Status</a:t>
            </a:r>
            <a:endParaRPr lang="en-US" dirty="0"/>
          </a:p>
          <a:p>
            <a:r>
              <a:rPr lang="en-US" dirty="0"/>
              <a:t>Still flown, but increasingly replaced by multi-junction designs.</a:t>
            </a:r>
          </a:p>
          <a:p>
            <a:br>
              <a:rPr lang="en-US" dirty="0"/>
            </a:br>
            <a:endParaRPr lang="en-US" dirty="0"/>
          </a:p>
          <a:p>
            <a:r>
              <a:rPr lang="en-US" b="1" dirty="0"/>
              <a:t>3. Multi-Junction III–V Solar Cells</a:t>
            </a:r>
          </a:p>
          <a:p>
            <a:r>
              <a:rPr lang="en-US" b="1" dirty="0"/>
              <a:t>Overview</a:t>
            </a:r>
            <a:endParaRPr lang="en-US" dirty="0"/>
          </a:p>
          <a:p>
            <a:r>
              <a:rPr lang="en-US" dirty="0"/>
              <a:t>Current </a:t>
            </a:r>
            <a:r>
              <a:rPr lang="en-US" b="1" dirty="0"/>
              <a:t>state of the art</a:t>
            </a:r>
            <a:r>
              <a:rPr lang="en-US" dirty="0"/>
              <a:t> for most operational spacecraft.</a:t>
            </a:r>
          </a:p>
          <a:p>
            <a:r>
              <a:rPr lang="en-US" dirty="0"/>
              <a:t>Commonly triple-junction (InGaP/GaAs/Ge), with quad-junction variants emerging.</a:t>
            </a:r>
          </a:p>
          <a:p>
            <a:r>
              <a:rPr lang="en-US" b="1" dirty="0"/>
              <a:t>Key Characteristics</a:t>
            </a:r>
            <a:endParaRPr lang="en-US" dirty="0"/>
          </a:p>
          <a:p>
            <a:r>
              <a:rPr lang="en-US" b="1" dirty="0"/>
              <a:t>Efficiency:</a:t>
            </a:r>
            <a:endParaRPr lang="en-US" dirty="0"/>
          </a:p>
          <a:p>
            <a:pPr lvl="1"/>
            <a:r>
              <a:rPr lang="en-US" dirty="0"/>
              <a:t>Triple-junction: ~28–32%</a:t>
            </a:r>
          </a:p>
          <a:p>
            <a:pPr lvl="1"/>
            <a:r>
              <a:rPr lang="en-US" dirty="0"/>
              <a:t>Advanced multi-junction: 33–36%+</a:t>
            </a:r>
          </a:p>
          <a:p>
            <a:r>
              <a:rPr lang="en-US" b="1" dirty="0"/>
              <a:t>Radiation tolerance:</a:t>
            </a:r>
            <a:r>
              <a:rPr lang="en-US" dirty="0"/>
              <a:t> Excellent</a:t>
            </a:r>
          </a:p>
          <a:p>
            <a:r>
              <a:rPr lang="en-US" b="1" dirty="0"/>
              <a:t>Temperature performance:</a:t>
            </a:r>
            <a:r>
              <a:rPr lang="en-US" dirty="0"/>
              <a:t> Strong</a:t>
            </a:r>
          </a:p>
          <a:p>
            <a:r>
              <a:rPr lang="en-US" b="1" dirty="0"/>
              <a:t>Mass efficiency:</a:t>
            </a:r>
            <a:r>
              <a:rPr lang="en-US" dirty="0"/>
              <a:t> High (best W/kg)</a:t>
            </a:r>
          </a:p>
          <a:p>
            <a:r>
              <a:rPr lang="en-US" b="1" dirty="0"/>
              <a:t>Typical Use</a:t>
            </a:r>
            <a:endParaRPr lang="en-US" dirty="0"/>
          </a:p>
          <a:p>
            <a:r>
              <a:rPr lang="en-US" dirty="0"/>
              <a:t>Modern LEO, MEO, GEO satellites</a:t>
            </a:r>
          </a:p>
          <a:p>
            <a:r>
              <a:rPr lang="en-US" dirty="0"/>
              <a:t>Deep-space missions</a:t>
            </a:r>
          </a:p>
          <a:p>
            <a:r>
              <a:rPr lang="en-US" dirty="0"/>
              <a:t>High-power spacecraft (communications, ISR)</a:t>
            </a:r>
          </a:p>
          <a:p>
            <a:r>
              <a:rPr lang="en-US" b="1" dirty="0"/>
              <a:t>Status</a:t>
            </a:r>
            <a:endParaRPr lang="en-US" dirty="0"/>
          </a:p>
          <a:p>
            <a:r>
              <a:rPr lang="en-US" dirty="0"/>
              <a:t>Industry standard for performance-driven missions.</a:t>
            </a:r>
          </a:p>
          <a:p>
            <a:br>
              <a:rPr lang="en-US" dirty="0"/>
            </a:br>
            <a:endParaRPr lang="en-US" dirty="0"/>
          </a:p>
          <a:p>
            <a:r>
              <a:rPr lang="en-US" b="1" dirty="0"/>
              <a:t>4. Thin-Film Solar Cells</a:t>
            </a:r>
          </a:p>
          <a:p>
            <a:r>
              <a:rPr lang="en-US" dirty="0"/>
              <a:t>Includes:</a:t>
            </a:r>
          </a:p>
          <a:p>
            <a:r>
              <a:rPr lang="en-US" b="1" dirty="0"/>
              <a:t>Amorphous silicon (a-Si)</a:t>
            </a:r>
            <a:endParaRPr lang="en-US" dirty="0"/>
          </a:p>
          <a:p>
            <a:r>
              <a:rPr lang="en-US" b="1" dirty="0"/>
              <a:t>Copper indium gallium selenide (CIGS)</a:t>
            </a:r>
            <a:endParaRPr lang="en-US" dirty="0"/>
          </a:p>
          <a:p>
            <a:r>
              <a:rPr lang="en-US" b="1" dirty="0"/>
              <a:t>Cadmium telluride (</a:t>
            </a:r>
            <a:r>
              <a:rPr lang="en-US" b="1" dirty="0" err="1"/>
              <a:t>CdTe</a:t>
            </a:r>
            <a:r>
              <a:rPr lang="en-US" b="1" dirty="0"/>
              <a:t>)</a:t>
            </a:r>
            <a:endParaRPr lang="en-US" dirty="0"/>
          </a:p>
          <a:p>
            <a:r>
              <a:rPr lang="en-US" b="1" dirty="0"/>
              <a:t>Key Characteristics</a:t>
            </a:r>
            <a:endParaRPr lang="en-US" dirty="0"/>
          </a:p>
          <a:p>
            <a:r>
              <a:rPr lang="en-US" b="1" dirty="0"/>
              <a:t>Efficiency:</a:t>
            </a:r>
            <a:r>
              <a:rPr lang="en-US" dirty="0"/>
              <a:t> ~8–18% (technology dependent)</a:t>
            </a:r>
          </a:p>
          <a:p>
            <a:r>
              <a:rPr lang="en-US" b="1" dirty="0"/>
              <a:t>Radiation tolerance:</a:t>
            </a:r>
            <a:r>
              <a:rPr lang="en-US" dirty="0"/>
              <a:t> Variable</a:t>
            </a:r>
          </a:p>
          <a:p>
            <a:r>
              <a:rPr lang="en-US" b="1" dirty="0"/>
              <a:t>Mass efficiency:</a:t>
            </a:r>
            <a:r>
              <a:rPr lang="en-US" dirty="0"/>
              <a:t> Very high (ultra-lightweight, flexible)</a:t>
            </a:r>
          </a:p>
          <a:p>
            <a:r>
              <a:rPr lang="en-US" b="1" dirty="0"/>
              <a:t>Mechanical flexibility:</a:t>
            </a:r>
            <a:r>
              <a:rPr lang="en-US" dirty="0"/>
              <a:t> Excellent</a:t>
            </a:r>
          </a:p>
          <a:p>
            <a:r>
              <a:rPr lang="en-US" b="1" dirty="0"/>
              <a:t>Typical Use</a:t>
            </a:r>
            <a:endParaRPr lang="en-US" dirty="0"/>
          </a:p>
          <a:p>
            <a:r>
              <a:rPr lang="en-US" dirty="0"/>
              <a:t>Small satellites (CubeSats)</a:t>
            </a:r>
          </a:p>
          <a:p>
            <a:r>
              <a:rPr lang="en-US" dirty="0"/>
              <a:t>Deployable or conformal arrays</a:t>
            </a:r>
          </a:p>
          <a:p>
            <a:r>
              <a:rPr lang="en-US" dirty="0"/>
              <a:t>Demonstration missions</a:t>
            </a:r>
          </a:p>
          <a:p>
            <a:r>
              <a:rPr lang="en-US" b="1" dirty="0"/>
              <a:t>Status</a:t>
            </a:r>
            <a:endParaRPr lang="en-US" dirty="0"/>
          </a:p>
          <a:p>
            <a:r>
              <a:rPr lang="en-US" dirty="0"/>
              <a:t>Increasing adoption where mass, stowage volume, or </a:t>
            </a:r>
            <a:r>
              <a:rPr lang="en-US" dirty="0" err="1"/>
              <a:t>deployability</a:t>
            </a:r>
            <a:r>
              <a:rPr lang="en-US" dirty="0"/>
              <a:t> dominate over efficiency.</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8</a:t>
            </a:fld>
            <a:endParaRPr lang="en-US"/>
          </a:p>
        </p:txBody>
      </p:sp>
    </p:spTree>
    <p:extLst>
      <p:ext uri="{BB962C8B-B14F-4D97-AF65-F5344CB8AC3E}">
        <p14:creationId xmlns:p14="http://schemas.microsoft.com/office/powerpoint/2010/main" val="1908669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Hubble solar panels 9 years after install (2002)</a:t>
            </a:r>
          </a:p>
        </p:txBody>
      </p:sp>
      <p:sp>
        <p:nvSpPr>
          <p:cNvPr id="4" name="Slide Number Placeholder 3"/>
          <p:cNvSpPr>
            <a:spLocks noGrp="1"/>
          </p:cNvSpPr>
          <p:nvPr>
            <p:ph type="sldNum" sz="quarter" idx="5"/>
          </p:nvPr>
        </p:nvSpPr>
        <p:spPr/>
        <p:txBody>
          <a:bodyPr/>
          <a:lstStyle/>
          <a:p>
            <a:fld id="{9EB4C982-825B-414E-ABB9-79AB251390A5}" type="slidenum">
              <a:rPr lang="en-US" smtClean="0"/>
              <a:t>9</a:t>
            </a:fld>
            <a:endParaRPr lang="en-US"/>
          </a:p>
        </p:txBody>
      </p:sp>
    </p:spTree>
    <p:extLst>
      <p:ext uri="{BB962C8B-B14F-4D97-AF65-F5344CB8AC3E}">
        <p14:creationId xmlns:p14="http://schemas.microsoft.com/office/powerpoint/2010/main" val="2282683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Units on rho </a:t>
            </a:r>
            <a:r>
              <a:rPr lang="en-US" dirty="0">
                <a:sym typeface="Wingdings" panose="05000000000000000000" pitchFamily="2" charset="2"/>
              </a:rPr>
              <a:t> deg, to use with </a:t>
            </a:r>
            <a:r>
              <a:rPr lang="en-US" dirty="0" err="1">
                <a:sym typeface="Wingdings" panose="05000000000000000000" pitchFamily="2" charset="2"/>
              </a:rPr>
              <a:t>T_e</a:t>
            </a:r>
            <a:r>
              <a:rPr lang="en-US" dirty="0">
                <a:sym typeface="Wingdings" panose="05000000000000000000" pitchFamily="2" charset="2"/>
              </a:rPr>
              <a:t> equation </a:t>
            </a:r>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11</a:t>
            </a:fld>
            <a:endParaRPr lang="en-US"/>
          </a:p>
        </p:txBody>
      </p:sp>
    </p:spTree>
    <p:extLst>
      <p:ext uri="{BB962C8B-B14F-4D97-AF65-F5344CB8AC3E}">
        <p14:creationId xmlns:p14="http://schemas.microsoft.com/office/powerpoint/2010/main" val="1076191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Temperature Effects:</a:t>
            </a:r>
            <a:r>
              <a:rPr lang="en-US" dirty="0"/>
              <a:t> High temperatures lower Voc (less available power in hot conditions).</a:t>
            </a:r>
          </a:p>
          <a:p>
            <a:r>
              <a:rPr lang="en-US" b="1" dirty="0"/>
              <a:t>Radiation Damage:</a:t>
            </a:r>
            <a:r>
              <a:rPr lang="en-US" dirty="0"/>
              <a:t> Degrades both </a:t>
            </a:r>
            <a:r>
              <a:rPr lang="en-US" dirty="0" err="1"/>
              <a:t>Isc</a:t>
            </a:r>
            <a:r>
              <a:rPr lang="en-US" dirty="0"/>
              <a:t> and Voc over time, reducing total available power.</a:t>
            </a:r>
          </a:p>
          <a:p>
            <a:r>
              <a:rPr lang="en-US" b="1" dirty="0"/>
              <a:t>Eclipse Recovery:</a:t>
            </a:r>
            <a:r>
              <a:rPr lang="en-US" dirty="0"/>
              <a:t> After eclipse, panels must quickly re-establish their I–V curve characteristics to recharge batteries.</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12</a:t>
            </a:fld>
            <a:endParaRPr lang="en-US"/>
          </a:p>
        </p:txBody>
      </p:sp>
    </p:spTree>
    <p:extLst>
      <p:ext uri="{BB962C8B-B14F-4D97-AF65-F5344CB8AC3E}">
        <p14:creationId xmlns:p14="http://schemas.microsoft.com/office/powerpoint/2010/main" val="253444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Control algorithms:</a:t>
            </a:r>
          </a:p>
          <a:p>
            <a:r>
              <a:rPr lang="en-US" dirty="0"/>
              <a:t>Perturb and Observe (P&amp;O): Slightly vary voltage/current and measure power change.</a:t>
            </a:r>
          </a:p>
          <a:p>
            <a:r>
              <a:rPr lang="en-US" dirty="0"/>
              <a:t>Incremental Conductance: Compare instantaneous and incremental conductance to find the peak.</a:t>
            </a:r>
          </a:p>
          <a:p>
            <a:r>
              <a:rPr lang="en-US" dirty="0"/>
              <a:t>Constant Voltage: Keep panel voltage at a fixed fraction of Voc (simpler, less efficient).</a:t>
            </a:r>
          </a:p>
        </p:txBody>
      </p:sp>
      <p:sp>
        <p:nvSpPr>
          <p:cNvPr id="4" name="Slide Number Placeholder 3"/>
          <p:cNvSpPr>
            <a:spLocks noGrp="1"/>
          </p:cNvSpPr>
          <p:nvPr>
            <p:ph type="sldNum" sz="quarter" idx="5"/>
          </p:nvPr>
        </p:nvSpPr>
        <p:spPr/>
        <p:txBody>
          <a:bodyPr/>
          <a:lstStyle/>
          <a:p>
            <a:fld id="{9EB4C982-825B-414E-ABB9-79AB251390A5}" type="slidenum">
              <a:rPr lang="en-US" smtClean="0"/>
              <a:t>13</a:t>
            </a:fld>
            <a:endParaRPr lang="en-US"/>
          </a:p>
        </p:txBody>
      </p:sp>
    </p:spTree>
    <p:extLst>
      <p:ext uri="{BB962C8B-B14F-4D97-AF65-F5344CB8AC3E}">
        <p14:creationId xmlns:p14="http://schemas.microsoft.com/office/powerpoint/2010/main" val="16551294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Depth of Discharge (DoD):</a:t>
            </a:r>
            <a:r>
              <a:rPr lang="en-US" dirty="0"/>
              <a:t> Determines cycle life (shallow discharges = longer life).</a:t>
            </a:r>
          </a:p>
          <a:p>
            <a:r>
              <a:rPr lang="en-US" b="1" dirty="0"/>
              <a:t>Cycle Life:</a:t>
            </a:r>
            <a:r>
              <a:rPr lang="en-US" dirty="0"/>
              <a:t> Number of charge/discharge cycles before significant capacity loss.</a:t>
            </a:r>
          </a:p>
          <a:p>
            <a:r>
              <a:rPr lang="en-US" b="1" dirty="0"/>
              <a:t>Temperature Sensitivity:</a:t>
            </a:r>
            <a:r>
              <a:rPr lang="en-US" dirty="0"/>
              <a:t> Batteries degrade quickly under thermal stress.</a:t>
            </a:r>
          </a:p>
          <a:p>
            <a:r>
              <a:rPr lang="en-US" b="1" dirty="0"/>
              <a:t>Radiation Effects:</a:t>
            </a:r>
            <a:r>
              <a:rPr lang="en-US" dirty="0"/>
              <a:t> Can reduce lifetime, cause internal resistance growth.</a:t>
            </a:r>
          </a:p>
          <a:p>
            <a:r>
              <a:rPr lang="en-US" b="1" dirty="0"/>
              <a:t>Safety:</a:t>
            </a:r>
            <a:r>
              <a:rPr lang="en-US" dirty="0"/>
              <a:t> Li-ion requires protection circuits to prevent overcharge/thermal runaway.</a:t>
            </a:r>
          </a:p>
          <a:p>
            <a:endParaRPr lang="en-US" dirty="0"/>
          </a:p>
          <a:p>
            <a:r>
              <a:rPr lang="en-US" b="1" dirty="0"/>
              <a:t>Spacecraft Examples</a:t>
            </a:r>
          </a:p>
          <a:p>
            <a:r>
              <a:rPr lang="en-US" b="1" dirty="0"/>
              <a:t>International Space Station (ISS):</a:t>
            </a:r>
            <a:r>
              <a:rPr lang="en-US" dirty="0"/>
              <a:t> Started with </a:t>
            </a:r>
            <a:r>
              <a:rPr lang="en-US" dirty="0" err="1"/>
              <a:t>NiH</a:t>
            </a:r>
            <a:r>
              <a:rPr lang="en-US" dirty="0"/>
              <a:t>₂, upgraded to Li-ion batteries during astronaut EVAs.</a:t>
            </a:r>
          </a:p>
          <a:p>
            <a:r>
              <a:rPr lang="en-US" b="1" dirty="0"/>
              <a:t>CubeSats:</a:t>
            </a:r>
            <a:r>
              <a:rPr lang="en-US" dirty="0"/>
              <a:t> Typically use COTS Li-ion or Li-poly cells, often in 1S–2S packs.</a:t>
            </a:r>
          </a:p>
          <a:p>
            <a:r>
              <a:rPr lang="en-US" b="1" dirty="0"/>
              <a:t>Mars Rovers (Spirit, Opportunity, Curiosity, Perseverance):</a:t>
            </a:r>
            <a:r>
              <a:rPr lang="en-US" dirty="0"/>
              <a:t> Rely on rechargeable Li-ion packs, charged by RTGs or solar arrays.</a:t>
            </a:r>
          </a:p>
          <a:p>
            <a:br>
              <a:rPr lang="en-US" dirty="0"/>
            </a:br>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14</a:t>
            </a:fld>
            <a:endParaRPr lang="en-US"/>
          </a:p>
        </p:txBody>
      </p:sp>
    </p:spTree>
    <p:extLst>
      <p:ext uri="{BB962C8B-B14F-4D97-AF65-F5344CB8AC3E}">
        <p14:creationId xmlns:p14="http://schemas.microsoft.com/office/powerpoint/2010/main" val="4085758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15</a:t>
            </a:fld>
            <a:endParaRPr lang="en-US"/>
          </a:p>
        </p:txBody>
      </p:sp>
    </p:spTree>
    <p:extLst>
      <p:ext uri="{BB962C8B-B14F-4D97-AF65-F5344CB8AC3E}">
        <p14:creationId xmlns:p14="http://schemas.microsoft.com/office/powerpoint/2010/main" val="1995456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16</a:t>
            </a:fld>
            <a:endParaRPr lang="en-US"/>
          </a:p>
        </p:txBody>
      </p:sp>
    </p:spTree>
    <p:extLst>
      <p:ext uri="{BB962C8B-B14F-4D97-AF65-F5344CB8AC3E}">
        <p14:creationId xmlns:p14="http://schemas.microsoft.com/office/powerpoint/2010/main" val="1867297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DoD -- Why It Matters</a:t>
            </a:r>
          </a:p>
          <a:p>
            <a:r>
              <a:rPr lang="en-US" b="1" dirty="0"/>
              <a:t>Battery Lifetime:</a:t>
            </a:r>
            <a:endParaRPr lang="en-US" dirty="0"/>
          </a:p>
          <a:p>
            <a:pPr lvl="1"/>
            <a:r>
              <a:rPr lang="en-US" dirty="0"/>
              <a:t>The deeper the discharge (higher DoD), the fewer charge/discharge cycles the battery can survive.</a:t>
            </a:r>
          </a:p>
          <a:p>
            <a:pPr lvl="1"/>
            <a:r>
              <a:rPr lang="en-US" dirty="0"/>
              <a:t>Shallow cycles (low DoD) → much longer cycle life.</a:t>
            </a:r>
          </a:p>
          <a:p>
            <a:r>
              <a:rPr lang="en-US" b="1" dirty="0"/>
              <a:t>Thermal Effects:</a:t>
            </a:r>
            <a:endParaRPr lang="en-US" dirty="0"/>
          </a:p>
          <a:p>
            <a:pPr lvl="1"/>
            <a:r>
              <a:rPr lang="en-US" dirty="0"/>
              <a:t>Deep discharges generate more heat and stress internal chemistry.</a:t>
            </a:r>
          </a:p>
          <a:p>
            <a:r>
              <a:rPr lang="en-US" b="1" dirty="0"/>
              <a:t>Mission Design Trade-off:</a:t>
            </a:r>
            <a:endParaRPr lang="en-US" dirty="0"/>
          </a:p>
          <a:p>
            <a:pPr lvl="1"/>
            <a:r>
              <a:rPr lang="en-US" dirty="0"/>
              <a:t>Spacecraft designers choose a maximum allowable DoD to balance </a:t>
            </a:r>
            <a:r>
              <a:rPr lang="en-US" b="1" dirty="0"/>
              <a:t>energy needs</a:t>
            </a:r>
            <a:r>
              <a:rPr lang="en-US" dirty="0"/>
              <a:t> with </a:t>
            </a:r>
            <a:r>
              <a:rPr lang="en-US" b="1" dirty="0"/>
              <a:t>battery lifetime</a:t>
            </a:r>
            <a:r>
              <a:rPr lang="en-US" dirty="0"/>
              <a:t>.</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17</a:t>
            </a:fld>
            <a:endParaRPr lang="en-US"/>
          </a:p>
        </p:txBody>
      </p:sp>
    </p:spTree>
    <p:extLst>
      <p:ext uri="{BB962C8B-B14F-4D97-AF65-F5344CB8AC3E}">
        <p14:creationId xmlns:p14="http://schemas.microsoft.com/office/powerpoint/2010/main" val="27782491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Voyager Spacecraft</a:t>
            </a:r>
          </a:p>
          <a:p>
            <a:endParaRPr lang="en-US" dirty="0"/>
          </a:p>
          <a:p>
            <a:r>
              <a:rPr lang="en-US" dirty="0"/>
              <a:t>RTG</a:t>
            </a:r>
          </a:p>
        </p:txBody>
      </p:sp>
      <p:sp>
        <p:nvSpPr>
          <p:cNvPr id="4" name="Slide Number Placeholder 3"/>
          <p:cNvSpPr>
            <a:spLocks noGrp="1"/>
          </p:cNvSpPr>
          <p:nvPr>
            <p:ph type="sldNum" sz="quarter" idx="5"/>
          </p:nvPr>
        </p:nvSpPr>
        <p:spPr/>
        <p:txBody>
          <a:bodyPr/>
          <a:lstStyle/>
          <a:p>
            <a:fld id="{9EB4C982-825B-414E-ABB9-79AB251390A5}" type="slidenum">
              <a:rPr lang="en-US" smtClean="0"/>
              <a:t>18</a:t>
            </a:fld>
            <a:endParaRPr lang="en-US"/>
          </a:p>
        </p:txBody>
      </p:sp>
    </p:spTree>
    <p:extLst>
      <p:ext uri="{BB962C8B-B14F-4D97-AF65-F5344CB8AC3E}">
        <p14:creationId xmlns:p14="http://schemas.microsoft.com/office/powerpoint/2010/main" val="3781958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15"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RTGs generate power by using thermocouples to generate a voltage. Thermocouples are very reliable and have a very long life. However, there are very inefficient. The efficiencies range from 3-7% (use 5% if no actual value is known.) They produce voltage by connecting two electrical conductors of different material. When one side is heated and the other side is cooled, a voltage potential across the junction is generated. Within the RTG, the decay of radioactive material creates the heat and the coldness of deep space provides the cold.</a:t>
            </a:r>
          </a:p>
          <a:p>
            <a:endParaRPr lang="en-US" dirty="0"/>
          </a:p>
          <a:p>
            <a:endParaRPr lang="en-US" dirty="0"/>
          </a:p>
          <a:p>
            <a:endParaRPr lang="en-US" dirty="0"/>
          </a:p>
          <a:p>
            <a:r>
              <a:rPr lang="en-US" dirty="0">
                <a:effectLst/>
              </a:rPr>
              <a:t>Plutonium-238 </a:t>
            </a:r>
            <a:r>
              <a:rPr lang="en-US" dirty="0"/>
              <a:t>availability is limited, necessitating active production by the </a:t>
            </a:r>
            <a:r>
              <a:rPr lang="en-US" dirty="0">
                <a:hlinkClick r:id="rId3"/>
              </a:rPr>
              <a:t>US Department of Energy (DOE)</a:t>
            </a:r>
            <a:r>
              <a:rPr lang="en-US" dirty="0"/>
              <a:t> to fuel NASA’s deep-space missions. Production restarted in 2015 after a 1988 shutdown, with goals to produce 1.5 kg per year by the mid-2020s. The supply is critical, as it provides heat for Radioisotope Thermoelectric Generators (RTGs) when solar power is not feasible. </a:t>
            </a:r>
          </a:p>
          <a:p>
            <a:r>
              <a:rPr lang="en-US" sz="1200" b="1" i="0" kern="1200" dirty="0">
                <a:solidFill>
                  <a:schemeClr val="tx1"/>
                </a:solidFill>
                <a:effectLst/>
                <a:latin typeface="+mn-lt"/>
                <a:ea typeface="+mn-ea"/>
                <a:cs typeface="+mn-cs"/>
              </a:rPr>
              <a:t>Dwindling Reserves:</a:t>
            </a:r>
            <a:r>
              <a:rPr lang="en-US" sz="1200" b="0" i="0" kern="1200" dirty="0">
                <a:solidFill>
                  <a:schemeClr val="tx1"/>
                </a:solidFill>
                <a:effectLst/>
                <a:latin typeface="+mn-lt"/>
                <a:ea typeface="+mn-ea"/>
                <a:cs typeface="+mn-cs"/>
              </a:rPr>
              <a:t> Following the 1988 production stop, the US relied on a shrinking stockpile and Russian imports (which ended in 2010).</a:t>
            </a:r>
          </a:p>
          <a:p>
            <a:r>
              <a:rPr lang="en-US" sz="1200" b="1" i="0" kern="1200" dirty="0">
                <a:solidFill>
                  <a:schemeClr val="tx1"/>
                </a:solidFill>
                <a:effectLst/>
                <a:latin typeface="+mn-lt"/>
                <a:ea typeface="+mn-ea"/>
                <a:cs typeface="+mn-cs"/>
              </a:rPr>
              <a:t>Capacity:</a:t>
            </a:r>
            <a:r>
              <a:rPr lang="en-US" sz="1200" b="0" i="0" kern="1200" dirty="0">
                <a:solidFill>
                  <a:schemeClr val="tx1"/>
                </a:solidFill>
                <a:effectLst/>
                <a:latin typeface="+mn-lt"/>
                <a:ea typeface="+mn-ea"/>
                <a:cs typeface="+mn-cs"/>
              </a:rPr>
              <a:t> Prior to the new production, the US stockpile was down to about 77 </a:t>
            </a:r>
            <a:r>
              <a:rPr lang="en-US" sz="1200" b="0" i="0" kern="1200" dirty="0" err="1">
                <a:solidFill>
                  <a:schemeClr val="tx1"/>
                </a:solidFill>
                <a:effectLst/>
                <a:latin typeface="+mn-lt"/>
                <a:ea typeface="+mn-ea"/>
                <a:cs typeface="+mn-cs"/>
              </a:rPr>
              <a:t>lbs</a:t>
            </a:r>
            <a:r>
              <a:rPr lang="en-US" sz="1200" b="0" i="0" kern="1200" dirty="0">
                <a:solidFill>
                  <a:schemeClr val="tx1"/>
                </a:solidFill>
                <a:effectLst/>
                <a:latin typeface="+mn-lt"/>
                <a:ea typeface="+mn-ea"/>
                <a:cs typeface="+mn-cs"/>
              </a:rPr>
              <a:t>, with only about half of that deemed usable for missions. (for reference the Curiosity rover used roughly 10 </a:t>
            </a:r>
            <a:r>
              <a:rPr lang="en-US" sz="1200" b="0" i="0" kern="1200" dirty="0" err="1">
                <a:solidFill>
                  <a:schemeClr val="tx1"/>
                </a:solidFill>
                <a:effectLst/>
                <a:latin typeface="+mn-lt"/>
                <a:ea typeface="+mn-ea"/>
                <a:cs typeface="+mn-cs"/>
              </a:rPr>
              <a:t>lbs</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20</a:t>
            </a:fld>
            <a:endParaRPr lang="en-US"/>
          </a:p>
        </p:txBody>
      </p:sp>
    </p:spTree>
    <p:extLst>
      <p:ext uri="{BB962C8B-B14F-4D97-AF65-F5344CB8AC3E}">
        <p14:creationId xmlns:p14="http://schemas.microsoft.com/office/powerpoint/2010/main" val="2003199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21</a:t>
            </a:fld>
            <a:endParaRPr lang="en-US"/>
          </a:p>
        </p:txBody>
      </p:sp>
    </p:spTree>
    <p:extLst>
      <p:ext uri="{BB962C8B-B14F-4D97-AF65-F5344CB8AC3E}">
        <p14:creationId xmlns:p14="http://schemas.microsoft.com/office/powerpoint/2010/main" val="1092250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7505" y="1287560"/>
            <a:ext cx="6788990" cy="2387600"/>
          </a:xfrm>
        </p:spPr>
        <p:txBody>
          <a:bodyPr anchor="ctr"/>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EE600E-A67F-4D2A-8A36-552C1EFBE963}" type="datetime1">
              <a:rPr lang="en-US" smtClean="0"/>
              <a:t>3/10/2026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pPr algn="ctr"/>
            <a:r>
              <a:rPr lang="en-US" sz="3600" dirty="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D194C-E731-4CF3-8F14-16F2CEB9B5CF}" type="datetime1">
              <a:rPr lang="en-US" smtClean="0"/>
              <a:t>3/10/2026</a:t>
            </a:fld>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ctr">
            <a:normAutofit/>
          </a:bodyPr>
          <a:lstStyle>
            <a:lvl1pPr>
              <a:defRPr sz="4800"/>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3/10/2026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EF287-72CA-49D4-A601-3B9D2E83EA05}" type="datetime1">
              <a:rPr lang="en-US" smtClean="0"/>
              <a:t>3/10/2026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B2832-1105-4FA1-AD49-3D1761459FB9}" type="datetime1">
              <a:rPr lang="en-US" smtClean="0"/>
              <a:t>3/10/2026</a:t>
            </a:fld>
            <a:endParaRPr lang="en-US"/>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08DF9A-2345-4D36-85FA-49730D271487}" type="datetime1">
              <a:rPr lang="en-US" smtClean="0"/>
              <a:t>3/10/2026</a:t>
            </a:fld>
            <a:endParaRPr lang="en-US"/>
          </a:p>
        </p:txBody>
      </p:sp>
      <p:sp>
        <p:nvSpPr>
          <p:cNvPr id="4" name="Footer Placeholder 3"/>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3/10/2026</a:t>
            </a:fld>
            <a:endParaRPr lang="en-US"/>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3/10/2026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3/10/2026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B0F733-755F-4A68-A044-3BB7487EA333}" type="datetime1">
              <a:rPr lang="en-US" smtClean="0"/>
              <a:t>3/10/2026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81D12-59AE-465C-A617-7D2534E388B9}" type="datetime1">
              <a:rPr lang="en-US" smtClean="0"/>
              <a:t>3/10/2026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966" y="133186"/>
            <a:ext cx="7886700" cy="6521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00025" y="1002506"/>
            <a:ext cx="8793015" cy="522755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8291" y="6465105"/>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3/10/2026</a:t>
            </a:fld>
            <a:endParaRPr lang="en-US" dirty="0"/>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8115301" y="72097"/>
            <a:ext cx="970472"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2025 Fall</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46364" y="855395"/>
            <a:ext cx="9039409" cy="5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5" y="18574"/>
            <a:ext cx="734686" cy="827487"/>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ntrs.nasa.gov/api/citations/19950021793/downloads/19950021793.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0.png"/><Relationship Id="rId12"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6.png"/><Relationship Id="rId9" Type="http://schemas.openxmlformats.org/officeDocument/2006/relationships/image" Target="../media/image22.png"/><Relationship Id="rId1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5.jp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en.wikipedia.org/wiki/Multi-mission_radioisotope_thermoelectric_generator"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dirty="0"/>
              <a:t>Lesson </a:t>
            </a:r>
            <a:r>
              <a:rPr lang="en-US" dirty="0"/>
              <a:t>7</a:t>
            </a:r>
            <a:endParaRPr lang="en-US" b="1" dirty="0"/>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Electrical Power Subsystem</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00CE47-D77E-F8BF-B6AE-0FD1A6E34A27}"/>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lgn="ctr">
              <a:buNone/>
            </a:pPr>
            <a:endParaRPr lang="en-US" b="1" dirty="0"/>
          </a:p>
        </p:txBody>
      </p:sp>
      <p:sp>
        <p:nvSpPr>
          <p:cNvPr id="4" name="Slide Number Placeholder 3">
            <a:extLst>
              <a:ext uri="{FF2B5EF4-FFF2-40B4-BE49-F238E27FC236}">
                <a16:creationId xmlns:a16="http://schemas.microsoft.com/office/drawing/2014/main" id="{31FE91FA-1503-F274-68A1-A7725D6C91FE}"/>
              </a:ext>
            </a:extLst>
          </p:cNvPr>
          <p:cNvSpPr>
            <a:spLocks noGrp="1"/>
          </p:cNvSpPr>
          <p:nvPr>
            <p:ph type="sldNum" sz="quarter" idx="12"/>
          </p:nvPr>
        </p:nvSpPr>
        <p:spPr/>
        <p:txBody>
          <a:bodyPr/>
          <a:lstStyle/>
          <a:p>
            <a:fld id="{9A3029B7-FE6B-4680-9049-80E8298A0825}" type="slidenum">
              <a:rPr lang="en-US" smtClean="0"/>
              <a:t>2</a:t>
            </a:fld>
            <a:endParaRPr lang="en-US"/>
          </a:p>
        </p:txBody>
      </p:sp>
      <p:pic>
        <p:nvPicPr>
          <p:cNvPr id="5" name="Picture 4">
            <a:extLst>
              <a:ext uri="{FF2B5EF4-FFF2-40B4-BE49-F238E27FC236}">
                <a16:creationId xmlns:a16="http://schemas.microsoft.com/office/drawing/2014/main" id="{45880CDB-253E-9115-7EEC-05B5A1D36CFB}"/>
              </a:ext>
            </a:extLst>
          </p:cNvPr>
          <p:cNvPicPr>
            <a:picLocks noChangeAspect="1"/>
          </p:cNvPicPr>
          <p:nvPr/>
        </p:nvPicPr>
        <p:blipFill>
          <a:blip r:embed="rId3"/>
          <a:stretch>
            <a:fillRect/>
          </a:stretch>
        </p:blipFill>
        <p:spPr>
          <a:xfrm>
            <a:off x="4810788" y="4247033"/>
            <a:ext cx="4286848" cy="2400635"/>
          </a:xfrm>
          <a:prstGeom prst="rect">
            <a:avLst/>
          </a:prstGeom>
        </p:spPr>
      </p:pic>
      <p:pic>
        <p:nvPicPr>
          <p:cNvPr id="2050" name="Picture 2" descr="ESA - Hubble solar blankets in preparation at British Aerospace">
            <a:extLst>
              <a:ext uri="{FF2B5EF4-FFF2-40B4-BE49-F238E27FC236}">
                <a16:creationId xmlns:a16="http://schemas.microsoft.com/office/drawing/2014/main" id="{4CBBF74B-3795-8941-5A2D-A1B2430BA2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1428" y="1002506"/>
            <a:ext cx="2277616" cy="31455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ubble solar blankets employed a stiffening bi-stem boom">
            <a:extLst>
              <a:ext uri="{FF2B5EF4-FFF2-40B4-BE49-F238E27FC236}">
                <a16:creationId xmlns:a16="http://schemas.microsoft.com/office/drawing/2014/main" id="{1DCC8D10-4FD7-7FE9-E311-6A7EA61DA17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22" t="1814"/>
          <a:stretch>
            <a:fillRect/>
          </a:stretch>
        </p:blipFill>
        <p:spPr bwMode="auto">
          <a:xfrm>
            <a:off x="287039" y="4263046"/>
            <a:ext cx="4436736" cy="181027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ubble Space Telescope - Marshall Retirees Association">
            <a:extLst>
              <a:ext uri="{FF2B5EF4-FFF2-40B4-BE49-F238E27FC236}">
                <a16:creationId xmlns:a16="http://schemas.microsoft.com/office/drawing/2014/main" id="{CDA80A52-EA88-6E89-6F72-B94833FF06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807" y="986258"/>
            <a:ext cx="4571625" cy="312005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74F193E0-3FF8-C410-534F-D136103B71AE}"/>
              </a:ext>
            </a:extLst>
          </p:cNvPr>
          <p:cNvSpPr>
            <a:spLocks noGrp="1"/>
          </p:cNvSpPr>
          <p:nvPr>
            <p:ph type="title"/>
          </p:nvPr>
        </p:nvSpPr>
        <p:spPr>
          <a:xfrm>
            <a:off x="866966" y="133186"/>
            <a:ext cx="7886700" cy="652197"/>
          </a:xfrm>
        </p:spPr>
        <p:txBody>
          <a:bodyPr/>
          <a:lstStyle/>
          <a:p>
            <a:r>
              <a:rPr lang="en-US" dirty="0"/>
              <a:t>Thermal Jitter</a:t>
            </a:r>
          </a:p>
        </p:txBody>
      </p:sp>
      <p:sp>
        <p:nvSpPr>
          <p:cNvPr id="9" name="TextBox 8">
            <a:extLst>
              <a:ext uri="{FF2B5EF4-FFF2-40B4-BE49-F238E27FC236}">
                <a16:creationId xmlns:a16="http://schemas.microsoft.com/office/drawing/2014/main" id="{3BE54672-DADE-AC89-5323-C11C364D05DB}"/>
              </a:ext>
            </a:extLst>
          </p:cNvPr>
          <p:cNvSpPr txBox="1"/>
          <p:nvPr/>
        </p:nvSpPr>
        <p:spPr>
          <a:xfrm>
            <a:off x="719007" y="5747418"/>
            <a:ext cx="4692650" cy="1200329"/>
          </a:xfrm>
          <a:prstGeom prst="rect">
            <a:avLst/>
          </a:prstGeom>
          <a:noFill/>
        </p:spPr>
        <p:txBody>
          <a:bodyPr wrap="square">
            <a:spAutoFit/>
          </a:bodyPr>
          <a:lstStyle/>
          <a:p>
            <a:endParaRPr lang="en-US" dirty="0"/>
          </a:p>
          <a:p>
            <a:pPr algn="ctr"/>
            <a:r>
              <a:rPr lang="en-US" sz="1800" b="1" i="0" kern="1200" dirty="0">
                <a:solidFill>
                  <a:schemeClr val="tx1"/>
                </a:solidFill>
                <a:effectLst/>
                <a:latin typeface="+mn-lt"/>
                <a:ea typeface="+mn-ea"/>
                <a:cs typeface="+mn-cs"/>
                <a:hlinkClick r:id="rId7"/>
              </a:rPr>
              <a:t>Solar array-induced disturbance of the Hubble Space Telescope's pointing system</a:t>
            </a:r>
            <a:endParaRPr lang="en-US" sz="1800" b="1" i="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422227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20E00-341F-9C99-029A-5BC04CAC6BD1}"/>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2E3D6626-DA35-7EAC-545C-5202016BD404}"/>
              </a:ext>
            </a:extLst>
          </p:cNvPr>
          <p:cNvSpPr>
            <a:spLocks noGrp="1"/>
          </p:cNvSpPr>
          <p:nvPr>
            <p:ph idx="1"/>
          </p:nvPr>
        </p:nvSpPr>
        <p:spPr/>
        <p:txBody>
          <a:bodyPr>
            <a:normAutofit/>
          </a:bodyPr>
          <a:lstStyle/>
          <a:p>
            <a:pPr marL="0" indent="0">
              <a:buNone/>
            </a:pPr>
            <a:r>
              <a:rPr lang="en-US" sz="2000" u="sng" dirty="0"/>
              <a:t>Given:</a:t>
            </a:r>
          </a:p>
          <a:p>
            <a:r>
              <a:rPr lang="en-US" sz="2000" dirty="0"/>
              <a:t>FalconEye-1 is in a circular orbit with a radius of 8000 km and period of 1.978 hrs. </a:t>
            </a:r>
          </a:p>
          <a:p>
            <a:endParaRPr lang="en-US" sz="2000" dirty="0"/>
          </a:p>
          <a:p>
            <a:r>
              <a:rPr lang="en-US" sz="2000" dirty="0"/>
              <a:t>The bus requires 535 W of power to operate and is always on. </a:t>
            </a:r>
          </a:p>
          <a:p>
            <a:endParaRPr lang="en-US" sz="2000" dirty="0"/>
          </a:p>
          <a:p>
            <a:r>
              <a:rPr lang="en-US" sz="2000" dirty="0"/>
              <a:t>The payload requires 165 W of power to operate and is always on. </a:t>
            </a:r>
          </a:p>
          <a:p>
            <a:endParaRPr lang="en-US" sz="2000" dirty="0"/>
          </a:p>
          <a:p>
            <a:endParaRPr lang="en-US" sz="2000" dirty="0"/>
          </a:p>
          <a:p>
            <a:pPr marL="0" indent="0">
              <a:buNone/>
            </a:pPr>
            <a:r>
              <a:rPr lang="en-US" sz="2000" b="1" u="sng" dirty="0"/>
              <a:t>Find:</a:t>
            </a:r>
          </a:p>
          <a:p>
            <a:pPr marL="0" indent="0">
              <a:buNone/>
            </a:pPr>
            <a:r>
              <a:rPr lang="en-US" sz="2000" b="1" dirty="0"/>
              <a:t>Calculate the power the solar panels must produce to power FalconEye-1 in both the Sun and Eclipse.</a:t>
            </a:r>
          </a:p>
        </p:txBody>
      </p:sp>
      <p:sp>
        <p:nvSpPr>
          <p:cNvPr id="4" name="Slide Number Placeholder 3">
            <a:extLst>
              <a:ext uri="{FF2B5EF4-FFF2-40B4-BE49-F238E27FC236}">
                <a16:creationId xmlns:a16="http://schemas.microsoft.com/office/drawing/2014/main" id="{6E5E0042-A490-6717-1BA3-FAA0B2AC2912}"/>
              </a:ext>
            </a:extLst>
          </p:cNvPr>
          <p:cNvSpPr>
            <a:spLocks noGrp="1"/>
          </p:cNvSpPr>
          <p:nvPr>
            <p:ph type="sldNum" sz="quarter" idx="12"/>
          </p:nvPr>
        </p:nvSpPr>
        <p:spPr/>
        <p:txBody>
          <a:bodyPr/>
          <a:lstStyle/>
          <a:p>
            <a:fld id="{9A3029B7-FE6B-4680-9049-80E8298A0825}" type="slidenum">
              <a:rPr lang="en-US" smtClean="0"/>
              <a:t>3</a:t>
            </a:fld>
            <a:endParaRPr lang="en-US"/>
          </a:p>
        </p:txBody>
      </p:sp>
    </p:spTree>
    <p:extLst>
      <p:ext uri="{BB962C8B-B14F-4D97-AF65-F5344CB8AC3E}">
        <p14:creationId xmlns:p14="http://schemas.microsoft.com/office/powerpoint/2010/main" val="1222877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Rectangle 1">
                <a:extLst>
                  <a:ext uri="{FF2B5EF4-FFF2-40B4-BE49-F238E27FC236}">
                    <a16:creationId xmlns:a16="http://schemas.microsoft.com/office/drawing/2014/main" id="{EA697CF6-A4CA-3075-482C-6FF7515B3692}"/>
                  </a:ext>
                </a:extLst>
              </p:cNvPr>
              <p:cNvSpPr>
                <a:spLocks noGrp="1" noChangeArrowheads="1"/>
              </p:cNvSpPr>
              <p:nvPr>
                <p:ph idx="1"/>
              </p:nvPr>
            </p:nvSpPr>
            <p:spPr bwMode="auto">
              <a:xfrm>
                <a:off x="238841" y="993512"/>
                <a:ext cx="8934264" cy="34163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sng" strike="noStrike" cap="none" normalizeH="0" baseline="0" dirty="0">
                    <a:ln>
                      <a:noFill/>
                    </a:ln>
                    <a:solidFill>
                      <a:schemeClr val="tx1"/>
                    </a:solidFill>
                    <a:effectLst/>
                    <a:latin typeface="Arial" panose="020B0604020202020204" pitchFamily="34" charset="0"/>
                  </a:rPr>
                  <a:t>Core Concepts: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Voltage (V):</a:t>
                </a:r>
                <a:r>
                  <a:rPr kumimoji="0" lang="en-US" altLang="en-US" sz="1800" b="0" i="0" u="none" strike="noStrike" cap="none" normalizeH="0" baseline="0" dirty="0">
                    <a:ln>
                      <a:noFill/>
                    </a:ln>
                    <a:solidFill>
                      <a:schemeClr val="tx1"/>
                    </a:solidFill>
                    <a:effectLst/>
                    <a:latin typeface="Arial" panose="020B0604020202020204" pitchFamily="34" charset="0"/>
                  </a:rPr>
                  <a:t> Electrical potential difference (~water pressure).</a:t>
                </a:r>
                <a:r>
                  <a:rPr lang="en-US" altLang="en-US" sz="1800" dirty="0">
                    <a:latin typeface="Arial" panose="020B0604020202020204" pitchFamily="34" charset="0"/>
                  </a:rPr>
                  <a:t> </a:t>
                </a:r>
                <a:r>
                  <a:rPr lang="en-US" altLang="en-US" sz="1800" b="1" dirty="0">
                    <a:solidFill>
                      <a:srgbClr val="FFC000"/>
                    </a:solidFill>
                    <a:latin typeface="Arial" panose="020B0604020202020204" pitchFamily="34" charset="0"/>
                  </a:rPr>
                  <a:t>Units: Volts (V)</a:t>
                </a:r>
                <a:endParaRPr kumimoji="0" lang="en-US" altLang="en-US" sz="1800" b="1" i="0" u="none" strike="noStrike" cap="none" normalizeH="0" baseline="0" dirty="0">
                  <a:ln>
                    <a:noFill/>
                  </a:ln>
                  <a:solidFill>
                    <a:srgbClr val="FFC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Current (I):</a:t>
                </a:r>
                <a:r>
                  <a:rPr kumimoji="0" lang="en-US" altLang="en-US" sz="1800" b="0" i="0" u="none" strike="noStrike" cap="none" normalizeH="0" baseline="0" dirty="0">
                    <a:ln>
                      <a:noFill/>
                    </a:ln>
                    <a:solidFill>
                      <a:schemeClr val="tx1"/>
                    </a:solidFill>
                    <a:effectLst/>
                    <a:latin typeface="Arial" panose="020B0604020202020204" pitchFamily="34" charset="0"/>
                  </a:rPr>
                  <a:t> Flow of electric charge (~water flow rate). </a:t>
                </a:r>
                <a:r>
                  <a:rPr kumimoji="0" lang="en-US" altLang="en-US" sz="1800" b="1" i="0" u="none" strike="noStrike" cap="none" normalizeH="0" baseline="0" dirty="0">
                    <a:ln>
                      <a:noFill/>
                    </a:ln>
                    <a:solidFill>
                      <a:srgbClr val="FFC000"/>
                    </a:solidFill>
                    <a:effectLst/>
                    <a:latin typeface="Arial" panose="020B0604020202020204" pitchFamily="34" charset="0"/>
                  </a:rPr>
                  <a:t>Units: Amps (A)</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Resistance (R):</a:t>
                </a:r>
                <a:r>
                  <a:rPr kumimoji="0" lang="en-US" altLang="en-US" sz="1800" b="0" i="0" u="none" strike="noStrike" cap="none" normalizeH="0" baseline="0" dirty="0">
                    <a:ln>
                      <a:noFill/>
                    </a:ln>
                    <a:solidFill>
                      <a:schemeClr val="tx1"/>
                    </a:solidFill>
                    <a:effectLst/>
                    <a:latin typeface="Arial" panose="020B0604020202020204" pitchFamily="34" charset="0"/>
                  </a:rPr>
                  <a:t> Opposition to current flow (~water pipe narrowing). </a:t>
                </a:r>
                <a:r>
                  <a:rPr kumimoji="0" lang="en-US" altLang="en-US" sz="1800" b="1" i="0" u="none" strike="noStrike" cap="none" normalizeH="0" baseline="0" dirty="0">
                    <a:ln>
                      <a:noFill/>
                    </a:ln>
                    <a:solidFill>
                      <a:srgbClr val="FFC000"/>
                    </a:solidFill>
                    <a:effectLst/>
                    <a:latin typeface="Arial" panose="020B0604020202020204" pitchFamily="34" charset="0"/>
                  </a:rPr>
                  <a:t>Units Ohms (</a:t>
                </a:r>
                <a14:m>
                  <m:oMath xmlns:m="http://schemas.openxmlformats.org/officeDocument/2006/math">
                    <m:r>
                      <a:rPr kumimoji="0" lang="en-US" altLang="en-US" sz="1800" b="1" i="0" u="none" strike="noStrike" cap="none" normalizeH="0" baseline="0" smtClean="0">
                        <a:ln>
                          <a:noFill/>
                        </a:ln>
                        <a:solidFill>
                          <a:srgbClr val="FFC000"/>
                        </a:solidFill>
                        <a:effectLst/>
                        <a:latin typeface="Cambria Math" panose="02040503050406030204" pitchFamily="18" charset="0"/>
                      </a:rPr>
                      <m:t>𝛀</m:t>
                    </m:r>
                    <m:r>
                      <a:rPr kumimoji="0" lang="en-US" altLang="en-US" sz="1800" b="1" i="0" u="none" strike="noStrike" cap="none" normalizeH="0" baseline="0" smtClean="0">
                        <a:ln>
                          <a:noFill/>
                        </a:ln>
                        <a:solidFill>
                          <a:srgbClr val="FFC000"/>
                        </a:solidFill>
                        <a:effectLst/>
                        <a:latin typeface="Cambria Math" panose="02040503050406030204" pitchFamily="18" charset="0"/>
                      </a:rPr>
                      <m:t>)</m:t>
                    </m:r>
                  </m:oMath>
                </a14:m>
                <a:endParaRPr kumimoji="0" lang="en-US" altLang="en-US" sz="1800" b="1" i="0" u="none" strike="noStrike" cap="none" normalizeH="0" baseline="0" dirty="0">
                  <a:ln>
                    <a:noFill/>
                  </a:ln>
                  <a:solidFill>
                    <a:srgbClr val="FFC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Power (P):</a:t>
                </a:r>
                <a:r>
                  <a:rPr kumimoji="0" lang="en-US" altLang="en-US" sz="1800" b="0" i="0" u="none" strike="noStrike" cap="none" normalizeH="0" baseline="0" dirty="0">
                    <a:ln>
                      <a:noFill/>
                    </a:ln>
                    <a:solidFill>
                      <a:schemeClr val="tx1"/>
                    </a:solidFill>
                    <a:effectLst/>
                    <a:latin typeface="Arial" panose="020B0604020202020204" pitchFamily="34" charset="0"/>
                  </a:rPr>
                  <a:t> Rate of energy use. </a:t>
                </a:r>
                <a:r>
                  <a:rPr kumimoji="0" lang="en-US" altLang="en-US" sz="1800" b="1" i="0" u="none" strike="noStrike" cap="none" normalizeH="0" baseline="0" dirty="0">
                    <a:ln>
                      <a:noFill/>
                    </a:ln>
                    <a:solidFill>
                      <a:srgbClr val="FFC000"/>
                    </a:solidFill>
                    <a:effectLst/>
                    <a:latin typeface="Arial" panose="020B0604020202020204" pitchFamily="34" charset="0"/>
                  </a:rPr>
                  <a:t>Units: Watts (W)</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dirty="0">
                  <a:solidFill>
                    <a:srgbClr val="FFC000"/>
                  </a:solidFill>
                  <a:latin typeface="Arial" panose="020B0604020202020204" pitchFamily="34" charset="0"/>
                </a:endParaRPr>
              </a:p>
              <a:p>
                <a:pPr marL="0" indent="0" eaLnBrk="0" fontAlgn="base" hangingPunct="0">
                  <a:lnSpc>
                    <a:spcPct val="100000"/>
                  </a:lnSpc>
                  <a:spcBef>
                    <a:spcPct val="0"/>
                  </a:spcBef>
                  <a:spcAft>
                    <a:spcPct val="0"/>
                  </a:spcAft>
                  <a:buNone/>
                </a:pPr>
                <a:r>
                  <a:rPr lang="en-US" altLang="en-US" sz="1800" b="1" u="sng" dirty="0">
                    <a:latin typeface="Arial" panose="020B0604020202020204" pitchFamily="34" charset="0"/>
                  </a:rPr>
                  <a:t>Ohm’s Law</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rgbClr val="FFC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dirty="0">
                  <a:solidFill>
                    <a:srgbClr val="FFC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rgbClr val="FFC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b="1" u="sng"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sng" strike="noStrike" cap="none" normalizeH="0" baseline="0" dirty="0">
                    <a:ln>
                      <a:noFill/>
                    </a:ln>
                    <a:effectLst/>
                    <a:latin typeface="Arial" panose="020B0604020202020204" pitchFamily="34" charset="0"/>
                  </a:rPr>
                  <a:t>Power Equation</a:t>
                </a:r>
              </a:p>
            </p:txBody>
          </p:sp>
        </mc:Choice>
        <mc:Fallback xmlns="">
          <p:sp>
            <p:nvSpPr>
              <p:cNvPr id="8" name="Rectangle 1">
                <a:extLst>
                  <a:ext uri="{FF2B5EF4-FFF2-40B4-BE49-F238E27FC236}">
                    <a16:creationId xmlns:a16="http://schemas.microsoft.com/office/drawing/2014/main" id="{EA697CF6-A4CA-3075-482C-6FF7515B3692}"/>
                  </a:ext>
                </a:extLst>
              </p:cNvPr>
              <p:cNvSpPr>
                <a:spLocks noGrp="1" noRot="1" noChangeAspect="1" noMove="1" noResize="1" noEditPoints="1" noAdjustHandles="1" noChangeArrowheads="1" noChangeShapeType="1" noTextEdit="1"/>
              </p:cNvSpPr>
              <p:nvPr>
                <p:ph idx="1"/>
              </p:nvPr>
            </p:nvSpPr>
            <p:spPr bwMode="auto">
              <a:xfrm>
                <a:off x="238841" y="993512"/>
                <a:ext cx="8934264" cy="3416320"/>
              </a:xfrm>
              <a:prstGeom prst="rect">
                <a:avLst/>
              </a:prstGeom>
              <a:blipFill>
                <a:blip r:embed="rId2"/>
                <a:stretch>
                  <a:fillRect l="-546" t="-536" b="-25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 name="Title 1">
            <a:extLst>
              <a:ext uri="{FF2B5EF4-FFF2-40B4-BE49-F238E27FC236}">
                <a16:creationId xmlns:a16="http://schemas.microsoft.com/office/drawing/2014/main" id="{9B839630-7A9B-C26F-60A1-716EF6A04687}"/>
              </a:ext>
            </a:extLst>
          </p:cNvPr>
          <p:cNvSpPr>
            <a:spLocks noGrp="1"/>
          </p:cNvSpPr>
          <p:nvPr>
            <p:ph type="title"/>
          </p:nvPr>
        </p:nvSpPr>
        <p:spPr/>
        <p:txBody>
          <a:bodyPr/>
          <a:lstStyle/>
          <a:p>
            <a:r>
              <a:rPr lang="en-US" dirty="0"/>
              <a:t>Electricity Fundamentals Review</a:t>
            </a:r>
          </a:p>
        </p:txBody>
      </p:sp>
      <p:sp>
        <p:nvSpPr>
          <p:cNvPr id="4" name="Slide Number Placeholder 3">
            <a:extLst>
              <a:ext uri="{FF2B5EF4-FFF2-40B4-BE49-F238E27FC236}">
                <a16:creationId xmlns:a16="http://schemas.microsoft.com/office/drawing/2014/main" id="{10792EAB-C1AD-7CDA-0B94-945F832FA001}"/>
              </a:ext>
            </a:extLst>
          </p:cNvPr>
          <p:cNvSpPr>
            <a:spLocks noGrp="1"/>
          </p:cNvSpPr>
          <p:nvPr>
            <p:ph type="sldNum" sz="quarter" idx="12"/>
          </p:nvPr>
        </p:nvSpPr>
        <p:spPr/>
        <p:txBody>
          <a:bodyPr/>
          <a:lstStyle/>
          <a:p>
            <a:fld id="{9A3029B7-FE6B-4680-9049-80E8298A0825}" type="slidenum">
              <a:rPr lang="en-US" smtClean="0"/>
              <a:t>4</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7D3451C-94B3-247D-64D0-1004AAD72AA1}"/>
                  </a:ext>
                </a:extLst>
              </p:cNvPr>
              <p:cNvSpPr txBox="1"/>
              <p:nvPr/>
            </p:nvSpPr>
            <p:spPr>
              <a:xfrm>
                <a:off x="2469079" y="4017333"/>
                <a:ext cx="4205833" cy="11079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𝑃</m:t>
                      </m:r>
                      <m:r>
                        <a:rPr lang="en-US" sz="3600" b="0" i="1" smtClean="0">
                          <a:latin typeface="Cambria Math" panose="02040503050406030204" pitchFamily="18" charset="0"/>
                        </a:rPr>
                        <m:t>=</m:t>
                      </m:r>
                      <m:r>
                        <a:rPr lang="en-US" sz="3600" b="0" i="1" smtClean="0">
                          <a:latin typeface="Cambria Math" panose="02040503050406030204" pitchFamily="18" charset="0"/>
                        </a:rPr>
                        <m:t>𝐼𝑉</m:t>
                      </m:r>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𝐼</m:t>
                          </m:r>
                        </m:e>
                        <m:sup>
                          <m:r>
                            <a:rPr lang="en-US" sz="3600" b="0" i="1" smtClean="0">
                              <a:latin typeface="Cambria Math" panose="02040503050406030204" pitchFamily="18" charset="0"/>
                            </a:rPr>
                            <m:t>2</m:t>
                          </m:r>
                        </m:sup>
                      </m:sSup>
                      <m:r>
                        <a:rPr lang="en-US" sz="3600" b="0" i="1" smtClean="0">
                          <a:latin typeface="Cambria Math" panose="02040503050406030204" pitchFamily="18" charset="0"/>
                        </a:rPr>
                        <m:t>𝑅</m:t>
                      </m:r>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𝑉</m:t>
                              </m:r>
                            </m:e>
                            <m:sup>
                              <m:r>
                                <a:rPr lang="en-US" sz="3600" b="0" i="1" smtClean="0">
                                  <a:latin typeface="Cambria Math" panose="02040503050406030204" pitchFamily="18" charset="0"/>
                                </a:rPr>
                                <m:t>2</m:t>
                              </m:r>
                            </m:sup>
                          </m:sSup>
                        </m:num>
                        <m:den>
                          <m:r>
                            <a:rPr lang="en-US" sz="3600" b="0" i="1" smtClean="0">
                              <a:latin typeface="Cambria Math" panose="02040503050406030204" pitchFamily="18" charset="0"/>
                            </a:rPr>
                            <m:t>𝑅</m:t>
                          </m:r>
                        </m:den>
                      </m:f>
                    </m:oMath>
                  </m:oMathPara>
                </a14:m>
                <a:endParaRPr lang="en-US" sz="3600" dirty="0"/>
              </a:p>
            </p:txBody>
          </p:sp>
        </mc:Choice>
        <mc:Fallback xmlns="">
          <p:sp>
            <p:nvSpPr>
              <p:cNvPr id="6" name="TextBox 5">
                <a:extLst>
                  <a:ext uri="{FF2B5EF4-FFF2-40B4-BE49-F238E27FC236}">
                    <a16:creationId xmlns:a16="http://schemas.microsoft.com/office/drawing/2014/main" id="{47D3451C-94B3-247D-64D0-1004AAD72AA1}"/>
                  </a:ext>
                </a:extLst>
              </p:cNvPr>
              <p:cNvSpPr txBox="1">
                <a:spLocks noRot="1" noChangeAspect="1" noMove="1" noResize="1" noEditPoints="1" noAdjustHandles="1" noChangeArrowheads="1" noChangeShapeType="1" noTextEdit="1"/>
              </p:cNvSpPr>
              <p:nvPr/>
            </p:nvSpPr>
            <p:spPr>
              <a:xfrm>
                <a:off x="2469079" y="4017333"/>
                <a:ext cx="4205833" cy="110799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B2CE5AE-5DDD-BBAA-5C06-C3306373113B}"/>
                  </a:ext>
                </a:extLst>
              </p:cNvPr>
              <p:cNvSpPr txBox="1"/>
              <p:nvPr/>
            </p:nvSpPr>
            <p:spPr>
              <a:xfrm>
                <a:off x="3864425" y="3024837"/>
                <a:ext cx="141514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𝑉</m:t>
                      </m:r>
                      <m:r>
                        <a:rPr lang="en-US" sz="3600" b="0" i="1" smtClean="0">
                          <a:latin typeface="Cambria Math" panose="02040503050406030204" pitchFamily="18" charset="0"/>
                        </a:rPr>
                        <m:t>=</m:t>
                      </m:r>
                      <m:r>
                        <a:rPr lang="en-US" sz="3600" b="0" i="1" smtClean="0">
                          <a:latin typeface="Cambria Math" panose="02040503050406030204" pitchFamily="18" charset="0"/>
                        </a:rPr>
                        <m:t>𝐼𝑅</m:t>
                      </m:r>
                    </m:oMath>
                  </m:oMathPara>
                </a14:m>
                <a:endParaRPr lang="en-US" sz="3600" dirty="0"/>
              </a:p>
            </p:txBody>
          </p:sp>
        </mc:Choice>
        <mc:Fallback xmlns="">
          <p:sp>
            <p:nvSpPr>
              <p:cNvPr id="7" name="TextBox 6">
                <a:extLst>
                  <a:ext uri="{FF2B5EF4-FFF2-40B4-BE49-F238E27FC236}">
                    <a16:creationId xmlns:a16="http://schemas.microsoft.com/office/drawing/2014/main" id="{CB2CE5AE-5DDD-BBAA-5C06-C3306373113B}"/>
                  </a:ext>
                </a:extLst>
              </p:cNvPr>
              <p:cNvSpPr txBox="1">
                <a:spLocks noRot="1" noChangeAspect="1" noMove="1" noResize="1" noEditPoints="1" noAdjustHandles="1" noChangeArrowheads="1" noChangeShapeType="1" noTextEdit="1"/>
              </p:cNvSpPr>
              <p:nvPr/>
            </p:nvSpPr>
            <p:spPr>
              <a:xfrm>
                <a:off x="3864425" y="3024837"/>
                <a:ext cx="1415143" cy="553998"/>
              </a:xfrm>
              <a:prstGeom prst="rect">
                <a:avLst/>
              </a:prstGeom>
              <a:blipFill>
                <a:blip r:embed="rId4"/>
                <a:stretch>
                  <a:fillRect/>
                </a:stretch>
              </a:blipFill>
            </p:spPr>
            <p:txBody>
              <a:bodyPr/>
              <a:lstStyle/>
              <a:p>
                <a:r>
                  <a:rPr lang="en-US">
                    <a:noFill/>
                  </a:rPr>
                  <a:t> </a:t>
                </a:r>
              </a:p>
            </p:txBody>
          </p:sp>
        </mc:Fallback>
      </mc:AlternateContent>
      <p:sp>
        <p:nvSpPr>
          <p:cNvPr id="9" name="Rectangle 2">
            <a:extLst>
              <a:ext uri="{FF2B5EF4-FFF2-40B4-BE49-F238E27FC236}">
                <a16:creationId xmlns:a16="http://schemas.microsoft.com/office/drawing/2014/main" id="{F5B03459-802E-0494-2848-7152261FD03A}"/>
              </a:ext>
            </a:extLst>
          </p:cNvPr>
          <p:cNvSpPr>
            <a:spLocks noChangeArrowheads="1"/>
          </p:cNvSpPr>
          <p:nvPr/>
        </p:nvSpPr>
        <p:spPr bwMode="auto">
          <a:xfrm>
            <a:off x="238841" y="5203032"/>
            <a:ext cx="859245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Arial" panose="020B0604020202020204" pitchFamily="34" charset="0"/>
              </a:rPr>
              <a:t>Types of Current: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DC (Direct Current):</a:t>
            </a:r>
            <a:r>
              <a:rPr kumimoji="0" lang="en-US" altLang="en-US" sz="1800" b="0" i="0" u="none" strike="noStrike" cap="none" normalizeH="0" baseline="0" dirty="0">
                <a:ln>
                  <a:noFill/>
                </a:ln>
                <a:solidFill>
                  <a:schemeClr val="tx1"/>
                </a:solidFill>
                <a:effectLst/>
                <a:latin typeface="Arial" panose="020B0604020202020204" pitchFamily="34" charset="0"/>
              </a:rPr>
              <a:t> Constant voltage/polarity — common in spacecraft buses.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AC (Alternating Current):</a:t>
            </a:r>
            <a:r>
              <a:rPr kumimoji="0" lang="en-US" altLang="en-US" sz="1800" b="0" i="0" u="none" strike="noStrike" cap="none" normalizeH="0" baseline="0" dirty="0">
                <a:ln>
                  <a:noFill/>
                </a:ln>
                <a:solidFill>
                  <a:schemeClr val="tx1"/>
                </a:solidFill>
                <a:effectLst/>
                <a:latin typeface="Arial" panose="020B0604020202020204" pitchFamily="34" charset="0"/>
              </a:rPr>
              <a:t> Oscillating — mainly ground test equipment,</a:t>
            </a:r>
            <a:r>
              <a:rPr kumimoji="0" lang="en-US" altLang="en-US" sz="1800" b="0" i="0" u="none" strike="noStrike" cap="none" normalizeH="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power conditioning,</a:t>
            </a:r>
            <a:r>
              <a:rPr kumimoji="0" lang="en-US" altLang="en-US" sz="1800" b="0" i="0" u="none" strike="noStrike" cap="none" normalizeH="0" dirty="0">
                <a:ln>
                  <a:noFill/>
                </a:ln>
                <a:solidFill>
                  <a:schemeClr val="tx1"/>
                </a:solidFill>
                <a:effectLst/>
                <a:latin typeface="Arial" panose="020B0604020202020204" pitchFamily="34" charset="0"/>
              </a:rPr>
              <a:t> some motors.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317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E0AFD-4152-F3A7-0AA2-7E34261B6C04}"/>
              </a:ext>
            </a:extLst>
          </p:cNvPr>
          <p:cNvSpPr>
            <a:spLocks noGrp="1"/>
          </p:cNvSpPr>
          <p:nvPr>
            <p:ph type="title"/>
          </p:nvPr>
        </p:nvSpPr>
        <p:spPr/>
        <p:txBody>
          <a:bodyPr/>
          <a:lstStyle/>
          <a:p>
            <a:r>
              <a:rPr lang="en-US" dirty="0"/>
              <a:t>EPS Functions</a:t>
            </a:r>
          </a:p>
        </p:txBody>
      </p:sp>
      <p:sp>
        <p:nvSpPr>
          <p:cNvPr id="3" name="Content Placeholder 2">
            <a:extLst>
              <a:ext uri="{FF2B5EF4-FFF2-40B4-BE49-F238E27FC236}">
                <a16:creationId xmlns:a16="http://schemas.microsoft.com/office/drawing/2014/main" id="{E6575A51-4081-9B89-8FFB-C122E4B57D12}"/>
              </a:ext>
            </a:extLst>
          </p:cNvPr>
          <p:cNvSpPr>
            <a:spLocks noGrp="1"/>
          </p:cNvSpPr>
          <p:nvPr>
            <p:ph idx="1"/>
          </p:nvPr>
        </p:nvSpPr>
        <p:spPr/>
        <p:txBody>
          <a:bodyPr>
            <a:normAutofit fontScale="92500" lnSpcReduction="10000"/>
          </a:bodyPr>
          <a:lstStyle/>
          <a:p>
            <a:r>
              <a:rPr lang="en-US" b="1" dirty="0"/>
              <a:t>Energy Source</a:t>
            </a:r>
          </a:p>
          <a:p>
            <a:pPr lvl="1"/>
            <a:r>
              <a:rPr lang="en-US" dirty="0"/>
              <a:t>Provides electrical power (e.g. solar cells or battery)</a:t>
            </a:r>
          </a:p>
          <a:p>
            <a:endParaRPr lang="en-US" dirty="0"/>
          </a:p>
          <a:p>
            <a:r>
              <a:rPr lang="en-US" b="1" dirty="0"/>
              <a:t>Energy Conditioning </a:t>
            </a:r>
          </a:p>
          <a:p>
            <a:pPr lvl="1"/>
            <a:r>
              <a:rPr lang="en-US" dirty="0"/>
              <a:t>Provides electrical noise filtering/removes power spikes</a:t>
            </a:r>
          </a:p>
          <a:p>
            <a:pPr lvl="1"/>
            <a:r>
              <a:rPr lang="en-US" dirty="0"/>
              <a:t>Converts to required voltages (a 28-volt bus is common)</a:t>
            </a:r>
          </a:p>
          <a:p>
            <a:pPr lvl="2"/>
            <a:r>
              <a:rPr lang="en-US" dirty="0"/>
              <a:t>Convert from DC to AC</a:t>
            </a:r>
          </a:p>
          <a:p>
            <a:pPr lvl="2"/>
            <a:endParaRPr lang="en-US" dirty="0"/>
          </a:p>
          <a:p>
            <a:r>
              <a:rPr lang="en-US" b="1" dirty="0"/>
              <a:t>Energy Storage</a:t>
            </a:r>
          </a:p>
          <a:p>
            <a:pPr lvl="1"/>
            <a:r>
              <a:rPr lang="en-US" dirty="0"/>
              <a:t>Stores power for eclipses and peak loads</a:t>
            </a:r>
          </a:p>
          <a:p>
            <a:endParaRPr lang="en-US" dirty="0"/>
          </a:p>
          <a:p>
            <a:r>
              <a:rPr lang="en-US" b="1" dirty="0"/>
              <a:t>Energy Distribution</a:t>
            </a:r>
          </a:p>
          <a:p>
            <a:pPr lvl="1"/>
            <a:r>
              <a:rPr lang="en-US" dirty="0"/>
              <a:t>Transfer power to the subsystems that need it</a:t>
            </a:r>
          </a:p>
        </p:txBody>
      </p:sp>
      <p:sp>
        <p:nvSpPr>
          <p:cNvPr id="4" name="Slide Number Placeholder 3">
            <a:extLst>
              <a:ext uri="{FF2B5EF4-FFF2-40B4-BE49-F238E27FC236}">
                <a16:creationId xmlns:a16="http://schemas.microsoft.com/office/drawing/2014/main" id="{AED3905A-466D-A4E0-2390-266EFFA81F23}"/>
              </a:ext>
            </a:extLst>
          </p:cNvPr>
          <p:cNvSpPr>
            <a:spLocks noGrp="1"/>
          </p:cNvSpPr>
          <p:nvPr>
            <p:ph type="sldNum" sz="quarter" idx="12"/>
          </p:nvPr>
        </p:nvSpPr>
        <p:spPr/>
        <p:txBody>
          <a:bodyPr/>
          <a:lstStyle/>
          <a:p>
            <a:fld id="{9A3029B7-FE6B-4680-9049-80E8298A0825}" type="slidenum">
              <a:rPr lang="en-US" smtClean="0"/>
              <a:t>5</a:t>
            </a:fld>
            <a:endParaRPr lang="en-US"/>
          </a:p>
        </p:txBody>
      </p:sp>
    </p:spTree>
    <p:extLst>
      <p:ext uri="{BB962C8B-B14F-4D97-AF65-F5344CB8AC3E}">
        <p14:creationId xmlns:p14="http://schemas.microsoft.com/office/powerpoint/2010/main" val="279858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EE332-DA77-3079-8CA3-ADEEE97EF118}"/>
              </a:ext>
            </a:extLst>
          </p:cNvPr>
          <p:cNvSpPr>
            <a:spLocks noGrp="1"/>
          </p:cNvSpPr>
          <p:nvPr>
            <p:ph type="title"/>
          </p:nvPr>
        </p:nvSpPr>
        <p:spPr/>
        <p:txBody>
          <a:bodyPr/>
          <a:lstStyle/>
          <a:p>
            <a:r>
              <a:rPr lang="en-US" dirty="0"/>
              <a:t>EPS Budget &amp; Requirements</a:t>
            </a:r>
          </a:p>
        </p:txBody>
      </p:sp>
      <p:sp>
        <p:nvSpPr>
          <p:cNvPr id="3" name="Content Placeholder 2">
            <a:extLst>
              <a:ext uri="{FF2B5EF4-FFF2-40B4-BE49-F238E27FC236}">
                <a16:creationId xmlns:a16="http://schemas.microsoft.com/office/drawing/2014/main" id="{2E577486-B0E9-410D-FBAB-5D819F45559D}"/>
              </a:ext>
            </a:extLst>
          </p:cNvPr>
          <p:cNvSpPr>
            <a:spLocks noGrp="1"/>
          </p:cNvSpPr>
          <p:nvPr>
            <p:ph idx="1"/>
          </p:nvPr>
        </p:nvSpPr>
        <p:spPr>
          <a:xfrm>
            <a:off x="175492" y="4128934"/>
            <a:ext cx="8793015" cy="2595880"/>
          </a:xfrm>
        </p:spPr>
        <p:txBody>
          <a:bodyPr>
            <a:normAutofit fontScale="62500" lnSpcReduction="20000"/>
          </a:bodyPr>
          <a:lstStyle/>
          <a:p>
            <a:r>
              <a:rPr lang="en-US" dirty="0"/>
              <a:t>EPS Requirements:</a:t>
            </a:r>
          </a:p>
          <a:p>
            <a:pPr lvl="1"/>
            <a:r>
              <a:rPr lang="en-US" dirty="0"/>
              <a:t>Peak power draw</a:t>
            </a:r>
          </a:p>
          <a:p>
            <a:pPr lvl="1"/>
            <a:r>
              <a:rPr lang="en-US" dirty="0"/>
              <a:t>Average power draw</a:t>
            </a:r>
          </a:p>
          <a:p>
            <a:pPr lvl="1"/>
            <a:r>
              <a:rPr lang="en-US" dirty="0"/>
              <a:t>Subsystem voltage (usually a small range)</a:t>
            </a:r>
          </a:p>
          <a:p>
            <a:pPr lvl="1"/>
            <a:r>
              <a:rPr lang="en-US" dirty="0"/>
              <a:t>Subsystem current (often given as typical &amp; max current)</a:t>
            </a:r>
          </a:p>
          <a:p>
            <a:pPr marL="457200" lvl="1" indent="0">
              <a:buNone/>
            </a:pPr>
            <a:r>
              <a:rPr lang="en-US" dirty="0">
                <a:sym typeface="Wingdings" panose="05000000000000000000" pitchFamily="2" charset="2"/>
              </a:rPr>
              <a:t> </a:t>
            </a:r>
            <a:r>
              <a:rPr lang="en-US" dirty="0"/>
              <a:t>Energy Storage (derived requirement)</a:t>
            </a:r>
          </a:p>
          <a:p>
            <a:pPr lvl="1"/>
            <a:endParaRPr lang="en-US" dirty="0"/>
          </a:p>
          <a:p>
            <a:r>
              <a:rPr lang="en-US" dirty="0"/>
              <a:t>EPS Considerations (~constraints)</a:t>
            </a:r>
          </a:p>
          <a:p>
            <a:pPr lvl="1"/>
            <a:r>
              <a:rPr lang="en-US" dirty="0"/>
              <a:t>Solar Availability – how often/long are eclipses, how much power from sun (interplanetary)</a:t>
            </a:r>
          </a:p>
          <a:p>
            <a:pPr lvl="1"/>
            <a:r>
              <a:rPr lang="en-US" dirty="0"/>
              <a:t>Degradation – how much will solar panels degrade over the course of the mission</a:t>
            </a:r>
          </a:p>
        </p:txBody>
      </p:sp>
      <p:sp>
        <p:nvSpPr>
          <p:cNvPr id="4" name="Slide Number Placeholder 3">
            <a:extLst>
              <a:ext uri="{FF2B5EF4-FFF2-40B4-BE49-F238E27FC236}">
                <a16:creationId xmlns:a16="http://schemas.microsoft.com/office/drawing/2014/main" id="{0F25BEBD-05C9-2437-5A9F-FE5DFD4ED683}"/>
              </a:ext>
            </a:extLst>
          </p:cNvPr>
          <p:cNvSpPr>
            <a:spLocks noGrp="1"/>
          </p:cNvSpPr>
          <p:nvPr>
            <p:ph type="sldNum" sz="quarter" idx="12"/>
          </p:nvPr>
        </p:nvSpPr>
        <p:spPr/>
        <p:txBody>
          <a:bodyPr/>
          <a:lstStyle/>
          <a:p>
            <a:fld id="{9A3029B7-FE6B-4680-9049-80E8298A0825}" type="slidenum">
              <a:rPr lang="en-US" smtClean="0"/>
              <a:t>6</a:t>
            </a:fld>
            <a:endParaRPr lang="en-US"/>
          </a:p>
        </p:txBody>
      </p:sp>
      <p:graphicFrame>
        <p:nvGraphicFramePr>
          <p:cNvPr id="5" name="Table 4">
            <a:extLst>
              <a:ext uri="{FF2B5EF4-FFF2-40B4-BE49-F238E27FC236}">
                <a16:creationId xmlns:a16="http://schemas.microsoft.com/office/drawing/2014/main" id="{6078D7D3-3560-5617-8978-FBCBCA086BBC}"/>
              </a:ext>
            </a:extLst>
          </p:cNvPr>
          <p:cNvGraphicFramePr>
            <a:graphicFrameLocks noGrp="1"/>
          </p:cNvGraphicFramePr>
          <p:nvPr>
            <p:extLst>
              <p:ext uri="{D42A27DB-BD31-4B8C-83A1-F6EECF244321}">
                <p14:modId xmlns:p14="http://schemas.microsoft.com/office/powerpoint/2010/main" val="3145182561"/>
              </p:ext>
            </p:extLst>
          </p:nvPr>
        </p:nvGraphicFramePr>
        <p:xfrm>
          <a:off x="935501" y="1360586"/>
          <a:ext cx="7272996" cy="2595880"/>
        </p:xfrm>
        <a:graphic>
          <a:graphicData uri="http://schemas.openxmlformats.org/drawingml/2006/table">
            <a:tbl>
              <a:tblPr firstRow="1" bandRow="1">
                <a:tableStyleId>{5C22544A-7EE6-4342-B048-85BDC9FD1C3A}</a:tableStyleId>
              </a:tblPr>
              <a:tblGrid>
                <a:gridCol w="1818249">
                  <a:extLst>
                    <a:ext uri="{9D8B030D-6E8A-4147-A177-3AD203B41FA5}">
                      <a16:colId xmlns:a16="http://schemas.microsoft.com/office/drawing/2014/main" val="1809405727"/>
                    </a:ext>
                  </a:extLst>
                </a:gridCol>
                <a:gridCol w="1818249">
                  <a:extLst>
                    <a:ext uri="{9D8B030D-6E8A-4147-A177-3AD203B41FA5}">
                      <a16:colId xmlns:a16="http://schemas.microsoft.com/office/drawing/2014/main" val="667250806"/>
                    </a:ext>
                  </a:extLst>
                </a:gridCol>
                <a:gridCol w="1818249">
                  <a:extLst>
                    <a:ext uri="{9D8B030D-6E8A-4147-A177-3AD203B41FA5}">
                      <a16:colId xmlns:a16="http://schemas.microsoft.com/office/drawing/2014/main" val="394657592"/>
                    </a:ext>
                  </a:extLst>
                </a:gridCol>
                <a:gridCol w="1818249">
                  <a:extLst>
                    <a:ext uri="{9D8B030D-6E8A-4147-A177-3AD203B41FA5}">
                      <a16:colId xmlns:a16="http://schemas.microsoft.com/office/drawing/2014/main" val="1721311595"/>
                    </a:ext>
                  </a:extLst>
                </a:gridCol>
              </a:tblGrid>
              <a:tr h="370840">
                <a:tc>
                  <a:txBody>
                    <a:bodyPr/>
                    <a:lstStyle/>
                    <a:p>
                      <a:r>
                        <a:rPr lang="en-US" dirty="0"/>
                        <a:t>Subsystem</a:t>
                      </a:r>
                    </a:p>
                  </a:txBody>
                  <a:tcPr/>
                </a:tc>
                <a:tc>
                  <a:txBody>
                    <a:bodyPr/>
                    <a:lstStyle/>
                    <a:p>
                      <a:pPr algn="ctr"/>
                      <a:r>
                        <a:rPr lang="en-US" dirty="0"/>
                        <a:t>Voltage (V)</a:t>
                      </a:r>
                    </a:p>
                  </a:txBody>
                  <a:tcPr/>
                </a:tc>
                <a:tc>
                  <a:txBody>
                    <a:bodyPr/>
                    <a:lstStyle/>
                    <a:p>
                      <a:pPr algn="ctr"/>
                      <a:r>
                        <a:rPr lang="en-US" dirty="0"/>
                        <a:t>Max Current (A)</a:t>
                      </a:r>
                    </a:p>
                  </a:txBody>
                  <a:tcPr/>
                </a:tc>
                <a:tc>
                  <a:txBody>
                    <a:bodyPr/>
                    <a:lstStyle/>
                    <a:p>
                      <a:pPr algn="ctr"/>
                      <a:r>
                        <a:rPr lang="en-US" dirty="0"/>
                        <a:t>Max Power (W)</a:t>
                      </a:r>
                    </a:p>
                  </a:txBody>
                  <a:tcPr/>
                </a:tc>
                <a:extLst>
                  <a:ext uri="{0D108BD9-81ED-4DB2-BD59-A6C34878D82A}">
                    <a16:rowId xmlns:a16="http://schemas.microsoft.com/office/drawing/2014/main" val="4233313572"/>
                  </a:ext>
                </a:extLst>
              </a:tr>
              <a:tr h="370840">
                <a:tc>
                  <a:txBody>
                    <a:bodyPr/>
                    <a:lstStyle/>
                    <a:p>
                      <a:r>
                        <a:rPr lang="en-US" dirty="0"/>
                        <a:t>CDHS</a:t>
                      </a:r>
                    </a:p>
                  </a:txBody>
                  <a:tcPr/>
                </a:tc>
                <a:tc>
                  <a:txBody>
                    <a:bodyPr/>
                    <a:lstStyle/>
                    <a:p>
                      <a:pPr algn="ctr"/>
                      <a:r>
                        <a:rPr lang="en-US" dirty="0"/>
                        <a:t>28</a:t>
                      </a:r>
                    </a:p>
                  </a:txBody>
                  <a:tcPr/>
                </a:tc>
                <a:tc>
                  <a:txBody>
                    <a:bodyPr/>
                    <a:lstStyle/>
                    <a:p>
                      <a:pPr algn="ctr"/>
                      <a:r>
                        <a:rPr lang="en-US" dirty="0"/>
                        <a:t>2.9</a:t>
                      </a:r>
                    </a:p>
                  </a:txBody>
                  <a:tcPr/>
                </a:tc>
                <a:tc>
                  <a:txBody>
                    <a:bodyPr/>
                    <a:lstStyle/>
                    <a:p>
                      <a:pPr algn="ctr"/>
                      <a:r>
                        <a:rPr lang="en-US" dirty="0"/>
                        <a:t>80</a:t>
                      </a:r>
                    </a:p>
                  </a:txBody>
                  <a:tcPr/>
                </a:tc>
                <a:extLst>
                  <a:ext uri="{0D108BD9-81ED-4DB2-BD59-A6C34878D82A}">
                    <a16:rowId xmlns:a16="http://schemas.microsoft.com/office/drawing/2014/main" val="3037915916"/>
                  </a:ext>
                </a:extLst>
              </a:tr>
              <a:tr h="370840">
                <a:tc>
                  <a:txBody>
                    <a:bodyPr/>
                    <a:lstStyle/>
                    <a:p>
                      <a:r>
                        <a:rPr lang="en-US" dirty="0"/>
                        <a:t>Propulsion</a:t>
                      </a:r>
                    </a:p>
                  </a:txBody>
                  <a:tcPr/>
                </a:tc>
                <a:tc>
                  <a:txBody>
                    <a:bodyPr/>
                    <a:lstStyle/>
                    <a:p>
                      <a:pPr algn="ctr"/>
                      <a:r>
                        <a:rPr lang="en-US" dirty="0"/>
                        <a:t>56</a:t>
                      </a:r>
                    </a:p>
                  </a:txBody>
                  <a:tcPr/>
                </a:tc>
                <a:tc>
                  <a:txBody>
                    <a:bodyPr/>
                    <a:lstStyle/>
                    <a:p>
                      <a:pPr algn="ctr"/>
                      <a:r>
                        <a:rPr lang="en-US" dirty="0"/>
                        <a:t>0.9</a:t>
                      </a:r>
                    </a:p>
                  </a:txBody>
                  <a:tcPr/>
                </a:tc>
                <a:tc>
                  <a:txBody>
                    <a:bodyPr/>
                    <a:lstStyle/>
                    <a:p>
                      <a:pPr algn="ctr"/>
                      <a:r>
                        <a:rPr lang="en-US" dirty="0"/>
                        <a:t>50</a:t>
                      </a:r>
                    </a:p>
                  </a:txBody>
                  <a:tcPr/>
                </a:tc>
                <a:extLst>
                  <a:ext uri="{0D108BD9-81ED-4DB2-BD59-A6C34878D82A}">
                    <a16:rowId xmlns:a16="http://schemas.microsoft.com/office/drawing/2014/main" val="1474931471"/>
                  </a:ext>
                </a:extLst>
              </a:tr>
              <a:tr h="370840">
                <a:tc>
                  <a:txBody>
                    <a:bodyPr/>
                    <a:lstStyle/>
                    <a:p>
                      <a:r>
                        <a:rPr lang="en-US" dirty="0"/>
                        <a:t>TCS</a:t>
                      </a:r>
                    </a:p>
                  </a:txBody>
                  <a:tcPr/>
                </a:tc>
                <a:tc>
                  <a:txBody>
                    <a:bodyPr/>
                    <a:lstStyle/>
                    <a:p>
                      <a:pPr algn="ctr"/>
                      <a:r>
                        <a:rPr lang="en-US" dirty="0"/>
                        <a:t>12</a:t>
                      </a:r>
                    </a:p>
                  </a:txBody>
                  <a:tcPr/>
                </a:tc>
                <a:tc>
                  <a:txBody>
                    <a:bodyPr/>
                    <a:lstStyle/>
                    <a:p>
                      <a:pPr algn="ctr"/>
                      <a:r>
                        <a:rPr lang="en-US" dirty="0"/>
                        <a:t>0.8</a:t>
                      </a:r>
                    </a:p>
                  </a:txBody>
                  <a:tcPr/>
                </a:tc>
                <a:tc>
                  <a:txBody>
                    <a:bodyPr/>
                    <a:lstStyle/>
                    <a:p>
                      <a:pPr algn="ctr"/>
                      <a:r>
                        <a:rPr lang="en-US" dirty="0"/>
                        <a:t>10</a:t>
                      </a:r>
                    </a:p>
                  </a:txBody>
                  <a:tcPr/>
                </a:tc>
                <a:extLst>
                  <a:ext uri="{0D108BD9-81ED-4DB2-BD59-A6C34878D82A}">
                    <a16:rowId xmlns:a16="http://schemas.microsoft.com/office/drawing/2014/main" val="3285839057"/>
                  </a:ext>
                </a:extLst>
              </a:tr>
              <a:tr h="370840">
                <a:tc>
                  <a:txBody>
                    <a:bodyPr/>
                    <a:lstStyle/>
                    <a:p>
                      <a:r>
                        <a:rPr lang="en-US" dirty="0"/>
                        <a:t>ADCS</a:t>
                      </a:r>
                    </a:p>
                  </a:txBody>
                  <a:tcPr/>
                </a:tc>
                <a:tc>
                  <a:txBody>
                    <a:bodyPr/>
                    <a:lstStyle/>
                    <a:p>
                      <a:pPr algn="ctr"/>
                      <a:r>
                        <a:rPr lang="en-US" dirty="0"/>
                        <a:t>28</a:t>
                      </a:r>
                    </a:p>
                  </a:txBody>
                  <a:tcPr/>
                </a:tc>
                <a:tc>
                  <a:txBody>
                    <a:bodyPr/>
                    <a:lstStyle/>
                    <a:p>
                      <a:pPr algn="ctr"/>
                      <a:r>
                        <a:rPr lang="en-US" dirty="0"/>
                        <a:t>1.4</a:t>
                      </a:r>
                    </a:p>
                  </a:txBody>
                  <a:tcPr/>
                </a:tc>
                <a:tc>
                  <a:txBody>
                    <a:bodyPr/>
                    <a:lstStyle/>
                    <a:p>
                      <a:pPr algn="ctr"/>
                      <a:r>
                        <a:rPr lang="en-US" dirty="0"/>
                        <a:t>40</a:t>
                      </a:r>
                    </a:p>
                  </a:txBody>
                  <a:tcPr/>
                </a:tc>
                <a:extLst>
                  <a:ext uri="{0D108BD9-81ED-4DB2-BD59-A6C34878D82A}">
                    <a16:rowId xmlns:a16="http://schemas.microsoft.com/office/drawing/2014/main" val="3694913871"/>
                  </a:ext>
                </a:extLst>
              </a:tr>
              <a:tr h="370840">
                <a:tc>
                  <a:txBody>
                    <a:bodyPr/>
                    <a:lstStyle/>
                    <a:p>
                      <a:r>
                        <a:rPr lang="en-US" dirty="0"/>
                        <a:t>Payload</a:t>
                      </a:r>
                    </a:p>
                  </a:txBody>
                  <a:tcPr/>
                </a:tc>
                <a:tc>
                  <a:txBody>
                    <a:bodyPr/>
                    <a:lstStyle/>
                    <a:p>
                      <a:pPr algn="ctr"/>
                      <a:r>
                        <a:rPr lang="en-US" dirty="0"/>
                        <a:t>28</a:t>
                      </a:r>
                    </a:p>
                  </a:txBody>
                  <a:tcPr/>
                </a:tc>
                <a:tc>
                  <a:txBody>
                    <a:bodyPr/>
                    <a:lstStyle/>
                    <a:p>
                      <a:pPr algn="ctr"/>
                      <a:r>
                        <a:rPr lang="en-US" dirty="0"/>
                        <a:t>7.1</a:t>
                      </a:r>
                    </a:p>
                  </a:txBody>
                  <a:tcPr/>
                </a:tc>
                <a:tc>
                  <a:txBody>
                    <a:bodyPr/>
                    <a:lstStyle/>
                    <a:p>
                      <a:pPr algn="ctr"/>
                      <a:r>
                        <a:rPr lang="en-US" dirty="0"/>
                        <a:t>200</a:t>
                      </a:r>
                    </a:p>
                  </a:txBody>
                  <a:tcPr/>
                </a:tc>
                <a:extLst>
                  <a:ext uri="{0D108BD9-81ED-4DB2-BD59-A6C34878D82A}">
                    <a16:rowId xmlns:a16="http://schemas.microsoft.com/office/drawing/2014/main" val="3953338706"/>
                  </a:ext>
                </a:extLst>
              </a:tr>
              <a:tr h="370840">
                <a:tc>
                  <a:txBody>
                    <a:bodyPr/>
                    <a:lstStyle/>
                    <a:p>
                      <a:pPr algn="r"/>
                      <a:r>
                        <a:rPr lang="en-US" b="1" dirty="0"/>
                        <a:t>Total</a:t>
                      </a:r>
                    </a:p>
                  </a:txBody>
                  <a:tcPr/>
                </a:tc>
                <a:tc>
                  <a:txBody>
                    <a:bodyPr/>
                    <a:lstStyle/>
                    <a:p>
                      <a:pPr algn="ctr"/>
                      <a:r>
                        <a:rPr lang="en-US" dirty="0"/>
                        <a:t>N/A</a:t>
                      </a:r>
                    </a:p>
                  </a:txBody>
                  <a:tcPr/>
                </a:tc>
                <a:tc>
                  <a:txBody>
                    <a:bodyPr/>
                    <a:lstStyle/>
                    <a:p>
                      <a:pPr algn="ctr"/>
                      <a:r>
                        <a:rPr lang="en-US" dirty="0"/>
                        <a:t>13.1</a:t>
                      </a:r>
                    </a:p>
                  </a:txBody>
                  <a:tcPr/>
                </a:tc>
                <a:tc>
                  <a:txBody>
                    <a:bodyPr/>
                    <a:lstStyle/>
                    <a:p>
                      <a:pPr algn="ctr"/>
                      <a:r>
                        <a:rPr lang="en-US" dirty="0"/>
                        <a:t>380</a:t>
                      </a:r>
                    </a:p>
                  </a:txBody>
                  <a:tcPr/>
                </a:tc>
                <a:extLst>
                  <a:ext uri="{0D108BD9-81ED-4DB2-BD59-A6C34878D82A}">
                    <a16:rowId xmlns:a16="http://schemas.microsoft.com/office/drawing/2014/main" val="3135084304"/>
                  </a:ext>
                </a:extLst>
              </a:tr>
            </a:tbl>
          </a:graphicData>
        </a:graphic>
      </p:graphicFrame>
      <p:sp>
        <p:nvSpPr>
          <p:cNvPr id="7" name="TextBox 6">
            <a:extLst>
              <a:ext uri="{FF2B5EF4-FFF2-40B4-BE49-F238E27FC236}">
                <a16:creationId xmlns:a16="http://schemas.microsoft.com/office/drawing/2014/main" id="{7435EFC3-F521-FAB0-4CC2-E7887FEE7AE1}"/>
              </a:ext>
            </a:extLst>
          </p:cNvPr>
          <p:cNvSpPr txBox="1"/>
          <p:nvPr/>
        </p:nvSpPr>
        <p:spPr>
          <a:xfrm>
            <a:off x="2286000" y="994823"/>
            <a:ext cx="4572000" cy="369332"/>
          </a:xfrm>
          <a:prstGeom prst="rect">
            <a:avLst/>
          </a:prstGeom>
          <a:noFill/>
        </p:spPr>
        <p:txBody>
          <a:bodyPr wrap="square">
            <a:spAutoFit/>
          </a:bodyPr>
          <a:lstStyle/>
          <a:p>
            <a:pPr algn="ctr"/>
            <a:r>
              <a:rPr lang="en-US" b="1" dirty="0"/>
              <a:t>(Simplified) Example Power Budget</a:t>
            </a:r>
          </a:p>
        </p:txBody>
      </p:sp>
    </p:spTree>
    <p:extLst>
      <p:ext uri="{BB962C8B-B14F-4D97-AF65-F5344CB8AC3E}">
        <p14:creationId xmlns:p14="http://schemas.microsoft.com/office/powerpoint/2010/main" val="212802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B2DBD-F46E-D62D-E28B-52E1D5EB0623}"/>
              </a:ext>
            </a:extLst>
          </p:cNvPr>
          <p:cNvSpPr>
            <a:spLocks noGrp="1"/>
          </p:cNvSpPr>
          <p:nvPr>
            <p:ph type="title"/>
          </p:nvPr>
        </p:nvSpPr>
        <p:spPr/>
        <p:txBody>
          <a:bodyPr/>
          <a:lstStyle/>
          <a:p>
            <a:r>
              <a:rPr lang="en-US" dirty="0"/>
              <a:t>Power Sources</a:t>
            </a:r>
          </a:p>
        </p:txBody>
      </p:sp>
      <p:sp>
        <p:nvSpPr>
          <p:cNvPr id="3" name="Content Placeholder 2">
            <a:extLst>
              <a:ext uri="{FF2B5EF4-FFF2-40B4-BE49-F238E27FC236}">
                <a16:creationId xmlns:a16="http://schemas.microsoft.com/office/drawing/2014/main" id="{13429512-D036-E56E-5B9E-330BF6D9D2BA}"/>
              </a:ext>
            </a:extLst>
          </p:cNvPr>
          <p:cNvSpPr>
            <a:spLocks noGrp="1"/>
          </p:cNvSpPr>
          <p:nvPr>
            <p:ph idx="1"/>
          </p:nvPr>
        </p:nvSpPr>
        <p:spPr>
          <a:xfrm>
            <a:off x="200025" y="1291771"/>
            <a:ext cx="8793015" cy="4938288"/>
          </a:xfrm>
        </p:spPr>
        <p:txBody>
          <a:bodyPr>
            <a:normAutofit fontScale="92500" lnSpcReduction="20000"/>
          </a:bodyPr>
          <a:lstStyle/>
          <a:p>
            <a:r>
              <a:rPr lang="en-US" dirty="0"/>
              <a:t>Solar (photovoltaic)</a:t>
            </a:r>
          </a:p>
          <a:p>
            <a:endParaRPr lang="en-US" dirty="0"/>
          </a:p>
          <a:p>
            <a:r>
              <a:rPr lang="en-US" dirty="0"/>
              <a:t>Batteries</a:t>
            </a:r>
          </a:p>
          <a:p>
            <a:pPr lvl="1"/>
            <a:r>
              <a:rPr lang="en-US" dirty="0"/>
              <a:t>Primary</a:t>
            </a:r>
          </a:p>
          <a:p>
            <a:pPr lvl="1"/>
            <a:r>
              <a:rPr lang="en-US" dirty="0"/>
              <a:t>Secondary</a:t>
            </a:r>
          </a:p>
          <a:p>
            <a:pPr lvl="1"/>
            <a:endParaRPr lang="en-US" dirty="0"/>
          </a:p>
          <a:p>
            <a:r>
              <a:rPr lang="en-US" dirty="0"/>
              <a:t>Radioisotope Thermoelectric Generator (RTG)</a:t>
            </a:r>
          </a:p>
          <a:p>
            <a:endParaRPr lang="en-US" dirty="0"/>
          </a:p>
          <a:p>
            <a:r>
              <a:rPr lang="en-US" dirty="0"/>
              <a:t>Fuel Cells</a:t>
            </a:r>
          </a:p>
          <a:p>
            <a:endParaRPr lang="en-US" dirty="0"/>
          </a:p>
          <a:p>
            <a:r>
              <a:rPr lang="en-US" dirty="0"/>
              <a:t>Nuclear</a:t>
            </a:r>
          </a:p>
          <a:p>
            <a:endParaRPr lang="en-US" dirty="0"/>
          </a:p>
          <a:p>
            <a:r>
              <a:rPr lang="en-US" dirty="0"/>
              <a:t>Other (see slide)</a:t>
            </a:r>
          </a:p>
        </p:txBody>
      </p:sp>
      <p:sp>
        <p:nvSpPr>
          <p:cNvPr id="4" name="Slide Number Placeholder 3">
            <a:extLst>
              <a:ext uri="{FF2B5EF4-FFF2-40B4-BE49-F238E27FC236}">
                <a16:creationId xmlns:a16="http://schemas.microsoft.com/office/drawing/2014/main" id="{188655BC-0056-A6B2-CEE3-520F72955DA4}"/>
              </a:ext>
            </a:extLst>
          </p:cNvPr>
          <p:cNvSpPr>
            <a:spLocks noGrp="1"/>
          </p:cNvSpPr>
          <p:nvPr>
            <p:ph type="sldNum" sz="quarter" idx="12"/>
          </p:nvPr>
        </p:nvSpPr>
        <p:spPr/>
        <p:txBody>
          <a:bodyPr/>
          <a:lstStyle/>
          <a:p>
            <a:fld id="{9A3029B7-FE6B-4680-9049-80E8298A0825}" type="slidenum">
              <a:rPr lang="en-US" smtClean="0"/>
              <a:t>7</a:t>
            </a:fld>
            <a:endParaRPr lang="en-US"/>
          </a:p>
        </p:txBody>
      </p:sp>
    </p:spTree>
    <p:extLst>
      <p:ext uri="{BB962C8B-B14F-4D97-AF65-F5344CB8AC3E}">
        <p14:creationId xmlns:p14="http://schemas.microsoft.com/office/powerpoint/2010/main" val="105604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6E20B-CA6D-7F16-4C27-E0CB8C9FEB2B}"/>
              </a:ext>
            </a:extLst>
          </p:cNvPr>
          <p:cNvSpPr>
            <a:spLocks noGrp="1"/>
          </p:cNvSpPr>
          <p:nvPr>
            <p:ph type="title"/>
          </p:nvPr>
        </p:nvSpPr>
        <p:spPr/>
        <p:txBody>
          <a:bodyPr/>
          <a:lstStyle/>
          <a:p>
            <a:r>
              <a:rPr lang="en-US" dirty="0"/>
              <a:t>Solar Power (Photovoltaic Cells)</a:t>
            </a:r>
          </a:p>
        </p:txBody>
      </p:sp>
      <p:sp>
        <p:nvSpPr>
          <p:cNvPr id="3" name="Content Placeholder 2">
            <a:extLst>
              <a:ext uri="{FF2B5EF4-FFF2-40B4-BE49-F238E27FC236}">
                <a16:creationId xmlns:a16="http://schemas.microsoft.com/office/drawing/2014/main" id="{48811F98-96EF-828A-0EFF-E37811CB1B5F}"/>
              </a:ext>
            </a:extLst>
          </p:cNvPr>
          <p:cNvSpPr>
            <a:spLocks noGrp="1"/>
          </p:cNvSpPr>
          <p:nvPr>
            <p:ph idx="1"/>
          </p:nvPr>
        </p:nvSpPr>
        <p:spPr>
          <a:xfrm>
            <a:off x="200025" y="1271587"/>
            <a:ext cx="4894489" cy="2367065"/>
          </a:xfrm>
        </p:spPr>
        <p:txBody>
          <a:bodyPr>
            <a:normAutofit/>
          </a:bodyPr>
          <a:lstStyle/>
          <a:p>
            <a:r>
              <a:rPr lang="en-US" sz="2000" dirty="0"/>
              <a:t>Primary energy source for Earth-orbiting satellites</a:t>
            </a:r>
          </a:p>
          <a:p>
            <a:r>
              <a:rPr lang="en-US" sz="2000" dirty="0"/>
              <a:t>Common types:	</a:t>
            </a:r>
          </a:p>
          <a:p>
            <a:pPr lvl="1"/>
            <a:r>
              <a:rPr lang="en-US" sz="1800" dirty="0"/>
              <a:t>Silicone (Si)</a:t>
            </a:r>
          </a:p>
          <a:p>
            <a:pPr lvl="1"/>
            <a:r>
              <a:rPr lang="en-US" sz="1800" dirty="0"/>
              <a:t>Gallium Arsenide (GaAs)</a:t>
            </a:r>
          </a:p>
          <a:p>
            <a:pPr lvl="1"/>
            <a:r>
              <a:rPr lang="en-US" sz="1800" dirty="0"/>
              <a:t>Multi-junction </a:t>
            </a:r>
          </a:p>
        </p:txBody>
      </p:sp>
      <p:sp>
        <p:nvSpPr>
          <p:cNvPr id="4" name="Slide Number Placeholder 3">
            <a:extLst>
              <a:ext uri="{FF2B5EF4-FFF2-40B4-BE49-F238E27FC236}">
                <a16:creationId xmlns:a16="http://schemas.microsoft.com/office/drawing/2014/main" id="{527EE1F6-B50A-C03E-CC1A-F1C42D81C92E}"/>
              </a:ext>
            </a:extLst>
          </p:cNvPr>
          <p:cNvSpPr>
            <a:spLocks noGrp="1"/>
          </p:cNvSpPr>
          <p:nvPr>
            <p:ph type="sldNum" sz="quarter" idx="12"/>
          </p:nvPr>
        </p:nvSpPr>
        <p:spPr/>
        <p:txBody>
          <a:bodyPr/>
          <a:lstStyle/>
          <a:p>
            <a:fld id="{9A3029B7-FE6B-4680-9049-80E8298A0825}" type="slidenum">
              <a:rPr lang="en-US" smtClean="0"/>
              <a:t>8</a:t>
            </a:fld>
            <a:endParaRPr lang="en-US"/>
          </a:p>
        </p:txBody>
      </p:sp>
      <p:pic>
        <p:nvPicPr>
          <p:cNvPr id="6146" name="Picture 2" descr="Why are Solar Panels used in Satellites &amp; Spacecrafts? - SatNow">
            <a:extLst>
              <a:ext uri="{FF2B5EF4-FFF2-40B4-BE49-F238E27FC236}">
                <a16:creationId xmlns:a16="http://schemas.microsoft.com/office/drawing/2014/main" id="{58207C9D-B68B-D377-CB16-775D0406D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5496" y="3970086"/>
            <a:ext cx="3391073" cy="218514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6B4C344-3698-8BE9-112F-056991F088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05698" y="1098110"/>
            <a:ext cx="4147968" cy="2776373"/>
          </a:xfrm>
          <a:prstGeom prst="rect">
            <a:avLst/>
          </a:prstGeom>
        </p:spPr>
      </p:pic>
      <p:graphicFrame>
        <p:nvGraphicFramePr>
          <p:cNvPr id="7" name="Table 6">
            <a:extLst>
              <a:ext uri="{FF2B5EF4-FFF2-40B4-BE49-F238E27FC236}">
                <a16:creationId xmlns:a16="http://schemas.microsoft.com/office/drawing/2014/main" id="{B7DCABC7-72C5-8F19-88E4-AAD6727AF16E}"/>
              </a:ext>
            </a:extLst>
          </p:cNvPr>
          <p:cNvGraphicFramePr>
            <a:graphicFrameLocks noGrp="1"/>
          </p:cNvGraphicFramePr>
          <p:nvPr>
            <p:extLst>
              <p:ext uri="{D42A27DB-BD31-4B8C-83A1-F6EECF244321}">
                <p14:modId xmlns:p14="http://schemas.microsoft.com/office/powerpoint/2010/main" val="3741099374"/>
              </p:ext>
            </p:extLst>
          </p:nvPr>
        </p:nvGraphicFramePr>
        <p:xfrm>
          <a:off x="200025" y="3734256"/>
          <a:ext cx="5174030" cy="2476354"/>
        </p:xfrm>
        <a:graphic>
          <a:graphicData uri="http://schemas.openxmlformats.org/drawingml/2006/table">
            <a:tbl>
              <a:tblPr/>
              <a:tblGrid>
                <a:gridCol w="1298755">
                  <a:extLst>
                    <a:ext uri="{9D8B030D-6E8A-4147-A177-3AD203B41FA5}">
                      <a16:colId xmlns:a16="http://schemas.microsoft.com/office/drawing/2014/main" val="1124212555"/>
                    </a:ext>
                  </a:extLst>
                </a:gridCol>
                <a:gridCol w="1417525">
                  <a:extLst>
                    <a:ext uri="{9D8B030D-6E8A-4147-A177-3AD203B41FA5}">
                      <a16:colId xmlns:a16="http://schemas.microsoft.com/office/drawing/2014/main" val="2124457814"/>
                    </a:ext>
                  </a:extLst>
                </a:gridCol>
                <a:gridCol w="1318525">
                  <a:extLst>
                    <a:ext uri="{9D8B030D-6E8A-4147-A177-3AD203B41FA5}">
                      <a16:colId xmlns:a16="http://schemas.microsoft.com/office/drawing/2014/main" val="99540775"/>
                    </a:ext>
                  </a:extLst>
                </a:gridCol>
                <a:gridCol w="1139225">
                  <a:extLst>
                    <a:ext uri="{9D8B030D-6E8A-4147-A177-3AD203B41FA5}">
                      <a16:colId xmlns:a16="http://schemas.microsoft.com/office/drawing/2014/main" val="2382969739"/>
                    </a:ext>
                  </a:extLst>
                </a:gridCol>
              </a:tblGrid>
              <a:tr h="405953">
                <a:tc>
                  <a:txBody>
                    <a:bodyPr/>
                    <a:lstStyle/>
                    <a:p>
                      <a:pPr>
                        <a:buNone/>
                      </a:pPr>
                      <a:r>
                        <a:rPr lang="en-US" sz="1600" b="1" dirty="0"/>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Efficiency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Radiation Tolerance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Mass Efficiency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4231287112"/>
                  </a:ext>
                </a:extLst>
              </a:tr>
              <a:tr h="576881">
                <a:tc>
                  <a:txBody>
                    <a:bodyPr/>
                    <a:lstStyle/>
                    <a:p>
                      <a:pPr>
                        <a:buNone/>
                      </a:pPr>
                      <a:r>
                        <a:rPr lang="en-US" sz="1600" b="1" dirty="0"/>
                        <a:t>Silicon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dirty="0"/>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dirty="0"/>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dirty="0"/>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04974"/>
                  </a:ext>
                </a:extLst>
              </a:tr>
              <a:tr h="235026">
                <a:tc>
                  <a:txBody>
                    <a:bodyPr/>
                    <a:lstStyle/>
                    <a:p>
                      <a:pPr>
                        <a:buNone/>
                      </a:pPr>
                      <a:r>
                        <a:rPr lang="en-US" sz="1600" b="1" dirty="0"/>
                        <a:t>GaAs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dirty="0"/>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764043"/>
                  </a:ext>
                </a:extLst>
              </a:tr>
              <a:tr h="576881">
                <a:tc>
                  <a:txBody>
                    <a:bodyPr/>
                    <a:lstStyle/>
                    <a:p>
                      <a:pPr>
                        <a:buNone/>
                      </a:pPr>
                      <a:r>
                        <a:rPr lang="en-US" sz="1600" b="1" dirty="0"/>
                        <a:t>Multi-Junction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a:t>Very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a:t>Excellent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dirty="0"/>
                        <a:t>Very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9882231"/>
                  </a:ext>
                </a:extLst>
              </a:tr>
              <a:tr h="405953">
                <a:tc>
                  <a:txBody>
                    <a:bodyPr/>
                    <a:lstStyle/>
                    <a:p>
                      <a:pPr>
                        <a:buNone/>
                      </a:pPr>
                      <a:r>
                        <a:rPr lang="en-US" sz="1600" b="1" dirty="0"/>
                        <a:t>Thin-Film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dirty="0"/>
                        <a:t>Low–Medium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600" dirty="0"/>
                        <a:t>Excellent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1136670"/>
                  </a:ext>
                </a:extLst>
              </a:tr>
            </a:tbl>
          </a:graphicData>
        </a:graphic>
      </p:graphicFrame>
    </p:spTree>
    <p:extLst>
      <p:ext uri="{BB962C8B-B14F-4D97-AF65-F5344CB8AC3E}">
        <p14:creationId xmlns:p14="http://schemas.microsoft.com/office/powerpoint/2010/main" val="27633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20A8-255F-4E3C-260D-9944A4A003D1}"/>
              </a:ext>
            </a:extLst>
          </p:cNvPr>
          <p:cNvSpPr>
            <a:spLocks noGrp="1"/>
          </p:cNvSpPr>
          <p:nvPr>
            <p:ph type="title"/>
          </p:nvPr>
        </p:nvSpPr>
        <p:spPr/>
        <p:txBody>
          <a:bodyPr/>
          <a:lstStyle/>
          <a:p>
            <a:r>
              <a:rPr lang="en-US" dirty="0"/>
              <a:t>Solar Power Sizing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886332-54CD-4F8F-8B8D-1F8D5D6233DD}"/>
                  </a:ext>
                </a:extLst>
              </p:cNvPr>
              <p:cNvSpPr>
                <a:spLocks noGrp="1"/>
              </p:cNvSpPr>
              <p:nvPr>
                <p:ph idx="1"/>
              </p:nvPr>
            </p:nvSpPr>
            <p:spPr>
              <a:xfrm>
                <a:off x="0" y="1020430"/>
                <a:ext cx="6139543" cy="5227553"/>
              </a:xfrm>
            </p:spPr>
            <p:txBody>
              <a:bodyPr>
                <a:normAutofit/>
              </a:bodyPr>
              <a:lstStyle/>
              <a:p>
                <a:r>
                  <a:rPr lang="en-US" sz="2000" dirty="0"/>
                  <a:t>New concepts not in 310:</a:t>
                </a:r>
              </a:p>
              <a:p>
                <a:pPr lvl="1"/>
                <a:r>
                  <a:rPr lang="en-US" sz="1800" dirty="0"/>
                  <a:t>Incidence angle, </a:t>
                </a:r>
                <a14:m>
                  <m:oMath xmlns:m="http://schemas.openxmlformats.org/officeDocument/2006/math">
                    <m:r>
                      <a:rPr lang="en-US" sz="1800" b="0" i="1" smtClean="0">
                        <a:latin typeface="Cambria Math" panose="02040503050406030204" pitchFamily="18" charset="0"/>
                      </a:rPr>
                      <m:t>𝜃</m:t>
                    </m:r>
                  </m:oMath>
                </a14:m>
                <a:endParaRPr lang="en-US" sz="1800" dirty="0"/>
              </a:p>
              <a:p>
                <a:pPr lvl="1"/>
                <a:r>
                  <a:rPr lang="en-US" sz="1800" dirty="0"/>
                  <a:t>More efficiency terms:</a:t>
                </a:r>
              </a:p>
              <a:p>
                <a:pPr lvl="2"/>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𝜂</m:t>
                        </m:r>
                      </m:e>
                      <m:sub>
                        <m:r>
                          <a:rPr lang="en-US" sz="1600" b="0" i="1" smtClean="0">
                            <a:latin typeface="Cambria Math" panose="02040503050406030204" pitchFamily="18" charset="0"/>
                          </a:rPr>
                          <m:t>𝑒</m:t>
                        </m:r>
                      </m:sub>
                    </m:sSub>
                  </m:oMath>
                </a14:m>
                <a:r>
                  <a:rPr lang="en-US" sz="1600" dirty="0"/>
                  <a:t>= efficiency of transferring power from the batteries and extracting it for the systems</a:t>
                </a:r>
              </a:p>
              <a:p>
                <a:pPr marL="914400" lvl="2" indent="0">
                  <a:buNone/>
                </a:pPr>
                <a:r>
                  <a:rPr lang="en-US" sz="1600" dirty="0"/>
                  <a:t>	</a:t>
                </a:r>
                <a:r>
                  <a:rPr lang="en-US" sz="1600" dirty="0">
                    <a:sym typeface="Wingdings" panose="05000000000000000000" pitchFamily="2" charset="2"/>
                  </a:rPr>
                  <a:t></a:t>
                </a:r>
                <a:r>
                  <a:rPr lang="en-US" sz="1600" dirty="0"/>
                  <a:t>Use ~60% if no other estimate</a:t>
                </a:r>
              </a:p>
              <a:p>
                <a:pPr lvl="2"/>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𝜂</m:t>
                        </m:r>
                      </m:e>
                      <m:sub>
                        <m:r>
                          <a:rPr lang="en-US" sz="1600" b="0" i="1" smtClean="0">
                            <a:latin typeface="Cambria Math" panose="02040503050406030204" pitchFamily="18" charset="0"/>
                          </a:rPr>
                          <m:t>𝑠</m:t>
                        </m:r>
                      </m:sub>
                    </m:sSub>
                  </m:oMath>
                </a14:m>
                <a:r>
                  <a:rPr lang="en-US" sz="1600" dirty="0"/>
                  <a:t>= efficiency of transferring power from the solar arrays to the systems</a:t>
                </a:r>
              </a:p>
              <a:p>
                <a:pPr marL="914400" lvl="2" indent="0">
                  <a:buNone/>
                </a:pPr>
                <a:r>
                  <a:rPr lang="en-US" sz="1600" dirty="0"/>
                  <a:t>	</a:t>
                </a:r>
                <a:r>
                  <a:rPr lang="en-US" sz="1600" dirty="0">
                    <a:sym typeface="Wingdings" panose="05000000000000000000" pitchFamily="2" charset="2"/>
                  </a:rPr>
                  <a:t></a:t>
                </a:r>
                <a:r>
                  <a:rPr lang="en-US" sz="1600" dirty="0"/>
                  <a:t>use ~80% if no other estimate</a:t>
                </a:r>
              </a:p>
              <a:p>
                <a:pPr marL="0" indent="0">
                  <a:buNone/>
                </a:pPr>
                <a:endParaRPr lang="en-US" sz="2000" dirty="0"/>
              </a:p>
              <a:p>
                <a:r>
                  <a:rPr lang="en-US" sz="2000" dirty="0"/>
                  <a:t>Sizing</a:t>
                </a:r>
              </a:p>
              <a:p>
                <a:pPr marL="0" indent="0" algn="ctr">
                  <a:buNone/>
                </a:pPr>
                <a:r>
                  <a:rPr lang="en-US" sz="200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𝑠𝑎</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𝑟𝑒𝑞</m:t>
                        </m:r>
                      </m:sub>
                    </m:sSub>
                  </m:oMath>
                </a14:m>
                <a:endParaRPr lang="en-US" sz="2000" b="0" i="1" dirty="0">
                  <a:latin typeface="Cambria Math" panose="02040503050406030204" pitchFamily="18" charset="0"/>
                </a:endParaRPr>
              </a:p>
              <a:p>
                <a:pPr marL="0" indent="0">
                  <a:buNone/>
                </a:pPr>
                <a:r>
                  <a:rPr lang="en-US" sz="2000" b="0" dirty="0"/>
                  <a:t>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𝑃</m:t>
                        </m:r>
                      </m:e>
                      <m:sub>
                        <m:r>
                          <a:rPr lang="en-US" sz="2000" b="0" i="1" dirty="0" smtClean="0">
                            <a:latin typeface="Cambria Math" panose="02040503050406030204" pitchFamily="18" charset="0"/>
                          </a:rPr>
                          <m:t>𝑠𝑎</m:t>
                        </m:r>
                      </m:sub>
                    </m:sSub>
                  </m:oMath>
                </a14:m>
                <a:r>
                  <a:rPr lang="en-US" sz="2000" dirty="0"/>
                  <a:t>=power from solar array (W)</a:t>
                </a:r>
              </a:p>
              <a:p>
                <a:pPr marL="0" indent="0">
                  <a:buNone/>
                </a:pPr>
                <a:r>
                  <a:rPr lang="en-US" sz="2000" dirty="0"/>
                  <a:t>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𝑃</m:t>
                        </m:r>
                      </m:e>
                      <m:sub>
                        <m:r>
                          <a:rPr lang="en-US" sz="2000" b="0" i="1" dirty="0" smtClean="0">
                            <a:latin typeface="Cambria Math" panose="02040503050406030204" pitchFamily="18" charset="0"/>
                          </a:rPr>
                          <m:t>𝑟𝑒𝑞</m:t>
                        </m:r>
                      </m:sub>
                    </m:sSub>
                  </m:oMath>
                </a14:m>
                <a:r>
                  <a:rPr lang="en-US" sz="2000" dirty="0"/>
                  <a:t>=power required by s/c (W)</a:t>
                </a:r>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CE886332-54CD-4F8F-8B8D-1F8D5D6233DD}"/>
                  </a:ext>
                </a:extLst>
              </p:cNvPr>
              <p:cNvSpPr>
                <a:spLocks noGrp="1" noRot="1" noChangeAspect="1" noMove="1" noResize="1" noEditPoints="1" noAdjustHandles="1" noChangeArrowheads="1" noChangeShapeType="1" noTextEdit="1"/>
              </p:cNvSpPr>
              <p:nvPr>
                <p:ph idx="1"/>
              </p:nvPr>
            </p:nvSpPr>
            <p:spPr>
              <a:xfrm>
                <a:off x="0" y="1020430"/>
                <a:ext cx="6139543" cy="5227553"/>
              </a:xfrm>
              <a:blipFill>
                <a:blip r:embed="rId3"/>
                <a:stretch>
                  <a:fillRect l="-894" t="-104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425531C-3A99-F896-82C5-99FEDA4F6382}"/>
              </a:ext>
            </a:extLst>
          </p:cNvPr>
          <p:cNvSpPr>
            <a:spLocks noGrp="1"/>
          </p:cNvSpPr>
          <p:nvPr>
            <p:ph type="sldNum" sz="quarter" idx="12"/>
          </p:nvPr>
        </p:nvSpPr>
        <p:spPr/>
        <p:txBody>
          <a:bodyPr/>
          <a:lstStyle/>
          <a:p>
            <a:fld id="{9A3029B7-FE6B-4680-9049-80E8298A0825}" type="slidenum">
              <a:rPr lang="en-US" smtClean="0"/>
              <a:t>9</a:t>
            </a:fld>
            <a:endParaRPr lang="en-US"/>
          </a:p>
        </p:txBody>
      </p:sp>
      <p:pic>
        <p:nvPicPr>
          <p:cNvPr id="8" name="Picture 7">
            <a:extLst>
              <a:ext uri="{FF2B5EF4-FFF2-40B4-BE49-F238E27FC236}">
                <a16:creationId xmlns:a16="http://schemas.microsoft.com/office/drawing/2014/main" id="{D3A1D87A-84BB-958F-2BF0-62047D9B2925}"/>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480292" y="2101216"/>
            <a:ext cx="4879607" cy="2655568"/>
          </a:xfrm>
          <a:prstGeom prst="rect">
            <a:avLst/>
          </a:prstGeom>
        </p:spPr>
      </p:pic>
      <p:sp>
        <p:nvSpPr>
          <p:cNvPr id="9" name="TextBox 8">
            <a:extLst>
              <a:ext uri="{FF2B5EF4-FFF2-40B4-BE49-F238E27FC236}">
                <a16:creationId xmlns:a16="http://schemas.microsoft.com/office/drawing/2014/main" id="{A386CCD1-C235-0748-2D27-3D8269B14CE0}"/>
              </a:ext>
            </a:extLst>
          </p:cNvPr>
          <p:cNvSpPr txBox="1"/>
          <p:nvPr/>
        </p:nvSpPr>
        <p:spPr>
          <a:xfrm>
            <a:off x="7315391" y="3840895"/>
            <a:ext cx="2876550" cy="307777"/>
          </a:xfrm>
          <a:prstGeom prst="rect">
            <a:avLst/>
          </a:prstGeom>
          <a:noFill/>
        </p:spPr>
        <p:txBody>
          <a:bodyPr wrap="square">
            <a:spAutoFit/>
          </a:bodyPr>
          <a:lstStyle/>
          <a:p>
            <a:r>
              <a:rPr lang="en-US" sz="1400" b="1" dirty="0">
                <a:solidFill>
                  <a:srgbClr val="00B0F0"/>
                </a:solidFill>
              </a:rPr>
              <a:t>Incidence Angle</a:t>
            </a:r>
          </a:p>
        </p:txBody>
      </p:sp>
    </p:spTree>
    <p:extLst>
      <p:ext uri="{BB962C8B-B14F-4D97-AF65-F5344CB8AC3E}">
        <p14:creationId xmlns:p14="http://schemas.microsoft.com/office/powerpoint/2010/main" val="3074568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91EDE3A-4D80-864C-353F-36A380B24938}"/>
                  </a:ext>
                </a:extLst>
              </p:cNvPr>
              <p:cNvSpPr>
                <a:spLocks noGrp="1"/>
              </p:cNvSpPr>
              <p:nvPr>
                <p:ph type="title"/>
              </p:nvPr>
            </p:nvSpPr>
            <p:spPr/>
            <p:txBody>
              <a:bodyPr/>
              <a:lstStyle/>
              <a:p>
                <a:r>
                  <a:rPr lang="en-US" dirty="0"/>
                  <a:t>Power from Solar Array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𝑷</m:t>
                        </m:r>
                      </m:e>
                      <m:sub>
                        <m:r>
                          <a:rPr lang="en-US" i="1">
                            <a:latin typeface="Cambria Math" panose="02040503050406030204" pitchFamily="18" charset="0"/>
                          </a:rPr>
                          <m:t>𝑺𝑨</m:t>
                        </m:r>
                      </m:sub>
                    </m:sSub>
                  </m:oMath>
                </a14:m>
                <a:r>
                  <a:rPr lang="en-US" dirty="0"/>
                  <a:t> )</a:t>
                </a:r>
              </a:p>
            </p:txBody>
          </p:sp>
        </mc:Choice>
        <mc:Fallback xmlns="">
          <p:sp>
            <p:nvSpPr>
              <p:cNvPr id="2" name="Title 1">
                <a:extLst>
                  <a:ext uri="{FF2B5EF4-FFF2-40B4-BE49-F238E27FC236}">
                    <a16:creationId xmlns:a16="http://schemas.microsoft.com/office/drawing/2014/main" id="{F91EDE3A-4D80-864C-353F-36A380B24938}"/>
                  </a:ext>
                </a:extLst>
              </p:cNvPr>
              <p:cNvSpPr>
                <a:spLocks noGrp="1" noRot="1" noChangeAspect="1" noMove="1" noResize="1" noEditPoints="1" noAdjustHandles="1" noChangeArrowheads="1" noChangeShapeType="1" noTextEdit="1"/>
              </p:cNvSpPr>
              <p:nvPr>
                <p:ph type="title"/>
              </p:nvPr>
            </p:nvSpPr>
            <p:spPr>
              <a:blipFill>
                <a:blip r:embed="rId2"/>
                <a:stretch>
                  <a:fillRect l="-1546" t="-2804" b="-121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281E23-DDC9-A1E2-3532-C2F3A7470926}"/>
                  </a:ext>
                </a:extLst>
              </p:cNvPr>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𝐵𝑂𝐿</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rPr>
                        <m:t>𝐴</m:t>
                      </m:r>
                      <m:r>
                        <a:rPr lang="en-US" b="0" i="1" smtClean="0">
                          <a:latin typeface="Cambria Math" panose="02040503050406030204" pitchFamily="18" charset="0"/>
                        </a:rPr>
                        <m:t>𝜂</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𝜃</m:t>
                          </m:r>
                        </m:e>
                      </m:func>
                    </m:oMath>
                  </m:oMathPara>
                </a14:m>
                <a:endParaRPr lang="en-US" b="0" dirty="0"/>
              </a:p>
              <a:p>
                <a:pPr marL="0" indent="0">
                  <a:buNone/>
                </a:pPr>
                <a:endParaRPr lang="en-US" sz="1400" b="0" dirty="0"/>
              </a:p>
              <a:p>
                <a:pPr marL="457200" lvl="1" indent="0">
                  <a:buNone/>
                </a:pP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𝑃</m:t>
                        </m:r>
                      </m:e>
                      <m:sub>
                        <m:r>
                          <a:rPr lang="en-US" sz="1600" b="0" i="1" smtClean="0">
                            <a:latin typeface="Cambria Math" panose="02040503050406030204" pitchFamily="18" charset="0"/>
                          </a:rPr>
                          <m:t>𝐵𝑂𝐿</m:t>
                        </m:r>
                      </m:sub>
                    </m:sSub>
                    <m:r>
                      <a:rPr lang="en-US" sz="1600" b="0" i="1" smtClean="0">
                        <a:latin typeface="Cambria Math" panose="02040503050406030204" pitchFamily="18" charset="0"/>
                      </a:rPr>
                      <m:t>=</m:t>
                    </m:r>
                  </m:oMath>
                </a14:m>
                <a:r>
                  <a:rPr lang="en-US" sz="1600" b="0" dirty="0"/>
                  <a:t>Power at Beginning of Life </a:t>
                </a:r>
                <a:r>
                  <a:rPr lang="en-US" sz="1600" dirty="0"/>
                  <a:t>(</a:t>
                </a:r>
                <a14:m>
                  <m:oMath xmlns:m="http://schemas.openxmlformats.org/officeDocument/2006/math">
                    <m:r>
                      <a:rPr lang="en-US" sz="1600" i="1">
                        <a:latin typeface="Cambria Math" panose="02040503050406030204" pitchFamily="18" charset="0"/>
                      </a:rPr>
                      <m:t>𝑊</m:t>
                    </m:r>
                  </m:oMath>
                </a14:m>
                <a:r>
                  <a:rPr lang="en-US" sz="1600" dirty="0"/>
                  <a:t>)</a:t>
                </a:r>
                <a:endParaRPr lang="en-US" sz="1600" b="0" dirty="0"/>
              </a:p>
              <a:p>
                <a:pPr marL="457200" lvl="1" indent="0">
                  <a:buNone/>
                </a:pP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ea typeface="Cambria Math" panose="02040503050406030204" pitchFamily="18" charset="0"/>
                          </a:rPr>
                          <m:t>⊙</m:t>
                        </m:r>
                      </m:sub>
                    </m:sSub>
                    <m:r>
                      <a:rPr lang="en-US" sz="1600" b="0" i="1" smtClean="0">
                        <a:latin typeface="Cambria Math" panose="02040503050406030204" pitchFamily="18" charset="0"/>
                        <a:ea typeface="Cambria Math" panose="02040503050406030204" pitchFamily="18" charset="0"/>
                      </a:rPr>
                      <m:t>=</m:t>
                    </m:r>
                  </m:oMath>
                </a14:m>
                <a:r>
                  <a:rPr lang="en-US" sz="1600" dirty="0"/>
                  <a:t>Solar Flux (</a:t>
                </a:r>
                <a14:m>
                  <m:oMath xmlns:m="http://schemas.openxmlformats.org/officeDocument/2006/math">
                    <m:r>
                      <a:rPr lang="en-US" sz="1600" b="0" i="1" smtClean="0">
                        <a:latin typeface="Cambria Math" panose="02040503050406030204" pitchFamily="18" charset="0"/>
                      </a:rPr>
                      <m:t>𝑊</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𝑚</m:t>
                        </m:r>
                      </m:e>
                      <m:sup>
                        <m:r>
                          <a:rPr lang="en-US" sz="1600" b="0" i="1" smtClean="0">
                            <a:latin typeface="Cambria Math" panose="02040503050406030204" pitchFamily="18" charset="0"/>
                          </a:rPr>
                          <m:t>2</m:t>
                        </m:r>
                      </m:sup>
                    </m:sSup>
                  </m:oMath>
                </a14:m>
                <a:r>
                  <a:rPr lang="en-US" sz="1600" dirty="0"/>
                  <a:t>)</a:t>
                </a:r>
              </a:p>
              <a:p>
                <a:pPr marL="457200" lvl="1" indent="0">
                  <a:buNone/>
                </a:pPr>
                <a14:m>
                  <m:oMath xmlns:m="http://schemas.openxmlformats.org/officeDocument/2006/math">
                    <m:r>
                      <a:rPr lang="en-US" sz="1600" b="0" i="1" smtClean="0">
                        <a:latin typeface="Cambria Math" panose="02040503050406030204" pitchFamily="18" charset="0"/>
                      </a:rPr>
                      <m:t>𝐴</m:t>
                    </m:r>
                    <m:r>
                      <a:rPr lang="en-US" sz="1600" b="0" i="1" smtClean="0">
                        <a:latin typeface="Cambria Math" panose="02040503050406030204" pitchFamily="18" charset="0"/>
                      </a:rPr>
                      <m:t>=</m:t>
                    </m:r>
                  </m:oMath>
                </a14:m>
                <a:r>
                  <a:rPr lang="en-US" sz="1600" dirty="0"/>
                  <a:t>area of solar array exposed to the sun (</a:t>
                </a:r>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𝑚</m:t>
                        </m:r>
                      </m:e>
                      <m:sup>
                        <m:r>
                          <a:rPr lang="en-US" sz="1600" b="0" i="1" smtClean="0">
                            <a:latin typeface="Cambria Math" panose="02040503050406030204" pitchFamily="18" charset="0"/>
                          </a:rPr>
                          <m:t>2</m:t>
                        </m:r>
                      </m:sup>
                    </m:sSup>
                  </m:oMath>
                </a14:m>
                <a:r>
                  <a:rPr lang="en-US" sz="1600" dirty="0"/>
                  <a:t>)</a:t>
                </a:r>
              </a:p>
              <a:p>
                <a:pPr marL="457200" lvl="1" indent="0">
                  <a:buNone/>
                </a:pPr>
                <a14:m>
                  <m:oMath xmlns:m="http://schemas.openxmlformats.org/officeDocument/2006/math">
                    <m:r>
                      <a:rPr lang="en-US" sz="1600" b="0" i="1" smtClean="0">
                        <a:latin typeface="Cambria Math" panose="02040503050406030204" pitchFamily="18" charset="0"/>
                      </a:rPr>
                      <m:t>𝜂</m:t>
                    </m:r>
                    <m:r>
                      <a:rPr lang="en-US" sz="1600" b="0" i="1" smtClean="0">
                        <a:latin typeface="Cambria Math" panose="02040503050406030204" pitchFamily="18" charset="0"/>
                      </a:rPr>
                      <m:t>=</m:t>
                    </m:r>
                  </m:oMath>
                </a14:m>
                <a:r>
                  <a:rPr lang="en-US" sz="1600" dirty="0"/>
                  <a:t>solar array efficiency (%)</a:t>
                </a:r>
              </a:p>
              <a:p>
                <a:pPr marL="457200" lvl="1" indent="0">
                  <a:buNone/>
                </a:pPr>
                <a14:m>
                  <m:oMath xmlns:m="http://schemas.openxmlformats.org/officeDocument/2006/math">
                    <m:r>
                      <a:rPr lang="en-US" sz="1600" b="0" i="1" smtClean="0">
                        <a:latin typeface="Cambria Math" panose="02040503050406030204" pitchFamily="18" charset="0"/>
                      </a:rPr>
                      <m:t>𝜃</m:t>
                    </m:r>
                    <m:r>
                      <a:rPr lang="en-US" sz="1600" b="0" i="1" smtClean="0">
                        <a:latin typeface="Cambria Math" panose="02040503050406030204" pitchFamily="18" charset="0"/>
                      </a:rPr>
                      <m:t>=</m:t>
                    </m:r>
                  </m:oMath>
                </a14:m>
                <a:r>
                  <a:rPr lang="en-US" sz="1600" dirty="0"/>
                  <a:t>incidence angle of the Sun (rad/deg)</a:t>
                </a:r>
              </a:p>
              <a:p>
                <a:pPr marL="0" indent="0">
                  <a:buNone/>
                </a:pPr>
                <a:endParaRPr lang="en-US" sz="2000" dirty="0"/>
              </a:p>
              <a:p>
                <a:pPr marL="0" indent="0">
                  <a:buNone/>
                </a:pPr>
                <a:endParaRPr lang="en-US" sz="2000" dirty="0"/>
              </a:p>
              <a:p>
                <a:pPr marL="0" indent="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𝑠𝑎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𝐸𝑂𝐿</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𝐵𝑂𝐿</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𝑑</m:t>
                              </m:r>
                            </m:e>
                          </m:d>
                        </m:e>
                        <m:sup>
                          <m:r>
                            <a:rPr lang="en-US" b="0" i="1" smtClean="0">
                              <a:latin typeface="Cambria Math" panose="02040503050406030204" pitchFamily="18" charset="0"/>
                            </a:rPr>
                            <m:t>𝑛</m:t>
                          </m:r>
                        </m:sup>
                      </m:sSup>
                    </m:oMath>
                  </m:oMathPara>
                </a14:m>
                <a:endParaRPr lang="en-US" dirty="0"/>
              </a:p>
              <a:p>
                <a:pPr marL="0" indent="0">
                  <a:buNone/>
                </a:pPr>
                <a:endParaRPr lang="en-US" sz="1400" dirty="0"/>
              </a:p>
              <a:p>
                <a:pPr marL="457200" lvl="1" indent="0">
                  <a:buNone/>
                </a:pP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b="0" i="1" smtClean="0">
                            <a:latin typeface="Cambria Math" panose="02040503050406030204" pitchFamily="18" charset="0"/>
                          </a:rPr>
                          <m:t>𝐸</m:t>
                        </m:r>
                        <m:r>
                          <a:rPr lang="en-US" sz="1600" i="1">
                            <a:latin typeface="Cambria Math" panose="02040503050406030204" pitchFamily="18" charset="0"/>
                          </a:rPr>
                          <m:t>𝑂𝐿</m:t>
                        </m:r>
                      </m:sub>
                    </m:sSub>
                    <m:r>
                      <a:rPr lang="en-US" sz="1600" i="1">
                        <a:latin typeface="Cambria Math" panose="02040503050406030204" pitchFamily="18" charset="0"/>
                      </a:rPr>
                      <m:t>=</m:t>
                    </m:r>
                  </m:oMath>
                </a14:m>
                <a:r>
                  <a:rPr lang="en-US" sz="1600" dirty="0"/>
                  <a:t>Power at End of Life (</a:t>
                </a:r>
                <a14:m>
                  <m:oMath xmlns:m="http://schemas.openxmlformats.org/officeDocument/2006/math">
                    <m:r>
                      <a:rPr lang="en-US" sz="1600" b="0" i="1" smtClean="0">
                        <a:latin typeface="Cambria Math" panose="02040503050406030204" pitchFamily="18" charset="0"/>
                      </a:rPr>
                      <m:t>𝑊</m:t>
                    </m:r>
                  </m:oMath>
                </a14:m>
                <a:r>
                  <a:rPr lang="en-US" sz="1600" dirty="0"/>
                  <a:t>)</a:t>
                </a:r>
              </a:p>
              <a:p>
                <a:pPr marL="457200" lvl="1" indent="0">
                  <a:buNone/>
                </a:pPr>
                <a14:m>
                  <m:oMath xmlns:m="http://schemas.openxmlformats.org/officeDocument/2006/math">
                    <m:r>
                      <a:rPr lang="en-US" sz="1600" b="0" i="1" smtClean="0">
                        <a:latin typeface="Cambria Math" panose="02040503050406030204" pitchFamily="18" charset="0"/>
                      </a:rPr>
                      <m:t>𝑑</m:t>
                    </m:r>
                    <m:r>
                      <a:rPr lang="en-US" sz="1600" b="0" i="1" smtClean="0">
                        <a:latin typeface="Cambria Math" panose="02040503050406030204" pitchFamily="18" charset="0"/>
                      </a:rPr>
                      <m:t>=</m:t>
                    </m:r>
                  </m:oMath>
                </a14:m>
                <a:r>
                  <a:rPr lang="en-US" sz="1600" dirty="0"/>
                  <a:t>Solar panel degradation per unit time (Si ≈ 4%/year, GaAs ≈ 3%/year, but varies widely)</a:t>
                </a:r>
              </a:p>
              <a:p>
                <a:pPr marL="457200" lvl="1" indent="0">
                  <a:buNone/>
                </a:pPr>
                <a14:m>
                  <m:oMath xmlns:m="http://schemas.openxmlformats.org/officeDocument/2006/math">
                    <m:r>
                      <a:rPr lang="en-US" sz="1600" b="0" i="1" smtClean="0">
                        <a:latin typeface="Cambria Math" panose="02040503050406030204" pitchFamily="18" charset="0"/>
                      </a:rPr>
                      <m:t>𝑛</m:t>
                    </m:r>
                    <m:r>
                      <a:rPr lang="en-US" sz="1600" b="0" i="1" smtClean="0">
                        <a:latin typeface="Cambria Math" panose="02040503050406030204" pitchFamily="18" charset="0"/>
                      </a:rPr>
                      <m:t>=</m:t>
                    </m:r>
                  </m:oMath>
                </a14:m>
                <a:r>
                  <a:rPr lang="en-US" sz="1600" dirty="0"/>
                  <a:t> time elapsed (typically </a:t>
                </a:r>
                <a14:m>
                  <m:oMath xmlns:m="http://schemas.openxmlformats.org/officeDocument/2006/math">
                    <m:r>
                      <a:rPr lang="en-US" sz="1600" b="0" i="1" smtClean="0">
                        <a:latin typeface="Cambria Math" panose="02040503050406030204" pitchFamily="18" charset="0"/>
                      </a:rPr>
                      <m:t>𝑦𝑒𝑎𝑟𝑠</m:t>
                    </m:r>
                  </m:oMath>
                </a14:m>
                <a:r>
                  <a:rPr lang="en-US" sz="1600"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C281E23-DDC9-A1E2-3532-C2F3A7470926}"/>
                  </a:ext>
                </a:extLst>
              </p:cNvPr>
              <p:cNvSpPr>
                <a:spLocks noGrp="1" noRot="1" noChangeAspect="1" noMove="1" noResize="1" noEditPoints="1" noAdjustHandles="1" noChangeArrowheads="1" noChangeShapeType="1" noTextEdit="1"/>
              </p:cNvSpPr>
              <p:nvPr>
                <p:ph idx="1"/>
              </p:nvPr>
            </p:nvSpPr>
            <p:spPr>
              <a:blipFill>
                <a:blip r:embed="rId3"/>
                <a:stretch>
                  <a:fillRect l="-34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85C6B72-C3DD-6669-BDAB-898641CF71BD}"/>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8194" name="Picture 2" descr="ESA - Hubble's impactful life alongside space debris">
            <a:extLst>
              <a:ext uri="{FF2B5EF4-FFF2-40B4-BE49-F238E27FC236}">
                <a16:creationId xmlns:a16="http://schemas.microsoft.com/office/drawing/2014/main" id="{38988906-90AD-6FA1-B64D-6571D6848B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5539099" y="1513206"/>
            <a:ext cx="3323601" cy="24927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29721F-4A27-739E-D113-9FCF0BC3A6DB}"/>
              </a:ext>
            </a:extLst>
          </p:cNvPr>
          <p:cNvSpPr txBox="1"/>
          <p:nvPr/>
        </p:nvSpPr>
        <p:spPr>
          <a:xfrm>
            <a:off x="5762625" y="4421357"/>
            <a:ext cx="2876550" cy="307777"/>
          </a:xfrm>
          <a:prstGeom prst="rect">
            <a:avLst/>
          </a:prstGeom>
          <a:noFill/>
        </p:spPr>
        <p:txBody>
          <a:bodyPr wrap="square">
            <a:spAutoFit/>
          </a:bodyPr>
          <a:lstStyle/>
          <a:p>
            <a:r>
              <a:rPr lang="en-US" sz="1400" b="1" dirty="0">
                <a:solidFill>
                  <a:srgbClr val="00B0F0"/>
                </a:solidFill>
              </a:rPr>
              <a:t>Hubble Solar Cells after ~9 years</a:t>
            </a:r>
          </a:p>
        </p:txBody>
      </p:sp>
    </p:spTree>
    <p:extLst>
      <p:ext uri="{BB962C8B-B14F-4D97-AF65-F5344CB8AC3E}">
        <p14:creationId xmlns:p14="http://schemas.microsoft.com/office/powerpoint/2010/main" val="1464249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7B93158-5CD0-C3D9-C5C9-F0356282766B}"/>
                  </a:ext>
                </a:extLst>
              </p:cNvPr>
              <p:cNvSpPr>
                <a:spLocks noGrp="1"/>
              </p:cNvSpPr>
              <p:nvPr>
                <p:ph type="title"/>
              </p:nvPr>
            </p:nvSpPr>
            <p:spPr/>
            <p:txBody>
              <a:bodyPr/>
              <a:lstStyle/>
              <a:p>
                <a:r>
                  <a:rPr lang="en-US" dirty="0"/>
                  <a:t>Solar Power Required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𝑷</m:t>
                        </m:r>
                      </m:e>
                      <m:sub>
                        <m:r>
                          <a:rPr lang="en-US" i="1">
                            <a:latin typeface="Cambria Math" panose="02040503050406030204" pitchFamily="18" charset="0"/>
                          </a:rPr>
                          <m:t>𝒓𝒆𝒒</m:t>
                        </m:r>
                      </m:sub>
                    </m:sSub>
                  </m:oMath>
                </a14:m>
                <a:r>
                  <a:rPr lang="en-US" dirty="0"/>
                  <a:t> )</a:t>
                </a:r>
              </a:p>
            </p:txBody>
          </p:sp>
        </mc:Choice>
        <mc:Fallback xmlns="">
          <p:sp>
            <p:nvSpPr>
              <p:cNvPr id="2" name="Title 1">
                <a:extLst>
                  <a:ext uri="{FF2B5EF4-FFF2-40B4-BE49-F238E27FC236}">
                    <a16:creationId xmlns:a16="http://schemas.microsoft.com/office/drawing/2014/main" id="{07B93158-5CD0-C3D9-C5C9-F0356282766B}"/>
                  </a:ext>
                </a:extLst>
              </p:cNvPr>
              <p:cNvSpPr>
                <a:spLocks noGrp="1" noRot="1" noChangeAspect="1" noMove="1" noResize="1" noEditPoints="1" noAdjustHandles="1" noChangeArrowheads="1" noChangeShapeType="1" noTextEdit="1"/>
              </p:cNvSpPr>
              <p:nvPr>
                <p:ph type="title"/>
              </p:nvPr>
            </p:nvSpPr>
            <p:spPr>
              <a:blipFill>
                <a:blip r:embed="rId3"/>
                <a:stretch>
                  <a:fillRect l="-1546" t="-6542" b="-934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0720EE6-C6E5-D01E-F95E-A4C29163BD66}"/>
              </a:ext>
            </a:extLst>
          </p:cNvPr>
          <p:cNvSpPr>
            <a:spLocks noGrp="1"/>
          </p:cNvSpPr>
          <p:nvPr>
            <p:ph type="sldNum" sz="quarter" idx="12"/>
          </p:nvPr>
        </p:nvSpPr>
        <p:spPr/>
        <p:txBody>
          <a:bodyPr/>
          <a:lstStyle/>
          <a:p>
            <a:fld id="{9A3029B7-FE6B-4680-9049-80E8298A0825}" type="slidenum">
              <a:rPr lang="en-US" smtClean="0"/>
              <a:t>11</a:t>
            </a:fld>
            <a:endParaRPr lang="en-US"/>
          </a:p>
        </p:txBody>
      </p:sp>
      <p:pic>
        <p:nvPicPr>
          <p:cNvPr id="6" name="Picture 5">
            <a:extLst>
              <a:ext uri="{FF2B5EF4-FFF2-40B4-BE49-F238E27FC236}">
                <a16:creationId xmlns:a16="http://schemas.microsoft.com/office/drawing/2014/main" id="{4E5BBCF3-3432-3C09-512E-27808F4C3424}"/>
              </a:ext>
            </a:extLst>
          </p:cNvPr>
          <p:cNvPicPr>
            <a:picLocks noChangeAspect="1"/>
          </p:cNvPicPr>
          <p:nvPr/>
        </p:nvPicPr>
        <p:blipFill>
          <a:blip r:embed="rId4"/>
          <a:stretch>
            <a:fillRect/>
          </a:stretch>
        </p:blipFill>
        <p:spPr>
          <a:xfrm>
            <a:off x="90155" y="5379709"/>
            <a:ext cx="2695951" cy="1114581"/>
          </a:xfrm>
          <a:prstGeom prst="rect">
            <a:avLst/>
          </a:prstGeom>
        </p:spPr>
      </p:pic>
      <p:pic>
        <p:nvPicPr>
          <p:cNvPr id="8" name="Picture 7">
            <a:extLst>
              <a:ext uri="{FF2B5EF4-FFF2-40B4-BE49-F238E27FC236}">
                <a16:creationId xmlns:a16="http://schemas.microsoft.com/office/drawing/2014/main" id="{2DFB4DDB-39B2-8758-D5AE-EEC4F0CADF27}"/>
              </a:ext>
            </a:extLst>
          </p:cNvPr>
          <p:cNvPicPr>
            <a:picLocks noChangeAspect="1"/>
          </p:cNvPicPr>
          <p:nvPr/>
        </p:nvPicPr>
        <p:blipFill>
          <a:blip r:embed="rId5"/>
          <a:stretch>
            <a:fillRect/>
          </a:stretch>
        </p:blipFill>
        <p:spPr>
          <a:xfrm>
            <a:off x="2805042" y="5236511"/>
            <a:ext cx="6338958" cy="1348188"/>
          </a:xfrm>
          <a:prstGeom prst="rect">
            <a:avLst/>
          </a:prstGeom>
        </p:spPr>
      </p:pic>
      <p:pic>
        <p:nvPicPr>
          <p:cNvPr id="10" name="Picture 9">
            <a:extLst>
              <a:ext uri="{FF2B5EF4-FFF2-40B4-BE49-F238E27FC236}">
                <a16:creationId xmlns:a16="http://schemas.microsoft.com/office/drawing/2014/main" id="{6F23A42B-A6F5-29C9-F975-9876BF5B5061}"/>
              </a:ext>
            </a:extLst>
          </p:cNvPr>
          <p:cNvPicPr>
            <a:picLocks noChangeAspect="1"/>
          </p:cNvPicPr>
          <p:nvPr/>
        </p:nvPicPr>
        <p:blipFill>
          <a:blip r:embed="rId6"/>
          <a:stretch>
            <a:fillRect/>
          </a:stretch>
        </p:blipFill>
        <p:spPr>
          <a:xfrm>
            <a:off x="90155" y="1475633"/>
            <a:ext cx="2553056" cy="914528"/>
          </a:xfrm>
          <a:prstGeom prst="rect">
            <a:avLst/>
          </a:prstGeom>
        </p:spPr>
      </p:pic>
      <p:pic>
        <p:nvPicPr>
          <p:cNvPr id="12" name="Picture 11">
            <a:extLst>
              <a:ext uri="{FF2B5EF4-FFF2-40B4-BE49-F238E27FC236}">
                <a16:creationId xmlns:a16="http://schemas.microsoft.com/office/drawing/2014/main" id="{01E05F3A-75D9-552F-F2C2-504E03E80D8E}"/>
              </a:ext>
            </a:extLst>
          </p:cNvPr>
          <p:cNvPicPr>
            <a:picLocks noChangeAspect="1"/>
          </p:cNvPicPr>
          <p:nvPr/>
        </p:nvPicPr>
        <p:blipFill>
          <a:blip r:embed="rId7"/>
          <a:stretch>
            <a:fillRect/>
          </a:stretch>
        </p:blipFill>
        <p:spPr>
          <a:xfrm>
            <a:off x="2786106" y="1407264"/>
            <a:ext cx="6179241" cy="1146839"/>
          </a:xfrm>
          <a:prstGeom prst="rect">
            <a:avLst/>
          </a:prstGeom>
        </p:spPr>
      </p:pic>
      <p:pic>
        <p:nvPicPr>
          <p:cNvPr id="14" name="Picture 13">
            <a:extLst>
              <a:ext uri="{FF2B5EF4-FFF2-40B4-BE49-F238E27FC236}">
                <a16:creationId xmlns:a16="http://schemas.microsoft.com/office/drawing/2014/main" id="{F4327071-1646-ABD4-9A45-32213341A187}"/>
              </a:ext>
            </a:extLst>
          </p:cNvPr>
          <p:cNvPicPr>
            <a:picLocks noChangeAspect="1"/>
          </p:cNvPicPr>
          <p:nvPr/>
        </p:nvPicPr>
        <p:blipFill>
          <a:blip r:embed="rId8"/>
          <a:stretch>
            <a:fillRect/>
          </a:stretch>
        </p:blipFill>
        <p:spPr>
          <a:xfrm>
            <a:off x="90155" y="2760411"/>
            <a:ext cx="2480334" cy="770676"/>
          </a:xfrm>
          <a:prstGeom prst="rect">
            <a:avLst/>
          </a:prstGeom>
        </p:spPr>
      </p:pic>
      <p:pic>
        <p:nvPicPr>
          <p:cNvPr id="16" name="Picture 15">
            <a:extLst>
              <a:ext uri="{FF2B5EF4-FFF2-40B4-BE49-F238E27FC236}">
                <a16:creationId xmlns:a16="http://schemas.microsoft.com/office/drawing/2014/main" id="{AB7748D2-52A3-564B-FCD9-20552A8E4841}"/>
              </a:ext>
            </a:extLst>
          </p:cNvPr>
          <p:cNvPicPr>
            <a:picLocks noChangeAspect="1"/>
          </p:cNvPicPr>
          <p:nvPr/>
        </p:nvPicPr>
        <p:blipFill>
          <a:blip r:embed="rId9"/>
          <a:stretch>
            <a:fillRect/>
          </a:stretch>
        </p:blipFill>
        <p:spPr>
          <a:xfrm>
            <a:off x="2805042" y="2931187"/>
            <a:ext cx="6179240" cy="334675"/>
          </a:xfrm>
          <a:prstGeom prst="rect">
            <a:avLst/>
          </a:prstGeom>
        </p:spPr>
      </p:pic>
      <p:pic>
        <p:nvPicPr>
          <p:cNvPr id="18" name="Picture 17">
            <a:extLst>
              <a:ext uri="{FF2B5EF4-FFF2-40B4-BE49-F238E27FC236}">
                <a16:creationId xmlns:a16="http://schemas.microsoft.com/office/drawing/2014/main" id="{71D5D9E5-B021-00EE-1A96-0D28D1EB3202}"/>
              </a:ext>
            </a:extLst>
          </p:cNvPr>
          <p:cNvPicPr>
            <a:picLocks noChangeAspect="1"/>
          </p:cNvPicPr>
          <p:nvPr/>
        </p:nvPicPr>
        <p:blipFill>
          <a:blip r:embed="rId10"/>
          <a:stretch>
            <a:fillRect/>
          </a:stretch>
        </p:blipFill>
        <p:spPr>
          <a:xfrm>
            <a:off x="281217" y="3944905"/>
            <a:ext cx="1819529" cy="1171739"/>
          </a:xfrm>
          <a:prstGeom prst="rect">
            <a:avLst/>
          </a:prstGeom>
        </p:spPr>
      </p:pic>
      <p:pic>
        <p:nvPicPr>
          <p:cNvPr id="20" name="Picture 19">
            <a:extLst>
              <a:ext uri="{FF2B5EF4-FFF2-40B4-BE49-F238E27FC236}">
                <a16:creationId xmlns:a16="http://schemas.microsoft.com/office/drawing/2014/main" id="{AE0EAD69-971B-087C-A188-64C59168AEA9}"/>
              </a:ext>
            </a:extLst>
          </p:cNvPr>
          <p:cNvPicPr>
            <a:picLocks noChangeAspect="1"/>
          </p:cNvPicPr>
          <p:nvPr/>
        </p:nvPicPr>
        <p:blipFill>
          <a:blip r:embed="rId11"/>
          <a:stretch>
            <a:fillRect/>
          </a:stretch>
        </p:blipFill>
        <p:spPr>
          <a:xfrm>
            <a:off x="2706247" y="4339981"/>
            <a:ext cx="6338958" cy="657307"/>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B06FB8B-D986-9FB7-584C-E766DDB80348}"/>
                  </a:ext>
                </a:extLst>
              </p:cNvPr>
              <p:cNvSpPr txBox="1"/>
              <p:nvPr/>
            </p:nvSpPr>
            <p:spPr>
              <a:xfrm>
                <a:off x="4209146" y="3569390"/>
                <a:ext cx="2055243"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𝝆</m:t>
                      </m:r>
                      <m:r>
                        <a:rPr lang="en-US" b="1" i="1" smtClean="0">
                          <a:solidFill>
                            <a:srgbClr val="FF0000"/>
                          </a:solidFill>
                          <a:latin typeface="Cambria Math" panose="02040503050406030204" pitchFamily="18" charset="0"/>
                        </a:rPr>
                        <m:t>=</m:t>
                      </m:r>
                      <m:func>
                        <m:funcPr>
                          <m:ctrlPr>
                            <a:rPr lang="en-US" b="1" i="1" smtClean="0">
                              <a:solidFill>
                                <a:srgbClr val="FF0000"/>
                              </a:solidFill>
                              <a:latin typeface="Cambria Math" panose="02040503050406030204" pitchFamily="18" charset="0"/>
                            </a:rPr>
                          </m:ctrlPr>
                        </m:funcPr>
                        <m:fName>
                          <m:sSup>
                            <m:sSupPr>
                              <m:ctrlPr>
                                <a:rPr lang="en-US" b="1" i="1" smtClean="0">
                                  <a:solidFill>
                                    <a:srgbClr val="FF0000"/>
                                  </a:solidFill>
                                  <a:latin typeface="Cambria Math" panose="02040503050406030204" pitchFamily="18" charset="0"/>
                                </a:rPr>
                              </m:ctrlPr>
                            </m:sSupPr>
                            <m:e>
                              <m:r>
                                <a:rPr lang="en-US" b="1" i="0" smtClean="0">
                                  <a:solidFill>
                                    <a:srgbClr val="FF0000"/>
                                  </a:solidFill>
                                  <a:latin typeface="Cambria Math" panose="02040503050406030204" pitchFamily="18" charset="0"/>
                                </a:rPr>
                                <m:t>𝐬𝐢𝐧</m:t>
                              </m:r>
                            </m:e>
                            <m:sup>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𝟏</m:t>
                              </m:r>
                            </m:sup>
                          </m:sSup>
                        </m:fName>
                        <m:e>
                          <m:d>
                            <m:dPr>
                              <m:ctrlPr>
                                <a:rPr lang="en-US" b="1" i="1" smtClean="0">
                                  <a:solidFill>
                                    <a:srgbClr val="FF0000"/>
                                  </a:solidFill>
                                  <a:latin typeface="Cambria Math" panose="02040503050406030204" pitchFamily="18" charset="0"/>
                                </a:rPr>
                              </m:ctrlPr>
                            </m:dPr>
                            <m:e>
                              <m:f>
                                <m:fPr>
                                  <m:ctrlPr>
                                    <a:rPr lang="en-US" b="1" i="1">
                                      <a:solidFill>
                                        <a:srgbClr val="FF0000"/>
                                      </a:solidFill>
                                      <a:latin typeface="Cambria Math" panose="02040503050406030204" pitchFamily="18" charset="0"/>
                                    </a:rPr>
                                  </m:ctrlPr>
                                </m:fPr>
                                <m:num>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𝑹</m:t>
                                      </m:r>
                                    </m:e>
                                    <m:sub>
                                      <m:r>
                                        <a:rPr lang="en-US" b="1" i="1" smtClean="0">
                                          <a:solidFill>
                                            <a:srgbClr val="FF0000"/>
                                          </a:solidFill>
                                          <a:latin typeface="Cambria Math" panose="02040503050406030204" pitchFamily="18" charset="0"/>
                                        </a:rPr>
                                        <m:t>𝑬</m:t>
                                      </m:r>
                                    </m:sub>
                                  </m:sSub>
                                </m:num>
                                <m:den>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𝑹</m:t>
                                      </m:r>
                                    </m:e>
                                    <m:sub>
                                      <m:r>
                                        <a:rPr lang="en-US" b="1" i="1" smtClean="0">
                                          <a:solidFill>
                                            <a:srgbClr val="FF0000"/>
                                          </a:solidFill>
                                          <a:latin typeface="Cambria Math" panose="02040503050406030204" pitchFamily="18" charset="0"/>
                                        </a:rPr>
                                        <m:t>𝑬</m:t>
                                      </m:r>
                                    </m:sub>
                                  </m:sSub>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𝒉</m:t>
                                  </m:r>
                                </m:den>
                              </m:f>
                            </m:e>
                          </m:d>
                        </m:e>
                      </m:func>
                    </m:oMath>
                  </m:oMathPara>
                </a14:m>
                <a:endParaRPr lang="en-US" b="1" dirty="0">
                  <a:solidFill>
                    <a:srgbClr val="FF0000"/>
                  </a:solidFill>
                </a:endParaRPr>
              </a:p>
            </p:txBody>
          </p:sp>
        </mc:Choice>
        <mc:Fallback xmlns="">
          <p:sp>
            <p:nvSpPr>
              <p:cNvPr id="3" name="TextBox 2">
                <a:extLst>
                  <a:ext uri="{FF2B5EF4-FFF2-40B4-BE49-F238E27FC236}">
                    <a16:creationId xmlns:a16="http://schemas.microsoft.com/office/drawing/2014/main" id="{CB06FB8B-D986-9FB7-584C-E766DDB80348}"/>
                  </a:ext>
                </a:extLst>
              </p:cNvPr>
              <p:cNvSpPr txBox="1">
                <a:spLocks noRot="1" noChangeAspect="1" noMove="1" noResize="1" noEditPoints="1" noAdjustHandles="1" noChangeArrowheads="1" noChangeShapeType="1" noTextEdit="1"/>
              </p:cNvSpPr>
              <p:nvPr/>
            </p:nvSpPr>
            <p:spPr>
              <a:xfrm>
                <a:off x="4209146" y="3569390"/>
                <a:ext cx="2055243" cy="62235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45AA7B3-6FFF-F27E-93A1-B6854C74EE04}"/>
                  </a:ext>
                </a:extLst>
              </p:cNvPr>
              <p:cNvSpPr txBox="1"/>
              <p:nvPr/>
            </p:nvSpPr>
            <p:spPr>
              <a:xfrm>
                <a:off x="6643187" y="3586719"/>
                <a:ext cx="1556773"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𝑻</m:t>
                          </m:r>
                        </m:e>
                        <m:sub>
                          <m:r>
                            <a:rPr lang="en-US" b="1" i="1" smtClean="0">
                              <a:solidFill>
                                <a:srgbClr val="FF0000"/>
                              </a:solidFill>
                              <a:latin typeface="Cambria Math" panose="02040503050406030204" pitchFamily="18" charset="0"/>
                            </a:rPr>
                            <m:t>𝒆</m:t>
                          </m:r>
                        </m:sub>
                      </m:sSub>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𝑷</m:t>
                      </m:r>
                      <m:d>
                        <m:dPr>
                          <m:ctrlPr>
                            <a:rPr lang="en-US" b="1" i="1" smtClean="0">
                              <a:solidFill>
                                <a:srgbClr val="FF0000"/>
                              </a:solidFill>
                              <a:latin typeface="Cambria Math" panose="02040503050406030204" pitchFamily="18" charset="0"/>
                            </a:rPr>
                          </m:ctrlPr>
                        </m:dPr>
                        <m:e>
                          <m:f>
                            <m:fPr>
                              <m:ctrlPr>
                                <a:rPr lang="en-US" b="1" i="1" smtClean="0">
                                  <a:solidFill>
                                    <a:srgbClr val="FF0000"/>
                                  </a:solidFill>
                                  <a:latin typeface="Cambria Math" panose="02040503050406030204" pitchFamily="18" charset="0"/>
                                </a:rPr>
                              </m:ctrlPr>
                            </m:fPr>
                            <m:num>
                              <m:r>
                                <a:rPr lang="en-US" b="1" i="1" smtClean="0">
                                  <a:solidFill>
                                    <a:srgbClr val="FF0000"/>
                                  </a:solidFill>
                                  <a:latin typeface="Cambria Math" panose="02040503050406030204" pitchFamily="18" charset="0"/>
                                </a:rPr>
                                <m:t>𝟐</m:t>
                              </m:r>
                              <m:r>
                                <a:rPr lang="en-US" b="1" i="1" smtClean="0">
                                  <a:solidFill>
                                    <a:srgbClr val="FF0000"/>
                                  </a:solidFill>
                                  <a:latin typeface="Cambria Math" panose="02040503050406030204" pitchFamily="18" charset="0"/>
                                </a:rPr>
                                <m:t>𝝆</m:t>
                              </m:r>
                            </m:num>
                            <m:den>
                              <m:r>
                                <a:rPr lang="en-US" b="1" i="1" smtClean="0">
                                  <a:solidFill>
                                    <a:srgbClr val="FF0000"/>
                                  </a:solidFill>
                                  <a:latin typeface="Cambria Math" panose="02040503050406030204" pitchFamily="18" charset="0"/>
                                </a:rPr>
                                <m:t>𝟑𝟔𝟎</m:t>
                              </m:r>
                              <m:r>
                                <a:rPr lang="en-US" b="1" i="1" smtClean="0">
                                  <a:solidFill>
                                    <a:srgbClr val="FF0000"/>
                                  </a:solidFill>
                                  <a:latin typeface="Cambria Math" panose="02040503050406030204" pitchFamily="18" charset="0"/>
                                  <a:ea typeface="Cambria Math" panose="02040503050406030204" pitchFamily="18" charset="0"/>
                                </a:rPr>
                                <m:t>°</m:t>
                              </m:r>
                            </m:den>
                          </m:f>
                        </m:e>
                      </m:d>
                    </m:oMath>
                  </m:oMathPara>
                </a14:m>
                <a:endParaRPr lang="en-US" b="1" dirty="0">
                  <a:solidFill>
                    <a:srgbClr val="FF0000"/>
                  </a:solidFill>
                </a:endParaRPr>
              </a:p>
            </p:txBody>
          </p:sp>
        </mc:Choice>
        <mc:Fallback xmlns="">
          <p:sp>
            <p:nvSpPr>
              <p:cNvPr id="5" name="TextBox 4">
                <a:extLst>
                  <a:ext uri="{FF2B5EF4-FFF2-40B4-BE49-F238E27FC236}">
                    <a16:creationId xmlns:a16="http://schemas.microsoft.com/office/drawing/2014/main" id="{045AA7B3-6FFF-F27E-93A1-B6854C74EE04}"/>
                  </a:ext>
                </a:extLst>
              </p:cNvPr>
              <p:cNvSpPr txBox="1">
                <a:spLocks noRot="1" noChangeAspect="1" noMove="1" noResize="1" noEditPoints="1" noAdjustHandles="1" noChangeArrowheads="1" noChangeShapeType="1" noTextEdit="1"/>
              </p:cNvSpPr>
              <p:nvPr/>
            </p:nvSpPr>
            <p:spPr>
              <a:xfrm>
                <a:off x="6643187" y="3586719"/>
                <a:ext cx="1556773" cy="622350"/>
              </a:xfrm>
              <a:prstGeom prst="rect">
                <a:avLst/>
              </a:prstGeom>
              <a:blipFill>
                <a:blip r:embed="rId1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916B540-2A3C-57AD-E7A8-D0CEA8A3D288}"/>
              </a:ext>
            </a:extLst>
          </p:cNvPr>
          <p:cNvSpPr txBox="1"/>
          <p:nvPr/>
        </p:nvSpPr>
        <p:spPr>
          <a:xfrm>
            <a:off x="90155" y="969222"/>
            <a:ext cx="2876550" cy="369332"/>
          </a:xfrm>
          <a:prstGeom prst="rect">
            <a:avLst/>
          </a:prstGeom>
          <a:noFill/>
        </p:spPr>
        <p:txBody>
          <a:bodyPr wrap="square">
            <a:spAutoFit/>
          </a:bodyPr>
          <a:lstStyle/>
          <a:p>
            <a:r>
              <a:rPr lang="en-US" b="1" dirty="0">
                <a:solidFill>
                  <a:srgbClr val="00B0F0"/>
                </a:solidFill>
              </a:rPr>
              <a:t>From Dahlke textbook:</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2646BC-D6D1-266D-E841-61799D3FD8D1}"/>
                  </a:ext>
                </a:extLst>
              </p:cNvPr>
              <p:cNvSpPr txBox="1"/>
              <p:nvPr/>
            </p:nvSpPr>
            <p:spPr>
              <a:xfrm>
                <a:off x="3830348" y="3234715"/>
                <a:ext cx="5153934" cy="369332"/>
              </a:xfrm>
              <a:prstGeom prst="rect">
                <a:avLst/>
              </a:prstGeom>
              <a:noFill/>
            </p:spPr>
            <p:txBody>
              <a:bodyPr wrap="square">
                <a:spAutoFit/>
              </a:bodyPr>
              <a:lstStyle/>
              <a:p>
                <a:r>
                  <a:rPr lang="en-US" b="1" dirty="0">
                    <a:solidFill>
                      <a:srgbClr val="FF0000"/>
                    </a:solidFill>
                  </a:rPr>
                  <a:t>Equation sheet defines </a:t>
                </a:r>
                <a14:m>
                  <m:oMath xmlns:m="http://schemas.openxmlformats.org/officeDocument/2006/math">
                    <m:r>
                      <a:rPr lang="en-US" b="1" i="1" smtClean="0">
                        <a:solidFill>
                          <a:srgbClr val="FF0000"/>
                        </a:solidFill>
                        <a:latin typeface="Cambria Math" panose="02040503050406030204" pitchFamily="18" charset="0"/>
                      </a:rPr>
                      <m:t>𝝆</m:t>
                    </m:r>
                  </m:oMath>
                </a14:m>
                <a:r>
                  <a:rPr lang="en-US" b="1" dirty="0">
                    <a:solidFill>
                      <a:srgbClr val="FF0000"/>
                    </a:solidFill>
                  </a:rPr>
                  <a:t> as radius (half angle!)</a:t>
                </a:r>
              </a:p>
            </p:txBody>
          </p:sp>
        </mc:Choice>
        <mc:Fallback xmlns="">
          <p:sp>
            <p:nvSpPr>
              <p:cNvPr id="9" name="TextBox 8">
                <a:extLst>
                  <a:ext uri="{FF2B5EF4-FFF2-40B4-BE49-F238E27FC236}">
                    <a16:creationId xmlns:a16="http://schemas.microsoft.com/office/drawing/2014/main" id="{5B2646BC-D6D1-266D-E841-61799D3FD8D1}"/>
                  </a:ext>
                </a:extLst>
              </p:cNvPr>
              <p:cNvSpPr txBox="1">
                <a:spLocks noRot="1" noChangeAspect="1" noMove="1" noResize="1" noEditPoints="1" noAdjustHandles="1" noChangeArrowheads="1" noChangeShapeType="1" noTextEdit="1"/>
              </p:cNvSpPr>
              <p:nvPr/>
            </p:nvSpPr>
            <p:spPr>
              <a:xfrm>
                <a:off x="3830348" y="3234715"/>
                <a:ext cx="5153934" cy="369332"/>
              </a:xfrm>
              <a:prstGeom prst="rect">
                <a:avLst/>
              </a:prstGeom>
              <a:blipFill>
                <a:blip r:embed="rId14"/>
                <a:stretch>
                  <a:fillRect l="-946" t="-8333" b="-28333"/>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31CC2CBC-3A1B-B47A-6FF0-3AFDDD2872CE}"/>
              </a:ext>
            </a:extLst>
          </p:cNvPr>
          <p:cNvSpPr/>
          <p:nvPr/>
        </p:nvSpPr>
        <p:spPr>
          <a:xfrm>
            <a:off x="3830348" y="3234715"/>
            <a:ext cx="5032435" cy="11052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168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9" grpId="0"/>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127B8-F712-55EB-BD41-2A08BCEE4A0B}"/>
              </a:ext>
            </a:extLst>
          </p:cNvPr>
          <p:cNvSpPr>
            <a:spLocks noGrp="1"/>
          </p:cNvSpPr>
          <p:nvPr>
            <p:ph type="title"/>
          </p:nvPr>
        </p:nvSpPr>
        <p:spPr/>
        <p:txBody>
          <a:bodyPr/>
          <a:lstStyle/>
          <a:p>
            <a:r>
              <a:rPr lang="en-US" dirty="0"/>
              <a:t>Solar Power Profile (I-V Curve)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566857-82A2-9E45-16FB-C55EE802413C}"/>
                  </a:ext>
                </a:extLst>
              </p:cNvPr>
              <p:cNvSpPr>
                <a:spLocks noGrp="1"/>
              </p:cNvSpPr>
              <p:nvPr>
                <p:ph idx="1"/>
              </p:nvPr>
            </p:nvSpPr>
            <p:spPr/>
            <p:txBody>
              <a:bodyPr>
                <a:normAutofit/>
              </a:bodyPr>
              <a:lstStyle/>
              <a:p>
                <a:r>
                  <a:rPr lang="en-US" sz="1600" b="1" dirty="0"/>
                  <a:t>Solar panel I–V curve: </a:t>
                </a:r>
                <a:r>
                  <a:rPr lang="en-US" sz="1600" dirty="0"/>
                  <a:t>describes how much current and voltage a solar cell (or array) can produce under a given illumination.</a:t>
                </a:r>
              </a:p>
              <a:p>
                <a:r>
                  <a:rPr lang="en-US" sz="1600" dirty="0"/>
                  <a:t>Short-Circuit Current (</a:t>
                </a: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𝐼</m:t>
                        </m:r>
                      </m:e>
                      <m:sub>
                        <m:r>
                          <a:rPr lang="en-US" sz="1600" b="0" i="1" dirty="0" smtClean="0">
                            <a:latin typeface="Cambria Math" panose="02040503050406030204" pitchFamily="18" charset="0"/>
                          </a:rPr>
                          <m:t>𝑠𝑐</m:t>
                        </m:r>
                      </m:sub>
                    </m:sSub>
                  </m:oMath>
                </a14:m>
                <a:r>
                  <a:rPr lang="en-US" sz="1600" dirty="0"/>
                  <a:t>)</a:t>
                </a:r>
              </a:p>
              <a:p>
                <a:pPr lvl="1"/>
                <a:r>
                  <a:rPr lang="en-US" sz="1200" dirty="0"/>
                  <a:t>Current when the output is shorted (V = 0). Maximum possible current, proportional to illumination level.</a:t>
                </a:r>
              </a:p>
              <a:p>
                <a:r>
                  <a:rPr lang="en-US" sz="1600" dirty="0"/>
                  <a:t>Open-Circuit Voltage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𝑂𝐶</m:t>
                        </m:r>
                      </m:sub>
                    </m:sSub>
                  </m:oMath>
                </a14:m>
                <a:r>
                  <a:rPr lang="en-US" sz="1600" dirty="0"/>
                  <a:t>)</a:t>
                </a:r>
              </a:p>
              <a:p>
                <a:pPr lvl="1"/>
                <a:r>
                  <a:rPr lang="en-US" sz="1200" dirty="0"/>
                  <a:t>Voltage when no current flows (I = 0). Maximum voltage the cell can produce, depends on material and temperature.</a:t>
                </a:r>
              </a:p>
              <a:p>
                <a:r>
                  <a:rPr lang="en-US" sz="1600" dirty="0"/>
                  <a:t>Knee / Maximum Power Point (MPP)</a:t>
                </a:r>
              </a:p>
              <a:p>
                <a:pPr lvl="1"/>
                <a:r>
                  <a:rPr lang="en-US" sz="1200" dirty="0"/>
                  <a:t>The point on the curve where the product </a:t>
                </a:r>
                <a14:m>
                  <m:oMath xmlns:m="http://schemas.openxmlformats.org/officeDocument/2006/math">
                    <m:r>
                      <a:rPr lang="en-US" sz="1200" b="0" i="1" smtClean="0">
                        <a:latin typeface="Cambria Math" panose="02040503050406030204" pitchFamily="18" charset="0"/>
                      </a:rPr>
                      <m:t>𝑃</m:t>
                    </m:r>
                    <m:r>
                      <a:rPr lang="en-US" sz="1200" b="0" i="1" smtClean="0">
                        <a:latin typeface="Cambria Math" panose="02040503050406030204" pitchFamily="18" charset="0"/>
                      </a:rPr>
                      <m:t>=</m:t>
                    </m:r>
                    <m:r>
                      <a:rPr lang="en-US" sz="1200" b="0" i="1" smtClean="0">
                        <a:latin typeface="Cambria Math" panose="02040503050406030204" pitchFamily="18" charset="0"/>
                      </a:rPr>
                      <m:t>𝐼𝑉</m:t>
                    </m:r>
                  </m:oMath>
                </a14:m>
                <a:r>
                  <a:rPr lang="en-US" sz="1200" dirty="0"/>
                  <a:t> is maximum. Solar panels and spacecraft EPS are designed to operate near this point using Maximum Power Point Tracking (MPPT).</a:t>
                </a:r>
              </a:p>
            </p:txBody>
          </p:sp>
        </mc:Choice>
        <mc:Fallback xmlns="">
          <p:sp>
            <p:nvSpPr>
              <p:cNvPr id="3" name="Content Placeholder 2">
                <a:extLst>
                  <a:ext uri="{FF2B5EF4-FFF2-40B4-BE49-F238E27FC236}">
                    <a16:creationId xmlns:a16="http://schemas.microsoft.com/office/drawing/2014/main" id="{D7566857-82A2-9E45-16FB-C55EE802413C}"/>
                  </a:ext>
                </a:extLst>
              </p:cNvPr>
              <p:cNvSpPr>
                <a:spLocks noGrp="1" noRot="1" noChangeAspect="1" noMove="1" noResize="1" noEditPoints="1" noAdjustHandles="1" noChangeArrowheads="1" noChangeShapeType="1" noTextEdit="1"/>
              </p:cNvSpPr>
              <p:nvPr>
                <p:ph idx="1"/>
              </p:nvPr>
            </p:nvSpPr>
            <p:spPr>
              <a:blipFill>
                <a:blip r:embed="rId3"/>
                <a:stretch>
                  <a:fillRect l="-277" t="-93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A19F994-4651-14D0-502A-50075F982B75}"/>
              </a:ext>
            </a:extLst>
          </p:cNvPr>
          <p:cNvSpPr>
            <a:spLocks noGrp="1"/>
          </p:cNvSpPr>
          <p:nvPr>
            <p:ph type="sldNum" sz="quarter" idx="12"/>
          </p:nvPr>
        </p:nvSpPr>
        <p:spPr/>
        <p:txBody>
          <a:bodyPr/>
          <a:lstStyle/>
          <a:p>
            <a:fld id="{9A3029B7-FE6B-4680-9049-80E8298A0825}" type="slidenum">
              <a:rPr lang="en-US" smtClean="0"/>
              <a:t>12</a:t>
            </a:fld>
            <a:endParaRPr lang="en-US"/>
          </a:p>
        </p:txBody>
      </p:sp>
      <p:pic>
        <p:nvPicPr>
          <p:cNvPr id="5" name="Picture 4" descr="A diagram of a solar cell&#10;&#10;Description automatically generated">
            <a:extLst>
              <a:ext uri="{FF2B5EF4-FFF2-40B4-BE49-F238E27FC236}">
                <a16:creationId xmlns:a16="http://schemas.microsoft.com/office/drawing/2014/main" id="{36EE84E3-6706-39F6-2CFB-36E03E02D288}"/>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0025" y="3475679"/>
            <a:ext cx="5228460" cy="3171989"/>
          </a:xfrm>
          <a:prstGeom prst="rect">
            <a:avLst/>
          </a:prstGeom>
        </p:spPr>
      </p:pic>
      <p:pic>
        <p:nvPicPr>
          <p:cNvPr id="8" name="Picture 7">
            <a:extLst>
              <a:ext uri="{FF2B5EF4-FFF2-40B4-BE49-F238E27FC236}">
                <a16:creationId xmlns:a16="http://schemas.microsoft.com/office/drawing/2014/main" id="{D1159D53-2E61-1A47-2394-6AC2DE672306}"/>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146001" y="3777295"/>
            <a:ext cx="3607665" cy="2870373"/>
          </a:xfrm>
          <a:prstGeom prst="rect">
            <a:avLst/>
          </a:prstGeom>
        </p:spPr>
      </p:pic>
      <p:sp>
        <p:nvSpPr>
          <p:cNvPr id="10" name="TextBox 9">
            <a:extLst>
              <a:ext uri="{FF2B5EF4-FFF2-40B4-BE49-F238E27FC236}">
                <a16:creationId xmlns:a16="http://schemas.microsoft.com/office/drawing/2014/main" id="{98AAF7A2-2548-95BC-CAEA-042A3B8C7F38}"/>
              </a:ext>
            </a:extLst>
          </p:cNvPr>
          <p:cNvSpPr txBox="1"/>
          <p:nvPr/>
        </p:nvSpPr>
        <p:spPr>
          <a:xfrm>
            <a:off x="4236125" y="4244459"/>
            <a:ext cx="670502" cy="307777"/>
          </a:xfrm>
          <a:prstGeom prst="rect">
            <a:avLst/>
          </a:prstGeom>
          <a:noFill/>
        </p:spPr>
        <p:txBody>
          <a:bodyPr wrap="square">
            <a:spAutoFit/>
          </a:bodyPr>
          <a:lstStyle/>
          <a:p>
            <a:r>
              <a:rPr lang="en-US" sz="1400" b="1" dirty="0"/>
              <a:t>(MPP)</a:t>
            </a:r>
          </a:p>
        </p:txBody>
      </p:sp>
      <p:sp>
        <p:nvSpPr>
          <p:cNvPr id="11" name="TextBox 10">
            <a:extLst>
              <a:ext uri="{FF2B5EF4-FFF2-40B4-BE49-F238E27FC236}">
                <a16:creationId xmlns:a16="http://schemas.microsoft.com/office/drawing/2014/main" id="{740EED69-3D2A-89B9-A6A5-3E485CEF61FB}"/>
              </a:ext>
            </a:extLst>
          </p:cNvPr>
          <p:cNvSpPr txBox="1"/>
          <p:nvPr/>
        </p:nvSpPr>
        <p:spPr>
          <a:xfrm>
            <a:off x="6047336" y="5289232"/>
            <a:ext cx="992900" cy="307777"/>
          </a:xfrm>
          <a:prstGeom prst="rect">
            <a:avLst/>
          </a:prstGeom>
          <a:noFill/>
        </p:spPr>
        <p:txBody>
          <a:bodyPr wrap="square">
            <a:spAutoFit/>
          </a:bodyPr>
          <a:lstStyle/>
          <a:p>
            <a:r>
              <a:rPr lang="en-US" sz="1400" b="1" dirty="0">
                <a:solidFill>
                  <a:srgbClr val="00B0F0"/>
                </a:solidFill>
              </a:rPr>
              <a:t>Real data</a:t>
            </a:r>
          </a:p>
        </p:txBody>
      </p:sp>
      <p:sp>
        <p:nvSpPr>
          <p:cNvPr id="12" name="TextBox 11">
            <a:extLst>
              <a:ext uri="{FF2B5EF4-FFF2-40B4-BE49-F238E27FC236}">
                <a16:creationId xmlns:a16="http://schemas.microsoft.com/office/drawing/2014/main" id="{FC026484-1363-49FD-2497-180DBBBE5C20}"/>
              </a:ext>
            </a:extLst>
          </p:cNvPr>
          <p:cNvSpPr txBox="1"/>
          <p:nvPr/>
        </p:nvSpPr>
        <p:spPr>
          <a:xfrm>
            <a:off x="1878616" y="5058592"/>
            <a:ext cx="992900" cy="307777"/>
          </a:xfrm>
          <a:prstGeom prst="rect">
            <a:avLst/>
          </a:prstGeom>
          <a:noFill/>
        </p:spPr>
        <p:txBody>
          <a:bodyPr wrap="square">
            <a:spAutoFit/>
          </a:bodyPr>
          <a:lstStyle/>
          <a:p>
            <a:r>
              <a:rPr lang="en-US" sz="1400" b="1" dirty="0">
                <a:solidFill>
                  <a:srgbClr val="00B0F0"/>
                </a:solidFill>
              </a:rPr>
              <a:t>Ideal</a:t>
            </a:r>
          </a:p>
        </p:txBody>
      </p:sp>
    </p:spTree>
    <p:extLst>
      <p:ext uri="{BB962C8B-B14F-4D97-AF65-F5344CB8AC3E}">
        <p14:creationId xmlns:p14="http://schemas.microsoft.com/office/powerpoint/2010/main" val="1803959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4A43F-DA55-A7A4-14A1-249E5FD98F9C}"/>
              </a:ext>
            </a:extLst>
          </p:cNvPr>
          <p:cNvSpPr>
            <a:spLocks noGrp="1"/>
          </p:cNvSpPr>
          <p:nvPr>
            <p:ph type="title"/>
          </p:nvPr>
        </p:nvSpPr>
        <p:spPr/>
        <p:txBody>
          <a:bodyPr/>
          <a:lstStyle/>
          <a:p>
            <a:r>
              <a:rPr lang="en-US" dirty="0"/>
              <a:t>Maximum Power Point Tracking (MPPT)</a:t>
            </a:r>
          </a:p>
        </p:txBody>
      </p:sp>
      <p:sp>
        <p:nvSpPr>
          <p:cNvPr id="3" name="Content Placeholder 2">
            <a:extLst>
              <a:ext uri="{FF2B5EF4-FFF2-40B4-BE49-F238E27FC236}">
                <a16:creationId xmlns:a16="http://schemas.microsoft.com/office/drawing/2014/main" id="{1DDC34FB-5493-02EF-52CB-817FE137B2E0}"/>
              </a:ext>
            </a:extLst>
          </p:cNvPr>
          <p:cNvSpPr>
            <a:spLocks noGrp="1"/>
          </p:cNvSpPr>
          <p:nvPr>
            <p:ph idx="1"/>
          </p:nvPr>
        </p:nvSpPr>
        <p:spPr/>
        <p:txBody>
          <a:bodyPr>
            <a:normAutofit/>
          </a:bodyPr>
          <a:lstStyle/>
          <a:p>
            <a:pPr>
              <a:spcAft>
                <a:spcPts val="600"/>
              </a:spcAft>
            </a:pPr>
            <a:r>
              <a:rPr lang="en-US" sz="2000" dirty="0"/>
              <a:t>Method to ensure that solar arrays always operate at their maximum power point (MPP) on the I–V curve.</a:t>
            </a:r>
          </a:p>
          <a:p>
            <a:pPr lvl="1">
              <a:spcAft>
                <a:spcPts val="600"/>
              </a:spcAft>
            </a:pPr>
            <a:r>
              <a:rPr lang="en-US" sz="2000" dirty="0"/>
              <a:t>Continuously adjusts the load seen by the solar array to keep it operating near the knee of the I–V curve.</a:t>
            </a:r>
          </a:p>
          <a:p>
            <a:pPr lvl="1">
              <a:spcAft>
                <a:spcPts val="600"/>
              </a:spcAft>
            </a:pPr>
            <a:r>
              <a:rPr lang="en-US" sz="2000" dirty="0"/>
              <a:t>Maximizes efficiency</a:t>
            </a:r>
          </a:p>
        </p:txBody>
      </p:sp>
      <p:sp>
        <p:nvSpPr>
          <p:cNvPr id="4" name="Slide Number Placeholder 3">
            <a:extLst>
              <a:ext uri="{FF2B5EF4-FFF2-40B4-BE49-F238E27FC236}">
                <a16:creationId xmlns:a16="http://schemas.microsoft.com/office/drawing/2014/main" id="{BBC5FC70-F901-D941-D920-C631E48DD13F}"/>
              </a:ext>
            </a:extLst>
          </p:cNvPr>
          <p:cNvSpPr>
            <a:spLocks noGrp="1"/>
          </p:cNvSpPr>
          <p:nvPr>
            <p:ph type="sldNum" sz="quarter" idx="12"/>
          </p:nvPr>
        </p:nvSpPr>
        <p:spPr/>
        <p:txBody>
          <a:bodyPr/>
          <a:lstStyle/>
          <a:p>
            <a:fld id="{9A3029B7-FE6B-4680-9049-80E8298A0825}" type="slidenum">
              <a:rPr lang="en-US" smtClean="0"/>
              <a:t>13</a:t>
            </a:fld>
            <a:endParaRPr lang="en-US"/>
          </a:p>
        </p:txBody>
      </p:sp>
      <p:sp>
        <p:nvSpPr>
          <p:cNvPr id="5" name="AutoShape 2" descr="MPPT Solar Charge Controllers Explained — Clean Energy Reviews">
            <a:extLst>
              <a:ext uri="{FF2B5EF4-FFF2-40B4-BE49-F238E27FC236}">
                <a16:creationId xmlns:a16="http://schemas.microsoft.com/office/drawing/2014/main" id="{474F13D0-775E-B519-F405-E604EE13218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id="{27D5EFF6-A042-1B78-9CBC-2C20B81F255F}"/>
              </a:ext>
            </a:extLst>
          </p:cNvPr>
          <p:cNvGrpSpPr/>
          <p:nvPr/>
        </p:nvGrpSpPr>
        <p:grpSpPr>
          <a:xfrm>
            <a:off x="554052" y="2832798"/>
            <a:ext cx="8340696" cy="3756688"/>
            <a:chOff x="0" y="1364343"/>
            <a:chExt cx="9144000" cy="4118498"/>
          </a:xfrm>
        </p:grpSpPr>
        <p:pic>
          <p:nvPicPr>
            <p:cNvPr id="8" name="Picture 7">
              <a:extLst>
                <a:ext uri="{FF2B5EF4-FFF2-40B4-BE49-F238E27FC236}">
                  <a16:creationId xmlns:a16="http://schemas.microsoft.com/office/drawing/2014/main" id="{5D7A6D2B-1B1F-6896-CD0F-12408BBAB03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375158"/>
              <a:ext cx="9144000" cy="4107683"/>
            </a:xfrm>
            <a:prstGeom prst="rect">
              <a:avLst/>
            </a:prstGeom>
          </p:spPr>
        </p:pic>
        <p:sp>
          <p:nvSpPr>
            <p:cNvPr id="9" name="Rectangle 8">
              <a:extLst>
                <a:ext uri="{FF2B5EF4-FFF2-40B4-BE49-F238E27FC236}">
                  <a16:creationId xmlns:a16="http://schemas.microsoft.com/office/drawing/2014/main" id="{58C7622E-BE0D-7D93-AF33-904CE63249D5}"/>
                </a:ext>
              </a:extLst>
            </p:cNvPr>
            <p:cNvSpPr/>
            <p:nvPr/>
          </p:nvSpPr>
          <p:spPr>
            <a:xfrm>
              <a:off x="8229600" y="1364343"/>
              <a:ext cx="914400" cy="4789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FD38DC4-CE76-3CDC-5A90-A12C3E3F145F}"/>
                  </a:ext>
                </a:extLst>
              </p:cNvPr>
              <p:cNvSpPr txBox="1"/>
              <p:nvPr/>
            </p:nvSpPr>
            <p:spPr>
              <a:xfrm>
                <a:off x="6653793" y="2529297"/>
                <a:ext cx="141514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𝑉</m:t>
                      </m:r>
                      <m:r>
                        <a:rPr lang="en-US" sz="3600" b="0" i="1" smtClean="0">
                          <a:latin typeface="Cambria Math" panose="02040503050406030204" pitchFamily="18" charset="0"/>
                        </a:rPr>
                        <m:t>=</m:t>
                      </m:r>
                      <m:r>
                        <a:rPr lang="en-US" sz="3600" b="0" i="1" smtClean="0">
                          <a:latin typeface="Cambria Math" panose="02040503050406030204" pitchFamily="18" charset="0"/>
                        </a:rPr>
                        <m:t>𝐼𝑅</m:t>
                      </m:r>
                    </m:oMath>
                  </m:oMathPara>
                </a14:m>
                <a:endParaRPr lang="en-US" sz="3600" dirty="0"/>
              </a:p>
            </p:txBody>
          </p:sp>
        </mc:Choice>
        <mc:Fallback xmlns="">
          <p:sp>
            <p:nvSpPr>
              <p:cNvPr id="11" name="TextBox 10">
                <a:extLst>
                  <a:ext uri="{FF2B5EF4-FFF2-40B4-BE49-F238E27FC236}">
                    <a16:creationId xmlns:a16="http://schemas.microsoft.com/office/drawing/2014/main" id="{1FD38DC4-CE76-3CDC-5A90-A12C3E3F145F}"/>
                  </a:ext>
                </a:extLst>
              </p:cNvPr>
              <p:cNvSpPr txBox="1">
                <a:spLocks noRot="1" noChangeAspect="1" noMove="1" noResize="1" noEditPoints="1" noAdjustHandles="1" noChangeArrowheads="1" noChangeShapeType="1" noTextEdit="1"/>
              </p:cNvSpPr>
              <p:nvPr/>
            </p:nvSpPr>
            <p:spPr>
              <a:xfrm>
                <a:off x="6653793" y="2529297"/>
                <a:ext cx="1415143" cy="55399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24283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2DC28-6336-8E50-194D-68272C7C8E11}"/>
              </a:ext>
            </a:extLst>
          </p:cNvPr>
          <p:cNvSpPr>
            <a:spLocks noGrp="1"/>
          </p:cNvSpPr>
          <p:nvPr>
            <p:ph type="title"/>
          </p:nvPr>
        </p:nvSpPr>
        <p:spPr/>
        <p:txBody>
          <a:bodyPr/>
          <a:lstStyle/>
          <a:p>
            <a:r>
              <a:rPr lang="en-US" dirty="0"/>
              <a:t>Batteries</a:t>
            </a:r>
          </a:p>
        </p:txBody>
      </p:sp>
      <p:sp>
        <p:nvSpPr>
          <p:cNvPr id="3" name="Content Placeholder 2">
            <a:extLst>
              <a:ext uri="{FF2B5EF4-FFF2-40B4-BE49-F238E27FC236}">
                <a16:creationId xmlns:a16="http://schemas.microsoft.com/office/drawing/2014/main" id="{E861C0EF-9170-B3C0-35AD-504CC0546C61}"/>
              </a:ext>
            </a:extLst>
          </p:cNvPr>
          <p:cNvSpPr>
            <a:spLocks noGrp="1"/>
          </p:cNvSpPr>
          <p:nvPr>
            <p:ph idx="1"/>
          </p:nvPr>
        </p:nvSpPr>
        <p:spPr/>
        <p:txBody>
          <a:bodyPr>
            <a:noAutofit/>
          </a:bodyPr>
          <a:lstStyle/>
          <a:p>
            <a:r>
              <a:rPr lang="en-US" sz="1800" b="1" dirty="0"/>
              <a:t>Primary</a:t>
            </a:r>
            <a:r>
              <a:rPr lang="en-US" sz="1800" dirty="0"/>
              <a:t> - not rechargeable, high energy densities vs. secondary. Types:</a:t>
            </a:r>
          </a:p>
          <a:p>
            <a:pPr lvl="2"/>
            <a:r>
              <a:rPr lang="en-US" sz="1800" dirty="0"/>
              <a:t>Lithium thionyl chloride</a:t>
            </a:r>
          </a:p>
          <a:p>
            <a:pPr lvl="2"/>
            <a:r>
              <a:rPr lang="en-US" sz="1800" dirty="0"/>
              <a:t>Lithium sulfur dioxide</a:t>
            </a:r>
          </a:p>
          <a:p>
            <a:r>
              <a:rPr lang="en-US" sz="1800" b="1" dirty="0"/>
              <a:t>Secondary</a:t>
            </a:r>
            <a:r>
              <a:rPr lang="en-US" sz="1800" dirty="0"/>
              <a:t> – rechargeable, used for power during eclipses &amp; peak power load situations. Types:</a:t>
            </a:r>
          </a:p>
          <a:p>
            <a:pPr lvl="1"/>
            <a:r>
              <a:rPr lang="en-US" sz="1800" dirty="0"/>
              <a:t>Nickel-Cadmium (NiCd) – older technology, popular, poor cycle life (few 1000 cycles)</a:t>
            </a:r>
          </a:p>
          <a:p>
            <a:pPr lvl="1"/>
            <a:r>
              <a:rPr lang="en-US" sz="1800" dirty="0"/>
              <a:t>Nickel-hydrogen (</a:t>
            </a:r>
            <a:r>
              <a:rPr lang="en-US" sz="1800" dirty="0" err="1"/>
              <a:t>NiH</a:t>
            </a:r>
            <a:r>
              <a:rPr lang="en-US" sz="1800" dirty="0"/>
              <a:t>₂)  – higher energy density and some better cycle life (~40,000 cycles)</a:t>
            </a:r>
          </a:p>
          <a:p>
            <a:pPr lvl="1"/>
            <a:r>
              <a:rPr lang="en-US" sz="1800" dirty="0"/>
              <a:t>Silver-zinc (Ag-Zn) – high energy density, lower cycle life (~100’s cycles)</a:t>
            </a:r>
          </a:p>
          <a:p>
            <a:pPr lvl="1"/>
            <a:r>
              <a:rPr lang="en-US" sz="1800" b="1" dirty="0"/>
              <a:t>Lithium Ion (Li-ion) </a:t>
            </a:r>
            <a:r>
              <a:rPr lang="en-US" sz="1800" dirty="0"/>
              <a:t>– high energy density, better cycle life (~1000-70000 cycles)</a:t>
            </a:r>
          </a:p>
          <a:p>
            <a:pPr lvl="1"/>
            <a:endParaRPr lang="en-US" sz="1800" dirty="0"/>
          </a:p>
          <a:p>
            <a:pPr marL="0" indent="0">
              <a:buNone/>
            </a:pPr>
            <a:endParaRPr lang="en-US" sz="1800" dirty="0"/>
          </a:p>
          <a:p>
            <a:endParaRPr lang="en-US" sz="1800" dirty="0"/>
          </a:p>
        </p:txBody>
      </p:sp>
      <p:sp>
        <p:nvSpPr>
          <p:cNvPr id="4" name="Slide Number Placeholder 3">
            <a:extLst>
              <a:ext uri="{FF2B5EF4-FFF2-40B4-BE49-F238E27FC236}">
                <a16:creationId xmlns:a16="http://schemas.microsoft.com/office/drawing/2014/main" id="{2EAF4DA6-6313-9366-5246-551C6DA9C134}"/>
              </a:ext>
            </a:extLst>
          </p:cNvPr>
          <p:cNvSpPr>
            <a:spLocks noGrp="1"/>
          </p:cNvSpPr>
          <p:nvPr>
            <p:ph type="sldNum" sz="quarter" idx="12"/>
          </p:nvPr>
        </p:nvSpPr>
        <p:spPr/>
        <p:txBody>
          <a:bodyPr/>
          <a:lstStyle/>
          <a:p>
            <a:fld id="{9A3029B7-FE6B-4680-9049-80E8298A0825}" type="slidenum">
              <a:rPr lang="en-US" smtClean="0"/>
              <a:t>14</a:t>
            </a:fld>
            <a:endParaRPr lang="en-US"/>
          </a:p>
        </p:txBody>
      </p:sp>
      <p:pic>
        <p:nvPicPr>
          <p:cNvPr id="6" name="Picture 5">
            <a:extLst>
              <a:ext uri="{FF2B5EF4-FFF2-40B4-BE49-F238E27FC236}">
                <a16:creationId xmlns:a16="http://schemas.microsoft.com/office/drawing/2014/main" id="{FBE85286-B032-828C-5A4D-7130847358F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312348" y="4602755"/>
            <a:ext cx="2683326" cy="2029026"/>
          </a:xfrm>
          <a:prstGeom prst="rect">
            <a:avLst/>
          </a:prstGeom>
        </p:spPr>
      </p:pic>
      <p:pic>
        <p:nvPicPr>
          <p:cNvPr id="10242" name="Picture 2" descr="Li-ion Voltage Analysis">
            <a:extLst>
              <a:ext uri="{FF2B5EF4-FFF2-40B4-BE49-F238E27FC236}">
                <a16:creationId xmlns:a16="http://schemas.microsoft.com/office/drawing/2014/main" id="{9F00EB3E-372D-A52D-62CD-244EE75FB0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6555" y="4404307"/>
            <a:ext cx="3456768" cy="24259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C88B1B2-7BC3-DB6D-461D-30792608EB58}"/>
              </a:ext>
            </a:extLst>
          </p:cNvPr>
          <p:cNvSpPr txBox="1"/>
          <p:nvPr/>
        </p:nvSpPr>
        <p:spPr>
          <a:xfrm>
            <a:off x="2646091" y="5617268"/>
            <a:ext cx="1974505" cy="369332"/>
          </a:xfrm>
          <a:prstGeom prst="rect">
            <a:avLst/>
          </a:prstGeom>
          <a:noFill/>
        </p:spPr>
        <p:txBody>
          <a:bodyPr wrap="square">
            <a:spAutoFit/>
          </a:bodyPr>
          <a:lstStyle/>
          <a:p>
            <a:pPr marL="0" indent="0">
              <a:buNone/>
            </a:pPr>
            <a:r>
              <a:rPr lang="en-US" sz="1800" b="1" dirty="0">
                <a:solidFill>
                  <a:srgbClr val="00B0F0"/>
                </a:solidFill>
              </a:rPr>
              <a:t>Discharge curve</a:t>
            </a:r>
          </a:p>
        </p:txBody>
      </p:sp>
      <p:sp>
        <p:nvSpPr>
          <p:cNvPr id="9" name="TextBox 8">
            <a:extLst>
              <a:ext uri="{FF2B5EF4-FFF2-40B4-BE49-F238E27FC236}">
                <a16:creationId xmlns:a16="http://schemas.microsoft.com/office/drawing/2014/main" id="{D6EB6799-3059-6112-FBE9-886833BC2230}"/>
              </a:ext>
            </a:extLst>
          </p:cNvPr>
          <p:cNvSpPr txBox="1"/>
          <p:nvPr/>
        </p:nvSpPr>
        <p:spPr>
          <a:xfrm>
            <a:off x="6399966" y="6095773"/>
            <a:ext cx="1974505" cy="369332"/>
          </a:xfrm>
          <a:prstGeom prst="rect">
            <a:avLst/>
          </a:prstGeom>
          <a:noFill/>
        </p:spPr>
        <p:txBody>
          <a:bodyPr wrap="square">
            <a:spAutoFit/>
          </a:bodyPr>
          <a:lstStyle/>
          <a:p>
            <a:pPr marL="0" indent="0">
              <a:buNone/>
            </a:pPr>
            <a:r>
              <a:rPr lang="en-US" sz="1800" b="1" dirty="0">
                <a:solidFill>
                  <a:srgbClr val="00B0F0"/>
                </a:solidFill>
              </a:rPr>
              <a:t>Li-Ion 18650 Cell</a:t>
            </a:r>
          </a:p>
        </p:txBody>
      </p:sp>
    </p:spTree>
    <p:extLst>
      <p:ext uri="{BB962C8B-B14F-4D97-AF65-F5344CB8AC3E}">
        <p14:creationId xmlns:p14="http://schemas.microsoft.com/office/powerpoint/2010/main" val="1825048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CD28C-1217-1CFB-25B7-EA0D5BC050F7}"/>
              </a:ext>
            </a:extLst>
          </p:cNvPr>
          <p:cNvSpPr>
            <a:spLocks noGrp="1"/>
          </p:cNvSpPr>
          <p:nvPr>
            <p:ph type="title"/>
          </p:nvPr>
        </p:nvSpPr>
        <p:spPr/>
        <p:txBody>
          <a:bodyPr/>
          <a:lstStyle/>
          <a:p>
            <a:r>
              <a:rPr lang="en-US" dirty="0"/>
              <a:t>Battery Comparison</a:t>
            </a:r>
          </a:p>
        </p:txBody>
      </p:sp>
      <p:graphicFrame>
        <p:nvGraphicFramePr>
          <p:cNvPr id="5" name="Content Placeholder 4">
            <a:extLst>
              <a:ext uri="{FF2B5EF4-FFF2-40B4-BE49-F238E27FC236}">
                <a16:creationId xmlns:a16="http://schemas.microsoft.com/office/drawing/2014/main" id="{84721A9D-1837-2339-8EB3-AB042940CF78}"/>
              </a:ext>
            </a:extLst>
          </p:cNvPr>
          <p:cNvGraphicFramePr>
            <a:graphicFrameLocks noGrp="1"/>
          </p:cNvGraphicFramePr>
          <p:nvPr>
            <p:ph idx="1"/>
            <p:extLst>
              <p:ext uri="{D42A27DB-BD31-4B8C-83A1-F6EECF244321}">
                <p14:modId xmlns:p14="http://schemas.microsoft.com/office/powerpoint/2010/main" val="3324098467"/>
              </p:ext>
            </p:extLst>
          </p:nvPr>
        </p:nvGraphicFramePr>
        <p:xfrm>
          <a:off x="266700" y="1066222"/>
          <a:ext cx="8610600" cy="5581446"/>
        </p:xfrm>
        <a:graphic>
          <a:graphicData uri="http://schemas.openxmlformats.org/drawingml/2006/table">
            <a:tbl>
              <a:tblPr>
                <a:tableStyleId>{616DA210-FB5B-4158-B5E0-FEB733F419BA}</a:tableStyleId>
              </a:tblPr>
              <a:tblGrid>
                <a:gridCol w="1435100">
                  <a:extLst>
                    <a:ext uri="{9D8B030D-6E8A-4147-A177-3AD203B41FA5}">
                      <a16:colId xmlns:a16="http://schemas.microsoft.com/office/drawing/2014/main" val="3683304871"/>
                    </a:ext>
                  </a:extLst>
                </a:gridCol>
                <a:gridCol w="1435100">
                  <a:extLst>
                    <a:ext uri="{9D8B030D-6E8A-4147-A177-3AD203B41FA5}">
                      <a16:colId xmlns:a16="http://schemas.microsoft.com/office/drawing/2014/main" val="709599865"/>
                    </a:ext>
                  </a:extLst>
                </a:gridCol>
                <a:gridCol w="1435100">
                  <a:extLst>
                    <a:ext uri="{9D8B030D-6E8A-4147-A177-3AD203B41FA5}">
                      <a16:colId xmlns:a16="http://schemas.microsoft.com/office/drawing/2014/main" val="4114278352"/>
                    </a:ext>
                  </a:extLst>
                </a:gridCol>
                <a:gridCol w="1435100">
                  <a:extLst>
                    <a:ext uri="{9D8B030D-6E8A-4147-A177-3AD203B41FA5}">
                      <a16:colId xmlns:a16="http://schemas.microsoft.com/office/drawing/2014/main" val="3318676053"/>
                    </a:ext>
                  </a:extLst>
                </a:gridCol>
                <a:gridCol w="1435100">
                  <a:extLst>
                    <a:ext uri="{9D8B030D-6E8A-4147-A177-3AD203B41FA5}">
                      <a16:colId xmlns:a16="http://schemas.microsoft.com/office/drawing/2014/main" val="1062332657"/>
                    </a:ext>
                  </a:extLst>
                </a:gridCol>
                <a:gridCol w="1435100">
                  <a:extLst>
                    <a:ext uri="{9D8B030D-6E8A-4147-A177-3AD203B41FA5}">
                      <a16:colId xmlns:a16="http://schemas.microsoft.com/office/drawing/2014/main" val="2064369604"/>
                    </a:ext>
                  </a:extLst>
                </a:gridCol>
              </a:tblGrid>
              <a:tr h="299946">
                <a:tc>
                  <a:txBody>
                    <a:bodyPr/>
                    <a:lstStyle/>
                    <a:p>
                      <a:pPr>
                        <a:buNone/>
                      </a:pPr>
                      <a:r>
                        <a:rPr lang="en-US" sz="1600" b="1" dirty="0"/>
                        <a:t>Battery Type</a:t>
                      </a:r>
                    </a:p>
                  </a:txBody>
                  <a:tcPr marL="42849" marR="42849" marT="21425" marB="21425" anchor="ctr">
                    <a:solidFill>
                      <a:schemeClr val="bg2">
                        <a:lumMod val="90000"/>
                      </a:schemeClr>
                    </a:solidFill>
                  </a:tcPr>
                </a:tc>
                <a:tc>
                  <a:txBody>
                    <a:bodyPr/>
                    <a:lstStyle/>
                    <a:p>
                      <a:pPr>
                        <a:buNone/>
                      </a:pPr>
                      <a:r>
                        <a:rPr lang="en-US" sz="1600" b="1" dirty="0"/>
                        <a:t>Energy Density</a:t>
                      </a:r>
                    </a:p>
                  </a:txBody>
                  <a:tcPr marL="42849" marR="42849" marT="21425" marB="21425" anchor="ctr">
                    <a:solidFill>
                      <a:schemeClr val="bg2">
                        <a:lumMod val="90000"/>
                      </a:schemeClr>
                    </a:solidFill>
                  </a:tcPr>
                </a:tc>
                <a:tc>
                  <a:txBody>
                    <a:bodyPr/>
                    <a:lstStyle/>
                    <a:p>
                      <a:pPr>
                        <a:buNone/>
                      </a:pPr>
                      <a:r>
                        <a:rPr lang="en-US" sz="1600" b="1"/>
                        <a:t>Cycle Life</a:t>
                      </a:r>
                    </a:p>
                  </a:txBody>
                  <a:tcPr marL="42849" marR="42849" marT="21425" marB="21425" anchor="ctr">
                    <a:solidFill>
                      <a:schemeClr val="bg2">
                        <a:lumMod val="90000"/>
                      </a:schemeClr>
                    </a:solidFill>
                  </a:tcPr>
                </a:tc>
                <a:tc>
                  <a:txBody>
                    <a:bodyPr/>
                    <a:lstStyle/>
                    <a:p>
                      <a:pPr>
                        <a:buNone/>
                      </a:pPr>
                      <a:r>
                        <a:rPr lang="en-US" sz="1600" b="1"/>
                        <a:t>Pros</a:t>
                      </a:r>
                    </a:p>
                  </a:txBody>
                  <a:tcPr marL="42849" marR="42849" marT="21425" marB="21425" anchor="ctr">
                    <a:solidFill>
                      <a:schemeClr val="bg2">
                        <a:lumMod val="90000"/>
                      </a:schemeClr>
                    </a:solidFill>
                  </a:tcPr>
                </a:tc>
                <a:tc>
                  <a:txBody>
                    <a:bodyPr/>
                    <a:lstStyle/>
                    <a:p>
                      <a:pPr>
                        <a:buNone/>
                      </a:pPr>
                      <a:r>
                        <a:rPr lang="en-US" sz="1600" b="1" dirty="0"/>
                        <a:t>Cons</a:t>
                      </a:r>
                    </a:p>
                  </a:txBody>
                  <a:tcPr marL="42849" marR="42849" marT="21425" marB="21425" anchor="ctr">
                    <a:solidFill>
                      <a:schemeClr val="bg2">
                        <a:lumMod val="90000"/>
                      </a:schemeClr>
                    </a:solidFill>
                  </a:tcPr>
                </a:tc>
                <a:tc>
                  <a:txBody>
                    <a:bodyPr/>
                    <a:lstStyle/>
                    <a:p>
                      <a:pPr>
                        <a:buNone/>
                      </a:pPr>
                      <a:r>
                        <a:rPr lang="en-US" sz="1600" b="1" dirty="0"/>
                        <a:t>Spacecraft Examples</a:t>
                      </a:r>
                    </a:p>
                  </a:txBody>
                  <a:tcPr marL="42849" marR="42849" marT="21425" marB="21425" anchor="ctr">
                    <a:solidFill>
                      <a:schemeClr val="bg2">
                        <a:lumMod val="90000"/>
                      </a:schemeClr>
                    </a:solidFill>
                  </a:tcPr>
                </a:tc>
                <a:extLst>
                  <a:ext uri="{0D108BD9-81ED-4DB2-BD59-A6C34878D82A}">
                    <a16:rowId xmlns:a16="http://schemas.microsoft.com/office/drawing/2014/main" val="3884341658"/>
                  </a:ext>
                </a:extLst>
              </a:tr>
              <a:tr h="685592">
                <a:tc>
                  <a:txBody>
                    <a:bodyPr/>
                    <a:lstStyle/>
                    <a:p>
                      <a:pPr>
                        <a:buNone/>
                      </a:pPr>
                      <a:r>
                        <a:rPr lang="en-US" sz="1200" b="1" dirty="0"/>
                        <a:t>Nickel-Cadmium (NiCd)</a:t>
                      </a:r>
                      <a:endParaRPr lang="en-US" sz="1200" dirty="0"/>
                    </a:p>
                  </a:txBody>
                  <a:tcPr marL="42849" marR="42849" marT="21425" marB="21425" anchor="ctr"/>
                </a:tc>
                <a:tc>
                  <a:txBody>
                    <a:bodyPr/>
                    <a:lstStyle/>
                    <a:p>
                      <a:pPr>
                        <a:buNone/>
                      </a:pPr>
                      <a:r>
                        <a:rPr lang="en-US" sz="1200"/>
                        <a:t>Low (~40–60 Wh/kg)</a:t>
                      </a:r>
                    </a:p>
                  </a:txBody>
                  <a:tcPr marL="42849" marR="42849" marT="21425" marB="21425" anchor="ctr"/>
                </a:tc>
                <a:tc>
                  <a:txBody>
                    <a:bodyPr/>
                    <a:lstStyle/>
                    <a:p>
                      <a:pPr>
                        <a:buNone/>
                      </a:pPr>
                      <a:r>
                        <a:rPr lang="en-US" sz="1200"/>
                        <a:t>Moderate (500–1000 cycles)</a:t>
                      </a:r>
                    </a:p>
                  </a:txBody>
                  <a:tcPr marL="42849" marR="42849" marT="21425" marB="21425" anchor="ctr"/>
                </a:tc>
                <a:tc>
                  <a:txBody>
                    <a:bodyPr/>
                    <a:lstStyle/>
                    <a:p>
                      <a:pPr>
                        <a:buNone/>
                      </a:pPr>
                      <a:r>
                        <a:rPr lang="en-US" sz="1200"/>
                        <a:t>Simple, robust, tolerant of abuse</a:t>
                      </a:r>
                    </a:p>
                  </a:txBody>
                  <a:tcPr marL="42849" marR="42849" marT="21425" marB="21425" anchor="ctr"/>
                </a:tc>
                <a:tc>
                  <a:txBody>
                    <a:bodyPr/>
                    <a:lstStyle/>
                    <a:p>
                      <a:pPr>
                        <a:buNone/>
                      </a:pPr>
                      <a:r>
                        <a:rPr lang="en-US" sz="1200"/>
                        <a:t>Memory effect, heavy, limited lifetime</a:t>
                      </a:r>
                    </a:p>
                  </a:txBody>
                  <a:tcPr marL="42849" marR="42849" marT="21425" marB="21425" anchor="ctr"/>
                </a:tc>
                <a:tc>
                  <a:txBody>
                    <a:bodyPr/>
                    <a:lstStyle/>
                    <a:p>
                      <a:pPr>
                        <a:buNone/>
                      </a:pPr>
                      <a:r>
                        <a:rPr lang="en-US" sz="1200"/>
                        <a:t>Early LEO satellites</a:t>
                      </a:r>
                    </a:p>
                  </a:txBody>
                  <a:tcPr marL="42849" marR="42849" marT="21425" marB="21425" anchor="ctr"/>
                </a:tc>
                <a:extLst>
                  <a:ext uri="{0D108BD9-81ED-4DB2-BD59-A6C34878D82A}">
                    <a16:rowId xmlns:a16="http://schemas.microsoft.com/office/drawing/2014/main" val="3174090947"/>
                  </a:ext>
                </a:extLst>
              </a:tr>
              <a:tr h="557043">
                <a:tc>
                  <a:txBody>
                    <a:bodyPr/>
                    <a:lstStyle/>
                    <a:p>
                      <a:pPr>
                        <a:buNone/>
                      </a:pPr>
                      <a:r>
                        <a:rPr lang="en-US" sz="1200" b="1" dirty="0"/>
                        <a:t>Nickel-Hydrogen (</a:t>
                      </a:r>
                      <a:r>
                        <a:rPr lang="en-US" sz="1200" b="1" dirty="0" err="1"/>
                        <a:t>NiH</a:t>
                      </a:r>
                      <a:r>
                        <a:rPr lang="en-US" sz="1200" b="1" dirty="0"/>
                        <a:t>₂)</a:t>
                      </a:r>
                      <a:endParaRPr lang="en-US" sz="1200" dirty="0"/>
                    </a:p>
                  </a:txBody>
                  <a:tcPr marL="42849" marR="42849" marT="21425" marB="21425" anchor="ctr"/>
                </a:tc>
                <a:tc>
                  <a:txBody>
                    <a:bodyPr/>
                    <a:lstStyle/>
                    <a:p>
                      <a:pPr>
                        <a:buNone/>
                      </a:pPr>
                      <a:r>
                        <a:rPr lang="en-US" sz="1200"/>
                        <a:t>Moderate (~50–75 Wh/kg)</a:t>
                      </a:r>
                    </a:p>
                  </a:txBody>
                  <a:tcPr marL="42849" marR="42849" marT="21425" marB="21425" anchor="ctr"/>
                </a:tc>
                <a:tc>
                  <a:txBody>
                    <a:bodyPr/>
                    <a:lstStyle/>
                    <a:p>
                      <a:pPr>
                        <a:buNone/>
                      </a:pPr>
                      <a:r>
                        <a:rPr lang="en-US" sz="1200" dirty="0"/>
                        <a:t>Very high (&gt;20,000 cycles)</a:t>
                      </a:r>
                    </a:p>
                  </a:txBody>
                  <a:tcPr marL="42849" marR="42849" marT="21425" marB="21425" anchor="ctr"/>
                </a:tc>
                <a:tc>
                  <a:txBody>
                    <a:bodyPr/>
                    <a:lstStyle/>
                    <a:p>
                      <a:pPr>
                        <a:buNone/>
                      </a:pPr>
                      <a:r>
                        <a:rPr lang="en-US" sz="1200"/>
                        <a:t>Extremely long life, tolerant to radiation</a:t>
                      </a:r>
                    </a:p>
                  </a:txBody>
                  <a:tcPr marL="42849" marR="42849" marT="21425" marB="21425" anchor="ctr"/>
                </a:tc>
                <a:tc>
                  <a:txBody>
                    <a:bodyPr/>
                    <a:lstStyle/>
                    <a:p>
                      <a:pPr>
                        <a:buNone/>
                      </a:pPr>
                      <a:r>
                        <a:rPr lang="en-US" sz="1200"/>
                        <a:t>Very bulky, heavy, complex plumbing</a:t>
                      </a:r>
                    </a:p>
                  </a:txBody>
                  <a:tcPr marL="42849" marR="42849" marT="21425" marB="21425" anchor="ctr"/>
                </a:tc>
                <a:tc>
                  <a:txBody>
                    <a:bodyPr/>
                    <a:lstStyle/>
                    <a:p>
                      <a:pPr>
                        <a:buNone/>
                      </a:pPr>
                      <a:r>
                        <a:rPr lang="it-IT" sz="1200"/>
                        <a:t>Hubble Space Telescope, ISS (original)</a:t>
                      </a:r>
                    </a:p>
                  </a:txBody>
                  <a:tcPr marL="42849" marR="42849" marT="21425" marB="21425" anchor="ctr"/>
                </a:tc>
                <a:extLst>
                  <a:ext uri="{0D108BD9-81ED-4DB2-BD59-A6C34878D82A}">
                    <a16:rowId xmlns:a16="http://schemas.microsoft.com/office/drawing/2014/main" val="1351638537"/>
                  </a:ext>
                </a:extLst>
              </a:tr>
              <a:tr h="685592">
                <a:tc>
                  <a:txBody>
                    <a:bodyPr/>
                    <a:lstStyle/>
                    <a:p>
                      <a:pPr>
                        <a:buNone/>
                      </a:pPr>
                      <a:r>
                        <a:rPr lang="en-US" sz="1200" b="1" dirty="0"/>
                        <a:t>Nickel-Metal Hydride (NiMH)</a:t>
                      </a:r>
                      <a:endParaRPr lang="en-US" sz="1200" dirty="0"/>
                    </a:p>
                  </a:txBody>
                  <a:tcPr marL="42849" marR="42849" marT="21425" marB="21425" anchor="ctr"/>
                </a:tc>
                <a:tc>
                  <a:txBody>
                    <a:bodyPr/>
                    <a:lstStyle/>
                    <a:p>
                      <a:pPr>
                        <a:buNone/>
                      </a:pPr>
                      <a:r>
                        <a:rPr lang="en-US" sz="1200"/>
                        <a:t>Higher (~60–120 Wh/kg)</a:t>
                      </a:r>
                    </a:p>
                  </a:txBody>
                  <a:tcPr marL="42849" marR="42849" marT="21425" marB="21425" anchor="ctr"/>
                </a:tc>
                <a:tc>
                  <a:txBody>
                    <a:bodyPr/>
                    <a:lstStyle/>
                    <a:p>
                      <a:pPr>
                        <a:buNone/>
                      </a:pPr>
                      <a:r>
                        <a:rPr lang="en-US" sz="1200" dirty="0"/>
                        <a:t>Medium (1000–2000 cycles)</a:t>
                      </a:r>
                    </a:p>
                  </a:txBody>
                  <a:tcPr marL="42849" marR="42849" marT="21425" marB="21425" anchor="ctr"/>
                </a:tc>
                <a:tc>
                  <a:txBody>
                    <a:bodyPr/>
                    <a:lstStyle/>
                    <a:p>
                      <a:pPr>
                        <a:buNone/>
                      </a:pPr>
                      <a:r>
                        <a:rPr lang="en-US" sz="1200"/>
                        <a:t>Better density than NiCd, less memory effect</a:t>
                      </a:r>
                    </a:p>
                  </a:txBody>
                  <a:tcPr marL="42849" marR="42849" marT="21425" marB="21425" anchor="ctr"/>
                </a:tc>
                <a:tc>
                  <a:txBody>
                    <a:bodyPr/>
                    <a:lstStyle/>
                    <a:p>
                      <a:pPr>
                        <a:buNone/>
                      </a:pPr>
                      <a:r>
                        <a:rPr lang="en-US" sz="1200"/>
                        <a:t>Self-discharge, limited flight heritage</a:t>
                      </a:r>
                    </a:p>
                  </a:txBody>
                  <a:tcPr marL="42849" marR="42849" marT="21425" marB="21425" anchor="ctr"/>
                </a:tc>
                <a:tc>
                  <a:txBody>
                    <a:bodyPr/>
                    <a:lstStyle/>
                    <a:p>
                      <a:pPr>
                        <a:buNone/>
                      </a:pPr>
                      <a:r>
                        <a:rPr lang="en-US" sz="1200"/>
                        <a:t>Some experimental smallsats</a:t>
                      </a:r>
                    </a:p>
                  </a:txBody>
                  <a:tcPr marL="42849" marR="42849" marT="21425" marB="21425" anchor="ctr"/>
                </a:tc>
                <a:extLst>
                  <a:ext uri="{0D108BD9-81ED-4DB2-BD59-A6C34878D82A}">
                    <a16:rowId xmlns:a16="http://schemas.microsoft.com/office/drawing/2014/main" val="281704772"/>
                  </a:ext>
                </a:extLst>
              </a:tr>
              <a:tr h="685592">
                <a:tc>
                  <a:txBody>
                    <a:bodyPr/>
                    <a:lstStyle/>
                    <a:p>
                      <a:pPr>
                        <a:buNone/>
                      </a:pPr>
                      <a:r>
                        <a:rPr lang="en-US" sz="1200" b="1"/>
                        <a:t>Silver-Zinc (Ag-Zn)</a:t>
                      </a:r>
                      <a:endParaRPr lang="en-US" sz="1200"/>
                    </a:p>
                  </a:txBody>
                  <a:tcPr marL="42849" marR="42849" marT="21425" marB="21425" anchor="ctr"/>
                </a:tc>
                <a:tc>
                  <a:txBody>
                    <a:bodyPr/>
                    <a:lstStyle/>
                    <a:p>
                      <a:pPr>
                        <a:buNone/>
                      </a:pPr>
                      <a:r>
                        <a:rPr lang="en-US" sz="1200" dirty="0"/>
                        <a:t>High (~100–150 </a:t>
                      </a:r>
                      <a:r>
                        <a:rPr lang="en-US" sz="1200" dirty="0" err="1"/>
                        <a:t>Wh</a:t>
                      </a:r>
                      <a:r>
                        <a:rPr lang="en-US" sz="1200" dirty="0"/>
                        <a:t>/kg)</a:t>
                      </a:r>
                    </a:p>
                  </a:txBody>
                  <a:tcPr marL="42849" marR="42849" marT="21425" marB="21425" anchor="ctr"/>
                </a:tc>
                <a:tc>
                  <a:txBody>
                    <a:bodyPr/>
                    <a:lstStyle/>
                    <a:p>
                      <a:pPr>
                        <a:buNone/>
                      </a:pPr>
                      <a:r>
                        <a:rPr lang="en-US" sz="1200"/>
                        <a:t>Very short (tens of cycles)</a:t>
                      </a:r>
                    </a:p>
                  </a:txBody>
                  <a:tcPr marL="42849" marR="42849" marT="21425" marB="21425" anchor="ctr"/>
                </a:tc>
                <a:tc>
                  <a:txBody>
                    <a:bodyPr/>
                    <a:lstStyle/>
                    <a:p>
                      <a:pPr>
                        <a:buNone/>
                      </a:pPr>
                      <a:r>
                        <a:rPr lang="en-US" sz="1200"/>
                        <a:t>High power output, compact, reliable</a:t>
                      </a:r>
                    </a:p>
                  </a:txBody>
                  <a:tcPr marL="42849" marR="42849" marT="21425" marB="21425" anchor="ctr"/>
                </a:tc>
                <a:tc>
                  <a:txBody>
                    <a:bodyPr/>
                    <a:lstStyle/>
                    <a:p>
                      <a:pPr>
                        <a:buNone/>
                      </a:pPr>
                      <a:r>
                        <a:rPr lang="en-US" sz="1200"/>
                        <a:t>Expensive, poor cycle life</a:t>
                      </a:r>
                    </a:p>
                  </a:txBody>
                  <a:tcPr marL="42849" marR="42849" marT="21425" marB="21425" anchor="ctr"/>
                </a:tc>
                <a:tc>
                  <a:txBody>
                    <a:bodyPr/>
                    <a:lstStyle/>
                    <a:p>
                      <a:pPr>
                        <a:buNone/>
                      </a:pPr>
                      <a:r>
                        <a:rPr lang="en-US" sz="1200"/>
                        <a:t>Apollo spacecraft, crewed reentry vehicles</a:t>
                      </a:r>
                    </a:p>
                  </a:txBody>
                  <a:tcPr marL="42849" marR="42849" marT="21425" marB="21425" anchor="ctr"/>
                </a:tc>
                <a:extLst>
                  <a:ext uri="{0D108BD9-81ED-4DB2-BD59-A6C34878D82A}">
                    <a16:rowId xmlns:a16="http://schemas.microsoft.com/office/drawing/2014/main" val="1645292196"/>
                  </a:ext>
                </a:extLst>
              </a:tr>
              <a:tr h="814140">
                <a:tc>
                  <a:txBody>
                    <a:bodyPr/>
                    <a:lstStyle/>
                    <a:p>
                      <a:pPr>
                        <a:buNone/>
                      </a:pPr>
                      <a:r>
                        <a:rPr lang="en-US" sz="1200" b="1" dirty="0"/>
                        <a:t>Lithium-Ion (Li-ion)</a:t>
                      </a:r>
                    </a:p>
                  </a:txBody>
                  <a:tcPr marL="42849" marR="42849" marT="21425" marB="21425" anchor="ctr"/>
                </a:tc>
                <a:tc>
                  <a:txBody>
                    <a:bodyPr/>
                    <a:lstStyle/>
                    <a:p>
                      <a:pPr>
                        <a:buNone/>
                      </a:pPr>
                      <a:r>
                        <a:rPr lang="en-US" sz="1200" b="1"/>
                        <a:t>High (~120–200 Wh/kg)</a:t>
                      </a:r>
                    </a:p>
                  </a:txBody>
                  <a:tcPr marL="42849" marR="42849" marT="21425" marB="21425" anchor="ctr"/>
                </a:tc>
                <a:tc>
                  <a:txBody>
                    <a:bodyPr/>
                    <a:lstStyle/>
                    <a:p>
                      <a:pPr>
                        <a:buNone/>
                      </a:pPr>
                      <a:r>
                        <a:rPr lang="en-US" sz="1200" b="1"/>
                        <a:t>Medium (1000–5000 cycles depending on DoD)</a:t>
                      </a:r>
                    </a:p>
                  </a:txBody>
                  <a:tcPr marL="42849" marR="42849" marT="21425" marB="21425" anchor="ctr"/>
                </a:tc>
                <a:tc>
                  <a:txBody>
                    <a:bodyPr/>
                    <a:lstStyle/>
                    <a:p>
                      <a:pPr>
                        <a:buNone/>
                      </a:pPr>
                      <a:r>
                        <a:rPr lang="en-US" sz="1200" b="1"/>
                        <a:t>High energy density, lightweight, COTS availability</a:t>
                      </a:r>
                    </a:p>
                  </a:txBody>
                  <a:tcPr marL="42849" marR="42849" marT="21425" marB="21425" anchor="ctr"/>
                </a:tc>
                <a:tc>
                  <a:txBody>
                    <a:bodyPr/>
                    <a:lstStyle/>
                    <a:p>
                      <a:pPr>
                        <a:buNone/>
                      </a:pPr>
                      <a:r>
                        <a:rPr lang="en-US" sz="1200" b="1"/>
                        <a:t>Sensitive to overcharge/thermal runaway, radiation effects</a:t>
                      </a:r>
                    </a:p>
                  </a:txBody>
                  <a:tcPr marL="42849" marR="42849" marT="21425" marB="21425" anchor="ctr"/>
                </a:tc>
                <a:tc>
                  <a:txBody>
                    <a:bodyPr/>
                    <a:lstStyle/>
                    <a:p>
                      <a:pPr>
                        <a:buNone/>
                      </a:pPr>
                      <a:r>
                        <a:rPr lang="en-US" sz="1200" b="1" dirty="0"/>
                        <a:t>CubeSats, modern GEO &amp; LEO satellites, ISS upgrades</a:t>
                      </a:r>
                    </a:p>
                  </a:txBody>
                  <a:tcPr marL="42849" marR="42849" marT="21425" marB="21425" anchor="ctr"/>
                </a:tc>
                <a:extLst>
                  <a:ext uri="{0D108BD9-81ED-4DB2-BD59-A6C34878D82A}">
                    <a16:rowId xmlns:a16="http://schemas.microsoft.com/office/drawing/2014/main" val="1251926528"/>
                  </a:ext>
                </a:extLst>
              </a:tr>
              <a:tr h="685592">
                <a:tc>
                  <a:txBody>
                    <a:bodyPr/>
                    <a:lstStyle/>
                    <a:p>
                      <a:pPr>
                        <a:buNone/>
                      </a:pPr>
                      <a:r>
                        <a:rPr lang="en-US" sz="1200" b="1"/>
                        <a:t>Lithium-Iron-Phosphate (LiFePO₄)</a:t>
                      </a:r>
                      <a:endParaRPr lang="en-US" sz="1200"/>
                    </a:p>
                  </a:txBody>
                  <a:tcPr marL="42849" marR="42849" marT="21425" marB="21425" anchor="ctr"/>
                </a:tc>
                <a:tc>
                  <a:txBody>
                    <a:bodyPr/>
                    <a:lstStyle/>
                    <a:p>
                      <a:pPr>
                        <a:buNone/>
                      </a:pPr>
                      <a:r>
                        <a:rPr lang="en-US" sz="1200"/>
                        <a:t>Moderate (~90–140 Wh/kg)</a:t>
                      </a:r>
                    </a:p>
                  </a:txBody>
                  <a:tcPr marL="42849" marR="42849" marT="21425" marB="21425" anchor="ctr"/>
                </a:tc>
                <a:tc>
                  <a:txBody>
                    <a:bodyPr/>
                    <a:lstStyle/>
                    <a:p>
                      <a:pPr>
                        <a:buNone/>
                      </a:pPr>
                      <a:r>
                        <a:rPr lang="en-US" sz="1200"/>
                        <a:t>Long (2000–7000 cycles)</a:t>
                      </a:r>
                    </a:p>
                  </a:txBody>
                  <a:tcPr marL="42849" marR="42849" marT="21425" marB="21425" anchor="ctr"/>
                </a:tc>
                <a:tc>
                  <a:txBody>
                    <a:bodyPr/>
                    <a:lstStyle/>
                    <a:p>
                      <a:pPr>
                        <a:buNone/>
                      </a:pPr>
                      <a:r>
                        <a:rPr lang="en-US" sz="1200"/>
                        <a:t>Safer than Li-ion, stable under thermal stress</a:t>
                      </a:r>
                    </a:p>
                  </a:txBody>
                  <a:tcPr marL="42849" marR="42849" marT="21425" marB="21425" anchor="ctr"/>
                </a:tc>
                <a:tc>
                  <a:txBody>
                    <a:bodyPr/>
                    <a:lstStyle/>
                    <a:p>
                      <a:pPr>
                        <a:buNone/>
                      </a:pPr>
                      <a:r>
                        <a:rPr lang="en-US" sz="1200"/>
                        <a:t>Slightly lower density than Li-ion, newer in space</a:t>
                      </a:r>
                    </a:p>
                  </a:txBody>
                  <a:tcPr marL="42849" marR="42849" marT="21425" marB="21425" anchor="ctr"/>
                </a:tc>
                <a:tc>
                  <a:txBody>
                    <a:bodyPr/>
                    <a:lstStyle/>
                    <a:p>
                      <a:pPr>
                        <a:buNone/>
                      </a:pPr>
                      <a:r>
                        <a:rPr lang="en-US" sz="1200"/>
                        <a:t>Emerging in CubeSats and experimental missions</a:t>
                      </a:r>
                    </a:p>
                  </a:txBody>
                  <a:tcPr marL="42849" marR="42849" marT="21425" marB="21425" anchor="ctr"/>
                </a:tc>
                <a:extLst>
                  <a:ext uri="{0D108BD9-81ED-4DB2-BD59-A6C34878D82A}">
                    <a16:rowId xmlns:a16="http://schemas.microsoft.com/office/drawing/2014/main" val="737377877"/>
                  </a:ext>
                </a:extLst>
              </a:tr>
              <a:tr h="814140">
                <a:tc>
                  <a:txBody>
                    <a:bodyPr/>
                    <a:lstStyle/>
                    <a:p>
                      <a:pPr>
                        <a:buNone/>
                      </a:pPr>
                      <a:r>
                        <a:rPr lang="en-US" sz="1200" b="1"/>
                        <a:t>Primary (Non-Rechargeable) Batteries</a:t>
                      </a:r>
                      <a:endParaRPr lang="en-US" sz="1200"/>
                    </a:p>
                  </a:txBody>
                  <a:tcPr marL="42849" marR="42849" marT="21425" marB="21425" anchor="ctr"/>
                </a:tc>
                <a:tc>
                  <a:txBody>
                    <a:bodyPr/>
                    <a:lstStyle/>
                    <a:p>
                      <a:pPr>
                        <a:buNone/>
                      </a:pPr>
                      <a:r>
                        <a:rPr lang="en-US" sz="1200"/>
                        <a:t>High (~200–400 Wh/kg depending on chemistry)</a:t>
                      </a:r>
                    </a:p>
                  </a:txBody>
                  <a:tcPr marL="42849" marR="42849" marT="21425" marB="21425" anchor="ctr"/>
                </a:tc>
                <a:tc>
                  <a:txBody>
                    <a:bodyPr/>
                    <a:lstStyle/>
                    <a:p>
                      <a:pPr>
                        <a:buNone/>
                      </a:pPr>
                      <a:r>
                        <a:rPr lang="en-US" sz="1200"/>
                        <a:t>One-time use</a:t>
                      </a:r>
                    </a:p>
                  </a:txBody>
                  <a:tcPr marL="42849" marR="42849" marT="21425" marB="21425" anchor="ctr"/>
                </a:tc>
                <a:tc>
                  <a:txBody>
                    <a:bodyPr/>
                    <a:lstStyle/>
                    <a:p>
                      <a:pPr>
                        <a:buNone/>
                      </a:pPr>
                      <a:r>
                        <a:rPr lang="en-US" sz="1200"/>
                        <a:t>Very high energy density, simple</a:t>
                      </a:r>
                    </a:p>
                  </a:txBody>
                  <a:tcPr marL="42849" marR="42849" marT="21425" marB="21425" anchor="ctr"/>
                </a:tc>
                <a:tc>
                  <a:txBody>
                    <a:bodyPr/>
                    <a:lstStyle/>
                    <a:p>
                      <a:pPr>
                        <a:buNone/>
                      </a:pPr>
                      <a:r>
                        <a:rPr lang="en-US" sz="1200"/>
                        <a:t>Cannot recharge, limited to short missions</a:t>
                      </a:r>
                    </a:p>
                  </a:txBody>
                  <a:tcPr marL="42849" marR="42849" marT="21425" marB="21425" anchor="ctr"/>
                </a:tc>
                <a:tc>
                  <a:txBody>
                    <a:bodyPr/>
                    <a:lstStyle/>
                    <a:p>
                      <a:pPr>
                        <a:buNone/>
                      </a:pPr>
                      <a:r>
                        <a:rPr lang="en-US" sz="1200" dirty="0"/>
                        <a:t>Planetary landers, probes (e.g., Galileo atmospheric probe)</a:t>
                      </a:r>
                    </a:p>
                  </a:txBody>
                  <a:tcPr marL="42849" marR="42849" marT="21425" marB="21425" anchor="ctr"/>
                </a:tc>
                <a:extLst>
                  <a:ext uri="{0D108BD9-81ED-4DB2-BD59-A6C34878D82A}">
                    <a16:rowId xmlns:a16="http://schemas.microsoft.com/office/drawing/2014/main" val="3695266131"/>
                  </a:ext>
                </a:extLst>
              </a:tr>
            </a:tbl>
          </a:graphicData>
        </a:graphic>
      </p:graphicFrame>
      <p:sp>
        <p:nvSpPr>
          <p:cNvPr id="4" name="Slide Number Placeholder 3">
            <a:extLst>
              <a:ext uri="{FF2B5EF4-FFF2-40B4-BE49-F238E27FC236}">
                <a16:creationId xmlns:a16="http://schemas.microsoft.com/office/drawing/2014/main" id="{1F1ECA24-E435-C609-1853-ECE5A42F1B91}"/>
              </a:ext>
            </a:extLst>
          </p:cNvPr>
          <p:cNvSpPr>
            <a:spLocks noGrp="1"/>
          </p:cNvSpPr>
          <p:nvPr>
            <p:ph type="sldNum" sz="quarter" idx="12"/>
          </p:nvPr>
        </p:nvSpPr>
        <p:spPr/>
        <p:txBody>
          <a:bodyPr/>
          <a:lstStyle/>
          <a:p>
            <a:fld id="{9A3029B7-FE6B-4680-9049-80E8298A0825}" type="slidenum">
              <a:rPr lang="en-US" smtClean="0"/>
              <a:t>15</a:t>
            </a:fld>
            <a:endParaRPr lang="en-US"/>
          </a:p>
        </p:txBody>
      </p:sp>
    </p:spTree>
    <p:extLst>
      <p:ext uri="{BB962C8B-B14F-4D97-AF65-F5344CB8AC3E}">
        <p14:creationId xmlns:p14="http://schemas.microsoft.com/office/powerpoint/2010/main" val="2308513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956A3F87-D0CC-0117-5AD6-5BA63DEFB919}"/>
              </a:ext>
            </a:extLst>
          </p:cNvPr>
          <p:cNvSpPr/>
          <p:nvPr/>
        </p:nvSpPr>
        <p:spPr>
          <a:xfrm>
            <a:off x="-2987" y="0"/>
            <a:ext cx="9146987" cy="6858000"/>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0AB9B1F-478E-D220-32F2-54F074951DB3}"/>
              </a:ext>
            </a:extLst>
          </p:cNvPr>
          <p:cNvSpPr>
            <a:spLocks noGrp="1"/>
          </p:cNvSpPr>
          <p:nvPr>
            <p:ph type="sldNum" sz="quarter" idx="12"/>
          </p:nvPr>
        </p:nvSpPr>
        <p:spPr/>
        <p:txBody>
          <a:bodyPr/>
          <a:lstStyle/>
          <a:p>
            <a:fld id="{9A3029B7-FE6B-4680-9049-80E8298A0825}" type="slidenum">
              <a:rPr lang="en-US" smtClean="0"/>
              <a:t>16</a:t>
            </a:fld>
            <a:endParaRPr lang="en-US"/>
          </a:p>
        </p:txBody>
      </p:sp>
      <p:pic>
        <p:nvPicPr>
          <p:cNvPr id="5" name="Picture 2" descr="http://holtz.org/Library/Images/Natural%20Science/Astronomy/Earth/Living%20Earth%20N%20pole.jpg">
            <a:extLst>
              <a:ext uri="{FF2B5EF4-FFF2-40B4-BE49-F238E27FC236}">
                <a16:creationId xmlns:a16="http://schemas.microsoft.com/office/drawing/2014/main" id="{520F7C85-FB3B-7093-2B16-2E2C1D2BEE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834" y="2048773"/>
            <a:ext cx="2334934" cy="233493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7BFC27E-7995-4FDE-8E31-E361950CB5E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4836097" y="2793819"/>
            <a:ext cx="827909" cy="827909"/>
          </a:xfrm>
          <a:prstGeom prst="rect">
            <a:avLst/>
          </a:prstGeom>
        </p:spPr>
      </p:pic>
      <p:sp>
        <p:nvSpPr>
          <p:cNvPr id="7" name="Rectangle 6">
            <a:extLst>
              <a:ext uri="{FF2B5EF4-FFF2-40B4-BE49-F238E27FC236}">
                <a16:creationId xmlns:a16="http://schemas.microsoft.com/office/drawing/2014/main" id="{4FA603EE-C475-2906-A9CF-79D418D30237}"/>
              </a:ext>
            </a:extLst>
          </p:cNvPr>
          <p:cNvSpPr/>
          <p:nvPr/>
        </p:nvSpPr>
        <p:spPr>
          <a:xfrm>
            <a:off x="3424301" y="2048773"/>
            <a:ext cx="4572000" cy="2334934"/>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2">
            <a:extLst>
              <a:ext uri="{FF2B5EF4-FFF2-40B4-BE49-F238E27FC236}">
                <a16:creationId xmlns:a16="http://schemas.microsoft.com/office/drawing/2014/main" id="{B7009984-A2C1-DE5E-EF81-C4BA7E6F7002}"/>
              </a:ext>
            </a:extLst>
          </p:cNvPr>
          <p:cNvSpPr/>
          <p:nvPr/>
        </p:nvSpPr>
        <p:spPr>
          <a:xfrm>
            <a:off x="5546206" y="5228745"/>
            <a:ext cx="767848" cy="325631"/>
          </a:xfrm>
          <a:prstGeom prst="rightArrow">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20">
            <a:extLst>
              <a:ext uri="{FF2B5EF4-FFF2-40B4-BE49-F238E27FC236}">
                <a16:creationId xmlns:a16="http://schemas.microsoft.com/office/drawing/2014/main" id="{51BE7E03-1693-2A9A-6CB8-526E594B068C}"/>
              </a:ext>
            </a:extLst>
          </p:cNvPr>
          <p:cNvSpPr/>
          <p:nvPr/>
        </p:nvSpPr>
        <p:spPr>
          <a:xfrm rot="16200000">
            <a:off x="6642579" y="3997938"/>
            <a:ext cx="866953" cy="325631"/>
          </a:xfrm>
          <a:prstGeom prst="rightArrow">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4B72F3A-C771-F384-8520-8174C141BA46}"/>
              </a:ext>
            </a:extLst>
          </p:cNvPr>
          <p:cNvSpPr/>
          <p:nvPr/>
        </p:nvSpPr>
        <p:spPr>
          <a:xfrm>
            <a:off x="6164881" y="2987640"/>
            <a:ext cx="1822953" cy="632925"/>
          </a:xfrm>
          <a:prstGeom prst="rect">
            <a:avLst/>
          </a:prstGeom>
          <a:gradFill>
            <a:gsLst>
              <a:gs pos="0">
                <a:schemeClr val="bg1">
                  <a:lumMod val="25000"/>
                </a:schemeClr>
              </a:gs>
              <a:gs pos="50000">
                <a:schemeClr val="bg1">
                  <a:lumMod val="65000"/>
                </a:schemeClr>
              </a:gs>
              <a:gs pos="100000">
                <a:schemeClr val="bg1">
                  <a:lumMod val="39000"/>
                </a:schemeClr>
              </a:gs>
            </a:gsLst>
            <a:lin ang="18900000" scaled="1"/>
          </a:gra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gradFill>
                  <a:gsLst>
                    <a:gs pos="0">
                      <a:schemeClr val="bg1">
                        <a:lumMod val="69000"/>
                      </a:schemeClr>
                    </a:gs>
                    <a:gs pos="50000">
                      <a:schemeClr val="bg1">
                        <a:lumMod val="84000"/>
                        <a:lumOff val="16000"/>
                      </a:schemeClr>
                    </a:gs>
                    <a:gs pos="100000">
                      <a:schemeClr val="bg1">
                        <a:lumMod val="42000"/>
                      </a:schemeClr>
                    </a:gs>
                  </a:gsLst>
                  <a:lin ang="18900000" scaled="1"/>
                </a:gradFill>
                <a:latin typeface="Century Gothic" pitchFamily="34" charset="0"/>
              </a:rPr>
              <a:t>subsystems + payload</a:t>
            </a:r>
          </a:p>
        </p:txBody>
      </p:sp>
      <p:sp>
        <p:nvSpPr>
          <p:cNvPr id="11" name="Right Arrow 22">
            <a:extLst>
              <a:ext uri="{FF2B5EF4-FFF2-40B4-BE49-F238E27FC236}">
                <a16:creationId xmlns:a16="http://schemas.microsoft.com/office/drawing/2014/main" id="{6244358B-51AA-F0EC-234A-D1E659BF24E9}"/>
              </a:ext>
            </a:extLst>
          </p:cNvPr>
          <p:cNvSpPr/>
          <p:nvPr/>
        </p:nvSpPr>
        <p:spPr>
          <a:xfrm rot="16200000">
            <a:off x="6642578" y="3997938"/>
            <a:ext cx="866953" cy="325631"/>
          </a:xfrm>
          <a:prstGeom prst="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25">
            <a:extLst>
              <a:ext uri="{FF2B5EF4-FFF2-40B4-BE49-F238E27FC236}">
                <a16:creationId xmlns:a16="http://schemas.microsoft.com/office/drawing/2014/main" id="{B8477289-53A2-21F4-156C-AE08314A5935}"/>
              </a:ext>
            </a:extLst>
          </p:cNvPr>
          <p:cNvSpPr/>
          <p:nvPr/>
        </p:nvSpPr>
        <p:spPr>
          <a:xfrm rot="18694751">
            <a:off x="4639576" y="4263312"/>
            <a:ext cx="1845387" cy="325631"/>
          </a:xfrm>
          <a:prstGeom prst="rightArrow">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CB18062-9822-E68E-4475-8F6D6B8D60BA}"/>
              </a:ext>
            </a:extLst>
          </p:cNvPr>
          <p:cNvGrpSpPr/>
          <p:nvPr/>
        </p:nvGrpSpPr>
        <p:grpSpPr>
          <a:xfrm>
            <a:off x="5399455" y="3503436"/>
            <a:ext cx="914599" cy="2050940"/>
            <a:chOff x="6547154" y="2858946"/>
            <a:chExt cx="914599" cy="2050940"/>
          </a:xfrm>
        </p:grpSpPr>
        <p:sp>
          <p:nvSpPr>
            <p:cNvPr id="14" name="Right Arrow 21">
              <a:extLst>
                <a:ext uri="{FF2B5EF4-FFF2-40B4-BE49-F238E27FC236}">
                  <a16:creationId xmlns:a16="http://schemas.microsoft.com/office/drawing/2014/main" id="{E2E9EDAE-1CBB-4924-7BA8-232DEB4833AF}"/>
                </a:ext>
              </a:extLst>
            </p:cNvPr>
            <p:cNvSpPr/>
            <p:nvPr/>
          </p:nvSpPr>
          <p:spPr>
            <a:xfrm>
              <a:off x="6674935" y="4584255"/>
              <a:ext cx="786818" cy="325631"/>
            </a:xfrm>
            <a:prstGeom prst="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26">
              <a:extLst>
                <a:ext uri="{FF2B5EF4-FFF2-40B4-BE49-F238E27FC236}">
                  <a16:creationId xmlns:a16="http://schemas.microsoft.com/office/drawing/2014/main" id="{270B813E-DA53-B6DC-1666-D3D3425AED4B}"/>
                </a:ext>
              </a:extLst>
            </p:cNvPr>
            <p:cNvSpPr/>
            <p:nvPr/>
          </p:nvSpPr>
          <p:spPr>
            <a:xfrm rot="18694751">
              <a:off x="5787276" y="3618824"/>
              <a:ext cx="1845388" cy="325631"/>
            </a:xfrm>
            <a:prstGeom prst="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D0EC4142-41E6-9595-3918-DAF535AAE76C}"/>
              </a:ext>
            </a:extLst>
          </p:cNvPr>
          <p:cNvGrpSpPr>
            <a:grpSpLocks noChangeAspect="1"/>
          </p:cNvGrpSpPr>
          <p:nvPr/>
        </p:nvGrpSpPr>
        <p:grpSpPr>
          <a:xfrm flipV="1">
            <a:off x="2814701" y="5050122"/>
            <a:ext cx="2731505" cy="682876"/>
            <a:chOff x="914400" y="1657350"/>
            <a:chExt cx="7315200" cy="1828800"/>
          </a:xfrm>
        </p:grpSpPr>
        <p:sp>
          <p:nvSpPr>
            <p:cNvPr id="17" name="Rectangle 16">
              <a:extLst>
                <a:ext uri="{FF2B5EF4-FFF2-40B4-BE49-F238E27FC236}">
                  <a16:creationId xmlns:a16="http://schemas.microsoft.com/office/drawing/2014/main" id="{CABDDD68-ACB5-5B35-68D2-D5E6D69BCAA3}"/>
                </a:ext>
              </a:extLst>
            </p:cNvPr>
            <p:cNvSpPr/>
            <p:nvPr/>
          </p:nvSpPr>
          <p:spPr>
            <a:xfrm>
              <a:off x="914400" y="1657350"/>
              <a:ext cx="7315200" cy="1828800"/>
            </a:xfrm>
            <a:prstGeom prst="rect">
              <a:avLst/>
            </a:prstGeom>
            <a:gradFill flip="none" rotWithShape="1">
              <a:gsLst>
                <a:gs pos="0">
                  <a:schemeClr val="bg1">
                    <a:lumMod val="50000"/>
                  </a:schemeClr>
                </a:gs>
                <a:gs pos="50000">
                  <a:schemeClr val="bg1">
                    <a:lumMod val="85000"/>
                  </a:schemeClr>
                </a:gs>
                <a:gs pos="100000">
                  <a:schemeClr val="bg1">
                    <a:lumMod val="5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AE6C32-DC92-7165-3B38-04BB572A926A}"/>
                </a:ext>
              </a:extLst>
            </p:cNvPr>
            <p:cNvSpPr/>
            <p:nvPr/>
          </p:nvSpPr>
          <p:spPr>
            <a:xfrm>
              <a:off x="965201" y="1723388"/>
              <a:ext cx="1737360" cy="82296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5805541-38A4-F87B-648F-5E8FBAF41AB2}"/>
                </a:ext>
              </a:extLst>
            </p:cNvPr>
            <p:cNvSpPr/>
            <p:nvPr/>
          </p:nvSpPr>
          <p:spPr>
            <a:xfrm>
              <a:off x="965201" y="2595457"/>
              <a:ext cx="1737360" cy="82296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17160DA-F12A-52E1-BB81-FD9178C86F64}"/>
                </a:ext>
              </a:extLst>
            </p:cNvPr>
            <p:cNvSpPr/>
            <p:nvPr/>
          </p:nvSpPr>
          <p:spPr>
            <a:xfrm>
              <a:off x="2788923" y="1723388"/>
              <a:ext cx="1737360" cy="82296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FAC3D4A-BEA9-D134-1B47-2666473316F7}"/>
                </a:ext>
              </a:extLst>
            </p:cNvPr>
            <p:cNvSpPr/>
            <p:nvPr/>
          </p:nvSpPr>
          <p:spPr>
            <a:xfrm>
              <a:off x="2788923" y="2595457"/>
              <a:ext cx="1737360" cy="82296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F57A3A2-0823-DC46-6B9B-621748A80513}"/>
                </a:ext>
              </a:extLst>
            </p:cNvPr>
            <p:cNvSpPr/>
            <p:nvPr/>
          </p:nvSpPr>
          <p:spPr>
            <a:xfrm>
              <a:off x="4617716" y="1723388"/>
              <a:ext cx="1737360" cy="82296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FEE497B-35BA-AE46-649C-0A2EFCE84D38}"/>
                </a:ext>
              </a:extLst>
            </p:cNvPr>
            <p:cNvSpPr/>
            <p:nvPr/>
          </p:nvSpPr>
          <p:spPr>
            <a:xfrm>
              <a:off x="4617716" y="2595457"/>
              <a:ext cx="1737360" cy="82296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9DF156F-228B-3917-DD38-22B0235C866E}"/>
                </a:ext>
              </a:extLst>
            </p:cNvPr>
            <p:cNvSpPr/>
            <p:nvPr/>
          </p:nvSpPr>
          <p:spPr>
            <a:xfrm>
              <a:off x="6441438" y="1723388"/>
              <a:ext cx="1737360" cy="82296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15509CD-C46E-E043-06D6-6183D0C8C6BB}"/>
                </a:ext>
              </a:extLst>
            </p:cNvPr>
            <p:cNvSpPr/>
            <p:nvPr/>
          </p:nvSpPr>
          <p:spPr>
            <a:xfrm>
              <a:off x="6441438" y="2595457"/>
              <a:ext cx="1737360" cy="82296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9">
            <a:extLst>
              <a:ext uri="{FF2B5EF4-FFF2-40B4-BE49-F238E27FC236}">
                <a16:creationId xmlns:a16="http://schemas.microsoft.com/office/drawing/2014/main" id="{10D12227-1696-87D9-8E92-F502B6643D1A}"/>
              </a:ext>
            </a:extLst>
          </p:cNvPr>
          <p:cNvSpPr>
            <a:spLocks noChangeArrowheads="1"/>
          </p:cNvSpPr>
          <p:nvPr/>
        </p:nvSpPr>
        <p:spPr bwMode="auto">
          <a:xfrm>
            <a:off x="6695054" y="4594231"/>
            <a:ext cx="762000" cy="1143000"/>
          </a:xfrm>
          <a:prstGeom prst="rect">
            <a:avLst/>
          </a:prstGeom>
          <a:gradFill rotWithShape="1">
            <a:gsLst>
              <a:gs pos="0">
                <a:srgbClr val="FF0000">
                  <a:gamma/>
                  <a:shade val="46275"/>
                  <a:invGamma/>
                  <a:lumMod val="0"/>
                </a:srgbClr>
              </a:gs>
              <a:gs pos="50000">
                <a:srgbClr val="FF0000">
                  <a:alpha val="50000"/>
                </a:srgbClr>
              </a:gs>
              <a:gs pos="100000">
                <a:srgbClr val="FF0000">
                  <a:gamma/>
                  <a:shade val="46275"/>
                  <a:invGamma/>
                  <a:lumMod val="0"/>
                </a:srgbClr>
              </a:gs>
            </a:gsLst>
            <a:lin ang="0" scaled="1"/>
          </a:gradFill>
          <a:ln>
            <a:noFill/>
          </a:ln>
          <a:effectLst/>
        </p:spPr>
        <p:txBody>
          <a:bodyPr wrap="none" anchor="ctr"/>
          <a:lstStyle/>
          <a:p>
            <a:endParaRPr lang="en-US"/>
          </a:p>
        </p:txBody>
      </p:sp>
      <p:sp>
        <p:nvSpPr>
          <p:cNvPr id="27" name="Rectangle 10">
            <a:extLst>
              <a:ext uri="{FF2B5EF4-FFF2-40B4-BE49-F238E27FC236}">
                <a16:creationId xmlns:a16="http://schemas.microsoft.com/office/drawing/2014/main" id="{6B4E37AA-B1D8-FB31-1637-CB063CEB2A9F}"/>
              </a:ext>
            </a:extLst>
          </p:cNvPr>
          <p:cNvSpPr>
            <a:spLocks noChangeArrowheads="1"/>
          </p:cNvSpPr>
          <p:nvPr/>
        </p:nvSpPr>
        <p:spPr bwMode="auto">
          <a:xfrm>
            <a:off x="7000157" y="4518031"/>
            <a:ext cx="152400" cy="76200"/>
          </a:xfrm>
          <a:prstGeom prst="rect">
            <a:avLst/>
          </a:prstGeom>
          <a:gradFill rotWithShape="1">
            <a:gsLst>
              <a:gs pos="0">
                <a:srgbClr val="FFFFFF">
                  <a:gamma/>
                  <a:shade val="34902"/>
                  <a:invGamma/>
                </a:srgbClr>
              </a:gs>
              <a:gs pos="50000">
                <a:srgbClr val="FFFFFF"/>
              </a:gs>
              <a:gs pos="100000">
                <a:srgbClr val="FFFFFF">
                  <a:gamma/>
                  <a:shade val="34902"/>
                  <a:invGamma/>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Rectangle 11">
            <a:extLst>
              <a:ext uri="{FF2B5EF4-FFF2-40B4-BE49-F238E27FC236}">
                <a16:creationId xmlns:a16="http://schemas.microsoft.com/office/drawing/2014/main" id="{DAD833A4-D236-253B-BD54-98B65BC4B951}"/>
              </a:ext>
            </a:extLst>
          </p:cNvPr>
          <p:cNvSpPr>
            <a:spLocks noChangeArrowheads="1"/>
          </p:cNvSpPr>
          <p:nvPr/>
        </p:nvSpPr>
        <p:spPr bwMode="auto">
          <a:xfrm>
            <a:off x="6695054" y="4594231"/>
            <a:ext cx="762000" cy="1143000"/>
          </a:xfrm>
          <a:prstGeom prst="rect">
            <a:avLst/>
          </a:prstGeom>
          <a:gradFill rotWithShape="1">
            <a:gsLst>
              <a:gs pos="0">
                <a:srgbClr val="00FF00">
                  <a:gamma/>
                  <a:shade val="46275"/>
                  <a:invGamma/>
                  <a:lumMod val="0"/>
                </a:srgbClr>
              </a:gs>
              <a:gs pos="50000">
                <a:srgbClr val="00FF00">
                  <a:alpha val="89999"/>
                </a:srgbClr>
              </a:gs>
              <a:gs pos="100000">
                <a:srgbClr val="00FF00">
                  <a:gamma/>
                  <a:shade val="46275"/>
                  <a:invGamma/>
                  <a:lumMod val="0"/>
                </a:srgbClr>
              </a:gs>
            </a:gsLst>
            <a:lin ang="0" scaled="1"/>
          </a:gradFill>
          <a:ln>
            <a:noFill/>
          </a:ln>
          <a:effectLst/>
        </p:spPr>
        <p:txBody>
          <a:bodyPr wrap="none" anchor="ctr"/>
          <a:lstStyle/>
          <a:p>
            <a:endParaRPr lang="en-US"/>
          </a:p>
        </p:txBody>
      </p:sp>
      <p:sp>
        <p:nvSpPr>
          <p:cNvPr id="29" name="Text Box 14">
            <a:extLst>
              <a:ext uri="{FF2B5EF4-FFF2-40B4-BE49-F238E27FC236}">
                <a16:creationId xmlns:a16="http://schemas.microsoft.com/office/drawing/2014/main" id="{39DB0660-5190-D8AE-4DA5-DB628E3209EF}"/>
              </a:ext>
            </a:extLst>
          </p:cNvPr>
          <p:cNvSpPr txBox="1">
            <a:spLocks noChangeArrowheads="1"/>
          </p:cNvSpPr>
          <p:nvPr/>
        </p:nvSpPr>
        <p:spPr bwMode="auto">
          <a:xfrm>
            <a:off x="6695054" y="5477166"/>
            <a:ext cx="762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1200" dirty="0">
                <a:gradFill>
                  <a:gsLst>
                    <a:gs pos="49600">
                      <a:srgbClr val="92D050">
                        <a:lumMod val="68000"/>
                      </a:srgbClr>
                    </a:gs>
                    <a:gs pos="0">
                      <a:srgbClr val="00FF00">
                        <a:lumMod val="41000"/>
                      </a:srgbClr>
                    </a:gs>
                    <a:gs pos="100000">
                      <a:srgbClr val="00FF00">
                        <a:alpha val="20000"/>
                        <a:lumMod val="0"/>
                      </a:srgbClr>
                    </a:gs>
                  </a:gsLst>
                  <a:lin ang="0" scaled="1"/>
                </a:gradFill>
                <a:latin typeface="Century Gothic" pitchFamily="34" charset="0"/>
              </a:rPr>
              <a:t>battery</a:t>
            </a:r>
          </a:p>
        </p:txBody>
      </p:sp>
      <p:sp>
        <p:nvSpPr>
          <p:cNvPr id="31" name="Rectangle 30">
            <a:extLst>
              <a:ext uri="{FF2B5EF4-FFF2-40B4-BE49-F238E27FC236}">
                <a16:creationId xmlns:a16="http://schemas.microsoft.com/office/drawing/2014/main" id="{362DB2E4-C02E-F4FA-0757-9B12166BEBF0}"/>
              </a:ext>
            </a:extLst>
          </p:cNvPr>
          <p:cNvSpPr/>
          <p:nvPr/>
        </p:nvSpPr>
        <p:spPr>
          <a:xfrm>
            <a:off x="6228955" y="5732998"/>
            <a:ext cx="1189869" cy="1143000"/>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9EF64D3-7922-F988-DD90-6B9814BE3FD7}"/>
              </a:ext>
            </a:extLst>
          </p:cNvPr>
          <p:cNvSpPr txBox="1"/>
          <p:nvPr/>
        </p:nvSpPr>
        <p:spPr>
          <a:xfrm>
            <a:off x="281025" y="186746"/>
            <a:ext cx="4426857" cy="461665"/>
          </a:xfrm>
          <a:prstGeom prst="rect">
            <a:avLst/>
          </a:prstGeom>
          <a:noFill/>
        </p:spPr>
        <p:txBody>
          <a:bodyPr wrap="square" rtlCol="0">
            <a:spAutoFit/>
          </a:bodyPr>
          <a:lstStyle/>
          <a:p>
            <a:r>
              <a:rPr lang="en-US" sz="2400" b="1" dirty="0">
                <a:solidFill>
                  <a:srgbClr val="00B0F0"/>
                </a:solidFill>
              </a:rPr>
              <a:t>Battery CONOPS</a:t>
            </a:r>
          </a:p>
        </p:txBody>
      </p:sp>
    </p:spTree>
    <p:extLst>
      <p:ext uri="{BB962C8B-B14F-4D97-AF65-F5344CB8AC3E}">
        <p14:creationId xmlns:p14="http://schemas.microsoft.com/office/powerpoint/2010/main" val="1827215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10800000">
                                      <p:cBhvr>
                                        <p:cTn id="6" dur="40000" fill="hold"/>
                                        <p:tgtEl>
                                          <p:spTgt spid="5"/>
                                        </p:tgtEl>
                                        <p:attrNameLst>
                                          <p:attrName>r</p:attrName>
                                        </p:attrNameLst>
                                      </p:cBhvr>
                                    </p:animRot>
                                  </p:childTnLst>
                                </p:cTn>
                              </p:par>
                              <p:par>
                                <p:cTn id="7" presetID="1" presetClass="path" presetSubtype="0" repeatCount="4000" fill="hold" nodeType="withEffect">
                                  <p:stCondLst>
                                    <p:cond delay="0"/>
                                  </p:stCondLst>
                                  <p:childTnLst>
                                    <p:animMotion origin="layout" path="M 0.00035 -0.00185 C 0.00035 0.19422 -0.08958 0.35394 -0.1993 0.35394 C -0.31007 0.35394 -0.39913 0.19422 -0.39913 -0.00185 C -0.39913 -0.19768 -0.31007 -0.35671 -0.1993 -0.35671 C -0.08958 -0.35671 0.00035 -0.19768 0.00035 -0.00185 Z " pathEditMode="relative" rAng="5400000" ptsTypes="AAAAA">
                                      <p:cBhvr>
                                        <p:cTn id="8" dur="10000" spd="-100000" fill="hold"/>
                                        <p:tgtEl>
                                          <p:spTgt spid="6"/>
                                        </p:tgtEl>
                                        <p:attrNameLst>
                                          <p:attrName>ppt_x</p:attrName>
                                          <p:attrName>ppt_y</p:attrName>
                                        </p:attrNameLst>
                                      </p:cBhvr>
                                      <p:rCtr x="-19965" y="46"/>
                                    </p:animMotion>
                                  </p:childTnLst>
                                </p:cTn>
                              </p:par>
                              <p:par>
                                <p:cTn id="9" presetID="8" presetClass="emph" presetSubtype="0" repeatCount="4000" fill="hold" nodeType="withEffect">
                                  <p:stCondLst>
                                    <p:cond delay="0"/>
                                  </p:stCondLst>
                                  <p:childTnLst>
                                    <p:animRot by="-21600000">
                                      <p:cBhvr>
                                        <p:cTn id="10" dur="10000" fill="hold"/>
                                        <p:tgtEl>
                                          <p:spTgt spid="6"/>
                                        </p:tgtEl>
                                        <p:attrNameLst>
                                          <p:attrName>r</p:attrName>
                                        </p:attrNameLst>
                                      </p:cBhvr>
                                    </p:animRot>
                                  </p:childTnLst>
                                </p:cTn>
                              </p:par>
                              <p:par>
                                <p:cTn id="11" presetID="10" presetClass="entr" presetSubtype="0" fill="hold" grpId="0" nodeType="withEffect">
                                  <p:stCondLst>
                                    <p:cond delay="60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1000"/>
                                        <p:tgtEl>
                                          <p:spTgt spid="26"/>
                                        </p:tgtEl>
                                      </p:cBhvr>
                                    </p:animEffect>
                                  </p:childTnLst>
                                </p:cTn>
                              </p:par>
                              <p:par>
                                <p:cTn id="14" presetID="10" presetClass="entr" presetSubtype="0" fill="hold" nodeType="withEffect">
                                  <p:stCondLst>
                                    <p:cond delay="60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60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par>
                                <p:cTn id="20" presetID="10" presetClass="entr" presetSubtype="0" fill="hold" nodeType="withEffect">
                                  <p:stCondLst>
                                    <p:cond delay="600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childTnLst>
                                </p:cTn>
                              </p:par>
                              <p:par>
                                <p:cTn id="23" presetID="10" presetClass="entr" presetSubtype="0" fill="hold" grpId="0" nodeType="withEffect">
                                  <p:stCondLst>
                                    <p:cond delay="60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childTnLst>
                                </p:cTn>
                              </p:par>
                              <p:par>
                                <p:cTn id="26" presetID="10" presetClass="entr" presetSubtype="0" fill="hold" grpId="0" nodeType="withEffect">
                                  <p:stCondLst>
                                    <p:cond delay="60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childTnLst>
                                </p:cTn>
                              </p:par>
                              <p:par>
                                <p:cTn id="29" presetID="10" presetClass="entr" presetSubtype="0" fill="hold" grpId="0" nodeType="withEffect">
                                  <p:stCondLst>
                                    <p:cond delay="60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childTnLst>
                                </p:cTn>
                              </p:par>
                              <p:par>
                                <p:cTn id="32" presetID="10" presetClass="entr" presetSubtype="0" fill="hold" grpId="0" nodeType="withEffect">
                                  <p:stCondLst>
                                    <p:cond delay="600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1000"/>
                                        <p:tgtEl>
                                          <p:spTgt spid="27"/>
                                        </p:tgtEl>
                                      </p:cBhvr>
                                    </p:animEffect>
                                  </p:childTnLst>
                                </p:cTn>
                              </p:par>
                              <p:par>
                                <p:cTn id="35" presetID="10" presetClass="entr" presetSubtype="0" fill="hold" grpId="0" nodeType="withEffect">
                                  <p:stCondLst>
                                    <p:cond delay="600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childTnLst>
                                </p:cTn>
                              </p:par>
                              <p:par>
                                <p:cTn id="38" presetID="10" presetClass="entr" presetSubtype="0" fill="hold" grpId="0" nodeType="withEffect">
                                  <p:stCondLst>
                                    <p:cond delay="600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1000"/>
                                        <p:tgtEl>
                                          <p:spTgt spid="29"/>
                                        </p:tgtEl>
                                      </p:cBhvr>
                                    </p:animEffect>
                                  </p:childTnLst>
                                </p:cTn>
                              </p:par>
                              <p:par>
                                <p:cTn id="41" presetID="42" presetClass="path" presetSubtype="0" fill="hold" grpId="1" nodeType="withEffect">
                                  <p:stCondLst>
                                    <p:cond delay="8500"/>
                                  </p:stCondLst>
                                  <p:childTnLst>
                                    <p:animMotion origin="layout" path="M -4.72222E-6 -7.40741E-7 L -4.72222E-6 0.05 " pathEditMode="relative" rAng="0" ptsTypes="AA">
                                      <p:cBhvr>
                                        <p:cTn id="42" dur="2500" fill="hold"/>
                                        <p:tgtEl>
                                          <p:spTgt spid="28"/>
                                        </p:tgtEl>
                                        <p:attrNameLst>
                                          <p:attrName>ppt_x</p:attrName>
                                          <p:attrName>ppt_y</p:attrName>
                                        </p:attrNameLst>
                                      </p:cBhvr>
                                      <p:rCtr x="0" y="2500"/>
                                    </p:animMotion>
                                  </p:childTnLst>
                                </p:cTn>
                              </p:par>
                              <p:par>
                                <p:cTn id="43" presetID="10" presetClass="exit" presetSubtype="0" fill="hold" nodeType="withEffect">
                                  <p:stCondLst>
                                    <p:cond delay="8500"/>
                                  </p:stCondLst>
                                  <p:childTnLst>
                                    <p:animEffect transition="out" filter="fade">
                                      <p:cBhvr>
                                        <p:cTn id="44" dur="500"/>
                                        <p:tgtEl>
                                          <p:spTgt spid="13"/>
                                        </p:tgtEl>
                                      </p:cBhvr>
                                    </p:animEffect>
                                    <p:set>
                                      <p:cBhvr>
                                        <p:cTn id="45" dur="1" fill="hold">
                                          <p:stCondLst>
                                            <p:cond delay="499"/>
                                          </p:stCondLst>
                                        </p:cTn>
                                        <p:tgtEl>
                                          <p:spTgt spid="13"/>
                                        </p:tgtEl>
                                        <p:attrNameLst>
                                          <p:attrName>style.visibility</p:attrName>
                                        </p:attrNameLst>
                                      </p:cBhvr>
                                      <p:to>
                                        <p:strVal val="hidden"/>
                                      </p:to>
                                    </p:set>
                                  </p:childTnLst>
                                </p:cTn>
                              </p:par>
                              <p:par>
                                <p:cTn id="46" presetID="10" presetClass="entr" presetSubtype="0" fill="hold" grpId="0" nodeType="withEffect">
                                  <p:stCondLst>
                                    <p:cond delay="85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49" presetID="64" presetClass="path" presetSubtype="0" fill="hold" grpId="2" nodeType="withEffect">
                                  <p:stCondLst>
                                    <p:cond delay="11000"/>
                                  </p:stCondLst>
                                  <p:childTnLst>
                                    <p:animMotion origin="layout" path="M -4.72222E-6 0.05 L -4.72222E-6 -7.40741E-7 " pathEditMode="relative" rAng="0" ptsTypes="AA">
                                      <p:cBhvr>
                                        <p:cTn id="50" dur="7500" fill="hold"/>
                                        <p:tgtEl>
                                          <p:spTgt spid="28"/>
                                        </p:tgtEl>
                                        <p:attrNameLst>
                                          <p:attrName>ppt_x</p:attrName>
                                          <p:attrName>ppt_y</p:attrName>
                                        </p:attrNameLst>
                                      </p:cBhvr>
                                      <p:rCtr x="0" y="-2500"/>
                                    </p:animMotion>
                                  </p:childTnLst>
                                </p:cTn>
                              </p:par>
                              <p:par>
                                <p:cTn id="51" presetID="10" presetClass="entr" presetSubtype="0" fill="hold" nodeType="withEffect">
                                  <p:stCondLst>
                                    <p:cond delay="1100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par>
                                <p:cTn id="54" presetID="10" presetClass="exit" presetSubtype="0" fill="hold" grpId="1" nodeType="withEffect">
                                  <p:stCondLst>
                                    <p:cond delay="11000"/>
                                  </p:stCondLst>
                                  <p:childTnLst>
                                    <p:animEffect transition="out" filter="fade">
                                      <p:cBhvr>
                                        <p:cTn id="55" dur="500"/>
                                        <p:tgtEl>
                                          <p:spTgt spid="11"/>
                                        </p:tgtEl>
                                      </p:cBhvr>
                                    </p:animEffect>
                                    <p:set>
                                      <p:cBhvr>
                                        <p:cTn id="56" dur="1" fill="hold">
                                          <p:stCondLst>
                                            <p:cond delay="499"/>
                                          </p:stCondLst>
                                        </p:cTn>
                                        <p:tgtEl>
                                          <p:spTgt spid="11"/>
                                        </p:tgtEl>
                                        <p:attrNameLst>
                                          <p:attrName>style.visibility</p:attrName>
                                        </p:attrNameLst>
                                      </p:cBhvr>
                                      <p:to>
                                        <p:strVal val="hidden"/>
                                      </p:to>
                                    </p:set>
                                  </p:childTnLst>
                                </p:cTn>
                              </p:par>
                              <p:par>
                                <p:cTn id="57" presetID="42" presetClass="path" presetSubtype="0" fill="hold" grpId="3" nodeType="withEffect">
                                  <p:stCondLst>
                                    <p:cond delay="18500"/>
                                  </p:stCondLst>
                                  <p:childTnLst>
                                    <p:animMotion origin="layout" path="M -4.72222E-6 -7.40741E-7 L -4.72222E-6 0.05 " pathEditMode="relative" rAng="0" ptsTypes="AA">
                                      <p:cBhvr>
                                        <p:cTn id="58" dur="2500" fill="hold"/>
                                        <p:tgtEl>
                                          <p:spTgt spid="28"/>
                                        </p:tgtEl>
                                        <p:attrNameLst>
                                          <p:attrName>ppt_x</p:attrName>
                                          <p:attrName>ppt_y</p:attrName>
                                        </p:attrNameLst>
                                      </p:cBhvr>
                                      <p:rCtr x="0" y="2500"/>
                                    </p:animMotion>
                                  </p:childTnLst>
                                </p:cTn>
                              </p:par>
                              <p:par>
                                <p:cTn id="59" presetID="10" presetClass="exit" presetSubtype="0" fill="hold" nodeType="withEffect">
                                  <p:stCondLst>
                                    <p:cond delay="18500"/>
                                  </p:stCondLst>
                                  <p:childTnLst>
                                    <p:animEffect transition="out" filter="fade">
                                      <p:cBhvr>
                                        <p:cTn id="60" dur="500"/>
                                        <p:tgtEl>
                                          <p:spTgt spid="13"/>
                                        </p:tgtEl>
                                      </p:cBhvr>
                                    </p:animEffect>
                                    <p:set>
                                      <p:cBhvr>
                                        <p:cTn id="61" dur="1" fill="hold">
                                          <p:stCondLst>
                                            <p:cond delay="499"/>
                                          </p:stCondLst>
                                        </p:cTn>
                                        <p:tgtEl>
                                          <p:spTgt spid="13"/>
                                        </p:tgtEl>
                                        <p:attrNameLst>
                                          <p:attrName>style.visibility</p:attrName>
                                        </p:attrNameLst>
                                      </p:cBhvr>
                                      <p:to>
                                        <p:strVal val="hidden"/>
                                      </p:to>
                                    </p:set>
                                  </p:childTnLst>
                                </p:cTn>
                              </p:par>
                              <p:par>
                                <p:cTn id="62" presetID="10" presetClass="entr" presetSubtype="0" fill="hold" grpId="2" nodeType="withEffect">
                                  <p:stCondLst>
                                    <p:cond delay="1850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500"/>
                                        <p:tgtEl>
                                          <p:spTgt spid="11"/>
                                        </p:tgtEl>
                                      </p:cBhvr>
                                    </p:animEffect>
                                  </p:childTnLst>
                                </p:cTn>
                              </p:par>
                              <p:par>
                                <p:cTn id="65" presetID="64" presetClass="path" presetSubtype="0" fill="hold" grpId="4" nodeType="withEffect">
                                  <p:stCondLst>
                                    <p:cond delay="21000"/>
                                  </p:stCondLst>
                                  <p:childTnLst>
                                    <p:animMotion origin="layout" path="M -4.72222E-6 0.05 L -4.72222E-6 -7.40741E-7 " pathEditMode="relative" rAng="0" ptsTypes="AA">
                                      <p:cBhvr>
                                        <p:cTn id="66" dur="7500" fill="hold"/>
                                        <p:tgtEl>
                                          <p:spTgt spid="28"/>
                                        </p:tgtEl>
                                        <p:attrNameLst>
                                          <p:attrName>ppt_x</p:attrName>
                                          <p:attrName>ppt_y</p:attrName>
                                        </p:attrNameLst>
                                      </p:cBhvr>
                                      <p:rCtr x="0" y="-2500"/>
                                    </p:animMotion>
                                  </p:childTnLst>
                                </p:cTn>
                              </p:par>
                              <p:par>
                                <p:cTn id="67" presetID="10" presetClass="entr" presetSubtype="0" fill="hold" nodeType="withEffect">
                                  <p:stCondLst>
                                    <p:cond delay="2100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500"/>
                                        <p:tgtEl>
                                          <p:spTgt spid="13"/>
                                        </p:tgtEl>
                                      </p:cBhvr>
                                    </p:animEffect>
                                  </p:childTnLst>
                                </p:cTn>
                              </p:par>
                              <p:par>
                                <p:cTn id="70" presetID="10" presetClass="exit" presetSubtype="0" fill="hold" grpId="3" nodeType="withEffect">
                                  <p:stCondLst>
                                    <p:cond delay="21000"/>
                                  </p:stCondLst>
                                  <p:childTnLst>
                                    <p:animEffect transition="out" filter="fade">
                                      <p:cBhvr>
                                        <p:cTn id="71" dur="500"/>
                                        <p:tgtEl>
                                          <p:spTgt spid="11"/>
                                        </p:tgtEl>
                                      </p:cBhvr>
                                    </p:animEffect>
                                    <p:set>
                                      <p:cBhvr>
                                        <p:cTn id="72" dur="1" fill="hold">
                                          <p:stCondLst>
                                            <p:cond delay="499"/>
                                          </p:stCondLst>
                                        </p:cTn>
                                        <p:tgtEl>
                                          <p:spTgt spid="11"/>
                                        </p:tgtEl>
                                        <p:attrNameLst>
                                          <p:attrName>style.visibility</p:attrName>
                                        </p:attrNameLst>
                                      </p:cBhvr>
                                      <p:to>
                                        <p:strVal val="hidden"/>
                                      </p:to>
                                    </p:set>
                                  </p:childTnLst>
                                </p:cTn>
                              </p:par>
                              <p:par>
                                <p:cTn id="73" presetID="42" presetClass="path" presetSubtype="0" fill="hold" grpId="5" nodeType="withEffect">
                                  <p:stCondLst>
                                    <p:cond delay="28500"/>
                                  </p:stCondLst>
                                  <p:childTnLst>
                                    <p:animMotion origin="layout" path="M -4.72222E-6 -7.40741E-7 L -4.72222E-6 0.05 " pathEditMode="relative" rAng="0" ptsTypes="AA">
                                      <p:cBhvr>
                                        <p:cTn id="74" dur="2500" fill="hold"/>
                                        <p:tgtEl>
                                          <p:spTgt spid="28"/>
                                        </p:tgtEl>
                                        <p:attrNameLst>
                                          <p:attrName>ppt_x</p:attrName>
                                          <p:attrName>ppt_y</p:attrName>
                                        </p:attrNameLst>
                                      </p:cBhvr>
                                      <p:rCtr x="0" y="2500"/>
                                    </p:animMotion>
                                  </p:childTnLst>
                                </p:cTn>
                              </p:par>
                              <p:par>
                                <p:cTn id="75" presetID="10" presetClass="exit" presetSubtype="0" fill="hold" nodeType="withEffect">
                                  <p:stCondLst>
                                    <p:cond delay="28500"/>
                                  </p:stCondLst>
                                  <p:childTnLst>
                                    <p:animEffect transition="out" filter="fade">
                                      <p:cBhvr>
                                        <p:cTn id="76" dur="500"/>
                                        <p:tgtEl>
                                          <p:spTgt spid="13"/>
                                        </p:tgtEl>
                                      </p:cBhvr>
                                    </p:animEffect>
                                    <p:set>
                                      <p:cBhvr>
                                        <p:cTn id="77" dur="1" fill="hold">
                                          <p:stCondLst>
                                            <p:cond delay="499"/>
                                          </p:stCondLst>
                                        </p:cTn>
                                        <p:tgtEl>
                                          <p:spTgt spid="13"/>
                                        </p:tgtEl>
                                        <p:attrNameLst>
                                          <p:attrName>style.visibility</p:attrName>
                                        </p:attrNameLst>
                                      </p:cBhvr>
                                      <p:to>
                                        <p:strVal val="hidden"/>
                                      </p:to>
                                    </p:set>
                                  </p:childTnLst>
                                </p:cTn>
                              </p:par>
                              <p:par>
                                <p:cTn id="78" presetID="10" presetClass="entr" presetSubtype="0" fill="hold" grpId="4" nodeType="withEffect">
                                  <p:stCondLst>
                                    <p:cond delay="28500"/>
                                  </p:stCondLst>
                                  <p:childTnLst>
                                    <p:set>
                                      <p:cBhvr>
                                        <p:cTn id="79" dur="1" fill="hold">
                                          <p:stCondLst>
                                            <p:cond delay="0"/>
                                          </p:stCondLst>
                                        </p:cTn>
                                        <p:tgtEl>
                                          <p:spTgt spid="11"/>
                                        </p:tgtEl>
                                        <p:attrNameLst>
                                          <p:attrName>style.visibility</p:attrName>
                                        </p:attrNameLst>
                                      </p:cBhvr>
                                      <p:to>
                                        <p:strVal val="visible"/>
                                      </p:to>
                                    </p:set>
                                    <p:animEffect transition="in" filter="fade">
                                      <p:cBhvr>
                                        <p:cTn id="80" dur="500"/>
                                        <p:tgtEl>
                                          <p:spTgt spid="11"/>
                                        </p:tgtEl>
                                      </p:cBhvr>
                                    </p:animEffect>
                                  </p:childTnLst>
                                </p:cTn>
                              </p:par>
                              <p:par>
                                <p:cTn id="81" presetID="64" presetClass="path" presetSubtype="0" fill="hold" grpId="6" nodeType="withEffect">
                                  <p:stCondLst>
                                    <p:cond delay="31000"/>
                                  </p:stCondLst>
                                  <p:childTnLst>
                                    <p:animMotion origin="layout" path="M -4.72222E-6 0.05 L -4.72222E-6 -0.00046 " pathEditMode="relative" rAng="0" ptsTypes="AA">
                                      <p:cBhvr>
                                        <p:cTn id="82" dur="7500" fill="hold"/>
                                        <p:tgtEl>
                                          <p:spTgt spid="28"/>
                                        </p:tgtEl>
                                        <p:attrNameLst>
                                          <p:attrName>ppt_x</p:attrName>
                                          <p:attrName>ppt_y</p:attrName>
                                        </p:attrNameLst>
                                      </p:cBhvr>
                                      <p:rCtr x="0" y="-2523"/>
                                    </p:animMotion>
                                  </p:childTnLst>
                                </p:cTn>
                              </p:par>
                              <p:par>
                                <p:cTn id="83" presetID="10" presetClass="entr" presetSubtype="0" fill="hold" nodeType="withEffect">
                                  <p:stCondLst>
                                    <p:cond delay="31000"/>
                                  </p:stCondLst>
                                  <p:childTnLst>
                                    <p:set>
                                      <p:cBhvr>
                                        <p:cTn id="84" dur="1" fill="hold">
                                          <p:stCondLst>
                                            <p:cond delay="0"/>
                                          </p:stCondLst>
                                        </p:cTn>
                                        <p:tgtEl>
                                          <p:spTgt spid="13"/>
                                        </p:tgtEl>
                                        <p:attrNameLst>
                                          <p:attrName>style.visibility</p:attrName>
                                        </p:attrNameLst>
                                      </p:cBhvr>
                                      <p:to>
                                        <p:strVal val="visible"/>
                                      </p:to>
                                    </p:set>
                                    <p:animEffect transition="in" filter="fade">
                                      <p:cBhvr>
                                        <p:cTn id="85" dur="500"/>
                                        <p:tgtEl>
                                          <p:spTgt spid="13"/>
                                        </p:tgtEl>
                                      </p:cBhvr>
                                    </p:animEffect>
                                  </p:childTnLst>
                                </p:cTn>
                              </p:par>
                              <p:par>
                                <p:cTn id="86" presetID="10" presetClass="exit" presetSubtype="0" fill="hold" grpId="5" nodeType="withEffect">
                                  <p:stCondLst>
                                    <p:cond delay="31000"/>
                                  </p:stCondLst>
                                  <p:childTnLst>
                                    <p:animEffect transition="out" filter="fade">
                                      <p:cBhvr>
                                        <p:cTn id="87" dur="500"/>
                                        <p:tgtEl>
                                          <p:spTgt spid="11"/>
                                        </p:tgtEl>
                                      </p:cBhvr>
                                    </p:animEffect>
                                    <p:set>
                                      <p:cBhvr>
                                        <p:cTn id="88" dur="1" fill="hold">
                                          <p:stCondLst>
                                            <p:cond delay="499"/>
                                          </p:stCondLst>
                                        </p:cTn>
                                        <p:tgtEl>
                                          <p:spTgt spid="11"/>
                                        </p:tgtEl>
                                        <p:attrNameLst>
                                          <p:attrName>style.visibility</p:attrName>
                                        </p:attrNameLst>
                                      </p:cBhvr>
                                      <p:to>
                                        <p:strVal val="hidden"/>
                                      </p:to>
                                    </p:set>
                                  </p:childTnLst>
                                </p:cTn>
                              </p:par>
                              <p:par>
                                <p:cTn id="89" presetID="10" presetClass="exit" presetSubtype="0" fill="hold" grpId="1" nodeType="withEffect">
                                  <p:stCondLst>
                                    <p:cond delay="38500"/>
                                  </p:stCondLst>
                                  <p:childTnLst>
                                    <p:animEffect transition="out" filter="fade">
                                      <p:cBhvr>
                                        <p:cTn id="90" dur="1000"/>
                                        <p:tgtEl>
                                          <p:spTgt spid="26"/>
                                        </p:tgtEl>
                                      </p:cBhvr>
                                    </p:animEffect>
                                    <p:set>
                                      <p:cBhvr>
                                        <p:cTn id="91" dur="1" fill="hold">
                                          <p:stCondLst>
                                            <p:cond delay="999"/>
                                          </p:stCondLst>
                                        </p:cTn>
                                        <p:tgtEl>
                                          <p:spTgt spid="26"/>
                                        </p:tgtEl>
                                        <p:attrNameLst>
                                          <p:attrName>style.visibility</p:attrName>
                                        </p:attrNameLst>
                                      </p:cBhvr>
                                      <p:to>
                                        <p:strVal val="hidden"/>
                                      </p:to>
                                    </p:set>
                                  </p:childTnLst>
                                </p:cTn>
                              </p:par>
                              <p:par>
                                <p:cTn id="92" presetID="10" presetClass="exit" presetSubtype="0" fill="hold" grpId="1" nodeType="withEffect">
                                  <p:stCondLst>
                                    <p:cond delay="38500"/>
                                  </p:stCondLst>
                                  <p:childTnLst>
                                    <p:animEffect transition="out" filter="fade">
                                      <p:cBhvr>
                                        <p:cTn id="93" dur="1000"/>
                                        <p:tgtEl>
                                          <p:spTgt spid="27"/>
                                        </p:tgtEl>
                                      </p:cBhvr>
                                    </p:animEffect>
                                    <p:set>
                                      <p:cBhvr>
                                        <p:cTn id="94" dur="1" fill="hold">
                                          <p:stCondLst>
                                            <p:cond delay="999"/>
                                          </p:stCondLst>
                                        </p:cTn>
                                        <p:tgtEl>
                                          <p:spTgt spid="27"/>
                                        </p:tgtEl>
                                        <p:attrNameLst>
                                          <p:attrName>style.visibility</p:attrName>
                                        </p:attrNameLst>
                                      </p:cBhvr>
                                      <p:to>
                                        <p:strVal val="hidden"/>
                                      </p:to>
                                    </p:set>
                                  </p:childTnLst>
                                </p:cTn>
                              </p:par>
                              <p:par>
                                <p:cTn id="95" presetID="10" presetClass="exit" presetSubtype="0" fill="hold" grpId="7" nodeType="withEffect">
                                  <p:stCondLst>
                                    <p:cond delay="38500"/>
                                  </p:stCondLst>
                                  <p:childTnLst>
                                    <p:animEffect transition="out" filter="fade">
                                      <p:cBhvr>
                                        <p:cTn id="96" dur="1000"/>
                                        <p:tgtEl>
                                          <p:spTgt spid="28"/>
                                        </p:tgtEl>
                                      </p:cBhvr>
                                    </p:animEffect>
                                    <p:set>
                                      <p:cBhvr>
                                        <p:cTn id="97" dur="1" fill="hold">
                                          <p:stCondLst>
                                            <p:cond delay="999"/>
                                          </p:stCondLst>
                                        </p:cTn>
                                        <p:tgtEl>
                                          <p:spTgt spid="28"/>
                                        </p:tgtEl>
                                        <p:attrNameLst>
                                          <p:attrName>style.visibility</p:attrName>
                                        </p:attrNameLst>
                                      </p:cBhvr>
                                      <p:to>
                                        <p:strVal val="hidden"/>
                                      </p:to>
                                    </p:set>
                                  </p:childTnLst>
                                </p:cTn>
                              </p:par>
                              <p:par>
                                <p:cTn id="98" presetID="10" presetClass="exit" presetSubtype="0" fill="hold" grpId="1" nodeType="withEffect">
                                  <p:stCondLst>
                                    <p:cond delay="38500"/>
                                  </p:stCondLst>
                                  <p:childTnLst>
                                    <p:animEffect transition="out" filter="fade">
                                      <p:cBhvr>
                                        <p:cTn id="99" dur="1000"/>
                                        <p:tgtEl>
                                          <p:spTgt spid="29"/>
                                        </p:tgtEl>
                                      </p:cBhvr>
                                    </p:animEffect>
                                    <p:set>
                                      <p:cBhvr>
                                        <p:cTn id="100" dur="1" fill="hold">
                                          <p:stCondLst>
                                            <p:cond delay="999"/>
                                          </p:stCondLst>
                                        </p:cTn>
                                        <p:tgtEl>
                                          <p:spTgt spid="29"/>
                                        </p:tgtEl>
                                        <p:attrNameLst>
                                          <p:attrName>style.visibility</p:attrName>
                                        </p:attrNameLst>
                                      </p:cBhvr>
                                      <p:to>
                                        <p:strVal val="hidden"/>
                                      </p:to>
                                    </p:set>
                                  </p:childTnLst>
                                </p:cTn>
                              </p:par>
                              <p:par>
                                <p:cTn id="101" presetID="10" presetClass="exit" presetSubtype="0" fill="hold" nodeType="withEffect">
                                  <p:stCondLst>
                                    <p:cond delay="38500"/>
                                  </p:stCondLst>
                                  <p:childTnLst>
                                    <p:animEffect transition="out" filter="fade">
                                      <p:cBhvr>
                                        <p:cTn id="102" dur="1000"/>
                                        <p:tgtEl>
                                          <p:spTgt spid="13"/>
                                        </p:tgtEl>
                                      </p:cBhvr>
                                    </p:animEffect>
                                    <p:set>
                                      <p:cBhvr>
                                        <p:cTn id="103" dur="1" fill="hold">
                                          <p:stCondLst>
                                            <p:cond delay="999"/>
                                          </p:stCondLst>
                                        </p:cTn>
                                        <p:tgtEl>
                                          <p:spTgt spid="13"/>
                                        </p:tgtEl>
                                        <p:attrNameLst>
                                          <p:attrName>style.visibility</p:attrName>
                                        </p:attrNameLst>
                                      </p:cBhvr>
                                      <p:to>
                                        <p:strVal val="hidden"/>
                                      </p:to>
                                    </p:set>
                                  </p:childTnLst>
                                </p:cTn>
                              </p:par>
                              <p:par>
                                <p:cTn id="104" presetID="10" presetClass="exit" presetSubtype="0" fill="hold" grpId="1" nodeType="withEffect">
                                  <p:stCondLst>
                                    <p:cond delay="38500"/>
                                  </p:stCondLst>
                                  <p:childTnLst>
                                    <p:animEffect transition="out" filter="fade">
                                      <p:cBhvr>
                                        <p:cTn id="105" dur="1000"/>
                                        <p:tgtEl>
                                          <p:spTgt spid="12"/>
                                        </p:tgtEl>
                                      </p:cBhvr>
                                    </p:animEffect>
                                    <p:set>
                                      <p:cBhvr>
                                        <p:cTn id="106" dur="1" fill="hold">
                                          <p:stCondLst>
                                            <p:cond delay="999"/>
                                          </p:stCondLst>
                                        </p:cTn>
                                        <p:tgtEl>
                                          <p:spTgt spid="12"/>
                                        </p:tgtEl>
                                        <p:attrNameLst>
                                          <p:attrName>style.visibility</p:attrName>
                                        </p:attrNameLst>
                                      </p:cBhvr>
                                      <p:to>
                                        <p:strVal val="hidden"/>
                                      </p:to>
                                    </p:set>
                                  </p:childTnLst>
                                </p:cTn>
                              </p:par>
                              <p:par>
                                <p:cTn id="107" presetID="10" presetClass="exit" presetSubtype="0" fill="hold" nodeType="withEffect">
                                  <p:stCondLst>
                                    <p:cond delay="38500"/>
                                  </p:stCondLst>
                                  <p:childTnLst>
                                    <p:animEffect transition="out" filter="fade">
                                      <p:cBhvr>
                                        <p:cTn id="108" dur="1000"/>
                                        <p:tgtEl>
                                          <p:spTgt spid="16"/>
                                        </p:tgtEl>
                                      </p:cBhvr>
                                    </p:animEffect>
                                    <p:set>
                                      <p:cBhvr>
                                        <p:cTn id="109" dur="1" fill="hold">
                                          <p:stCondLst>
                                            <p:cond delay="999"/>
                                          </p:stCondLst>
                                        </p:cTn>
                                        <p:tgtEl>
                                          <p:spTgt spid="16"/>
                                        </p:tgtEl>
                                        <p:attrNameLst>
                                          <p:attrName>style.visibility</p:attrName>
                                        </p:attrNameLst>
                                      </p:cBhvr>
                                      <p:to>
                                        <p:strVal val="hidden"/>
                                      </p:to>
                                    </p:set>
                                  </p:childTnLst>
                                </p:cTn>
                              </p:par>
                              <p:par>
                                <p:cTn id="110" presetID="10" presetClass="exit" presetSubtype="0" fill="hold" grpId="1" nodeType="withEffect">
                                  <p:stCondLst>
                                    <p:cond delay="38500"/>
                                  </p:stCondLst>
                                  <p:childTnLst>
                                    <p:animEffect transition="out" filter="fade">
                                      <p:cBhvr>
                                        <p:cTn id="111" dur="1000"/>
                                        <p:tgtEl>
                                          <p:spTgt spid="8"/>
                                        </p:tgtEl>
                                      </p:cBhvr>
                                    </p:animEffect>
                                    <p:set>
                                      <p:cBhvr>
                                        <p:cTn id="112" dur="1" fill="hold">
                                          <p:stCondLst>
                                            <p:cond delay="999"/>
                                          </p:stCondLst>
                                        </p:cTn>
                                        <p:tgtEl>
                                          <p:spTgt spid="8"/>
                                        </p:tgtEl>
                                        <p:attrNameLst>
                                          <p:attrName>style.visibility</p:attrName>
                                        </p:attrNameLst>
                                      </p:cBhvr>
                                      <p:to>
                                        <p:strVal val="hidden"/>
                                      </p:to>
                                    </p:set>
                                  </p:childTnLst>
                                </p:cTn>
                              </p:par>
                              <p:par>
                                <p:cTn id="113" presetID="10" presetClass="exit" presetSubtype="0" fill="hold" grpId="1" nodeType="withEffect">
                                  <p:stCondLst>
                                    <p:cond delay="38500"/>
                                  </p:stCondLst>
                                  <p:childTnLst>
                                    <p:animEffect transition="out" filter="fade">
                                      <p:cBhvr>
                                        <p:cTn id="114" dur="1000"/>
                                        <p:tgtEl>
                                          <p:spTgt spid="9"/>
                                        </p:tgtEl>
                                      </p:cBhvr>
                                    </p:animEffect>
                                    <p:set>
                                      <p:cBhvr>
                                        <p:cTn id="115" dur="1" fill="hold">
                                          <p:stCondLst>
                                            <p:cond delay="999"/>
                                          </p:stCondLst>
                                        </p:cTn>
                                        <p:tgtEl>
                                          <p:spTgt spid="9"/>
                                        </p:tgtEl>
                                        <p:attrNameLst>
                                          <p:attrName>style.visibility</p:attrName>
                                        </p:attrNameLst>
                                      </p:cBhvr>
                                      <p:to>
                                        <p:strVal val="hidden"/>
                                      </p:to>
                                    </p:set>
                                  </p:childTnLst>
                                </p:cTn>
                              </p:par>
                              <p:par>
                                <p:cTn id="116" presetID="10" presetClass="exit" presetSubtype="0" fill="hold" grpId="1" nodeType="withEffect">
                                  <p:stCondLst>
                                    <p:cond delay="38500"/>
                                  </p:stCondLst>
                                  <p:childTnLst>
                                    <p:animEffect transition="out" filter="fade">
                                      <p:cBhvr>
                                        <p:cTn id="117" dur="1000"/>
                                        <p:tgtEl>
                                          <p:spTgt spid="10"/>
                                        </p:tgtEl>
                                      </p:cBhvr>
                                    </p:animEffect>
                                    <p:set>
                                      <p:cBhvr>
                                        <p:cTn id="118" dur="1" fill="hold">
                                          <p:stCondLst>
                                            <p:cond delay="999"/>
                                          </p:stCondLst>
                                        </p:cTn>
                                        <p:tgtEl>
                                          <p:spTgt spid="10"/>
                                        </p:tgtEl>
                                        <p:attrNameLst>
                                          <p:attrName>style.visibility</p:attrName>
                                        </p:attrNameLst>
                                      </p:cBhvr>
                                      <p:to>
                                        <p:strVal val="hidden"/>
                                      </p:to>
                                    </p:set>
                                  </p:childTnLst>
                                </p:cTn>
                              </p:par>
                              <p:par>
                                <p:cTn id="119" presetID="10" presetClass="exit" presetSubtype="0" fill="hold" grpId="6" nodeType="withEffect">
                                  <p:stCondLst>
                                    <p:cond delay="38500"/>
                                  </p:stCondLst>
                                  <p:childTnLst>
                                    <p:animEffect transition="out" filter="fade">
                                      <p:cBhvr>
                                        <p:cTn id="120" dur="1000"/>
                                        <p:tgtEl>
                                          <p:spTgt spid="11"/>
                                        </p:tgtEl>
                                      </p:cBhvr>
                                    </p:animEffect>
                                    <p:set>
                                      <p:cBhvr>
                                        <p:cTn id="121" dur="1" fill="hold">
                                          <p:stCondLst>
                                            <p:cond delay="9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P spid="11" grpId="2" animBg="1"/>
      <p:bldP spid="11" grpId="3" animBg="1"/>
      <p:bldP spid="11" grpId="4" animBg="1"/>
      <p:bldP spid="11" grpId="5" animBg="1"/>
      <p:bldP spid="11" grpId="6" animBg="1"/>
      <p:bldP spid="12" grpId="0" animBg="1"/>
      <p:bldP spid="12" grpId="1" animBg="1"/>
      <p:bldP spid="26" grpId="0" animBg="1"/>
      <p:bldP spid="26" grpId="1" animBg="1"/>
      <p:bldP spid="27" grpId="0" animBg="1"/>
      <p:bldP spid="27" grpId="1" animBg="1"/>
      <p:bldP spid="28" grpId="0" animBg="1"/>
      <p:bldP spid="28" grpId="1" animBg="1"/>
      <p:bldP spid="28" grpId="2" animBg="1"/>
      <p:bldP spid="28" grpId="3" animBg="1"/>
      <p:bldP spid="28" grpId="4" animBg="1"/>
      <p:bldP spid="28" grpId="5" animBg="1"/>
      <p:bldP spid="28" grpId="6" animBg="1"/>
      <p:bldP spid="28" grpId="7" animBg="1"/>
      <p:bldP spid="29" grpId="0"/>
      <p:bldP spid="29"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53A0-7EA2-059D-494B-E1F9C7676131}"/>
              </a:ext>
            </a:extLst>
          </p:cNvPr>
          <p:cNvSpPr>
            <a:spLocks noGrp="1"/>
          </p:cNvSpPr>
          <p:nvPr>
            <p:ph type="title"/>
          </p:nvPr>
        </p:nvSpPr>
        <p:spPr/>
        <p:txBody>
          <a:bodyPr/>
          <a:lstStyle/>
          <a:p>
            <a:r>
              <a:rPr lang="en-US" dirty="0"/>
              <a:t>Batteries – Sizing</a:t>
            </a:r>
          </a:p>
        </p:txBody>
      </p:sp>
      <p:sp>
        <p:nvSpPr>
          <p:cNvPr id="3" name="Content Placeholder 2">
            <a:extLst>
              <a:ext uri="{FF2B5EF4-FFF2-40B4-BE49-F238E27FC236}">
                <a16:creationId xmlns:a16="http://schemas.microsoft.com/office/drawing/2014/main" id="{71024D76-E536-2170-CAD3-275AAA3C9BD2}"/>
              </a:ext>
            </a:extLst>
          </p:cNvPr>
          <p:cNvSpPr>
            <a:spLocks noGrp="1"/>
          </p:cNvSpPr>
          <p:nvPr>
            <p:ph idx="1"/>
          </p:nvPr>
        </p:nvSpPr>
        <p:spPr>
          <a:xfrm>
            <a:off x="200026" y="1002506"/>
            <a:ext cx="4839142" cy="5227553"/>
          </a:xfrm>
        </p:spPr>
        <p:txBody>
          <a:bodyPr>
            <a:normAutofit/>
          </a:bodyPr>
          <a:lstStyle/>
          <a:p>
            <a:r>
              <a:rPr lang="en-US" sz="1800" b="1" dirty="0"/>
              <a:t>Depth of Discharge (DoD)</a:t>
            </a:r>
            <a:r>
              <a:rPr lang="en-US" sz="1800" dirty="0"/>
              <a:t>: % of battery’s total capacity that has been used (discharged) relative to full charge.</a:t>
            </a:r>
          </a:p>
          <a:p>
            <a:endParaRPr lang="en-US" sz="1800" dirty="0"/>
          </a:p>
          <a:p>
            <a:endParaRPr lang="en-US" sz="1800" dirty="0"/>
          </a:p>
          <a:p>
            <a:pPr marL="0" indent="0">
              <a:buNone/>
            </a:pPr>
            <a:endParaRPr lang="en-US" sz="1800" dirty="0"/>
          </a:p>
          <a:p>
            <a:r>
              <a:rPr lang="en-US" sz="1800" b="1" dirty="0"/>
              <a:t>State of Charge: </a:t>
            </a:r>
            <a:r>
              <a:rPr lang="en-US" sz="1800" dirty="0"/>
              <a:t>SoC=100%−DoD</a:t>
            </a:r>
          </a:p>
          <a:p>
            <a:endParaRPr lang="en-US" sz="1800" b="1" dirty="0"/>
          </a:p>
          <a:p>
            <a:r>
              <a:rPr lang="en-US" sz="1800" b="1" dirty="0"/>
              <a:t>Required Battery Capacity:</a:t>
            </a:r>
          </a:p>
          <a:p>
            <a:endParaRPr lang="en-US" sz="1800" b="1" dirty="0"/>
          </a:p>
          <a:p>
            <a:endParaRPr lang="en-US" sz="1800" b="1" dirty="0"/>
          </a:p>
          <a:p>
            <a:endParaRPr lang="en-US" sz="1800" b="1" dirty="0"/>
          </a:p>
          <a:p>
            <a:pPr marL="0" indent="0">
              <a:buNone/>
            </a:pPr>
            <a:endParaRPr lang="en-US" sz="1800" b="1" dirty="0"/>
          </a:p>
          <a:p>
            <a:endParaRPr lang="en-US" sz="1800" b="1" dirty="0"/>
          </a:p>
        </p:txBody>
      </p:sp>
      <p:sp>
        <p:nvSpPr>
          <p:cNvPr id="4" name="Slide Number Placeholder 3">
            <a:extLst>
              <a:ext uri="{FF2B5EF4-FFF2-40B4-BE49-F238E27FC236}">
                <a16:creationId xmlns:a16="http://schemas.microsoft.com/office/drawing/2014/main" id="{17231C45-5FC4-7297-7B30-DAC96D89E445}"/>
              </a:ext>
            </a:extLst>
          </p:cNvPr>
          <p:cNvSpPr>
            <a:spLocks noGrp="1"/>
          </p:cNvSpPr>
          <p:nvPr>
            <p:ph type="sldNum" sz="quarter" idx="12"/>
          </p:nvPr>
        </p:nvSpPr>
        <p:spPr/>
        <p:txBody>
          <a:bodyPr/>
          <a:lstStyle/>
          <a:p>
            <a:fld id="{9A3029B7-FE6B-4680-9049-80E8298A0825}" type="slidenum">
              <a:rPr lang="en-US" smtClean="0"/>
              <a:t>17</a:t>
            </a:fld>
            <a:endParaRPr lang="en-US"/>
          </a:p>
        </p:txBody>
      </p:sp>
      <p:pic>
        <p:nvPicPr>
          <p:cNvPr id="6" name="Picture 5">
            <a:extLst>
              <a:ext uri="{FF2B5EF4-FFF2-40B4-BE49-F238E27FC236}">
                <a16:creationId xmlns:a16="http://schemas.microsoft.com/office/drawing/2014/main" id="{C473B22F-E7F8-E428-621B-7591E24FBA3B}"/>
              </a:ext>
            </a:extLst>
          </p:cNvPr>
          <p:cNvPicPr>
            <a:picLocks noChangeAspect="1"/>
          </p:cNvPicPr>
          <p:nvPr/>
        </p:nvPicPr>
        <p:blipFill>
          <a:blip r:embed="rId3"/>
          <a:stretch>
            <a:fillRect/>
          </a:stretch>
        </p:blipFill>
        <p:spPr>
          <a:xfrm>
            <a:off x="5277924" y="1002506"/>
            <a:ext cx="3819712" cy="2321414"/>
          </a:xfrm>
          <a:prstGeom prst="rect">
            <a:avLst/>
          </a:prstGeom>
        </p:spPr>
      </p:pic>
      <p:pic>
        <p:nvPicPr>
          <p:cNvPr id="8" name="Picture 7">
            <a:extLst>
              <a:ext uri="{FF2B5EF4-FFF2-40B4-BE49-F238E27FC236}">
                <a16:creationId xmlns:a16="http://schemas.microsoft.com/office/drawing/2014/main" id="{DCC163B8-AC16-48F5-B3DD-65EDE52B5252}"/>
              </a:ext>
            </a:extLst>
          </p:cNvPr>
          <p:cNvPicPr>
            <a:picLocks noChangeAspect="1"/>
          </p:cNvPicPr>
          <p:nvPr/>
        </p:nvPicPr>
        <p:blipFill>
          <a:blip r:embed="rId4"/>
          <a:stretch>
            <a:fillRect/>
          </a:stretch>
        </p:blipFill>
        <p:spPr>
          <a:xfrm>
            <a:off x="3667914" y="3389833"/>
            <a:ext cx="2990160" cy="1085232"/>
          </a:xfrm>
          <a:prstGeom prst="rect">
            <a:avLst/>
          </a:prstGeom>
        </p:spPr>
      </p:pic>
      <p:pic>
        <p:nvPicPr>
          <p:cNvPr id="12" name="Picture 11">
            <a:extLst>
              <a:ext uri="{FF2B5EF4-FFF2-40B4-BE49-F238E27FC236}">
                <a16:creationId xmlns:a16="http://schemas.microsoft.com/office/drawing/2014/main" id="{9BE9D92D-0DCD-F96B-A2C5-2A84A5B7E34F}"/>
              </a:ext>
            </a:extLst>
          </p:cNvPr>
          <p:cNvPicPr>
            <a:picLocks noChangeAspect="1"/>
          </p:cNvPicPr>
          <p:nvPr/>
        </p:nvPicPr>
        <p:blipFill>
          <a:blip r:embed="rId5"/>
          <a:stretch>
            <a:fillRect/>
          </a:stretch>
        </p:blipFill>
        <p:spPr>
          <a:xfrm>
            <a:off x="149525" y="1866756"/>
            <a:ext cx="5013469" cy="1085232"/>
          </a:xfrm>
          <a:prstGeom prst="rect">
            <a:avLst/>
          </a:prstGeom>
        </p:spPr>
      </p:pic>
      <p:grpSp>
        <p:nvGrpSpPr>
          <p:cNvPr id="15" name="Group 14">
            <a:extLst>
              <a:ext uri="{FF2B5EF4-FFF2-40B4-BE49-F238E27FC236}">
                <a16:creationId xmlns:a16="http://schemas.microsoft.com/office/drawing/2014/main" id="{893BCC8A-9C4F-8FDC-328B-A74E6C9EDB3F}"/>
              </a:ext>
            </a:extLst>
          </p:cNvPr>
          <p:cNvGrpSpPr/>
          <p:nvPr/>
        </p:nvGrpSpPr>
        <p:grpSpPr>
          <a:xfrm>
            <a:off x="1387666" y="4540979"/>
            <a:ext cx="8223502" cy="1043637"/>
            <a:chOff x="981266" y="4550581"/>
            <a:chExt cx="8223502" cy="1043637"/>
          </a:xfrm>
        </p:grpSpPr>
        <p:pic>
          <p:nvPicPr>
            <p:cNvPr id="10" name="Picture 9">
              <a:extLst>
                <a:ext uri="{FF2B5EF4-FFF2-40B4-BE49-F238E27FC236}">
                  <a16:creationId xmlns:a16="http://schemas.microsoft.com/office/drawing/2014/main" id="{A14505A6-B9A0-572F-9177-08D380F10537}"/>
                </a:ext>
              </a:extLst>
            </p:cNvPr>
            <p:cNvPicPr>
              <a:picLocks noChangeAspect="1"/>
            </p:cNvPicPr>
            <p:nvPr/>
          </p:nvPicPr>
          <p:blipFill>
            <a:blip r:embed="rId6"/>
            <a:stretch>
              <a:fillRect/>
            </a:stretch>
          </p:blipFill>
          <p:spPr>
            <a:xfrm>
              <a:off x="981266" y="4634204"/>
              <a:ext cx="5791200" cy="960014"/>
            </a:xfrm>
            <a:prstGeom prst="rect">
              <a:avLst/>
            </a:prstGeom>
          </p:spPr>
        </p:pic>
        <p:sp>
          <p:nvSpPr>
            <p:cNvPr id="14" name="TextBox 13">
              <a:extLst>
                <a:ext uri="{FF2B5EF4-FFF2-40B4-BE49-F238E27FC236}">
                  <a16:creationId xmlns:a16="http://schemas.microsoft.com/office/drawing/2014/main" id="{25F0AF8C-A7B4-E375-83E0-106672C93CD4}"/>
                </a:ext>
              </a:extLst>
            </p:cNvPr>
            <p:cNvSpPr txBox="1"/>
            <p:nvPr/>
          </p:nvSpPr>
          <p:spPr>
            <a:xfrm>
              <a:off x="4632768" y="4550581"/>
              <a:ext cx="4572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rgbClr val="FFC000"/>
                  </a:solidFill>
                  <a:effectLst/>
                  <a:latin typeface="Arial" panose="020B0604020202020204" pitchFamily="34" charset="0"/>
                </a:rPr>
                <a:t>(W-</a:t>
              </a:r>
              <a:r>
                <a:rPr kumimoji="0" lang="en-US" altLang="en-US" sz="1800" b="1" i="0" u="none" strike="noStrike" cap="none" normalizeH="0" baseline="0" dirty="0" err="1">
                  <a:ln>
                    <a:noFill/>
                  </a:ln>
                  <a:solidFill>
                    <a:srgbClr val="FFC000"/>
                  </a:solidFill>
                  <a:effectLst/>
                  <a:latin typeface="Arial" panose="020B0604020202020204" pitchFamily="34" charset="0"/>
                </a:rPr>
                <a:t>hr</a:t>
              </a:r>
              <a:r>
                <a:rPr kumimoji="0" lang="en-US" altLang="en-US" sz="1800" b="1" i="0" u="none" strike="noStrike" cap="none" normalizeH="0" baseline="0" dirty="0">
                  <a:ln>
                    <a:noFill/>
                  </a:ln>
                  <a:solidFill>
                    <a:srgbClr val="FFC000"/>
                  </a:solidFill>
                  <a:effectLst/>
                  <a:latin typeface="Arial" panose="020B0604020202020204" pitchFamily="34" charset="0"/>
                </a:rPr>
                <a:t>)</a:t>
              </a:r>
            </a:p>
          </p:txBody>
        </p:sp>
      </p:grpSp>
      <p:sp>
        <p:nvSpPr>
          <p:cNvPr id="17" name="TextBox 16">
            <a:extLst>
              <a:ext uri="{FF2B5EF4-FFF2-40B4-BE49-F238E27FC236}">
                <a16:creationId xmlns:a16="http://schemas.microsoft.com/office/drawing/2014/main" id="{C1975860-BDB1-16B6-B6EF-58A39A1CFC24}"/>
              </a:ext>
            </a:extLst>
          </p:cNvPr>
          <p:cNvSpPr txBox="1"/>
          <p:nvPr/>
        </p:nvSpPr>
        <p:spPr>
          <a:xfrm>
            <a:off x="232218" y="5570436"/>
            <a:ext cx="10207182" cy="369332"/>
          </a:xfrm>
          <a:prstGeom prst="rect">
            <a:avLst/>
          </a:prstGeom>
          <a:noFill/>
        </p:spPr>
        <p:txBody>
          <a:bodyPr wrap="square">
            <a:spAutoFit/>
          </a:bodyPr>
          <a:lstStyle/>
          <a:p>
            <a:pPr marL="285750" indent="-285750">
              <a:buFont typeface="Arial" panose="020B0604020202020204" pitchFamily="34" charset="0"/>
              <a:buChar char="•"/>
            </a:pPr>
            <a:r>
              <a:rPr lang="en-US" sz="1800" b="1" dirty="0"/>
              <a:t>Example:</a:t>
            </a:r>
            <a:r>
              <a:rPr lang="en-US" sz="1800" dirty="0"/>
              <a:t> Given 12V/100A-hr battery, what is battery capacity in W</a:t>
            </a:r>
            <a:r>
              <a:rPr lang="en-US" dirty="0"/>
              <a:t>-</a:t>
            </a:r>
            <a:r>
              <a:rPr lang="en-US" sz="1800" dirty="0" err="1"/>
              <a:t>hr</a:t>
            </a:r>
            <a:r>
              <a:rPr lang="en-US" sz="1800" dirty="0"/>
              <a:t>?</a:t>
            </a:r>
            <a:endParaRPr lang="en-US" sz="1800" b="1"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94BF016-890D-2C03-A707-A533C4A69C2D}"/>
                  </a:ext>
                </a:extLst>
              </p:cNvPr>
              <p:cNvSpPr txBox="1"/>
              <p:nvPr/>
            </p:nvSpPr>
            <p:spPr>
              <a:xfrm>
                <a:off x="2926517" y="6060075"/>
                <a:ext cx="32909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𝟏𝟐</m:t>
                      </m:r>
                      <m:r>
                        <a:rPr lang="en-US" sz="2400" b="1" i="1" smtClean="0">
                          <a:latin typeface="Cambria Math" panose="02040503050406030204" pitchFamily="18" charset="0"/>
                        </a:rPr>
                        <m:t>∗</m:t>
                      </m:r>
                      <m:r>
                        <a:rPr lang="en-US" sz="2400" b="1" i="1" smtClean="0">
                          <a:latin typeface="Cambria Math" panose="02040503050406030204" pitchFamily="18" charset="0"/>
                        </a:rPr>
                        <m:t>𝟏𝟎𝟎</m:t>
                      </m:r>
                      <m:r>
                        <a:rPr lang="en-US" sz="2400" b="1" i="1" smtClean="0">
                          <a:latin typeface="Cambria Math" panose="02040503050406030204" pitchFamily="18" charset="0"/>
                        </a:rPr>
                        <m:t>=</m:t>
                      </m:r>
                      <m:r>
                        <a:rPr lang="en-US" sz="2400" b="1" i="1" smtClean="0">
                          <a:latin typeface="Cambria Math" panose="02040503050406030204" pitchFamily="18" charset="0"/>
                        </a:rPr>
                        <m:t>𝟏𝟐𝟎𝟎</m:t>
                      </m:r>
                      <m:r>
                        <a:rPr lang="en-US" sz="2400" b="1" i="1" smtClean="0">
                          <a:latin typeface="Cambria Math" panose="02040503050406030204" pitchFamily="18" charset="0"/>
                        </a:rPr>
                        <m:t> </m:t>
                      </m:r>
                      <m:r>
                        <a:rPr lang="en-US" sz="2400" b="1" i="1" smtClean="0">
                          <a:latin typeface="Cambria Math" panose="02040503050406030204" pitchFamily="18" charset="0"/>
                        </a:rPr>
                        <m:t>𝑾𝒉𝒓𝒔</m:t>
                      </m:r>
                    </m:oMath>
                  </m:oMathPara>
                </a14:m>
                <a:endParaRPr lang="en-US" sz="2400" b="1" dirty="0"/>
              </a:p>
            </p:txBody>
          </p:sp>
        </mc:Choice>
        <mc:Fallback xmlns="">
          <p:sp>
            <p:nvSpPr>
              <p:cNvPr id="18" name="TextBox 17">
                <a:extLst>
                  <a:ext uri="{FF2B5EF4-FFF2-40B4-BE49-F238E27FC236}">
                    <a16:creationId xmlns:a16="http://schemas.microsoft.com/office/drawing/2014/main" id="{F94BF016-890D-2C03-A707-A533C4A69C2D}"/>
                  </a:ext>
                </a:extLst>
              </p:cNvPr>
              <p:cNvSpPr txBox="1">
                <a:spLocks noRot="1" noChangeAspect="1" noMove="1" noResize="1" noEditPoints="1" noAdjustHandles="1" noChangeArrowheads="1" noChangeShapeType="1" noTextEdit="1"/>
              </p:cNvSpPr>
              <p:nvPr/>
            </p:nvSpPr>
            <p:spPr>
              <a:xfrm>
                <a:off x="2926517" y="6060075"/>
                <a:ext cx="3290966" cy="369332"/>
              </a:xfrm>
              <a:prstGeom prst="rect">
                <a:avLst/>
              </a:prstGeom>
              <a:blipFill>
                <a:blip r:embed="rId7"/>
                <a:stretch>
                  <a:fillRect l="-1667" r="-2222" b="-6557"/>
                </a:stretch>
              </a:blipFill>
            </p:spPr>
            <p:txBody>
              <a:bodyPr/>
              <a:lstStyle/>
              <a:p>
                <a:r>
                  <a:rPr lang="en-US">
                    <a:noFill/>
                  </a:rPr>
                  <a:t> </a:t>
                </a:r>
              </a:p>
            </p:txBody>
          </p:sp>
        </mc:Fallback>
      </mc:AlternateContent>
    </p:spTree>
    <p:extLst>
      <p:ext uri="{BB962C8B-B14F-4D97-AF65-F5344CB8AC3E}">
        <p14:creationId xmlns:p14="http://schemas.microsoft.com/office/powerpoint/2010/main" val="156494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E8A1D-AFA2-B39D-1503-704127E4EA14}"/>
              </a:ext>
            </a:extLst>
          </p:cNvPr>
          <p:cNvSpPr>
            <a:spLocks noGrp="1"/>
          </p:cNvSpPr>
          <p:nvPr>
            <p:ph type="title"/>
          </p:nvPr>
        </p:nvSpPr>
        <p:spPr/>
        <p:txBody>
          <a:bodyPr/>
          <a:lstStyle/>
          <a:p>
            <a:r>
              <a:rPr lang="en-US" dirty="0"/>
              <a:t>What spacecraft is this?</a:t>
            </a:r>
          </a:p>
        </p:txBody>
      </p:sp>
      <p:sp>
        <p:nvSpPr>
          <p:cNvPr id="4" name="Slide Number Placeholder 3">
            <a:extLst>
              <a:ext uri="{FF2B5EF4-FFF2-40B4-BE49-F238E27FC236}">
                <a16:creationId xmlns:a16="http://schemas.microsoft.com/office/drawing/2014/main" id="{500D77AB-4913-57E9-1865-55D0ACE59D58}"/>
              </a:ext>
            </a:extLst>
          </p:cNvPr>
          <p:cNvSpPr>
            <a:spLocks noGrp="1"/>
          </p:cNvSpPr>
          <p:nvPr>
            <p:ph type="sldNum" sz="quarter" idx="12"/>
          </p:nvPr>
        </p:nvSpPr>
        <p:spPr/>
        <p:txBody>
          <a:bodyPr/>
          <a:lstStyle/>
          <a:p>
            <a:fld id="{9A3029B7-FE6B-4680-9049-80E8298A0825}" type="slidenum">
              <a:rPr lang="en-US" smtClean="0"/>
              <a:t>18</a:t>
            </a:fld>
            <a:endParaRPr lang="en-US"/>
          </a:p>
        </p:txBody>
      </p:sp>
      <p:pic>
        <p:nvPicPr>
          <p:cNvPr id="12292" name="Picture 4" descr="Voyager Spacecraft: Beyond the Solar System | Space">
            <a:extLst>
              <a:ext uri="{FF2B5EF4-FFF2-40B4-BE49-F238E27FC236}">
                <a16:creationId xmlns:a16="http://schemas.microsoft.com/office/drawing/2014/main" id="{EFF710F8-C18C-5F2F-CD5C-9B92D134D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46" y="1120030"/>
            <a:ext cx="9162989" cy="5345076"/>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7297BB14-139D-129E-1D10-6732756C4257}"/>
              </a:ext>
            </a:extLst>
          </p:cNvPr>
          <p:cNvSpPr/>
          <p:nvPr/>
        </p:nvSpPr>
        <p:spPr>
          <a:xfrm>
            <a:off x="2286000" y="3784600"/>
            <a:ext cx="723900" cy="12827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C1AD324E-5263-C14E-6BC1-DA2514F9CF44}"/>
              </a:ext>
            </a:extLst>
          </p:cNvPr>
          <p:cNvCxnSpPr/>
          <p:nvPr/>
        </p:nvCxnSpPr>
        <p:spPr>
          <a:xfrm flipH="1" flipV="1">
            <a:off x="3009900" y="4903423"/>
            <a:ext cx="927100" cy="762000"/>
          </a:xfrm>
          <a:prstGeom prst="straightConnector1">
            <a:avLst/>
          </a:prstGeom>
          <a:noFill/>
          <a:ln w="38100">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sp>
        <p:nvSpPr>
          <p:cNvPr id="9" name="TextBox 8">
            <a:extLst>
              <a:ext uri="{FF2B5EF4-FFF2-40B4-BE49-F238E27FC236}">
                <a16:creationId xmlns:a16="http://schemas.microsoft.com/office/drawing/2014/main" id="{5CD111CF-4E61-B516-9BE1-F9004DF06434}"/>
              </a:ext>
            </a:extLst>
          </p:cNvPr>
          <p:cNvSpPr txBox="1"/>
          <p:nvPr/>
        </p:nvSpPr>
        <p:spPr>
          <a:xfrm>
            <a:off x="3937000" y="5553304"/>
            <a:ext cx="2674071" cy="646331"/>
          </a:xfrm>
          <a:prstGeom prst="rect">
            <a:avLst/>
          </a:prstGeom>
          <a:noFill/>
        </p:spPr>
        <p:txBody>
          <a:bodyPr wrap="square" rtlCol="0">
            <a:spAutoFit/>
          </a:bodyPr>
          <a:lstStyle/>
          <a:p>
            <a:r>
              <a:rPr lang="en-US" b="1" dirty="0">
                <a:solidFill>
                  <a:srgbClr val="FF0000"/>
                </a:solidFill>
              </a:rPr>
              <a:t>What is this</a:t>
            </a:r>
            <a:r>
              <a:rPr lang="en-US" b="1">
                <a:solidFill>
                  <a:srgbClr val="FF0000"/>
                </a:solidFill>
              </a:rPr>
              <a:t>? </a:t>
            </a:r>
          </a:p>
          <a:p>
            <a:r>
              <a:rPr lang="en-US" b="1">
                <a:solidFill>
                  <a:srgbClr val="FF0000"/>
                </a:solidFill>
              </a:rPr>
              <a:t>(</a:t>
            </a:r>
            <a:r>
              <a:rPr lang="en-US" b="1" dirty="0">
                <a:solidFill>
                  <a:srgbClr val="FF0000"/>
                </a:solidFill>
              </a:rPr>
              <a:t>Why is it here?)</a:t>
            </a:r>
          </a:p>
        </p:txBody>
      </p:sp>
    </p:spTree>
    <p:extLst>
      <p:ext uri="{BB962C8B-B14F-4D97-AF65-F5344CB8AC3E}">
        <p14:creationId xmlns:p14="http://schemas.microsoft.com/office/powerpoint/2010/main" val="1065709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A6DF3-1722-F18A-C5EE-B84F3442198F}"/>
              </a:ext>
            </a:extLst>
          </p:cNvPr>
          <p:cNvSpPr>
            <a:spLocks noGrp="1"/>
          </p:cNvSpPr>
          <p:nvPr>
            <p:ph type="title"/>
          </p:nvPr>
        </p:nvSpPr>
        <p:spPr/>
        <p:txBody>
          <a:bodyPr/>
          <a:lstStyle/>
          <a:p>
            <a:r>
              <a:rPr lang="en-US" dirty="0"/>
              <a:t>Voyager</a:t>
            </a:r>
          </a:p>
        </p:txBody>
      </p:sp>
      <p:sp>
        <p:nvSpPr>
          <p:cNvPr id="4" name="Slide Number Placeholder 3">
            <a:extLst>
              <a:ext uri="{FF2B5EF4-FFF2-40B4-BE49-F238E27FC236}">
                <a16:creationId xmlns:a16="http://schemas.microsoft.com/office/drawing/2014/main" id="{B45D2B1B-782F-567F-6510-0A829BE2C075}"/>
              </a:ext>
            </a:extLst>
          </p:cNvPr>
          <p:cNvSpPr>
            <a:spLocks noGrp="1"/>
          </p:cNvSpPr>
          <p:nvPr>
            <p:ph type="sldNum" sz="quarter" idx="12"/>
          </p:nvPr>
        </p:nvSpPr>
        <p:spPr/>
        <p:txBody>
          <a:bodyPr/>
          <a:lstStyle/>
          <a:p>
            <a:fld id="{9A3029B7-FE6B-4680-9049-80E8298A0825}" type="slidenum">
              <a:rPr lang="en-US" smtClean="0"/>
              <a:t>19</a:t>
            </a:fld>
            <a:endParaRPr lang="en-US"/>
          </a:p>
        </p:txBody>
      </p:sp>
      <p:pic>
        <p:nvPicPr>
          <p:cNvPr id="13314" name="Picture 2" descr="Instruments - NASA Science">
            <a:extLst>
              <a:ext uri="{FF2B5EF4-FFF2-40B4-BE49-F238E27FC236}">
                <a16:creationId xmlns:a16="http://schemas.microsoft.com/office/drawing/2014/main" id="{D04D9E5D-D07F-28D5-7441-8945EAA003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92" y="1050283"/>
            <a:ext cx="7534648" cy="5674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577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5F74D-308F-7B5C-D814-21CC7F78FB1F}"/>
              </a:ext>
            </a:extLst>
          </p:cNvPr>
          <p:cNvSpPr>
            <a:spLocks noGrp="1"/>
          </p:cNvSpPr>
          <p:nvPr>
            <p:ph type="title"/>
          </p:nvPr>
        </p:nvSpPr>
        <p:spPr/>
        <p:txBody>
          <a:bodyPr>
            <a:normAutofit/>
          </a:bodyPr>
          <a:lstStyle/>
          <a:p>
            <a:r>
              <a:rPr lang="en-US" sz="2400" dirty="0"/>
              <a:t>Radioisotope Thermoelectric Generator (RTG)</a:t>
            </a:r>
          </a:p>
        </p:txBody>
      </p:sp>
      <p:sp>
        <p:nvSpPr>
          <p:cNvPr id="3" name="Content Placeholder 2">
            <a:extLst>
              <a:ext uri="{FF2B5EF4-FFF2-40B4-BE49-F238E27FC236}">
                <a16:creationId xmlns:a16="http://schemas.microsoft.com/office/drawing/2014/main" id="{C35A791F-77D6-C353-DF93-47CD8230160F}"/>
              </a:ext>
            </a:extLst>
          </p:cNvPr>
          <p:cNvSpPr>
            <a:spLocks noGrp="1"/>
          </p:cNvSpPr>
          <p:nvPr>
            <p:ph idx="1"/>
          </p:nvPr>
        </p:nvSpPr>
        <p:spPr/>
        <p:txBody>
          <a:bodyPr>
            <a:normAutofit/>
          </a:bodyPr>
          <a:lstStyle/>
          <a:p>
            <a:r>
              <a:rPr lang="en-US" sz="1800" dirty="0"/>
              <a:t>Converts heat from radioactive decay (plutonium-238) into electricity via thermocouples.</a:t>
            </a:r>
          </a:p>
          <a:p>
            <a:r>
              <a:rPr lang="en-US" sz="1800" dirty="0"/>
              <a:t>Provides steady, long-duration power where sunlight is weak or unavailable.</a:t>
            </a:r>
          </a:p>
          <a:p>
            <a:r>
              <a:rPr lang="en-US" sz="1800" dirty="0"/>
              <a:t>Examples: Voyager, Cassini, Curiosity &amp; Perseverance rovers, New Horizons.</a:t>
            </a:r>
          </a:p>
        </p:txBody>
      </p:sp>
      <p:sp>
        <p:nvSpPr>
          <p:cNvPr id="4" name="Slide Number Placeholder 3">
            <a:extLst>
              <a:ext uri="{FF2B5EF4-FFF2-40B4-BE49-F238E27FC236}">
                <a16:creationId xmlns:a16="http://schemas.microsoft.com/office/drawing/2014/main" id="{6267E240-8503-2205-BD5D-CF2E7C1FCFE1}"/>
              </a:ext>
            </a:extLst>
          </p:cNvPr>
          <p:cNvSpPr>
            <a:spLocks noGrp="1"/>
          </p:cNvSpPr>
          <p:nvPr>
            <p:ph type="sldNum" sz="quarter" idx="12"/>
          </p:nvPr>
        </p:nvSpPr>
        <p:spPr/>
        <p:txBody>
          <a:bodyPr/>
          <a:lstStyle/>
          <a:p>
            <a:fld id="{9A3029B7-FE6B-4680-9049-80E8298A0825}" type="slidenum">
              <a:rPr lang="en-US" smtClean="0"/>
              <a:t>20</a:t>
            </a:fld>
            <a:endParaRPr lang="en-US"/>
          </a:p>
        </p:txBody>
      </p:sp>
      <p:sp>
        <p:nvSpPr>
          <p:cNvPr id="7" name="TextBox 6">
            <a:extLst>
              <a:ext uri="{FF2B5EF4-FFF2-40B4-BE49-F238E27FC236}">
                <a16:creationId xmlns:a16="http://schemas.microsoft.com/office/drawing/2014/main" id="{E4A8B03A-3B6F-ADBC-C7C3-15DBB760A7D5}"/>
              </a:ext>
            </a:extLst>
          </p:cNvPr>
          <p:cNvSpPr txBox="1"/>
          <p:nvPr/>
        </p:nvSpPr>
        <p:spPr>
          <a:xfrm>
            <a:off x="318619" y="2626139"/>
            <a:ext cx="4572000" cy="3988784"/>
          </a:xfrm>
          <a:prstGeom prst="rect">
            <a:avLst/>
          </a:prstGeom>
        </p:spPr>
        <p:txBody>
          <a:bodyPr vert="horz" lIns="91440" tIns="45720" rIns="91440" bIns="45720" rtlCol="0">
            <a:normAutofit/>
          </a:bodyPr>
          <a:lstStyle>
            <a:lvl1pPr marL="228600" indent="-228600" defTabSz="914400">
              <a:lnSpc>
                <a:spcPct val="90000"/>
              </a:lnSpc>
              <a:spcBef>
                <a:spcPts val="1000"/>
              </a:spcBef>
              <a:buFont typeface="Arial" panose="020B0604020202020204" pitchFamily="34" charset="0"/>
              <a:buChar char="•"/>
              <a:defRPr>
                <a:latin typeface="Segoe UI" panose="020B0502040204020203" pitchFamily="34" charset="0"/>
                <a:cs typeface="Segoe UI" panose="020B0502040204020203" pitchFamily="34" charset="0"/>
              </a:defRPr>
            </a:lvl1pPr>
            <a:lvl2pPr marL="685800" indent="-228600" defTabSz="914400">
              <a:lnSpc>
                <a:spcPct val="90000"/>
              </a:lnSpc>
              <a:spcBef>
                <a:spcPts val="500"/>
              </a:spcBef>
              <a:buFont typeface="Arial" panose="020B0604020202020204" pitchFamily="34" charset="0"/>
              <a:buChar char="•"/>
              <a:defRPr sz="2400">
                <a:latin typeface="Segoe UI" panose="020B0502040204020203" pitchFamily="34" charset="0"/>
                <a:cs typeface="Segoe UI" panose="020B0502040204020203" pitchFamily="34" charset="0"/>
              </a:defRPr>
            </a:lvl2pPr>
            <a:lvl3pPr marL="1143000" indent="-228600" defTabSz="914400">
              <a:lnSpc>
                <a:spcPct val="90000"/>
              </a:lnSpc>
              <a:spcBef>
                <a:spcPts val="500"/>
              </a:spcBef>
              <a:buFont typeface="Arial" panose="020B0604020202020204" pitchFamily="34" charset="0"/>
              <a:buChar char="•"/>
              <a:defRPr sz="2000">
                <a:latin typeface="Segoe UI" panose="020B0502040204020203" pitchFamily="34" charset="0"/>
                <a:cs typeface="Segoe UI" panose="020B0502040204020203" pitchFamily="34" charset="0"/>
              </a:defRPr>
            </a:lvl3pPr>
            <a:lvl4pPr marL="1600200" indent="-228600" defTabSz="914400">
              <a:lnSpc>
                <a:spcPct val="90000"/>
              </a:lnSpc>
              <a:spcBef>
                <a:spcPts val="500"/>
              </a:spcBef>
              <a:buFont typeface="Arial" panose="020B0604020202020204" pitchFamily="34" charset="0"/>
              <a:buChar char="•"/>
              <a:defRPr>
                <a:latin typeface="Segoe UI" panose="020B0502040204020203" pitchFamily="34" charset="0"/>
                <a:cs typeface="Segoe UI" panose="020B0502040204020203" pitchFamily="34" charset="0"/>
              </a:defRPr>
            </a:lvl4pPr>
            <a:lvl5pPr marL="2057400" indent="-228600" defTabSz="914400">
              <a:lnSpc>
                <a:spcPct val="90000"/>
              </a:lnSpc>
              <a:spcBef>
                <a:spcPts val="500"/>
              </a:spcBef>
              <a:buFont typeface="Arial" panose="020B0604020202020204" pitchFamily="34" charset="0"/>
              <a:buChar char="•"/>
              <a:defRPr>
                <a:latin typeface="Segoe UI" panose="020B0502040204020203" pitchFamily="34" charset="0"/>
                <a:cs typeface="Segoe UI" panose="020B0502040204020203" pitchFamily="34" charset="0"/>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0" indent="0">
              <a:buNone/>
            </a:pPr>
            <a:r>
              <a:rPr lang="en-US" b="1" dirty="0"/>
              <a:t>Advantages</a:t>
            </a:r>
          </a:p>
          <a:p>
            <a:r>
              <a:rPr lang="en-US" dirty="0"/>
              <a:t>Long lifespan</a:t>
            </a:r>
          </a:p>
          <a:p>
            <a:r>
              <a:rPr lang="en-US" dirty="0"/>
              <a:t>Higher energy density relative to solar arrays</a:t>
            </a:r>
          </a:p>
          <a:p>
            <a:r>
              <a:rPr lang="en-US" dirty="0"/>
              <a:t>Works in solar flux conditions</a:t>
            </a:r>
          </a:p>
          <a:p>
            <a:r>
              <a:rPr lang="en-US" dirty="0"/>
              <a:t>Compact</a:t>
            </a:r>
          </a:p>
          <a:p>
            <a:pPr marL="0" indent="0">
              <a:buNone/>
            </a:pPr>
            <a:r>
              <a:rPr lang="en-US" b="1" dirty="0"/>
              <a:t>Disadvantages</a:t>
            </a:r>
          </a:p>
          <a:p>
            <a:r>
              <a:rPr lang="en-US" dirty="0"/>
              <a:t>Expensive</a:t>
            </a:r>
          </a:p>
          <a:p>
            <a:r>
              <a:rPr lang="en-US" dirty="0"/>
              <a:t>Needs Cooling</a:t>
            </a:r>
          </a:p>
          <a:p>
            <a:r>
              <a:rPr lang="en-US" dirty="0"/>
              <a:t>Needs shielding</a:t>
            </a:r>
          </a:p>
          <a:p>
            <a:r>
              <a:rPr lang="en-US" dirty="0"/>
              <a:t>Always on</a:t>
            </a:r>
          </a:p>
        </p:txBody>
      </p:sp>
      <p:pic>
        <p:nvPicPr>
          <p:cNvPr id="5123" name="Picture 3" descr="undefined">
            <a:extLst>
              <a:ext uri="{FF2B5EF4-FFF2-40B4-BE49-F238E27FC236}">
                <a16:creationId xmlns:a16="http://schemas.microsoft.com/office/drawing/2014/main" id="{DCCA3BC6-A132-ACE8-6236-490A147718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8253" y="2355947"/>
            <a:ext cx="4134787" cy="373856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406AA0D-8672-7A4C-B6D9-1CC9D38E5403}"/>
              </a:ext>
            </a:extLst>
          </p:cNvPr>
          <p:cNvSpPr txBox="1"/>
          <p:nvPr/>
        </p:nvSpPr>
        <p:spPr>
          <a:xfrm>
            <a:off x="4539634" y="6006905"/>
            <a:ext cx="4572000" cy="646331"/>
          </a:xfrm>
          <a:prstGeom prst="rect">
            <a:avLst/>
          </a:prstGeom>
          <a:noFill/>
        </p:spPr>
        <p:txBody>
          <a:bodyPr wrap="square">
            <a:spAutoFit/>
          </a:bodyPr>
          <a:lstStyle/>
          <a:p>
            <a:pPr algn="ctr"/>
            <a:r>
              <a:rPr lang="en-US" b="1" i="0" dirty="0">
                <a:solidFill>
                  <a:srgbClr val="202122"/>
                </a:solidFill>
                <a:effectLst/>
                <a:latin typeface="Arial" panose="020B0604020202020204" pitchFamily="34" charset="0"/>
                <a:hlinkClick r:id="rId4"/>
              </a:rPr>
              <a:t>Multi-mission radioisotope thermoelectric generator (MMRTG)</a:t>
            </a:r>
            <a:endParaRPr lang="en-US" dirty="0"/>
          </a:p>
        </p:txBody>
      </p:sp>
    </p:spTree>
    <p:extLst>
      <p:ext uri="{BB962C8B-B14F-4D97-AF65-F5344CB8AC3E}">
        <p14:creationId xmlns:p14="http://schemas.microsoft.com/office/powerpoint/2010/main" val="2069927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462E0-2E6E-1683-461F-B2C120D5482D}"/>
              </a:ext>
            </a:extLst>
          </p:cNvPr>
          <p:cNvSpPr>
            <a:spLocks noGrp="1"/>
          </p:cNvSpPr>
          <p:nvPr>
            <p:ph type="title"/>
          </p:nvPr>
        </p:nvSpPr>
        <p:spPr/>
        <p:txBody>
          <a:bodyPr/>
          <a:lstStyle/>
          <a:p>
            <a:r>
              <a:rPr lang="en-US" dirty="0"/>
              <a:t>Other Power Sources</a:t>
            </a:r>
          </a:p>
        </p:txBody>
      </p:sp>
      <p:sp>
        <p:nvSpPr>
          <p:cNvPr id="3" name="Content Placeholder 2">
            <a:extLst>
              <a:ext uri="{FF2B5EF4-FFF2-40B4-BE49-F238E27FC236}">
                <a16:creationId xmlns:a16="http://schemas.microsoft.com/office/drawing/2014/main" id="{5C961F1A-E8FC-002D-A15D-7B3DB43CDBAA}"/>
              </a:ext>
            </a:extLst>
          </p:cNvPr>
          <p:cNvSpPr>
            <a:spLocks noGrp="1"/>
          </p:cNvSpPr>
          <p:nvPr>
            <p:ph idx="1"/>
          </p:nvPr>
        </p:nvSpPr>
        <p:spPr>
          <a:xfrm>
            <a:off x="200025" y="1002507"/>
            <a:ext cx="8793015" cy="5616008"/>
          </a:xfrm>
        </p:spPr>
        <p:txBody>
          <a:bodyPr>
            <a:normAutofit fontScale="92500" lnSpcReduction="10000"/>
          </a:bodyPr>
          <a:lstStyle/>
          <a:p>
            <a:r>
              <a:rPr lang="en-US" sz="2400" b="1" dirty="0"/>
              <a:t>Fuel Cells</a:t>
            </a:r>
          </a:p>
          <a:p>
            <a:pPr lvl="1"/>
            <a:r>
              <a:rPr lang="en-US" sz="2000" dirty="0"/>
              <a:t>Generate electricity from chemical reactions </a:t>
            </a:r>
          </a:p>
          <a:p>
            <a:pPr marL="914400" lvl="2" indent="0">
              <a:buNone/>
            </a:pPr>
            <a:r>
              <a:rPr lang="en-US" sz="1900" dirty="0"/>
              <a:t>e.g., hydrogen + oxygen → water + energy</a:t>
            </a:r>
          </a:p>
          <a:p>
            <a:pPr lvl="1"/>
            <a:r>
              <a:rPr lang="en-US" sz="2000" dirty="0"/>
              <a:t>High energy density, but limited duration (consume reactants).</a:t>
            </a:r>
          </a:p>
          <a:p>
            <a:pPr lvl="1"/>
            <a:r>
              <a:rPr lang="en-US" sz="2000" dirty="0"/>
              <a:t>Examples: Apollo missions, early Space Shuttle flights.</a:t>
            </a:r>
          </a:p>
          <a:p>
            <a:pPr lvl="1"/>
            <a:endParaRPr lang="en-US" sz="2000" dirty="0"/>
          </a:p>
          <a:p>
            <a:r>
              <a:rPr lang="en-US" sz="2400" b="1" dirty="0"/>
              <a:t>Nuclear</a:t>
            </a:r>
          </a:p>
          <a:p>
            <a:pPr lvl="1"/>
            <a:r>
              <a:rPr lang="en-US" sz="2000" dirty="0"/>
              <a:t>Small fission reactors used on a few missions (Soviet RORSATs, SNAP-10A).</a:t>
            </a:r>
          </a:p>
          <a:p>
            <a:pPr lvl="1"/>
            <a:r>
              <a:rPr lang="en-US" sz="2000" dirty="0"/>
              <a:t>Provide high, continuous power for large spacecraft or electric propulsion.</a:t>
            </a:r>
          </a:p>
          <a:p>
            <a:pPr lvl="1"/>
            <a:r>
              <a:rPr lang="en-US" sz="2000" dirty="0"/>
              <a:t>Being reconsidered for future deep space and lunar missions.</a:t>
            </a:r>
          </a:p>
          <a:p>
            <a:pPr lvl="1"/>
            <a:endParaRPr lang="en-US" sz="2000" dirty="0"/>
          </a:p>
          <a:p>
            <a:r>
              <a:rPr lang="en-US" sz="2400" b="1" dirty="0"/>
              <a:t>Supercapacitors / Capacitor Banks</a:t>
            </a:r>
          </a:p>
          <a:p>
            <a:pPr lvl="1"/>
            <a:r>
              <a:rPr lang="en-US" sz="2000" dirty="0"/>
              <a:t>Good energy density, fast charging, high self discharge (millions of cycles)</a:t>
            </a:r>
          </a:p>
          <a:p>
            <a:pPr lvl="1"/>
            <a:r>
              <a:rPr lang="en-US" sz="2000" dirty="0"/>
              <a:t>Used as supplemental energy storage for short bursts.</a:t>
            </a:r>
          </a:p>
          <a:p>
            <a:pPr lvl="1"/>
            <a:endParaRPr lang="en-US" sz="2000" dirty="0"/>
          </a:p>
          <a:p>
            <a:r>
              <a:rPr lang="en-US" sz="2400" b="1" dirty="0"/>
              <a:t>Wireless/Beamed Power</a:t>
            </a:r>
          </a:p>
          <a:p>
            <a:pPr lvl="1"/>
            <a:r>
              <a:rPr lang="en-US" sz="2000" dirty="0"/>
              <a:t>Wireless transmission of energy (microwave/laser) from another spacecraft or surface station (conceptual).</a:t>
            </a:r>
          </a:p>
          <a:p>
            <a:endParaRPr lang="en-US" sz="2400" dirty="0"/>
          </a:p>
        </p:txBody>
      </p:sp>
      <p:sp>
        <p:nvSpPr>
          <p:cNvPr id="4" name="Slide Number Placeholder 3">
            <a:extLst>
              <a:ext uri="{FF2B5EF4-FFF2-40B4-BE49-F238E27FC236}">
                <a16:creationId xmlns:a16="http://schemas.microsoft.com/office/drawing/2014/main" id="{31F6C05A-17C6-D949-0E1D-933970ED72CC}"/>
              </a:ext>
            </a:extLst>
          </p:cNvPr>
          <p:cNvSpPr>
            <a:spLocks noGrp="1"/>
          </p:cNvSpPr>
          <p:nvPr>
            <p:ph type="sldNum" sz="quarter" idx="12"/>
          </p:nvPr>
        </p:nvSpPr>
        <p:spPr/>
        <p:txBody>
          <a:bodyPr/>
          <a:lstStyle/>
          <a:p>
            <a:fld id="{9A3029B7-FE6B-4680-9049-80E8298A0825}" type="slidenum">
              <a:rPr lang="en-US" smtClean="0"/>
              <a:t>21</a:t>
            </a:fld>
            <a:endParaRPr lang="en-US"/>
          </a:p>
        </p:txBody>
      </p:sp>
    </p:spTree>
    <p:extLst>
      <p:ext uri="{BB962C8B-B14F-4D97-AF65-F5344CB8AC3E}">
        <p14:creationId xmlns:p14="http://schemas.microsoft.com/office/powerpoint/2010/main" val="3534340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889C-BB99-E1CA-45AA-C49A7D280B51}"/>
              </a:ext>
            </a:extLst>
          </p:cNvPr>
          <p:cNvSpPr>
            <a:spLocks noGrp="1"/>
          </p:cNvSpPr>
          <p:nvPr>
            <p:ph type="title"/>
          </p:nvPr>
        </p:nvSpPr>
        <p:spPr/>
        <p:txBody>
          <a:bodyPr/>
          <a:lstStyle/>
          <a:p>
            <a:r>
              <a:rPr lang="en-US" dirty="0">
                <a:solidFill>
                  <a:srgbClr val="00B0F0"/>
                </a:solidFill>
              </a:rPr>
              <a:t>Example</a:t>
            </a:r>
          </a:p>
        </p:txBody>
      </p:sp>
      <p:sp>
        <p:nvSpPr>
          <p:cNvPr id="3" name="Content Placeholder 2">
            <a:extLst>
              <a:ext uri="{FF2B5EF4-FFF2-40B4-BE49-F238E27FC236}">
                <a16:creationId xmlns:a16="http://schemas.microsoft.com/office/drawing/2014/main" id="{AEBC8801-0326-64FC-D267-BE81F92222D3}"/>
              </a:ext>
            </a:extLst>
          </p:cNvPr>
          <p:cNvSpPr>
            <a:spLocks noGrp="1"/>
          </p:cNvSpPr>
          <p:nvPr>
            <p:ph idx="1"/>
          </p:nvPr>
        </p:nvSpPr>
        <p:spPr/>
        <p:txBody>
          <a:bodyPr>
            <a:normAutofit/>
          </a:bodyPr>
          <a:lstStyle/>
          <a:p>
            <a:pPr marL="514350" indent="-514350">
              <a:buAutoNum type="arabicParenBoth"/>
            </a:pPr>
            <a:r>
              <a:rPr lang="en-US" sz="2400" dirty="0">
                <a:solidFill>
                  <a:srgbClr val="00B0F0"/>
                </a:solidFill>
              </a:rPr>
              <a:t>We are planning a 3-year mission for a satellite in a circular 500 km altitude orbit.  We will have sun tracking silicon solar panels with 15% efficiency with a 4% annual degradation.  The satellite systems will need 500W of continuous power.  The efficiency of transferring power directly to the systems is 0.8 and the efficiency if we have to run it through batteries first is 0.6.  How big do the solar arrays need to be?</a:t>
            </a:r>
          </a:p>
          <a:p>
            <a:pPr marL="0" indent="0">
              <a:buNone/>
            </a:pPr>
            <a:endParaRPr lang="en-US" sz="2400" dirty="0">
              <a:solidFill>
                <a:srgbClr val="00B0F0"/>
              </a:solidFill>
            </a:endParaRPr>
          </a:p>
          <a:p>
            <a:pPr marL="514350" indent="-514350">
              <a:buFont typeface="Arial" panose="020B0604020202020204" pitchFamily="34" charset="0"/>
              <a:buAutoNum type="arabicParenBoth"/>
            </a:pPr>
            <a:r>
              <a:rPr lang="en-US" sz="2400" dirty="0">
                <a:solidFill>
                  <a:srgbClr val="00B0F0"/>
                </a:solidFill>
              </a:rPr>
              <a:t>For the satellite in the problem above, estimate the capacity required for the secondary batteries.</a:t>
            </a:r>
          </a:p>
          <a:p>
            <a:pPr marL="514350" indent="-514350">
              <a:buAutoNum type="arabicParenBoth"/>
            </a:pPr>
            <a:endParaRPr lang="en-US" sz="2400" dirty="0">
              <a:solidFill>
                <a:srgbClr val="00B0F0"/>
              </a:solidFill>
            </a:endParaRPr>
          </a:p>
          <a:p>
            <a:endParaRPr lang="en-US" sz="2400" dirty="0">
              <a:solidFill>
                <a:srgbClr val="00B0F0"/>
              </a:solidFill>
            </a:endParaRPr>
          </a:p>
        </p:txBody>
      </p:sp>
      <p:sp>
        <p:nvSpPr>
          <p:cNvPr id="4" name="Slide Number Placeholder 3">
            <a:extLst>
              <a:ext uri="{FF2B5EF4-FFF2-40B4-BE49-F238E27FC236}">
                <a16:creationId xmlns:a16="http://schemas.microsoft.com/office/drawing/2014/main" id="{34DBE9BD-0DD4-1F48-1E36-8DD0680137D8}"/>
              </a:ext>
            </a:extLst>
          </p:cNvPr>
          <p:cNvSpPr>
            <a:spLocks noGrp="1"/>
          </p:cNvSpPr>
          <p:nvPr>
            <p:ph type="sldNum" sz="quarter" idx="12"/>
          </p:nvPr>
        </p:nvSpPr>
        <p:spPr/>
        <p:txBody>
          <a:bodyPr/>
          <a:lstStyle/>
          <a:p>
            <a:fld id="{9A3029B7-FE6B-4680-9049-80E8298A0825}" type="slidenum">
              <a:rPr lang="en-US" smtClean="0"/>
              <a:t>22</a:t>
            </a:fld>
            <a:endParaRPr lang="en-US"/>
          </a:p>
        </p:txBody>
      </p:sp>
    </p:spTree>
    <p:extLst>
      <p:ext uri="{BB962C8B-B14F-4D97-AF65-F5344CB8AC3E}">
        <p14:creationId xmlns:p14="http://schemas.microsoft.com/office/powerpoint/2010/main" val="3319851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9AA0A-7E7A-B747-FDFD-4B2586C63CE2}"/>
              </a:ext>
            </a:extLst>
          </p:cNvPr>
          <p:cNvSpPr>
            <a:spLocks noGrp="1"/>
          </p:cNvSpPr>
          <p:nvPr>
            <p:ph type="title"/>
          </p:nvPr>
        </p:nvSpPr>
        <p:spPr/>
        <p:txBody>
          <a:bodyPr/>
          <a:lstStyle/>
          <a:p>
            <a:r>
              <a:rPr lang="en-US" dirty="0">
                <a:solidFill>
                  <a:srgbClr val="00B0F0"/>
                </a:solidFill>
              </a:rPr>
              <a:t>Example - Answer</a:t>
            </a:r>
          </a:p>
        </p:txBody>
      </p:sp>
      <p:sp>
        <p:nvSpPr>
          <p:cNvPr id="4" name="Slide Number Placeholder 3">
            <a:extLst>
              <a:ext uri="{FF2B5EF4-FFF2-40B4-BE49-F238E27FC236}">
                <a16:creationId xmlns:a16="http://schemas.microsoft.com/office/drawing/2014/main" id="{C120F1DB-C72C-2D74-DBCE-AC8E9F02D337}"/>
              </a:ext>
            </a:extLst>
          </p:cNvPr>
          <p:cNvSpPr>
            <a:spLocks noGrp="1"/>
          </p:cNvSpPr>
          <p:nvPr>
            <p:ph type="sldNum" sz="quarter" idx="12"/>
          </p:nvPr>
        </p:nvSpPr>
        <p:spPr/>
        <p:txBody>
          <a:bodyPr/>
          <a:lstStyle/>
          <a:p>
            <a:fld id="{9A3029B7-FE6B-4680-9049-80E8298A0825}" type="slidenum">
              <a:rPr lang="en-US" smtClean="0"/>
              <a:t>23</a:t>
            </a:fld>
            <a:endParaRPr lang="en-US"/>
          </a:p>
        </p:txBody>
      </p:sp>
      <p:pic>
        <p:nvPicPr>
          <p:cNvPr id="6" name="Picture 5">
            <a:extLst>
              <a:ext uri="{FF2B5EF4-FFF2-40B4-BE49-F238E27FC236}">
                <a16:creationId xmlns:a16="http://schemas.microsoft.com/office/drawing/2014/main" id="{EB4C8EB9-93CC-1170-A191-9824CFC30B35}"/>
              </a:ext>
            </a:extLst>
          </p:cNvPr>
          <p:cNvPicPr>
            <a:picLocks noChangeAspect="1"/>
          </p:cNvPicPr>
          <p:nvPr/>
        </p:nvPicPr>
        <p:blipFill>
          <a:blip r:embed="rId2">
            <a:duotone>
              <a:schemeClr val="accent4">
                <a:shade val="45000"/>
                <a:satMod val="135000"/>
              </a:schemeClr>
              <a:prstClr val="white"/>
            </a:duotone>
          </a:blip>
          <a:stretch>
            <a:fillRect/>
          </a:stretch>
        </p:blipFill>
        <p:spPr>
          <a:xfrm>
            <a:off x="1761733" y="1011518"/>
            <a:ext cx="5620534" cy="5196343"/>
          </a:xfrm>
          <a:prstGeom prst="rect">
            <a:avLst/>
          </a:prstGeom>
        </p:spPr>
      </p:pic>
      <p:pic>
        <p:nvPicPr>
          <p:cNvPr id="8" name="Picture 7">
            <a:extLst>
              <a:ext uri="{FF2B5EF4-FFF2-40B4-BE49-F238E27FC236}">
                <a16:creationId xmlns:a16="http://schemas.microsoft.com/office/drawing/2014/main" id="{825883AB-5F21-4213-2512-06DB0EA6E65C}"/>
              </a:ext>
            </a:extLst>
          </p:cNvPr>
          <p:cNvPicPr>
            <a:picLocks noChangeAspect="1"/>
          </p:cNvPicPr>
          <p:nvPr/>
        </p:nvPicPr>
        <p:blipFill>
          <a:blip r:embed="rId3">
            <a:duotone>
              <a:schemeClr val="accent4">
                <a:shade val="45000"/>
                <a:satMod val="135000"/>
              </a:schemeClr>
              <a:prstClr val="white"/>
            </a:duotone>
          </a:blip>
          <a:stretch>
            <a:fillRect/>
          </a:stretch>
        </p:blipFill>
        <p:spPr>
          <a:xfrm>
            <a:off x="1761733" y="6238971"/>
            <a:ext cx="5620534" cy="485843"/>
          </a:xfrm>
          <a:prstGeom prst="rect">
            <a:avLst/>
          </a:prstGeom>
        </p:spPr>
      </p:pic>
    </p:spTree>
    <p:extLst>
      <p:ext uri="{BB962C8B-B14F-4D97-AF65-F5344CB8AC3E}">
        <p14:creationId xmlns:p14="http://schemas.microsoft.com/office/powerpoint/2010/main" val="3254537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96DB7C-76B3-472D-8F6F-C8E69FE568F8}">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7584c457-6b5a-4caa-be47-be979cbe6555"/>
    <ds:schemaRef ds:uri="http://schemas.microsoft.com/sharepoint/v3"/>
    <ds:schemaRef ds:uri="723aa48c-73f2-40da-86b1-f1ae286477fe"/>
    <ds:schemaRef ds:uri="http://www.w3.org/XML/1998/namespace"/>
    <ds:schemaRef ds:uri="http://purl.org/dc/dcmitype/"/>
  </ds:schemaRefs>
</ds:datastoreItem>
</file>

<file path=customXml/itemProps2.xml><?xml version="1.0" encoding="utf-8"?>
<ds:datastoreItem xmlns:ds="http://schemas.openxmlformats.org/officeDocument/2006/customXml" ds:itemID="{3C286B8C-FFD3-47CE-9E8F-4104A49DEB88}">
  <ds:schemaRefs>
    <ds:schemaRef ds:uri="http://schemas.microsoft.com/sharepoint/v3/contenttype/forms"/>
  </ds:schemaRefs>
</ds:datastoreItem>
</file>

<file path=customXml/itemProps3.xml><?xml version="1.0" encoding="utf-8"?>
<ds:datastoreItem xmlns:ds="http://schemas.openxmlformats.org/officeDocument/2006/customXml" ds:itemID="{DFF68A8D-938D-4EAE-B40D-B2260EF960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24531</TotalTime>
  <Words>3363</Words>
  <Application>Microsoft Office PowerPoint</Application>
  <PresentationFormat>Letter Paper (8.5x11 in)</PresentationFormat>
  <Paragraphs>491</Paragraphs>
  <Slides>23</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Cambria Math</vt:lpstr>
      <vt:lpstr>Century Gothic</vt:lpstr>
      <vt:lpstr>Segoe UI</vt:lpstr>
      <vt:lpstr>Wingdings</vt:lpstr>
      <vt:lpstr>Office Theme</vt:lpstr>
      <vt:lpstr>Lesson 7</vt:lpstr>
      <vt:lpstr>Thermal Jitter</vt:lpstr>
      <vt:lpstr>Quiz</vt:lpstr>
      <vt:lpstr>Electricity Fundamentals Review</vt:lpstr>
      <vt:lpstr>EPS Functions</vt:lpstr>
      <vt:lpstr>EPS Budget &amp; Requirements</vt:lpstr>
      <vt:lpstr>Power Sources</vt:lpstr>
      <vt:lpstr>Solar Power (Photovoltaic Cells)</vt:lpstr>
      <vt:lpstr>Solar Power Sizing</vt:lpstr>
      <vt:lpstr>Power from Solar Array (P_SA )</vt:lpstr>
      <vt:lpstr>Solar Power Required (P_req )</vt:lpstr>
      <vt:lpstr>Solar Power Profile (I-V Curve)</vt:lpstr>
      <vt:lpstr>Maximum Power Point Tracking (MPPT)</vt:lpstr>
      <vt:lpstr>Batteries</vt:lpstr>
      <vt:lpstr>Battery Comparison</vt:lpstr>
      <vt:lpstr>PowerPoint Presentation</vt:lpstr>
      <vt:lpstr>Batteries – Sizing</vt:lpstr>
      <vt:lpstr>What spacecraft is this?</vt:lpstr>
      <vt:lpstr>Voyager</vt:lpstr>
      <vt:lpstr>Radioisotope Thermoelectric Generator (RTG)</vt:lpstr>
      <vt:lpstr>Other Power Sources</vt:lpstr>
      <vt:lpstr>Example</vt:lpstr>
      <vt:lpstr>Example - Answer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4</cp:revision>
  <cp:lastPrinted>2025-08-01T16:37:26Z</cp:lastPrinted>
  <dcterms:created xsi:type="dcterms:W3CDTF">2025-07-17T17:53:42Z</dcterms:created>
  <dcterms:modified xsi:type="dcterms:W3CDTF">2026-03-11T14:15:19Z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