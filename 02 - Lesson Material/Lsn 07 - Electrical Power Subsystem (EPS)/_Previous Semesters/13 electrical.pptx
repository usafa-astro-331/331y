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42"/>
  </p:handoutMasterIdLst>
  <p:sldIdLst>
    <p:sldId id="258" r:id="rId5"/>
    <p:sldId id="305" r:id="rId6"/>
    <p:sldId id="306" r:id="rId7"/>
    <p:sldId id="311" r:id="rId8"/>
    <p:sldId id="312" r:id="rId9"/>
    <p:sldId id="320" r:id="rId10"/>
    <p:sldId id="321" r:id="rId11"/>
    <p:sldId id="296" r:id="rId12"/>
    <p:sldId id="322" r:id="rId13"/>
    <p:sldId id="313" r:id="rId14"/>
    <p:sldId id="309" r:id="rId15"/>
    <p:sldId id="325" r:id="rId16"/>
    <p:sldId id="307" r:id="rId17"/>
    <p:sldId id="308" r:id="rId18"/>
    <p:sldId id="326" r:id="rId19"/>
    <p:sldId id="327" r:id="rId20"/>
    <p:sldId id="328" r:id="rId21"/>
    <p:sldId id="323" r:id="rId22"/>
    <p:sldId id="324" r:id="rId23"/>
    <p:sldId id="330" r:id="rId24"/>
    <p:sldId id="331" r:id="rId25"/>
    <p:sldId id="298" r:id="rId26"/>
    <p:sldId id="332" r:id="rId27"/>
    <p:sldId id="329" r:id="rId28"/>
    <p:sldId id="314" r:id="rId29"/>
    <p:sldId id="315" r:id="rId30"/>
    <p:sldId id="333" r:id="rId31"/>
    <p:sldId id="334" r:id="rId32"/>
    <p:sldId id="316" r:id="rId33"/>
    <p:sldId id="317" r:id="rId34"/>
    <p:sldId id="303" r:id="rId35"/>
    <p:sldId id="335" r:id="rId36"/>
    <p:sldId id="304" r:id="rId37"/>
    <p:sldId id="336" r:id="rId38"/>
    <p:sldId id="337" r:id="rId39"/>
    <p:sldId id="338" r:id="rId40"/>
    <p:sldId id="339" r:id="rId41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0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vilor, Marc H C2C USAF USAFA CW/CS09" userId="S::c23marc.previlor@afacademy.af.edu::3e3fff4c-2f1e-4589-a129-1d168961b6b1" providerId="AD" clId="Web-{33EB94F9-9750-4829-A484-D31331A8564C}"/>
  </pc:docChgLst>
  <pc:docChgLst>
    <pc:chgData name="Caldwell, Luke V C2C USAF USAFA CW/CS01" userId="S::c23luke.caldwell@afacademy.af.edu::f4142bba-3ea5-4ac6-a5bd-f5ab36f075f7" providerId="AD" clId="Web-{01519D81-DFB9-4B67-A524-AF6B54D20AB8}"/>
  </pc:docChgLst>
  <pc:docChgLst>
    <pc:chgData name="Crowson, Colt D C2C USAF USAFA CW/CS02" userId="S::c23colt.crowson@afacademy.af.edu::60b05c81-e6f2-4248-b508-38b3142a8213" providerId="AD" clId="Web-{11AE8315-72F2-4A3B-B43E-D5716BB7D7FF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2023-02-13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 </a:t>
            </a:r>
            <a:r>
              <a:rPr lang="en-US"/>
              <a:t>Lesson 19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85800" y="3886200"/>
            <a:ext cx="7514924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Electrical Power Subsystem (EPS)</a:t>
            </a:r>
          </a:p>
          <a:p>
            <a:pPr marL="0" indent="0" algn="ctr">
              <a:buNone/>
            </a:pPr>
            <a:r>
              <a:rPr lang="en-US" dirty="0"/>
              <a:t>SMAD </a:t>
            </a:r>
            <a:r>
              <a:rPr lang="en-US" dirty="0" err="1"/>
              <a:t>Ch</a:t>
            </a:r>
            <a:r>
              <a:rPr lang="en-US" dirty="0"/>
              <a:t> 5.1, 11.4, </a:t>
            </a:r>
            <a:r>
              <a:rPr lang="en-US" dirty="0" err="1"/>
              <a:t>Supp</a:t>
            </a:r>
            <a:r>
              <a:rPr lang="en-US" dirty="0"/>
              <a:t> </a:t>
            </a:r>
            <a:r>
              <a:rPr lang="en-US" dirty="0" err="1"/>
              <a:t>Crs</a:t>
            </a:r>
            <a:r>
              <a:rPr lang="en-US" dirty="0"/>
              <a:t> </a:t>
            </a:r>
            <a:r>
              <a:rPr lang="en-US" dirty="0" err="1"/>
              <a:t>Mtl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5079981"/>
          </a:xfrm>
        </p:spPr>
        <p:txBody>
          <a:bodyPr>
            <a:normAutofit fontScale="85000" lnSpcReduction="10000"/>
          </a:bodyPr>
          <a:lstStyle/>
          <a:p>
            <a:pPr lvl="0" fontAlgn="base"/>
            <a:r>
              <a:rPr lang="en-US" dirty="0"/>
              <a:t>Explain spacecraft power functions</a:t>
            </a:r>
          </a:p>
          <a:p>
            <a:pPr lvl="0" fontAlgn="base"/>
            <a:r>
              <a:rPr lang="en-US" dirty="0"/>
              <a:t>List and describe typical system-level parameters that impact power subsystem design</a:t>
            </a:r>
          </a:p>
          <a:p>
            <a:pPr lvl="0" fontAlgn="base"/>
            <a:r>
              <a:rPr lang="en-US" dirty="0"/>
              <a:t>List and describe common spacecraft power sources</a:t>
            </a:r>
          </a:p>
          <a:p>
            <a:pPr lvl="0" fontAlgn="base"/>
            <a:r>
              <a:rPr lang="en-US" dirty="0"/>
              <a:t>Explain what a I-V plot of a planar array describes, and how temperature changes the I-V curve</a:t>
            </a:r>
          </a:p>
          <a:p>
            <a:pPr lvl="0" fontAlgn="base"/>
            <a:r>
              <a:rPr lang="en-US" dirty="0"/>
              <a:t>Calculate solar array area to support a space mission</a:t>
            </a:r>
          </a:p>
          <a:p>
            <a:pPr lvl="0" fontAlgn="base"/>
            <a:r>
              <a:rPr lang="en-US" dirty="0"/>
              <a:t>Understand how depth of discharge of a battery impacts the cycle life of a secondary battery</a:t>
            </a:r>
          </a:p>
          <a:p>
            <a:pPr lvl="0" fontAlgn="base"/>
            <a:r>
              <a:rPr lang="en-US" dirty="0"/>
              <a:t>Calculate battery capacity to support a space mission</a:t>
            </a:r>
          </a:p>
          <a:p>
            <a:pPr lvl="0" fontAlgn="base"/>
            <a:r>
              <a:rPr lang="en-US" dirty="0"/>
              <a:t>Calculate the beta angle for an orbit and understand its importance when calculating eclipse duration</a:t>
            </a:r>
          </a:p>
        </p:txBody>
      </p:sp>
    </p:spTree>
    <p:extLst>
      <p:ext uri="{BB962C8B-B14F-4D97-AF65-F5344CB8AC3E}">
        <p14:creationId xmlns:p14="http://schemas.microsoft.com/office/powerpoint/2010/main" val="321927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69" y="1704355"/>
            <a:ext cx="8247923" cy="289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2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803920" y="561189"/>
            <a:ext cx="7000857" cy="568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47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503434" y="1046505"/>
            <a:ext cx="7996720" cy="450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34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Spacecraft Power Sources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05997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 dirty="0"/>
              <a:t>Photovoltaic</a:t>
            </a:r>
            <a:endParaRPr lang="en-US" sz="2400" dirty="0"/>
          </a:p>
          <a:p>
            <a:pPr lvl="2" fontAlgn="base"/>
            <a:r>
              <a:rPr lang="en-US" dirty="0"/>
              <a:t>converts incident solar radiation to electrical energy</a:t>
            </a:r>
            <a:endParaRPr lang="en-US" sz="1800" dirty="0"/>
          </a:p>
          <a:p>
            <a:pPr lvl="2" fontAlgn="base"/>
            <a:r>
              <a:rPr lang="en-US" dirty="0"/>
              <a:t>15%-30% efficient (varies based on solar cell technology)</a:t>
            </a:r>
            <a:endParaRPr lang="en-US" sz="1800" dirty="0"/>
          </a:p>
          <a:p>
            <a:pPr lvl="0" fontAlgn="base"/>
            <a:r>
              <a:rPr lang="en-US" dirty="0"/>
              <a:t>Static power</a:t>
            </a:r>
            <a:endParaRPr lang="en-US" sz="2400" dirty="0"/>
          </a:p>
          <a:p>
            <a:pPr lvl="2" fontAlgn="base"/>
            <a:r>
              <a:rPr lang="en-US" dirty="0"/>
              <a:t>converts heat directly to electrical energy</a:t>
            </a:r>
            <a:endParaRPr lang="en-US" sz="1800" dirty="0"/>
          </a:p>
          <a:p>
            <a:pPr lvl="2" fontAlgn="base"/>
            <a:r>
              <a:rPr lang="en-US" dirty="0"/>
              <a:t>thermoelectric energy conversion approach </a:t>
            </a:r>
            <a:endParaRPr lang="en-US" sz="1800" dirty="0"/>
          </a:p>
          <a:p>
            <a:pPr lvl="4" fontAlgn="base"/>
            <a:r>
              <a:rPr lang="en-US" dirty="0"/>
              <a:t>use thermocouple:  uses temperature gradient between p-n junction to create electricity</a:t>
            </a:r>
            <a:endParaRPr lang="en-US" sz="1600" dirty="0"/>
          </a:p>
          <a:p>
            <a:pPr lvl="4" fontAlgn="base"/>
            <a:r>
              <a:rPr lang="en-US" dirty="0"/>
              <a:t>5% - 8% efficient</a:t>
            </a:r>
            <a:endParaRPr lang="en-US" sz="1600" dirty="0"/>
          </a:p>
          <a:p>
            <a:pPr lvl="2" fontAlgn="base"/>
            <a:r>
              <a:rPr lang="en-US" dirty="0"/>
              <a:t>thermionic energy conversion approach</a:t>
            </a:r>
            <a:endParaRPr lang="en-US" sz="1800" dirty="0"/>
          </a:p>
          <a:p>
            <a:pPr lvl="4" fontAlgn="base"/>
            <a:r>
              <a:rPr lang="en-US" dirty="0"/>
              <a:t>hot electrode sends ions to cooler electrode in sealed enclosure w/ ionized gas</a:t>
            </a:r>
            <a:endParaRPr lang="en-US" sz="1600" dirty="0"/>
          </a:p>
          <a:p>
            <a:pPr lvl="4" fontAlgn="base"/>
            <a:r>
              <a:rPr lang="en-US" dirty="0"/>
              <a:t>often use reactor heat source b/c high temp required</a:t>
            </a:r>
            <a:endParaRPr lang="en-US" sz="1600" dirty="0"/>
          </a:p>
          <a:p>
            <a:pPr lvl="4" fontAlgn="base"/>
            <a:r>
              <a:rPr lang="en-US" dirty="0"/>
              <a:t>10%-20% efficient</a:t>
            </a:r>
          </a:p>
          <a:p>
            <a:pPr lvl="2" fontAlgn="base"/>
            <a:r>
              <a:rPr lang="en-US" dirty="0"/>
              <a:t>heat sources:  plutonium-238, uranium-235 nuclear reactor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33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Spacecraft Power Sources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32030"/>
          </a:xfrm>
        </p:spPr>
        <p:txBody>
          <a:bodyPr>
            <a:normAutofit fontScale="92500" lnSpcReduction="20000"/>
          </a:bodyPr>
          <a:lstStyle/>
          <a:p>
            <a:pPr lvl="0" fontAlgn="base"/>
            <a:r>
              <a:rPr lang="en-US" dirty="0"/>
              <a:t>Dynamic power</a:t>
            </a:r>
            <a:endParaRPr lang="en-US" sz="2400" dirty="0"/>
          </a:p>
          <a:p>
            <a:pPr lvl="2" fontAlgn="base"/>
            <a:r>
              <a:rPr lang="en-US" dirty="0"/>
              <a:t>Uses a heat source and a heat exchanger to drive an engine in a thermodynamic approach</a:t>
            </a:r>
            <a:endParaRPr lang="en-US" sz="1800" dirty="0"/>
          </a:p>
          <a:p>
            <a:pPr lvl="2" fontAlgn="base"/>
            <a:r>
              <a:rPr lang="en-US" dirty="0"/>
              <a:t>heat sources:  concentrated solar radiation, radioisotopes or a controlled nuclear-fission reaction</a:t>
            </a:r>
            <a:endParaRPr lang="en-US" sz="1800" dirty="0"/>
          </a:p>
          <a:p>
            <a:pPr lvl="2" fontAlgn="base"/>
            <a:r>
              <a:rPr lang="en-US" dirty="0"/>
              <a:t>thermodynamic cycles:  </a:t>
            </a:r>
            <a:endParaRPr lang="en-US" sz="1800" dirty="0"/>
          </a:p>
          <a:p>
            <a:pPr lvl="4" fontAlgn="base"/>
            <a:r>
              <a:rPr lang="en-US" dirty="0" err="1"/>
              <a:t>Stirling</a:t>
            </a:r>
            <a:r>
              <a:rPr lang="en-US" dirty="0"/>
              <a:t>-cycle (25%-30%)</a:t>
            </a:r>
            <a:endParaRPr lang="en-US" sz="1600" dirty="0"/>
          </a:p>
          <a:p>
            <a:pPr lvl="4" fontAlgn="base"/>
            <a:r>
              <a:rPr lang="en-US" dirty="0"/>
              <a:t>Rankine-cycle (15%-20%)</a:t>
            </a:r>
            <a:endParaRPr lang="en-US" sz="1600" dirty="0"/>
          </a:p>
          <a:p>
            <a:pPr lvl="4" fontAlgn="base"/>
            <a:r>
              <a:rPr lang="en-US" dirty="0"/>
              <a:t>Brayton (20%-35%)</a:t>
            </a:r>
            <a:endParaRPr lang="en-US" sz="1600" dirty="0"/>
          </a:p>
          <a:p>
            <a:pPr lvl="0" fontAlgn="base"/>
            <a:r>
              <a:rPr lang="en-US" dirty="0"/>
              <a:t>Fuel cells</a:t>
            </a:r>
            <a:endParaRPr lang="en-US" sz="2400" dirty="0"/>
          </a:p>
          <a:p>
            <a:pPr lvl="2" fontAlgn="base"/>
            <a:r>
              <a:rPr lang="en-US" dirty="0"/>
              <a:t>convert chemical energy of an oxidation reaction to electrical energy </a:t>
            </a:r>
            <a:endParaRPr lang="en-US" sz="1800" dirty="0"/>
          </a:p>
          <a:p>
            <a:pPr lvl="2" fontAlgn="base"/>
            <a:r>
              <a:rPr lang="en-US" dirty="0"/>
              <a:t>most popular version for space applications is hydrogen-oxygen (“alkaline”) resulting in electricity and water</a:t>
            </a:r>
            <a:endParaRPr lang="en-US" sz="1800" dirty="0"/>
          </a:p>
          <a:p>
            <a:pPr lvl="2" fontAlgn="base"/>
            <a:r>
              <a:rPr lang="en-US" dirty="0"/>
              <a:t>reactants are consumables and therefore life-limiting</a:t>
            </a:r>
            <a:endParaRPr lang="en-US" sz="1800" dirty="0"/>
          </a:p>
          <a:p>
            <a:pPr lvl="2" fontAlgn="base"/>
            <a:r>
              <a:rPr lang="en-US" dirty="0"/>
              <a:t>common on crewed missions b/c of useful by-product: water</a:t>
            </a:r>
            <a:endParaRPr lang="en-US" sz="1800" dirty="0"/>
          </a:p>
          <a:p>
            <a:pPr lvl="2" fontAlgn="base"/>
            <a:r>
              <a:rPr lang="en-US" dirty="0"/>
              <a:t>50%-80% efficient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17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SVD Fig 10-2 EPS Operating Regim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25"/>
          <a:stretch/>
        </p:blipFill>
        <p:spPr bwMode="auto">
          <a:xfrm>
            <a:off x="1028871" y="1013552"/>
            <a:ext cx="7086257" cy="515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Spacecraft Power Sources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Griffin and French, Space Vehicle Design, Figure 10.2</a:t>
            </a:r>
          </a:p>
        </p:txBody>
      </p:sp>
    </p:spTree>
    <p:extLst>
      <p:ext uri="{BB962C8B-B14F-4D97-AF65-F5344CB8AC3E}">
        <p14:creationId xmlns:p14="http://schemas.microsoft.com/office/powerpoint/2010/main" val="77105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" y="1087347"/>
            <a:ext cx="8946114" cy="533228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23200" y="128820"/>
            <a:ext cx="7886700" cy="1325563"/>
          </a:xfrm>
        </p:spPr>
        <p:txBody>
          <a:bodyPr/>
          <a:lstStyle/>
          <a:p>
            <a:r>
              <a:rPr lang="en-US" dirty="0"/>
              <a:t>I-V Plot</a:t>
            </a:r>
          </a:p>
        </p:txBody>
      </p:sp>
    </p:spTree>
    <p:extLst>
      <p:ext uri="{BB962C8B-B14F-4D97-AF65-F5344CB8AC3E}">
        <p14:creationId xmlns:p14="http://schemas.microsoft.com/office/powerpoint/2010/main" val="185536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38" y="1336938"/>
            <a:ext cx="5961895" cy="355355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I-V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310" y="5003512"/>
            <a:ext cx="7886700" cy="160559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Three significant points for solar array design:</a:t>
            </a:r>
          </a:p>
          <a:p>
            <a:pPr lvl="1"/>
            <a:r>
              <a:rPr lang="en-US" dirty="0"/>
              <a:t>Short-circuit current, where voltage = 0</a:t>
            </a:r>
          </a:p>
          <a:p>
            <a:pPr lvl="1"/>
            <a:r>
              <a:rPr lang="en-US" dirty="0"/>
              <a:t>Peak-power point, where voltage times current is maximized</a:t>
            </a:r>
          </a:p>
          <a:p>
            <a:pPr lvl="1"/>
            <a:r>
              <a:rPr lang="en-US" dirty="0"/>
              <a:t>Open-circuit voltage, where current =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54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612" y="1017142"/>
            <a:ext cx="6758356" cy="5477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51398" y="328773"/>
            <a:ext cx="4985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Earth’s Angular Radius</a:t>
            </a:r>
          </a:p>
        </p:txBody>
      </p:sp>
    </p:spTree>
    <p:extLst>
      <p:ext uri="{BB962C8B-B14F-4D97-AF65-F5344CB8AC3E}">
        <p14:creationId xmlns:p14="http://schemas.microsoft.com/office/powerpoint/2010/main" val="7669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Earth’s Angular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⨁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⊕</m:t>
                        </m:r>
                      </m:sub>
                    </m:sSub>
                  </m:oMath>
                </a14:m>
                <a:r>
                  <a:rPr lang="en-US" dirty="0"/>
                  <a:t>= radius of the Earth (km)</a:t>
                </a:r>
              </a:p>
              <a:p>
                <a:pPr marL="0" indent="0">
                  <a:buNone/>
                </a:pPr>
                <a:r>
                  <a:rPr lang="en-US" dirty="0"/>
                  <a:t>	h = altitude of orbit (km)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4812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7" y="311060"/>
            <a:ext cx="8582823" cy="512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958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392"/>
            <a:ext cx="9017604" cy="564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92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89752"/>
                <a:ext cx="7886700" cy="5157627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6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Γ</m:t>
                                  </m:r>
                                </m:e>
                              </m:func>
                              <m:func>
                                <m:func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60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func>
                                    <m:func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6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unc>
                                        <m:funcPr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60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600">
                                              <a:latin typeface="Cambria Math" panose="02040503050406030204" pitchFamily="18" charset="0"/>
                                            </a:rPr>
                                            <m:t>Γ</m:t>
                                          </m:r>
                                          <m:func>
                                            <m:funcPr>
                                              <m:ctrlP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600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</a:rPr>
                                                <m:t>𝜖</m:t>
                                              </m:r>
                                            </m:e>
                                          </m:func>
                                          <m:func>
                                            <m:funcPr>
                                              <m:ctrlP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600">
                                                  <a:latin typeface="Cambria Math" panose="02040503050406030204" pitchFamily="18" charset="0"/>
                                                </a:rPr>
                                                <m:t>cos</m:t>
                                              </m:r>
                                            </m:fName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2600">
                                                  <a:latin typeface="Cambria Math" panose="02040503050406030204" pitchFamily="18" charset="0"/>
                                                </a:rPr>
                                                <m:t>Ω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en-US" sz="2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6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a:rPr lang="en-US" sz="26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func>
                                              <m:r>
                                                <a:rPr lang="en-US" sz="2600" i="1">
                                                  <a:latin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func>
                                                <m:funcPr>
                                                  <m:ctrlPr>
                                                    <a:rPr lang="en-US" sz="26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60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sz="2600">
                                                      <a:latin typeface="Cambria Math" panose="02040503050406030204" pitchFamily="18" charset="0"/>
                                                    </a:rPr>
                                                    <m:t>Γ</m:t>
                                                  </m:r>
                                                  <m:func>
                                                    <m:funcPr>
                                                      <m:ctrlPr>
                                                        <a:rPr lang="en-US" sz="2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26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sin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en-US" sz="2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𝜖</m:t>
                                                      </m:r>
                                                    </m:e>
                                                  </m:func>
                                                  <m:func>
                                                    <m:funcPr>
                                                      <m:ctrlPr>
                                                        <a:rPr lang="en-US" sz="2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uncPr>
                                                    <m:fNam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sz="260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cos</m:t>
                                                      </m:r>
                                                    </m:fName>
                                                    <m:e>
                                                      <m:r>
                                                        <a:rPr lang="en-US" sz="2600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𝑖</m:t>
                                                      </m:r>
                                                    </m:e>
                                                  </m:func>
                                                </m:e>
                                              </m:func>
                                            </m:e>
                                          </m:func>
                                        </m:e>
                                      </m:func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/>
                  <a:t> = Ecliptic True Solar Longitude (</a:t>
                </a:r>
                <a:r>
                  <a:rPr lang="en-US" dirty="0" err="1"/>
                  <a:t>deg</a:t>
                </a:r>
                <a:r>
                  <a:rPr lang="en-US" dirty="0"/>
                  <a:t>), changes 	with date (</a:t>
                </a:r>
                <a:r>
                  <a:rPr lang="en-US" dirty="0" err="1"/>
                  <a:t>deg</a:t>
                </a:r>
                <a:r>
                  <a:rPr lang="en-US" dirty="0"/>
                  <a:t>); Note: *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=0°</m:t>
                    </m:r>
                  </m:oMath>
                </a14:m>
                <a:r>
                  <a:rPr lang="en-US" dirty="0"/>
                  <a:t> when the Sun is at the 	Vernal Equinox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= Right Ascension of the Ascending node of 	orbit (</a:t>
                </a:r>
                <a:r>
                  <a:rPr lang="en-US" dirty="0" err="1"/>
                  <a:t>deg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= Inclination of orbit (</a:t>
                </a:r>
                <a:r>
                  <a:rPr lang="en-US" dirty="0" err="1"/>
                  <a:t>deg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= Obliquity of the Ecliptic (</a:t>
                </a:r>
                <a:r>
                  <a:rPr lang="en-US" dirty="0" err="1"/>
                  <a:t>deg</a:t>
                </a:r>
                <a:r>
                  <a:rPr lang="en-US" dirty="0"/>
                  <a:t>);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=23.45°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*Note that the beta angle is limited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±(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- Beta angles are positive where the Sun is north of the orbit</a:t>
                </a:r>
              </a:p>
              <a:p>
                <a:pPr marL="0" indent="0">
                  <a:buNone/>
                </a:pPr>
                <a:r>
                  <a:rPr lang="en-US" dirty="0"/>
                  <a:t>- Beta angles are negative when the Sun is south of the orbit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89752"/>
                <a:ext cx="7886700" cy="5157627"/>
              </a:xfrm>
              <a:blipFill>
                <a:blip r:embed="rId2"/>
                <a:stretch>
                  <a:fillRect l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259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Solar Array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Want to determine how large the solar array must be in order to give us the desired power</a:t>
                </a:r>
              </a:p>
              <a:p>
                <a:endParaRPr lang="en-US" dirty="0"/>
              </a:p>
              <a:p>
                <a:r>
                  <a:rPr lang="en-US" dirty="0"/>
                  <a:t>Overall strategy: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𝐸𝑂𝐿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𝑟𝑒𝑞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𝐸𝑂𝐿</m:t>
                        </m:r>
                      </m:sub>
                    </m:sSub>
                  </m:oMath>
                </a14:m>
                <a:r>
                  <a:rPr lang="en-US" dirty="0"/>
                  <a:t> is end of life power produced by S/A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𝑟𝑒𝑞</m:t>
                        </m:r>
                      </m:sub>
                    </m:sSub>
                  </m:oMath>
                </a14:m>
                <a:r>
                  <a:rPr lang="en-US" dirty="0"/>
                  <a:t> is power required from S/A to meet S/C needs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0278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Required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90"/>
                <a:ext cx="7886700" cy="497723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𝑟𝑒𝑞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e</a:t>
                </a:r>
                <a:r>
                  <a:rPr lang="en-US" dirty="0"/>
                  <a:t> = power required by S/C during time in eclipse (W)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e</a:t>
                </a:r>
                <a:r>
                  <a:rPr lang="en-US" dirty="0"/>
                  <a:t> = time in eclipse (s)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l-GR" dirty="0"/>
                  <a:t>η</a:t>
                </a:r>
                <a:r>
                  <a:rPr lang="en-US" baseline="-25000" dirty="0"/>
                  <a:t>e</a:t>
                </a:r>
                <a:r>
                  <a:rPr lang="en-US" dirty="0"/>
                  <a:t> = efficiency of transferring power from S/As to batteries and then to loads during eclipse (</a:t>
                </a:r>
                <a:r>
                  <a:rPr lang="en-US" dirty="0" err="1"/>
                  <a:t>unitless</a:t>
                </a:r>
                <a:r>
                  <a:rPr lang="en-US" dirty="0"/>
                  <a:t>) (typically 0.6-0.65)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d</a:t>
                </a:r>
                <a:r>
                  <a:rPr lang="en-US" dirty="0"/>
                  <a:t> = power required by S/C during time in daylight (W)</a:t>
                </a:r>
              </a:p>
              <a:p>
                <a:pPr marL="0" indent="0">
                  <a:buNone/>
                </a:pPr>
                <a:r>
                  <a:rPr lang="en-US" dirty="0"/>
                  <a:t>	T</a:t>
                </a:r>
                <a:r>
                  <a:rPr lang="en-US" baseline="-25000" dirty="0"/>
                  <a:t>d</a:t>
                </a:r>
                <a:r>
                  <a:rPr lang="en-US" dirty="0"/>
                  <a:t> = time in daylight (s)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l-GR" dirty="0"/>
                  <a:t>η</a:t>
                </a:r>
                <a:r>
                  <a:rPr lang="en-US" baseline="-25000" dirty="0"/>
                  <a:t>s</a:t>
                </a:r>
                <a:r>
                  <a:rPr lang="en-US" dirty="0"/>
                  <a:t> = efficiency of transferring power from S/As directly to loads during sunlit portion of orbit (</a:t>
                </a:r>
                <a:r>
                  <a:rPr lang="en-US" dirty="0" err="1"/>
                  <a:t>unitless</a:t>
                </a:r>
                <a:r>
                  <a:rPr lang="en-US" dirty="0"/>
                  <a:t>) (typically 0.8-0.85)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90"/>
                <a:ext cx="7886700" cy="4977238"/>
              </a:xfrm>
              <a:blipFill>
                <a:blip r:embed="rId2"/>
                <a:stretch>
                  <a:fillRect l="-1005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04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Time in Daylight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0873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 that we can only collect solar energy when S/C is in sun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360°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= time in daylight (seconds)</a:t>
                </a:r>
              </a:p>
              <a:p>
                <a:pPr marL="0" indent="0">
                  <a:buNone/>
                </a:pPr>
                <a:r>
                  <a:rPr lang="en-US" dirty="0"/>
                  <a:t>	P = period of orbit (seconds)</a:t>
                </a:r>
              </a:p>
              <a:p>
                <a:pPr marL="457200" lvl="1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600" dirty="0"/>
                  <a:t> = time in eclipse (seconds)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= twice the rotation angle corresponding to the eclipse duration (</a:t>
                </a:r>
                <a:r>
                  <a:rPr lang="en-US" dirty="0" err="1"/>
                  <a:t>deg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08739"/>
              </a:xfrm>
              <a:blipFill>
                <a:blip r:embed="rId2"/>
                <a:stretch>
                  <a:fillRect l="-1546" t="-3105" r="-1855" b="-1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1249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34660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= Earth’s angular radius (</a:t>
                </a:r>
                <a:r>
                  <a:rPr lang="en-US" sz="2400" dirty="0" err="1"/>
                  <a:t>deg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 = beta angle, which is the angle between the solar vector and its projection into the orbit plane (</a:t>
                </a:r>
                <a:r>
                  <a:rPr lang="en-US" sz="2400" dirty="0" err="1"/>
                  <a:t>deg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34660"/>
                <a:ext cx="7886700" cy="4351338"/>
              </a:xfrm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1619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at Beginning of Life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𝐵𝑂𝐿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𝐵𝑂𝐿</m:t>
                        </m:r>
                      </m:sub>
                    </m:sSub>
                  </m:oMath>
                </a14:m>
                <a:r>
                  <a:rPr lang="en-US" sz="2600" dirty="0"/>
                  <a:t> = amount of power S/A is able to produce at the beginning of its life (W)</a:t>
                </a:r>
              </a:p>
              <a:p>
                <a:pPr marL="0" indent="0">
                  <a:buNone/>
                </a:pPr>
                <a:r>
                  <a:rPr lang="en-US" sz="2600" dirty="0"/>
                  <a:t>	S = solar flux (W/m</a:t>
                </a:r>
                <a:r>
                  <a:rPr lang="en-US" sz="2600" baseline="30000" dirty="0"/>
                  <a:t>2</a:t>
                </a:r>
                <a:r>
                  <a:rPr lang="en-US" sz="2600" dirty="0"/>
                  <a:t>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:r>
                  <a:rPr lang="el-GR" sz="2600" dirty="0"/>
                  <a:t>η</a:t>
                </a:r>
                <a:r>
                  <a:rPr lang="en-US" sz="2600" dirty="0"/>
                  <a:t> = solar cell technology efficiency (</a:t>
                </a:r>
                <a:r>
                  <a:rPr lang="en-US" sz="2600" dirty="0" err="1"/>
                  <a:t>unitless</a:t>
                </a:r>
                <a:r>
                  <a:rPr lang="en-US" sz="2600" dirty="0"/>
                  <a:t>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600" dirty="0"/>
                  <a:t> = inherent degradation (</a:t>
                </a:r>
                <a:r>
                  <a:rPr lang="en-US" sz="2600" dirty="0" err="1"/>
                  <a:t>unitless</a:t>
                </a:r>
                <a:r>
                  <a:rPr lang="en-US" sz="2600" dirty="0"/>
                  <a:t>) (average ~0.77, ranges from 0.49 – 0.88)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:r>
                  <a:rPr lang="el-GR" sz="2600" dirty="0"/>
                  <a:t>θ</a:t>
                </a:r>
                <a:r>
                  <a:rPr lang="en-US" sz="2600" dirty="0"/>
                  <a:t> = sunlight incidence angle on S/As (</a:t>
                </a:r>
                <a:r>
                  <a:rPr lang="en-US" sz="2600" dirty="0" err="1"/>
                  <a:t>deg</a:t>
                </a:r>
                <a:r>
                  <a:rPr lang="en-US" sz="2600" dirty="0"/>
                  <a:t>)</a:t>
                </a:r>
              </a:p>
              <a:p>
                <a:pPr marL="0" indent="0">
                  <a:buNone/>
                </a:pPr>
                <a:r>
                  <a:rPr lang="en-US" sz="2600" dirty="0"/>
                  <a:t>	A = S/A surface area (m</a:t>
                </a:r>
                <a:r>
                  <a:rPr lang="en-US" sz="2600" baseline="30000" dirty="0"/>
                  <a:t>2</a:t>
                </a:r>
                <a:r>
                  <a:rPr lang="en-US" sz="2600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029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l-GR" dirty="0"/>
              <a:t>θ</a:t>
            </a:r>
            <a:r>
              <a:rPr lang="en-US" dirty="0"/>
              <a:t> = sunlight incidence angle on S/As (</a:t>
            </a:r>
            <a:r>
              <a:rPr lang="en-US" dirty="0" err="1"/>
              <a:t>deg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*Note: even sun tracking S/A may not achieve </a:t>
            </a:r>
            <a:r>
              <a:rPr lang="el-GR" dirty="0"/>
              <a:t>θ</a:t>
            </a:r>
            <a:r>
              <a:rPr lang="en-US" dirty="0"/>
              <a:t> = 0 </a:t>
            </a:r>
            <a:r>
              <a:rPr lang="en-US" dirty="0" err="1"/>
              <a:t>deg</a:t>
            </a:r>
            <a:r>
              <a:rPr lang="en-US" dirty="0"/>
              <a:t> under all orbit conditions</a:t>
            </a:r>
          </a:p>
          <a:p>
            <a:pPr marL="0" indent="0">
              <a:buNone/>
            </a:pPr>
            <a:r>
              <a:rPr lang="en-US" dirty="0"/>
              <a:t>	(“sun tracking” ≠ 0 </a:t>
            </a:r>
            <a:r>
              <a:rPr lang="en-US" dirty="0" err="1"/>
              <a:t>deg</a:t>
            </a:r>
            <a:r>
              <a:rPr lang="en-US" dirty="0"/>
              <a:t> incidence angle)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426" y="2339030"/>
            <a:ext cx="3585679" cy="26542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8516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Flux</a:t>
            </a:r>
          </a:p>
        </p:txBody>
      </p:sp>
      <p:graphicFrame>
        <p:nvGraphicFramePr>
          <p:cNvPr id="4" name="Group 267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032356799"/>
              </p:ext>
            </p:extLst>
          </p:nvPr>
        </p:nvGraphicFramePr>
        <p:xfrm>
          <a:off x="442760" y="2295716"/>
          <a:ext cx="1708150" cy="292598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Solar Flux</a:t>
                      </a: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(Watt/m</a:t>
                      </a:r>
                      <a:r>
                        <a:rPr kumimoji="0" lang="en-US" altLang="en-US" sz="1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Mercury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9127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Venus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2615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Earth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1367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Mars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589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Jupiter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50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Saturn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Uranus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Neptune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2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Pluto</a:t>
                      </a: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151C77"/>
                        </a:buClr>
                        <a:buSzPct val="80000"/>
                        <a:buFont typeface="Wingdings" panose="05000000000000000000" pitchFamily="2" charset="2"/>
                        <a:defRPr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15" marB="45715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163" y="1419433"/>
            <a:ext cx="6451860" cy="484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94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Flux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Solar flux varies with the square of the distance from the Sun (like all electromagnetic waves)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⊙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𝑑𝑖𝑠𝑡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𝑓𝑟𝑜𝑚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𝑆𝑢𝑛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  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= Solar flux (W/m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⊙</m:t>
                        </m:r>
                      </m:sub>
                    </m:sSub>
                  </m:oMath>
                </a14:m>
                <a:r>
                  <a:rPr lang="en-US" sz="2400" dirty="0"/>
                  <a:t> = luminosity of the Sun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⊙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=3.83 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26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 err="1"/>
                  <a:t>dist</a:t>
                </a:r>
                <a:r>
                  <a:rPr lang="en-US" sz="2400" dirty="0"/>
                  <a:t> from Sun = distance from Sun (m)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381" r="-2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183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at End of Life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𝐸𝑂𝐿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𝐵𝑂𝐿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𝑑𝑒𝑔𝑟𝑎𝑑𝑎𝑡𝑖𝑜𝑛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𝑦𝑟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𝑠𝑎𝑡𝑒𝑙𝑙𝑖𝑡𝑒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𝑙𝑖𝑓𝑒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𝐸𝑂𝐿</m:t>
                        </m:r>
                      </m:sub>
                    </m:sSub>
                  </m:oMath>
                </a14:m>
                <a:r>
                  <a:rPr lang="en-US" dirty="0"/>
                  <a:t> = amount of power S/A is able to produce at the end of its life (W)</a:t>
                </a:r>
              </a:p>
              <a:p>
                <a:pPr marL="0" indent="0">
                  <a:buNone/>
                </a:pPr>
                <a:r>
                  <a:rPr lang="en-US" i="1" dirty="0"/>
                  <a:t>	degradation/year</a:t>
                </a:r>
                <a:r>
                  <a:rPr lang="en-US" dirty="0"/>
                  <a:t> = percent degradation per year (in decimal form, </a:t>
                </a:r>
                <a:r>
                  <a:rPr lang="en-US" dirty="0" err="1"/>
                  <a:t>unitless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r>
                  <a:rPr lang="en-US" dirty="0"/>
                  <a:t>		~3.75%/</a:t>
                </a:r>
                <a:r>
                  <a:rPr lang="en-US" dirty="0" err="1"/>
                  <a:t>yr</a:t>
                </a:r>
                <a:r>
                  <a:rPr lang="en-US" dirty="0"/>
                  <a:t> for Si</a:t>
                </a:r>
              </a:p>
              <a:p>
                <a:pPr marL="0" indent="0">
                  <a:buNone/>
                </a:pPr>
                <a:r>
                  <a:rPr lang="en-US" dirty="0"/>
                  <a:t>		~2.75%/</a:t>
                </a:r>
                <a:r>
                  <a:rPr lang="en-US" dirty="0" err="1"/>
                  <a:t>yr</a:t>
                </a:r>
                <a:r>
                  <a:rPr lang="en-US" dirty="0"/>
                  <a:t> for GaAs</a:t>
                </a:r>
              </a:p>
              <a:p>
                <a:pPr marL="0" indent="0">
                  <a:buNone/>
                </a:pPr>
                <a:r>
                  <a:rPr lang="en-US" i="1" dirty="0"/>
                  <a:t>	satellite life</a:t>
                </a:r>
                <a:r>
                  <a:rPr lang="en-US" dirty="0"/>
                  <a:t> = mission lifetime (</a:t>
                </a:r>
                <a:r>
                  <a:rPr lang="en-US" dirty="0" err="1"/>
                  <a:t>yrs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r="-2396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58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2546570"/>
            <a:ext cx="8499091" cy="4085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Array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486274"/>
          </a:xfrm>
        </p:spPr>
        <p:txBody>
          <a:bodyPr/>
          <a:lstStyle/>
          <a:p>
            <a:r>
              <a:rPr lang="en-US" dirty="0"/>
              <a:t>Selection of type of solar cells is based on efficiency, degradation, cost,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931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80" y="3206910"/>
            <a:ext cx="8947620" cy="3224712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Array Degradation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246349"/>
          </a:xfrm>
        </p:spPr>
        <p:txBody>
          <a:bodyPr/>
          <a:lstStyle/>
          <a:p>
            <a:r>
              <a:rPr lang="en-US" dirty="0"/>
              <a:t>Solar cells degrade over time due to a variety of factors, which sum to give inherent degradation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81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Array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Estimate S/A area (A) to produce necessary power (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req</a:t>
                </a:r>
                <a:r>
                  <a:rPr lang="en-US" dirty="0"/>
                  <a:t>) based on P</a:t>
                </a:r>
                <a:r>
                  <a:rPr lang="en-US" baseline="-25000" dirty="0"/>
                  <a:t>EOL</a:t>
                </a:r>
                <a:r>
                  <a:rPr lang="en-US" b="1" u="sng" dirty="0"/>
                  <a:t> </a:t>
                </a:r>
                <a:endParaRPr lang="en-US" dirty="0"/>
              </a:p>
              <a:p>
                <a:r>
                  <a:rPr lang="en-US" dirty="0"/>
                  <a:t>Recall overall strategy: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𝐸𝑂𝐿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𝑟𝑒𝑞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𝑑𝑒𝑔𝑟𝑎𝑑𝑎𝑡𝑖𝑜𝑛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𝑦𝑟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𝑠𝑎𝑡𝑒𝑙𝑙𝑖𝑡𝑒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𝑙𝑖𝑓𝑒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𝑟𝑒𝑞</m:t>
                        </m:r>
                      </m:sub>
                    </m:sSub>
                  </m:oMath>
                </a14:m>
                <a:r>
                  <a:rPr lang="en-US" dirty="0"/>
                  <a:t>     	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solve for 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 r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158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dirty="0"/>
              <a:t>necessary to store energy for peak power demands and eclipses</a:t>
            </a:r>
          </a:p>
          <a:p>
            <a:pPr lvl="0" fontAlgn="base"/>
            <a:r>
              <a:rPr lang="en-US" dirty="0"/>
              <a:t>batteries a convenient way to do those (other options:  fly wheels, fuel cells)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50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2914882"/>
            <a:ext cx="8526162" cy="36576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Batteries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589319"/>
            <a:ext cx="7886700" cy="4351338"/>
          </a:xfrm>
        </p:spPr>
        <p:txBody>
          <a:bodyPr/>
          <a:lstStyle/>
          <a:p>
            <a:r>
              <a:rPr lang="en-US" dirty="0"/>
              <a:t>Non-rechargeable</a:t>
            </a:r>
          </a:p>
          <a:p>
            <a:r>
              <a:rPr lang="en-US" dirty="0"/>
              <a:t>High energy densities</a:t>
            </a:r>
          </a:p>
        </p:txBody>
      </p:sp>
    </p:spTree>
    <p:extLst>
      <p:ext uri="{BB962C8B-B14F-4D97-AF65-F5344CB8AC3E}">
        <p14:creationId xmlns:p14="http://schemas.microsoft.com/office/powerpoint/2010/main" val="1608220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">
            <a:off x="40873" y="2121104"/>
            <a:ext cx="8350665" cy="475685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5712" y="0"/>
            <a:ext cx="7886700" cy="1325563"/>
          </a:xfrm>
        </p:spPr>
        <p:txBody>
          <a:bodyPr/>
          <a:lstStyle/>
          <a:p>
            <a:r>
              <a:rPr lang="en-US" dirty="0"/>
              <a:t>Secondary Batteries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28650" y="1078788"/>
            <a:ext cx="7886700" cy="5098176"/>
          </a:xfrm>
        </p:spPr>
        <p:txBody>
          <a:bodyPr/>
          <a:lstStyle/>
          <a:p>
            <a:r>
              <a:rPr lang="en-US" dirty="0" err="1"/>
              <a:t>Rechargable</a:t>
            </a:r>
            <a:r>
              <a:rPr lang="en-US" dirty="0"/>
              <a:t>, but cycle-life limited</a:t>
            </a:r>
          </a:p>
          <a:p>
            <a:r>
              <a:rPr lang="en-US" dirty="0"/>
              <a:t>Lower energy densities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65159" y="6009717"/>
            <a:ext cx="17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Space-qualified</a:t>
            </a:r>
          </a:p>
        </p:txBody>
      </p:sp>
    </p:spTree>
    <p:extLst>
      <p:ext uri="{BB962C8B-B14F-4D97-AF65-F5344CB8AC3E}">
        <p14:creationId xmlns:p14="http://schemas.microsoft.com/office/powerpoint/2010/main" val="3152971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Depth of Discharge</a:t>
            </a:r>
          </a:p>
        </p:txBody>
      </p:sp>
      <p:sp>
        <p:nvSpPr>
          <p:cNvPr id="6" name="Rectangle 72"/>
          <p:cNvSpPr>
            <a:spLocks/>
          </p:cNvSpPr>
          <p:nvPr/>
        </p:nvSpPr>
        <p:spPr bwMode="auto">
          <a:xfrm>
            <a:off x="3587262" y="6179344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US" sz="1266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Designing Space Missions and Systems, Figure 11.24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39" y="1278806"/>
            <a:ext cx="7635722" cy="481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42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Battery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𝑏𝑎𝑡𝑡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𝐷𝑜𝐷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𝑏𝑎𝑡𝑡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	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𝑏𝑎𝑡𝑡</m:t>
                        </m:r>
                      </m:sub>
                    </m:sSub>
                  </m:oMath>
                </a14:m>
                <a:r>
                  <a:rPr lang="en-US" sz="2600" dirty="0"/>
                  <a:t> = battery capacity (</a:t>
                </a:r>
                <a:r>
                  <a:rPr lang="en-US" sz="2600" dirty="0" err="1"/>
                  <a:t>W·hr</a:t>
                </a:r>
                <a:r>
                  <a:rPr lang="en-US" sz="2600" dirty="0"/>
                  <a:t>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600" dirty="0"/>
                  <a:t> = power required by S/C during eclipse (W)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600" dirty="0"/>
                  <a:t> = time in eclipse (</a:t>
                </a:r>
                <a:r>
                  <a:rPr lang="en-US" sz="2600" dirty="0" err="1"/>
                  <a:t>hrs</a:t>
                </a:r>
                <a:r>
                  <a:rPr lang="en-US" sz="2600" dirty="0"/>
                  <a:t>) (not seconds!)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𝐷𝑜𝐷</m:t>
                    </m:r>
                  </m:oMath>
                </a14:m>
                <a:r>
                  <a:rPr lang="en-US" sz="2600" dirty="0"/>
                  <a:t> = depth of discharge (%) 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600" dirty="0"/>
                  <a:t> = number of batteries</a:t>
                </a:r>
              </a:p>
              <a:p>
                <a:pPr marL="0" indent="0">
                  <a:buNone/>
                </a:pPr>
                <a:r>
                  <a:rPr lang="en-US" sz="26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𝑏𝑎𝑡𝑡</m:t>
                        </m:r>
                      </m:sub>
                    </m:sSub>
                  </m:oMath>
                </a14:m>
                <a:r>
                  <a:rPr lang="en-US" sz="2600" dirty="0"/>
                  <a:t> = battery efficiency (converting chemical energy back to electrical); typical value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𝑏𝑎𝑡𝑡</m:t>
                        </m:r>
                      </m:sub>
                    </m:sSub>
                  </m:oMath>
                </a14:m>
                <a:r>
                  <a:rPr lang="en-US" sz="2600" dirty="0"/>
                  <a:t> = 0.9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6845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67"/>
            <a:ext cx="9144000" cy="687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00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09622"/>
            <a:ext cx="7886700" cy="510683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Given: </a:t>
            </a:r>
            <a:r>
              <a:rPr lang="en-US" dirty="0">
                <a:solidFill>
                  <a:srgbClr val="0000FF"/>
                </a:solidFill>
              </a:rPr>
              <a:t>A synthetic aperture radar (SAR) satellite on a 5-year mission requires 900W of power at all times. Its COEs are: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a = 7578 km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e = 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i = 45°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Ω = 30°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ω = 270°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Uses silicon solar cells with 18% efficiency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Efficiency of power transfer in sunlight: 0.85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Efficiency of power transfer in eclipse: 0.65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Inherent degradation of solar cells: 0.75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Worst-case sun incidence angle: 30°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You may assume worst-case beta angle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rgbClr val="0000FF"/>
                </a:solidFill>
              </a:rPr>
              <a:t>	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solidFill>
                  <a:srgbClr val="0000FF"/>
                </a:solidFill>
              </a:rPr>
              <a:t>Find: </a:t>
            </a:r>
            <a:r>
              <a:rPr lang="en-US" dirty="0">
                <a:solidFill>
                  <a:srgbClr val="0000FF"/>
                </a:solidFill>
              </a:rPr>
              <a:t>How big must the solar arrays be in order to provide the required power with a margin factor of 120%? Assume worst-case time in eclipse for your calculations.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5073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(1/3)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Recall the strategy: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𝐸𝑂𝐿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𝑟𝑒𝑞</m:t>
                          </m:r>
                        </m:sub>
                      </m:sSub>
                    </m:oMath>
                  </m:oMathPara>
                </a14:m>
                <a:endParaRPr lang="en-US" i="1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Problem states that we need to apply 120% margin: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𝐸𝑂𝐿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1.2×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𝑠𝑎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𝑟𝑒𝑞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Substitute in and then use algebra to solve for A.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sSup>
                        <m:sSup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𝑑𝑒𝑔𝑟𝑎𝑑𝑎𝑡𝑖𝑜𝑛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𝑦𝑟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𝑠𝑎𝑡𝑒𝑙𝑙𝑖𝑡𝑒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𝑙𝑖𝑓𝑒</m:t>
                          </m:r>
                        </m:sup>
                      </m:sSup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=1.2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1.2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sub>
                                      </m:sSub>
                                    </m:den>
                                  </m:f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𝜂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f>
                        <m:f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𝑑𝑒𝑔𝑟𝑎𝑑𝑎𝑡𝑖𝑜𝑛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𝑦𝑟</m:t>
                                  </m:r>
                                </m:den>
                              </m:f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𝑠𝑎𝑡𝑒𝑙𝑙𝑖𝑡𝑒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𝑙𝑖𝑓𝑒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447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64934"/>
          </a:xfrm>
        </p:spPr>
        <p:txBody>
          <a:bodyPr/>
          <a:lstStyle/>
          <a:p>
            <a:r>
              <a:rPr lang="en-US" dirty="0"/>
              <a:t>Solution (2/3)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68083"/>
                <a:ext cx="7886700" cy="5244860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Need to solve for time in eclipse first.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360°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⊕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⨁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6378 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num>
                                <m:den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7578 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𝑘𝑚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57.31°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To have worst-case time in eclipse, we need the maximum value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. To get the maximum value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the value inside the cosine term must be maximized. However, since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is fixed with altitude, to maximize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, the beta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must be zero.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00FF"/>
                    </a:solidFill>
                  </a:rPr>
                  <a:t>If we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FF"/>
                    </a:solidFill>
                  </a:rPr>
                  <a:t> = 0°, we get:</a:t>
                </a:r>
              </a:p>
              <a:p>
                <a:pPr marL="0" indent="0">
                  <a:buNone/>
                </a:pPr>
                <a:br>
                  <a:rPr lang="en-US" dirty="0">
                    <a:solidFill>
                      <a:srgbClr val="0000FF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fName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unc>
                                        <m:func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e>
                                      </m:func>
                                    </m:num>
                                    <m:den>
                                      <m:func>
                                        <m:funcPr>
                                          <m:ctrlPr>
                                            <a:rPr lang="en-US" i="1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solidFill>
                                                <a:srgbClr val="00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𝛽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sub>
                                          </m:sSub>
                                        </m:e>
                                      </m:func>
                                    </m:den>
                                  </m:f>
                                </m:e>
                              </m:d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e>
                          </m:func>
                        </m:e>
                      </m:func>
                      <m:func>
                        <m:func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(57.31°</m:t>
                                      </m:r>
                                    </m:e>
                                  </m:func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(0°)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=114.63°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360°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7578 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𝑘𝑚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398600.5 </m:t>
                              </m:r>
                              <m:f>
                                <m:fPr>
                                  <m:type m:val="skw"/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𝑘𝑚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den>
                          </m:f>
                        </m:e>
                      </m:rad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114.63°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360°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=2090.4 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68083"/>
                <a:ext cx="7886700" cy="5244860"/>
              </a:xfrm>
              <a:blipFill>
                <a:blip r:embed="rId2"/>
                <a:stretch>
                  <a:fillRect l="-618" t="-1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762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5133" y="5055079"/>
            <a:ext cx="1079380" cy="41406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93298" y="1825625"/>
                <a:ext cx="8652294" cy="468731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sz="4000" dirty="0">
                    <a:solidFill>
                      <a:srgbClr val="0000FF"/>
                    </a:solidFill>
                  </a:rPr>
                  <a:t>Next, we can get time in daylight.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4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4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40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4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=6565.1−2090.4=4474.7 </m:t>
                      </m:r>
                      <m:r>
                        <a:rPr lang="en-US" sz="4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US" sz="4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sz="4000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r>
                  <a:rPr lang="en-US" sz="4000" dirty="0">
                    <a:solidFill>
                      <a:srgbClr val="0000FF"/>
                    </a:solidFill>
                  </a:rPr>
                  <a:t>Since we are talking about an orbit around the Earth, we can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⨁</m:t>
                        </m:r>
                      </m:sub>
                    </m:sSub>
                    <m:r>
                      <a:rPr lang="en-US" sz="4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4000" dirty="0">
                    <a:solidFill>
                      <a:srgbClr val="0000FF"/>
                    </a:solidFill>
                  </a:rPr>
                  <a:t> (given on your </a:t>
                </a:r>
                <a:r>
                  <a:rPr lang="en-US" sz="4000" dirty="0" err="1">
                    <a:solidFill>
                      <a:srgbClr val="0000FF"/>
                    </a:solidFill>
                  </a:rPr>
                  <a:t>eqn</a:t>
                </a:r>
                <a:r>
                  <a:rPr lang="en-US" sz="4000" dirty="0">
                    <a:solidFill>
                      <a:srgbClr val="0000FF"/>
                    </a:solidFill>
                  </a:rPr>
                  <a:t> sheet).</a:t>
                </a:r>
              </a:p>
              <a:p>
                <a:pPr marL="0" indent="0">
                  <a:buNone/>
                </a:pPr>
                <a:r>
                  <a:rPr lang="en-US" sz="4000" dirty="0">
                    <a:solidFill>
                      <a:srgbClr val="0000FF"/>
                    </a:solidFill>
                  </a:rPr>
                  <a:t>Degradation of silicon cells is 3.75% per year.</a:t>
                </a:r>
              </a:p>
              <a:p>
                <a:pPr marL="0" indent="0">
                  <a:buNone/>
                </a:pPr>
                <a:r>
                  <a:rPr lang="en-US" sz="4000" dirty="0">
                    <a:solidFill>
                      <a:srgbClr val="0000FF"/>
                    </a:solidFill>
                  </a:rPr>
                  <a:t>Now, substitute everything in and solve for area.</a:t>
                </a:r>
              </a:p>
              <a:p>
                <a:pPr marL="0" indent="0">
                  <a:buNone/>
                </a:pPr>
                <a:r>
                  <a:rPr lang="en-US" sz="3400" dirty="0">
                    <a:solidFill>
                      <a:srgbClr val="0000FF"/>
                    </a:solidFill>
                  </a:rPr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 1.2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3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(900 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)(2090.4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0.65</m:t>
                                      </m:r>
                                    </m:den>
                                  </m:f>
                                  <m:r>
                                    <a:rPr lang="en-US" sz="3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(900 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)(4474.7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US" sz="3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0.85</m:t>
                                      </m:r>
                                    </m:den>
                                  </m:f>
                                </m:e>
                              </m:d>
                            </m:num>
                            <m:den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4474.7 </m:t>
                              </m:r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f>
                        <m:fPr>
                          <m:ctrlP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(1367 </m:t>
                          </m:r>
                          <m:f>
                            <m:fPr>
                              <m:ctrlP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3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sz="3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)(0.18)</m:t>
                          </m:r>
                          <m:func>
                            <m:funcPr>
                              <m:ctrlP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3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(0.75)</m:t>
                              </m:r>
                              <m:r>
                                <m:rPr>
                                  <m:sty m:val="p"/>
                                </m:rPr>
                                <a:rPr lang="en-US" sz="340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(30°)</m:t>
                              </m:r>
                            </m:e>
                          </m:func>
                          <m:sSup>
                            <m:sSupPr>
                              <m:ctrlP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(1−0.0375)</m:t>
                              </m:r>
                            </m:e>
                            <m:sup>
                              <m:r>
                                <a:rPr lang="en-US" sz="3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den>
                      </m:f>
                      <m:r>
                        <a:rPr lang="en-US" sz="3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=15.504 </m:t>
                      </m:r>
                      <m:sSup>
                        <m:sSupPr>
                          <m:ctrlP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sz="3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298" y="1825625"/>
                <a:ext cx="8652294" cy="4687318"/>
              </a:xfrm>
              <a:blipFill>
                <a:blip r:embed="rId2"/>
                <a:stretch>
                  <a:fillRect l="-634" t="-2471" r="-1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733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0FBF11-4AB5-4CFE-84FD-A85C917EA421}"/>
</file>

<file path=customXml/itemProps2.xml><?xml version="1.0" encoding="utf-8"?>
<ds:datastoreItem xmlns:ds="http://schemas.openxmlformats.org/officeDocument/2006/customXml" ds:itemID="{66FCFAC8-F4E9-4CB9-8F0F-9272C03C650E}">
  <ds:schemaRefs>
    <ds:schemaRef ds:uri="http://schemas.microsoft.com/office/infopath/2007/PartnerControls"/>
    <ds:schemaRef ds:uri="http://schemas.microsoft.com/office/2006/metadata/properties"/>
    <ds:schemaRef ds:uri="http://purl.org/dc/terms/"/>
    <ds:schemaRef ds:uri="http://www.w3.org/XML/1998/namespace"/>
    <ds:schemaRef ds:uri="6b599e9f-786e-4913-82a4-35bb55491707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43c5c5c6-2005-43c0-9dfb-f590327e447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4FD16F7-79E8-45E0-B1ED-146352CC6F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3351</TotalTime>
  <Words>1662</Words>
  <Application>Microsoft Office PowerPoint</Application>
  <PresentationFormat>On-screen Show (4:3)</PresentationFormat>
  <Paragraphs>228</Paragraphs>
  <Slides>37</Slides>
  <Notes>0</Notes>
  <HiddenSlides>18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Cambria Math</vt:lpstr>
      <vt:lpstr>Times New Roman</vt:lpstr>
      <vt:lpstr>Office Theme</vt:lpstr>
      <vt:lpstr>PowerPoint Presentation</vt:lpstr>
      <vt:lpstr>Lesson Objectives</vt:lpstr>
      <vt:lpstr>PowerPoint Presentation</vt:lpstr>
      <vt:lpstr>PowerPoint Presentation</vt:lpstr>
      <vt:lpstr>PowerPoint Presentation</vt:lpstr>
      <vt:lpstr>Spacecraft Power Sources (1/2)</vt:lpstr>
      <vt:lpstr>Spacecraft Power Sources (2/2)</vt:lpstr>
      <vt:lpstr>Spacecraft Power Sources</vt:lpstr>
      <vt:lpstr>I-V Plot</vt:lpstr>
      <vt:lpstr>I-V Plots</vt:lpstr>
      <vt:lpstr>PowerPoint Presentation</vt:lpstr>
      <vt:lpstr>Earth’s Angular Radius</vt:lpstr>
      <vt:lpstr>PowerPoint Presentation</vt:lpstr>
      <vt:lpstr>PowerPoint Presentation</vt:lpstr>
      <vt:lpstr>Beta Angle</vt:lpstr>
      <vt:lpstr>Calculating Solar Array Size</vt:lpstr>
      <vt:lpstr>Power Required</vt:lpstr>
      <vt:lpstr>Calculating Time in Daylight</vt:lpstr>
      <vt:lpstr>PowerPoint Presentation</vt:lpstr>
      <vt:lpstr>Power at Beginning of Life</vt:lpstr>
      <vt:lpstr>PowerPoint Presentation</vt:lpstr>
      <vt:lpstr>Solar Flux</vt:lpstr>
      <vt:lpstr>Solar Flux</vt:lpstr>
      <vt:lpstr>Power at End of Life</vt:lpstr>
      <vt:lpstr>Solar Array Types</vt:lpstr>
      <vt:lpstr>Solar Array Degradation</vt:lpstr>
      <vt:lpstr>Solar Array Approach</vt:lpstr>
      <vt:lpstr>Energy Storage</vt:lpstr>
      <vt:lpstr>Primary Batteries</vt:lpstr>
      <vt:lpstr>Secondary Batteries</vt:lpstr>
      <vt:lpstr>Depth of Discharge</vt:lpstr>
      <vt:lpstr>Calculate Battery Size</vt:lpstr>
      <vt:lpstr>PowerPoint Presentation</vt:lpstr>
      <vt:lpstr>Example</vt:lpstr>
      <vt:lpstr>Solution (1/3)</vt:lpstr>
      <vt:lpstr>Solution (2/3)</vt:lpstr>
      <vt:lpstr>Solution (3/3)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Firth, Jordan A Lt Col USAF USAFA DF/DFAS</cp:lastModifiedBy>
  <cp:revision>109</cp:revision>
  <cp:lastPrinted>2019-06-26T14:29:45Z</cp:lastPrinted>
  <dcterms:created xsi:type="dcterms:W3CDTF">2019-06-13T20:36:51Z</dcterms:created>
  <dcterms:modified xsi:type="dcterms:W3CDTF">2023-02-13T15:19:06Z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