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0"/>
  </p:notesMasterIdLst>
  <p:handoutMasterIdLst>
    <p:handoutMasterId r:id="rId31"/>
  </p:handoutMasterIdLst>
  <p:sldIdLst>
    <p:sldId id="258" r:id="rId5"/>
    <p:sldId id="312" r:id="rId6"/>
    <p:sldId id="318" r:id="rId7"/>
    <p:sldId id="319" r:id="rId8"/>
    <p:sldId id="320" r:id="rId9"/>
    <p:sldId id="313" r:id="rId10"/>
    <p:sldId id="321" r:id="rId11"/>
    <p:sldId id="314" r:id="rId12"/>
    <p:sldId id="322" r:id="rId13"/>
    <p:sldId id="315" r:id="rId14"/>
    <p:sldId id="323" r:id="rId15"/>
    <p:sldId id="316" r:id="rId16"/>
    <p:sldId id="324" r:id="rId17"/>
    <p:sldId id="325" r:id="rId18"/>
    <p:sldId id="326" r:id="rId19"/>
    <p:sldId id="327" r:id="rId20"/>
    <p:sldId id="328" r:id="rId21"/>
    <p:sldId id="317" r:id="rId22"/>
    <p:sldId id="333" r:id="rId23"/>
    <p:sldId id="331" r:id="rId24"/>
    <p:sldId id="329" r:id="rId25"/>
    <p:sldId id="304" r:id="rId26"/>
    <p:sldId id="305" r:id="rId27"/>
    <p:sldId id="330" r:id="rId28"/>
    <p:sldId id="334" r:id="rId29"/>
  </p:sldIdLst>
  <p:sldSz cx="9144000" cy="6858000" type="screen4x3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11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dan Firth" userId="9668160b-358f-46f6-8d41-76c7cc813d9a" providerId="ADAL" clId="{78C9001A-8C9A-4C11-9E81-788EF43481F2}"/>
    <pc:docChg chg="modSld">
      <pc:chgData name="Jordan Firth" userId="9668160b-358f-46f6-8d41-76c7cc813d9a" providerId="ADAL" clId="{78C9001A-8C9A-4C11-9E81-788EF43481F2}" dt="2023-03-23T02:50:54.287" v="2" actId="20577"/>
      <pc:docMkLst>
        <pc:docMk/>
      </pc:docMkLst>
      <pc:sldChg chg="modSp">
        <pc:chgData name="Jordan Firth" userId="9668160b-358f-46f6-8d41-76c7cc813d9a" providerId="ADAL" clId="{78C9001A-8C9A-4C11-9E81-788EF43481F2}" dt="2023-03-23T02:50:54.287" v="2" actId="20577"/>
        <pc:sldMkLst>
          <pc:docMk/>
          <pc:sldMk cId="1321450072" sldId="258"/>
        </pc:sldMkLst>
        <pc:spChg chg="mod">
          <ac:chgData name="Jordan Firth" userId="9668160b-358f-46f6-8d41-76c7cc813d9a" providerId="ADAL" clId="{78C9001A-8C9A-4C11-9E81-788EF43481F2}" dt="2023-03-23T02:50:54.287" v="2" actId="20577"/>
          <ac:spMkLst>
            <pc:docMk/>
            <pc:sldMk cId="1321450072" sldId="258"/>
            <ac:spMk id="4" creationId="{00000000-0000-0000-0000-000000000000}"/>
          </ac:spMkLst>
        </pc:spChg>
      </pc:sldChg>
    </pc:docChg>
  </pc:docChgLst>
  <pc:docChgLst>
    <pc:chgData name="Crowson, Colt D C2C USAF USAFA CW/CS02" userId="S::c23colt.crowson@afacademy.af.edu::60b05c81-e6f2-4248-b508-38b3142a8213" providerId="AD" clId="Web-{F638EAA3-7BFD-4D83-8929-231C688423D8}"/>
  </pc:docChgLst>
  <pc:docChgLst>
    <pc:chgData name="Previlor, Marc H C2C USAF USAFA CW/CS09" userId="S::c23marc.previlor@afacademy.af.edu::3e3fff4c-2f1e-4589-a129-1d168961b6b1" providerId="AD" clId="Web-{C5AD4A85-3728-40A7-B006-19736743D8E0}"/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014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BA195-A930-461F-9F68-63674CBC1F57}" type="datetimeFigureOut">
              <a:rPr lang="en-US" smtClean="0"/>
              <a:t>2023-03-22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014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85C700-0AF4-4EE1-AD5E-8E73BEF58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223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9075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738" y="0"/>
            <a:ext cx="4029075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FA975-85A1-44C6-B324-592D950BD05D}" type="datetimeFigureOut">
              <a:rPr lang="en-US" smtClean="0"/>
              <a:t>2023-03-22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71813" y="876300"/>
            <a:ext cx="3152775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0275" y="3373438"/>
            <a:ext cx="7435850" cy="2760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9563"/>
            <a:ext cx="4029075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738" y="6659563"/>
            <a:ext cx="4029075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74E78-36D7-4A68-A7BE-415147701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75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06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20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43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55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8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2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654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19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7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9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8F1D6-D3DC-40BB-BF42-45511740934C}" type="datetimeFigureOut">
              <a:rPr lang="en-US" smtClean="0"/>
              <a:t>2023-03-22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3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Astro 331</a:t>
            </a:r>
            <a:endParaRPr lang="en-US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371600" y="3886199"/>
            <a:ext cx="6400800" cy="24221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/>
              <a:t>Spacecraft Manufacturing and Reliability</a:t>
            </a:r>
          </a:p>
          <a:p>
            <a:pPr marL="0" indent="0" algn="ctr">
              <a:buNone/>
            </a:pPr>
            <a:endParaRPr lang="en-US" sz="3200"/>
          </a:p>
          <a:p>
            <a:pPr marL="0" indent="0" algn="ctr">
              <a:buNone/>
            </a:pPr>
            <a:r>
              <a:rPr lang="en-US" sz="3200"/>
              <a:t>SMAD </a:t>
            </a:r>
            <a:r>
              <a:rPr lang="en-US" sz="3200" err="1"/>
              <a:t>Ch</a:t>
            </a:r>
            <a:r>
              <a:rPr lang="en-US" sz="3200"/>
              <a:t> 19, </a:t>
            </a:r>
            <a:r>
              <a:rPr lang="en-US" sz="3200" err="1"/>
              <a:t>Supp</a:t>
            </a:r>
            <a:r>
              <a:rPr lang="en-US" sz="3200"/>
              <a:t> </a:t>
            </a:r>
            <a:r>
              <a:rPr lang="en-US" sz="3200" err="1"/>
              <a:t>Crs</a:t>
            </a:r>
            <a:r>
              <a:rPr lang="en-US" sz="3200"/>
              <a:t> </a:t>
            </a:r>
            <a:r>
              <a:rPr lang="en-US" sz="3200" err="1"/>
              <a:t>Mtl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450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Lesson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92494"/>
            <a:ext cx="8001642" cy="4993241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en-US"/>
              <a:t>Describe what screening means with respect to parts selection</a:t>
            </a:r>
          </a:p>
          <a:p>
            <a:pPr fontAlgn="base"/>
            <a:r>
              <a:rPr lang="en-US"/>
              <a:t>Explain the bathtub curve and why it is relevant to spacecraft design</a:t>
            </a:r>
          </a:p>
          <a:p>
            <a:pPr lvl="0" fontAlgn="base"/>
            <a:r>
              <a:rPr lang="en-US"/>
              <a:t>Describe various types of redundancy and what types of faults they protect against</a:t>
            </a:r>
          </a:p>
          <a:p>
            <a:pPr fontAlgn="base"/>
            <a:r>
              <a:rPr lang="en-US"/>
              <a:t>Understand what a Failure Modes, Effects, and Criticality Analysis (FMECA) is and the benefits of performing it</a:t>
            </a:r>
          </a:p>
          <a:p>
            <a:pPr lvl="0" fontAlgn="base"/>
            <a:r>
              <a:rPr lang="en-US"/>
              <a:t>Explain the relationship between reliability (success) and failure</a:t>
            </a:r>
          </a:p>
          <a:p>
            <a:pPr fontAlgn="base"/>
            <a:r>
              <a:rPr lang="en-US"/>
              <a:t>Perform basic reliability block diagram reduction (using series, parallel, and combinations)</a:t>
            </a:r>
          </a:p>
        </p:txBody>
      </p:sp>
    </p:spTree>
    <p:extLst>
      <p:ext uri="{BB962C8B-B14F-4D97-AF65-F5344CB8AC3E}">
        <p14:creationId xmlns:p14="http://schemas.microsoft.com/office/powerpoint/2010/main" val="694369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699836"/>
          </a:xfrm>
        </p:spPr>
        <p:txBody>
          <a:bodyPr>
            <a:normAutofit fontScale="92500" lnSpcReduction="20000"/>
          </a:bodyPr>
          <a:lstStyle/>
          <a:p>
            <a:pPr lvl="0" fontAlgn="base"/>
            <a:r>
              <a:rPr lang="en-US" b="1"/>
              <a:t>Basic Reliability</a:t>
            </a:r>
            <a:r>
              <a:rPr lang="en-US"/>
              <a:t>:  probability that a device will function without failure of any kind over a specified time period of amount of usage</a:t>
            </a:r>
          </a:p>
          <a:p>
            <a:pPr lvl="0" fontAlgn="base"/>
            <a:r>
              <a:rPr lang="en-US" b="1"/>
              <a:t>Mission Reliability</a:t>
            </a:r>
            <a:r>
              <a:rPr lang="en-US"/>
              <a:t>:  probability that a system will function without mission failure over a specified time period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*Note the difference: “without failure of any kind” vs “without mission failure”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It is also implied that reliability is only valid if the device is being operated as intended (</a:t>
            </a:r>
            <a:r>
              <a:rPr lang="en-US" err="1"/>
              <a:t>ie</a:t>
            </a:r>
            <a:r>
              <a:rPr lang="en-US"/>
              <a:t>, within specified temperatures, loads, </a:t>
            </a:r>
            <a:r>
              <a:rPr lang="en-US" err="1"/>
              <a:t>etc</a:t>
            </a:r>
            <a:r>
              <a:rPr lang="en-US"/>
              <a:t>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78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Parts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05997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Every part will eventually fail – it’s a question of when</a:t>
            </a:r>
          </a:p>
          <a:p>
            <a:pPr marL="0" indent="0">
              <a:buNone/>
            </a:pPr>
            <a:endParaRPr lang="en-US" sz="2400"/>
          </a:p>
          <a:p>
            <a:pPr lvl="0" fontAlgn="base"/>
            <a:r>
              <a:rPr lang="en-US"/>
              <a:t>Parts selection needs to consider </a:t>
            </a:r>
            <a:r>
              <a:rPr lang="en-US" err="1"/>
              <a:t>producibility</a:t>
            </a:r>
            <a:r>
              <a:rPr lang="en-US"/>
              <a:t>, radiation, out-gassing, and other application-specific requirements </a:t>
            </a:r>
            <a:endParaRPr lang="en-US" sz="24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546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Parts Screening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/>
              <a:t>Parts screening is a process that eliminates units that have a higher likelihood of failing in service than the other units in the lot </a:t>
            </a:r>
            <a:endParaRPr lang="en-US" sz="2400"/>
          </a:p>
          <a:p>
            <a:pPr lvl="1" fontAlgn="base"/>
            <a:r>
              <a:rPr lang="en-US"/>
              <a:t>Reduces the probability of failure by rejecting the lower tail of the distribution</a:t>
            </a:r>
            <a:endParaRPr lang="en-US" sz="2200"/>
          </a:p>
          <a:p>
            <a:pPr lvl="1" fontAlgn="base"/>
            <a:r>
              <a:rPr lang="en-US"/>
              <a:t>Costs: loss of rejected parts plus cost of testing</a:t>
            </a:r>
            <a:endParaRPr lang="en-US" sz="2200"/>
          </a:p>
          <a:p>
            <a:pPr lvl="2" fontAlgn="base"/>
            <a:r>
              <a:rPr lang="en-US"/>
              <a:t>Examples: vibration, thermal, x-rays, destructive physical analysis</a:t>
            </a:r>
            <a:endParaRPr lang="en-US" sz="18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24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1542"/>
            <a:ext cx="8807306" cy="46850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Parts Screening</a:t>
            </a:r>
          </a:p>
        </p:txBody>
      </p:sp>
    </p:spTree>
    <p:extLst>
      <p:ext uri="{BB962C8B-B14F-4D97-AF65-F5344CB8AC3E}">
        <p14:creationId xmlns:p14="http://schemas.microsoft.com/office/powerpoint/2010/main" val="2322942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Better process control measures during parts manufacturing can help parts to perform closer to desired mean performance</a:t>
            </a:r>
          </a:p>
          <a:p>
            <a:pPr lvl="0" fontAlgn="base"/>
            <a:r>
              <a:rPr lang="en-US"/>
              <a:t>Parts </a:t>
            </a:r>
            <a:r>
              <a:rPr lang="en-US" err="1"/>
              <a:t>derating</a:t>
            </a:r>
            <a:r>
              <a:rPr lang="en-US"/>
              <a:t> is operating a part at less than its maximum capacity to extend the lifetime of the part (this is common)</a:t>
            </a:r>
            <a:endParaRPr lang="en-US" sz="2400"/>
          </a:p>
          <a:p>
            <a:pPr lvl="1" fontAlgn="base"/>
            <a:r>
              <a:rPr lang="en-US"/>
              <a:t>Reduces the probability of failure by moving the average reliability of the parts higher</a:t>
            </a:r>
            <a:endParaRPr lang="en-US" sz="2200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346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93" y="1695236"/>
            <a:ext cx="8905744" cy="49541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20575" y="1695236"/>
            <a:ext cx="595901" cy="503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Control</a:t>
            </a:r>
          </a:p>
        </p:txBody>
      </p:sp>
    </p:spTree>
    <p:extLst>
      <p:ext uri="{BB962C8B-B14F-4D97-AF65-F5344CB8AC3E}">
        <p14:creationId xmlns:p14="http://schemas.microsoft.com/office/powerpoint/2010/main" val="1337560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Parts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/>
              <a:t>Failure rates are high initially due to random manufacturing defects (infant mortality)</a:t>
            </a:r>
          </a:p>
          <a:p>
            <a:pPr lvl="0" fontAlgn="base"/>
            <a:r>
              <a:rPr lang="en-US"/>
              <a:t>After defective parts are weeded out, fairly constant failure rate (failures are random, but on average at a consistent rate)</a:t>
            </a:r>
          </a:p>
          <a:p>
            <a:pPr lvl="0" fontAlgn="base"/>
            <a:r>
              <a:rPr lang="en-US"/>
              <a:t>Failure rates rise again toward end of life (wear-out)</a:t>
            </a:r>
          </a:p>
          <a:p>
            <a:pPr lvl="0" fontAlgn="base"/>
            <a:endParaRPr lang="en-US"/>
          </a:p>
          <a:p>
            <a:pPr marL="0" lvl="0" indent="0" fontAlgn="base">
              <a:buNone/>
            </a:pPr>
            <a:r>
              <a:rPr lang="en-US"/>
              <a:t>This is called the “bathtub” curve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23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“Bathtub” Curve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2" y="1530848"/>
            <a:ext cx="9067281" cy="493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113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Redundancy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77917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Having multiple methods to carry out a function, should the primary method fail</a:t>
            </a:r>
          </a:p>
          <a:p>
            <a:pPr lvl="1" fontAlgn="base"/>
            <a:r>
              <a:rPr lang="en-US" b="1"/>
              <a:t>Same Design Redundancy</a:t>
            </a:r>
            <a:r>
              <a:rPr lang="en-US"/>
              <a:t>: two or more identical components with switching to allow either to be active at a time </a:t>
            </a:r>
          </a:p>
          <a:p>
            <a:pPr lvl="1" fontAlgn="base"/>
            <a:r>
              <a:rPr lang="en-US" b="1"/>
              <a:t>K-out-of-N Redundancy</a:t>
            </a:r>
            <a:r>
              <a:rPr lang="en-US"/>
              <a:t>: pool of identical components can be assigned to replace any one of the pool of active units</a:t>
            </a:r>
          </a:p>
          <a:p>
            <a:pPr lvl="1" fontAlgn="base"/>
            <a:r>
              <a:rPr lang="en-US" b="1"/>
              <a:t>Diverse Design Redundancy</a:t>
            </a:r>
            <a:r>
              <a:rPr lang="en-US"/>
              <a:t>: two or more components of a different design to accomplish the same function</a:t>
            </a:r>
          </a:p>
          <a:p>
            <a:pPr lvl="1" fontAlgn="base"/>
            <a:r>
              <a:rPr lang="en-US" b="1"/>
              <a:t>Functional Redundancy</a:t>
            </a:r>
            <a:r>
              <a:rPr lang="en-US"/>
              <a:t>: having multiple methods of accomplishing the same function, either with multiple components or multiple combinations of components (</a:t>
            </a:r>
            <a:r>
              <a:rPr lang="en-US" err="1"/>
              <a:t>ie</a:t>
            </a:r>
            <a:r>
              <a:rPr lang="en-US"/>
              <a:t>: </a:t>
            </a:r>
            <a:r>
              <a:rPr lang="en-US" err="1"/>
              <a:t>omni</a:t>
            </a:r>
            <a:r>
              <a:rPr lang="en-US"/>
              <a:t>-directional antenna along with parabolic dish)</a:t>
            </a:r>
          </a:p>
          <a:p>
            <a:pPr lvl="1" fontAlgn="base"/>
            <a:r>
              <a:rPr lang="en-US" b="1"/>
              <a:t>Temporal Redundancy</a:t>
            </a:r>
            <a:r>
              <a:rPr lang="en-US"/>
              <a:t>: repetition of an unsuccessful operation (acquiring a star, firing of a pyrotechnic device, trying to communicate with the ground)</a:t>
            </a:r>
          </a:p>
        </p:txBody>
      </p:sp>
    </p:spTree>
    <p:extLst>
      <p:ext uri="{BB962C8B-B14F-4D97-AF65-F5344CB8AC3E}">
        <p14:creationId xmlns:p14="http://schemas.microsoft.com/office/powerpoint/2010/main" val="3591313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Redundancy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80000">
            <a:off x="30494" y="1761576"/>
            <a:ext cx="9094748" cy="3665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070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FMECAs (Failure Modes, Effects and Criticality Analysis)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/>
              <a:t>Assessment of probability of failure of each unit/function in a component/subsystem/system</a:t>
            </a:r>
          </a:p>
          <a:p>
            <a:pPr lvl="1" fontAlgn="base"/>
            <a:r>
              <a:rPr lang="en-US"/>
              <a:t>Includes probability of each failure that cause a given effect (</a:t>
            </a:r>
            <a:r>
              <a:rPr lang="en-US" err="1"/>
              <a:t>ie</a:t>
            </a:r>
            <a:r>
              <a:rPr lang="en-US"/>
              <a:t>, transponder not working – could be any of a set of lower-level functions that have failed)</a:t>
            </a:r>
          </a:p>
          <a:p>
            <a:pPr lvl="0" fontAlgn="base"/>
            <a:r>
              <a:rPr lang="en-US"/>
              <a:t>Benefit: if (when) an anomaly occurs, this is a good guide to use to narrow down most likely causes of failure</a:t>
            </a:r>
          </a:p>
        </p:txBody>
      </p:sp>
    </p:spTree>
    <p:extLst>
      <p:ext uri="{BB962C8B-B14F-4D97-AF65-F5344CB8AC3E}">
        <p14:creationId xmlns:p14="http://schemas.microsoft.com/office/powerpoint/2010/main" val="3397574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Reliability Basic Math (1/2)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/>
                  <a:t>Our development of relationships is only applicable in the </a:t>
                </a:r>
                <a:r>
                  <a:rPr lang="en-US" u="sng"/>
                  <a:t>flat part of the bathtub curve </a:t>
                </a:r>
                <a:r>
                  <a:rPr lang="en-US"/>
                  <a:t>(where failure rate is constant)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4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Where:</a:t>
                </a:r>
              </a:p>
              <a:p>
                <a:r>
                  <a:rPr lang="en-US" sz="2600"/>
                  <a:t>R = predicted reliability (probability of success) (</a:t>
                </a:r>
                <a:r>
                  <a:rPr lang="en-US" sz="2600" err="1"/>
                  <a:t>unitless</a:t>
                </a:r>
                <a:r>
                  <a:rPr lang="en-US" sz="2600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600"/>
                  <a:t> = failure rate per unit time (failures/</a:t>
                </a:r>
                <a:r>
                  <a:rPr lang="en-US" sz="2600" err="1"/>
                  <a:t>hr</a:t>
                </a:r>
                <a:r>
                  <a:rPr lang="en-US" sz="2600"/>
                  <a:t>)</a:t>
                </a:r>
              </a:p>
              <a:p>
                <a:r>
                  <a:rPr lang="en-US" sz="2600" i="1"/>
                  <a:t>t</a:t>
                </a:r>
                <a:r>
                  <a:rPr lang="en-US" sz="2600"/>
                  <a:t> = time (</a:t>
                </a:r>
                <a:r>
                  <a:rPr lang="en-US" sz="2600" err="1"/>
                  <a:t>hr</a:t>
                </a:r>
                <a:r>
                  <a:rPr lang="en-US" sz="2600"/>
                  <a:t>)</a:t>
                </a:r>
              </a:p>
              <a:p>
                <a:pPr marL="0" indent="0">
                  <a:buNone/>
                </a:pPr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3081" r="-2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1096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Reliability Basic Math (2/2)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647094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i="1"/>
                  <a:t>MTBF </a:t>
                </a:r>
                <a:r>
                  <a:rPr lang="en-US"/>
                  <a:t>= mean time between failures (</a:t>
                </a:r>
                <a:r>
                  <a:rPr lang="en-US" err="1"/>
                  <a:t>hr</a:t>
                </a:r>
                <a:r>
                  <a:rPr lang="en-US"/>
                  <a:t>)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𝑀𝑇𝐵𝐹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Failure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3600"/>
              </a:p>
              <a:p>
                <a:pPr marL="0" indent="0">
                  <a:buNone/>
                </a:pPr>
                <a:r>
                  <a:rPr lang="en-US"/>
                  <a:t>Where:</a:t>
                </a:r>
              </a:p>
              <a:p>
                <a:pPr marL="0" indent="0">
                  <a:buNone/>
                </a:pPr>
                <a:r>
                  <a:rPr lang="en-US" sz="2400" i="1"/>
                  <a:t>F</a:t>
                </a:r>
                <a:r>
                  <a:rPr lang="en-US" sz="2400"/>
                  <a:t> = probability of failure (</a:t>
                </a:r>
                <a:r>
                  <a:rPr lang="en-US" sz="2400" err="1"/>
                  <a:t>unitless</a:t>
                </a:r>
                <a:r>
                  <a:rPr lang="en-US" sz="2400"/>
                  <a:t>) </a:t>
                </a:r>
              </a:p>
              <a:p>
                <a:pPr marL="0" indent="0">
                  <a:buNone/>
                </a:pPr>
                <a:endParaRPr lang="en-US" sz="2400"/>
              </a:p>
              <a:p>
                <a:pPr marL="0" indent="0">
                  <a:buNone/>
                </a:pPr>
                <a:r>
                  <a:rPr lang="en-US"/>
                  <a:t>*Note: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647094"/>
              </a:xfrm>
              <a:blipFill>
                <a:blip r:embed="rId2"/>
                <a:stretch>
                  <a:fillRect l="-1391" t="-2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0659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Reliability Block Diagrams (1/2)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Series:  all components must work    (Component1 AND Component2 AND … must work)</a:t>
                </a:r>
              </a:p>
              <a:p>
                <a:endParaRPr lang="en-US"/>
              </a:p>
              <a:p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series: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𝑠𝑦𝑠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501" y="3357204"/>
            <a:ext cx="5570855" cy="6440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818362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Reliability Block Diagrams (2/2)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564901"/>
              </a:xfrm>
            </p:spPr>
            <p:txBody>
              <a:bodyPr/>
              <a:lstStyle/>
              <a:p>
                <a:r>
                  <a:rPr lang="en-US"/>
                  <a:t>Parallel:  only ONE component must work  (Component1 OR Component2 OR … must work)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pPr marL="0" indent="0">
                  <a:buNone/>
                </a:pPr>
                <a:r>
                  <a:rPr lang="en-US"/>
                  <a:t>parallel: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𝑠𝑦𝑠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564901"/>
              </a:xfrm>
              <a:blipFill>
                <a:blip r:embed="rId2"/>
                <a:stretch>
                  <a:fillRect l="-1546" t="-2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539" y="2668002"/>
            <a:ext cx="3334478" cy="288014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0785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62" y="123825"/>
            <a:ext cx="7762875" cy="66103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16476" y="308225"/>
            <a:ext cx="462337" cy="390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097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Common S/C Redundancy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71946"/>
            <a:ext cx="7886700" cy="4605017"/>
          </a:xfrm>
        </p:spPr>
        <p:txBody>
          <a:bodyPr>
            <a:normAutofit/>
          </a:bodyPr>
          <a:lstStyle/>
          <a:p>
            <a:r>
              <a:rPr lang="en-US" sz="2400"/>
              <a:t>Cross-Strapping (aka partitioned redundancy)</a:t>
            </a:r>
          </a:p>
          <a:p>
            <a:pPr lvl="1"/>
            <a:r>
              <a:rPr lang="en-US" sz="2000"/>
              <a:t>Two parallel paths where components are connected in parallel</a:t>
            </a:r>
          </a:p>
          <a:p>
            <a:pPr lvl="1"/>
            <a:r>
              <a:rPr lang="en-US" sz="2000"/>
              <a:t>Allows for swapping of any one component, rather than an entire “string” in case of failure</a:t>
            </a:r>
          </a:p>
          <a:p>
            <a:pPr lvl="1"/>
            <a:endParaRPr lang="en-US" sz="2000"/>
          </a:p>
          <a:p>
            <a:pPr lvl="1"/>
            <a:endParaRPr lang="en-US" sz="2000"/>
          </a:p>
          <a:p>
            <a:pPr lvl="1"/>
            <a:endParaRPr lang="en-US" sz="2000"/>
          </a:p>
          <a:p>
            <a:pPr lvl="1"/>
            <a:endParaRPr lang="en-US" sz="2000"/>
          </a:p>
          <a:p>
            <a:pPr lvl="1"/>
            <a:endParaRPr lang="en-US" sz="2000"/>
          </a:p>
          <a:p>
            <a:pPr lvl="1"/>
            <a:r>
              <a:rPr lang="en-US" sz="2000"/>
              <a:t>Which, through block diagram reduction, reduces to: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934949" y="3137579"/>
            <a:ext cx="6935056" cy="1592494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1269828" y="5262331"/>
            <a:ext cx="6265298" cy="142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307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Reliability Block Diagram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Look for ways to combine blocks to simplify diagram to a single block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40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Effects of Reliability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995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31" y="501042"/>
            <a:ext cx="9075453" cy="58496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415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482082"/>
            <a:ext cx="9124301" cy="58811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4367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Given:  Block diagram &amp; component reliabilities</a:t>
            </a:r>
          </a:p>
          <a:p>
            <a:r>
              <a:rPr lang="en-US"/>
              <a:t>Find: System reliability</a:t>
            </a:r>
          </a:p>
        </p:txBody>
      </p:sp>
      <p:pic>
        <p:nvPicPr>
          <p:cNvPr id="4" name="Picture 3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96" r="13126"/>
          <a:stretch/>
        </p:blipFill>
        <p:spPr bwMode="auto">
          <a:xfrm>
            <a:off x="951322" y="2761614"/>
            <a:ext cx="7241355" cy="375220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752953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Combine parallel units A, B, &amp; C into single block</a:t>
                </a: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Combine parallel units E &amp; F into a single block</a:t>
                </a: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Three remaining blocks are in series and can be combined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𝑠𝑦𝑠</m:t>
                        </m:r>
                      </m:sub>
                    </m:sSub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𝐴𝐵𝐶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𝐸𝐹</m:t>
                        </m:r>
                      </m:sub>
                    </m:sSub>
                  </m:oMath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𝐴𝐵𝐶</m:t>
                        </m:r>
                      </m:sub>
                    </m:sSub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𝐸𝐹</m:t>
                        </m:r>
                      </m:sub>
                    </m:sSub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𝑠𝑦𝑠</m:t>
                        </m:r>
                      </m:sub>
                    </m:sSub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</m:e>
                        </m:d>
                      </m:e>
                    </m:d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512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c08fcfd817066be31f8f1ca0ac65db2f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795b92cbcc638951d3b8bb33cdebaea5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AAD54170-AECD-42B0-8236-9CBC08A4AF12}"/>
</file>

<file path=customXml/itemProps2.xml><?xml version="1.0" encoding="utf-8"?>
<ds:datastoreItem xmlns:ds="http://schemas.openxmlformats.org/officeDocument/2006/customXml" ds:itemID="{B6D64742-C1D9-4D7A-930D-A3648A9CD59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80D0C28-8281-4A5E-933E-6D55CB5DE211}">
  <ds:schemaRefs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purl.org/dc/terms/"/>
    <ds:schemaRef ds:uri="http://purl.org/dc/dcmitype/"/>
    <ds:schemaRef ds:uri="http://schemas.microsoft.com/office/2006/documentManagement/types"/>
    <ds:schemaRef ds:uri="http://purl.org/dc/elements/1.1/"/>
    <ds:schemaRef ds:uri="56199585-876f-4f67-a080-37606926811f"/>
    <ds:schemaRef ds:uri="http://schemas.openxmlformats.org/package/2006/metadata/core-properties"/>
    <ds:schemaRef ds:uri="1995cf89-95cd-4008-a338-5014013afe4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909</Words>
  <Application>Microsoft Office PowerPoint</Application>
  <PresentationFormat>On-screen Show (4:3)</PresentationFormat>
  <Paragraphs>110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 Math</vt:lpstr>
      <vt:lpstr>Office Theme</vt:lpstr>
      <vt:lpstr>PowerPoint Presentation</vt:lpstr>
      <vt:lpstr>Lesson Objectives</vt:lpstr>
      <vt:lpstr>Definitions</vt:lpstr>
      <vt:lpstr>Parts Selection</vt:lpstr>
      <vt:lpstr>Parts Screening</vt:lpstr>
      <vt:lpstr>Parts Screening</vt:lpstr>
      <vt:lpstr>Process Control</vt:lpstr>
      <vt:lpstr>Process Control</vt:lpstr>
      <vt:lpstr>Parts Failure</vt:lpstr>
      <vt:lpstr>“Bathtub” Curve</vt:lpstr>
      <vt:lpstr>Redundancy</vt:lpstr>
      <vt:lpstr>Types of Redundancy</vt:lpstr>
      <vt:lpstr>FMECAs (Failure Modes, Effects and Criticality Analysis)</vt:lpstr>
      <vt:lpstr>Reliability Basic Math (1/2)</vt:lpstr>
      <vt:lpstr>Reliability Basic Math (2/2)</vt:lpstr>
      <vt:lpstr>Reliability Block Diagrams (1/2)</vt:lpstr>
      <vt:lpstr>Reliability Block Diagrams (2/2)</vt:lpstr>
      <vt:lpstr>PowerPoint Presentation</vt:lpstr>
      <vt:lpstr>Common S/C Redundancy (2/2)</vt:lpstr>
      <vt:lpstr>Reliability Block Diagram Reduction</vt:lpstr>
      <vt:lpstr>Effects of Reliability</vt:lpstr>
      <vt:lpstr>PowerPoint Presentation</vt:lpstr>
      <vt:lpstr>PowerPoint Presentation</vt:lpstr>
      <vt:lpstr>Example</vt:lpstr>
      <vt:lpstr>Solution</vt:lpstr>
    </vt:vector>
  </TitlesOfParts>
  <Company>USAF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Yale, Gary E. Civ USAF USAFA USAFA/DFAS</dc:creator>
  <cp:lastModifiedBy>Firth, Jordan A Lt Col USAF USAFA DF/DFAS</cp:lastModifiedBy>
  <cp:revision>3</cp:revision>
  <cp:lastPrinted>2019-06-26T14:29:45Z</cp:lastPrinted>
  <dcterms:created xsi:type="dcterms:W3CDTF">2019-06-13T20:36:51Z</dcterms:created>
  <dcterms:modified xsi:type="dcterms:W3CDTF">2023-03-23T02:50:55Z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  <property fmtid="{D5CDD505-2E9C-101B-9397-08002B2CF9AE}" pid="3" name="MediaServiceImageTags">
    <vt:lpwstr/>
  </property>
</Properties>
</file>