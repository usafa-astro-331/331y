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handoutMasterIdLst>
    <p:handoutMasterId r:id="rId40"/>
  </p:handoutMasterIdLst>
  <p:sldIdLst>
    <p:sldId id="258" r:id="rId5"/>
    <p:sldId id="307" r:id="rId6"/>
    <p:sldId id="308" r:id="rId7"/>
    <p:sldId id="304" r:id="rId8"/>
    <p:sldId id="303" r:id="rId9"/>
    <p:sldId id="309" r:id="rId10"/>
    <p:sldId id="310" r:id="rId11"/>
    <p:sldId id="311" r:id="rId12"/>
    <p:sldId id="312" r:id="rId13"/>
    <p:sldId id="301" r:id="rId14"/>
    <p:sldId id="306" r:id="rId15"/>
    <p:sldId id="313" r:id="rId16"/>
    <p:sldId id="302" r:id="rId17"/>
    <p:sldId id="298" r:id="rId18"/>
    <p:sldId id="315" r:id="rId19"/>
    <p:sldId id="299" r:id="rId20"/>
    <p:sldId id="316" r:id="rId21"/>
    <p:sldId id="317" r:id="rId22"/>
    <p:sldId id="318" r:id="rId23"/>
    <p:sldId id="321" r:id="rId24"/>
    <p:sldId id="322" r:id="rId25"/>
    <p:sldId id="323" r:id="rId26"/>
    <p:sldId id="324" r:id="rId27"/>
    <p:sldId id="325" r:id="rId28"/>
    <p:sldId id="326" r:id="rId29"/>
    <p:sldId id="319" r:id="rId30"/>
    <p:sldId id="320" r:id="rId31"/>
    <p:sldId id="297" r:id="rId32"/>
    <p:sldId id="300" r:id="rId33"/>
    <p:sldId id="328" r:id="rId34"/>
    <p:sldId id="329" r:id="rId35"/>
    <p:sldId id="330" r:id="rId36"/>
    <p:sldId id="331" r:id="rId37"/>
    <p:sldId id="332" r:id="rId38"/>
    <p:sldId id="327" r:id="rId39"/>
  </p:sldIdLst>
  <p:sldSz cx="9144000" cy="6858000" type="screen4x3"/>
  <p:notesSz cx="9296400" cy="701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handoutMaster" Target="handoutMasters/handout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dan Firth" userId="9668160b-358f-46f6-8d41-76c7cc813d9a" providerId="ADAL" clId="{04F5D3B2-34B9-4950-A7CC-E2D796EBE324}"/>
    <pc:docChg chg="modSld">
      <pc:chgData name="Jordan Firth" userId="9668160b-358f-46f6-8d41-76c7cc813d9a" providerId="ADAL" clId="{04F5D3B2-34B9-4950-A7CC-E2D796EBE324}" dt="2023-03-16T14:51:38.857" v="2" actId="20577"/>
      <pc:docMkLst>
        <pc:docMk/>
      </pc:docMkLst>
      <pc:sldChg chg="modSp">
        <pc:chgData name="Jordan Firth" userId="9668160b-358f-46f6-8d41-76c7cc813d9a" providerId="ADAL" clId="{04F5D3B2-34B9-4950-A7CC-E2D796EBE324}" dt="2023-03-16T14:51:38.857" v="2" actId="20577"/>
        <pc:sldMkLst>
          <pc:docMk/>
          <pc:sldMk cId="1321450072" sldId="258"/>
        </pc:sldMkLst>
        <pc:spChg chg="mod">
          <ac:chgData name="Jordan Firth" userId="9668160b-358f-46f6-8d41-76c7cc813d9a" providerId="ADAL" clId="{04F5D3B2-34B9-4950-A7CC-E2D796EBE324}" dt="2023-03-16T14:51:38.857" v="2" actId="20577"/>
          <ac:spMkLst>
            <pc:docMk/>
            <pc:sldMk cId="1321450072" sldId="258"/>
            <ac:spMk id="4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265014" y="0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BBA195-A930-461F-9F68-63674CBC1F57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6658444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65014" y="6658444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85C700-0AF4-4EE1-AD5E-8E73BEF58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7223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106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20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720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743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655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88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62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654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019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476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997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B8F1D6-D3DC-40BB-BF42-45511740934C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336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/>
              <a:t>Astro 331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/>
              <a:t>Structures &amp; Mechanisms </a:t>
            </a:r>
          </a:p>
          <a:p>
            <a:pPr marL="0" indent="0" algn="ctr">
              <a:buNone/>
            </a:pPr>
            <a:r>
              <a:rPr lang="en-US" sz="3200"/>
              <a:t>SMAD </a:t>
            </a:r>
            <a:r>
              <a:rPr lang="en-US" sz="3200" err="1"/>
              <a:t>Ch</a:t>
            </a:r>
            <a:r>
              <a:rPr lang="en-US" sz="3200"/>
              <a:t> 11.6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450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Lesson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 fontAlgn="base"/>
            <a:r>
              <a:rPr lang="en-US"/>
              <a:t>Explain spacecraft structures and mechanisms functions</a:t>
            </a:r>
          </a:p>
          <a:p>
            <a:pPr lvl="0" fontAlgn="base"/>
            <a:r>
              <a:rPr lang="en-US"/>
              <a:t>Describe the various types of loading conditions that happen during launch and ascent</a:t>
            </a:r>
          </a:p>
          <a:p>
            <a:pPr lvl="0" fontAlgn="base"/>
            <a:r>
              <a:rPr lang="en-US"/>
              <a:t>Identify common characteristics used when selecting materials for spacecraft structures and mechanisms</a:t>
            </a:r>
          </a:p>
          <a:p>
            <a:pPr lvl="0" fontAlgn="base"/>
            <a:r>
              <a:rPr lang="en-US"/>
              <a:t>Analyze </a:t>
            </a:r>
            <a:r>
              <a:rPr lang="en-US" err="1"/>
              <a:t>monocoque</a:t>
            </a:r>
            <a:r>
              <a:rPr lang="en-US"/>
              <a:t> cylinder structures with respect to natural frequency, strength, and buckling</a:t>
            </a:r>
          </a:p>
          <a:p>
            <a:pPr lvl="0" fontAlgn="base"/>
            <a:r>
              <a:rPr lang="en-US"/>
              <a:t>Understand some of the challenges of designing mechanisms for spacecraft</a:t>
            </a:r>
          </a:p>
        </p:txBody>
      </p:sp>
    </p:spTree>
    <p:extLst>
      <p:ext uri="{BB962C8B-B14F-4D97-AF65-F5344CB8AC3E}">
        <p14:creationId xmlns:p14="http://schemas.microsoft.com/office/powerpoint/2010/main" val="2256125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Structures &amp; Mechanisms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Mechanically support all other S/C subsystems</a:t>
            </a:r>
          </a:p>
          <a:p>
            <a:pPr lvl="1"/>
            <a:r>
              <a:rPr lang="en-US"/>
              <a:t>Survive all loading conditions</a:t>
            </a:r>
          </a:p>
          <a:p>
            <a:pPr lvl="2"/>
            <a:r>
              <a:rPr lang="en-US"/>
              <a:t>Not just launch, but also during assembly, test, transport to launch site, as well as operations (deployment of mechanisms, </a:t>
            </a:r>
            <a:r>
              <a:rPr lang="en-US" err="1"/>
              <a:t>etc</a:t>
            </a:r>
            <a:r>
              <a:rPr lang="en-US"/>
              <a:t>)</a:t>
            </a:r>
          </a:p>
          <a:p>
            <a:r>
              <a:rPr lang="en-US"/>
              <a:t>Attach S/C to L/V</a:t>
            </a:r>
          </a:p>
          <a:p>
            <a:r>
              <a:rPr lang="en-US"/>
              <a:t>Provide for ordnance-activated separation</a:t>
            </a:r>
          </a:p>
        </p:txBody>
      </p:sp>
    </p:spTree>
    <p:extLst>
      <p:ext uri="{BB962C8B-B14F-4D97-AF65-F5344CB8AC3E}">
        <p14:creationId xmlns:p14="http://schemas.microsoft.com/office/powerpoint/2010/main" val="4087037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28" y="1484131"/>
            <a:ext cx="8886943" cy="501182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Preliminary Design Process</a:t>
            </a:r>
          </a:p>
        </p:txBody>
      </p:sp>
    </p:spTree>
    <p:extLst>
      <p:ext uri="{BB962C8B-B14F-4D97-AF65-F5344CB8AC3E}">
        <p14:creationId xmlns:p14="http://schemas.microsoft.com/office/powerpoint/2010/main" val="1500613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60000">
            <a:off x="727960" y="297416"/>
            <a:ext cx="7771794" cy="6337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027" y="365126"/>
            <a:ext cx="8149701" cy="1325563"/>
          </a:xfrm>
        </p:spPr>
        <p:txBody>
          <a:bodyPr>
            <a:normAutofit/>
          </a:bodyPr>
          <a:lstStyle/>
          <a:p>
            <a:r>
              <a:rPr lang="en-US" sz="4000"/>
              <a:t>Loading Conditions During Launch &amp; Ascent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698466"/>
          </a:xfrm>
        </p:spPr>
        <p:txBody>
          <a:bodyPr>
            <a:normAutofit fontScale="85000" lnSpcReduction="10000"/>
          </a:bodyPr>
          <a:lstStyle/>
          <a:p>
            <a:pPr lvl="0" fontAlgn="base"/>
            <a:r>
              <a:rPr lang="en-US" b="1"/>
              <a:t>Resonance</a:t>
            </a:r>
            <a:r>
              <a:rPr lang="en-US"/>
              <a:t>: Launch vehicle’s natural frequencies can respond to forces from internal (engine oscillations) and external (aerodynamic effects) sources</a:t>
            </a:r>
            <a:endParaRPr lang="en-US" sz="2400"/>
          </a:p>
          <a:p>
            <a:pPr lvl="2" fontAlgn="base"/>
            <a:r>
              <a:rPr lang="en-US"/>
              <a:t>Potential sources of resonance: oscillations in the propulsion system (pogo), aerodynamic buffering during ascent, bending of solid rocket motors</a:t>
            </a:r>
            <a:endParaRPr lang="en-US" sz="1800"/>
          </a:p>
          <a:p>
            <a:pPr lvl="0" fontAlgn="base"/>
            <a:r>
              <a:rPr lang="en-US" b="1"/>
              <a:t>Axial, bending, and torsional modes</a:t>
            </a:r>
            <a:endParaRPr lang="en-US" sz="2400"/>
          </a:p>
          <a:p>
            <a:pPr lvl="0" fontAlgn="base"/>
            <a:r>
              <a:rPr lang="en-US" b="1"/>
              <a:t>Load factors </a:t>
            </a:r>
            <a:r>
              <a:rPr lang="en-US"/>
              <a:t>(multiples of weight at sea level): Acceleration from rocket thrust, as well as wind gust and vehicle maneuvers, impart loads </a:t>
            </a:r>
            <a:endParaRPr lang="en-US" sz="2400"/>
          </a:p>
          <a:p>
            <a:pPr lvl="0" fontAlgn="base"/>
            <a:r>
              <a:rPr lang="en-US" b="1"/>
              <a:t>Random vibration:</a:t>
            </a:r>
            <a:r>
              <a:rPr lang="en-US"/>
              <a:t> caused by acoustic noise from launch and aerodynamic turbulence during ascent</a:t>
            </a:r>
            <a:endParaRPr lang="en-US" sz="2400"/>
          </a:p>
          <a:p>
            <a:r>
              <a:rPr lang="en-US" b="1"/>
              <a:t>Pyrotechnic shock:</a:t>
            </a:r>
            <a:r>
              <a:rPr lang="en-US"/>
              <a:t> comes from explosive separation events like separation from launch vehicle</a:t>
            </a:r>
          </a:p>
        </p:txBody>
      </p:sp>
    </p:spTree>
    <p:extLst>
      <p:ext uri="{BB962C8B-B14F-4D97-AF65-F5344CB8AC3E}">
        <p14:creationId xmlns:p14="http://schemas.microsoft.com/office/powerpoint/2010/main" val="2822088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do we model all of these loading conditions?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31541"/>
            <a:ext cx="7886700" cy="4245421"/>
          </a:xfrm>
        </p:spPr>
        <p:txBody>
          <a:bodyPr/>
          <a:lstStyle/>
          <a:p>
            <a:pPr lvl="0" fontAlgn="base"/>
            <a:r>
              <a:rPr lang="en-US"/>
              <a:t>Combine math models of the spacecraft and launch vehicle to do what’s called a </a:t>
            </a:r>
            <a:r>
              <a:rPr lang="en-US" b="1"/>
              <a:t>coupled loads analysis</a:t>
            </a:r>
            <a:endParaRPr lang="en-US" sz="2400" b="1"/>
          </a:p>
          <a:p>
            <a:pPr lvl="0" fontAlgn="base"/>
            <a:r>
              <a:rPr lang="en-US"/>
              <a:t>Drive the coupled model (S/C + L/V) with forcing functions that are based on measured launch vehicle environments</a:t>
            </a:r>
            <a:endParaRPr lang="en-US" sz="180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377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Materials Selection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Material that an object is made out of will determine its response to various loading conditions</a:t>
            </a:r>
          </a:p>
          <a:p>
            <a:r>
              <a:rPr lang="en-US"/>
              <a:t>Typical S/C has both metallic and nonmetallic materials</a:t>
            </a:r>
          </a:p>
          <a:p>
            <a:pPr lvl="1" fontAlgn="base"/>
            <a:r>
              <a:rPr lang="en-US"/>
              <a:t>Metals: homogenous (constant properties) and isotropic (same properties regardless of direction of loading)</a:t>
            </a:r>
          </a:p>
          <a:p>
            <a:pPr lvl="1" fontAlgn="base"/>
            <a:r>
              <a:rPr lang="en-US"/>
              <a:t>Nonmetals: composite materials – not homogenous and often not isotropic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242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Materials Selection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657368"/>
          </a:xfrm>
        </p:spPr>
        <p:txBody>
          <a:bodyPr>
            <a:normAutofit/>
          </a:bodyPr>
          <a:lstStyle/>
          <a:p>
            <a:r>
              <a:rPr lang="en-US"/>
              <a:t>Materials are selected based on the following properties:</a:t>
            </a:r>
          </a:p>
          <a:p>
            <a:pPr lvl="1"/>
            <a:r>
              <a:rPr lang="en-US" sz="2000"/>
              <a:t>Strength</a:t>
            </a:r>
          </a:p>
          <a:p>
            <a:pPr lvl="1"/>
            <a:r>
              <a:rPr lang="en-US" sz="2000"/>
              <a:t>Stiffness</a:t>
            </a:r>
          </a:p>
          <a:p>
            <a:pPr lvl="1"/>
            <a:r>
              <a:rPr lang="en-US" sz="2000"/>
              <a:t>Density (related to weight)</a:t>
            </a:r>
          </a:p>
          <a:p>
            <a:pPr lvl="1"/>
            <a:r>
              <a:rPr lang="en-US" sz="2000"/>
              <a:t>Thermal conductivity</a:t>
            </a:r>
          </a:p>
          <a:p>
            <a:pPr lvl="1"/>
            <a:r>
              <a:rPr lang="en-US" sz="2000"/>
              <a:t>Corrosion resistance</a:t>
            </a:r>
          </a:p>
          <a:p>
            <a:pPr lvl="1"/>
            <a:r>
              <a:rPr lang="en-US" sz="2000"/>
              <a:t>Cost</a:t>
            </a:r>
          </a:p>
          <a:p>
            <a:pPr lvl="1"/>
            <a:r>
              <a:rPr lang="en-US" sz="2000"/>
              <a:t>Ductility</a:t>
            </a:r>
          </a:p>
          <a:p>
            <a:pPr lvl="1"/>
            <a:r>
              <a:rPr lang="en-US" sz="2000"/>
              <a:t>Fracture toughness</a:t>
            </a:r>
          </a:p>
          <a:p>
            <a:pPr lvl="1"/>
            <a:r>
              <a:rPr lang="en-US" sz="2000"/>
              <a:t>Ease of fabrication</a:t>
            </a:r>
          </a:p>
          <a:p>
            <a:pPr lvl="1"/>
            <a:r>
              <a:rPr lang="en-US" sz="2000"/>
              <a:t>Versatility of attachment options</a:t>
            </a:r>
          </a:p>
          <a:p>
            <a:pPr lvl="1"/>
            <a:r>
              <a:rPr lang="en-US" sz="2000"/>
              <a:t>Availability</a:t>
            </a:r>
          </a:p>
        </p:txBody>
      </p:sp>
    </p:spTree>
    <p:extLst>
      <p:ext uri="{BB962C8B-B14F-4D97-AF65-F5344CB8AC3E}">
        <p14:creationId xmlns:p14="http://schemas.microsoft.com/office/powerpoint/2010/main" val="2777102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63674"/>
            <a:ext cx="8938517" cy="419156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Stress and Strain</a:t>
            </a:r>
          </a:p>
        </p:txBody>
      </p:sp>
    </p:spTree>
    <p:extLst>
      <p:ext uri="{BB962C8B-B14F-4D97-AF65-F5344CB8AC3E}">
        <p14:creationId xmlns:p14="http://schemas.microsoft.com/office/powerpoint/2010/main" val="25825655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39" y="1122451"/>
            <a:ext cx="8902016" cy="5637944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95086" y="0"/>
            <a:ext cx="7886700" cy="1325563"/>
          </a:xfrm>
        </p:spPr>
        <p:txBody>
          <a:bodyPr/>
          <a:lstStyle/>
          <a:p>
            <a:r>
              <a:rPr lang="en-US"/>
              <a:t>Stress/Strain Curve</a:t>
            </a:r>
          </a:p>
        </p:txBody>
      </p:sp>
    </p:spTree>
    <p:extLst>
      <p:ext uri="{BB962C8B-B14F-4D97-AF65-F5344CB8AC3E}">
        <p14:creationId xmlns:p14="http://schemas.microsoft.com/office/powerpoint/2010/main" val="6279555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Stress/Strain Curve (Explained)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616272"/>
          </a:xfrm>
        </p:spPr>
        <p:txBody>
          <a:bodyPr>
            <a:normAutofit fontScale="85000" lnSpcReduction="20000"/>
          </a:bodyPr>
          <a:lstStyle/>
          <a:p>
            <a:pPr lvl="0" fontAlgn="base">
              <a:lnSpc>
                <a:spcPct val="120000"/>
              </a:lnSpc>
              <a:spcBef>
                <a:spcPts val="0"/>
              </a:spcBef>
            </a:pPr>
            <a:r>
              <a:rPr lang="en-US"/>
              <a:t>Elastic (linear) region is where a material will return to its original length after a stress </a:t>
            </a:r>
          </a:p>
          <a:p>
            <a:pPr lvl="1" fontAlgn="base">
              <a:lnSpc>
                <a:spcPct val="120000"/>
              </a:lnSpc>
              <a:spcBef>
                <a:spcPts val="0"/>
              </a:spcBef>
            </a:pPr>
            <a:r>
              <a:rPr lang="en-US"/>
              <a:t>Until Point A</a:t>
            </a:r>
          </a:p>
          <a:p>
            <a:pPr lvl="0" fontAlgn="base">
              <a:lnSpc>
                <a:spcPct val="120000"/>
              </a:lnSpc>
              <a:spcBef>
                <a:spcPts val="0"/>
              </a:spcBef>
            </a:pPr>
            <a:r>
              <a:rPr lang="en-US"/>
              <a:t>Beyond a stress called the proportional limit, the material’s stress-strain curve is no longer linear (inelastic) </a:t>
            </a:r>
          </a:p>
          <a:p>
            <a:pPr lvl="1" fontAlgn="base">
              <a:lnSpc>
                <a:spcPct val="120000"/>
              </a:lnSpc>
              <a:spcBef>
                <a:spcPts val="0"/>
              </a:spcBef>
            </a:pPr>
            <a:r>
              <a:rPr lang="en-US"/>
              <a:t>Between points A and B</a:t>
            </a:r>
          </a:p>
          <a:p>
            <a:pPr fontAlgn="base">
              <a:lnSpc>
                <a:spcPct val="120000"/>
              </a:lnSpc>
              <a:spcBef>
                <a:spcPts val="0"/>
              </a:spcBef>
            </a:pPr>
            <a:r>
              <a:rPr lang="en-US"/>
              <a:t>Beyond the proportional limit, the material will undergo residual strain</a:t>
            </a:r>
          </a:p>
          <a:p>
            <a:pPr lvl="1" fontAlgn="base">
              <a:lnSpc>
                <a:spcPct val="120000"/>
              </a:lnSpc>
              <a:spcBef>
                <a:spcPts val="0"/>
              </a:spcBef>
            </a:pPr>
            <a:r>
              <a:rPr lang="en-US"/>
              <a:t>Between points B and C</a:t>
            </a:r>
          </a:p>
          <a:p>
            <a:pPr lvl="0" fontAlgn="base">
              <a:lnSpc>
                <a:spcPct val="120000"/>
              </a:lnSpc>
              <a:spcBef>
                <a:spcPts val="0"/>
              </a:spcBef>
            </a:pPr>
            <a:r>
              <a:rPr lang="en-US"/>
              <a:t>Finally, there is a yield point where a material will rupture (Ultimate Failure)</a:t>
            </a:r>
          </a:p>
          <a:p>
            <a:pPr lvl="1" fontAlgn="base">
              <a:lnSpc>
                <a:spcPct val="120000"/>
              </a:lnSpc>
              <a:spcBef>
                <a:spcPts val="0"/>
              </a:spcBef>
            </a:pPr>
            <a:r>
              <a:rPr lang="en-US"/>
              <a:t>Point C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2935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259" y="154112"/>
            <a:ext cx="6634626" cy="6586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8004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161476"/>
            <a:ext cx="7886700" cy="1325563"/>
          </a:xfrm>
        </p:spPr>
        <p:txBody>
          <a:bodyPr/>
          <a:lstStyle/>
          <a:p>
            <a:r>
              <a:rPr lang="en-US" sz="3600"/>
              <a:t>Cylinder, Skin-Frame, &amp; Truss Structures</a:t>
            </a:r>
          </a:p>
        </p:txBody>
      </p:sp>
      <p:sp>
        <p:nvSpPr>
          <p:cNvPr id="6" name="Rectangle 72"/>
          <p:cNvSpPr>
            <a:spLocks/>
          </p:cNvSpPr>
          <p:nvPr/>
        </p:nvSpPr>
        <p:spPr bwMode="auto">
          <a:xfrm>
            <a:off x="4600575" y="6179344"/>
            <a:ext cx="4293394" cy="276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40640" bIns="0"/>
          <a:lstStyle>
            <a:lvl1pPr marL="5715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US" altLang="en-US" sz="1266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Adapted from Designing Space Missions and Systems, Tables 11.45 through 11.48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418323"/>
            <a:ext cx="1828800" cy="16859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850" y="1294498"/>
            <a:ext cx="1838325" cy="19335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0575" y="1261160"/>
            <a:ext cx="1933575" cy="20002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550" y="1313548"/>
            <a:ext cx="1828800" cy="18954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3664975"/>
            <a:ext cx="1981200" cy="19716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656" y="3698312"/>
            <a:ext cx="2419350" cy="1905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0812" y="3764987"/>
            <a:ext cx="2014538" cy="177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0590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Cylindrical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92494"/>
            <a:ext cx="7886700" cy="4900773"/>
          </a:xfrm>
        </p:spPr>
        <p:txBody>
          <a:bodyPr>
            <a:normAutofit fontScale="77500" lnSpcReduction="20000"/>
          </a:bodyPr>
          <a:lstStyle/>
          <a:p>
            <a:r>
              <a:rPr lang="en-US" err="1"/>
              <a:t>Monocoque</a:t>
            </a:r>
            <a:r>
              <a:rPr lang="en-US"/>
              <a:t> cylinder (soda can)</a:t>
            </a:r>
          </a:p>
          <a:p>
            <a:pPr lvl="1" fontAlgn="base"/>
            <a:r>
              <a:rPr lang="en-US"/>
              <a:t>shell without stiffeners or ring frames</a:t>
            </a:r>
            <a:endParaRPr lang="en-US" sz="2000"/>
          </a:p>
          <a:p>
            <a:pPr lvl="1" fontAlgn="base"/>
            <a:r>
              <a:rPr lang="en-US"/>
              <a:t>strength limited by its buckling stress</a:t>
            </a:r>
            <a:endParaRPr lang="en-US" sz="2000"/>
          </a:p>
          <a:p>
            <a:pPr lvl="1" fontAlgn="base"/>
            <a:r>
              <a:rPr lang="en-US"/>
              <a:t>difficult to mount components w/o overloading the shell</a:t>
            </a:r>
          </a:p>
          <a:p>
            <a:pPr lvl="1" fontAlgn="base"/>
            <a:r>
              <a:rPr lang="en-US"/>
              <a:t>may require access panels</a:t>
            </a:r>
          </a:p>
          <a:p>
            <a:pPr lvl="0" fontAlgn="base"/>
            <a:r>
              <a:rPr lang="en-US"/>
              <a:t>Skin-stringer cylinder</a:t>
            </a:r>
          </a:p>
          <a:p>
            <a:pPr lvl="1"/>
            <a:r>
              <a:rPr lang="en-US"/>
              <a:t>skin designed to buckle at low loads</a:t>
            </a:r>
          </a:p>
          <a:p>
            <a:pPr lvl="1"/>
            <a:r>
              <a:rPr lang="en-US"/>
              <a:t>stringers carry most of axial load and bending moment</a:t>
            </a:r>
          </a:p>
          <a:p>
            <a:pPr lvl="0" fontAlgn="base"/>
            <a:r>
              <a:rPr lang="en-US"/>
              <a:t>Stiffened-skin cylinder</a:t>
            </a:r>
          </a:p>
          <a:p>
            <a:pPr lvl="1"/>
            <a:r>
              <a:rPr lang="en-US"/>
              <a:t>thin skin and lightweight</a:t>
            </a:r>
          </a:p>
          <a:p>
            <a:pPr lvl="1"/>
            <a:r>
              <a:rPr lang="en-US"/>
              <a:t>closely-spaced stiffeners to increase skin’s buckling stress</a:t>
            </a:r>
          </a:p>
          <a:p>
            <a:pPr lvl="0" fontAlgn="base"/>
            <a:r>
              <a:rPr lang="en-US"/>
              <a:t>Semi-</a:t>
            </a:r>
            <a:r>
              <a:rPr lang="en-US" err="1"/>
              <a:t>monocoque</a:t>
            </a:r>
            <a:r>
              <a:rPr lang="en-US"/>
              <a:t> cylinder</a:t>
            </a:r>
          </a:p>
          <a:p>
            <a:pPr lvl="1"/>
            <a:r>
              <a:rPr lang="en-US"/>
              <a:t>intermediate ring frames to increase skin’s buckling stress</a:t>
            </a:r>
          </a:p>
          <a:p>
            <a:pPr lvl="1"/>
            <a:r>
              <a:rPr lang="en-US"/>
              <a:t>no axial stiffeners or stringers</a:t>
            </a:r>
          </a:p>
          <a:p>
            <a:pPr lvl="1" fontAlgn="base"/>
            <a:r>
              <a:rPr lang="en-US"/>
              <a:t>may require access panels</a:t>
            </a:r>
          </a:p>
          <a:p>
            <a:pPr lvl="0" fontAlgn="base"/>
            <a:r>
              <a:rPr lang="en-US"/>
              <a:t>stringers provide hard points for introducing loads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7355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Sandwich, </a:t>
            </a:r>
            <a:r>
              <a:rPr lang="en-US" sz="3600" err="1"/>
              <a:t>Isogrid</a:t>
            </a:r>
            <a:r>
              <a:rPr lang="en-US" sz="3600"/>
              <a:t>, &amp; </a:t>
            </a:r>
            <a:r>
              <a:rPr lang="en-US" sz="3600" err="1"/>
              <a:t>Orthogrid</a:t>
            </a:r>
            <a:r>
              <a:rPr lang="en-US" sz="3600"/>
              <a:t> Structures</a:t>
            </a:r>
          </a:p>
        </p:txBody>
      </p:sp>
      <p:sp>
        <p:nvSpPr>
          <p:cNvPr id="6" name="Rectangle 72"/>
          <p:cNvSpPr>
            <a:spLocks/>
          </p:cNvSpPr>
          <p:nvPr/>
        </p:nvSpPr>
        <p:spPr bwMode="auto">
          <a:xfrm>
            <a:off x="4600575" y="6179344"/>
            <a:ext cx="4293394" cy="276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40640" bIns="0"/>
          <a:lstStyle>
            <a:lvl1pPr marL="5715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US" altLang="en-US" sz="1266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Adapted from Designing Space Missions and Systems, Tables 11.49 &amp; 11.50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146" y="1690689"/>
            <a:ext cx="5953125" cy="1905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773" y="3912177"/>
            <a:ext cx="6579870" cy="146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2218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34119"/>
            <a:ext cx="7886700" cy="1325563"/>
          </a:xfrm>
        </p:spPr>
        <p:txBody>
          <a:bodyPr/>
          <a:lstStyle/>
          <a:p>
            <a:r>
              <a:rPr lang="en-US"/>
              <a:t>Other Structures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89785"/>
            <a:ext cx="7886700" cy="5255394"/>
          </a:xfrm>
        </p:spPr>
        <p:txBody>
          <a:bodyPr>
            <a:normAutofit fontScale="77500" lnSpcReduction="20000"/>
          </a:bodyPr>
          <a:lstStyle/>
          <a:p>
            <a:pPr lvl="0" fontAlgn="base"/>
            <a:r>
              <a:rPr lang="en-US"/>
              <a:t>Skin-frame structures</a:t>
            </a:r>
          </a:p>
          <a:p>
            <a:pPr lvl="1" fontAlgn="base"/>
            <a:r>
              <a:rPr lang="en-US"/>
              <a:t>skin surrounding a skeletal framework</a:t>
            </a:r>
          </a:p>
          <a:p>
            <a:pPr lvl="1" fontAlgn="base"/>
            <a:r>
              <a:rPr lang="en-US"/>
              <a:t>to be stable, ends of skin-stringer structure must be closed with skin, be “</a:t>
            </a:r>
            <a:r>
              <a:rPr lang="en-US" err="1"/>
              <a:t>triangularized</a:t>
            </a:r>
            <a:r>
              <a:rPr lang="en-US"/>
              <a:t>” with diagonal members, or include radially deep frames (as in hexagonal figure)</a:t>
            </a:r>
          </a:p>
          <a:p>
            <a:pPr lvl="1" fontAlgn="base"/>
            <a:r>
              <a:rPr lang="en-US"/>
              <a:t>sandwich and </a:t>
            </a:r>
            <a:r>
              <a:rPr lang="en-US" err="1"/>
              <a:t>isogrid</a:t>
            </a:r>
            <a:r>
              <a:rPr lang="en-US"/>
              <a:t> panels can be used to mount components</a:t>
            </a:r>
          </a:p>
          <a:p>
            <a:pPr lvl="1" fontAlgn="base"/>
            <a:r>
              <a:rPr lang="en-US"/>
              <a:t>versatile regarding shape</a:t>
            </a:r>
          </a:p>
          <a:p>
            <a:pPr fontAlgn="base"/>
            <a:r>
              <a:rPr lang="en-US"/>
              <a:t>Truss construction</a:t>
            </a:r>
          </a:p>
          <a:p>
            <a:pPr lvl="1" fontAlgn="base"/>
            <a:r>
              <a:rPr lang="en-US"/>
              <a:t>withstands loads applied to its joints w/members loaded only axially</a:t>
            </a:r>
          </a:p>
          <a:p>
            <a:pPr lvl="1" fontAlgn="base"/>
            <a:r>
              <a:rPr lang="en-US"/>
              <a:t>fabrication</a:t>
            </a:r>
          </a:p>
          <a:p>
            <a:pPr lvl="2"/>
            <a:r>
              <a:rPr lang="en-US"/>
              <a:t>extruded tubes or open shapes</a:t>
            </a:r>
          </a:p>
          <a:p>
            <a:pPr lvl="2"/>
            <a:r>
              <a:rPr lang="en-US"/>
              <a:t>truss sides integrally machined from plate –stock </a:t>
            </a:r>
            <a:r>
              <a:rPr lang="en-US" err="1"/>
              <a:t>matl</a:t>
            </a:r>
            <a:endParaRPr lang="en-US"/>
          </a:p>
          <a:p>
            <a:pPr lvl="2"/>
            <a:r>
              <a:rPr lang="en-US"/>
              <a:t>laminated composite tubes w/metallic end fittings</a:t>
            </a:r>
          </a:p>
          <a:p>
            <a:pPr lvl="1" fontAlgn="base"/>
            <a:r>
              <a:rPr lang="en-US"/>
              <a:t>S/C components mounted internally or externally</a:t>
            </a:r>
          </a:p>
          <a:p>
            <a:pPr lvl="1" fontAlgn="base"/>
            <a:r>
              <a:rPr lang="en-US"/>
              <a:t>can be difficult to transfer loads from truss to cylindrical structure</a:t>
            </a:r>
          </a:p>
          <a:p>
            <a:pPr lvl="1" fontAlgn="base"/>
            <a:r>
              <a:rPr lang="en-US"/>
              <a:t>most efficient for square, rectangular or triangular cross section structures (less efficient as cross section becomes more round</a:t>
            </a:r>
          </a:p>
        </p:txBody>
      </p:sp>
    </p:spTree>
    <p:extLst>
      <p:ext uri="{BB962C8B-B14F-4D97-AF65-F5344CB8AC3E}">
        <p14:creationId xmlns:p14="http://schemas.microsoft.com/office/powerpoint/2010/main" val="25798436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34119"/>
            <a:ext cx="7886700" cy="1325563"/>
          </a:xfrm>
        </p:spPr>
        <p:txBody>
          <a:bodyPr/>
          <a:lstStyle/>
          <a:p>
            <a:r>
              <a:rPr lang="en-US"/>
              <a:t>Other Structures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89785"/>
            <a:ext cx="7886700" cy="5496026"/>
          </a:xfrm>
        </p:spPr>
        <p:txBody>
          <a:bodyPr>
            <a:normAutofit fontScale="92500" lnSpcReduction="10000"/>
          </a:bodyPr>
          <a:lstStyle/>
          <a:p>
            <a:pPr fontAlgn="base"/>
            <a:r>
              <a:rPr lang="en-US"/>
              <a:t>Sandwich construction</a:t>
            </a:r>
          </a:p>
          <a:p>
            <a:pPr lvl="1" fontAlgn="base"/>
            <a:r>
              <a:rPr lang="en-US"/>
              <a:t>high in-plane bending stiffness and low mass</a:t>
            </a:r>
          </a:p>
          <a:p>
            <a:pPr lvl="1" fontAlgn="base"/>
            <a:r>
              <a:rPr lang="en-US"/>
              <a:t>weak in the out-of-plane direction</a:t>
            </a:r>
          </a:p>
          <a:p>
            <a:pPr lvl="1" fontAlgn="base"/>
            <a:r>
              <a:rPr lang="en-US"/>
              <a:t>often must reinforce sandwich around local areas of attachment (brackets, metal inserts)</a:t>
            </a:r>
          </a:p>
          <a:p>
            <a:pPr lvl="1" fontAlgn="base"/>
            <a:r>
              <a:rPr lang="en-US"/>
              <a:t>honeycomb core must be vented (small perforations btw cells)</a:t>
            </a:r>
          </a:p>
          <a:p>
            <a:pPr fontAlgn="base"/>
            <a:r>
              <a:rPr lang="en-US" err="1"/>
              <a:t>Isogrid</a:t>
            </a:r>
            <a:r>
              <a:rPr lang="en-US"/>
              <a:t> and </a:t>
            </a:r>
            <a:r>
              <a:rPr lang="en-US" err="1"/>
              <a:t>orthogrid</a:t>
            </a:r>
            <a:endParaRPr lang="en-US"/>
          </a:p>
          <a:p>
            <a:pPr lvl="1" fontAlgn="base"/>
            <a:r>
              <a:rPr lang="en-US"/>
              <a:t>light-weight plates w/high bending strength and stiffness and shells w/high buckling strength</a:t>
            </a:r>
          </a:p>
          <a:p>
            <a:pPr lvl="1" fontAlgn="base"/>
            <a:r>
              <a:rPr lang="en-US"/>
              <a:t>peg-board-like grid (at all rib intersection locations) for attachment points</a:t>
            </a:r>
          </a:p>
          <a:p>
            <a:pPr lvl="1" fontAlgn="base"/>
            <a:r>
              <a:rPr lang="en-US"/>
              <a:t>fabrication</a:t>
            </a:r>
          </a:p>
          <a:p>
            <a:pPr lvl="2"/>
            <a:r>
              <a:rPr lang="en-US" err="1"/>
              <a:t>isogrid</a:t>
            </a:r>
            <a:r>
              <a:rPr lang="en-US"/>
              <a:t> with or without skin</a:t>
            </a:r>
          </a:p>
          <a:p>
            <a:pPr lvl="2"/>
            <a:r>
              <a:rPr lang="en-US" err="1"/>
              <a:t>orthogrid</a:t>
            </a:r>
            <a:r>
              <a:rPr lang="en-US"/>
              <a:t> always with skin</a:t>
            </a:r>
          </a:p>
          <a:p>
            <a:pPr lvl="1" fontAlgn="base"/>
            <a:r>
              <a:rPr lang="en-US" err="1"/>
              <a:t>isogrid</a:t>
            </a:r>
            <a:r>
              <a:rPr lang="en-US"/>
              <a:t> is virtually isotropic but </a:t>
            </a:r>
            <a:r>
              <a:rPr lang="en-US" err="1"/>
              <a:t>orthogrid</a:t>
            </a:r>
            <a:r>
              <a:rPr lang="en-US"/>
              <a:t> is not</a:t>
            </a:r>
          </a:p>
          <a:p>
            <a:pPr fontAlgn="base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2055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Modeling </a:t>
            </a:r>
            <a:r>
              <a:rPr lang="en-US" err="1"/>
              <a:t>Monocoque</a:t>
            </a:r>
            <a:r>
              <a:rPr lang="en-US"/>
              <a:t>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Look at three loading conditions</a:t>
            </a:r>
          </a:p>
          <a:p>
            <a:pPr lvl="1"/>
            <a:r>
              <a:rPr lang="en-US"/>
              <a:t>Resonance (natural frequency)</a:t>
            </a:r>
          </a:p>
          <a:p>
            <a:pPr lvl="2"/>
            <a:r>
              <a:rPr lang="en-US"/>
              <a:t>Goal: want our spacecraft to have a higher natural frequency than launch vehicle</a:t>
            </a:r>
          </a:p>
          <a:p>
            <a:pPr lvl="1"/>
            <a:r>
              <a:rPr lang="en-US"/>
              <a:t>Strength</a:t>
            </a:r>
          </a:p>
          <a:p>
            <a:pPr lvl="2"/>
            <a:r>
              <a:rPr lang="en-US"/>
              <a:t>Goal: cylinder must be strong enough to tolerate design load limit factors</a:t>
            </a:r>
          </a:p>
          <a:p>
            <a:pPr lvl="1"/>
            <a:r>
              <a:rPr lang="en-US"/>
              <a:t>Buckling</a:t>
            </a:r>
          </a:p>
          <a:p>
            <a:pPr lvl="2"/>
            <a:r>
              <a:rPr lang="en-US"/>
              <a:t>Goal:</a:t>
            </a:r>
            <a:r>
              <a:rPr lang="en-US">
                <a:ea typeface="+mn-lt"/>
                <a:cs typeface="+mn-lt"/>
              </a:rPr>
              <a:t> want the calculated stress due to buckling (stress at which material will buckle) to be greater than the equivalent ultimate stress (expected stress due to loading conditions)</a:t>
            </a:r>
          </a:p>
          <a:p>
            <a:pPr lvl="2"/>
            <a:endParaRPr lang="en-US">
              <a:cs typeface="Arial"/>
            </a:endParaRP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5745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Natural Frequency (1/2)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94636" y="1825625"/>
                <a:ext cx="8431730" cy="4904136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𝑛𝑎𝑡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=0.560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𝐸𝐼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rad>
                  </m:oMath>
                </a14:m>
                <a:r>
                  <a:rPr lang="en-US"/>
                  <a:t>  (lateral beam)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𝑛𝑎𝑡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=0.250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𝐴𝐸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den>
                        </m:f>
                      </m:e>
                    </m:rad>
                  </m:oMath>
                </a14:m>
                <a:r>
                  <a:rPr lang="en-US"/>
                  <a:t>  (axial beam)</a:t>
                </a:r>
              </a:p>
              <a:p>
                <a:pPr marL="0" indent="0">
                  <a:buNone/>
                </a:pPr>
                <a:r>
                  <a:rPr lang="en-US"/>
                  <a:t>Where:</a:t>
                </a:r>
              </a:p>
              <a:p>
                <a:pPr lvl="1"/>
                <a:r>
                  <a:rPr lang="en-US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𝑛𝑎𝑡</m:t>
                        </m:r>
                      </m:sub>
                    </m:sSub>
                  </m:oMath>
                </a14:m>
                <a:r>
                  <a:rPr lang="en-US"/>
                  <a:t> = natural frequency (Hz)</a:t>
                </a:r>
              </a:p>
              <a:p>
                <a:pPr lvl="1"/>
                <a:r>
                  <a:rPr lang="en-US"/>
                  <a:t>E = Young’s modulus (Pa)</a:t>
                </a:r>
              </a:p>
              <a:p>
                <a:pPr lvl="1"/>
                <a:r>
                  <a:rPr lang="en-US"/>
                  <a:t>I = area moment of inertia of beam’s cross-section (m</a:t>
                </a:r>
                <a:r>
                  <a:rPr lang="en-US" baseline="30000"/>
                  <a:t>4</a:t>
                </a:r>
                <a:r>
                  <a:rPr lang="en-US"/>
                  <a:t>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/>
                  <a:t> = mass of the beam (uniformly distributed) (kg)</a:t>
                </a:r>
              </a:p>
              <a:p>
                <a:pPr lvl="1"/>
                <a:r>
                  <a:rPr lang="en-US"/>
                  <a:t>L =  beam length (m)</a:t>
                </a:r>
              </a:p>
              <a:p>
                <a:pPr lvl="1"/>
                <a:r>
                  <a:rPr lang="en-US"/>
                  <a:t>A = cross-sectional area of beam (m</a:t>
                </a:r>
                <a:r>
                  <a:rPr lang="en-US" baseline="30000"/>
                  <a:t>2</a:t>
                </a:r>
                <a:r>
                  <a:rPr lang="en-US"/>
                  <a:t>)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*Note: The lateral natural frequency tends to be the limiting case (</a:t>
                </a:r>
                <a:r>
                  <a:rPr lang="en-US" err="1"/>
                  <a:t>ie</a:t>
                </a:r>
                <a:r>
                  <a:rPr lang="en-US"/>
                  <a:t>, the thickness required to avoid resonance in the axial case tends to be smaller than the thickness required for the lateral case)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4636" y="1825625"/>
                <a:ext cx="8431730" cy="4904136"/>
              </a:xfrm>
              <a:blipFill>
                <a:blip r:embed="rId2"/>
                <a:stretch>
                  <a:fillRect l="-1157" t="-1118" r="-1591" b="-1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9367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Natural Frequency (2/2)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94636" y="1825625"/>
                <a:ext cx="8431730" cy="4584800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/>
                  <a:t>Where the area moment of inertia can be modelled with: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lang="en-US"/>
                  <a:t>  (box)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𝜋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/>
                  <a:t>  (thin-walled cylinder)</a:t>
                </a:r>
              </a:p>
              <a:p>
                <a:pPr marL="0" indent="0" algn="ctr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And the area of the thin-walled cylinder can be approximated with: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𝑅𝑡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Where:</a:t>
                </a:r>
              </a:p>
              <a:p>
                <a:pPr lvl="1"/>
                <a:r>
                  <a:rPr lang="en-US"/>
                  <a:t>b = base of cross-sectional area (m)</a:t>
                </a:r>
              </a:p>
              <a:p>
                <a:pPr lvl="1"/>
                <a:r>
                  <a:rPr lang="en-US"/>
                  <a:t>h  = height of cross-sectional area (m)</a:t>
                </a:r>
              </a:p>
              <a:p>
                <a:pPr lvl="1"/>
                <a:r>
                  <a:rPr lang="en-US"/>
                  <a:t>R = radius of cylinder (m)</a:t>
                </a:r>
              </a:p>
              <a:p>
                <a:pPr lvl="1"/>
                <a:r>
                  <a:rPr lang="en-US"/>
                  <a:t>t = thickness of cylinder (m)</a:t>
                </a:r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4636" y="1825625"/>
                <a:ext cx="8431730" cy="4584800"/>
              </a:xfrm>
              <a:blipFill>
                <a:blip r:embed="rId2"/>
                <a:stretch>
                  <a:fillRect l="-1302" t="-3718" r="-8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11892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Strength (1/2)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2062981"/>
              </a:xfrm>
            </p:spPr>
            <p:txBody>
              <a:bodyPr/>
              <a:lstStyle/>
              <a:p>
                <a:r>
                  <a:rPr lang="en-US"/>
                  <a:t>For a cylinder, we can combine axial load (</a:t>
                </a:r>
                <a:r>
                  <a:rPr lang="en-US" err="1"/>
                  <a:t>P</a:t>
                </a:r>
                <a:r>
                  <a:rPr lang="en-US" baseline="-25000" err="1"/>
                  <a:t>ax</a:t>
                </a:r>
                <a:r>
                  <a:rPr lang="en-US"/>
                  <a:t>) and the bending moment (M) into an equivalent axial load (</a:t>
                </a:r>
                <a:r>
                  <a:rPr lang="en-US" err="1"/>
                  <a:t>P</a:t>
                </a:r>
                <a:r>
                  <a:rPr lang="en-US" baseline="-25000" err="1"/>
                  <a:t>eq</a:t>
                </a:r>
                <a:r>
                  <a:rPr lang="en-US"/>
                  <a:t>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𝑒𝑞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𝑎𝑥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2062981"/>
              </a:xfrm>
              <a:blipFill>
                <a:blip r:embed="rId2"/>
                <a:stretch>
                  <a:fillRect l="-1391" t="-5015" r="-27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1549667" y="4023542"/>
            <a:ext cx="5832910" cy="2719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2851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Strength (2/2)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709929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/>
                  <a:t>To get ultimate design load, we need to apply the factor of safety.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𝑒𝑞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𝑢𝑙𝑡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𝑒𝑞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.)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r>
                  <a:rPr lang="en-US"/>
                  <a:t>The stress level associated with that load, because stress = force per unit area: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𝑒𝑞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𝑢𝑙𝑡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𝑒𝑞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𝑢𝑙𝑡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𝐴𝑟𝑒𝑎</m:t>
                          </m:r>
                        </m:den>
                      </m:f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r>
                  <a:rPr lang="en-US"/>
                  <a:t>For a cylinder, the area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𝑐𝑦𝑙𝑖𝑛𝑑𝑒𝑟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𝑅𝑡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709929"/>
              </a:xfrm>
              <a:blipFill>
                <a:blip r:embed="rId2"/>
                <a:stretch>
                  <a:fillRect l="-1391" t="-3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32996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Buckling (1/2)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796556"/>
              </a:xfrm>
            </p:spPr>
            <p:txBody>
              <a:bodyPr>
                <a:normAutofit/>
              </a:bodyPr>
              <a:lstStyle/>
              <a:p>
                <a:r>
                  <a:rPr lang="en-US"/>
                  <a:t>Assumes we are in elastic (linear) region of stress-strain curve 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𝑐𝑟</m:t>
                        </m:r>
                      </m:sub>
                    </m:sSub>
                  </m:oMath>
                </a14:m>
                <a:r>
                  <a:rPr lang="en-US"/>
                  <a:t> must be less than material’s proportional limit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𝑐𝑟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=0.6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𝛾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𝐸𝑡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Where: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𝑐𝑟</m:t>
                        </m:r>
                      </m:sub>
                    </m:sSub>
                  </m:oMath>
                </a14:m>
                <a:r>
                  <a:rPr lang="en-US"/>
                  <a:t> = critical buckling stress (Pa)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/>
                  <a:t> = reduction factor used to correlate theory with test results (</a:t>
                </a:r>
                <a:r>
                  <a:rPr lang="en-US" err="1"/>
                  <a:t>unitless</a:t>
                </a:r>
                <a:r>
                  <a:rPr lang="en-US"/>
                  <a:t>)</a:t>
                </a:r>
              </a:p>
              <a:p>
                <a:pPr lvl="1"/>
                <a:r>
                  <a:rPr lang="en-US"/>
                  <a:t>E = Young’s modulus (Pa)</a:t>
                </a:r>
              </a:p>
              <a:p>
                <a:pPr lvl="1"/>
                <a:r>
                  <a:rPr lang="en-US"/>
                  <a:t>t = thickness (m)</a:t>
                </a:r>
              </a:p>
              <a:p>
                <a:pPr lvl="1"/>
                <a:r>
                  <a:rPr lang="en-US"/>
                  <a:t>R = radius (m)</a:t>
                </a:r>
              </a:p>
              <a:p>
                <a:endParaRPr lang="en-US"/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796556"/>
              </a:xfrm>
              <a:blipFill>
                <a:blip r:embed="rId2"/>
                <a:stretch>
                  <a:fillRect l="-1546" t="-2160" b="-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70698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Buckling (2/2)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796556"/>
              </a:xfrm>
            </p:spPr>
            <p:txBody>
              <a:bodyPr>
                <a:normAutofit/>
              </a:bodyPr>
              <a:lstStyle/>
              <a:p>
                <a:r>
                  <a:rPr lang="en-US"/>
                  <a:t>Reduction factor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=1−0.901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Where: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16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</m:e>
                      </m:rad>
                      <m:r>
                        <a:rPr lang="en-US" i="1">
                          <a:latin typeface="Cambria Math" panose="02040503050406030204" pitchFamily="18" charset="0"/>
                        </a:rPr>
                        <m:t>    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𝑓𝑜𝑟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&lt;1500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&lt;5)</m:t>
                      </m:r>
                    </m:oMath>
                  </m:oMathPara>
                </a14:m>
                <a:endParaRPr lang="en-US"/>
              </a:p>
              <a:p>
                <a:r>
                  <a:rPr lang="en-US"/>
                  <a:t>Conditions for this equation to be valid:</a:t>
                </a:r>
              </a:p>
              <a:p>
                <a:pPr lvl="1"/>
                <a:r>
                  <a:rPr lang="en-US"/>
                  <a:t>R/t &lt; 1500</a:t>
                </a:r>
              </a:p>
              <a:p>
                <a:pPr lvl="1"/>
                <a:r>
                  <a:rPr lang="en-US"/>
                  <a:t>L/R &lt; 5</a:t>
                </a:r>
              </a:p>
              <a:p>
                <a:endParaRPr lang="en-US"/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796556"/>
              </a:xfrm>
              <a:blipFill>
                <a:blip r:embed="rId2"/>
                <a:stretch>
                  <a:fillRect l="-1546" t="-21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94876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Mechanisms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Mechanism:  moving mechanical assembly</a:t>
            </a:r>
            <a:endParaRPr lang="en-US" sz="2400"/>
          </a:p>
          <a:p>
            <a:r>
              <a:rPr lang="en-US"/>
              <a:t>Two categories: </a:t>
            </a:r>
            <a:endParaRPr lang="en-US" sz="2400"/>
          </a:p>
          <a:p>
            <a:pPr lvl="1" fontAlgn="base"/>
            <a:r>
              <a:rPr lang="en-US"/>
              <a:t>High-cyclic: must move many times during mission</a:t>
            </a:r>
          </a:p>
          <a:p>
            <a:pPr lvl="1" fontAlgn="base"/>
            <a:r>
              <a:rPr lang="en-US"/>
              <a:t>Low-cyclic: moves only once or a small # of times</a:t>
            </a:r>
          </a:p>
          <a:p>
            <a:pPr fontAlgn="base"/>
            <a:r>
              <a:rPr lang="en-US" sz="2600"/>
              <a:t>Design challenges:</a:t>
            </a:r>
          </a:p>
          <a:p>
            <a:pPr lvl="1" fontAlgn="base"/>
            <a:r>
              <a:rPr lang="en-US"/>
              <a:t>Thermal expansion/contraction due to changing temperatures on spacecraft</a:t>
            </a:r>
            <a:endParaRPr lang="en-US" sz="2000"/>
          </a:p>
          <a:p>
            <a:pPr lvl="1" fontAlgn="base"/>
            <a:r>
              <a:rPr lang="en-US"/>
              <a:t>Inducing vibration to spacecraft</a:t>
            </a:r>
            <a:endParaRPr lang="en-US" sz="2000"/>
          </a:p>
          <a:p>
            <a:pPr lvl="1" fontAlgn="base"/>
            <a:r>
              <a:rPr lang="en-US"/>
              <a:t>Friction within mechanism</a:t>
            </a:r>
            <a:endParaRPr lang="en-US" sz="2000"/>
          </a:p>
          <a:p>
            <a:pPr lvl="1" fontAlgn="base"/>
            <a:r>
              <a:rPr lang="en-US"/>
              <a:t>Failure due to repeated use</a:t>
            </a:r>
            <a:endParaRPr lang="en-US" sz="2000"/>
          </a:p>
          <a:p>
            <a:pPr lvl="1" fontAlgn="base"/>
            <a:r>
              <a:rPr lang="en-US"/>
              <a:t>Harness routing without causing wire damage</a:t>
            </a:r>
            <a:endParaRPr lang="en-US" sz="2000"/>
          </a:p>
          <a:p>
            <a:pPr lvl="1" fontAlgn="base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9081145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Mechanism 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/>
              <a:t>High-cyclic:</a:t>
            </a:r>
            <a:endParaRPr lang="en-US" sz="2400"/>
          </a:p>
          <a:p>
            <a:pPr lvl="1" fontAlgn="base"/>
            <a:r>
              <a:rPr lang="en-US"/>
              <a:t>Antenna pointing &amp; tracking</a:t>
            </a:r>
            <a:endParaRPr lang="en-US" sz="2200"/>
          </a:p>
          <a:p>
            <a:pPr lvl="1" fontAlgn="base"/>
            <a:r>
              <a:rPr lang="en-US"/>
              <a:t>Solar array pointing &amp; tracking (for sun-tracking arrays)</a:t>
            </a:r>
            <a:endParaRPr lang="en-US" sz="2200"/>
          </a:p>
          <a:p>
            <a:pPr lvl="1" fontAlgn="base"/>
            <a:r>
              <a:rPr lang="en-US"/>
              <a:t>Attitude control (reaction wheels or CMGs)</a:t>
            </a:r>
            <a:endParaRPr lang="en-US" sz="2200"/>
          </a:p>
          <a:p>
            <a:pPr lvl="1" fontAlgn="base"/>
            <a:r>
              <a:rPr lang="en-US"/>
              <a:t>Switches within TT&amp;C subsystem</a:t>
            </a:r>
          </a:p>
          <a:p>
            <a:pPr lvl="0" fontAlgn="base"/>
            <a:r>
              <a:rPr lang="en-US"/>
              <a:t>Low-cyclic:</a:t>
            </a:r>
            <a:endParaRPr lang="en-US" sz="2400"/>
          </a:p>
          <a:p>
            <a:pPr lvl="1" fontAlgn="base"/>
            <a:r>
              <a:rPr lang="en-US"/>
              <a:t>Antenna on-orbit deployment</a:t>
            </a:r>
            <a:endParaRPr lang="en-US" sz="2200"/>
          </a:p>
          <a:p>
            <a:pPr lvl="1" fontAlgn="base"/>
            <a:r>
              <a:rPr lang="en-US"/>
              <a:t>Solar array on-orbit deployment</a:t>
            </a:r>
            <a:endParaRPr lang="en-US" sz="2200"/>
          </a:p>
          <a:p>
            <a:pPr lvl="1" fontAlgn="base"/>
            <a:r>
              <a:rPr lang="en-US"/>
              <a:t>S/C - L/V separation</a:t>
            </a:r>
            <a:endParaRPr lang="en-US" sz="220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1468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Mass Growth</a:t>
            </a:r>
          </a:p>
        </p:txBody>
      </p:sp>
      <p:sp>
        <p:nvSpPr>
          <p:cNvPr id="6" name="Rectangle 72"/>
          <p:cNvSpPr>
            <a:spLocks/>
          </p:cNvSpPr>
          <p:nvPr/>
        </p:nvSpPr>
        <p:spPr bwMode="auto">
          <a:xfrm>
            <a:off x="3587262" y="6179344"/>
            <a:ext cx="5306707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40640" bIns="0"/>
          <a:lstStyle>
            <a:lvl1pPr marL="5715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US" altLang="en-US" sz="1266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Designing Space Missions and Systems, Fig 11.38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28762"/>
            <a:ext cx="7924800" cy="414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8879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566" y="2161541"/>
            <a:ext cx="6381496" cy="435067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356112" y="2571858"/>
            <a:ext cx="1506701" cy="33497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0.35 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2826" y="63233"/>
            <a:ext cx="537839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Given:</a:t>
            </a:r>
          </a:p>
          <a:p>
            <a:r>
              <a:rPr lang="en-US"/>
              <a:t>1</a:t>
            </a:r>
            <a:r>
              <a:rPr lang="en-US" baseline="30000"/>
              <a:t>st</a:t>
            </a:r>
            <a:r>
              <a:rPr lang="en-US"/>
              <a:t> lateral fundamental frequency ≥ 35 Hz</a:t>
            </a:r>
          </a:p>
          <a:p>
            <a:r>
              <a:rPr lang="en-US"/>
              <a:t>Design limit load factors for sizing primary structure</a:t>
            </a:r>
          </a:p>
          <a:p>
            <a:r>
              <a:rPr lang="en-US"/>
              <a:t>	Axial = 6 g’s</a:t>
            </a:r>
          </a:p>
          <a:p>
            <a:r>
              <a:rPr lang="en-US"/>
              <a:t>	Lateral = 1.5 g’s</a:t>
            </a:r>
          </a:p>
          <a:p>
            <a:r>
              <a:rPr lang="en-US"/>
              <a:t>Ultimate factor of safety </a:t>
            </a:r>
            <a:r>
              <a:rPr lang="en-US" err="1"/>
              <a:t>FS</a:t>
            </a:r>
            <a:r>
              <a:rPr lang="en-US" baseline="-25000" err="1"/>
              <a:t>ult</a:t>
            </a:r>
            <a:r>
              <a:rPr lang="en-US"/>
              <a:t> = 1.25</a:t>
            </a:r>
          </a:p>
          <a:p>
            <a:r>
              <a:rPr lang="en-US"/>
              <a:t>Yield factor of safety </a:t>
            </a:r>
            <a:r>
              <a:rPr lang="en-US" err="1"/>
              <a:t>FS</a:t>
            </a:r>
            <a:r>
              <a:rPr lang="en-US" baseline="-25000" err="1"/>
              <a:t>yield</a:t>
            </a:r>
            <a:r>
              <a:rPr lang="en-US"/>
              <a:t> = 1.1</a:t>
            </a:r>
          </a:p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035040" y="63233"/>
            <a:ext cx="31089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Find:</a:t>
            </a:r>
            <a:r>
              <a:rPr lang="en-US"/>
              <a:t>	</a:t>
            </a:r>
          </a:p>
          <a:p>
            <a:r>
              <a:rPr lang="en-US"/>
              <a:t>Minimum cylinder thickness to account for natural frequency, strength, and buckling</a:t>
            </a:r>
          </a:p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356111" y="6484133"/>
            <a:ext cx="1575951" cy="33497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240 MPa</a:t>
            </a:r>
          </a:p>
        </p:txBody>
      </p:sp>
      <p:sp>
        <p:nvSpPr>
          <p:cNvPr id="9" name="Rectangle 8"/>
          <p:cNvSpPr/>
          <p:nvPr/>
        </p:nvSpPr>
        <p:spPr>
          <a:xfrm>
            <a:off x="3122150" y="6484132"/>
            <a:ext cx="2233961" cy="33497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Yield Stress (</a:t>
            </a:r>
            <a:r>
              <a:rPr lang="el-GR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σ</a:t>
            </a:r>
            <a:r>
              <a:rPr lang="en-US" sz="1600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61571" y="6095699"/>
            <a:ext cx="549936" cy="33497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l-GR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σ</a:t>
            </a:r>
            <a:r>
              <a:rPr lang="en-US" sz="1600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US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938116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 (1/5)</a:t>
            </a:r>
          </a:p>
        </p:txBody>
      </p:sp>
      <p:sp>
        <p:nvSpPr>
          <p:cNvPr id="4" name="Rectangle 3"/>
          <p:cNvSpPr/>
          <p:nvPr/>
        </p:nvSpPr>
        <p:spPr>
          <a:xfrm>
            <a:off x="5282214" y="5663953"/>
            <a:ext cx="1660124" cy="39949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646196"/>
              </a:xfrm>
            </p:spPr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en-US"/>
                  <a:t>Must consider natural frequency, strength, and buckling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 b="1"/>
                  <a:t>Natural frequency ≥ 35 Hz</a:t>
                </a:r>
                <a:endParaRPr lang="en-US"/>
              </a:p>
              <a:p>
                <a:pPr marL="0" indent="0">
                  <a:buNone/>
                </a:pPr>
                <a:r>
                  <a:rPr lang="en-US"/>
                  <a:t>assume mass evenly distributed &amp; treat cylinder as a cantilevered beam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𝑛𝑎𝑡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=0.560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𝐸𝐼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solving for I results in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𝑛𝑎𝑡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0.560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35 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𝐻𝑧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0.560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(180 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𝑘𝑔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(1.5 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69.0 ×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𝑃𝑎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=3.439×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−5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for a thin-walled cylinder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solving for t results in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3.439×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−5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0.35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=2.553×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−4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646196"/>
              </a:xfrm>
              <a:blipFill>
                <a:blip r:embed="rId2"/>
                <a:stretch>
                  <a:fillRect l="-618" t="-22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88456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55806"/>
          </a:xfrm>
        </p:spPr>
        <p:txBody>
          <a:bodyPr>
            <a:normAutofit fontScale="90000"/>
          </a:bodyPr>
          <a:lstStyle/>
          <a:p>
            <a:r>
              <a:rPr lang="en-US"/>
              <a:t>Solution (2/5)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8959" y="6010183"/>
            <a:ext cx="1233996" cy="26633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100832"/>
                <a:ext cx="8515350" cy="5757168"/>
              </a:xfrm>
            </p:spPr>
            <p:txBody>
              <a:bodyPr>
                <a:normAutofit fontScale="55000" lnSpcReduction="20000"/>
              </a:bodyPr>
              <a:lstStyle/>
              <a:p>
                <a:pPr marL="0" indent="0">
                  <a:buNone/>
                </a:pPr>
                <a:r>
                  <a:rPr lang="en-US" b="1"/>
                  <a:t>Cylinder strength</a:t>
                </a:r>
                <a:endParaRPr lang="en-US"/>
              </a:p>
              <a:p>
                <a:pPr marL="0" indent="0">
                  <a:buNone/>
                </a:pPr>
                <a:r>
                  <a:rPr lang="en-US"/>
                  <a:t>Cylinder must be strong enough to tolerate design load limit factors</a:t>
                </a:r>
              </a:p>
              <a:p>
                <a:pPr marL="0" indent="0">
                  <a:buNone/>
                </a:pPr>
                <a:r>
                  <a:rPr lang="en-US"/>
                  <a:t>Design Limit Load,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𝑒𝑞</m:t>
                        </m:r>
                      </m:sub>
                    </m:sSub>
                  </m:oMath>
                </a14:m>
                <a:r>
                  <a:rPr lang="en-US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𝑒𝑞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𝑎𝑥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𝑎𝑥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180 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𝑘𝑔</m:t>
                          </m:r>
                        </m:e>
                      </m:d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6 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9.807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/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=10,591.6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180 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𝑘𝑔</m:t>
                              </m:r>
                            </m:e>
                          </m:d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1.5 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9.807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0.75 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0.35 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=11,348.1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where 0.75 is assumed to be the height of S/C center of mass from its base (the moment arm)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𝑒𝑞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=10,591.6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+11,348.1 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=21,939.7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Design Ultimate Load,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𝑒𝑞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𝑢𝑙𝑡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en-US"/>
                  <a:t>:</a:t>
                </a:r>
              </a:p>
              <a:p>
                <a:pPr marL="0" indent="0">
                  <a:buNone/>
                </a:pPr>
                <a:r>
                  <a:rPr lang="en-US" err="1"/>
                  <a:t>P</a:t>
                </a:r>
                <a:r>
                  <a:rPr lang="en-US" baseline="-25000" err="1"/>
                  <a:t>eq</a:t>
                </a:r>
                <a:r>
                  <a:rPr lang="en-US"/>
                  <a:t> = limit load, so now apply the factor of safety to get design ultimate load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𝑒𝑞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𝑢𝑙𝑡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21,939.7 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1.25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=27,424.6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the stress level associated with that load is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𝑒𝑞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𝑢𝑙𝑡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𝑒𝑞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𝑢𝑙𝑡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𝐴𝑟𝑒𝑎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𝑒𝑞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𝑢𝑙𝑡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𝑅𝑡</m:t>
                          </m:r>
                        </m:den>
                      </m:f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solve for cylinder thickness to tolerate the load and not exceed ultimate strength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𝑒𝑞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𝑢𝑙𝑡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𝑢𝑙𝑡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27,424.6 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0.35 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290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𝑃𝑎</m:t>
                              </m:r>
                            </m:e>
                          </m:d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=4.300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−5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in a similar fashion, solve for cylinder thickness to tolerate the load and not exceed yield strength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𝑒𝑞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𝑦𝑖𝑒𝑙𝑑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𝑦𝑖𝑒𝑙𝑑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21,939.7 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d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1.1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0.35 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240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𝑃𝑎</m:t>
                              </m:r>
                            </m:e>
                          </m:d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=4.573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−5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100832"/>
                <a:ext cx="8515350" cy="5757168"/>
              </a:xfrm>
              <a:blipFill>
                <a:blip r:embed="rId2"/>
                <a:stretch>
                  <a:fillRect l="-286" t="-1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68275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25430"/>
            <a:ext cx="7886700" cy="709072"/>
          </a:xfrm>
        </p:spPr>
        <p:txBody>
          <a:bodyPr/>
          <a:lstStyle/>
          <a:p>
            <a:r>
              <a:rPr lang="en-US"/>
              <a:t>Solution (3/5)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242874"/>
                <a:ext cx="7886700" cy="4934089"/>
              </a:xfrm>
            </p:spPr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en-US" b="1"/>
                  <a:t>Cylinder buckling</a:t>
                </a: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𝑐𝑟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=0.6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𝛾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𝐸𝑡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can’t solve for thickness directly this time</a:t>
                </a:r>
              </a:p>
              <a:p>
                <a:pPr marL="0" indent="0">
                  <a:buNone/>
                </a:pPr>
                <a:r>
                  <a:rPr lang="en-US"/>
                  <a:t>start w/ largest value for thickness based on strength and stiffness (</a:t>
                </a:r>
                <a:r>
                  <a:rPr lang="en-US" err="1"/>
                  <a:t>t</a:t>
                </a:r>
                <a:r>
                  <a:rPr lang="en-US" baseline="-25000" err="1"/>
                  <a:t>max</a:t>
                </a:r>
                <a:r>
                  <a:rPr lang="en-US"/>
                  <a:t>)</a:t>
                </a:r>
              </a:p>
              <a:p>
                <a:r>
                  <a:rPr lang="en-US"/>
                  <a:t>if it satisfies the buckling requirement, no need to go further</a:t>
                </a:r>
              </a:p>
              <a:p>
                <a:r>
                  <a:rPr lang="en-US"/>
                  <a:t>if it doesn’t, use iteration to solve for a thickness that will meet buckling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check R/T &lt; 1500 and L/R &lt; 5 to use equations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0.35 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2.553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−4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=1371</m:t>
                    </m:r>
                  </m:oMath>
                </a14:m>
                <a:r>
                  <a:rPr lang="en-US"/>
                  <a:t>  which is &lt; 1500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1.5 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0.35 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/>
                  <a:t>  which is &lt; 5</a:t>
                </a:r>
              </a:p>
              <a:p>
                <a:pPr marL="0" indent="0">
                  <a:buNone/>
                </a:pPr>
                <a:r>
                  <a:rPr lang="en-US"/>
                  <a:t>so we can continue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16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</m:e>
                      </m:ra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1371</m:t>
                              </m:r>
                            </m:e>
                          </m:ra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16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=2.314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=1−0.901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−2.314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=0.188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242874"/>
                <a:ext cx="7886700" cy="4934089"/>
              </a:xfrm>
              <a:blipFill>
                <a:blip r:embed="rId2"/>
                <a:stretch>
                  <a:fillRect l="-618" t="-22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80845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84280"/>
          </a:xfrm>
        </p:spPr>
        <p:txBody>
          <a:bodyPr/>
          <a:lstStyle/>
          <a:p>
            <a:r>
              <a:rPr lang="en-US"/>
              <a:t>Solution (4/5)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571348"/>
                <a:ext cx="7886700" cy="4980372"/>
              </a:xfrm>
            </p:spPr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en-US" b="1"/>
                  <a:t>Cylinder buckling (continued)</a:t>
                </a: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err="1"/>
                  <a:t>σ</a:t>
                </a:r>
                <a:r>
                  <a:rPr lang="en-US" baseline="-25000" err="1"/>
                  <a:t>eq</a:t>
                </a:r>
                <a:r>
                  <a:rPr lang="en-US" baseline="-25000"/>
                  <a:t>(</a:t>
                </a:r>
                <a:r>
                  <a:rPr lang="en-US" baseline="-25000" err="1"/>
                  <a:t>ult</a:t>
                </a:r>
                <a:r>
                  <a:rPr lang="en-US" baseline="-25000"/>
                  <a:t>)</a:t>
                </a:r>
                <a:r>
                  <a:rPr lang="en-US"/>
                  <a:t> is worst case expected stress using max thickness determined so far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𝑒𝑞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𝑢𝑙𝑡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𝑒𝑞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𝑢𝑙𝑡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𝐴𝑟𝑒𝑎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𝑒𝑞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𝑢𝑙𝑡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27,424.6 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0.35 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2.553×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−4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=48.84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𝑀𝑃𝑎</m:t>
                      </m:r>
                    </m:oMath>
                  </m:oMathPara>
                </a14:m>
                <a:endParaRPr lang="en-US"/>
              </a:p>
              <a:p>
                <a:pPr marL="0" indent="0" algn="ctr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𝑒𝑞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𝑢𝑙𝑡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=48.84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𝑀𝑃𝑎</m:t>
                    </m:r>
                  </m:oMath>
                </a14:m>
                <a:r>
                  <a:rPr lang="en-US"/>
                  <a:t>    &lt;&lt;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240 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𝑀𝑃𝑎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𝑦𝑖𝑒𝑙𝑑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  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/>
                  <a:t>so likely less than proportional limit which means we can use our equation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𝑐𝑟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=0.6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𝛾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=0.6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0.188</m:t>
                          </m:r>
                        </m:e>
                      </m:d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69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𝑀𝑃𝑎</m:t>
                              </m:r>
                            </m:e>
                          </m:d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2.553×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−4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0.35 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=5.68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𝑀𝑃𝑎</m:t>
                      </m:r>
                    </m:oMath>
                  </m:oMathPara>
                </a14:m>
                <a:endParaRPr lang="en-US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/>
                  <a:t>load that will cause buckling (5.68 MPa) &lt; load we expect to see (48.84 MPa) so we are </a:t>
                </a:r>
                <a:r>
                  <a:rPr lang="en-US" b="1"/>
                  <a:t>not OK</a:t>
                </a:r>
                <a:r>
                  <a:rPr lang="en-US"/>
                  <a:t> with wall thickness we have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/>
                  <a:t> 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𝑐𝑟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=0.6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𝛾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US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/>
                  <a:t>Iterate for t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𝑒𝑞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𝑢𝑙𝑡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𝑐𝑟</m:t>
                        </m:r>
                      </m:sub>
                    </m:sSub>
                  </m:oMath>
                </a14:m>
                <a:endParaRPr lang="en-US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/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571348"/>
                <a:ext cx="7886700" cy="4980372"/>
              </a:xfrm>
              <a:blipFill>
                <a:blip r:embed="rId2"/>
                <a:stretch>
                  <a:fillRect l="-618" t="-22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96180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660347" y="3826274"/>
            <a:ext cx="1677879" cy="37286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 (5/5)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68423" y="1690689"/>
                <a:ext cx="8407154" cy="5167311"/>
              </a:xfrm>
            </p:spPr>
            <p:txBody>
              <a:bodyPr>
                <a:normAutofit fontScale="625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b="1"/>
                  <a:t>Cylinder buckling (continued)</a:t>
                </a:r>
                <a:endParaRPr lang="en-US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/>
                  <a:t>Iteration Process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/>
                  <a:t>You will need to use Excel or </a:t>
                </a:r>
                <a:r>
                  <a:rPr lang="en-US" err="1"/>
                  <a:t>Matlab</a:t>
                </a:r>
                <a:r>
                  <a:rPr lang="en-US"/>
                  <a:t> to solve, since there is a “t” variable within the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/>
                  <a:t> variable for critical buckling stress, but then there is also a “t” variable within the equivalent ultimate stress, so you have to modify them both at the same time.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𝑐𝑟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0.6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(48.84 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𝑀𝑃𝑎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)(0.35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0.6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𝛾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69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𝑀𝑃𝑎</m:t>
                              </m:r>
                            </m:e>
                          </m:d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=1.06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𝑒𝑞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𝑢𝑙𝑡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𝑒𝑞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𝑢𝑙𝑡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𝐴𝑟𝑒𝑎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𝑒𝑞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𝑢𝑙𝑡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27,424.6 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0.35 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1.06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−3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11.73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𝑀𝑃𝑎</m:t>
                      </m:r>
                    </m:oMath>
                  </m:oMathPara>
                </a14:m>
                <a:endParaRPr lang="en-US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𝑐𝑟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=0.6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𝛾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=0.6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389</m:t>
                          </m:r>
                        </m:e>
                      </m:d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69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𝑀𝑃𝑎</m:t>
                              </m:r>
                            </m:e>
                          </m:d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1.06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−3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m:rPr>
                                  <m:nor/>
                                </m:rPr>
                                <a:rPr lang="en-US" dirty="0"/>
                                <m:t> 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0.35 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11.74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𝑀𝑃𝑎</m:t>
                      </m:r>
                    </m:oMath>
                  </m:oMathPara>
                </a14:m>
                <a:endParaRPr lang="en-US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/>
                  <a:t>Thus, the minimum cylinder wall thickness to prevent buckling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1.06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8423" y="1690689"/>
                <a:ext cx="8407154" cy="5167311"/>
              </a:xfrm>
              <a:blipFill>
                <a:blip r:embed="rId2"/>
                <a:stretch>
                  <a:fillRect l="-580" t="-590" r="-10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00070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28650" y="5029200"/>
            <a:ext cx="3380213" cy="96458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Answer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/>
                  <a:t>Natural Frequency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=2.553×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−4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/>
              </a:p>
              <a:p>
                <a:r>
                  <a:rPr lang="en-US"/>
                  <a:t>Strength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=4.300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−5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/>
                  <a:t> (ultimate strength)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=4.573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−5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/>
                  <a:t>  (yield strength)</a:t>
                </a:r>
              </a:p>
              <a:p>
                <a:r>
                  <a:rPr lang="en-US"/>
                  <a:t>Buckling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=2.195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/>
              </a:p>
              <a:p>
                <a:pPr lvl="1"/>
                <a:endParaRPr lang="en-US"/>
              </a:p>
              <a:p>
                <a:r>
                  <a:rPr lang="en-US"/>
                  <a:t>Most limiting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=1.063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33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16847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23aa48c-73f2-40da-86b1-f1ae286477fe" xsi:nil="true"/>
    <lcf76f155ced4ddcb4097134ff3c332f xmlns="7584c457-6b5a-4caa-be47-be979cbe6555">
      <Terms xmlns="http://schemas.microsoft.com/office/infopath/2007/PartnerControls"/>
    </lcf76f155ced4ddcb4097134ff3c332f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C902C3CBC54D4FA7075784AD88F5EC" ma:contentTypeVersion="21" ma:contentTypeDescription="Create a new document." ma:contentTypeScope="" ma:versionID="c08fcfd817066be31f8f1ca0ac65db2f">
  <xsd:schema xmlns:xsd="http://www.w3.org/2001/XMLSchema" xmlns:xs="http://www.w3.org/2001/XMLSchema" xmlns:p="http://schemas.microsoft.com/office/2006/metadata/properties" xmlns:ns1="http://schemas.microsoft.com/sharepoint/v3" xmlns:ns2="7584c457-6b5a-4caa-be47-be979cbe6555" xmlns:ns3="723aa48c-73f2-40da-86b1-f1ae286477fe" targetNamespace="http://schemas.microsoft.com/office/2006/metadata/properties" ma:root="true" ma:fieldsID="795b92cbcc638951d3b8bb33cdebaea5" ns1:_="" ns2:_="" ns3:_="">
    <xsd:import namespace="http://schemas.microsoft.com/sharepoint/v3"/>
    <xsd:import namespace="7584c457-6b5a-4caa-be47-be979cbe6555"/>
    <xsd:import namespace="723aa48c-73f2-40da-86b1-f1ae286477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84c457-6b5a-4caa-be47-be979cbe65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d16a427a-858a-487d-80a3-21f23792e0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3aa48c-73f2-40da-86b1-f1ae286477fe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18387b12-f69f-4719-8b38-c3231d645ace}" ma:internalName="TaxCatchAll" ma:showField="CatchAllData" ma:web="723aa48c-73f2-40da-86b1-f1ae286477f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52B624B-4AD7-4303-9A98-F0E9489E45A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CA9E02B-0FF0-4C67-8108-F91EA9F1E00F}">
  <ds:schemaRefs>
    <ds:schemaRef ds:uri="43c5c5c6-2005-43c0-9dfb-f590327e4472"/>
    <ds:schemaRef ds:uri="6b599e9f-786e-4913-82a4-35bb55491707"/>
    <ds:schemaRef ds:uri="723aa48c-73f2-40da-86b1-f1ae286477fe"/>
    <ds:schemaRef ds:uri="7584c457-6b5a-4caa-be47-be979cbe655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D7B6973-3551-42E6-A847-110D0B0F7A70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2136</Words>
  <Application>Microsoft Office PowerPoint</Application>
  <PresentationFormat>On-screen Show (4:3)</PresentationFormat>
  <Paragraphs>279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Arial</vt:lpstr>
      <vt:lpstr>Calibri</vt:lpstr>
      <vt:lpstr>Cambria Math</vt:lpstr>
      <vt:lpstr>Office Theme</vt:lpstr>
      <vt:lpstr>PowerPoint Presentation</vt:lpstr>
      <vt:lpstr>Lesson Objectives</vt:lpstr>
      <vt:lpstr>Structures &amp; Mechanisms Functions</vt:lpstr>
      <vt:lpstr>Preliminary Design Process</vt:lpstr>
      <vt:lpstr>PowerPoint Presentation</vt:lpstr>
      <vt:lpstr>Loading Conditions During Launch &amp; Ascent</vt:lpstr>
      <vt:lpstr>How do we model all of these loading conditions?</vt:lpstr>
      <vt:lpstr>Materials Selection (1/2)</vt:lpstr>
      <vt:lpstr>Materials Selection (2/2)</vt:lpstr>
      <vt:lpstr>Stress and Strain</vt:lpstr>
      <vt:lpstr>Stress/Strain Curve</vt:lpstr>
      <vt:lpstr>Stress/Strain Curve (Explained)</vt:lpstr>
      <vt:lpstr>PowerPoint Presentation</vt:lpstr>
      <vt:lpstr>Cylinder, Skin-Frame, &amp; Truss Structures</vt:lpstr>
      <vt:lpstr>Cylindrical Structures</vt:lpstr>
      <vt:lpstr>Sandwich, Isogrid, &amp; Orthogrid Structures</vt:lpstr>
      <vt:lpstr>Other Structures (1/2)</vt:lpstr>
      <vt:lpstr>Other Structures (2/2)</vt:lpstr>
      <vt:lpstr>Modeling Monocoque Structures</vt:lpstr>
      <vt:lpstr>Natural Frequency (1/2)</vt:lpstr>
      <vt:lpstr>Natural Frequency (2/2)</vt:lpstr>
      <vt:lpstr>Strength (1/2)</vt:lpstr>
      <vt:lpstr>Strength (2/2)</vt:lpstr>
      <vt:lpstr>Buckling (1/2)</vt:lpstr>
      <vt:lpstr>Buckling (2/2)</vt:lpstr>
      <vt:lpstr>Mechanisms</vt:lpstr>
      <vt:lpstr>Mechanism Uses</vt:lpstr>
      <vt:lpstr>Mass Growth</vt:lpstr>
      <vt:lpstr>PowerPoint Presentation</vt:lpstr>
      <vt:lpstr>Solution (1/5)</vt:lpstr>
      <vt:lpstr>Solution (2/5)</vt:lpstr>
      <vt:lpstr>Solution (3/5)</vt:lpstr>
      <vt:lpstr>Solution (4/5)</vt:lpstr>
      <vt:lpstr>Solution (5/5)</vt:lpstr>
      <vt:lpstr>Answer</vt:lpstr>
    </vt:vector>
  </TitlesOfParts>
  <Company>USAF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Yale, Gary E. Civ USAF USAFA USAFA/DFAS</dc:creator>
  <cp:lastModifiedBy>Wyatt Harris</cp:lastModifiedBy>
  <cp:revision>1</cp:revision>
  <cp:lastPrinted>2019-06-26T14:29:45Z</cp:lastPrinted>
  <dcterms:created xsi:type="dcterms:W3CDTF">2019-06-13T20:36:51Z</dcterms:created>
  <dcterms:modified xsi:type="dcterms:W3CDTF">2025-10-26T17:04:43Z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0x010100E0C902C3CBC54D4FA7075784AD88F5EC</vt:lpwstr>
  </property>
  <property fmtid="{D5CDD505-2E9C-101B-9397-08002B2CF9AE}" pid="3" name="MediaServiceImageTags">
    <vt:lpwstr/>
  </property>
</Properties>
</file>