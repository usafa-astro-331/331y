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45"/>
  </p:notesMasterIdLst>
  <p:sldIdLst>
    <p:sldId id="256" r:id="rId5"/>
    <p:sldId id="301" r:id="rId6"/>
    <p:sldId id="621" r:id="rId7"/>
    <p:sldId id="628" r:id="rId8"/>
    <p:sldId id="269" r:id="rId9"/>
    <p:sldId id="258" r:id="rId10"/>
    <p:sldId id="261" r:id="rId11"/>
    <p:sldId id="259" r:id="rId12"/>
    <p:sldId id="630" r:id="rId13"/>
    <p:sldId id="631" r:id="rId14"/>
    <p:sldId id="632" r:id="rId15"/>
    <p:sldId id="633" r:id="rId16"/>
    <p:sldId id="265" r:id="rId17"/>
    <p:sldId id="634" r:id="rId18"/>
    <p:sldId id="635" r:id="rId19"/>
    <p:sldId id="266" r:id="rId20"/>
    <p:sldId id="307" r:id="rId21"/>
    <p:sldId id="308" r:id="rId22"/>
    <p:sldId id="309" r:id="rId23"/>
    <p:sldId id="310" r:id="rId24"/>
    <p:sldId id="623" r:id="rId25"/>
    <p:sldId id="262" r:id="rId26"/>
    <p:sldId id="263" r:id="rId27"/>
    <p:sldId id="318" r:id="rId28"/>
    <p:sldId id="325" r:id="rId29"/>
    <p:sldId id="622" r:id="rId30"/>
    <p:sldId id="639" r:id="rId31"/>
    <p:sldId id="268" r:id="rId32"/>
    <p:sldId id="267" r:id="rId33"/>
    <p:sldId id="629" r:id="rId34"/>
    <p:sldId id="624" r:id="rId35"/>
    <p:sldId id="625" r:id="rId36"/>
    <p:sldId id="626" r:id="rId37"/>
    <p:sldId id="627" r:id="rId38"/>
    <p:sldId id="637" r:id="rId39"/>
    <p:sldId id="638" r:id="rId40"/>
    <p:sldId id="324" r:id="rId41"/>
    <p:sldId id="305" r:id="rId42"/>
    <p:sldId id="636" r:id="rId43"/>
    <p:sldId id="620" r:id="rId44"/>
  </p:sldIdLst>
  <p:sldSz cx="9144000" cy="6858000" type="letter"/>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AA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AB04A1-DED3-421E-8EB0-54E566F4686C}" v="307" dt="2026-01-07T21:07:12.84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0370" autoAdjust="0"/>
  </p:normalViewPr>
  <p:slideViewPr>
    <p:cSldViewPr snapToGrid="0">
      <p:cViewPr varScale="1">
        <p:scale>
          <a:sx n="50" d="100"/>
          <a:sy n="50" d="100"/>
        </p:scale>
        <p:origin x="2414" y="269"/>
      </p:cViewPr>
      <p:guideLst/>
    </p:cSldViewPr>
  </p:slideViewPr>
  <p:notesTextViewPr>
    <p:cViewPr>
      <p:scale>
        <a:sx n="3" d="2"/>
        <a:sy n="3" d="2"/>
      </p:scale>
      <p:origin x="0" y="-5"/>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heme" Target="theme/theme1.xml"/><Relationship Id="rId8" Type="http://schemas.openxmlformats.org/officeDocument/2006/relationships/slide" Target="slides/slide4.xml"/><Relationship Id="rId51"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ris, Wyatt J Lt Col USAF USAFA DF/DFAS" userId="768bfb95-c272-4014-8fa2-010c15306053" providerId="ADAL" clId="{E18DAD13-4A53-44B8-9F3F-46E167733190}"/>
    <pc:docChg chg="undo custSel addSld delSld modSld sldOrd">
      <pc:chgData name="Harris, Wyatt J Lt Col USAF USAFA DF/DFAS" userId="768bfb95-c272-4014-8fa2-010c15306053" providerId="ADAL" clId="{E18DAD13-4A53-44B8-9F3F-46E167733190}" dt="2026-01-08T16:29:50.997" v="732"/>
      <pc:docMkLst>
        <pc:docMk/>
      </pc:docMkLst>
      <pc:sldChg chg="modSp">
        <pc:chgData name="Harris, Wyatt J Lt Col USAF USAFA DF/DFAS" userId="768bfb95-c272-4014-8fa2-010c15306053" providerId="ADAL" clId="{E18DAD13-4A53-44B8-9F3F-46E167733190}" dt="2026-01-07T15:26:55.994" v="4" actId="5793"/>
        <pc:sldMkLst>
          <pc:docMk/>
          <pc:sldMk cId="2198452537" sldId="259"/>
        </pc:sldMkLst>
        <pc:spChg chg="mod">
          <ac:chgData name="Harris, Wyatt J Lt Col USAF USAFA DF/DFAS" userId="768bfb95-c272-4014-8fa2-010c15306053" providerId="ADAL" clId="{E18DAD13-4A53-44B8-9F3F-46E167733190}" dt="2026-01-07T15:26:55.994" v="4" actId="5793"/>
          <ac:spMkLst>
            <pc:docMk/>
            <pc:sldMk cId="2198452537" sldId="259"/>
            <ac:spMk id="3" creationId="{82BCDDE7-8F20-AC58-AA7E-6F2FE1EAA89C}"/>
          </ac:spMkLst>
        </pc:spChg>
      </pc:sldChg>
      <pc:sldChg chg="del">
        <pc:chgData name="Harris, Wyatt J Lt Col USAF USAFA DF/DFAS" userId="768bfb95-c272-4014-8fa2-010c15306053" providerId="ADAL" clId="{E18DAD13-4A53-44B8-9F3F-46E167733190}" dt="2026-01-07T15:36:33.060" v="234" actId="47"/>
        <pc:sldMkLst>
          <pc:docMk/>
          <pc:sldMk cId="767999838" sldId="260"/>
        </pc:sldMkLst>
      </pc:sldChg>
      <pc:sldChg chg="ord">
        <pc:chgData name="Harris, Wyatt J Lt Col USAF USAFA DF/DFAS" userId="768bfb95-c272-4014-8fa2-010c15306053" providerId="ADAL" clId="{E18DAD13-4A53-44B8-9F3F-46E167733190}" dt="2026-01-07T20:56:01.308" v="652"/>
        <pc:sldMkLst>
          <pc:docMk/>
          <pc:sldMk cId="3405949372" sldId="266"/>
        </pc:sldMkLst>
      </pc:sldChg>
      <pc:sldChg chg="ord">
        <pc:chgData name="Harris, Wyatt J Lt Col USAF USAFA DF/DFAS" userId="768bfb95-c272-4014-8fa2-010c15306053" providerId="ADAL" clId="{E18DAD13-4A53-44B8-9F3F-46E167733190}" dt="2026-01-07T15:51:12.798" v="382"/>
        <pc:sldMkLst>
          <pc:docMk/>
          <pc:sldMk cId="3301965744" sldId="267"/>
        </pc:sldMkLst>
      </pc:sldChg>
      <pc:sldChg chg="add ord">
        <pc:chgData name="Harris, Wyatt J Lt Col USAF USAFA DF/DFAS" userId="768bfb95-c272-4014-8fa2-010c15306053" providerId="ADAL" clId="{E18DAD13-4A53-44B8-9F3F-46E167733190}" dt="2026-01-08T16:29:50.997" v="732"/>
        <pc:sldMkLst>
          <pc:docMk/>
          <pc:sldMk cId="249915132" sldId="301"/>
        </pc:sldMkLst>
      </pc:sldChg>
      <pc:sldChg chg="modSp modAnim">
        <pc:chgData name="Harris, Wyatt J Lt Col USAF USAFA DF/DFAS" userId="768bfb95-c272-4014-8fa2-010c15306053" providerId="ADAL" clId="{E18DAD13-4A53-44B8-9F3F-46E167733190}" dt="2026-01-07T21:07:12.846" v="730" actId="20577"/>
        <pc:sldMkLst>
          <pc:docMk/>
          <pc:sldMk cId="2299477021" sldId="305"/>
        </pc:sldMkLst>
        <pc:spChg chg="mod">
          <ac:chgData name="Harris, Wyatt J Lt Col USAF USAFA DF/DFAS" userId="768bfb95-c272-4014-8fa2-010c15306053" providerId="ADAL" clId="{E18DAD13-4A53-44B8-9F3F-46E167733190}" dt="2026-01-07T21:07:12.846" v="730" actId="20577"/>
          <ac:spMkLst>
            <pc:docMk/>
            <pc:sldMk cId="2299477021" sldId="305"/>
            <ac:spMk id="2" creationId="{00000000-0000-0000-0000-000000000000}"/>
          </ac:spMkLst>
        </pc:spChg>
      </pc:sldChg>
      <pc:sldChg chg="modSp mod">
        <pc:chgData name="Harris, Wyatt J Lt Col USAF USAFA DF/DFAS" userId="768bfb95-c272-4014-8fa2-010c15306053" providerId="ADAL" clId="{E18DAD13-4A53-44B8-9F3F-46E167733190}" dt="2026-01-07T20:55:05.489" v="648" actId="14100"/>
        <pc:sldMkLst>
          <pc:docMk/>
          <pc:sldMk cId="0" sldId="307"/>
        </pc:sldMkLst>
        <pc:spChg chg="mod">
          <ac:chgData name="Harris, Wyatt J Lt Col USAF USAFA DF/DFAS" userId="768bfb95-c272-4014-8fa2-010c15306053" providerId="ADAL" clId="{E18DAD13-4A53-44B8-9F3F-46E167733190}" dt="2026-01-07T20:55:05.489" v="648" actId="14100"/>
          <ac:spMkLst>
            <pc:docMk/>
            <pc:sldMk cId="0" sldId="307"/>
            <ac:spMk id="1591299" creationId="{4A46199A-FE90-A448-9FEF-21BFEFC2F00C}"/>
          </ac:spMkLst>
        </pc:spChg>
      </pc:sldChg>
      <pc:sldChg chg="modSp mod modAnim">
        <pc:chgData name="Harris, Wyatt J Lt Col USAF USAFA DF/DFAS" userId="768bfb95-c272-4014-8fa2-010c15306053" providerId="ADAL" clId="{E18DAD13-4A53-44B8-9F3F-46E167733190}" dt="2026-01-07T15:42:50.682" v="380" actId="20577"/>
        <pc:sldMkLst>
          <pc:docMk/>
          <pc:sldMk cId="0" sldId="308"/>
        </pc:sldMkLst>
        <pc:spChg chg="mod">
          <ac:chgData name="Harris, Wyatt J Lt Col USAF USAFA DF/DFAS" userId="768bfb95-c272-4014-8fa2-010c15306053" providerId="ADAL" clId="{E18DAD13-4A53-44B8-9F3F-46E167733190}" dt="2026-01-07T15:42:50.682" v="380" actId="20577"/>
          <ac:spMkLst>
            <pc:docMk/>
            <pc:sldMk cId="0" sldId="308"/>
            <ac:spMk id="1593347" creationId="{0B4F86DC-5014-C852-12BA-1D891FE952DD}"/>
          </ac:spMkLst>
        </pc:spChg>
      </pc:sldChg>
      <pc:sldChg chg="modSp mod modAnim">
        <pc:chgData name="Harris, Wyatt J Lt Col USAF USAFA DF/DFAS" userId="768bfb95-c272-4014-8fa2-010c15306053" providerId="ADAL" clId="{E18DAD13-4A53-44B8-9F3F-46E167733190}" dt="2026-01-07T15:54:27.765" v="412" actId="20577"/>
        <pc:sldMkLst>
          <pc:docMk/>
          <pc:sldMk cId="0" sldId="318"/>
        </pc:sldMkLst>
        <pc:spChg chg="mod">
          <ac:chgData name="Harris, Wyatt J Lt Col USAF USAFA DF/DFAS" userId="768bfb95-c272-4014-8fa2-010c15306053" providerId="ADAL" clId="{E18DAD13-4A53-44B8-9F3F-46E167733190}" dt="2026-01-07T15:54:27.765" v="412" actId="20577"/>
          <ac:spMkLst>
            <pc:docMk/>
            <pc:sldMk cId="0" sldId="318"/>
            <ac:spMk id="1623043" creationId="{DE981C1D-0790-0226-25B2-4699A1B540DE}"/>
          </ac:spMkLst>
        </pc:spChg>
      </pc:sldChg>
      <pc:sldChg chg="ord">
        <pc:chgData name="Harris, Wyatt J Lt Col USAF USAFA DF/DFAS" userId="768bfb95-c272-4014-8fa2-010c15306053" providerId="ADAL" clId="{E18DAD13-4A53-44B8-9F3F-46E167733190}" dt="2026-01-07T15:51:12.798" v="382"/>
        <pc:sldMkLst>
          <pc:docMk/>
          <pc:sldMk cId="2169820233" sldId="629"/>
        </pc:sldMkLst>
      </pc:sldChg>
      <pc:sldChg chg="modSp mod modAnim">
        <pc:chgData name="Harris, Wyatt J Lt Col USAF USAFA DF/DFAS" userId="768bfb95-c272-4014-8fa2-010c15306053" providerId="ADAL" clId="{E18DAD13-4A53-44B8-9F3F-46E167733190}" dt="2026-01-07T20:51:12.347" v="637"/>
        <pc:sldMkLst>
          <pc:docMk/>
          <pc:sldMk cId="2758461715" sldId="630"/>
        </pc:sldMkLst>
        <pc:spChg chg="mod">
          <ac:chgData name="Harris, Wyatt J Lt Col USAF USAFA DF/DFAS" userId="768bfb95-c272-4014-8fa2-010c15306053" providerId="ADAL" clId="{E18DAD13-4A53-44B8-9F3F-46E167733190}" dt="2026-01-07T20:50:49.420" v="635"/>
          <ac:spMkLst>
            <pc:docMk/>
            <pc:sldMk cId="2758461715" sldId="630"/>
            <ac:spMk id="3" creationId="{D60ABA85-8F29-6596-CA03-EF3F46236F4D}"/>
          </ac:spMkLst>
        </pc:spChg>
      </pc:sldChg>
      <pc:sldChg chg="modSp">
        <pc:chgData name="Harris, Wyatt J Lt Col USAF USAFA DF/DFAS" userId="768bfb95-c272-4014-8fa2-010c15306053" providerId="ADAL" clId="{E18DAD13-4A53-44B8-9F3F-46E167733190}" dt="2026-01-07T20:52:10.612" v="638" actId="207"/>
        <pc:sldMkLst>
          <pc:docMk/>
          <pc:sldMk cId="2462251004" sldId="631"/>
        </pc:sldMkLst>
        <pc:spChg chg="mod">
          <ac:chgData name="Harris, Wyatt J Lt Col USAF USAFA DF/DFAS" userId="768bfb95-c272-4014-8fa2-010c15306053" providerId="ADAL" clId="{E18DAD13-4A53-44B8-9F3F-46E167733190}" dt="2026-01-07T20:52:10.612" v="638" actId="207"/>
          <ac:spMkLst>
            <pc:docMk/>
            <pc:sldMk cId="2462251004" sldId="631"/>
            <ac:spMk id="35" creationId="{165710D4-6BDB-7C7D-CF0E-AE2EDB23DFC8}"/>
          </ac:spMkLst>
        </pc:spChg>
      </pc:sldChg>
      <pc:sldChg chg="modSp mod addAnim delAnim modAnim modNotesTx">
        <pc:chgData name="Harris, Wyatt J Lt Col USAF USAFA DF/DFAS" userId="768bfb95-c272-4014-8fa2-010c15306053" providerId="ADAL" clId="{E18DAD13-4A53-44B8-9F3F-46E167733190}" dt="2026-01-07T15:36:29.274" v="233" actId="20577"/>
        <pc:sldMkLst>
          <pc:docMk/>
          <pc:sldMk cId="81232454" sldId="632"/>
        </pc:sldMkLst>
        <pc:spChg chg="mod">
          <ac:chgData name="Harris, Wyatt J Lt Col USAF USAFA DF/DFAS" userId="768bfb95-c272-4014-8fa2-010c15306053" providerId="ADAL" clId="{E18DAD13-4A53-44B8-9F3F-46E167733190}" dt="2026-01-07T15:35:19.454" v="214" actId="20577"/>
          <ac:spMkLst>
            <pc:docMk/>
            <pc:sldMk cId="81232454" sldId="632"/>
            <ac:spMk id="5" creationId="{98332529-4478-0FAB-0BD7-3CBE4775BB10}"/>
          </ac:spMkLst>
        </pc:spChg>
      </pc:sldChg>
      <pc:sldChg chg="addSp delSp modSp mod modAnim">
        <pc:chgData name="Harris, Wyatt J Lt Col USAF USAFA DF/DFAS" userId="768bfb95-c272-4014-8fa2-010c15306053" providerId="ADAL" clId="{E18DAD13-4A53-44B8-9F3F-46E167733190}" dt="2026-01-07T21:05:07.319" v="725" actId="1035"/>
        <pc:sldMkLst>
          <pc:docMk/>
          <pc:sldMk cId="3835826654" sldId="633"/>
        </pc:sldMkLst>
        <pc:spChg chg="mod">
          <ac:chgData name="Harris, Wyatt J Lt Col USAF USAFA DF/DFAS" userId="768bfb95-c272-4014-8fa2-010c15306053" providerId="ADAL" clId="{E18DAD13-4A53-44B8-9F3F-46E167733190}" dt="2026-01-07T21:03:42.762" v="708" actId="21"/>
          <ac:spMkLst>
            <pc:docMk/>
            <pc:sldMk cId="3835826654" sldId="633"/>
            <ac:spMk id="2" creationId="{E5A0C252-C2DA-A462-A234-5DAC1B791948}"/>
          </ac:spMkLst>
        </pc:spChg>
        <pc:spChg chg="add del">
          <ac:chgData name="Harris, Wyatt J Lt Col USAF USAFA DF/DFAS" userId="768bfb95-c272-4014-8fa2-010c15306053" providerId="ADAL" clId="{E18DAD13-4A53-44B8-9F3F-46E167733190}" dt="2026-01-07T21:03:48.836" v="710" actId="22"/>
          <ac:spMkLst>
            <pc:docMk/>
            <pc:sldMk cId="3835826654" sldId="633"/>
            <ac:spMk id="5" creationId="{E9056DB4-FE56-017B-0448-C2C34B40DEF3}"/>
          </ac:spMkLst>
        </pc:spChg>
        <pc:spChg chg="add mod">
          <ac:chgData name="Harris, Wyatt J Lt Col USAF USAFA DF/DFAS" userId="768bfb95-c272-4014-8fa2-010c15306053" providerId="ADAL" clId="{E18DAD13-4A53-44B8-9F3F-46E167733190}" dt="2026-01-07T21:05:07.319" v="725" actId="1035"/>
          <ac:spMkLst>
            <pc:docMk/>
            <pc:sldMk cId="3835826654" sldId="633"/>
            <ac:spMk id="8" creationId="{E44B78BD-FAB0-99E0-6AA6-B9D0D619C74B}"/>
          </ac:spMkLst>
        </pc:spChg>
      </pc:sldChg>
      <pc:sldChg chg="modSp mod modAnim">
        <pc:chgData name="Harris, Wyatt J Lt Col USAF USAFA DF/DFAS" userId="768bfb95-c272-4014-8fa2-010c15306053" providerId="ADAL" clId="{E18DAD13-4A53-44B8-9F3F-46E167733190}" dt="2026-01-07T20:53:56.570" v="644" actId="33524"/>
        <pc:sldMkLst>
          <pc:docMk/>
          <pc:sldMk cId="1108864359" sldId="634"/>
        </pc:sldMkLst>
        <pc:spChg chg="mod">
          <ac:chgData name="Harris, Wyatt J Lt Col USAF USAFA DF/DFAS" userId="768bfb95-c272-4014-8fa2-010c15306053" providerId="ADAL" clId="{E18DAD13-4A53-44B8-9F3F-46E167733190}" dt="2026-01-07T20:53:56.570" v="644" actId="33524"/>
          <ac:spMkLst>
            <pc:docMk/>
            <pc:sldMk cId="1108864359" sldId="634"/>
            <ac:spMk id="3" creationId="{2D0732C8-7247-73F1-684A-E06E48B89C7A}"/>
          </ac:spMkLst>
        </pc:spChg>
      </pc:sldChg>
      <pc:sldChg chg="modSp mod modAnim">
        <pc:chgData name="Harris, Wyatt J Lt Col USAF USAFA DF/DFAS" userId="768bfb95-c272-4014-8fa2-010c15306053" providerId="ADAL" clId="{E18DAD13-4A53-44B8-9F3F-46E167733190}" dt="2026-01-07T20:54:57.045" v="647"/>
        <pc:sldMkLst>
          <pc:docMk/>
          <pc:sldMk cId="185077053" sldId="635"/>
        </pc:sldMkLst>
        <pc:spChg chg="mod">
          <ac:chgData name="Harris, Wyatt J Lt Col USAF USAFA DF/DFAS" userId="768bfb95-c272-4014-8fa2-010c15306053" providerId="ADAL" clId="{E18DAD13-4A53-44B8-9F3F-46E167733190}" dt="2026-01-07T15:37:47.301" v="253" actId="255"/>
          <ac:spMkLst>
            <pc:docMk/>
            <pc:sldMk cId="185077053" sldId="635"/>
            <ac:spMk id="3" creationId="{EE797A34-308F-0420-7B78-D19324205C40}"/>
          </ac:spMkLst>
        </pc:spChg>
      </pc:sldChg>
      <pc:sldChg chg="modSp new mod">
        <pc:chgData name="Harris, Wyatt J Lt Col USAF USAFA DF/DFAS" userId="768bfb95-c272-4014-8fa2-010c15306053" providerId="ADAL" clId="{E18DAD13-4A53-44B8-9F3F-46E167733190}" dt="2026-01-07T18:57:37.593" v="632" actId="207"/>
        <pc:sldMkLst>
          <pc:docMk/>
          <pc:sldMk cId="361014692" sldId="636"/>
        </pc:sldMkLst>
        <pc:spChg chg="mod">
          <ac:chgData name="Harris, Wyatt J Lt Col USAF USAFA DF/DFAS" userId="768bfb95-c272-4014-8fa2-010c15306053" providerId="ADAL" clId="{E18DAD13-4A53-44B8-9F3F-46E167733190}" dt="2026-01-07T16:04:57.922" v="451" actId="20577"/>
          <ac:spMkLst>
            <pc:docMk/>
            <pc:sldMk cId="361014692" sldId="636"/>
            <ac:spMk id="2" creationId="{F2FEB069-6E90-76D9-C11A-E685B163B60C}"/>
          </ac:spMkLst>
        </pc:spChg>
        <pc:spChg chg="mod">
          <ac:chgData name="Harris, Wyatt J Lt Col USAF USAFA DF/DFAS" userId="768bfb95-c272-4014-8fa2-010c15306053" providerId="ADAL" clId="{E18DAD13-4A53-44B8-9F3F-46E167733190}" dt="2026-01-07T18:57:37.593" v="632" actId="207"/>
          <ac:spMkLst>
            <pc:docMk/>
            <pc:sldMk cId="361014692" sldId="636"/>
            <ac:spMk id="3" creationId="{3F479D30-A667-E737-3C87-ADCDB7045C21}"/>
          </ac:spMkLst>
        </pc:spChg>
      </pc:sldChg>
      <pc:sldChg chg="addSp delSp modSp new mod">
        <pc:chgData name="Harris, Wyatt J Lt Col USAF USAFA DF/DFAS" userId="768bfb95-c272-4014-8fa2-010c15306053" providerId="ADAL" clId="{E18DAD13-4A53-44B8-9F3F-46E167733190}" dt="2026-01-07T16:18:04.669" v="591" actId="1076"/>
        <pc:sldMkLst>
          <pc:docMk/>
          <pc:sldMk cId="3305743708" sldId="637"/>
        </pc:sldMkLst>
        <pc:spChg chg="mod">
          <ac:chgData name="Harris, Wyatt J Lt Col USAF USAFA DF/DFAS" userId="768bfb95-c272-4014-8fa2-010c15306053" providerId="ADAL" clId="{E18DAD13-4A53-44B8-9F3F-46E167733190}" dt="2026-01-07T16:09:07.478" v="461" actId="20577"/>
          <ac:spMkLst>
            <pc:docMk/>
            <pc:sldMk cId="3305743708" sldId="637"/>
            <ac:spMk id="2" creationId="{4B801998-BC9F-4041-377F-A41FF7EEB177}"/>
          </ac:spMkLst>
        </pc:spChg>
        <pc:spChg chg="mod">
          <ac:chgData name="Harris, Wyatt J Lt Col USAF USAFA DF/DFAS" userId="768bfb95-c272-4014-8fa2-010c15306053" providerId="ADAL" clId="{E18DAD13-4A53-44B8-9F3F-46E167733190}" dt="2026-01-07T16:14:55.532" v="576" actId="404"/>
          <ac:spMkLst>
            <pc:docMk/>
            <pc:sldMk cId="3305743708" sldId="637"/>
            <ac:spMk id="3" creationId="{73C887EA-0EBB-DCFE-B874-84CDD8CF2FDE}"/>
          </ac:spMkLst>
        </pc:spChg>
        <pc:picChg chg="add mod">
          <ac:chgData name="Harris, Wyatt J Lt Col USAF USAFA DF/DFAS" userId="768bfb95-c272-4014-8fa2-010c15306053" providerId="ADAL" clId="{E18DAD13-4A53-44B8-9F3F-46E167733190}" dt="2026-01-07T16:18:04.669" v="591" actId="1076"/>
          <ac:picMkLst>
            <pc:docMk/>
            <pc:sldMk cId="3305743708" sldId="637"/>
            <ac:picMk id="6" creationId="{BB5A139C-1B58-43A6-8C07-C29655CEED12}"/>
          </ac:picMkLst>
        </pc:picChg>
        <pc:picChg chg="add del mod">
          <ac:chgData name="Harris, Wyatt J Lt Col USAF USAFA DF/DFAS" userId="768bfb95-c272-4014-8fa2-010c15306053" providerId="ADAL" clId="{E18DAD13-4A53-44B8-9F3F-46E167733190}" dt="2026-01-07T16:16:01.680" v="579" actId="478"/>
          <ac:picMkLst>
            <pc:docMk/>
            <pc:sldMk cId="3305743708" sldId="637"/>
            <ac:picMk id="1026" creationId="{70C4C29F-964E-0837-DC16-F4C6849B979D}"/>
          </ac:picMkLst>
        </pc:picChg>
        <pc:picChg chg="add mod">
          <ac:chgData name="Harris, Wyatt J Lt Col USAF USAFA DF/DFAS" userId="768bfb95-c272-4014-8fa2-010c15306053" providerId="ADAL" clId="{E18DAD13-4A53-44B8-9F3F-46E167733190}" dt="2026-01-07T16:18:02.424" v="590" actId="1076"/>
          <ac:picMkLst>
            <pc:docMk/>
            <pc:sldMk cId="3305743708" sldId="637"/>
            <ac:picMk id="1028" creationId="{8E52FCC2-904F-404D-8E9C-AF4C57AE3FB2}"/>
          </ac:picMkLst>
        </pc:picChg>
      </pc:sldChg>
      <pc:sldChg chg="delSp modSp new mod">
        <pc:chgData name="Harris, Wyatt J Lt Col USAF USAFA DF/DFAS" userId="768bfb95-c272-4014-8fa2-010c15306053" providerId="ADAL" clId="{E18DAD13-4A53-44B8-9F3F-46E167733190}" dt="2026-01-07T16:19:10.257" v="631" actId="113"/>
        <pc:sldMkLst>
          <pc:docMk/>
          <pc:sldMk cId="2965434135" sldId="638"/>
        </pc:sldMkLst>
        <pc:spChg chg="del mod">
          <ac:chgData name="Harris, Wyatt J Lt Col USAF USAFA DF/DFAS" userId="768bfb95-c272-4014-8fa2-010c15306053" providerId="ADAL" clId="{E18DAD13-4A53-44B8-9F3F-46E167733190}" dt="2026-01-07T16:18:34.529" v="627" actId="478"/>
          <ac:spMkLst>
            <pc:docMk/>
            <pc:sldMk cId="2965434135" sldId="638"/>
            <ac:spMk id="2" creationId="{5FFD9E5F-67E8-90D2-A9DC-3D0181FF4EA3}"/>
          </ac:spMkLst>
        </pc:spChg>
        <pc:spChg chg="mod">
          <ac:chgData name="Harris, Wyatt J Lt Col USAF USAFA DF/DFAS" userId="768bfb95-c272-4014-8fa2-010c15306053" providerId="ADAL" clId="{E18DAD13-4A53-44B8-9F3F-46E167733190}" dt="2026-01-07T16:19:10.257" v="631" actId="113"/>
          <ac:spMkLst>
            <pc:docMk/>
            <pc:sldMk cId="2965434135" sldId="638"/>
            <ac:spMk id="3" creationId="{75D02054-A635-4C3F-C245-546325E567DF}"/>
          </ac:spMkLst>
        </pc:spChg>
      </pc:sldChg>
      <pc:sldChg chg="modSp add mod modNotesTx">
        <pc:chgData name="Harris, Wyatt J Lt Col USAF USAFA DF/DFAS" userId="768bfb95-c272-4014-8fa2-010c15306053" providerId="ADAL" clId="{E18DAD13-4A53-44B8-9F3F-46E167733190}" dt="2026-01-07T21:02:19.074" v="700" actId="20577"/>
        <pc:sldMkLst>
          <pc:docMk/>
          <pc:sldMk cId="4172776327" sldId="639"/>
        </pc:sldMkLst>
        <pc:spChg chg="mod">
          <ac:chgData name="Harris, Wyatt J Lt Col USAF USAFA DF/DFAS" userId="768bfb95-c272-4014-8fa2-010c15306053" providerId="ADAL" clId="{E18DAD13-4A53-44B8-9F3F-46E167733190}" dt="2026-01-07T16:19:01.634" v="630" actId="113"/>
          <ac:spMkLst>
            <pc:docMk/>
            <pc:sldMk cId="4172776327" sldId="639"/>
            <ac:spMk id="3" creationId="{8D10B3E2-4876-A012-E324-4F822FB35344}"/>
          </ac:spMkLst>
        </pc:spChg>
      </pc:sldChg>
    </pc:docChg>
  </pc:docChgLst>
  <pc:docChgLst>
    <pc:chgData name="Harris, Wyatt J Lt Col USAF USAFA DF/DFAS" userId="768bfb95-c272-4014-8fa2-010c15306053" providerId="ADAL" clId="{95571437-1CDD-49A9-9F44-9267EE8F1204}"/>
    <pc:docChg chg="undo custSel addSld modSld sldOrd modMainMaster">
      <pc:chgData name="Harris, Wyatt J Lt Col USAF USAFA DF/DFAS" userId="768bfb95-c272-4014-8fa2-010c15306053" providerId="ADAL" clId="{95571437-1CDD-49A9-9F44-9267EE8F1204}" dt="2026-01-07T05:30:22.542" v="424" actId="729"/>
      <pc:docMkLst>
        <pc:docMk/>
      </pc:docMkLst>
      <pc:sldChg chg="modSp mod modAnim">
        <pc:chgData name="Harris, Wyatt J Lt Col USAF USAFA DF/DFAS" userId="768bfb95-c272-4014-8fa2-010c15306053" providerId="ADAL" clId="{95571437-1CDD-49A9-9F44-9267EE8F1204}" dt="2026-01-07T05:06:19.449" v="105"/>
        <pc:sldMkLst>
          <pc:docMk/>
          <pc:sldMk cId="2198452537" sldId="259"/>
        </pc:sldMkLst>
        <pc:spChg chg="mod">
          <ac:chgData name="Harris, Wyatt J Lt Col USAF USAFA DF/DFAS" userId="768bfb95-c272-4014-8fa2-010c15306053" providerId="ADAL" clId="{95571437-1CDD-49A9-9F44-9267EE8F1204}" dt="2026-01-07T05:06:08.306" v="104" actId="115"/>
          <ac:spMkLst>
            <pc:docMk/>
            <pc:sldMk cId="2198452537" sldId="259"/>
            <ac:spMk id="3" creationId="{82BCDDE7-8F20-AC58-AA7E-6F2FE1EAA89C}"/>
          </ac:spMkLst>
        </pc:spChg>
      </pc:sldChg>
      <pc:sldChg chg="modSp modAnim">
        <pc:chgData name="Harris, Wyatt J Lt Col USAF USAFA DF/DFAS" userId="768bfb95-c272-4014-8fa2-010c15306053" providerId="ADAL" clId="{95571437-1CDD-49A9-9F44-9267EE8F1204}" dt="2026-01-07T05:11:02.107" v="162" actId="5793"/>
        <pc:sldMkLst>
          <pc:docMk/>
          <pc:sldMk cId="767999838" sldId="260"/>
        </pc:sldMkLst>
        <pc:spChg chg="mod">
          <ac:chgData name="Harris, Wyatt J Lt Col USAF USAFA DF/DFAS" userId="768bfb95-c272-4014-8fa2-010c15306053" providerId="ADAL" clId="{95571437-1CDD-49A9-9F44-9267EE8F1204}" dt="2026-01-07T05:11:02.107" v="162" actId="5793"/>
          <ac:spMkLst>
            <pc:docMk/>
            <pc:sldMk cId="767999838" sldId="260"/>
            <ac:spMk id="3" creationId="{175234E0-A7FD-92D7-39DC-02C84C733F9B}"/>
          </ac:spMkLst>
        </pc:spChg>
      </pc:sldChg>
      <pc:sldChg chg="modSp mod">
        <pc:chgData name="Harris, Wyatt J Lt Col USAF USAFA DF/DFAS" userId="768bfb95-c272-4014-8fa2-010c15306053" providerId="ADAL" clId="{95571437-1CDD-49A9-9F44-9267EE8F1204}" dt="2026-01-07T05:21:32.992" v="340" actId="113"/>
        <pc:sldMkLst>
          <pc:docMk/>
          <pc:sldMk cId="3376563041" sldId="261"/>
        </pc:sldMkLst>
        <pc:spChg chg="mod">
          <ac:chgData name="Harris, Wyatt J Lt Col USAF USAFA DF/DFAS" userId="768bfb95-c272-4014-8fa2-010c15306053" providerId="ADAL" clId="{95571437-1CDD-49A9-9F44-9267EE8F1204}" dt="2026-01-07T05:21:32.992" v="340" actId="113"/>
          <ac:spMkLst>
            <pc:docMk/>
            <pc:sldMk cId="3376563041" sldId="261"/>
            <ac:spMk id="3" creationId="{154F2607-A59F-B013-8F78-76A548DCE901}"/>
          </ac:spMkLst>
        </pc:spChg>
      </pc:sldChg>
      <pc:sldChg chg="mod ord modShow">
        <pc:chgData name="Harris, Wyatt J Lt Col USAF USAFA DF/DFAS" userId="768bfb95-c272-4014-8fa2-010c15306053" providerId="ADAL" clId="{95571437-1CDD-49A9-9F44-9267EE8F1204}" dt="2026-01-07T05:23:52.457" v="375" actId="729"/>
        <pc:sldMkLst>
          <pc:docMk/>
          <pc:sldMk cId="1529765383" sldId="265"/>
        </pc:sldMkLst>
      </pc:sldChg>
      <pc:sldChg chg="ord">
        <pc:chgData name="Harris, Wyatt J Lt Col USAF USAFA DF/DFAS" userId="768bfb95-c272-4014-8fa2-010c15306053" providerId="ADAL" clId="{95571437-1CDD-49A9-9F44-9267EE8F1204}" dt="2026-01-07T05:24:14.970" v="377"/>
        <pc:sldMkLst>
          <pc:docMk/>
          <pc:sldMk cId="3405949372" sldId="266"/>
        </pc:sldMkLst>
      </pc:sldChg>
      <pc:sldChg chg="modSp add mod modTransition">
        <pc:chgData name="Harris, Wyatt J Lt Col USAF USAFA DF/DFAS" userId="768bfb95-c272-4014-8fa2-010c15306053" providerId="ADAL" clId="{95571437-1CDD-49A9-9F44-9267EE8F1204}" dt="2026-01-07T05:25:22.771" v="392" actId="27636"/>
        <pc:sldMkLst>
          <pc:docMk/>
          <pc:sldMk cId="0" sldId="307"/>
        </pc:sldMkLst>
        <pc:spChg chg="mod">
          <ac:chgData name="Harris, Wyatt J Lt Col USAF USAFA DF/DFAS" userId="768bfb95-c272-4014-8fa2-010c15306053" providerId="ADAL" clId="{95571437-1CDD-49A9-9F44-9267EE8F1204}" dt="2026-01-07T05:25:15.571" v="387" actId="1035"/>
          <ac:spMkLst>
            <pc:docMk/>
            <pc:sldMk cId="0" sldId="307"/>
            <ac:spMk id="1591298" creationId="{6A811B0D-FE1F-0E89-B2A1-A8E2C58D98E0}"/>
          </ac:spMkLst>
        </pc:spChg>
        <pc:spChg chg="mod">
          <ac:chgData name="Harris, Wyatt J Lt Col USAF USAFA DF/DFAS" userId="768bfb95-c272-4014-8fa2-010c15306053" providerId="ADAL" clId="{95571437-1CDD-49A9-9F44-9267EE8F1204}" dt="2026-01-07T05:25:22.771" v="392" actId="27636"/>
          <ac:spMkLst>
            <pc:docMk/>
            <pc:sldMk cId="0" sldId="307"/>
            <ac:spMk id="1591299" creationId="{4A46199A-FE90-A448-9FEF-21BFEFC2F00C}"/>
          </ac:spMkLst>
        </pc:spChg>
      </pc:sldChg>
      <pc:sldChg chg="modSp add mod modTransition">
        <pc:chgData name="Harris, Wyatt J Lt Col USAF USAFA DF/DFAS" userId="768bfb95-c272-4014-8fa2-010c15306053" providerId="ADAL" clId="{95571437-1CDD-49A9-9F44-9267EE8F1204}" dt="2026-01-07T05:27:17.694" v="401" actId="5793"/>
        <pc:sldMkLst>
          <pc:docMk/>
          <pc:sldMk cId="0" sldId="308"/>
        </pc:sldMkLst>
        <pc:spChg chg="mod">
          <ac:chgData name="Harris, Wyatt J Lt Col USAF USAFA DF/DFAS" userId="768bfb95-c272-4014-8fa2-010c15306053" providerId="ADAL" clId="{95571437-1CDD-49A9-9F44-9267EE8F1204}" dt="2026-01-07T05:26:23.441" v="399" actId="1035"/>
          <ac:spMkLst>
            <pc:docMk/>
            <pc:sldMk cId="0" sldId="308"/>
            <ac:spMk id="1593346" creationId="{3121D48F-36BB-704C-E607-BFA0B44C6D22}"/>
          </ac:spMkLst>
        </pc:spChg>
        <pc:spChg chg="mod">
          <ac:chgData name="Harris, Wyatt J Lt Col USAF USAFA DF/DFAS" userId="768bfb95-c272-4014-8fa2-010c15306053" providerId="ADAL" clId="{95571437-1CDD-49A9-9F44-9267EE8F1204}" dt="2026-01-07T05:27:17.694" v="401" actId="5793"/>
          <ac:spMkLst>
            <pc:docMk/>
            <pc:sldMk cId="0" sldId="308"/>
            <ac:spMk id="1593347" creationId="{0B4F86DC-5014-C852-12BA-1D891FE952DD}"/>
          </ac:spMkLst>
        </pc:spChg>
      </pc:sldChg>
      <pc:sldChg chg="modSp add mod modTransition modShow">
        <pc:chgData name="Harris, Wyatt J Lt Col USAF USAFA DF/DFAS" userId="768bfb95-c272-4014-8fa2-010c15306053" providerId="ADAL" clId="{95571437-1CDD-49A9-9F44-9267EE8F1204}" dt="2026-01-07T05:27:53.734" v="406" actId="729"/>
        <pc:sldMkLst>
          <pc:docMk/>
          <pc:sldMk cId="0" sldId="309"/>
        </pc:sldMkLst>
        <pc:spChg chg="mod">
          <ac:chgData name="Harris, Wyatt J Lt Col USAF USAFA DF/DFAS" userId="768bfb95-c272-4014-8fa2-010c15306053" providerId="ADAL" clId="{95571437-1CDD-49A9-9F44-9267EE8F1204}" dt="2026-01-07T05:27:49.841" v="405" actId="1076"/>
          <ac:spMkLst>
            <pc:docMk/>
            <pc:sldMk cId="0" sldId="309"/>
            <ac:spMk id="1595394" creationId="{4FEA9B74-16BB-A661-B35B-E572BE72A9E8}"/>
          </ac:spMkLst>
        </pc:spChg>
        <pc:spChg chg="mod">
          <ac:chgData name="Harris, Wyatt J Lt Col USAF USAFA DF/DFAS" userId="768bfb95-c272-4014-8fa2-010c15306053" providerId="ADAL" clId="{95571437-1CDD-49A9-9F44-9267EE8F1204}" dt="2026-01-07T05:27:45.031" v="403" actId="27636"/>
          <ac:spMkLst>
            <pc:docMk/>
            <pc:sldMk cId="0" sldId="309"/>
            <ac:spMk id="1595395" creationId="{576C2C8A-7A12-D8A9-243B-B70DE1FA88C9}"/>
          </ac:spMkLst>
        </pc:spChg>
      </pc:sldChg>
      <pc:sldChg chg="modSp add mod modTransition modShow">
        <pc:chgData name="Harris, Wyatt J Lt Col USAF USAFA DF/DFAS" userId="768bfb95-c272-4014-8fa2-010c15306053" providerId="ADAL" clId="{95571437-1CDD-49A9-9F44-9267EE8F1204}" dt="2026-01-07T05:28:38.788" v="418" actId="27636"/>
        <pc:sldMkLst>
          <pc:docMk/>
          <pc:sldMk cId="0" sldId="310"/>
        </pc:sldMkLst>
        <pc:spChg chg="mod">
          <ac:chgData name="Harris, Wyatt J Lt Col USAF USAFA DF/DFAS" userId="768bfb95-c272-4014-8fa2-010c15306053" providerId="ADAL" clId="{95571437-1CDD-49A9-9F44-9267EE8F1204}" dt="2026-01-07T05:28:24.077" v="413" actId="1036"/>
          <ac:spMkLst>
            <pc:docMk/>
            <pc:sldMk cId="0" sldId="310"/>
            <ac:spMk id="1597442" creationId="{EE9661FE-40F9-680B-8A05-AD09C63FCC36}"/>
          </ac:spMkLst>
        </pc:spChg>
        <pc:spChg chg="mod">
          <ac:chgData name="Harris, Wyatt J Lt Col USAF USAFA DF/DFAS" userId="768bfb95-c272-4014-8fa2-010c15306053" providerId="ADAL" clId="{95571437-1CDD-49A9-9F44-9267EE8F1204}" dt="2026-01-07T05:28:38.788" v="418" actId="27636"/>
          <ac:spMkLst>
            <pc:docMk/>
            <pc:sldMk cId="0" sldId="310"/>
            <ac:spMk id="1597443" creationId="{73E89B35-EF7E-BFF0-F1A8-080A2C43D01B}"/>
          </ac:spMkLst>
        </pc:spChg>
      </pc:sldChg>
      <pc:sldChg chg="modSp add mod modTransition">
        <pc:chgData name="Harris, Wyatt J Lt Col USAF USAFA DF/DFAS" userId="768bfb95-c272-4014-8fa2-010c15306053" providerId="ADAL" clId="{95571437-1CDD-49A9-9F44-9267EE8F1204}" dt="2026-01-07T05:29:23.626" v="421" actId="1076"/>
        <pc:sldMkLst>
          <pc:docMk/>
          <pc:sldMk cId="0" sldId="318"/>
        </pc:sldMkLst>
        <pc:spChg chg="mod">
          <ac:chgData name="Harris, Wyatt J Lt Col USAF USAFA DF/DFAS" userId="768bfb95-c272-4014-8fa2-010c15306053" providerId="ADAL" clId="{95571437-1CDD-49A9-9F44-9267EE8F1204}" dt="2026-01-07T05:29:23.626" v="421" actId="1076"/>
          <ac:spMkLst>
            <pc:docMk/>
            <pc:sldMk cId="0" sldId="318"/>
            <ac:spMk id="1623043" creationId="{DE981C1D-0790-0226-25B2-4699A1B540DE}"/>
          </ac:spMkLst>
        </pc:spChg>
      </pc:sldChg>
      <pc:sldChg chg="modSp add mod modTransition modShow">
        <pc:chgData name="Harris, Wyatt J Lt Col USAF USAFA DF/DFAS" userId="768bfb95-c272-4014-8fa2-010c15306053" providerId="ADAL" clId="{95571437-1CDD-49A9-9F44-9267EE8F1204}" dt="2026-01-07T05:30:22.542" v="424" actId="729"/>
        <pc:sldMkLst>
          <pc:docMk/>
          <pc:sldMk cId="0" sldId="325"/>
        </pc:sldMkLst>
        <pc:spChg chg="mod">
          <ac:chgData name="Harris, Wyatt J Lt Col USAF USAFA DF/DFAS" userId="768bfb95-c272-4014-8fa2-010c15306053" providerId="ADAL" clId="{95571437-1CDD-49A9-9F44-9267EE8F1204}" dt="2026-01-07T05:30:17.964" v="423" actId="27636"/>
          <ac:spMkLst>
            <pc:docMk/>
            <pc:sldMk cId="0" sldId="325"/>
            <ac:spMk id="1637379" creationId="{9B959951-3DAC-BB5F-F03C-42DAF878CFC4}"/>
          </ac:spMkLst>
        </pc:spChg>
      </pc:sldChg>
      <pc:sldChg chg="modSp mod">
        <pc:chgData name="Harris, Wyatt J Lt Col USAF USAFA DF/DFAS" userId="768bfb95-c272-4014-8fa2-010c15306053" providerId="ADAL" clId="{95571437-1CDD-49A9-9F44-9267EE8F1204}" dt="2026-01-07T05:21:18.733" v="322" actId="113"/>
        <pc:sldMkLst>
          <pc:docMk/>
          <pc:sldMk cId="3207850132" sldId="623"/>
        </pc:sldMkLst>
        <pc:spChg chg="mod">
          <ac:chgData name="Harris, Wyatt J Lt Col USAF USAFA DF/DFAS" userId="768bfb95-c272-4014-8fa2-010c15306053" providerId="ADAL" clId="{95571437-1CDD-49A9-9F44-9267EE8F1204}" dt="2026-01-07T05:21:18.733" v="322" actId="113"/>
          <ac:spMkLst>
            <pc:docMk/>
            <pc:sldMk cId="3207850132" sldId="623"/>
            <ac:spMk id="3" creationId="{8F14BCC7-76D4-E6D2-D638-0A8FDCEA711F}"/>
          </ac:spMkLst>
        </pc:spChg>
      </pc:sldChg>
      <pc:sldChg chg="addSp delSp modSp add mod">
        <pc:chgData name="Harris, Wyatt J Lt Col USAF USAFA DF/DFAS" userId="768bfb95-c272-4014-8fa2-010c15306053" providerId="ADAL" clId="{95571437-1CDD-49A9-9F44-9267EE8F1204}" dt="2026-01-07T04:56:54.223" v="18" actId="20577"/>
        <pc:sldMkLst>
          <pc:docMk/>
          <pc:sldMk cId="2169820233" sldId="629"/>
        </pc:sldMkLst>
        <pc:spChg chg="mod">
          <ac:chgData name="Harris, Wyatt J Lt Col USAF USAFA DF/DFAS" userId="768bfb95-c272-4014-8fa2-010c15306053" providerId="ADAL" clId="{95571437-1CDD-49A9-9F44-9267EE8F1204}" dt="2026-01-07T04:56:54.223" v="18" actId="20577"/>
          <ac:spMkLst>
            <pc:docMk/>
            <pc:sldMk cId="2169820233" sldId="629"/>
            <ac:spMk id="2" creationId="{201F6003-DBFF-0DBF-4420-16031AA5FE66}"/>
          </ac:spMkLst>
        </pc:spChg>
        <pc:spChg chg="add del mod">
          <ac:chgData name="Harris, Wyatt J Lt Col USAF USAFA DF/DFAS" userId="768bfb95-c272-4014-8fa2-010c15306053" providerId="ADAL" clId="{95571437-1CDD-49A9-9F44-9267EE8F1204}" dt="2026-01-07T04:56:46.986" v="6" actId="478"/>
          <ac:spMkLst>
            <pc:docMk/>
            <pc:sldMk cId="2169820233" sldId="629"/>
            <ac:spMk id="5" creationId="{22552C1F-292B-DDB7-38FF-C399052283DA}"/>
          </ac:spMkLst>
        </pc:spChg>
        <pc:picChg chg="del">
          <ac:chgData name="Harris, Wyatt J Lt Col USAF USAFA DF/DFAS" userId="768bfb95-c272-4014-8fa2-010c15306053" providerId="ADAL" clId="{95571437-1CDD-49A9-9F44-9267EE8F1204}" dt="2026-01-07T04:56:38.270" v="1" actId="478"/>
          <ac:picMkLst>
            <pc:docMk/>
            <pc:sldMk cId="2169820233" sldId="629"/>
            <ac:picMk id="6" creationId="{D10B0DD6-D7DE-CBA4-EE4D-CDA10E672541}"/>
          </ac:picMkLst>
        </pc:picChg>
        <pc:picChg chg="add mod">
          <ac:chgData name="Harris, Wyatt J Lt Col USAF USAFA DF/DFAS" userId="768bfb95-c272-4014-8fa2-010c15306053" providerId="ADAL" clId="{95571437-1CDD-49A9-9F44-9267EE8F1204}" dt="2026-01-07T04:56:50.236" v="7" actId="1076"/>
          <ac:picMkLst>
            <pc:docMk/>
            <pc:sldMk cId="2169820233" sldId="629"/>
            <ac:picMk id="8" creationId="{EE6E82CA-DDE3-F742-935A-DE16B01BD32E}"/>
          </ac:picMkLst>
        </pc:picChg>
      </pc:sldChg>
      <pc:sldChg chg="modSp new mod ord">
        <pc:chgData name="Harris, Wyatt J Lt Col USAF USAFA DF/DFAS" userId="768bfb95-c272-4014-8fa2-010c15306053" providerId="ADAL" clId="{95571437-1CDD-49A9-9F44-9267EE8F1204}" dt="2026-01-07T05:15:13.171" v="204"/>
        <pc:sldMkLst>
          <pc:docMk/>
          <pc:sldMk cId="2758461715" sldId="630"/>
        </pc:sldMkLst>
        <pc:spChg chg="mod">
          <ac:chgData name="Harris, Wyatt J Lt Col USAF USAFA DF/DFAS" userId="768bfb95-c272-4014-8fa2-010c15306053" providerId="ADAL" clId="{95571437-1CDD-49A9-9F44-9267EE8F1204}" dt="2026-01-07T05:03:46.247" v="59" actId="20577"/>
          <ac:spMkLst>
            <pc:docMk/>
            <pc:sldMk cId="2758461715" sldId="630"/>
            <ac:spMk id="2" creationId="{53F3053A-1CA7-C429-69B4-ED5B01BD04A0}"/>
          </ac:spMkLst>
        </pc:spChg>
        <pc:spChg chg="mod">
          <ac:chgData name="Harris, Wyatt J Lt Col USAF USAFA DF/DFAS" userId="768bfb95-c272-4014-8fa2-010c15306053" providerId="ADAL" clId="{95571437-1CDD-49A9-9F44-9267EE8F1204}" dt="2026-01-07T05:04:16.596" v="83" actId="113"/>
          <ac:spMkLst>
            <pc:docMk/>
            <pc:sldMk cId="2758461715" sldId="630"/>
            <ac:spMk id="3" creationId="{D60ABA85-8F29-6596-CA03-EF3F46236F4D}"/>
          </ac:spMkLst>
        </pc:spChg>
      </pc:sldChg>
      <pc:sldChg chg="addSp delSp modSp new mod ord modAnim">
        <pc:chgData name="Harris, Wyatt J Lt Col USAF USAFA DF/DFAS" userId="768bfb95-c272-4014-8fa2-010c15306053" providerId="ADAL" clId="{95571437-1CDD-49A9-9F44-9267EE8F1204}" dt="2026-01-07T05:15:15.201" v="206"/>
        <pc:sldMkLst>
          <pc:docMk/>
          <pc:sldMk cId="2462251004" sldId="631"/>
        </pc:sldMkLst>
        <pc:spChg chg="mod">
          <ac:chgData name="Harris, Wyatt J Lt Col USAF USAFA DF/DFAS" userId="768bfb95-c272-4014-8fa2-010c15306053" providerId="ADAL" clId="{95571437-1CDD-49A9-9F44-9267EE8F1204}" dt="2026-01-07T05:09:13.639" v="125" actId="27636"/>
          <ac:spMkLst>
            <pc:docMk/>
            <pc:sldMk cId="2462251004" sldId="631"/>
            <ac:spMk id="2" creationId="{7034F0A7-D554-E4B0-6292-F5C5158249C3}"/>
          </ac:spMkLst>
        </pc:spChg>
        <pc:spChg chg="del">
          <ac:chgData name="Harris, Wyatt J Lt Col USAF USAFA DF/DFAS" userId="768bfb95-c272-4014-8fa2-010c15306053" providerId="ADAL" clId="{95571437-1CDD-49A9-9F44-9267EE8F1204}" dt="2026-01-07T05:07:10.792" v="108" actId="478"/>
          <ac:spMkLst>
            <pc:docMk/>
            <pc:sldMk cId="2462251004" sldId="631"/>
            <ac:spMk id="3" creationId="{14E0E422-D4E0-5A52-05F0-76C28C978B89}"/>
          </ac:spMkLst>
        </pc:spChg>
        <pc:spChg chg="add mod">
          <ac:chgData name="Harris, Wyatt J Lt Col USAF USAFA DF/DFAS" userId="768bfb95-c272-4014-8fa2-010c15306053" providerId="ADAL" clId="{95571437-1CDD-49A9-9F44-9267EE8F1204}" dt="2026-01-07T05:08:46.192" v="117" actId="1076"/>
          <ac:spMkLst>
            <pc:docMk/>
            <pc:sldMk cId="2462251004" sldId="631"/>
            <ac:spMk id="5" creationId="{E5A87971-41E0-5540-FE97-FC77E5C7A301}"/>
          </ac:spMkLst>
        </pc:spChg>
        <pc:spChg chg="add mod">
          <ac:chgData name="Harris, Wyatt J Lt Col USAF USAFA DF/DFAS" userId="768bfb95-c272-4014-8fa2-010c15306053" providerId="ADAL" clId="{95571437-1CDD-49A9-9F44-9267EE8F1204}" dt="2026-01-07T05:08:46.192" v="117" actId="1076"/>
          <ac:spMkLst>
            <pc:docMk/>
            <pc:sldMk cId="2462251004" sldId="631"/>
            <ac:spMk id="6" creationId="{5AD56472-1D9F-C242-1649-DDC8A482A6D9}"/>
          </ac:spMkLst>
        </pc:spChg>
        <pc:spChg chg="add mod">
          <ac:chgData name="Harris, Wyatt J Lt Col USAF USAFA DF/DFAS" userId="768bfb95-c272-4014-8fa2-010c15306053" providerId="ADAL" clId="{95571437-1CDD-49A9-9F44-9267EE8F1204}" dt="2026-01-07T05:08:46.192" v="117" actId="1076"/>
          <ac:spMkLst>
            <pc:docMk/>
            <pc:sldMk cId="2462251004" sldId="631"/>
            <ac:spMk id="7" creationId="{B5EA23B4-BE3F-92C6-08F6-A2B6F7487A46}"/>
          </ac:spMkLst>
        </pc:spChg>
        <pc:spChg chg="add mod">
          <ac:chgData name="Harris, Wyatt J Lt Col USAF USAFA DF/DFAS" userId="768bfb95-c272-4014-8fa2-010c15306053" providerId="ADAL" clId="{95571437-1CDD-49A9-9F44-9267EE8F1204}" dt="2026-01-07T05:08:46.192" v="117" actId="1076"/>
          <ac:spMkLst>
            <pc:docMk/>
            <pc:sldMk cId="2462251004" sldId="631"/>
            <ac:spMk id="13" creationId="{C18D5D42-5A3E-3BDA-A8FB-B7F70257658D}"/>
          </ac:spMkLst>
        </pc:spChg>
        <pc:spChg chg="add mod">
          <ac:chgData name="Harris, Wyatt J Lt Col USAF USAFA DF/DFAS" userId="768bfb95-c272-4014-8fa2-010c15306053" providerId="ADAL" clId="{95571437-1CDD-49A9-9F44-9267EE8F1204}" dt="2026-01-07T05:08:46.192" v="117" actId="1076"/>
          <ac:spMkLst>
            <pc:docMk/>
            <pc:sldMk cId="2462251004" sldId="631"/>
            <ac:spMk id="14" creationId="{D4BCCD6A-BF7E-96FF-962B-5B6F197CAC0F}"/>
          </ac:spMkLst>
        </pc:spChg>
        <pc:spChg chg="add mod">
          <ac:chgData name="Harris, Wyatt J Lt Col USAF USAFA DF/DFAS" userId="768bfb95-c272-4014-8fa2-010c15306053" providerId="ADAL" clId="{95571437-1CDD-49A9-9F44-9267EE8F1204}" dt="2026-01-07T05:08:46.192" v="117" actId="1076"/>
          <ac:spMkLst>
            <pc:docMk/>
            <pc:sldMk cId="2462251004" sldId="631"/>
            <ac:spMk id="15" creationId="{3385C466-A2FD-C1D9-B3F0-23C495A2799B}"/>
          </ac:spMkLst>
        </pc:spChg>
        <pc:spChg chg="add mod">
          <ac:chgData name="Harris, Wyatt J Lt Col USAF USAFA DF/DFAS" userId="768bfb95-c272-4014-8fa2-010c15306053" providerId="ADAL" clId="{95571437-1CDD-49A9-9F44-9267EE8F1204}" dt="2026-01-07T05:08:46.192" v="117" actId="1076"/>
          <ac:spMkLst>
            <pc:docMk/>
            <pc:sldMk cId="2462251004" sldId="631"/>
            <ac:spMk id="18" creationId="{E9516E5F-A351-FA6F-93B8-F168572D8034}"/>
          </ac:spMkLst>
        </pc:spChg>
        <pc:spChg chg="add mod">
          <ac:chgData name="Harris, Wyatt J Lt Col USAF USAFA DF/DFAS" userId="768bfb95-c272-4014-8fa2-010c15306053" providerId="ADAL" clId="{95571437-1CDD-49A9-9F44-9267EE8F1204}" dt="2026-01-07T05:08:46.192" v="117" actId="1076"/>
          <ac:spMkLst>
            <pc:docMk/>
            <pc:sldMk cId="2462251004" sldId="631"/>
            <ac:spMk id="19" creationId="{2C370E81-876A-EA69-5EDA-1C367481E934}"/>
          </ac:spMkLst>
        </pc:spChg>
        <pc:spChg chg="mod">
          <ac:chgData name="Harris, Wyatt J Lt Col USAF USAFA DF/DFAS" userId="768bfb95-c272-4014-8fa2-010c15306053" providerId="ADAL" clId="{95571437-1CDD-49A9-9F44-9267EE8F1204}" dt="2026-01-07T05:07:22.476" v="110" actId="20577"/>
          <ac:spMkLst>
            <pc:docMk/>
            <pc:sldMk cId="2462251004" sldId="631"/>
            <ac:spMk id="20" creationId="{FA91C3B2-B850-BB36-002C-CB774B3D108B}"/>
          </ac:spMkLst>
        </pc:spChg>
        <pc:spChg chg="mod">
          <ac:chgData name="Harris, Wyatt J Lt Col USAF USAFA DF/DFAS" userId="768bfb95-c272-4014-8fa2-010c15306053" providerId="ADAL" clId="{95571437-1CDD-49A9-9F44-9267EE8F1204}" dt="2026-01-07T05:07:36.142" v="113" actId="1076"/>
          <ac:spMkLst>
            <pc:docMk/>
            <pc:sldMk cId="2462251004" sldId="631"/>
            <ac:spMk id="24" creationId="{6D5ADF88-307B-E31E-D39D-8B791C193DD0}"/>
          </ac:spMkLst>
        </pc:spChg>
        <pc:spChg chg="mod">
          <ac:chgData name="Harris, Wyatt J Lt Col USAF USAFA DF/DFAS" userId="768bfb95-c272-4014-8fa2-010c15306053" providerId="ADAL" clId="{95571437-1CDD-49A9-9F44-9267EE8F1204}" dt="2026-01-07T05:07:36.142" v="113" actId="1076"/>
          <ac:spMkLst>
            <pc:docMk/>
            <pc:sldMk cId="2462251004" sldId="631"/>
            <ac:spMk id="25" creationId="{C638BB11-B2BD-374B-D667-417412374ECD}"/>
          </ac:spMkLst>
        </pc:spChg>
        <pc:spChg chg="mod">
          <ac:chgData name="Harris, Wyatt J Lt Col USAF USAFA DF/DFAS" userId="768bfb95-c272-4014-8fa2-010c15306053" providerId="ADAL" clId="{95571437-1CDD-49A9-9F44-9267EE8F1204}" dt="2026-01-07T05:08:46.192" v="117" actId="1076"/>
          <ac:spMkLst>
            <pc:docMk/>
            <pc:sldMk cId="2462251004" sldId="631"/>
            <ac:spMk id="27" creationId="{E308CDB1-8475-B022-110A-679789F687BC}"/>
          </ac:spMkLst>
        </pc:spChg>
        <pc:spChg chg="mod">
          <ac:chgData name="Harris, Wyatt J Lt Col USAF USAFA DF/DFAS" userId="768bfb95-c272-4014-8fa2-010c15306053" providerId="ADAL" clId="{95571437-1CDD-49A9-9F44-9267EE8F1204}" dt="2026-01-07T05:07:32.773" v="112" actId="1076"/>
          <ac:spMkLst>
            <pc:docMk/>
            <pc:sldMk cId="2462251004" sldId="631"/>
            <ac:spMk id="28" creationId="{C1E906B3-89AD-EBCA-9E1D-A5236D9234AC}"/>
          </ac:spMkLst>
        </pc:spChg>
        <pc:spChg chg="add mod">
          <ac:chgData name="Harris, Wyatt J Lt Col USAF USAFA DF/DFAS" userId="768bfb95-c272-4014-8fa2-010c15306053" providerId="ADAL" clId="{95571437-1CDD-49A9-9F44-9267EE8F1204}" dt="2026-01-07T05:08:46.192" v="117" actId="1076"/>
          <ac:spMkLst>
            <pc:docMk/>
            <pc:sldMk cId="2462251004" sldId="631"/>
            <ac:spMk id="30" creationId="{93252FA8-3762-887A-BFEF-AA98CD8FF2A2}"/>
          </ac:spMkLst>
        </pc:spChg>
        <pc:spChg chg="mod">
          <ac:chgData name="Harris, Wyatt J Lt Col USAF USAFA DF/DFAS" userId="768bfb95-c272-4014-8fa2-010c15306053" providerId="ADAL" clId="{95571437-1CDD-49A9-9F44-9267EE8F1204}" dt="2026-01-07T05:08:56.597" v="123" actId="14100"/>
          <ac:spMkLst>
            <pc:docMk/>
            <pc:sldMk cId="2462251004" sldId="631"/>
            <ac:spMk id="35" creationId="{165710D4-6BDB-7C7D-CF0E-AE2EDB23DFC8}"/>
          </ac:spMkLst>
        </pc:spChg>
        <pc:grpChg chg="mod">
          <ac:chgData name="Harris, Wyatt J Lt Col USAF USAFA DF/DFAS" userId="768bfb95-c272-4014-8fa2-010c15306053" providerId="ADAL" clId="{95571437-1CDD-49A9-9F44-9267EE8F1204}" dt="2026-01-07T05:07:36.142" v="113" actId="1076"/>
          <ac:grpSpMkLst>
            <pc:docMk/>
            <pc:sldMk cId="2462251004" sldId="631"/>
            <ac:grpSpMk id="23" creationId="{FD117467-A5ED-6733-EDDC-2F9A4EEC05C7}"/>
          </ac:grpSpMkLst>
        </pc:grpChg>
        <pc:grpChg chg="mod">
          <ac:chgData name="Harris, Wyatt J Lt Col USAF USAFA DF/DFAS" userId="768bfb95-c272-4014-8fa2-010c15306053" providerId="ADAL" clId="{95571437-1CDD-49A9-9F44-9267EE8F1204}" dt="2026-01-07T05:07:32.773" v="112" actId="1076"/>
          <ac:grpSpMkLst>
            <pc:docMk/>
            <pc:sldMk cId="2462251004" sldId="631"/>
            <ac:grpSpMk id="26" creationId="{B33175C5-A7DF-119F-5830-EF6F56B96957}"/>
          </ac:grpSpMkLst>
        </pc:grpChg>
      </pc:sldChg>
      <pc:sldChg chg="addSp delSp modSp new mod">
        <pc:chgData name="Harris, Wyatt J Lt Col USAF USAFA DF/DFAS" userId="768bfb95-c272-4014-8fa2-010c15306053" providerId="ADAL" clId="{95571437-1CDD-49A9-9F44-9267EE8F1204}" dt="2026-01-07T05:15:01.607" v="202" actId="113"/>
        <pc:sldMkLst>
          <pc:docMk/>
          <pc:sldMk cId="81232454" sldId="632"/>
        </pc:sldMkLst>
        <pc:spChg chg="mod">
          <ac:chgData name="Harris, Wyatt J Lt Col USAF USAFA DF/DFAS" userId="768bfb95-c272-4014-8fa2-010c15306053" providerId="ADAL" clId="{95571437-1CDD-49A9-9F44-9267EE8F1204}" dt="2026-01-07T05:14:23.310" v="189" actId="20577"/>
          <ac:spMkLst>
            <pc:docMk/>
            <pc:sldMk cId="81232454" sldId="632"/>
            <ac:spMk id="2" creationId="{A3D12950-3A05-46EF-B542-D735B2D230BE}"/>
          </ac:spMkLst>
        </pc:spChg>
        <pc:spChg chg="del">
          <ac:chgData name="Harris, Wyatt J Lt Col USAF USAFA DF/DFAS" userId="768bfb95-c272-4014-8fa2-010c15306053" providerId="ADAL" clId="{95571437-1CDD-49A9-9F44-9267EE8F1204}" dt="2026-01-07T05:14:07.708" v="164" actId="478"/>
          <ac:spMkLst>
            <pc:docMk/>
            <pc:sldMk cId="81232454" sldId="632"/>
            <ac:spMk id="3" creationId="{FEC5A202-CFD4-DC55-11DC-E1C2DC029486}"/>
          </ac:spMkLst>
        </pc:spChg>
        <pc:spChg chg="add mod">
          <ac:chgData name="Harris, Wyatt J Lt Col USAF USAFA DF/DFAS" userId="768bfb95-c272-4014-8fa2-010c15306053" providerId="ADAL" clId="{95571437-1CDD-49A9-9F44-9267EE8F1204}" dt="2026-01-07T05:15:01.607" v="202" actId="113"/>
          <ac:spMkLst>
            <pc:docMk/>
            <pc:sldMk cId="81232454" sldId="632"/>
            <ac:spMk id="5" creationId="{98332529-4478-0FAB-0BD7-3CBE4775BB10}"/>
          </ac:spMkLst>
        </pc:spChg>
      </pc:sldChg>
      <pc:sldChg chg="addSp delSp modSp new mod">
        <pc:chgData name="Harris, Wyatt J Lt Col USAF USAFA DF/DFAS" userId="768bfb95-c272-4014-8fa2-010c15306053" providerId="ADAL" clId="{95571437-1CDD-49A9-9F44-9267EE8F1204}" dt="2026-01-07T05:23:08.100" v="365"/>
        <pc:sldMkLst>
          <pc:docMk/>
          <pc:sldMk cId="3835826654" sldId="633"/>
        </pc:sldMkLst>
        <pc:spChg chg="mod">
          <ac:chgData name="Harris, Wyatt J Lt Col USAF USAFA DF/DFAS" userId="768bfb95-c272-4014-8fa2-010c15306053" providerId="ADAL" clId="{95571437-1CDD-49A9-9F44-9267EE8F1204}" dt="2026-01-07T05:22:21.452" v="354"/>
          <ac:spMkLst>
            <pc:docMk/>
            <pc:sldMk cId="3835826654" sldId="633"/>
            <ac:spMk id="2" creationId="{E5A0C252-C2DA-A462-A234-5DAC1B791948}"/>
          </ac:spMkLst>
        </pc:spChg>
        <pc:spChg chg="del">
          <ac:chgData name="Harris, Wyatt J Lt Col USAF USAFA DF/DFAS" userId="768bfb95-c272-4014-8fa2-010c15306053" providerId="ADAL" clId="{95571437-1CDD-49A9-9F44-9267EE8F1204}" dt="2026-01-07T05:22:17.354" v="352"/>
          <ac:spMkLst>
            <pc:docMk/>
            <pc:sldMk cId="3835826654" sldId="633"/>
            <ac:spMk id="3" creationId="{8C36FE5F-2341-BC60-CADE-73E27A43A6C9}"/>
          </ac:spMkLst>
        </pc:spChg>
        <pc:spChg chg="add del">
          <ac:chgData name="Harris, Wyatt J Lt Col USAF USAFA DF/DFAS" userId="768bfb95-c272-4014-8fa2-010c15306053" providerId="ADAL" clId="{95571437-1CDD-49A9-9F44-9267EE8F1204}" dt="2026-01-07T05:22:10.747" v="351" actId="22"/>
          <ac:spMkLst>
            <pc:docMk/>
            <pc:sldMk cId="3835826654" sldId="633"/>
            <ac:spMk id="6" creationId="{7592763B-C6E4-7382-5918-7FCD56D20B47}"/>
          </ac:spMkLst>
        </pc:spChg>
        <pc:spChg chg="add mod">
          <ac:chgData name="Harris, Wyatt J Lt Col USAF USAFA DF/DFAS" userId="768bfb95-c272-4014-8fa2-010c15306053" providerId="ADAL" clId="{95571437-1CDD-49A9-9F44-9267EE8F1204}" dt="2026-01-07T05:22:38.894" v="363" actId="27636"/>
          <ac:spMkLst>
            <pc:docMk/>
            <pc:sldMk cId="3835826654" sldId="633"/>
            <ac:spMk id="7" creationId="{D08F861C-C7EC-8E7F-313F-326219B8FA2C}"/>
          </ac:spMkLst>
        </pc:spChg>
        <pc:spChg chg="add mod">
          <ac:chgData name="Harris, Wyatt J Lt Col USAF USAFA DF/DFAS" userId="768bfb95-c272-4014-8fa2-010c15306053" providerId="ADAL" clId="{95571437-1CDD-49A9-9F44-9267EE8F1204}" dt="2026-01-07T05:23:08.100" v="365"/>
          <ac:spMkLst>
            <pc:docMk/>
            <pc:sldMk cId="3835826654" sldId="633"/>
            <ac:spMk id="8" creationId="{F91B038C-171D-477F-BBC8-F091DB820556}"/>
          </ac:spMkLst>
        </pc:spChg>
      </pc:sldChg>
      <pc:sldChg chg="addSp delSp modSp new">
        <pc:chgData name="Harris, Wyatt J Lt Col USAF USAFA DF/DFAS" userId="768bfb95-c272-4014-8fa2-010c15306053" providerId="ADAL" clId="{95571437-1CDD-49A9-9F44-9267EE8F1204}" dt="2026-01-07T05:23:24.386" v="370"/>
        <pc:sldMkLst>
          <pc:docMk/>
          <pc:sldMk cId="1108864359" sldId="634"/>
        </pc:sldMkLst>
        <pc:spChg chg="mod">
          <ac:chgData name="Harris, Wyatt J Lt Col USAF USAFA DF/DFAS" userId="768bfb95-c272-4014-8fa2-010c15306053" providerId="ADAL" clId="{95571437-1CDD-49A9-9F44-9267EE8F1204}" dt="2026-01-07T05:23:24.386" v="370"/>
          <ac:spMkLst>
            <pc:docMk/>
            <pc:sldMk cId="1108864359" sldId="634"/>
            <ac:spMk id="2" creationId="{44D93A76-5532-37AE-EE7C-13490C4783DE}"/>
          </ac:spMkLst>
        </pc:spChg>
        <pc:spChg chg="add del mod">
          <ac:chgData name="Harris, Wyatt J Lt Col USAF USAFA DF/DFAS" userId="768bfb95-c272-4014-8fa2-010c15306053" providerId="ADAL" clId="{95571437-1CDD-49A9-9F44-9267EE8F1204}" dt="2026-01-07T05:23:20.044" v="369"/>
          <ac:spMkLst>
            <pc:docMk/>
            <pc:sldMk cId="1108864359" sldId="634"/>
            <ac:spMk id="3" creationId="{2D0732C8-7247-73F1-684A-E06E48B89C7A}"/>
          </ac:spMkLst>
        </pc:spChg>
        <pc:spChg chg="add mod">
          <ac:chgData name="Harris, Wyatt J Lt Col USAF USAFA DF/DFAS" userId="768bfb95-c272-4014-8fa2-010c15306053" providerId="ADAL" clId="{95571437-1CDD-49A9-9F44-9267EE8F1204}" dt="2026-01-07T05:23:13.699" v="368"/>
          <ac:spMkLst>
            <pc:docMk/>
            <pc:sldMk cId="1108864359" sldId="634"/>
            <ac:spMk id="5" creationId="{F91B038C-171D-477F-BBC8-F091DB820556}"/>
          </ac:spMkLst>
        </pc:spChg>
      </pc:sldChg>
      <pc:sldChg chg="modSp new mod">
        <pc:chgData name="Harris, Wyatt J Lt Col USAF USAFA DF/DFAS" userId="768bfb95-c272-4014-8fa2-010c15306053" providerId="ADAL" clId="{95571437-1CDD-49A9-9F44-9267EE8F1204}" dt="2026-01-07T05:24:53.579" v="381"/>
        <pc:sldMkLst>
          <pc:docMk/>
          <pc:sldMk cId="185077053" sldId="635"/>
        </pc:sldMkLst>
        <pc:spChg chg="mod">
          <ac:chgData name="Harris, Wyatt J Lt Col USAF USAFA DF/DFAS" userId="768bfb95-c272-4014-8fa2-010c15306053" providerId="ADAL" clId="{95571437-1CDD-49A9-9F44-9267EE8F1204}" dt="2026-01-07T05:24:53.579" v="381"/>
          <ac:spMkLst>
            <pc:docMk/>
            <pc:sldMk cId="185077053" sldId="635"/>
            <ac:spMk id="2" creationId="{16716A1A-4466-6FF7-1F22-1F76DF0DBE1A}"/>
          </ac:spMkLst>
        </pc:spChg>
        <pc:spChg chg="mod">
          <ac:chgData name="Harris, Wyatt J Lt Col USAF USAFA DF/DFAS" userId="768bfb95-c272-4014-8fa2-010c15306053" providerId="ADAL" clId="{95571437-1CDD-49A9-9F44-9267EE8F1204}" dt="2026-01-07T05:24:45.143" v="380" actId="27636"/>
          <ac:spMkLst>
            <pc:docMk/>
            <pc:sldMk cId="185077053" sldId="635"/>
            <ac:spMk id="3" creationId="{EE797A34-308F-0420-7B78-D19324205C40}"/>
          </ac:spMkLst>
        </pc:spChg>
      </pc:sldChg>
      <pc:sldMasterChg chg="modSp mod">
        <pc:chgData name="Harris, Wyatt J Lt Col USAF USAFA DF/DFAS" userId="768bfb95-c272-4014-8fa2-010c15306053" providerId="ADAL" clId="{95571437-1CDD-49A9-9F44-9267EE8F1204}" dt="2026-01-07T05:09:38.518" v="139" actId="1076"/>
        <pc:sldMasterMkLst>
          <pc:docMk/>
          <pc:sldMasterMk cId="85601226" sldId="2147483660"/>
        </pc:sldMasterMkLst>
        <pc:spChg chg="mod">
          <ac:chgData name="Harris, Wyatt J Lt Col USAF USAFA DF/DFAS" userId="768bfb95-c272-4014-8fa2-010c15306053" providerId="ADAL" clId="{95571437-1CDD-49A9-9F44-9267EE8F1204}" dt="2026-01-07T05:09:38.518" v="139" actId="1076"/>
          <ac:spMkLst>
            <pc:docMk/>
            <pc:sldMasterMk cId="85601226" sldId="2147483660"/>
            <ac:spMk id="8" creationId="{1B2918AF-A31D-A49D-520C-D6A347912BFA}"/>
          </ac:spMkLst>
        </pc:sp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32" tIns="45716" rIns="91432" bIns="45716"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32" tIns="45716" rIns="91432" bIns="45716" rtlCol="0"/>
          <a:lstStyle>
            <a:lvl1pPr algn="r">
              <a:defRPr sz="1200"/>
            </a:lvl1pPr>
          </a:lstStyle>
          <a:p>
            <a:fld id="{94D2EC29-5E9A-49E8-BC12-73FDF6305747}" type="datetimeFigureOut">
              <a:rPr lang="en-US" smtClean="0"/>
              <a:t>1/8/2026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32" tIns="45716" rIns="91432" bIns="45716"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32" tIns="45716" rIns="91432" bIns="4571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32" tIns="45716" rIns="91432" bIns="45716"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32" tIns="45716" rIns="91432" bIns="45716" rtlCol="0" anchor="b"/>
          <a:lstStyle>
            <a:lvl1pPr algn="r">
              <a:defRPr sz="1200"/>
            </a:lvl1pPr>
          </a:lstStyle>
          <a:p>
            <a:fld id="{9EB4C982-825B-414E-ABB9-79AB251390A5}" type="slidenum">
              <a:rPr lang="en-US" smtClean="0"/>
              <a:t>‹#›</a:t>
            </a:fld>
            <a:endParaRPr lang="en-US"/>
          </a:p>
        </p:txBody>
      </p:sp>
    </p:spTree>
    <p:extLst>
      <p:ext uri="{BB962C8B-B14F-4D97-AF65-F5344CB8AC3E}">
        <p14:creationId xmlns:p14="http://schemas.microsoft.com/office/powerpoint/2010/main" val="642321261"/>
      </p:ext>
    </p:extLst>
  </p:cSld>
  <p:clrMap bg1="lt1" tx1="dk1" bg2="lt2" tx2="dk2" accent1="accent1" accent2="accent2" accent3="accent3" accent4="accent4" accent5="accent5" accent6="accent6" hlink="hlink" folHlink="folHlink"/>
  <p:notesStyle>
    <a:lvl1pPr marL="0" algn="l" defTabSz="914315" rtl="0" eaLnBrk="1" latinLnBrk="0" hangingPunct="1">
      <a:defRPr sz="1200" kern="1200">
        <a:solidFill>
          <a:schemeClr val="tx1"/>
        </a:solidFill>
        <a:latin typeface="+mn-lt"/>
        <a:ea typeface="+mn-ea"/>
        <a:cs typeface="+mn-cs"/>
      </a:defRPr>
    </a:lvl1pPr>
    <a:lvl2pPr marL="457158" algn="l" defTabSz="914315" rtl="0" eaLnBrk="1" latinLnBrk="0" hangingPunct="1">
      <a:defRPr sz="1200" kern="1200">
        <a:solidFill>
          <a:schemeClr val="tx1"/>
        </a:solidFill>
        <a:latin typeface="+mn-lt"/>
        <a:ea typeface="+mn-ea"/>
        <a:cs typeface="+mn-cs"/>
      </a:defRPr>
    </a:lvl2pPr>
    <a:lvl3pPr marL="914315" algn="l" defTabSz="914315" rtl="0" eaLnBrk="1" latinLnBrk="0" hangingPunct="1">
      <a:defRPr sz="1200" kern="1200">
        <a:solidFill>
          <a:schemeClr val="tx1"/>
        </a:solidFill>
        <a:latin typeface="+mn-lt"/>
        <a:ea typeface="+mn-ea"/>
        <a:cs typeface="+mn-cs"/>
      </a:defRPr>
    </a:lvl3pPr>
    <a:lvl4pPr marL="1371474" algn="l" defTabSz="914315" rtl="0" eaLnBrk="1" latinLnBrk="0" hangingPunct="1">
      <a:defRPr sz="1200" kern="1200">
        <a:solidFill>
          <a:schemeClr val="tx1"/>
        </a:solidFill>
        <a:latin typeface="+mn-lt"/>
        <a:ea typeface="+mn-ea"/>
        <a:cs typeface="+mn-cs"/>
      </a:defRPr>
    </a:lvl4pPr>
    <a:lvl5pPr marL="1828631" algn="l" defTabSz="914315" rtl="0" eaLnBrk="1" latinLnBrk="0" hangingPunct="1">
      <a:defRPr sz="1200" kern="1200">
        <a:solidFill>
          <a:schemeClr val="tx1"/>
        </a:solidFill>
        <a:latin typeface="+mn-lt"/>
        <a:ea typeface="+mn-ea"/>
        <a:cs typeface="+mn-cs"/>
      </a:defRPr>
    </a:lvl5pPr>
    <a:lvl6pPr marL="2285789" algn="l" defTabSz="914315" rtl="0" eaLnBrk="1" latinLnBrk="0" hangingPunct="1">
      <a:defRPr sz="1200" kern="1200">
        <a:solidFill>
          <a:schemeClr val="tx1"/>
        </a:solidFill>
        <a:latin typeface="+mn-lt"/>
        <a:ea typeface="+mn-ea"/>
        <a:cs typeface="+mn-cs"/>
      </a:defRPr>
    </a:lvl6pPr>
    <a:lvl7pPr marL="2742947" algn="l" defTabSz="914315" rtl="0" eaLnBrk="1" latinLnBrk="0" hangingPunct="1">
      <a:defRPr sz="1200" kern="1200">
        <a:solidFill>
          <a:schemeClr val="tx1"/>
        </a:solidFill>
        <a:latin typeface="+mn-lt"/>
        <a:ea typeface="+mn-ea"/>
        <a:cs typeface="+mn-cs"/>
      </a:defRPr>
    </a:lvl7pPr>
    <a:lvl8pPr marL="3200104" algn="l" defTabSz="914315" rtl="0" eaLnBrk="1" latinLnBrk="0" hangingPunct="1">
      <a:defRPr sz="1200" kern="1200">
        <a:solidFill>
          <a:schemeClr val="tx1"/>
        </a:solidFill>
        <a:latin typeface="+mn-lt"/>
        <a:ea typeface="+mn-ea"/>
        <a:cs typeface="+mn-cs"/>
      </a:defRPr>
    </a:lvl8pPr>
    <a:lvl9pPr marL="3657263" algn="l" defTabSz="914315"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www.google.com/search?q=requirements+tree&amp;sca_esv=760e5d65b7c9552a&amp;rlz=1C1GCEA_enUS1128US1130&amp;sxsrf=AE3TifPQfJyZ2n3yibbMZDmXMRj9QS4kKw%3A1767800144060&amp;ei=UH1eadGsA-GQur8P2rXQ6AE&amp;ved=2ahUKEwiY3onq5PmRAxVnMEQIHffsEisQgK4QegQIARAC&amp;uact=5&amp;oq=explain+System+Requirements+Review+for+spacecraft&amp;gs_lp=Egxnd3Mtd2l6LXNlcnAiMWV4cGxhaW4gU3lzdGVtIFJlcXVpcmVtZW50cyBSZXZpZXcgZm9yIHNwYWNlY3JhZnQyBRAhGKABMgUQIRigATIFECEYoAFI3lZQggxY7lRwBHgBkAEAmAF2oAHEDKoBBDEyLjW4AQPIAQD4AQH4AQKYAhWgAqgNwgIKEAAYsAMY1gQYR8ICChAjGIAEGCcYigXCAgQQIxgnwgIKEAAYgAQYQxiKBcICCBAAGIAEGLEDwgIFEAAYgATCAg4QABiABBixAxiDARiKBcICCxAAGIAEGLEDGIMBwgIGEAAYFhgewgILEAAYgAQYhgMYigXCAggQABiiBBiJBcICCBAAGIAEGKIEwgIFECEYqwKYAwCIBgGQBgiSBwQxMi45oAesUrIHAzguObgHkQ3CBwcxLjEwLjEwyAdCgAgA&amp;sclient=gws-wiz-serp&amp;mstk=AUtExfCMnHpdmmJqO-qCC9604hAhg6UqzgAKCYHgdUsGw-YVnOXFVdASkHFlFKRs6bi39aO4oij96fFDIJUhRfF7eF8OExvgxax3Ogncm71MpsJz7uZKnY0c1EMPZugSXVnM7C5XLYE4riiUIe2xiHI4w8xyA-6umRBfZYxl2VU2ZARV38M&amp;csui=3" TargetMode="External"/><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a:t>
            </a:r>
          </a:p>
          <a:p>
            <a:r>
              <a:rPr lang="en-US" dirty="0"/>
              <a:t>Skills review</a:t>
            </a:r>
          </a:p>
          <a:p>
            <a:r>
              <a:rPr lang="en-US" dirty="0"/>
              <a:t>HW#1 posted</a:t>
            </a:r>
          </a:p>
        </p:txBody>
      </p:sp>
      <p:sp>
        <p:nvSpPr>
          <p:cNvPr id="4" name="Slide Number Placeholder 3"/>
          <p:cNvSpPr>
            <a:spLocks noGrp="1"/>
          </p:cNvSpPr>
          <p:nvPr>
            <p:ph type="sldNum" sz="quarter" idx="5"/>
          </p:nvPr>
        </p:nvSpPr>
        <p:spPr/>
        <p:txBody>
          <a:bodyPr/>
          <a:lstStyle/>
          <a:p>
            <a:fld id="{9EB4C982-825B-414E-ABB9-79AB251390A5}" type="slidenum">
              <a:rPr lang="en-US" smtClean="0"/>
              <a:t>1</a:t>
            </a:fld>
            <a:endParaRPr lang="en-US"/>
          </a:p>
        </p:txBody>
      </p:sp>
    </p:spTree>
    <p:extLst>
      <p:ext uri="{BB962C8B-B14F-4D97-AF65-F5344CB8AC3E}">
        <p14:creationId xmlns:p14="http://schemas.microsoft.com/office/powerpoint/2010/main" val="4662042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World War II, the Soviet Union undertook one of the most ambitious reverse-engineering efforts in aviation history: the copying of the American </a:t>
            </a:r>
            <a:r>
              <a:rPr lang="en-US" b="1" dirty="0"/>
              <a:t>Boeing B-29 Superfortress</a:t>
            </a:r>
            <a:r>
              <a:rPr lang="en-US" dirty="0"/>
              <a:t>, which led to the creation of the </a:t>
            </a:r>
            <a:r>
              <a:rPr lang="en-US" b="1" dirty="0"/>
              <a:t>Tupolev Tu-4</a:t>
            </a:r>
            <a:r>
              <a:rPr lang="en-US" dirty="0"/>
              <a:t>.</a:t>
            </a:r>
          </a:p>
          <a:p>
            <a:r>
              <a:rPr lang="en-US" b="1" dirty="0"/>
              <a:t>The Context: Why the Soviets Wanted the B-29</a:t>
            </a:r>
          </a:p>
          <a:p>
            <a:r>
              <a:rPr lang="en-US" dirty="0"/>
              <a:t>By the end of WWII, the United States had demonstrated the unmatched capability of the B-29—especially with its long range, pressurized cabin, and ability to carry nuclear bombs. The USSR, while rapidly developing its aviation industry, lacked a comparable long-range strategic bomber.</a:t>
            </a:r>
          </a:p>
          <a:p>
            <a:r>
              <a:rPr lang="en-US" dirty="0"/>
              <a:t>In 1944, several </a:t>
            </a:r>
            <a:r>
              <a:rPr lang="en-US" b="1" dirty="0"/>
              <a:t>B-29s made emergency landings in Soviet-controlled territory</a:t>
            </a:r>
            <a:r>
              <a:rPr lang="en-US" dirty="0"/>
              <a:t> after bombing missions over Japan. According to the USSR's neutrality agreement with Japan, the Soviets were supposed to intern both the planes and crews. They did intern the crews (eventually repatriated in 1945), but </a:t>
            </a:r>
            <a:r>
              <a:rPr lang="en-US" b="1" dirty="0"/>
              <a:t>they kept the planes</a:t>
            </a:r>
            <a:r>
              <a:rPr lang="en-US" dirty="0"/>
              <a:t>.</a:t>
            </a:r>
          </a:p>
          <a:p>
            <a:r>
              <a:rPr lang="en-US" b="1" dirty="0"/>
              <a:t>Stalin's Orders: Copy It Exactly</a:t>
            </a:r>
          </a:p>
          <a:p>
            <a:r>
              <a:rPr lang="en-US" dirty="0"/>
              <a:t>Joseph Stalin personally ordered that the B-29 be </a:t>
            </a:r>
            <a:r>
              <a:rPr lang="en-US" b="1" dirty="0"/>
              <a:t>copied down to the rivet</a:t>
            </a:r>
            <a:r>
              <a:rPr lang="en-US" dirty="0"/>
              <a:t>. The effort was code-named </a:t>
            </a:r>
            <a:r>
              <a:rPr lang="en-US" b="1" dirty="0"/>
              <a:t>“Project B”</a:t>
            </a:r>
            <a:r>
              <a:rPr lang="en-US" dirty="0"/>
              <a:t> and assigned to </a:t>
            </a:r>
            <a:r>
              <a:rPr lang="en-US" b="1" dirty="0"/>
              <a:t>Andrei Tupolev</a:t>
            </a:r>
            <a:r>
              <a:rPr lang="en-US" dirty="0"/>
              <a:t>, a top Soviet aircraft designer.</a:t>
            </a:r>
          </a:p>
          <a:p>
            <a:r>
              <a:rPr lang="en-US" dirty="0"/>
              <a:t>Soviet engineers faced massive challenges:</a:t>
            </a:r>
          </a:p>
          <a:p>
            <a:r>
              <a:rPr lang="en-US" b="1" dirty="0"/>
              <a:t>All parts were in imperial units</a:t>
            </a:r>
            <a:r>
              <a:rPr lang="en-US" dirty="0"/>
              <a:t>—the USSR used the metric system.</a:t>
            </a:r>
          </a:p>
          <a:p>
            <a:r>
              <a:rPr lang="en-US" b="1" dirty="0"/>
              <a:t>Materials and manufacturing methods differed</a:t>
            </a:r>
            <a:r>
              <a:rPr lang="en-US" dirty="0"/>
              <a:t>—Soviets often had to create substitutes for American alloys, rivets, and wiring.</a:t>
            </a:r>
          </a:p>
          <a:p>
            <a:r>
              <a:rPr lang="en-US" dirty="0"/>
              <a:t>Some parts, like the </a:t>
            </a:r>
            <a:r>
              <a:rPr lang="en-US" b="1" dirty="0"/>
              <a:t>central fire control system</a:t>
            </a:r>
            <a:r>
              <a:rPr lang="en-US" dirty="0"/>
              <a:t> or </a:t>
            </a:r>
            <a:r>
              <a:rPr lang="en-US" b="1" dirty="0"/>
              <a:t>pressurization components</a:t>
            </a:r>
            <a:r>
              <a:rPr lang="en-US" dirty="0"/>
              <a:t>, were so advanced they had to be replicated from scratch.</a:t>
            </a:r>
          </a:p>
          <a:p>
            <a:r>
              <a:rPr lang="en-US" b="1" dirty="0"/>
              <a:t>Remarkable Success: The Tu-4</a:t>
            </a:r>
          </a:p>
          <a:p>
            <a:r>
              <a:rPr lang="en-US" dirty="0"/>
              <a:t>Despite the technical hurdles, </a:t>
            </a:r>
            <a:r>
              <a:rPr lang="en-US" b="1" dirty="0"/>
              <a:t>in just three years</a:t>
            </a:r>
            <a:r>
              <a:rPr lang="en-US" dirty="0"/>
              <a:t>, the Soviets unveiled the </a:t>
            </a:r>
            <a:r>
              <a:rPr lang="en-US" b="1" dirty="0"/>
              <a:t>Tu-4</a:t>
            </a:r>
            <a:r>
              <a:rPr lang="en-US" dirty="0"/>
              <a:t> in 1947. It looked nearly identical to the B-29, and in fact, during a flyover at the 1947 Tushino Air Show, </a:t>
            </a:r>
            <a:r>
              <a:rPr lang="en-US" b="1" dirty="0"/>
              <a:t>Western observers thought they were captured B-29s—until they noticed there were three of them.</a:t>
            </a:r>
            <a:endParaRPr lang="en-US" dirty="0"/>
          </a:p>
          <a:p>
            <a:r>
              <a:rPr lang="en-US" dirty="0"/>
              <a:t>While not a perfect replica—weight and performance slightly differed due to Soviet adaptations—the Tu-4 was a </a:t>
            </a:r>
            <a:r>
              <a:rPr lang="en-US" b="1" dirty="0"/>
              <a:t>strategic game-changer</a:t>
            </a:r>
            <a:r>
              <a:rPr lang="en-US" dirty="0"/>
              <a:t>. It </a:t>
            </a:r>
            <a:r>
              <a:rPr lang="en-US" b="1" dirty="0"/>
              <a:t>gave the USSR a platform capable of delivering nuclear weapons to the U.S. mainland</a:t>
            </a:r>
            <a:r>
              <a:rPr lang="en-US" dirty="0"/>
              <a:t>, closing a critical gap in Cold War military balance.</a:t>
            </a:r>
          </a:p>
          <a:p>
            <a:r>
              <a:rPr lang="en-US" b="1" dirty="0"/>
              <a:t>Legacy</a:t>
            </a:r>
          </a:p>
          <a:p>
            <a:r>
              <a:rPr lang="en-US" dirty="0"/>
              <a:t>The Tu-4 never saw combat but was a cornerstone of early Soviet nuclear strategy.</a:t>
            </a:r>
          </a:p>
          <a:p>
            <a:r>
              <a:rPr lang="en-US" dirty="0"/>
              <a:t>It laid the groundwork for future Soviet bombers, including the </a:t>
            </a:r>
            <a:r>
              <a:rPr lang="en-US" b="1" dirty="0"/>
              <a:t>Tu-16</a:t>
            </a:r>
            <a:r>
              <a:rPr lang="en-US" dirty="0"/>
              <a:t> and </a:t>
            </a:r>
            <a:r>
              <a:rPr lang="en-US" b="1" dirty="0"/>
              <a:t>Tu-95</a:t>
            </a:r>
            <a:r>
              <a:rPr lang="en-US" dirty="0"/>
              <a:t>.</a:t>
            </a:r>
          </a:p>
          <a:p>
            <a:r>
              <a:rPr lang="en-US" dirty="0"/>
              <a:t>The operation remains a striking example of reverse engineering at national scale.</a:t>
            </a:r>
          </a:p>
          <a:p>
            <a:r>
              <a:rPr lang="en-US" dirty="0"/>
              <a:t>In a twist of irony, the </a:t>
            </a:r>
            <a:r>
              <a:rPr lang="en-US" b="1" dirty="0"/>
              <a:t>B-29 was the world’s most advanced bomber in 1945</a:t>
            </a:r>
            <a:r>
              <a:rPr lang="en-US" dirty="0"/>
              <a:t>—and by 1947, </a:t>
            </a:r>
            <a:r>
              <a:rPr lang="en-US" b="1" dirty="0"/>
              <a:t>its clone was flying for its greatest rival.</a:t>
            </a:r>
          </a:p>
          <a:p>
            <a:endParaRPr lang="en-US" b="1" dirty="0"/>
          </a:p>
          <a:p>
            <a:endParaRPr lang="en-US" b="1" dirty="0"/>
          </a:p>
          <a:p>
            <a:r>
              <a:rPr lang="en-US" dirty="0"/>
              <a:t>Stalin’s demand for an </a:t>
            </a:r>
            <a:r>
              <a:rPr lang="en-US" b="1" dirty="0"/>
              <a:t>exact copy of the B-29</a:t>
            </a:r>
            <a:r>
              <a:rPr lang="en-US" dirty="0"/>
              <a:t> was one of the most defining—and paradoxical—directives in the Tu-4 program. His insistence went far beyond the usual military requirement of “matching capabilities” and became a kind of </a:t>
            </a:r>
            <a:r>
              <a:rPr lang="en-US" b="1" dirty="0"/>
              <a:t>political and psychological mandate</a:t>
            </a:r>
            <a:r>
              <a:rPr lang="en-US" dirty="0"/>
              <a:t> for Soviet industry.</a:t>
            </a:r>
          </a:p>
          <a:p>
            <a:r>
              <a:rPr lang="en-US" b="1" dirty="0"/>
              <a:t>🪖 Why Stalin Wanted an Exact Copy</a:t>
            </a:r>
          </a:p>
          <a:p>
            <a:r>
              <a:rPr lang="en-US" b="1" dirty="0"/>
              <a:t>1. Time Pressure</a:t>
            </a:r>
          </a:p>
          <a:p>
            <a:r>
              <a:rPr lang="en-US" dirty="0"/>
              <a:t>By 1944–45, Stalin knew the U.S. had a bomber that could deliver nuclear weapons over intercontinental distances—something the USSR did </a:t>
            </a:r>
            <a:r>
              <a:rPr lang="en-US" b="1" dirty="0"/>
              <a:t>not</a:t>
            </a:r>
            <a:r>
              <a:rPr lang="en-US" dirty="0"/>
              <a:t> have. Developing an indigenous design from scratch would take 5–10 years. Reverse engineering could cut that to 2–3 years.</a:t>
            </a:r>
          </a:p>
          <a:p>
            <a:r>
              <a:rPr lang="en-US" b="1" dirty="0"/>
              <a:t>2. Proof of Soviet Capability</a:t>
            </a:r>
          </a:p>
          <a:p>
            <a:r>
              <a:rPr lang="en-US" dirty="0"/>
              <a:t>The exact-copy order was partly a </a:t>
            </a:r>
            <a:r>
              <a:rPr lang="en-US" b="1" dirty="0"/>
              <a:t>propaganda tool</a:t>
            </a:r>
            <a:r>
              <a:rPr lang="en-US" dirty="0"/>
              <a:t>. If the Soviets could reproduce the most advanced bomber in the world “down to the last rivet,” it would demonstrate to the world—and to Soviet citizens—that the USSR’s industry could match American technological achievements.</a:t>
            </a:r>
          </a:p>
          <a:p>
            <a:r>
              <a:rPr lang="en-US" b="1" dirty="0"/>
              <a:t>3. Avoiding Design Compromises</a:t>
            </a:r>
          </a:p>
          <a:p>
            <a:r>
              <a:rPr lang="en-US" dirty="0"/>
              <a:t>Stalin was deeply suspicious of engineers “improving” on foreign designs. In his eyes, any deviation might slow the program or reduce performance. Exact copying eliminated </a:t>
            </a:r>
            <a:r>
              <a:rPr lang="en-US" b="1" dirty="0"/>
              <a:t>creative risk</a:t>
            </a:r>
            <a:r>
              <a:rPr lang="en-US" dirty="0"/>
              <a:t> and kept the focus on </a:t>
            </a:r>
            <a:r>
              <a:rPr lang="en-US" b="1" dirty="0"/>
              <a:t>proven success</a:t>
            </a:r>
            <a:r>
              <a:rPr lang="en-US" dirty="0"/>
              <a:t>.</a:t>
            </a:r>
          </a:p>
          <a:p>
            <a:r>
              <a:rPr lang="en-US" b="1" dirty="0"/>
              <a:t>🛠 What "Exact Copy" Meant in Practice</a:t>
            </a:r>
          </a:p>
          <a:p>
            <a:r>
              <a:rPr lang="en-US" dirty="0"/>
              <a:t>When Stalin met with Tupolev, he gave instructions that were famously blunt:</a:t>
            </a:r>
          </a:p>
          <a:p>
            <a:r>
              <a:rPr lang="en-US" i="1" dirty="0"/>
              <a:t>"Make it exactly the same. Even the defects must be copied."</a:t>
            </a:r>
            <a:endParaRPr lang="en-US" dirty="0"/>
          </a:p>
          <a:p>
            <a:r>
              <a:rPr lang="en-US" dirty="0"/>
              <a:t>This meant:</a:t>
            </a:r>
          </a:p>
          <a:p>
            <a:r>
              <a:rPr lang="en-US" b="1" dirty="0"/>
              <a:t>No aerodynamic “improvements”</a:t>
            </a:r>
            <a:r>
              <a:rPr lang="en-US" dirty="0"/>
              <a:t> (even though Soviet engineers were tempted to tweak wing profiles and control surfaces).</a:t>
            </a:r>
          </a:p>
          <a:p>
            <a:r>
              <a:rPr lang="en-US" b="1" dirty="0"/>
              <a:t>Same dimensions, shape, and systems layout</a:t>
            </a:r>
            <a:r>
              <a:rPr lang="en-US" dirty="0"/>
              <a:t>—no resizing for metric tools unless absolutely unavoidable.</a:t>
            </a:r>
          </a:p>
          <a:p>
            <a:r>
              <a:rPr lang="en-US" b="1" dirty="0"/>
              <a:t>Even minor design quirks</a:t>
            </a:r>
            <a:r>
              <a:rPr lang="en-US" dirty="0"/>
              <a:t>—like the arrangement of gun turrets—had to be replicated.</a:t>
            </a:r>
          </a:p>
          <a:p>
            <a:r>
              <a:rPr lang="en-US" dirty="0"/>
              <a:t>This frustrated engineers, because they </a:t>
            </a:r>
            <a:r>
              <a:rPr lang="en-US" b="1" dirty="0"/>
              <a:t>already knew</a:t>
            </a:r>
            <a:r>
              <a:rPr lang="en-US" dirty="0"/>
              <a:t> that some American solutions weren’t optimal for Soviet manufacturing or materials.</a:t>
            </a:r>
          </a:p>
          <a:p>
            <a:r>
              <a:rPr lang="en-US" b="1" dirty="0"/>
              <a:t>⚠️ Engineering Consequences</a:t>
            </a:r>
          </a:p>
          <a:p>
            <a:r>
              <a:rPr lang="en-US" b="1" dirty="0"/>
              <a:t>Imperial-to-Metric Clash</a:t>
            </a:r>
            <a:br>
              <a:rPr lang="en-US" dirty="0"/>
            </a:br>
            <a:r>
              <a:rPr lang="en-US" dirty="0"/>
              <a:t>The “exact copy” rule meant they couldn’t freely choose metric equivalents—they had to match the original dimensions and tolerances, forcing them to build </a:t>
            </a:r>
            <a:r>
              <a:rPr lang="en-US" b="1" dirty="0"/>
              <a:t>nonstandard parts</a:t>
            </a:r>
            <a:r>
              <a:rPr lang="en-US" dirty="0"/>
              <a:t> for the first time in Soviet aviation.</a:t>
            </a:r>
          </a:p>
          <a:p>
            <a:r>
              <a:rPr lang="en-US" b="1" dirty="0"/>
              <a:t>Reproducing Known Flaws</a:t>
            </a:r>
            <a:br>
              <a:rPr lang="en-US" dirty="0"/>
            </a:br>
            <a:r>
              <a:rPr lang="en-US" dirty="0"/>
              <a:t>If the B-29 had a maintenance nuisance, the Tu-4 inherited it. For example, some access hatches and equipment placements that American crews disliked were </a:t>
            </a:r>
            <a:r>
              <a:rPr lang="en-US" b="1" dirty="0"/>
              <a:t>deliberately replicated</a:t>
            </a:r>
            <a:r>
              <a:rPr lang="en-US" dirty="0"/>
              <a:t>.</a:t>
            </a:r>
          </a:p>
          <a:p>
            <a:r>
              <a:rPr lang="en-US" b="1" dirty="0"/>
              <a:t>Material Substitutions by Stealth</a:t>
            </a:r>
            <a:br>
              <a:rPr lang="en-US" dirty="0"/>
            </a:br>
            <a:r>
              <a:rPr lang="en-US" dirty="0"/>
              <a:t>While outwardly identical, some internal components had to be redesigned to work with Soviet alloys and lubricants, but these were done quietly to avoid violating the spirit of Stalin’s order.</a:t>
            </a:r>
          </a:p>
          <a:p>
            <a:r>
              <a:rPr lang="en-US" b="1" dirty="0"/>
              <a:t>🕵️ Political Dimension</a:t>
            </a:r>
          </a:p>
          <a:p>
            <a:r>
              <a:rPr lang="en-US" dirty="0"/>
              <a:t>Stalin’s insistence was also about </a:t>
            </a:r>
            <a:r>
              <a:rPr lang="en-US" b="1" dirty="0"/>
              <a:t>control</a:t>
            </a:r>
            <a:r>
              <a:rPr lang="en-US" dirty="0"/>
              <a:t>:</a:t>
            </a:r>
          </a:p>
          <a:p>
            <a:r>
              <a:rPr lang="en-US" dirty="0"/>
              <a:t>Tupolev had previously been imprisoned during the purges; this was effectively a test of loyalty.</a:t>
            </a:r>
          </a:p>
          <a:p>
            <a:r>
              <a:rPr lang="en-US" dirty="0"/>
              <a:t>By ordering an exact copy, Stalin could more easily measure “success” and </a:t>
            </a:r>
            <a:r>
              <a:rPr lang="en-US" b="1" dirty="0"/>
              <a:t>punish failure</a:t>
            </a:r>
            <a:r>
              <a:rPr lang="en-US" dirty="0"/>
              <a:t>—a design that differed too much from the B-29 could be seen as defiance.</a:t>
            </a:r>
          </a:p>
          <a:p>
            <a:r>
              <a:rPr lang="en-US" b="1" dirty="0"/>
              <a:t>📜 Outcome</a:t>
            </a:r>
          </a:p>
          <a:p>
            <a:r>
              <a:rPr lang="en-US" dirty="0"/>
              <a:t>By 1947, the Soviets rolled out the Tu-4, so visually identical to the B-29 that </a:t>
            </a:r>
            <a:r>
              <a:rPr lang="en-US" b="1" dirty="0"/>
              <a:t>American observers at the Tushino Air Show initially thought they were looking at captured U.S. bombers</a:t>
            </a:r>
            <a:r>
              <a:rPr lang="en-US" dirty="0"/>
              <a:t>.</a:t>
            </a:r>
            <a:br>
              <a:rPr lang="en-US" dirty="0"/>
            </a:br>
            <a:r>
              <a:rPr lang="en-US" dirty="0"/>
              <a:t>But internally, despite Stalin’s order, the Soviets still had to make </a:t>
            </a:r>
            <a:r>
              <a:rPr lang="en-US" b="1" dirty="0"/>
              <a:t>hundreds of micro-adjustments</a:t>
            </a:r>
            <a:r>
              <a:rPr lang="en-US" dirty="0"/>
              <a:t> because of materials, tooling, and manufacturing realities.</a:t>
            </a:r>
          </a:p>
          <a:p>
            <a:endParaRPr lang="en-US" dirty="0"/>
          </a:p>
          <a:p>
            <a:endParaRPr lang="en-US" dirty="0"/>
          </a:p>
        </p:txBody>
      </p:sp>
      <p:sp>
        <p:nvSpPr>
          <p:cNvPr id="4" name="Slide Number Placeholder 3"/>
          <p:cNvSpPr>
            <a:spLocks noGrp="1"/>
          </p:cNvSpPr>
          <p:nvPr>
            <p:ph type="sldNum" sz="quarter" idx="5"/>
          </p:nvPr>
        </p:nvSpPr>
        <p:spPr/>
        <p:txBody>
          <a:bodyPr/>
          <a:lstStyle/>
          <a:p>
            <a:fld id="{9EB4C982-825B-414E-ABB9-79AB251390A5}" type="slidenum">
              <a:rPr lang="en-US" smtClean="0"/>
              <a:t>3</a:t>
            </a:fld>
            <a:endParaRPr lang="en-US"/>
          </a:p>
        </p:txBody>
      </p:sp>
    </p:spTree>
    <p:extLst>
      <p:ext uri="{BB962C8B-B14F-4D97-AF65-F5344CB8AC3E}">
        <p14:creationId xmlns:p14="http://schemas.microsoft.com/office/powerpoint/2010/main" val="40520913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China has a long and well-documented history of reverse engineering foreign military systems, and it’s been a core part of how the People’s Liberation Army (PLA) rapidly modernized its capabilities over the last several decades. This practice has involved everything from opportunistic capture of hardware to acquisition via trade, espionage, and technology transfer under civilian or commercial cover.</a:t>
            </a:r>
          </a:p>
          <a:p>
            <a:r>
              <a:rPr lang="en-US" dirty="0"/>
              <a:t>I’ll break it down into </a:t>
            </a:r>
            <a:r>
              <a:rPr lang="en-US" b="1" dirty="0"/>
              <a:t>historical context</a:t>
            </a:r>
            <a:r>
              <a:rPr lang="en-US" dirty="0"/>
              <a:t>, </a:t>
            </a:r>
            <a:r>
              <a:rPr lang="en-US" b="1" dirty="0"/>
              <a:t>methods</a:t>
            </a:r>
            <a:r>
              <a:rPr lang="en-US" dirty="0"/>
              <a:t>, and </a:t>
            </a:r>
            <a:r>
              <a:rPr lang="en-US" b="1" dirty="0"/>
              <a:t>examples</a:t>
            </a:r>
            <a:r>
              <a:rPr lang="en-US" dirty="0"/>
              <a:t>, then cover </a:t>
            </a:r>
            <a:r>
              <a:rPr lang="en-US" b="1" dirty="0"/>
              <a:t>impacts and limitations</a:t>
            </a:r>
            <a:r>
              <a:rPr lang="en-US" dirty="0"/>
              <a:t>.</a:t>
            </a:r>
          </a:p>
          <a:p>
            <a:r>
              <a:rPr lang="en-US" b="1" dirty="0"/>
              <a:t>1. Historical Context</a:t>
            </a:r>
          </a:p>
          <a:p>
            <a:r>
              <a:rPr lang="en-US" b="1" dirty="0"/>
              <a:t>Post–Korean War through the Cold War</a:t>
            </a:r>
            <a:r>
              <a:rPr lang="en-US" dirty="0"/>
              <a:t> – China’s early military technology base was largely Soviet-supplied. After the Sino-Soviet split (early 1960s), China continued copying Soviet systems, often with incomplete technical data, forcing them to “fill in the gaps” through domestic R&amp;D.</a:t>
            </a:r>
          </a:p>
          <a:p>
            <a:r>
              <a:rPr lang="en-US" b="1" dirty="0"/>
              <a:t>Late 1970s–1980s</a:t>
            </a:r>
            <a:r>
              <a:rPr lang="en-US" dirty="0"/>
              <a:t> – With normalization of U.S.–China relations, China got access to some Western technology (aircraft avionics, artillery fire-control, etc.) through commercial deals and joint projects, many of which were later leveraged into indigenous designs.</a:t>
            </a:r>
          </a:p>
          <a:p>
            <a:r>
              <a:rPr lang="en-US" b="1" dirty="0"/>
              <a:t>1990s onward</a:t>
            </a:r>
            <a:r>
              <a:rPr lang="en-US" dirty="0"/>
              <a:t> – After the 1989 Tiananmen sanctions and collapse of the Soviet Union, China relied heavily on imported Russian weapons—fighter jets, surface-to-air missiles, submarines—and then domestically reproduced them.</a:t>
            </a:r>
          </a:p>
          <a:p>
            <a:r>
              <a:rPr lang="en-US" b="1" dirty="0"/>
              <a:t>2000s–Present</a:t>
            </a:r>
            <a:r>
              <a:rPr lang="en-US" dirty="0"/>
              <a:t> – Rapid advances in China’s industrial base, plus cyber-espionage, have made reverse engineering faster, more precise, and more integrated with indigenous innovation.</a:t>
            </a:r>
          </a:p>
          <a:p>
            <a:r>
              <a:rPr lang="en-US" b="1" dirty="0"/>
              <a:t>2. Methods Used</a:t>
            </a:r>
          </a:p>
          <a:p>
            <a:r>
              <a:rPr lang="en-US" b="1" dirty="0"/>
              <a:t>Physical Capture</a:t>
            </a:r>
            <a:endParaRPr lang="en-US" dirty="0"/>
          </a:p>
          <a:p>
            <a:pPr lvl="1"/>
            <a:r>
              <a:rPr lang="en-US" dirty="0"/>
              <a:t>Acquiring wreckage of foreign aircraft, missiles, and drones—either from crashes inside China or from third-party conflicts.</a:t>
            </a:r>
          </a:p>
          <a:p>
            <a:r>
              <a:rPr lang="en-US" b="1" dirty="0"/>
              <a:t>Licensed Production → Unauthorized Derivatives</a:t>
            </a:r>
            <a:endParaRPr lang="en-US" dirty="0"/>
          </a:p>
          <a:p>
            <a:pPr lvl="1"/>
            <a:r>
              <a:rPr lang="en-US" dirty="0"/>
              <a:t>Building systems under license from Russia or others, then producing modified versions without further agreements.</a:t>
            </a:r>
          </a:p>
          <a:p>
            <a:r>
              <a:rPr lang="en-US" b="1" dirty="0"/>
              <a:t>Cyber/Espionage</a:t>
            </a:r>
            <a:endParaRPr lang="en-US" dirty="0"/>
          </a:p>
          <a:p>
            <a:pPr lvl="1"/>
            <a:r>
              <a:rPr lang="en-US" dirty="0"/>
              <a:t>Stealing design files, manufacturing blueprints, and source code for military systems.</a:t>
            </a:r>
          </a:p>
          <a:p>
            <a:r>
              <a:rPr lang="en-US" b="1" dirty="0"/>
              <a:t>Commercial Cover</a:t>
            </a:r>
            <a:endParaRPr lang="en-US" dirty="0"/>
          </a:p>
          <a:p>
            <a:pPr lvl="1"/>
            <a:r>
              <a:rPr lang="en-US" dirty="0"/>
              <a:t>Buying dual-use technologies (composite materials, jet engine components, electronics) under civilian pretenses.</a:t>
            </a:r>
          </a:p>
          <a:p>
            <a:r>
              <a:rPr lang="en-US" b="1" dirty="0"/>
              <a:t>Collaboration with Allies/Partners</a:t>
            </a:r>
            <a:endParaRPr lang="en-US" dirty="0"/>
          </a:p>
          <a:p>
            <a:pPr lvl="1"/>
            <a:r>
              <a:rPr lang="en-US" dirty="0"/>
              <a:t>Obtaining tech indirectly via partner nations with looser export controls.</a:t>
            </a:r>
          </a:p>
          <a:p>
            <a:r>
              <a:rPr lang="en-US" b="1" dirty="0"/>
              <a:t>“Parts First” Reverse Engineering</a:t>
            </a:r>
            <a:endParaRPr lang="en-US" dirty="0"/>
          </a:p>
          <a:p>
            <a:pPr lvl="1"/>
            <a:r>
              <a:rPr lang="en-US" dirty="0"/>
              <a:t>Disassembling imported systems component-by-component to understand metallurgy, electronics, software, and integration.</a:t>
            </a:r>
          </a:p>
          <a:p>
            <a:r>
              <a:rPr lang="en-US" b="1" dirty="0"/>
              <a:t>3. Notable Examples</a:t>
            </a:r>
          </a:p>
          <a:p>
            <a:r>
              <a:rPr lang="en-US" b="1" dirty="0"/>
              <a:t>Aircraft</a:t>
            </a:r>
            <a:endParaRPr lang="en-US" dirty="0"/>
          </a:p>
          <a:p>
            <a:pPr lvl="1"/>
            <a:r>
              <a:rPr lang="en-US" b="1" dirty="0"/>
              <a:t>J-11B</a:t>
            </a:r>
            <a:r>
              <a:rPr lang="en-US" dirty="0"/>
              <a:t> – Reverse-engineered from Russian Su-27SK Flanker after licensed assembly in China; uses Chinese avionics, engines, and weapons.</a:t>
            </a:r>
          </a:p>
          <a:p>
            <a:pPr lvl="1"/>
            <a:r>
              <a:rPr lang="en-US" b="1" dirty="0"/>
              <a:t>J-15 “Flying Shark”</a:t>
            </a:r>
            <a:r>
              <a:rPr lang="en-US" dirty="0"/>
              <a:t> – Based on a prototype Su-33 carrier fighter acquired from Ukraine.</a:t>
            </a:r>
          </a:p>
          <a:p>
            <a:pPr lvl="1"/>
            <a:r>
              <a:rPr lang="en-US" b="1" dirty="0"/>
              <a:t>J-20</a:t>
            </a:r>
            <a:r>
              <a:rPr lang="en-US" dirty="0"/>
              <a:t> – Incorporates design elements reminiscent of U.S. F-22 and F-35, possibly informed by cyber theft of stealth fighter data.</a:t>
            </a:r>
          </a:p>
          <a:p>
            <a:r>
              <a:rPr lang="en-US" b="1" dirty="0"/>
              <a:t>Missiles</a:t>
            </a:r>
            <a:endParaRPr lang="en-US" dirty="0"/>
          </a:p>
          <a:p>
            <a:pPr lvl="1"/>
            <a:r>
              <a:rPr lang="en-US" b="1" dirty="0"/>
              <a:t>HQ-9 SAM</a:t>
            </a:r>
            <a:r>
              <a:rPr lang="en-US" dirty="0"/>
              <a:t> – Often compared to the Russian S-300, with some features resembling U.S. Patriot systems.</a:t>
            </a:r>
          </a:p>
          <a:p>
            <a:pPr lvl="1"/>
            <a:r>
              <a:rPr lang="en-US" b="1" dirty="0"/>
              <a:t>YJ-series anti-ship missiles</a:t>
            </a:r>
            <a:r>
              <a:rPr lang="en-US" dirty="0"/>
              <a:t> – Derived from Soviet/Russian designs, with guidance influenced by Western technology.</a:t>
            </a:r>
          </a:p>
          <a:p>
            <a:r>
              <a:rPr lang="en-US" b="1" dirty="0"/>
              <a:t>Naval Systems</a:t>
            </a:r>
            <a:endParaRPr lang="en-US" dirty="0"/>
          </a:p>
          <a:p>
            <a:pPr lvl="1"/>
            <a:r>
              <a:rPr lang="en-US" b="1" dirty="0"/>
              <a:t>Type 052C/D destroyers</a:t>
            </a:r>
            <a:r>
              <a:rPr lang="en-US" dirty="0"/>
              <a:t> – Integrate phased-array radars and VLS cells reminiscent of U.S./European AEGIS-type systems.</a:t>
            </a:r>
          </a:p>
          <a:p>
            <a:r>
              <a:rPr lang="en-US" b="1" dirty="0"/>
              <a:t>Drones</a:t>
            </a:r>
            <a:endParaRPr lang="en-US" dirty="0"/>
          </a:p>
          <a:p>
            <a:pPr lvl="1"/>
            <a:r>
              <a:rPr lang="en-US" b="1" dirty="0"/>
              <a:t>CH-4 UAV</a:t>
            </a:r>
            <a:r>
              <a:rPr lang="en-US" dirty="0"/>
              <a:t> – Strong visual and performance similarities to U.S. MQ-9 Reaper.</a:t>
            </a:r>
          </a:p>
          <a:p>
            <a:r>
              <a:rPr lang="en-US" b="1" dirty="0"/>
              <a:t>4. Impacts &amp; Limitations</a:t>
            </a:r>
          </a:p>
          <a:p>
            <a:r>
              <a:rPr lang="en-US" b="1" dirty="0"/>
              <a:t>Advantages</a:t>
            </a:r>
            <a:endParaRPr lang="en-US" dirty="0"/>
          </a:p>
          <a:p>
            <a:pPr lvl="1"/>
            <a:r>
              <a:rPr lang="en-US" dirty="0"/>
              <a:t>Rapidly closes technology gaps without full R&amp;D investment.</a:t>
            </a:r>
          </a:p>
          <a:p>
            <a:pPr lvl="1"/>
            <a:r>
              <a:rPr lang="en-US" dirty="0"/>
              <a:t>Allows PLA to field systems with capabilities close to advanced peers faster than starting from scratch.</a:t>
            </a:r>
          </a:p>
          <a:p>
            <a:pPr lvl="1"/>
            <a:r>
              <a:rPr lang="en-US" dirty="0"/>
              <a:t>Reduces reliance on foreign suppliers over time.</a:t>
            </a:r>
          </a:p>
          <a:p>
            <a:r>
              <a:rPr lang="en-US" b="1" dirty="0"/>
              <a:t>Drawbacks</a:t>
            </a:r>
            <a:endParaRPr lang="en-US" dirty="0"/>
          </a:p>
          <a:p>
            <a:pPr lvl="1"/>
            <a:r>
              <a:rPr lang="en-US" dirty="0"/>
              <a:t>Reverse engineering without full design know-how can lead to reliability and performance issues (e.g., Chinese jet engines historically underperform Russian originals).</a:t>
            </a:r>
          </a:p>
          <a:p>
            <a:pPr lvl="1"/>
            <a:r>
              <a:rPr lang="en-US" dirty="0"/>
              <a:t>Creates dependency on continual acquisition of foreign designs for leapfrog advancements.</a:t>
            </a:r>
          </a:p>
          <a:p>
            <a:pPr lvl="1"/>
            <a:r>
              <a:rPr lang="en-US" dirty="0"/>
              <a:t>International trust and IP disputes can hurt legitimate defense exports.</a:t>
            </a:r>
          </a:p>
          <a:p>
            <a:endParaRPr lang="en-US" dirty="0"/>
          </a:p>
        </p:txBody>
      </p:sp>
      <p:sp>
        <p:nvSpPr>
          <p:cNvPr id="4" name="Slide Number Placeholder 3"/>
          <p:cNvSpPr>
            <a:spLocks noGrp="1"/>
          </p:cNvSpPr>
          <p:nvPr>
            <p:ph type="sldNum" sz="quarter" idx="5"/>
          </p:nvPr>
        </p:nvSpPr>
        <p:spPr/>
        <p:txBody>
          <a:bodyPr/>
          <a:lstStyle/>
          <a:p>
            <a:fld id="{9EB4C982-825B-414E-ABB9-79AB251390A5}" type="slidenum">
              <a:rPr lang="en-US" smtClean="0"/>
              <a:t>4</a:t>
            </a:fld>
            <a:endParaRPr lang="en-US"/>
          </a:p>
        </p:txBody>
      </p:sp>
    </p:spTree>
    <p:extLst>
      <p:ext uri="{BB962C8B-B14F-4D97-AF65-F5344CB8AC3E}">
        <p14:creationId xmlns:p14="http://schemas.microsoft.com/office/powerpoint/2010/main" val="16231927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2000" b="1" u="sng" dirty="0"/>
              <a:t>Constraints: </a:t>
            </a:r>
          </a:p>
          <a:p>
            <a:pPr marL="0" indent="0">
              <a:buNone/>
            </a:pPr>
            <a:endParaRPr lang="en-US" sz="2000" b="1" u="sng" dirty="0"/>
          </a:p>
          <a:p>
            <a:pPr marL="0" indent="0">
              <a:buNone/>
            </a:pPr>
            <a:r>
              <a:rPr lang="en-US" sz="2000" b="1" dirty="0"/>
              <a:t>Externally imposed condition, limitation, or restriction that affects the system’s design, development, or operation.</a:t>
            </a:r>
          </a:p>
          <a:p>
            <a:r>
              <a:rPr lang="en-US" sz="2000" dirty="0"/>
              <a:t>Common criteria for constraints:</a:t>
            </a:r>
            <a:endParaRPr lang="en-US" sz="2000" b="1" dirty="0"/>
          </a:p>
          <a:p>
            <a:pPr lvl="1"/>
            <a:r>
              <a:rPr lang="en-US" sz="1800" b="1" dirty="0"/>
              <a:t>Scope </a:t>
            </a:r>
            <a:r>
              <a:rPr lang="en-US" sz="1800" dirty="0"/>
              <a:t>– what are required/expected of the project?</a:t>
            </a:r>
          </a:p>
          <a:p>
            <a:pPr lvl="1"/>
            <a:r>
              <a:rPr lang="en-US" sz="1800" b="1" dirty="0"/>
              <a:t>Time</a:t>
            </a:r>
            <a:r>
              <a:rPr lang="en-US" sz="1800" dirty="0"/>
              <a:t> – when will the project need to be finished?</a:t>
            </a:r>
          </a:p>
          <a:p>
            <a:pPr lvl="1"/>
            <a:r>
              <a:rPr lang="en-US" sz="1800" b="1" dirty="0"/>
              <a:t>Cost </a:t>
            </a:r>
            <a:r>
              <a:rPr lang="en-US" sz="1800" dirty="0"/>
              <a:t>– how much money is provided?</a:t>
            </a:r>
          </a:p>
          <a:p>
            <a:pPr lvl="1"/>
            <a:r>
              <a:rPr lang="en-US" sz="1800" b="1" dirty="0"/>
              <a:t>Quality</a:t>
            </a:r>
            <a:r>
              <a:rPr lang="en-US" sz="1800" dirty="0"/>
              <a:t> – what is the expectation of the outcome? high or just okay?</a:t>
            </a:r>
          </a:p>
          <a:p>
            <a:pPr lvl="1"/>
            <a:r>
              <a:rPr lang="en-US" sz="1800" b="1" dirty="0"/>
              <a:t>Resources</a:t>
            </a:r>
            <a:r>
              <a:rPr lang="en-US" sz="1800" dirty="0"/>
              <a:t> – who are the working team members? what equipment/materials are provided?</a:t>
            </a:r>
          </a:p>
          <a:p>
            <a:pPr lvl="1"/>
            <a:r>
              <a:rPr lang="en-US" sz="1800" b="1" dirty="0"/>
              <a:t>Risk </a:t>
            </a:r>
            <a:r>
              <a:rPr lang="en-US" sz="1800" dirty="0"/>
              <a:t>– what can go wrong with the project and how to deal with them?</a:t>
            </a:r>
          </a:p>
          <a:p>
            <a:endParaRPr lang="en-US" dirty="0"/>
          </a:p>
          <a:p>
            <a:r>
              <a:rPr lang="en-US" b="1" dirty="0"/>
              <a:t>Key Points About Constraints</a:t>
            </a:r>
          </a:p>
          <a:p>
            <a:r>
              <a:rPr lang="en-US" dirty="0"/>
              <a:t>They </a:t>
            </a:r>
            <a:r>
              <a:rPr lang="en-US" b="1" dirty="0"/>
              <a:t>limit design options</a:t>
            </a:r>
            <a:r>
              <a:rPr lang="en-US" dirty="0"/>
              <a:t> but do not necessarily define performance.</a:t>
            </a:r>
          </a:p>
          <a:p>
            <a:r>
              <a:rPr lang="en-US" dirty="0"/>
              <a:t>They are often imposed by </a:t>
            </a:r>
            <a:r>
              <a:rPr lang="en-US" b="1" dirty="0"/>
              <a:t>stakeholders, the environment, regulations, or available resources</a:t>
            </a:r>
            <a:r>
              <a:rPr lang="en-US" dirty="0"/>
              <a:t>.</a:t>
            </a:r>
          </a:p>
          <a:p>
            <a:r>
              <a:rPr lang="en-US" dirty="0"/>
              <a:t>They can apply at any level: mission, subsystem, or component.</a:t>
            </a:r>
          </a:p>
          <a:p>
            <a:endParaRPr lang="en-US" dirty="0"/>
          </a:p>
        </p:txBody>
      </p:sp>
      <p:sp>
        <p:nvSpPr>
          <p:cNvPr id="4" name="Slide Number Placeholder 3"/>
          <p:cNvSpPr>
            <a:spLocks noGrp="1"/>
          </p:cNvSpPr>
          <p:nvPr>
            <p:ph type="sldNum" sz="quarter" idx="5"/>
          </p:nvPr>
        </p:nvSpPr>
        <p:spPr/>
        <p:txBody>
          <a:bodyPr/>
          <a:lstStyle/>
          <a:p>
            <a:fld id="{9EB4C982-825B-414E-ABB9-79AB251390A5}" type="slidenum">
              <a:rPr lang="en-US" smtClean="0"/>
              <a:t>11</a:t>
            </a:fld>
            <a:endParaRPr lang="en-US"/>
          </a:p>
        </p:txBody>
      </p:sp>
    </p:spTree>
    <p:extLst>
      <p:ext uri="{BB962C8B-B14F-4D97-AF65-F5344CB8AC3E}">
        <p14:creationId xmlns:p14="http://schemas.microsoft.com/office/powerpoint/2010/main" val="7365394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97114C8-62D2-58AE-B2FE-2939EE64D5BD}"/>
              </a:ext>
            </a:extLst>
          </p:cNvPr>
          <p:cNvSpPr>
            <a:spLocks noGrp="1" noChangeArrowheads="1"/>
          </p:cNvSpPr>
          <p:nvPr>
            <p:ph type="sldNum" sz="quarter" idx="5"/>
          </p:nvPr>
        </p:nvSpPr>
        <p:spPr>
          <a:ln/>
        </p:spPr>
        <p:txBody>
          <a:bodyPr/>
          <a:lstStyle/>
          <a:p>
            <a:fld id="{5AE107EE-048C-4164-9EB0-12299FD09E04}" type="slidenum">
              <a:rPr lang="en-US" altLang="en-US"/>
              <a:pPr/>
              <a:t>17</a:t>
            </a:fld>
            <a:endParaRPr lang="en-US" altLang="en-US"/>
          </a:p>
        </p:txBody>
      </p:sp>
      <p:sp>
        <p:nvSpPr>
          <p:cNvPr id="1592322" name="Rectangle 2">
            <a:extLst>
              <a:ext uri="{FF2B5EF4-FFF2-40B4-BE49-F238E27FC236}">
                <a16:creationId xmlns:a16="http://schemas.microsoft.com/office/drawing/2014/main" id="{CA7EB57B-5900-AB00-256E-698D5CE6C572}"/>
              </a:ext>
            </a:extLst>
          </p:cNvPr>
          <p:cNvSpPr>
            <a:spLocks noGrp="1" noRot="1" noChangeAspect="1" noChangeArrowheads="1"/>
          </p:cNvSpPr>
          <p:nvPr>
            <p:ph type="sldImg"/>
          </p:nvPr>
        </p:nvSpPr>
        <p:spPr bwMode="auto">
          <a:xfrm>
            <a:off x="1179513" y="695325"/>
            <a:ext cx="4638675" cy="3478213"/>
          </a:xfrm>
          <a:prstGeom prst="rect">
            <a:avLst/>
          </a:prstGeom>
          <a:solidFill>
            <a:srgbClr val="FFFFFF"/>
          </a:solidFill>
          <a:ln>
            <a:solidFill>
              <a:srgbClr val="000000"/>
            </a:solidFill>
            <a:miter lim="800000"/>
            <a:headEnd/>
            <a:tailEnd/>
          </a:ln>
        </p:spPr>
      </p:sp>
      <p:sp>
        <p:nvSpPr>
          <p:cNvPr id="1592323" name="Rectangle 3">
            <a:extLst>
              <a:ext uri="{FF2B5EF4-FFF2-40B4-BE49-F238E27FC236}">
                <a16:creationId xmlns:a16="http://schemas.microsoft.com/office/drawing/2014/main" id="{D8B73A08-31B3-65BF-2A42-4E5CF6635CF9}"/>
              </a:ext>
            </a:extLst>
          </p:cNvPr>
          <p:cNvSpPr>
            <a:spLocks noGrp="1" noChangeArrowheads="1"/>
          </p:cNvSpPr>
          <p:nvPr>
            <p:ph type="body" idx="1"/>
          </p:nvPr>
        </p:nvSpPr>
        <p:spPr bwMode="auto">
          <a:xfrm>
            <a:off x="933450" y="4402138"/>
            <a:ext cx="5130800" cy="4173537"/>
          </a:xfrm>
          <a:prstGeom prst="rect">
            <a:avLst/>
          </a:prstGeom>
          <a:solidFill>
            <a:srgbClr val="FFFFFF"/>
          </a:solidFill>
          <a:ln>
            <a:solidFill>
              <a:srgbClr val="000000"/>
            </a:solidFill>
            <a:miter lim="800000"/>
            <a:headEnd/>
            <a:tailEnd/>
          </a:ln>
        </p:spPr>
        <p:txBody>
          <a:bodyPr/>
          <a:lstStyle/>
          <a:p>
            <a:r>
              <a:rPr lang="en-US" altLang="en-US"/>
              <a:t>Compliance Automation or Ivy Hooks?</a:t>
            </a:r>
          </a:p>
          <a:p>
            <a:r>
              <a:rPr lang="en-US" altLang="en-US"/>
              <a:t>Supplementary reading suggestion: PRODUCT REQUIREMENTS DEVELOPMENT AND MANAGEMENT PROCEDURE; Langley LMS-Pilot Procedure PRDM; Revision: R3 V1; 11/16/04</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A3C6608-45D0-C4C6-0A86-E0EE039D244F}"/>
              </a:ext>
            </a:extLst>
          </p:cNvPr>
          <p:cNvSpPr>
            <a:spLocks noGrp="1" noChangeArrowheads="1"/>
          </p:cNvSpPr>
          <p:nvPr>
            <p:ph type="sldNum" sz="quarter" idx="5"/>
          </p:nvPr>
        </p:nvSpPr>
        <p:spPr>
          <a:ln/>
        </p:spPr>
        <p:txBody>
          <a:bodyPr/>
          <a:lstStyle/>
          <a:p>
            <a:fld id="{8172E97F-00FB-4549-90DD-CE4001798D65}" type="slidenum">
              <a:rPr lang="en-US" altLang="en-US"/>
              <a:pPr/>
              <a:t>18</a:t>
            </a:fld>
            <a:endParaRPr lang="en-US" altLang="en-US"/>
          </a:p>
        </p:txBody>
      </p:sp>
      <p:sp>
        <p:nvSpPr>
          <p:cNvPr id="1594370" name="Rectangle 2">
            <a:extLst>
              <a:ext uri="{FF2B5EF4-FFF2-40B4-BE49-F238E27FC236}">
                <a16:creationId xmlns:a16="http://schemas.microsoft.com/office/drawing/2014/main" id="{4230A269-CEB9-4FB1-B683-0B85838D29E7}"/>
              </a:ext>
            </a:extLst>
          </p:cNvPr>
          <p:cNvSpPr>
            <a:spLocks noGrp="1" noRot="1" noChangeAspect="1" noChangeArrowheads="1"/>
          </p:cNvSpPr>
          <p:nvPr>
            <p:ph type="sldImg"/>
          </p:nvPr>
        </p:nvSpPr>
        <p:spPr bwMode="auto">
          <a:xfrm>
            <a:off x="1179513" y="695325"/>
            <a:ext cx="4638675" cy="3478213"/>
          </a:xfrm>
          <a:prstGeom prst="rect">
            <a:avLst/>
          </a:prstGeom>
          <a:solidFill>
            <a:srgbClr val="FFFFFF"/>
          </a:solidFill>
          <a:ln>
            <a:solidFill>
              <a:srgbClr val="000000"/>
            </a:solidFill>
            <a:miter lim="800000"/>
            <a:headEnd/>
            <a:tailEnd/>
          </a:ln>
        </p:spPr>
      </p:sp>
      <p:sp>
        <p:nvSpPr>
          <p:cNvPr id="1594371" name="Rectangle 3">
            <a:extLst>
              <a:ext uri="{FF2B5EF4-FFF2-40B4-BE49-F238E27FC236}">
                <a16:creationId xmlns:a16="http://schemas.microsoft.com/office/drawing/2014/main" id="{7389B799-D900-CE95-12F0-7278D1F6EF3B}"/>
              </a:ext>
            </a:extLst>
          </p:cNvPr>
          <p:cNvSpPr>
            <a:spLocks noGrp="1" noChangeArrowheads="1"/>
          </p:cNvSpPr>
          <p:nvPr>
            <p:ph type="body" idx="1"/>
          </p:nvPr>
        </p:nvSpPr>
        <p:spPr bwMode="auto">
          <a:xfrm>
            <a:off x="933450" y="4402138"/>
            <a:ext cx="5130800" cy="4173537"/>
          </a:xfrm>
          <a:prstGeom prst="rect">
            <a:avLst/>
          </a:prstGeom>
          <a:solidFill>
            <a:srgbClr val="FFFFFF"/>
          </a:solidFill>
          <a:ln>
            <a:solidFill>
              <a:srgbClr val="000000"/>
            </a:solidFill>
            <a:miter lim="800000"/>
            <a:headEnd/>
            <a:tailEnd/>
          </a:ln>
        </p:spPr>
        <p:txBody>
          <a:bodyPr/>
          <a:lstStyle/>
          <a:p>
            <a:r>
              <a:rPr lang="en-US" altLang="en-US"/>
              <a:t>The aircraft shall meet the operation requirements with a single engine out.</a:t>
            </a:r>
          </a:p>
          <a:p>
            <a:endParaRPr lang="en-US" altLang="en-US"/>
          </a:p>
          <a:p>
            <a:r>
              <a:rPr lang="en-US" altLang="en-US"/>
              <a:t>The system shall allow a change of thread selection during operations.</a:t>
            </a:r>
          </a:p>
          <a:p>
            <a:endParaRPr lang="en-US" altLang="en-US"/>
          </a:p>
          <a:p>
            <a:r>
              <a:rPr lang="en-US" altLang="en-US"/>
              <a:t>The system shall have a lifetime of at least three years.</a:t>
            </a:r>
          </a:p>
          <a:p>
            <a:endParaRPr lang="en-US" altLang="en-US"/>
          </a:p>
          <a:p>
            <a:r>
              <a:rPr lang="en-US" altLang="en-US"/>
              <a:t>The software shall display data as described in ICD 2345 Table 3.1.</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0005115-0FA6-38C6-A034-0EEF5849A805}"/>
              </a:ext>
            </a:extLst>
          </p:cNvPr>
          <p:cNvSpPr>
            <a:spLocks noGrp="1" noChangeArrowheads="1"/>
          </p:cNvSpPr>
          <p:nvPr>
            <p:ph type="sldNum" sz="quarter" idx="5"/>
          </p:nvPr>
        </p:nvSpPr>
        <p:spPr>
          <a:ln/>
        </p:spPr>
        <p:txBody>
          <a:bodyPr/>
          <a:lstStyle/>
          <a:p>
            <a:fld id="{2C51345B-6FBF-4BD1-A612-40863CEAC410}" type="slidenum">
              <a:rPr lang="en-US" altLang="en-US"/>
              <a:pPr/>
              <a:t>19</a:t>
            </a:fld>
            <a:endParaRPr lang="en-US" altLang="en-US"/>
          </a:p>
        </p:txBody>
      </p:sp>
      <p:sp>
        <p:nvSpPr>
          <p:cNvPr id="1596418" name="Rectangle 2">
            <a:extLst>
              <a:ext uri="{FF2B5EF4-FFF2-40B4-BE49-F238E27FC236}">
                <a16:creationId xmlns:a16="http://schemas.microsoft.com/office/drawing/2014/main" id="{EF3699FE-DABF-2D05-0177-28689B2502E7}"/>
              </a:ext>
            </a:extLst>
          </p:cNvPr>
          <p:cNvSpPr>
            <a:spLocks noGrp="1" noRot="1" noChangeAspect="1" noChangeArrowheads="1"/>
          </p:cNvSpPr>
          <p:nvPr>
            <p:ph type="sldImg"/>
          </p:nvPr>
        </p:nvSpPr>
        <p:spPr bwMode="auto">
          <a:xfrm>
            <a:off x="1179513" y="695325"/>
            <a:ext cx="4638675" cy="3478213"/>
          </a:xfrm>
          <a:prstGeom prst="rect">
            <a:avLst/>
          </a:prstGeom>
          <a:solidFill>
            <a:srgbClr val="FFFFFF"/>
          </a:solidFill>
          <a:ln>
            <a:solidFill>
              <a:srgbClr val="000000"/>
            </a:solidFill>
            <a:miter lim="800000"/>
            <a:headEnd/>
            <a:tailEnd/>
          </a:ln>
        </p:spPr>
      </p:sp>
      <p:sp>
        <p:nvSpPr>
          <p:cNvPr id="1596419" name="Rectangle 3">
            <a:extLst>
              <a:ext uri="{FF2B5EF4-FFF2-40B4-BE49-F238E27FC236}">
                <a16:creationId xmlns:a16="http://schemas.microsoft.com/office/drawing/2014/main" id="{4BF0A6AA-9AFB-98E8-B560-44B6920A148B}"/>
              </a:ext>
            </a:extLst>
          </p:cNvPr>
          <p:cNvSpPr>
            <a:spLocks noGrp="1" noChangeArrowheads="1"/>
          </p:cNvSpPr>
          <p:nvPr>
            <p:ph type="body" idx="1"/>
          </p:nvPr>
        </p:nvSpPr>
        <p:spPr bwMode="auto">
          <a:xfrm>
            <a:off x="908050" y="4313238"/>
            <a:ext cx="5130800" cy="4173537"/>
          </a:xfrm>
          <a:prstGeom prst="rect">
            <a:avLst/>
          </a:prstGeom>
          <a:solidFill>
            <a:srgbClr val="FFFFFF"/>
          </a:solidFill>
          <a:ln>
            <a:solidFill>
              <a:srgbClr val="000000"/>
            </a:solidFill>
            <a:miter lim="800000"/>
            <a:headEnd/>
            <a:tailEnd/>
          </a:ln>
        </p:spPr>
        <p:txBody>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F617E1B-0BCC-E56E-DE3A-2246B706D7CE}"/>
              </a:ext>
            </a:extLst>
          </p:cNvPr>
          <p:cNvSpPr>
            <a:spLocks noGrp="1" noChangeArrowheads="1"/>
          </p:cNvSpPr>
          <p:nvPr>
            <p:ph type="sldNum" sz="quarter" idx="5"/>
          </p:nvPr>
        </p:nvSpPr>
        <p:spPr>
          <a:ln/>
        </p:spPr>
        <p:txBody>
          <a:bodyPr/>
          <a:lstStyle/>
          <a:p>
            <a:fld id="{7765C080-0567-4F08-814E-0ECA33070A16}" type="slidenum">
              <a:rPr lang="en-US" altLang="en-US"/>
              <a:pPr/>
              <a:t>20</a:t>
            </a:fld>
            <a:endParaRPr lang="en-US" altLang="en-US"/>
          </a:p>
        </p:txBody>
      </p:sp>
      <p:sp>
        <p:nvSpPr>
          <p:cNvPr id="1598466" name="Rectangle 2">
            <a:extLst>
              <a:ext uri="{FF2B5EF4-FFF2-40B4-BE49-F238E27FC236}">
                <a16:creationId xmlns:a16="http://schemas.microsoft.com/office/drawing/2014/main" id="{F1876559-0FCA-C1C5-463C-4E2039CB87A3}"/>
              </a:ext>
            </a:extLst>
          </p:cNvPr>
          <p:cNvSpPr>
            <a:spLocks noGrp="1" noRot="1" noChangeAspect="1" noChangeArrowheads="1"/>
          </p:cNvSpPr>
          <p:nvPr>
            <p:ph type="sldImg"/>
          </p:nvPr>
        </p:nvSpPr>
        <p:spPr bwMode="auto">
          <a:xfrm>
            <a:off x="1179513" y="695325"/>
            <a:ext cx="4638675" cy="3478213"/>
          </a:xfrm>
          <a:prstGeom prst="rect">
            <a:avLst/>
          </a:prstGeom>
          <a:solidFill>
            <a:srgbClr val="FFFFFF"/>
          </a:solidFill>
          <a:ln>
            <a:solidFill>
              <a:srgbClr val="000000"/>
            </a:solidFill>
            <a:miter lim="800000"/>
            <a:headEnd/>
            <a:tailEnd/>
          </a:ln>
        </p:spPr>
      </p:sp>
      <p:sp>
        <p:nvSpPr>
          <p:cNvPr id="1598467" name="Rectangle 3">
            <a:extLst>
              <a:ext uri="{FF2B5EF4-FFF2-40B4-BE49-F238E27FC236}">
                <a16:creationId xmlns:a16="http://schemas.microsoft.com/office/drawing/2014/main" id="{B8D36E74-EEF8-36D8-794F-83E197F51B25}"/>
              </a:ext>
            </a:extLst>
          </p:cNvPr>
          <p:cNvSpPr>
            <a:spLocks noGrp="1" noChangeArrowheads="1"/>
          </p:cNvSpPr>
          <p:nvPr>
            <p:ph type="body" idx="1"/>
          </p:nvPr>
        </p:nvSpPr>
        <p:spPr bwMode="auto">
          <a:xfrm>
            <a:off x="933450" y="4402138"/>
            <a:ext cx="5130800" cy="4173537"/>
          </a:xfrm>
          <a:prstGeom prst="rect">
            <a:avLst/>
          </a:prstGeom>
          <a:solidFill>
            <a:srgbClr val="FFFFFF"/>
          </a:solidFill>
          <a:ln>
            <a:solidFill>
              <a:srgbClr val="000000"/>
            </a:solidFill>
            <a:miter lim="800000"/>
            <a:headEnd/>
            <a:tailEnd/>
          </a:ln>
        </p:spPr>
        <p:txBody>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Allocation</a:t>
            </a:r>
          </a:p>
          <a:p>
            <a:r>
              <a:rPr lang="en-US" b="1" dirty="0"/>
              <a:t>Purpose:</a:t>
            </a:r>
            <a:endParaRPr lang="en-US" dirty="0"/>
          </a:p>
          <a:p>
            <a:r>
              <a:rPr lang="en-US" dirty="0"/>
              <a:t>Ensure every part of the system has clear, testable requirements derived from top-level mission needs.</a:t>
            </a:r>
          </a:p>
          <a:p>
            <a:r>
              <a:rPr lang="en-US" dirty="0"/>
              <a:t>Maintain </a:t>
            </a:r>
            <a:r>
              <a:rPr lang="en-US" b="1" dirty="0"/>
              <a:t>traceability</a:t>
            </a:r>
            <a:r>
              <a:rPr lang="en-US" dirty="0"/>
              <a:t> from the original mission requirement down to each subsystem specification.</a:t>
            </a:r>
          </a:p>
          <a:p>
            <a:r>
              <a:rPr lang="en-US" b="1" dirty="0"/>
              <a:t>Example in a CubeSat mission:</a:t>
            </a:r>
            <a:endParaRPr lang="en-US" dirty="0"/>
          </a:p>
          <a:p>
            <a:r>
              <a:rPr lang="en-US" b="1" dirty="0"/>
              <a:t>Top-level requirement:</a:t>
            </a:r>
            <a:r>
              <a:rPr lang="en-US" dirty="0"/>
              <a:t> The spacecraft shall capture 10 m resolution multispectral imagery from a 500 km orbit.</a:t>
            </a:r>
          </a:p>
          <a:p>
            <a:r>
              <a:rPr lang="en-US" b="1" dirty="0"/>
              <a:t>Allocated to payload subsystem:</a:t>
            </a:r>
            <a:r>
              <a:rPr lang="en-US" dirty="0"/>
              <a:t> The imaging payload shall provide a focal length of 500 mm and a detector resolution of 1024 × 1024 pixels.</a:t>
            </a:r>
          </a:p>
          <a:p>
            <a:r>
              <a:rPr lang="en-US" b="1" dirty="0"/>
              <a:t>Allocated to ADCS subsystem:</a:t>
            </a:r>
            <a:r>
              <a:rPr lang="en-US" dirty="0"/>
              <a:t> The attitude control system shall maintain pointing stability of ≤ 0.05° during imaging.</a:t>
            </a:r>
          </a:p>
          <a:p>
            <a:r>
              <a:rPr lang="en-US" b="1" dirty="0"/>
              <a:t>Allocated to comms subsystem:</a:t>
            </a:r>
            <a:r>
              <a:rPr lang="en-US" dirty="0"/>
              <a:t> The downlink system shall transmit image data at ≥ 50 Mbps.</a:t>
            </a:r>
          </a:p>
          <a:p>
            <a:endParaRPr lang="en-US" u="sng" dirty="0"/>
          </a:p>
          <a:p>
            <a:r>
              <a:rPr lang="en-US" u="sng" dirty="0"/>
              <a:t>Closure</a:t>
            </a:r>
          </a:p>
          <a:p>
            <a:r>
              <a:rPr lang="en-US" b="1" dirty="0"/>
              <a:t>Purpose:</a:t>
            </a:r>
            <a:endParaRPr lang="en-US" dirty="0"/>
          </a:p>
          <a:p>
            <a:r>
              <a:rPr lang="en-US" dirty="0"/>
              <a:t>Provide documented proof to stakeholders that each requirement is met.</a:t>
            </a:r>
          </a:p>
          <a:p>
            <a:r>
              <a:rPr lang="en-US" dirty="0"/>
              <a:t>Officially mark the requirement as “closed” in the requirements management system.</a:t>
            </a:r>
          </a:p>
          <a:p>
            <a:r>
              <a:rPr lang="en-US" b="1" dirty="0"/>
              <a:t>Example in the same CubeSat mission:</a:t>
            </a:r>
            <a:endParaRPr lang="en-US" dirty="0"/>
          </a:p>
          <a:p>
            <a:r>
              <a:rPr lang="en-US" b="1" dirty="0"/>
              <a:t>Requirement:</a:t>
            </a:r>
            <a:r>
              <a:rPr lang="en-US" dirty="0"/>
              <a:t> The attitude control system shall maintain pointing stability of ≤ 0.05° during imaging.</a:t>
            </a:r>
          </a:p>
          <a:p>
            <a:r>
              <a:rPr lang="en-US" b="1" dirty="0"/>
              <a:t>Closure evidence:</a:t>
            </a:r>
            <a:r>
              <a:rPr lang="en-US" dirty="0"/>
              <a:t> Attitude performance measured in thermal-vacuum pointing tests shows stability of 0.03°, documented in test report ACS-TST-021.</a:t>
            </a:r>
          </a:p>
          <a:p>
            <a:r>
              <a:rPr lang="en-US" dirty="0"/>
              <a:t>Requirement status in the database changes from </a:t>
            </a:r>
            <a:r>
              <a:rPr lang="en-US" i="1" dirty="0"/>
              <a:t>Open</a:t>
            </a:r>
            <a:r>
              <a:rPr lang="en-US" dirty="0"/>
              <a:t> → </a:t>
            </a:r>
            <a:r>
              <a:rPr lang="en-US" i="1" dirty="0"/>
              <a:t>Verified</a:t>
            </a:r>
            <a:r>
              <a:rPr lang="en-US" dirty="0"/>
              <a:t> → </a:t>
            </a:r>
            <a:r>
              <a:rPr lang="en-US" i="1" dirty="0"/>
              <a:t>Closed</a:t>
            </a:r>
            <a:r>
              <a:rPr lang="en-US" dirty="0"/>
              <a:t>.</a:t>
            </a:r>
          </a:p>
          <a:p>
            <a:endParaRPr lang="en-US" u="sng" dirty="0"/>
          </a:p>
        </p:txBody>
      </p:sp>
      <p:sp>
        <p:nvSpPr>
          <p:cNvPr id="4" name="Slide Number Placeholder 3"/>
          <p:cNvSpPr>
            <a:spLocks noGrp="1"/>
          </p:cNvSpPr>
          <p:nvPr>
            <p:ph type="sldNum" sz="quarter" idx="5"/>
          </p:nvPr>
        </p:nvSpPr>
        <p:spPr/>
        <p:txBody>
          <a:bodyPr/>
          <a:lstStyle/>
          <a:p>
            <a:fld id="{9EB4C982-825B-414E-ABB9-79AB251390A5}" type="slidenum">
              <a:rPr lang="en-US" smtClean="0"/>
              <a:t>22</a:t>
            </a:fld>
            <a:endParaRPr lang="en-US"/>
          </a:p>
        </p:txBody>
      </p:sp>
    </p:spTree>
    <p:extLst>
      <p:ext uri="{BB962C8B-B14F-4D97-AF65-F5344CB8AC3E}">
        <p14:creationId xmlns:p14="http://schemas.microsoft.com/office/powerpoint/2010/main" val="36603954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7ED5242-0C0E-5CF7-571F-0305732A6B58}"/>
              </a:ext>
            </a:extLst>
          </p:cNvPr>
          <p:cNvSpPr>
            <a:spLocks noGrp="1" noChangeArrowheads="1"/>
          </p:cNvSpPr>
          <p:nvPr>
            <p:ph type="sldNum" sz="quarter" idx="5"/>
          </p:nvPr>
        </p:nvSpPr>
        <p:spPr>
          <a:ln/>
        </p:spPr>
        <p:txBody>
          <a:bodyPr/>
          <a:lstStyle/>
          <a:p>
            <a:fld id="{0EA6F9D3-69DE-4FC9-B473-A0B449CB3FA9}" type="slidenum">
              <a:rPr lang="en-US" altLang="en-US"/>
              <a:pPr/>
              <a:t>24</a:t>
            </a:fld>
            <a:endParaRPr lang="en-US" altLang="en-US"/>
          </a:p>
        </p:txBody>
      </p:sp>
      <p:sp>
        <p:nvSpPr>
          <p:cNvPr id="1624066" name="Rectangle 2">
            <a:extLst>
              <a:ext uri="{FF2B5EF4-FFF2-40B4-BE49-F238E27FC236}">
                <a16:creationId xmlns:a16="http://schemas.microsoft.com/office/drawing/2014/main" id="{2C828E41-3075-292B-87BE-5D938BFB6820}"/>
              </a:ext>
            </a:extLst>
          </p:cNvPr>
          <p:cNvSpPr>
            <a:spLocks noGrp="1" noRot="1" noChangeAspect="1" noChangeArrowheads="1"/>
          </p:cNvSpPr>
          <p:nvPr>
            <p:ph type="sldImg"/>
          </p:nvPr>
        </p:nvSpPr>
        <p:spPr bwMode="auto">
          <a:xfrm>
            <a:off x="1181100" y="695325"/>
            <a:ext cx="4635500" cy="3476625"/>
          </a:xfrm>
          <a:prstGeom prst="rect">
            <a:avLst/>
          </a:prstGeom>
          <a:solidFill>
            <a:srgbClr val="FFFFFF"/>
          </a:solidFill>
          <a:ln>
            <a:solidFill>
              <a:srgbClr val="000000"/>
            </a:solidFill>
            <a:miter lim="800000"/>
            <a:headEnd/>
            <a:tailEnd/>
          </a:ln>
        </p:spPr>
      </p:sp>
      <p:sp>
        <p:nvSpPr>
          <p:cNvPr id="1624067" name="Rectangle 3">
            <a:extLst>
              <a:ext uri="{FF2B5EF4-FFF2-40B4-BE49-F238E27FC236}">
                <a16:creationId xmlns:a16="http://schemas.microsoft.com/office/drawing/2014/main" id="{A3A4C861-6223-FBF4-518F-65CA7031FC81}"/>
              </a:ext>
            </a:extLst>
          </p:cNvPr>
          <p:cNvSpPr>
            <a:spLocks noGrp="1" noChangeArrowheads="1"/>
          </p:cNvSpPr>
          <p:nvPr>
            <p:ph type="body" idx="1"/>
          </p:nvPr>
        </p:nvSpPr>
        <p:spPr bwMode="auto">
          <a:xfrm>
            <a:off x="933450" y="4403725"/>
            <a:ext cx="5130800" cy="4171950"/>
          </a:xfrm>
          <a:prstGeom prst="rect">
            <a:avLst/>
          </a:prstGeom>
          <a:solidFill>
            <a:srgbClr val="FFFFFF"/>
          </a:solidFill>
          <a:ln>
            <a:solidFill>
              <a:srgbClr val="000000"/>
            </a:solidFill>
            <a:miter lim="800000"/>
            <a:headEnd/>
            <a:tailEnd/>
          </a:ln>
        </p:spPr>
        <p:txBody>
          <a:bodyPr lIns="92958" tIns="46479" rIns="92958" bIns="46479"/>
          <a:lstStyle/>
          <a:p>
            <a:r>
              <a:rPr lang="en-US" altLang="en-US" dirty="0"/>
              <a:t>Definition of SRR</a:t>
            </a:r>
          </a:p>
          <a:p>
            <a:r>
              <a:rPr lang="en-US" dirty="0"/>
              <a:t>A spacecraft System Requirements Review (SRR) is a crucial milestone to confirm all system needs are defined, understood, and achievable before detailed design, ensuring functional, performance, and constraint requirements (cost, schedule, tech readiness) align with program goals, creating a solid foundation for the initial design with minimal risk</a:t>
            </a:r>
            <a:r>
              <a:rPr lang="en-US" sz="1200" b="0" i="0" kern="1200" dirty="0">
                <a:solidFill>
                  <a:schemeClr val="tx1"/>
                </a:solidFill>
                <a:effectLst/>
                <a:latin typeface="+mn-lt"/>
                <a:ea typeface="+mn-ea"/>
                <a:cs typeface="+mn-cs"/>
              </a:rPr>
              <a:t>. It validates that requirements are consistent, testable, traceable, and form a coherent whole (</a:t>
            </a:r>
            <a:r>
              <a:rPr lang="en-US" sz="1200" b="0" i="0" kern="1200" dirty="0">
                <a:solidFill>
                  <a:schemeClr val="tx1"/>
                </a:solidFill>
                <a:effectLst/>
                <a:latin typeface="+mn-lt"/>
                <a:ea typeface="+mn-ea"/>
                <a:cs typeface="+mn-cs"/>
                <a:hlinkClick r:id="rId3"/>
              </a:rPr>
              <a:t>requirements tree</a:t>
            </a:r>
            <a:r>
              <a:rPr lang="en-US" sz="1200" b="0" i="0" kern="1200" dirty="0">
                <a:solidFill>
                  <a:schemeClr val="tx1"/>
                </a:solidFill>
                <a:effectLst/>
                <a:latin typeface="+mn-lt"/>
                <a:ea typeface="+mn-ea"/>
                <a:cs typeface="+mn-cs"/>
              </a:rPr>
              <a:t>) for the spacecraft, agreed upon by the customer and developer. </a:t>
            </a:r>
            <a:endParaRPr lang="en-US"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A718ADD2-E3D5-17AC-CD27-2A11D383E397}"/>
              </a:ext>
            </a:extLst>
          </p:cNvPr>
          <p:cNvSpPr>
            <a:spLocks noGrp="1" noChangeArrowheads="1"/>
          </p:cNvSpPr>
          <p:nvPr>
            <p:ph type="sldNum" sz="quarter" idx="5"/>
          </p:nvPr>
        </p:nvSpPr>
        <p:spPr>
          <a:ln/>
        </p:spPr>
        <p:txBody>
          <a:bodyPr/>
          <a:lstStyle/>
          <a:p>
            <a:fld id="{A27CCBAA-FBFF-4ECD-A375-D83F2C17A4D0}" type="slidenum">
              <a:rPr lang="en-US" altLang="en-US"/>
              <a:pPr/>
              <a:t>25</a:t>
            </a:fld>
            <a:endParaRPr lang="en-US" altLang="en-US"/>
          </a:p>
        </p:txBody>
      </p:sp>
      <p:sp>
        <p:nvSpPr>
          <p:cNvPr id="1638402" name="Rectangle 2">
            <a:extLst>
              <a:ext uri="{FF2B5EF4-FFF2-40B4-BE49-F238E27FC236}">
                <a16:creationId xmlns:a16="http://schemas.microsoft.com/office/drawing/2014/main" id="{2749FBAE-4023-6651-FB26-1CDF98FAD4DA}"/>
              </a:ext>
            </a:extLst>
          </p:cNvPr>
          <p:cNvSpPr>
            <a:spLocks noGrp="1" noRot="1" noChangeAspect="1" noChangeArrowheads="1"/>
          </p:cNvSpPr>
          <p:nvPr>
            <p:ph type="sldImg"/>
          </p:nvPr>
        </p:nvSpPr>
        <p:spPr bwMode="auto">
          <a:xfrm>
            <a:off x="1166813" y="695325"/>
            <a:ext cx="4638675" cy="3478213"/>
          </a:xfrm>
          <a:prstGeom prst="rect">
            <a:avLst/>
          </a:prstGeom>
          <a:solidFill>
            <a:srgbClr val="FFFFFF"/>
          </a:solidFill>
          <a:ln>
            <a:solidFill>
              <a:srgbClr val="000000"/>
            </a:solidFill>
            <a:miter lim="800000"/>
            <a:headEnd/>
            <a:tailEnd/>
          </a:ln>
        </p:spPr>
      </p:sp>
      <p:sp>
        <p:nvSpPr>
          <p:cNvPr id="1638403" name="Rectangle 3">
            <a:extLst>
              <a:ext uri="{FF2B5EF4-FFF2-40B4-BE49-F238E27FC236}">
                <a16:creationId xmlns:a16="http://schemas.microsoft.com/office/drawing/2014/main" id="{8495A4C8-9503-7CE5-9566-46401CBB66B5}"/>
              </a:ext>
            </a:extLst>
          </p:cNvPr>
          <p:cNvSpPr>
            <a:spLocks noGrp="1" noChangeArrowheads="1"/>
          </p:cNvSpPr>
          <p:nvPr>
            <p:ph type="body" idx="1"/>
          </p:nvPr>
        </p:nvSpPr>
        <p:spPr bwMode="auto">
          <a:xfrm>
            <a:off x="933450" y="4402138"/>
            <a:ext cx="5130800" cy="4173537"/>
          </a:xfrm>
          <a:prstGeom prst="rect">
            <a:avLst/>
          </a:prstGeom>
          <a:solidFill>
            <a:srgbClr val="FFFFFF"/>
          </a:solidFill>
          <a:ln>
            <a:solidFill>
              <a:srgbClr val="000000"/>
            </a:solidFill>
            <a:miter lim="800000"/>
            <a:headEnd/>
            <a:tailEnd/>
          </a:ln>
        </p:spPr>
        <p:txBody>
          <a:bodyPr/>
          <a:lstStyle/>
          <a:p>
            <a:r>
              <a:rPr lang="en-US" altLang="en-US"/>
              <a:t>Additional thoughts on requirements validation.</a:t>
            </a:r>
          </a:p>
          <a:p>
            <a:r>
              <a:rPr lang="en-US" altLang="en-US"/>
              <a:t>Source: Goddard Procedures and Guidelines on Systems Engineering; GPG 7120.5; page 16</a:t>
            </a:r>
          </a:p>
          <a:p>
            <a:r>
              <a:rPr lang="en-US" altLang="en-US"/>
              <a:t>During the design phases performance predictions, trade studies, analyses are used to validate that the chosen design meets the requirements, when utilized according to the Operations Concept.</a:t>
            </a:r>
          </a:p>
          <a:p>
            <a:r>
              <a:rPr lang="en-US" altLang="en-US"/>
              <a:t>Validation also establishes requirements tracing to ensure that the higher level requirements flow to a lower level or </a:t>
            </a:r>
            <a:r>
              <a:rPr lang="en-US" altLang="en-US" b="1"/>
              <a:t>child</a:t>
            </a:r>
            <a:r>
              <a:rPr lang="en-US" altLang="en-US"/>
              <a:t> requirement. Requirements validation also makes sure that the lower level requirements have a </a:t>
            </a:r>
            <a:r>
              <a:rPr lang="en-US" altLang="en-US" b="1"/>
              <a:t>parent</a:t>
            </a:r>
            <a:r>
              <a:rPr lang="en-US" altLang="en-US"/>
              <a:t> requirement. </a:t>
            </a:r>
            <a:r>
              <a:rPr lang="en-US" altLang="en-US" b="1"/>
              <a:t>Orphan</a:t>
            </a:r>
            <a:r>
              <a:rPr lang="en-US" altLang="en-US"/>
              <a:t> requirements, ones without a higher level parent, are evaluated to determine if they are needed.</a:t>
            </a:r>
          </a:p>
          <a:p>
            <a:pPr lvl="1"/>
            <a:r>
              <a:rPr lang="en-US" altLang="en-US"/>
              <a:t>a. Requirements shall be validated to assure that the system will meet the Mission Objectives, be capable of performing the Measurement Concept, accommodate the Instrument Concept, and operates as defined in the Operations Concept.</a:t>
            </a:r>
          </a:p>
          <a:p>
            <a:pPr lvl="1"/>
            <a:r>
              <a:rPr lang="en-US" altLang="en-US"/>
              <a:t>b. Each project shall decide on the mechanism for tracking the requirements and who is responsible for the requirements flow and verification.</a:t>
            </a:r>
          </a:p>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spacesuits that Williams and Wilmore wore inside the Boeing Starliner are not compatible with other spacecraft.</a:t>
            </a:r>
            <a:endParaRPr lang="en-US" dirty="0"/>
          </a:p>
        </p:txBody>
      </p:sp>
      <p:sp>
        <p:nvSpPr>
          <p:cNvPr id="4" name="Slide Number Placeholder 3"/>
          <p:cNvSpPr>
            <a:spLocks noGrp="1"/>
          </p:cNvSpPr>
          <p:nvPr>
            <p:ph type="sldNum" sz="quarter" idx="5"/>
          </p:nvPr>
        </p:nvSpPr>
        <p:spPr/>
        <p:txBody>
          <a:bodyPr/>
          <a:lstStyle/>
          <a:p>
            <a:fld id="{9EB4C982-825B-414E-ABB9-79AB251390A5}" type="slidenum">
              <a:rPr lang="en-US" smtClean="0"/>
              <a:t>26</a:t>
            </a:fld>
            <a:endParaRPr lang="en-US"/>
          </a:p>
        </p:txBody>
      </p:sp>
    </p:spTree>
    <p:extLst>
      <p:ext uri="{BB962C8B-B14F-4D97-AF65-F5344CB8AC3E}">
        <p14:creationId xmlns:p14="http://schemas.microsoft.com/office/powerpoint/2010/main" val="20064564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example of requirement and rationale </a:t>
            </a:r>
          </a:p>
        </p:txBody>
      </p:sp>
      <p:sp>
        <p:nvSpPr>
          <p:cNvPr id="4" name="Slide Number Placeholder 3"/>
          <p:cNvSpPr>
            <a:spLocks noGrp="1"/>
          </p:cNvSpPr>
          <p:nvPr>
            <p:ph type="sldNum" sz="quarter" idx="5"/>
          </p:nvPr>
        </p:nvSpPr>
        <p:spPr/>
        <p:txBody>
          <a:bodyPr/>
          <a:lstStyle/>
          <a:p>
            <a:fld id="{9EB4C982-825B-414E-ABB9-79AB251390A5}" type="slidenum">
              <a:rPr lang="en-US" smtClean="0"/>
              <a:t>27</a:t>
            </a:fld>
            <a:endParaRPr lang="en-US"/>
          </a:p>
        </p:txBody>
      </p:sp>
    </p:spTree>
    <p:extLst>
      <p:ext uri="{BB962C8B-B14F-4D97-AF65-F5344CB8AC3E}">
        <p14:creationId xmlns:p14="http://schemas.microsoft.com/office/powerpoint/2010/main" val="24271765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effectLst/>
                <a:latin typeface="-apple-system"/>
              </a:rPr>
              <a:t>verification at each level</a:t>
            </a:r>
          </a:p>
          <a:p>
            <a:pPr algn="l">
              <a:buFont typeface="Arial" panose="020B0604020202020204" pitchFamily="34" charset="0"/>
              <a:buChar char="•"/>
            </a:pPr>
            <a:r>
              <a:rPr lang="en-US" b="0" i="0" dirty="0">
                <a:effectLst/>
                <a:latin typeface="-apple-system"/>
              </a:rPr>
              <a:t>verify complete system at the end</a:t>
            </a:r>
          </a:p>
          <a:p>
            <a:pPr algn="l">
              <a:buFont typeface="Arial" panose="020B0604020202020204" pitchFamily="34" charset="0"/>
              <a:buChar char="•"/>
            </a:pPr>
            <a:r>
              <a:rPr lang="en-US" b="0" i="0" dirty="0">
                <a:effectLst/>
                <a:latin typeface="-apple-system"/>
              </a:rPr>
              <a:t>can’t verify complete system until the system is complete</a:t>
            </a:r>
          </a:p>
          <a:p>
            <a:pPr algn="l">
              <a:buFont typeface="Arial" panose="020B0604020202020204" pitchFamily="34" charset="0"/>
              <a:buChar char="•"/>
            </a:pPr>
            <a:r>
              <a:rPr lang="en-US" b="0" i="0" dirty="0">
                <a:effectLst/>
                <a:latin typeface="-apple-system"/>
              </a:rPr>
              <a:t>need to verify components/subsystems along the way</a:t>
            </a:r>
          </a:p>
          <a:p>
            <a:pPr algn="l"/>
            <a:r>
              <a:rPr lang="en-US" b="0" i="0" dirty="0">
                <a:effectLst/>
                <a:latin typeface="-apple-system"/>
              </a:rPr>
              <a:t>allocation/closure</a:t>
            </a:r>
          </a:p>
          <a:p>
            <a:pPr algn="l"/>
            <a:r>
              <a:rPr lang="en-US" b="0" i="0" dirty="0">
                <a:effectLst/>
                <a:latin typeface="-apple-system"/>
              </a:rPr>
              <a:t>note what’s missing: build the system</a:t>
            </a:r>
          </a:p>
          <a:p>
            <a:endParaRPr lang="en-US" dirty="0"/>
          </a:p>
          <a:p>
            <a:endParaRPr lang="en-US" dirty="0"/>
          </a:p>
        </p:txBody>
      </p:sp>
      <p:sp>
        <p:nvSpPr>
          <p:cNvPr id="4" name="Slide Number Placeholder 3"/>
          <p:cNvSpPr>
            <a:spLocks noGrp="1"/>
          </p:cNvSpPr>
          <p:nvPr>
            <p:ph type="sldNum" sz="quarter" idx="5"/>
          </p:nvPr>
        </p:nvSpPr>
        <p:spPr/>
        <p:txBody>
          <a:bodyPr/>
          <a:lstStyle/>
          <a:p>
            <a:fld id="{9EB4C982-825B-414E-ABB9-79AB251390A5}" type="slidenum">
              <a:rPr lang="en-US" smtClean="0"/>
              <a:t>29</a:t>
            </a:fld>
            <a:endParaRPr lang="en-US"/>
          </a:p>
        </p:txBody>
      </p:sp>
    </p:spTree>
    <p:extLst>
      <p:ext uri="{BB962C8B-B14F-4D97-AF65-F5344CB8AC3E}">
        <p14:creationId xmlns:p14="http://schemas.microsoft.com/office/powerpoint/2010/main" val="401957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6461A-4C02-5AD1-BA3A-A3BDFF823F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D3B445-3434-33FE-FC4D-788911D307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148C21-2BC3-9ED7-B6E9-7313E3DBE1A0}"/>
              </a:ext>
            </a:extLst>
          </p:cNvPr>
          <p:cNvSpPr>
            <a:spLocks noGrp="1"/>
          </p:cNvSpPr>
          <p:nvPr>
            <p:ph type="body" idx="1"/>
          </p:nvPr>
        </p:nvSpPr>
        <p:spPr/>
        <p:txBody>
          <a:bodyPr/>
          <a:lstStyle/>
          <a:p>
            <a:pPr algn="l"/>
            <a:r>
              <a:rPr lang="en-US" b="0" i="0" dirty="0">
                <a:effectLst/>
                <a:latin typeface="-apple-system"/>
              </a:rPr>
              <a:t>verification at each level</a:t>
            </a:r>
          </a:p>
          <a:p>
            <a:pPr algn="l">
              <a:buFont typeface="Arial" panose="020B0604020202020204" pitchFamily="34" charset="0"/>
              <a:buChar char="•"/>
            </a:pPr>
            <a:r>
              <a:rPr lang="en-US" b="0" i="0" dirty="0">
                <a:effectLst/>
                <a:latin typeface="-apple-system"/>
              </a:rPr>
              <a:t>verify complete system at the end</a:t>
            </a:r>
          </a:p>
          <a:p>
            <a:pPr algn="l">
              <a:buFont typeface="Arial" panose="020B0604020202020204" pitchFamily="34" charset="0"/>
              <a:buChar char="•"/>
            </a:pPr>
            <a:r>
              <a:rPr lang="en-US" b="0" i="0" dirty="0">
                <a:effectLst/>
                <a:latin typeface="-apple-system"/>
              </a:rPr>
              <a:t>can’t verify complete system until the system is complete</a:t>
            </a:r>
          </a:p>
          <a:p>
            <a:pPr algn="l">
              <a:buFont typeface="Arial" panose="020B0604020202020204" pitchFamily="34" charset="0"/>
              <a:buChar char="•"/>
            </a:pPr>
            <a:r>
              <a:rPr lang="en-US" b="0" i="0" dirty="0">
                <a:effectLst/>
                <a:latin typeface="-apple-system"/>
              </a:rPr>
              <a:t>need to verify components/subsystems along the way</a:t>
            </a:r>
          </a:p>
          <a:p>
            <a:pPr algn="l"/>
            <a:r>
              <a:rPr lang="en-US" b="0" i="0" dirty="0">
                <a:effectLst/>
                <a:latin typeface="-apple-system"/>
              </a:rPr>
              <a:t>allocation/closure</a:t>
            </a:r>
          </a:p>
          <a:p>
            <a:pPr algn="l"/>
            <a:r>
              <a:rPr lang="en-US" b="0" i="0" dirty="0">
                <a:effectLst/>
                <a:latin typeface="-apple-system"/>
              </a:rPr>
              <a:t>note what’s missing: build the system</a:t>
            </a:r>
          </a:p>
          <a:p>
            <a:endParaRPr lang="en-US" dirty="0"/>
          </a:p>
          <a:p>
            <a:endParaRPr lang="en-US" dirty="0"/>
          </a:p>
        </p:txBody>
      </p:sp>
      <p:sp>
        <p:nvSpPr>
          <p:cNvPr id="4" name="Slide Number Placeholder 3">
            <a:extLst>
              <a:ext uri="{FF2B5EF4-FFF2-40B4-BE49-F238E27FC236}">
                <a16:creationId xmlns:a16="http://schemas.microsoft.com/office/drawing/2014/main" id="{7FEC9153-EF17-423A-43D7-936BB135A929}"/>
              </a:ext>
            </a:extLst>
          </p:cNvPr>
          <p:cNvSpPr>
            <a:spLocks noGrp="1"/>
          </p:cNvSpPr>
          <p:nvPr>
            <p:ph type="sldNum" sz="quarter" idx="5"/>
          </p:nvPr>
        </p:nvSpPr>
        <p:spPr/>
        <p:txBody>
          <a:bodyPr/>
          <a:lstStyle/>
          <a:p>
            <a:fld id="{9EB4C982-825B-414E-ABB9-79AB251390A5}" type="slidenum">
              <a:rPr lang="en-US" smtClean="0"/>
              <a:t>30</a:t>
            </a:fld>
            <a:endParaRPr lang="en-US"/>
          </a:p>
        </p:txBody>
      </p:sp>
    </p:spTree>
    <p:extLst>
      <p:ext uri="{BB962C8B-B14F-4D97-AF65-F5344CB8AC3E}">
        <p14:creationId xmlns:p14="http://schemas.microsoft.com/office/powerpoint/2010/main" val="26687248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GOES-R Series (Geostationary Operational Environmental Satellites-R) is NOAA's advanced fleet of weather satellites, providing high-resolution imagery and data for improved forecasts of severe weather (hurricanes, tornadoes, fires), monitoring of space weather, and real-time lightning mapping, significantly enhancing public safety and economic well-being with faster, more detailed observations from geostationary orbit. The series includes four satellites (GOES-R, -S, -T, -U) launched between 2016 and 2024, with missions continuing through 2036. </a:t>
            </a:r>
          </a:p>
          <a:p>
            <a:r>
              <a:rPr lang="en-US" sz="1200" b="1" i="0" kern="1200" dirty="0">
                <a:solidFill>
                  <a:schemeClr val="tx1"/>
                </a:solidFill>
                <a:effectLst/>
                <a:latin typeface="+mn-lt"/>
                <a:ea typeface="+mn-ea"/>
                <a:cs typeface="+mn-cs"/>
              </a:rPr>
              <a:t>Key Features &amp; Capabilities:</a:t>
            </a: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Advanced Imaging:</a:t>
            </a:r>
            <a:r>
              <a:rPr lang="en-US" sz="1200" b="0" i="0" kern="1200" dirty="0">
                <a:solidFill>
                  <a:schemeClr val="tx1"/>
                </a:solidFill>
                <a:effectLst/>
                <a:latin typeface="+mn-lt"/>
                <a:ea typeface="+mn-ea"/>
                <a:cs typeface="+mn-cs"/>
              </a:rPr>
              <a:t> Offers rapid, detailed views (as often as every 30 seconds) of weather phenomena like clouds, smoke, and ash.</a:t>
            </a:r>
          </a:p>
          <a:p>
            <a:r>
              <a:rPr lang="en-US" sz="1200" b="1" i="0" kern="1200" dirty="0">
                <a:solidFill>
                  <a:schemeClr val="tx1"/>
                </a:solidFill>
                <a:effectLst/>
                <a:latin typeface="+mn-lt"/>
                <a:ea typeface="+mn-ea"/>
                <a:cs typeface="+mn-cs"/>
              </a:rPr>
              <a:t>Lightning Mapper (GLM):</a:t>
            </a:r>
            <a:r>
              <a:rPr lang="en-US" sz="1200" b="0" i="0" kern="1200" dirty="0">
                <a:solidFill>
                  <a:schemeClr val="tx1"/>
                </a:solidFill>
                <a:effectLst/>
                <a:latin typeface="+mn-lt"/>
                <a:ea typeface="+mn-ea"/>
                <a:cs typeface="+mn-cs"/>
              </a:rPr>
              <a:t> The first operational geostationary lightning mapper, providing continuous lightning detection.</a:t>
            </a:r>
          </a:p>
          <a:p>
            <a:r>
              <a:rPr lang="en-US" sz="1200" b="1" i="0" kern="1200" dirty="0">
                <a:solidFill>
                  <a:schemeClr val="tx1"/>
                </a:solidFill>
                <a:effectLst/>
                <a:latin typeface="+mn-lt"/>
                <a:ea typeface="+mn-ea"/>
                <a:cs typeface="+mn-cs"/>
              </a:rPr>
              <a:t>Space Weather Monitoring:</a:t>
            </a:r>
            <a:r>
              <a:rPr lang="en-US" sz="1200" b="0" i="0" kern="1200" dirty="0">
                <a:solidFill>
                  <a:schemeClr val="tx1"/>
                </a:solidFill>
                <a:effectLst/>
                <a:latin typeface="+mn-lt"/>
                <a:ea typeface="+mn-ea"/>
                <a:cs typeface="+mn-cs"/>
              </a:rPr>
              <a:t> Tracks solar activity to warn of potential impacts on power grids, GPS, and communications.</a:t>
            </a:r>
          </a:p>
          <a:p>
            <a:r>
              <a:rPr lang="en-US" sz="1200" b="1" i="0" kern="1200" dirty="0">
                <a:solidFill>
                  <a:schemeClr val="tx1"/>
                </a:solidFill>
                <a:effectLst/>
                <a:latin typeface="+mn-lt"/>
                <a:ea typeface="+mn-ea"/>
                <a:cs typeface="+mn-cs"/>
              </a:rPr>
              <a:t>Geostationary Orbit:</a:t>
            </a:r>
            <a:r>
              <a:rPr lang="en-US" sz="1200" b="0" i="0" kern="1200" dirty="0">
                <a:solidFill>
                  <a:schemeClr val="tx1"/>
                </a:solidFill>
                <a:effectLst/>
                <a:latin typeface="+mn-lt"/>
                <a:ea typeface="+mn-ea"/>
                <a:cs typeface="+mn-cs"/>
              </a:rPr>
              <a:t> Stays fixed over the Western Hemisphere, providing continuous monitoring from about 22,000 miles above Earth.</a:t>
            </a:r>
          </a:p>
        </p:txBody>
      </p:sp>
      <p:sp>
        <p:nvSpPr>
          <p:cNvPr id="4" name="Slide Number Placeholder 3"/>
          <p:cNvSpPr>
            <a:spLocks noGrp="1"/>
          </p:cNvSpPr>
          <p:nvPr>
            <p:ph type="sldNum" sz="quarter" idx="5"/>
          </p:nvPr>
        </p:nvSpPr>
        <p:spPr/>
        <p:txBody>
          <a:bodyPr/>
          <a:lstStyle/>
          <a:p>
            <a:fld id="{9EB4C982-825B-414E-ABB9-79AB251390A5}" type="slidenum">
              <a:rPr lang="en-US" smtClean="0"/>
              <a:t>36</a:t>
            </a:fld>
            <a:endParaRPr lang="en-US"/>
          </a:p>
        </p:txBody>
      </p:sp>
    </p:spTree>
    <p:extLst>
      <p:ext uri="{BB962C8B-B14F-4D97-AF65-F5344CB8AC3E}">
        <p14:creationId xmlns:p14="http://schemas.microsoft.com/office/powerpoint/2010/main" val="40441477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B4C982-825B-414E-ABB9-79AB251390A5}" type="slidenum">
              <a:rPr lang="en-US" smtClean="0"/>
              <a:t>37</a:t>
            </a:fld>
            <a:endParaRPr lang="en-US"/>
          </a:p>
        </p:txBody>
      </p:sp>
    </p:spTree>
    <p:extLst>
      <p:ext uri="{BB962C8B-B14F-4D97-AF65-F5344CB8AC3E}">
        <p14:creationId xmlns:p14="http://schemas.microsoft.com/office/powerpoint/2010/main" val="13039360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B4C982-825B-414E-ABB9-79AB251390A5}" type="slidenum">
              <a:rPr lang="en-US" smtClean="0"/>
              <a:t>39</a:t>
            </a:fld>
            <a:endParaRPr lang="en-US"/>
          </a:p>
        </p:txBody>
      </p:sp>
    </p:spTree>
    <p:extLst>
      <p:ext uri="{BB962C8B-B14F-4D97-AF65-F5344CB8AC3E}">
        <p14:creationId xmlns:p14="http://schemas.microsoft.com/office/powerpoint/2010/main" val="36652645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77505" y="1287560"/>
            <a:ext cx="6788990" cy="2387600"/>
          </a:xfrm>
        </p:spPr>
        <p:txBody>
          <a:bodyPr anchor="ctr"/>
          <a:lstStyle>
            <a:lvl1pPr algn="ctr">
              <a:defRPr sz="6000"/>
            </a:lvl1pPr>
          </a:lstStyle>
          <a:p>
            <a:r>
              <a:rPr lang="en-US" dirty="0"/>
              <a:t>Click to edit Master title style</a:t>
            </a:r>
          </a:p>
        </p:txBody>
      </p:sp>
      <p:sp>
        <p:nvSpPr>
          <p:cNvPr id="3" name="Subtitle 2"/>
          <p:cNvSpPr>
            <a:spLocks noGrp="1"/>
          </p:cNvSpPr>
          <p:nvPr>
            <p:ph type="subTitle" idx="1"/>
          </p:nvPr>
        </p:nvSpPr>
        <p:spPr>
          <a:xfrm>
            <a:off x="1143000" y="3781865"/>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1EE600E-A67F-4D2A-8A36-552C1EFBE963}" type="datetime1">
              <a:rPr lang="en-US" smtClean="0"/>
              <a:t>1/8/2026</a:t>
            </a:fld>
            <a:endParaRPr lang="en-US"/>
          </a:p>
        </p:txBody>
      </p:sp>
      <p:sp>
        <p:nvSpPr>
          <p:cNvPr id="6" name="Slide Number Placeholder 5"/>
          <p:cNvSpPr>
            <a:spLocks noGrp="1"/>
          </p:cNvSpPr>
          <p:nvPr>
            <p:ph type="sldNum" sz="quarter" idx="12"/>
          </p:nvPr>
        </p:nvSpPr>
        <p:spPr/>
        <p:txBody>
          <a:bodyPr/>
          <a:lstStyle/>
          <a:p>
            <a:fld id="{9A3029B7-FE6B-4680-9049-80E8298A0825}" type="slidenum">
              <a:rPr lang="en-US" smtClean="0"/>
              <a:pPr/>
              <a:t>‹#›</a:t>
            </a:fld>
            <a:endParaRPr lang="en-US" dirty="0"/>
          </a:p>
        </p:txBody>
      </p:sp>
      <p:sp>
        <p:nvSpPr>
          <p:cNvPr id="7" name="Title 1">
            <a:extLst>
              <a:ext uri="{FF2B5EF4-FFF2-40B4-BE49-F238E27FC236}">
                <a16:creationId xmlns:a16="http://schemas.microsoft.com/office/drawing/2014/main" id="{CF1DE720-C36A-2EFC-0954-335249276F1A}"/>
              </a:ext>
            </a:extLst>
          </p:cNvPr>
          <p:cNvSpPr txBox="1">
            <a:spLocks/>
          </p:cNvSpPr>
          <p:nvPr userDrawn="1"/>
        </p:nvSpPr>
        <p:spPr>
          <a:xfrm>
            <a:off x="1028701" y="111639"/>
            <a:ext cx="7226780" cy="6963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Segoe UI" panose="020B0502040204020203" pitchFamily="34" charset="0"/>
                <a:ea typeface="+mj-ea"/>
                <a:cs typeface="Segoe UI" panose="020B0502040204020203" pitchFamily="34" charset="0"/>
              </a:defRPr>
            </a:lvl1pPr>
          </a:lstStyle>
          <a:p>
            <a:pPr algn="ctr"/>
            <a:r>
              <a:rPr lang="en-US" sz="3600" dirty="0"/>
              <a:t>USAFA ASTRO</a:t>
            </a:r>
          </a:p>
        </p:txBody>
      </p:sp>
      <p:sp>
        <p:nvSpPr>
          <p:cNvPr id="8" name="Subtitle 2">
            <a:extLst>
              <a:ext uri="{FF2B5EF4-FFF2-40B4-BE49-F238E27FC236}">
                <a16:creationId xmlns:a16="http://schemas.microsoft.com/office/drawing/2014/main" id="{6FD864A1-DC7B-C6C8-87CB-D0D681030469}"/>
              </a:ext>
            </a:extLst>
          </p:cNvPr>
          <p:cNvSpPr txBox="1">
            <a:spLocks/>
          </p:cNvSpPr>
          <p:nvPr userDrawn="1"/>
        </p:nvSpPr>
        <p:spPr>
          <a:xfrm>
            <a:off x="1143000" y="6288282"/>
            <a:ext cx="6858000" cy="501261"/>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Segoe UI" panose="020B0502040204020203" pitchFamily="34" charset="0"/>
                <a:ea typeface="+mn-ea"/>
                <a:cs typeface="Segoe UI" panose="020B050204020402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Segoe UI" panose="020B0502040204020203" pitchFamily="34" charset="0"/>
                <a:ea typeface="+mn-ea"/>
                <a:cs typeface="Segoe UI" panose="020B050204020402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Segoe UI" panose="020B0502040204020203" pitchFamily="34" charset="0"/>
                <a:ea typeface="+mn-ea"/>
                <a:cs typeface="Segoe UI" panose="020B050204020402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Segoe UI" panose="020B0502040204020203" pitchFamily="34" charset="0"/>
                <a:ea typeface="+mn-ea"/>
                <a:cs typeface="Segoe UI" panose="020B050204020402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Segoe UI" panose="020B0502040204020203" pitchFamily="34" charset="0"/>
                <a:ea typeface="+mn-ea"/>
                <a:cs typeface="Segoe UI" panose="020B050204020402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b="1" i="1" dirty="0"/>
              <a:t>ASTRO 331 – Space Systems Engineering</a:t>
            </a:r>
          </a:p>
        </p:txBody>
      </p:sp>
    </p:spTree>
    <p:extLst>
      <p:ext uri="{BB962C8B-B14F-4D97-AF65-F5344CB8AC3E}">
        <p14:creationId xmlns:p14="http://schemas.microsoft.com/office/powerpoint/2010/main" val="652688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19D194C-E731-4CF3-8F14-16F2CEB9B5CF}" type="datetime1">
              <a:rPr lang="en-US" smtClean="0"/>
              <a:t>1/8/2026</a:t>
            </a:fld>
            <a:endParaRPr lang="en-US" dirty="0"/>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888006264"/>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ctr">
            <a:normAutofit/>
          </a:bodyPr>
          <a:lstStyle>
            <a:lvl1pPr>
              <a:defRPr sz="4800"/>
            </a:lvl1pPr>
          </a:lstStyle>
          <a:p>
            <a:r>
              <a:rPr lang="en-US" dirty="0"/>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5C6FCA-E440-4A17-8C6B-54B65BC400EF}" type="datetime1">
              <a:rPr lang="en-US" smtClean="0"/>
              <a:t>1/8/2026</a:t>
            </a:fld>
            <a:endParaRPr lang="en-US"/>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895904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CEF287-72CA-49D4-A601-3B9D2E83EA05}" type="datetime1">
              <a:rPr lang="en-US" smtClean="0"/>
              <a:t>1/8/2026</a:t>
            </a:fld>
            <a:endParaRPr lang="en-US"/>
          </a:p>
        </p:txBody>
      </p:sp>
      <p:sp>
        <p:nvSpPr>
          <p:cNvPr id="7" name="Slide Number Placeholder 6"/>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9155663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92B2832-1105-4FA1-AD49-3D1761459FB9}" type="datetime1">
              <a:rPr lang="en-US" smtClean="0"/>
              <a:t>1/8/2026</a:t>
            </a:fld>
            <a:endParaRPr lang="en-US"/>
          </a:p>
        </p:txBody>
      </p:sp>
      <p:sp>
        <p:nvSpPr>
          <p:cNvPr id="9" name="Slide Number Placeholder 8"/>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837671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C08DF9A-2345-4D36-85FA-49730D271487}" type="datetime1">
              <a:rPr lang="en-US" smtClean="0"/>
              <a:t>1/8/2026</a:t>
            </a:fld>
            <a:endParaRPr lang="en-US"/>
          </a:p>
        </p:txBody>
      </p:sp>
      <p:sp>
        <p:nvSpPr>
          <p:cNvPr id="4" name="Footer Placeholder 3"/>
          <p:cNvSpPr>
            <a:spLocks noGrp="1"/>
          </p:cNvSpPr>
          <p:nvPr>
            <p:ph type="ftr" sz="quarter" idx="11"/>
          </p:nvPr>
        </p:nvSpPr>
        <p:spPr>
          <a:xfrm>
            <a:off x="3028950" y="6501692"/>
            <a:ext cx="3086100" cy="365125"/>
          </a:xfrm>
          <a:prstGeom prst="rect">
            <a:avLst/>
          </a:prstGeom>
        </p:spPr>
        <p:txBody>
          <a:bodyPr/>
          <a:lstStyle/>
          <a:p>
            <a:r>
              <a:rPr lang="en-US"/>
              <a:t>Astro 331 Lab #1</a:t>
            </a:r>
          </a:p>
        </p:txBody>
      </p:sp>
      <p:sp>
        <p:nvSpPr>
          <p:cNvPr id="5" name="Slide Number Placeholder 4"/>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41859791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0B4DED-4E37-473F-AD62-970655F2D578}" type="datetime1">
              <a:rPr lang="en-US" smtClean="0"/>
              <a:t>1/8/2026</a:t>
            </a:fld>
            <a:endParaRPr lang="en-US"/>
          </a:p>
        </p:txBody>
      </p:sp>
      <p:sp>
        <p:nvSpPr>
          <p:cNvPr id="4" name="Slide Number Placeholder 3"/>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26578561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0154D36-2BA6-4632-B283-5D3E851C5410}" type="datetime1">
              <a:rPr lang="en-US" smtClean="0"/>
              <a:t>1/8/2026</a:t>
            </a:fld>
            <a:endParaRPr lang="en-US"/>
          </a:p>
        </p:txBody>
      </p:sp>
      <p:sp>
        <p:nvSpPr>
          <p:cNvPr id="7" name="Slide Number Placeholder 6"/>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640363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9A9CD72-2059-40BB-BF30-AF971560729B}" type="datetime1">
              <a:rPr lang="en-US" smtClean="0"/>
              <a:t>1/8/2026</a:t>
            </a:fld>
            <a:endParaRPr lang="en-US"/>
          </a:p>
        </p:txBody>
      </p:sp>
      <p:sp>
        <p:nvSpPr>
          <p:cNvPr id="7" name="Slide Number Placeholder 6"/>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583431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B0F733-755F-4A68-A044-3BB7487EA333}" type="datetime1">
              <a:rPr lang="en-US" smtClean="0"/>
              <a:t>1/8/2026</a:t>
            </a:fld>
            <a:endParaRPr lang="en-US"/>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8372211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E81D12-59AE-465C-A617-7D2534E388B9}" type="datetime1">
              <a:rPr lang="en-US" smtClean="0"/>
              <a:t>1/8/2026</a:t>
            </a:fld>
            <a:endParaRPr lang="en-US"/>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15529296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66966" y="133186"/>
            <a:ext cx="7886700" cy="652197"/>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200025" y="1002506"/>
            <a:ext cx="8793015" cy="522755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38291" y="6465105"/>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19D194C-E731-4CF3-8F14-16F2CEB9B5CF}" type="datetime1">
              <a:rPr lang="en-US" smtClean="0"/>
              <a:t>1/8/2026</a:t>
            </a:fld>
            <a:endParaRPr lang="en-US" dirty="0"/>
          </a:p>
        </p:txBody>
      </p:sp>
      <p:sp>
        <p:nvSpPr>
          <p:cNvPr id="6" name="Slide Number Placeholder 5"/>
          <p:cNvSpPr>
            <a:spLocks noGrp="1"/>
          </p:cNvSpPr>
          <p:nvPr>
            <p:ph type="sldNum" sz="quarter" idx="4"/>
          </p:nvPr>
        </p:nvSpPr>
        <p:spPr>
          <a:xfrm>
            <a:off x="7040236" y="6465106"/>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A3029B7-FE6B-4680-9049-80E8298A0825}" type="slidenum">
              <a:rPr lang="en-US" smtClean="0"/>
              <a:t>‹#›</a:t>
            </a:fld>
            <a:endParaRPr lang="en-US"/>
          </a:p>
        </p:txBody>
      </p:sp>
      <p:sp>
        <p:nvSpPr>
          <p:cNvPr id="8" name="TextBox 7">
            <a:extLst>
              <a:ext uri="{FF2B5EF4-FFF2-40B4-BE49-F238E27FC236}">
                <a16:creationId xmlns:a16="http://schemas.microsoft.com/office/drawing/2014/main" id="{1B2918AF-A31D-A49D-520C-D6A347912BFA}"/>
              </a:ext>
            </a:extLst>
          </p:cNvPr>
          <p:cNvSpPr txBox="1"/>
          <p:nvPr userDrawn="1"/>
        </p:nvSpPr>
        <p:spPr>
          <a:xfrm>
            <a:off x="7852821" y="18574"/>
            <a:ext cx="1291179" cy="307777"/>
          </a:xfrm>
          <a:prstGeom prst="rect">
            <a:avLst/>
          </a:prstGeom>
          <a:noFill/>
        </p:spPr>
        <p:txBody>
          <a:bodyPr wrap="square" rtlCol="0">
            <a:spAutoFit/>
          </a:bodyPr>
          <a:lstStyle/>
          <a:p>
            <a:pPr algn="r"/>
            <a:r>
              <a:rPr lang="en-US" sz="1400" b="1" dirty="0">
                <a:latin typeface="Segoe UI" panose="020B0502040204020203" pitchFamily="34" charset="0"/>
                <a:cs typeface="Segoe UI" panose="020B0502040204020203" pitchFamily="34" charset="0"/>
              </a:rPr>
              <a:t>2026 Spring</a:t>
            </a:r>
          </a:p>
        </p:txBody>
      </p:sp>
      <p:sp>
        <p:nvSpPr>
          <p:cNvPr id="9" name="Rectangle 8">
            <a:extLst>
              <a:ext uri="{FF2B5EF4-FFF2-40B4-BE49-F238E27FC236}">
                <a16:creationId xmlns:a16="http://schemas.microsoft.com/office/drawing/2014/main" id="{30CFB5F7-9C45-8CB0-F5C4-6BF493EF4BCD}"/>
              </a:ext>
            </a:extLst>
          </p:cNvPr>
          <p:cNvSpPr/>
          <p:nvPr userDrawn="1"/>
        </p:nvSpPr>
        <p:spPr>
          <a:xfrm>
            <a:off x="46364" y="855395"/>
            <a:ext cx="9039409" cy="5961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800"/>
          </a:p>
        </p:txBody>
      </p:sp>
      <p:pic>
        <p:nvPicPr>
          <p:cNvPr id="11" name="Picture 10">
            <a:extLst>
              <a:ext uri="{FF2B5EF4-FFF2-40B4-BE49-F238E27FC236}">
                <a16:creationId xmlns:a16="http://schemas.microsoft.com/office/drawing/2014/main" id="{DF49DA28-CF7C-1CE3-C307-FC252DA9EBC7}"/>
              </a:ext>
            </a:extLst>
          </p:cNvPr>
          <p:cNvPicPr>
            <a:picLocks noChangeAspect="1"/>
          </p:cNvPicPr>
          <p:nvPr userDrawn="1"/>
        </p:nvPicPr>
        <p:blipFill>
          <a:blip r:embed="rId13">
            <a:clrChange>
              <a:clrFrom>
                <a:srgbClr val="FFFFFF"/>
              </a:clrFrom>
              <a:clrTo>
                <a:srgbClr val="FFFFFF">
                  <a:alpha val="0"/>
                </a:srgbClr>
              </a:clrTo>
            </a:clrChange>
          </a:blip>
          <a:stretch>
            <a:fillRect/>
          </a:stretch>
        </p:blipFill>
        <p:spPr>
          <a:xfrm>
            <a:off x="46365" y="18574"/>
            <a:ext cx="734686" cy="827487"/>
          </a:xfrm>
          <a:prstGeom prst="rect">
            <a:avLst/>
          </a:prstGeom>
        </p:spPr>
      </p:pic>
    </p:spTree>
    <p:extLst>
      <p:ext uri="{BB962C8B-B14F-4D97-AF65-F5344CB8AC3E}">
        <p14:creationId xmlns:p14="http://schemas.microsoft.com/office/powerpoint/2010/main" val="856012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2800" b="1" kern="1200">
          <a:solidFill>
            <a:schemeClr val="tx1"/>
          </a:solidFill>
          <a:latin typeface="Segoe UI" panose="020B0502040204020203" pitchFamily="34" charset="0"/>
          <a:ea typeface="+mj-ea"/>
          <a:cs typeface="Segoe UI" panose="020B05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0E2C4-BC94-2EEF-55E0-A1575A57F58F}"/>
              </a:ext>
            </a:extLst>
          </p:cNvPr>
          <p:cNvSpPr>
            <a:spLocks noGrp="1"/>
          </p:cNvSpPr>
          <p:nvPr>
            <p:ph type="ctrTitle"/>
          </p:nvPr>
        </p:nvSpPr>
        <p:spPr/>
        <p:txBody>
          <a:bodyPr>
            <a:normAutofit/>
          </a:bodyPr>
          <a:lstStyle/>
          <a:p>
            <a:r>
              <a:rPr lang="en-US" b="1" dirty="0"/>
              <a:t>Lesson 2</a:t>
            </a:r>
          </a:p>
        </p:txBody>
      </p:sp>
      <p:sp>
        <p:nvSpPr>
          <p:cNvPr id="3" name="Subtitle 2">
            <a:extLst>
              <a:ext uri="{FF2B5EF4-FFF2-40B4-BE49-F238E27FC236}">
                <a16:creationId xmlns:a16="http://schemas.microsoft.com/office/drawing/2014/main" id="{1D63E707-3906-1580-6A39-D3696F120305}"/>
              </a:ext>
            </a:extLst>
          </p:cNvPr>
          <p:cNvSpPr>
            <a:spLocks noGrp="1"/>
          </p:cNvSpPr>
          <p:nvPr>
            <p:ph type="subTitle" idx="1"/>
          </p:nvPr>
        </p:nvSpPr>
        <p:spPr/>
        <p:txBody>
          <a:bodyPr/>
          <a:lstStyle/>
          <a:p>
            <a:r>
              <a:rPr lang="en-US" b="1" dirty="0"/>
              <a:t>Requirements &amp; Mission Design</a:t>
            </a:r>
          </a:p>
        </p:txBody>
      </p:sp>
    </p:spTree>
    <p:extLst>
      <p:ext uri="{BB962C8B-B14F-4D97-AF65-F5344CB8AC3E}">
        <p14:creationId xmlns:p14="http://schemas.microsoft.com/office/powerpoint/2010/main" val="31880623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787F9-F13E-C03E-78F8-470B53CD40F8}"/>
              </a:ext>
            </a:extLst>
          </p:cNvPr>
          <p:cNvSpPr>
            <a:spLocks noGrp="1"/>
          </p:cNvSpPr>
          <p:nvPr>
            <p:ph type="title"/>
          </p:nvPr>
        </p:nvSpPr>
        <p:spPr/>
        <p:txBody>
          <a:bodyPr/>
          <a:lstStyle/>
          <a:p>
            <a:pPr algn="ctr"/>
            <a:r>
              <a:rPr lang="en-US" sz="3600"/>
              <a:t>Status</a:t>
            </a:r>
            <a:endParaRPr lang="en-US"/>
          </a:p>
        </p:txBody>
      </p:sp>
      <p:sp>
        <p:nvSpPr>
          <p:cNvPr id="3" name="Content Placeholder 2">
            <a:extLst>
              <a:ext uri="{FF2B5EF4-FFF2-40B4-BE49-F238E27FC236}">
                <a16:creationId xmlns:a16="http://schemas.microsoft.com/office/drawing/2014/main" id="{9A367593-4FDC-3311-BED2-837EE1FEE5AE}"/>
              </a:ext>
            </a:extLst>
          </p:cNvPr>
          <p:cNvSpPr>
            <a:spLocks noGrp="1"/>
          </p:cNvSpPr>
          <p:nvPr>
            <p:ph idx="1"/>
          </p:nvPr>
        </p:nvSpPr>
        <p:spPr/>
        <p:txBody>
          <a:bodyPr anchor="ctr">
            <a:normAutofit/>
          </a:bodyPr>
          <a:lstStyle/>
          <a:p>
            <a:pPr marL="0" indent="0">
              <a:buNone/>
            </a:pPr>
            <a:r>
              <a:rPr lang="en-US" b="1" i="1">
                <a:solidFill>
                  <a:srgbClr val="C00000"/>
                </a:solidFill>
              </a:rPr>
              <a:t>Where we’ve been</a:t>
            </a:r>
            <a:endParaRPr lang="en-US" b="1" i="1">
              <a:solidFill>
                <a:srgbClr val="C00000"/>
              </a:solidFill>
              <a:sym typeface="Wingdings" panose="05000000000000000000" pitchFamily="2" charset="2"/>
            </a:endParaRPr>
          </a:p>
          <a:p>
            <a:pPr marL="0" indent="0">
              <a:buNone/>
            </a:pPr>
            <a:endParaRPr lang="en-US"/>
          </a:p>
          <a:p>
            <a:pPr marL="0" indent="0">
              <a:buNone/>
            </a:pPr>
            <a:endParaRPr lang="en-US"/>
          </a:p>
          <a:p>
            <a:pPr marL="0" indent="0">
              <a:buNone/>
            </a:pPr>
            <a:r>
              <a:rPr lang="en-US" b="1" i="1">
                <a:solidFill>
                  <a:srgbClr val="FFC000"/>
                </a:solidFill>
              </a:rPr>
              <a:t>Where we are</a:t>
            </a:r>
          </a:p>
          <a:p>
            <a:pPr marL="0" indent="0">
              <a:buNone/>
            </a:pPr>
            <a:endParaRPr lang="en-US"/>
          </a:p>
          <a:p>
            <a:pPr marL="0" indent="0">
              <a:buNone/>
            </a:pPr>
            <a:endParaRPr lang="en-US"/>
          </a:p>
          <a:p>
            <a:pPr marL="0" indent="0">
              <a:buNone/>
            </a:pPr>
            <a:r>
              <a:rPr lang="en-US" b="1" i="1">
                <a:solidFill>
                  <a:srgbClr val="00B050"/>
                </a:solidFill>
              </a:rPr>
              <a:t>Where we’re going</a:t>
            </a:r>
          </a:p>
        </p:txBody>
      </p:sp>
      <p:sp>
        <p:nvSpPr>
          <p:cNvPr id="4" name="Slide Number Placeholder 3">
            <a:extLst>
              <a:ext uri="{FF2B5EF4-FFF2-40B4-BE49-F238E27FC236}">
                <a16:creationId xmlns:a16="http://schemas.microsoft.com/office/drawing/2014/main" id="{2C48EEC1-1F1E-2B45-6443-EC1DB064B025}"/>
              </a:ext>
            </a:extLst>
          </p:cNvPr>
          <p:cNvSpPr>
            <a:spLocks noGrp="1"/>
          </p:cNvSpPr>
          <p:nvPr>
            <p:ph type="sldNum" sz="quarter" idx="12"/>
          </p:nvPr>
        </p:nvSpPr>
        <p:spPr/>
        <p:txBody>
          <a:bodyPr/>
          <a:lstStyle/>
          <a:p>
            <a:fld id="{9A3029B7-FE6B-4680-9049-80E8298A0825}" type="slidenum">
              <a:rPr lang="en-US" smtClean="0"/>
              <a:t>2</a:t>
            </a:fld>
            <a:endParaRPr lang="en-US"/>
          </a:p>
        </p:txBody>
      </p:sp>
    </p:spTree>
    <p:extLst>
      <p:ext uri="{BB962C8B-B14F-4D97-AF65-F5344CB8AC3E}">
        <p14:creationId xmlns:p14="http://schemas.microsoft.com/office/powerpoint/2010/main" val="2499151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8A786-991E-54A4-BE03-C173F01FE384}"/>
              </a:ext>
            </a:extLst>
          </p:cNvPr>
          <p:cNvSpPr>
            <a:spLocks noGrp="1"/>
          </p:cNvSpPr>
          <p:nvPr>
            <p:ph type="title"/>
          </p:nvPr>
        </p:nvSpPr>
        <p:spPr/>
        <p:txBody>
          <a:bodyPr/>
          <a:lstStyle/>
          <a:p>
            <a:r>
              <a:rPr lang="en-US" dirty="0"/>
              <a:t>What plane is this?</a:t>
            </a:r>
          </a:p>
        </p:txBody>
      </p:sp>
      <p:sp>
        <p:nvSpPr>
          <p:cNvPr id="4" name="Slide Number Placeholder 3">
            <a:extLst>
              <a:ext uri="{FF2B5EF4-FFF2-40B4-BE49-F238E27FC236}">
                <a16:creationId xmlns:a16="http://schemas.microsoft.com/office/drawing/2014/main" id="{8191EFBD-B45C-E56A-EC60-19918435FD49}"/>
              </a:ext>
            </a:extLst>
          </p:cNvPr>
          <p:cNvSpPr>
            <a:spLocks noGrp="1"/>
          </p:cNvSpPr>
          <p:nvPr>
            <p:ph type="sldNum" sz="quarter" idx="12"/>
          </p:nvPr>
        </p:nvSpPr>
        <p:spPr/>
        <p:txBody>
          <a:bodyPr/>
          <a:lstStyle/>
          <a:p>
            <a:fld id="{9A3029B7-FE6B-4680-9049-80E8298A0825}" type="slidenum">
              <a:rPr lang="en-US" smtClean="0"/>
              <a:t>3</a:t>
            </a:fld>
            <a:endParaRPr lang="en-US"/>
          </a:p>
        </p:txBody>
      </p:sp>
      <p:pic>
        <p:nvPicPr>
          <p:cNvPr id="3074" name="Picture 2" descr="Tupolev Tu-4. When The Soviets Reverse Engineered The Boeing B-29  Superfortress, 1943 [1078X1500] : r/WeirdWings">
            <a:extLst>
              <a:ext uri="{FF2B5EF4-FFF2-40B4-BE49-F238E27FC236}">
                <a16:creationId xmlns:a16="http://schemas.microsoft.com/office/drawing/2014/main" id="{71AC336B-6A20-D402-8B07-6239E0B79E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65959" y="973717"/>
            <a:ext cx="4212082" cy="58565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60030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FF9F8-60A0-8140-0637-C6516430A5FC}"/>
              </a:ext>
            </a:extLst>
          </p:cNvPr>
          <p:cNvSpPr>
            <a:spLocks noGrp="1"/>
          </p:cNvSpPr>
          <p:nvPr>
            <p:ph type="title"/>
          </p:nvPr>
        </p:nvSpPr>
        <p:spPr/>
        <p:txBody>
          <a:bodyPr/>
          <a:lstStyle/>
          <a:p>
            <a:r>
              <a:rPr lang="en-US" dirty="0"/>
              <a:t>Reverse Engineering</a:t>
            </a:r>
          </a:p>
        </p:txBody>
      </p:sp>
      <p:sp>
        <p:nvSpPr>
          <p:cNvPr id="4" name="Slide Number Placeholder 3">
            <a:extLst>
              <a:ext uri="{FF2B5EF4-FFF2-40B4-BE49-F238E27FC236}">
                <a16:creationId xmlns:a16="http://schemas.microsoft.com/office/drawing/2014/main" id="{7D90321B-D98F-12A9-4A5B-BECAF57905B3}"/>
              </a:ext>
            </a:extLst>
          </p:cNvPr>
          <p:cNvSpPr>
            <a:spLocks noGrp="1"/>
          </p:cNvSpPr>
          <p:nvPr>
            <p:ph type="sldNum" sz="quarter" idx="12"/>
          </p:nvPr>
        </p:nvSpPr>
        <p:spPr/>
        <p:txBody>
          <a:bodyPr/>
          <a:lstStyle/>
          <a:p>
            <a:fld id="{9A3029B7-FE6B-4680-9049-80E8298A0825}" type="slidenum">
              <a:rPr lang="en-US" smtClean="0"/>
              <a:t>4</a:t>
            </a:fld>
            <a:endParaRPr lang="en-US"/>
          </a:p>
        </p:txBody>
      </p:sp>
      <p:pic>
        <p:nvPicPr>
          <p:cNvPr id="1026" name="Picture 2">
            <a:extLst>
              <a:ext uri="{FF2B5EF4-FFF2-40B4-BE49-F238E27FC236}">
                <a16:creationId xmlns:a16="http://schemas.microsoft.com/office/drawing/2014/main" id="{23565446-3DEC-1C43-E765-3BB7AC25D4F1}"/>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909545" y="785382"/>
            <a:ext cx="5405458" cy="60726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09360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9FAA5-6C09-AA45-806D-CC2B70AA188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C86CD0C-668B-2B7F-AE5B-677996C06CC0}"/>
              </a:ext>
            </a:extLst>
          </p:cNvPr>
          <p:cNvSpPr>
            <a:spLocks noGrp="1"/>
          </p:cNvSpPr>
          <p:nvPr>
            <p:ph type="title"/>
          </p:nvPr>
        </p:nvSpPr>
        <p:spPr/>
        <p:txBody>
          <a:bodyPr/>
          <a:lstStyle/>
          <a:p>
            <a:r>
              <a:rPr lang="en-US" dirty="0"/>
              <a:t>Requirements</a:t>
            </a:r>
          </a:p>
        </p:txBody>
      </p:sp>
      <p:sp>
        <p:nvSpPr>
          <p:cNvPr id="4" name="Slide Number Placeholder 3">
            <a:extLst>
              <a:ext uri="{FF2B5EF4-FFF2-40B4-BE49-F238E27FC236}">
                <a16:creationId xmlns:a16="http://schemas.microsoft.com/office/drawing/2014/main" id="{DA7040B0-9017-C942-D707-DB940262598A}"/>
              </a:ext>
            </a:extLst>
          </p:cNvPr>
          <p:cNvSpPr>
            <a:spLocks noGrp="1"/>
          </p:cNvSpPr>
          <p:nvPr>
            <p:ph type="sldNum" sz="quarter" idx="12"/>
          </p:nvPr>
        </p:nvSpPr>
        <p:spPr/>
        <p:txBody>
          <a:bodyPr/>
          <a:lstStyle/>
          <a:p>
            <a:fld id="{9A3029B7-FE6B-4680-9049-80E8298A0825}" type="slidenum">
              <a:rPr lang="en-US" smtClean="0"/>
              <a:t>5</a:t>
            </a:fld>
            <a:endParaRPr lang="en-US"/>
          </a:p>
        </p:txBody>
      </p:sp>
    </p:spTree>
    <p:extLst>
      <p:ext uri="{BB962C8B-B14F-4D97-AF65-F5344CB8AC3E}">
        <p14:creationId xmlns:p14="http://schemas.microsoft.com/office/powerpoint/2010/main" val="14250077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06A17-EFC1-DD59-DCE8-C5C348113AD3}"/>
              </a:ext>
            </a:extLst>
          </p:cNvPr>
          <p:cNvSpPr>
            <a:spLocks noGrp="1"/>
          </p:cNvSpPr>
          <p:nvPr>
            <p:ph type="title"/>
          </p:nvPr>
        </p:nvSpPr>
        <p:spPr/>
        <p:txBody>
          <a:bodyPr/>
          <a:lstStyle/>
          <a:p>
            <a:r>
              <a:rPr lang="en-US" dirty="0"/>
              <a:t>A spacecraft according to…</a:t>
            </a:r>
          </a:p>
        </p:txBody>
      </p:sp>
      <p:sp>
        <p:nvSpPr>
          <p:cNvPr id="5" name="Slide Number Placeholder 4">
            <a:extLst>
              <a:ext uri="{FF2B5EF4-FFF2-40B4-BE49-F238E27FC236}">
                <a16:creationId xmlns:a16="http://schemas.microsoft.com/office/drawing/2014/main" id="{9F8D14D7-6D90-4BB2-BAF2-110F1447E55E}"/>
              </a:ext>
            </a:extLst>
          </p:cNvPr>
          <p:cNvSpPr>
            <a:spLocks noGrp="1"/>
          </p:cNvSpPr>
          <p:nvPr>
            <p:ph type="sldNum" sz="quarter" idx="12"/>
          </p:nvPr>
        </p:nvSpPr>
        <p:spPr/>
        <p:txBody>
          <a:bodyPr/>
          <a:lstStyle/>
          <a:p>
            <a:fld id="{9A3029B7-FE6B-4680-9049-80E8298A0825}" type="slidenum">
              <a:rPr lang="en-US" smtClean="0"/>
              <a:t>6</a:t>
            </a:fld>
            <a:endParaRPr lang="en-US"/>
          </a:p>
        </p:txBody>
      </p:sp>
      <p:pic>
        <p:nvPicPr>
          <p:cNvPr id="6" name="Image" descr="Image">
            <a:extLst>
              <a:ext uri="{FF2B5EF4-FFF2-40B4-BE49-F238E27FC236}">
                <a16:creationId xmlns:a16="http://schemas.microsoft.com/office/drawing/2014/main" id="{ECA66989-E57B-2FA8-0547-C3A67084C2E9}"/>
              </a:ext>
            </a:extLst>
          </p:cNvPr>
          <p:cNvPicPr>
            <a:picLocks noGrp="1" noChangeAspect="1"/>
          </p:cNvPicPr>
          <p:nvPr>
            <p:ph idx="1"/>
          </p:nvPr>
        </p:nvPicPr>
        <p:blipFill>
          <a:blip r:embed="rId2"/>
          <a:stretch>
            <a:fillRect/>
          </a:stretch>
        </p:blipFill>
        <p:spPr>
          <a:xfrm>
            <a:off x="1265937" y="990616"/>
            <a:ext cx="6895596" cy="5748880"/>
          </a:xfrm>
          <a:prstGeom prst="rect">
            <a:avLst/>
          </a:prstGeom>
          <a:ln w="12700">
            <a:miter lim="400000"/>
          </a:ln>
        </p:spPr>
      </p:pic>
    </p:spTree>
    <p:extLst>
      <p:ext uri="{BB962C8B-B14F-4D97-AF65-F5344CB8AC3E}">
        <p14:creationId xmlns:p14="http://schemas.microsoft.com/office/powerpoint/2010/main" val="18548274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BD119-90D4-7535-55AF-56672117A2C8}"/>
              </a:ext>
            </a:extLst>
          </p:cNvPr>
          <p:cNvSpPr>
            <a:spLocks noGrp="1"/>
          </p:cNvSpPr>
          <p:nvPr>
            <p:ph type="title"/>
          </p:nvPr>
        </p:nvSpPr>
        <p:spPr/>
        <p:txBody>
          <a:bodyPr/>
          <a:lstStyle/>
          <a:p>
            <a:r>
              <a:rPr lang="en-US" dirty="0"/>
              <a:t>Exercise</a:t>
            </a:r>
          </a:p>
        </p:txBody>
      </p:sp>
      <p:sp>
        <p:nvSpPr>
          <p:cNvPr id="3" name="Content Placeholder 2">
            <a:extLst>
              <a:ext uri="{FF2B5EF4-FFF2-40B4-BE49-F238E27FC236}">
                <a16:creationId xmlns:a16="http://schemas.microsoft.com/office/drawing/2014/main" id="{154F2607-A59F-B013-8F78-76A548DCE901}"/>
              </a:ext>
            </a:extLst>
          </p:cNvPr>
          <p:cNvSpPr>
            <a:spLocks noGrp="1"/>
          </p:cNvSpPr>
          <p:nvPr>
            <p:ph idx="1"/>
          </p:nvPr>
        </p:nvSpPr>
        <p:spPr/>
        <p:txBody>
          <a:bodyPr/>
          <a:lstStyle/>
          <a:p>
            <a:pPr marL="0" indent="0">
              <a:buNone/>
            </a:pPr>
            <a:r>
              <a:rPr lang="en-US" b="1" dirty="0"/>
              <a:t>Task: </a:t>
            </a:r>
            <a:r>
              <a:rPr lang="en-US" dirty="0"/>
              <a:t>At the board with your table, spend 2-3 min proposing a space mission</a:t>
            </a:r>
          </a:p>
          <a:p>
            <a:endParaRPr lang="en-US" dirty="0"/>
          </a:p>
          <a:p>
            <a:pPr lvl="1"/>
            <a:r>
              <a:rPr lang="en-US" dirty="0"/>
              <a:t>Who are you (what organization)?</a:t>
            </a:r>
          </a:p>
          <a:p>
            <a:pPr lvl="1"/>
            <a:endParaRPr lang="en-US" dirty="0"/>
          </a:p>
          <a:p>
            <a:pPr lvl="1"/>
            <a:r>
              <a:rPr lang="en-US" dirty="0"/>
              <a:t>What is your problem?</a:t>
            </a:r>
          </a:p>
          <a:p>
            <a:pPr lvl="1"/>
            <a:endParaRPr lang="en-US" dirty="0"/>
          </a:p>
          <a:p>
            <a:pPr lvl="1"/>
            <a:r>
              <a:rPr lang="en-US" dirty="0"/>
              <a:t>What do you want from your system?</a:t>
            </a:r>
          </a:p>
          <a:p>
            <a:pPr lvl="1"/>
            <a:endParaRPr lang="en-US" dirty="0"/>
          </a:p>
          <a:p>
            <a:pPr lvl="1"/>
            <a:r>
              <a:rPr lang="en-US" dirty="0"/>
              <a:t>Why do you want it?</a:t>
            </a:r>
          </a:p>
        </p:txBody>
      </p:sp>
      <p:sp>
        <p:nvSpPr>
          <p:cNvPr id="4" name="Slide Number Placeholder 3">
            <a:extLst>
              <a:ext uri="{FF2B5EF4-FFF2-40B4-BE49-F238E27FC236}">
                <a16:creationId xmlns:a16="http://schemas.microsoft.com/office/drawing/2014/main" id="{72CBB73B-B921-2ECA-2EC7-BB76867DF4AE}"/>
              </a:ext>
            </a:extLst>
          </p:cNvPr>
          <p:cNvSpPr>
            <a:spLocks noGrp="1"/>
          </p:cNvSpPr>
          <p:nvPr>
            <p:ph type="sldNum" sz="quarter" idx="12"/>
          </p:nvPr>
        </p:nvSpPr>
        <p:spPr/>
        <p:txBody>
          <a:bodyPr/>
          <a:lstStyle/>
          <a:p>
            <a:fld id="{9A3029B7-FE6B-4680-9049-80E8298A0825}" type="slidenum">
              <a:rPr lang="en-US" smtClean="0"/>
              <a:t>7</a:t>
            </a:fld>
            <a:endParaRPr lang="en-US"/>
          </a:p>
        </p:txBody>
      </p:sp>
    </p:spTree>
    <p:extLst>
      <p:ext uri="{BB962C8B-B14F-4D97-AF65-F5344CB8AC3E}">
        <p14:creationId xmlns:p14="http://schemas.microsoft.com/office/powerpoint/2010/main" val="33765630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57449-0040-C5F8-4392-9A99D396F193}"/>
              </a:ext>
            </a:extLst>
          </p:cNvPr>
          <p:cNvSpPr>
            <a:spLocks noGrp="1"/>
          </p:cNvSpPr>
          <p:nvPr>
            <p:ph type="title"/>
          </p:nvPr>
        </p:nvSpPr>
        <p:spPr/>
        <p:txBody>
          <a:bodyPr/>
          <a:lstStyle/>
          <a:p>
            <a:r>
              <a:rPr lang="en-US" dirty="0"/>
              <a:t>Requirements</a:t>
            </a:r>
          </a:p>
        </p:txBody>
      </p:sp>
      <p:sp>
        <p:nvSpPr>
          <p:cNvPr id="3" name="Content Placeholder 2">
            <a:extLst>
              <a:ext uri="{FF2B5EF4-FFF2-40B4-BE49-F238E27FC236}">
                <a16:creationId xmlns:a16="http://schemas.microsoft.com/office/drawing/2014/main" id="{82BCDDE7-8F20-AC58-AA7E-6F2FE1EAA89C}"/>
              </a:ext>
            </a:extLst>
          </p:cNvPr>
          <p:cNvSpPr>
            <a:spLocks noGrp="1"/>
          </p:cNvSpPr>
          <p:nvPr>
            <p:ph idx="1"/>
          </p:nvPr>
        </p:nvSpPr>
        <p:spPr>
          <a:xfrm>
            <a:off x="200025" y="1104900"/>
            <a:ext cx="8793015" cy="5125159"/>
          </a:xfrm>
        </p:spPr>
        <p:txBody>
          <a:bodyPr>
            <a:normAutofit fontScale="85000" lnSpcReduction="20000"/>
          </a:bodyPr>
          <a:lstStyle/>
          <a:p>
            <a:pPr marL="0" indent="0">
              <a:buNone/>
            </a:pPr>
            <a:r>
              <a:rPr lang="en-US" sz="2400" dirty="0"/>
              <a:t>A </a:t>
            </a:r>
            <a:r>
              <a:rPr lang="en-US" sz="2400" b="1" dirty="0"/>
              <a:t>requirement</a:t>
            </a:r>
            <a:r>
              <a:rPr lang="en-US" sz="2400" dirty="0"/>
              <a:t> is a </a:t>
            </a:r>
            <a:r>
              <a:rPr lang="en-US" sz="2400" b="1" dirty="0"/>
              <a:t>clear, measurable statement</a:t>
            </a:r>
            <a:r>
              <a:rPr lang="en-US" sz="2400" dirty="0"/>
              <a:t> of what a system, subsystem, or component </a:t>
            </a:r>
            <a:r>
              <a:rPr lang="en-US" sz="2400" b="1" dirty="0"/>
              <a:t>must do, be, or meet</a:t>
            </a:r>
            <a:r>
              <a:rPr lang="en-US" sz="2400" dirty="0"/>
              <a:t> to fulfill its mission objectives and satisfy stakeholder needs. </a:t>
            </a:r>
          </a:p>
          <a:p>
            <a:pPr lvl="1"/>
            <a:endParaRPr lang="en-US" dirty="0"/>
          </a:p>
          <a:p>
            <a:pPr lvl="1"/>
            <a:r>
              <a:rPr lang="en-US" dirty="0"/>
              <a:t>Derived from the stakeholder’s need for a new capability. </a:t>
            </a:r>
          </a:p>
          <a:p>
            <a:pPr lvl="1"/>
            <a:endParaRPr lang="en-US" dirty="0"/>
          </a:p>
          <a:p>
            <a:pPr lvl="1"/>
            <a:r>
              <a:rPr lang="en-US" dirty="0"/>
              <a:t>Formally defines what has to be accomplished in order to meet those needs.</a:t>
            </a:r>
          </a:p>
          <a:p>
            <a:endParaRPr lang="en-US" sz="2400" dirty="0"/>
          </a:p>
          <a:p>
            <a:pPr marL="0" indent="0">
              <a:buNone/>
            </a:pPr>
            <a:r>
              <a:rPr lang="en-US" sz="2400" dirty="0"/>
              <a:t>Requirements are usually written as sentences or paragraphs. </a:t>
            </a:r>
          </a:p>
          <a:p>
            <a:pPr marL="0" indent="0">
              <a:buNone/>
            </a:pPr>
            <a:endParaRPr lang="en-US" sz="2400" dirty="0">
              <a:solidFill>
                <a:srgbClr val="00B0F0"/>
              </a:solidFill>
            </a:endParaRPr>
          </a:p>
          <a:p>
            <a:pPr marL="0" indent="0">
              <a:buNone/>
            </a:pPr>
            <a:r>
              <a:rPr lang="en-US" sz="2400" u="sng" dirty="0">
                <a:solidFill>
                  <a:srgbClr val="00B0F0"/>
                </a:solidFill>
              </a:rPr>
              <a:t>Examples:</a:t>
            </a:r>
          </a:p>
          <a:p>
            <a:pPr marL="0" indent="0">
              <a:buNone/>
            </a:pPr>
            <a:endParaRPr lang="en-US" sz="2400" dirty="0">
              <a:solidFill>
                <a:srgbClr val="00B0F0"/>
              </a:solidFill>
            </a:endParaRPr>
          </a:p>
          <a:p>
            <a:pPr marL="0" indent="0">
              <a:buNone/>
            </a:pPr>
            <a:r>
              <a:rPr lang="en-US" sz="2400" dirty="0">
                <a:solidFill>
                  <a:srgbClr val="00B0F0"/>
                </a:solidFill>
              </a:rPr>
              <a:t>(1) Attitude control system will maintain bus pointing of less than 1 degree. </a:t>
            </a:r>
          </a:p>
          <a:p>
            <a:endParaRPr lang="en-US" sz="2400" dirty="0">
              <a:solidFill>
                <a:srgbClr val="00B0F0"/>
              </a:solidFill>
            </a:endParaRPr>
          </a:p>
          <a:p>
            <a:pPr marL="0" indent="0">
              <a:buNone/>
            </a:pPr>
            <a:r>
              <a:rPr lang="en-US" sz="2400" dirty="0">
                <a:solidFill>
                  <a:srgbClr val="00B0F0"/>
                </a:solidFill>
              </a:rPr>
              <a:t>(2) Star sensors will provide bus orientation knowledge with a maximum expected error of 0.2 degrees. </a:t>
            </a:r>
          </a:p>
          <a:p>
            <a:endParaRPr lang="en-US" sz="2400" dirty="0"/>
          </a:p>
        </p:txBody>
      </p:sp>
      <p:sp>
        <p:nvSpPr>
          <p:cNvPr id="5" name="Slide Number Placeholder 4">
            <a:extLst>
              <a:ext uri="{FF2B5EF4-FFF2-40B4-BE49-F238E27FC236}">
                <a16:creationId xmlns:a16="http://schemas.microsoft.com/office/drawing/2014/main" id="{1C50C549-D0D2-6522-6F6D-37CE88B8630A}"/>
              </a:ext>
            </a:extLst>
          </p:cNvPr>
          <p:cNvSpPr>
            <a:spLocks noGrp="1"/>
          </p:cNvSpPr>
          <p:nvPr>
            <p:ph type="sldNum" sz="quarter" idx="12"/>
          </p:nvPr>
        </p:nvSpPr>
        <p:spPr/>
        <p:txBody>
          <a:bodyPr/>
          <a:lstStyle/>
          <a:p>
            <a:fld id="{9A3029B7-FE6B-4680-9049-80E8298A0825}" type="slidenum">
              <a:rPr lang="en-US" smtClean="0"/>
              <a:t>8</a:t>
            </a:fld>
            <a:endParaRPr lang="en-US"/>
          </a:p>
        </p:txBody>
      </p:sp>
    </p:spTree>
    <p:extLst>
      <p:ext uri="{BB962C8B-B14F-4D97-AF65-F5344CB8AC3E}">
        <p14:creationId xmlns:p14="http://schemas.microsoft.com/office/powerpoint/2010/main" val="2198452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animEffect transition="in" filter="fade">
                                      <p:cBhvr>
                                        <p:cTn id="11" dur="500"/>
                                        <p:tgtEl>
                                          <p:spTgt spid="3">
                                            <p:txEl>
                                              <p:pRg st="8" end="8"/>
                                            </p:txEl>
                                          </p:spTgt>
                                        </p:tgtEl>
                                      </p:cBhvr>
                                    </p:animEffect>
                                  </p:childTnLst>
                                </p:cTn>
                              </p:par>
                              <p:par>
                                <p:cTn id="12" presetID="10" presetClass="entr" presetSubtype="0" fill="hold" nodeType="withEffect">
                                  <p:stCondLst>
                                    <p:cond delay="0"/>
                                  </p:stCondLst>
                                  <p:childTnLst>
                                    <p:set>
                                      <p:cBhvr>
                                        <p:cTn id="13" dur="1" fill="hold">
                                          <p:stCondLst>
                                            <p:cond delay="0"/>
                                          </p:stCondLst>
                                        </p:cTn>
                                        <p:tgtEl>
                                          <p:spTgt spid="3">
                                            <p:txEl>
                                              <p:pRg st="10" end="10"/>
                                            </p:txEl>
                                          </p:spTgt>
                                        </p:tgtEl>
                                        <p:attrNameLst>
                                          <p:attrName>style.visibility</p:attrName>
                                        </p:attrNameLst>
                                      </p:cBhvr>
                                      <p:to>
                                        <p:strVal val="visible"/>
                                      </p:to>
                                    </p:set>
                                    <p:animEffect transition="in" filter="fade">
                                      <p:cBhvr>
                                        <p:cTn id="14" dur="500"/>
                                        <p:tgtEl>
                                          <p:spTgt spid="3">
                                            <p:txEl>
                                              <p:pRg st="10" end="10"/>
                                            </p:txEl>
                                          </p:spTgt>
                                        </p:tgtEl>
                                      </p:cBhvr>
                                    </p:animEffect>
                                  </p:childTnLst>
                                </p:cTn>
                              </p:par>
                              <p:par>
                                <p:cTn id="15" presetID="10" presetClass="entr" presetSubtype="0" fill="hold" nodeType="withEffect">
                                  <p:stCondLst>
                                    <p:cond delay="0"/>
                                  </p:stCondLst>
                                  <p:childTnLst>
                                    <p:set>
                                      <p:cBhvr>
                                        <p:cTn id="16" dur="1" fill="hold">
                                          <p:stCondLst>
                                            <p:cond delay="0"/>
                                          </p:stCondLst>
                                        </p:cTn>
                                        <p:tgtEl>
                                          <p:spTgt spid="3">
                                            <p:txEl>
                                              <p:pRg st="12" end="12"/>
                                            </p:txEl>
                                          </p:spTgt>
                                        </p:tgtEl>
                                        <p:attrNameLst>
                                          <p:attrName>style.visibility</p:attrName>
                                        </p:attrNameLst>
                                      </p:cBhvr>
                                      <p:to>
                                        <p:strVal val="visible"/>
                                      </p:to>
                                    </p:set>
                                    <p:animEffect transition="in" filter="fade">
                                      <p:cBhvr>
                                        <p:cTn id="17"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3053A-1CA7-C429-69B4-ED5B01BD04A0}"/>
              </a:ext>
            </a:extLst>
          </p:cNvPr>
          <p:cNvSpPr>
            <a:spLocks noGrp="1"/>
          </p:cNvSpPr>
          <p:nvPr>
            <p:ph type="title"/>
          </p:nvPr>
        </p:nvSpPr>
        <p:spPr/>
        <p:txBody>
          <a:bodyPr/>
          <a:lstStyle/>
          <a:p>
            <a:r>
              <a:rPr lang="en-US" dirty="0"/>
              <a:t>The Importance of Requirements</a:t>
            </a:r>
          </a:p>
        </p:txBody>
      </p:sp>
      <p:sp>
        <p:nvSpPr>
          <p:cNvPr id="3" name="Content Placeholder 2">
            <a:extLst>
              <a:ext uri="{FF2B5EF4-FFF2-40B4-BE49-F238E27FC236}">
                <a16:creationId xmlns:a16="http://schemas.microsoft.com/office/drawing/2014/main" id="{D60ABA85-8F29-6596-CA03-EF3F46236F4D}"/>
              </a:ext>
            </a:extLst>
          </p:cNvPr>
          <p:cNvSpPr>
            <a:spLocks noGrp="1"/>
          </p:cNvSpPr>
          <p:nvPr>
            <p:ph idx="1"/>
          </p:nvPr>
        </p:nvSpPr>
        <p:spPr/>
        <p:txBody>
          <a:bodyPr>
            <a:normAutofit/>
          </a:bodyPr>
          <a:lstStyle/>
          <a:p>
            <a:pPr>
              <a:spcBef>
                <a:spcPct val="55000"/>
              </a:spcBef>
            </a:pPr>
            <a:r>
              <a:rPr lang="en-US" altLang="en-US" sz="2400" dirty="0"/>
              <a:t>Requirements problems are the single biggest cause of project problems.</a:t>
            </a:r>
          </a:p>
          <a:p>
            <a:pPr>
              <a:spcBef>
                <a:spcPct val="65000"/>
              </a:spcBef>
            </a:pPr>
            <a:r>
              <a:rPr lang="en-US" altLang="en-US" sz="2400" dirty="0"/>
              <a:t>Requirements define what is to be done, how well and under what constraints - get the requirements wrong and the design and hardware will be wrong.</a:t>
            </a:r>
          </a:p>
          <a:p>
            <a:pPr>
              <a:spcBef>
                <a:spcPct val="65000"/>
              </a:spcBef>
            </a:pPr>
            <a:r>
              <a:rPr lang="en-US" altLang="en-US" sz="2400" i="1" dirty="0"/>
              <a:t>Many teams begin to solve a problem before there is agreement on what the problem is.</a:t>
            </a:r>
            <a:r>
              <a:rPr lang="en-US" altLang="en-US" sz="2400" dirty="0"/>
              <a:t> </a:t>
            </a:r>
          </a:p>
          <a:p>
            <a:pPr marL="457200" lvl="1" indent="0">
              <a:spcBef>
                <a:spcPct val="65000"/>
              </a:spcBef>
              <a:buNone/>
            </a:pPr>
            <a:r>
              <a:rPr lang="en-US" altLang="en-US" sz="2000" dirty="0">
                <a:sym typeface="Wingdings" panose="05000000000000000000" pitchFamily="2" charset="2"/>
              </a:rPr>
              <a:t> </a:t>
            </a:r>
            <a:r>
              <a:rPr lang="en-US" altLang="en-US" sz="2000" dirty="0"/>
              <a:t>Requirements and their associated constraints and assumptions quantify the problem to be solved - they establish how project success will be determined.</a:t>
            </a:r>
          </a:p>
          <a:p>
            <a:pPr>
              <a:spcBef>
                <a:spcPct val="65000"/>
              </a:spcBef>
            </a:pPr>
            <a:r>
              <a:rPr lang="en-US" altLang="en-US" sz="2400" dirty="0"/>
              <a:t>Requirements drive…</a:t>
            </a:r>
          </a:p>
          <a:p>
            <a:pPr lvl="1">
              <a:spcBef>
                <a:spcPct val="65000"/>
              </a:spcBef>
              <a:buFont typeface="Times" panose="02020603050405020304" pitchFamily="18" charset="0"/>
              <a:buNone/>
            </a:pPr>
            <a:r>
              <a:rPr lang="en-US" altLang="en-US" sz="1800" dirty="0"/>
              <a:t>Cost - Design - Schedules</a:t>
            </a:r>
            <a:r>
              <a:rPr lang="en-US" altLang="en-US" sz="1800" i="1" dirty="0">
                <a:solidFill>
                  <a:schemeClr val="accent2"/>
                </a:solidFill>
              </a:rPr>
              <a:t> </a:t>
            </a:r>
            <a:r>
              <a:rPr lang="en-US" altLang="en-US" sz="1800" i="1" dirty="0"/>
              <a:t>-</a:t>
            </a:r>
            <a:r>
              <a:rPr lang="en-US" altLang="en-US" sz="1800" i="1" dirty="0">
                <a:solidFill>
                  <a:schemeClr val="accent2"/>
                </a:solidFill>
              </a:rPr>
              <a:t> </a:t>
            </a:r>
            <a:r>
              <a:rPr lang="en-US" altLang="en-US" sz="1800" dirty="0"/>
              <a:t>Skills required</a:t>
            </a:r>
            <a:r>
              <a:rPr lang="en-US" altLang="en-US" sz="1800" i="1" dirty="0">
                <a:solidFill>
                  <a:schemeClr val="accent2"/>
                </a:solidFill>
              </a:rPr>
              <a:t> </a:t>
            </a:r>
            <a:r>
              <a:rPr lang="en-US" altLang="en-US" sz="1800" dirty="0"/>
              <a:t>- Verification plans - Operational procedures - </a:t>
            </a:r>
            <a:r>
              <a:rPr lang="en-US" altLang="en-US" sz="1800" b="1" i="1" dirty="0"/>
              <a:t>everything</a:t>
            </a:r>
            <a:endParaRPr lang="en-US" altLang="en-US" sz="2000" b="1" dirty="0"/>
          </a:p>
          <a:p>
            <a:endParaRPr lang="en-US" sz="2400" dirty="0"/>
          </a:p>
        </p:txBody>
      </p:sp>
      <p:sp>
        <p:nvSpPr>
          <p:cNvPr id="4" name="Slide Number Placeholder 3">
            <a:extLst>
              <a:ext uri="{FF2B5EF4-FFF2-40B4-BE49-F238E27FC236}">
                <a16:creationId xmlns:a16="http://schemas.microsoft.com/office/drawing/2014/main" id="{155B73AF-A1C5-E9C0-72A7-33970648190C}"/>
              </a:ext>
            </a:extLst>
          </p:cNvPr>
          <p:cNvSpPr>
            <a:spLocks noGrp="1"/>
          </p:cNvSpPr>
          <p:nvPr>
            <p:ph type="sldNum" sz="quarter" idx="12"/>
          </p:nvPr>
        </p:nvSpPr>
        <p:spPr/>
        <p:txBody>
          <a:bodyPr/>
          <a:lstStyle/>
          <a:p>
            <a:fld id="{9A3029B7-FE6B-4680-9049-80E8298A0825}" type="slidenum">
              <a:rPr lang="en-US" smtClean="0"/>
              <a:t>9</a:t>
            </a:fld>
            <a:endParaRPr lang="en-US"/>
          </a:p>
        </p:txBody>
      </p:sp>
    </p:spTree>
    <p:extLst>
      <p:ext uri="{BB962C8B-B14F-4D97-AF65-F5344CB8AC3E}">
        <p14:creationId xmlns:p14="http://schemas.microsoft.com/office/powerpoint/2010/main" val="2758461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4F0A7-D554-E4B0-6292-F5C5158249C3}"/>
              </a:ext>
            </a:extLst>
          </p:cNvPr>
          <p:cNvSpPr>
            <a:spLocks noGrp="1"/>
          </p:cNvSpPr>
          <p:nvPr>
            <p:ph type="title"/>
          </p:nvPr>
        </p:nvSpPr>
        <p:spPr/>
        <p:txBody>
          <a:bodyPr>
            <a:normAutofit/>
          </a:bodyPr>
          <a:lstStyle/>
          <a:p>
            <a:r>
              <a:rPr lang="en-US" altLang="en-US" sz="2400" dirty="0"/>
              <a:t>The Importance of Getting the Requirements Right</a:t>
            </a:r>
            <a:endParaRPr lang="en-US" sz="2400" dirty="0"/>
          </a:p>
        </p:txBody>
      </p:sp>
      <p:sp>
        <p:nvSpPr>
          <p:cNvPr id="4" name="Slide Number Placeholder 3">
            <a:extLst>
              <a:ext uri="{FF2B5EF4-FFF2-40B4-BE49-F238E27FC236}">
                <a16:creationId xmlns:a16="http://schemas.microsoft.com/office/drawing/2014/main" id="{41255849-1F08-2A25-AED0-25CA8FC1C771}"/>
              </a:ext>
            </a:extLst>
          </p:cNvPr>
          <p:cNvSpPr>
            <a:spLocks noGrp="1"/>
          </p:cNvSpPr>
          <p:nvPr>
            <p:ph type="sldNum" sz="quarter" idx="12"/>
          </p:nvPr>
        </p:nvSpPr>
        <p:spPr/>
        <p:txBody>
          <a:bodyPr/>
          <a:lstStyle/>
          <a:p>
            <a:fld id="{9A3029B7-FE6B-4680-9049-80E8298A0825}" type="slidenum">
              <a:rPr lang="en-US" smtClean="0"/>
              <a:t>10</a:t>
            </a:fld>
            <a:endParaRPr lang="en-US"/>
          </a:p>
        </p:txBody>
      </p:sp>
      <p:sp>
        <p:nvSpPr>
          <p:cNvPr id="5" name="Rectangle 4">
            <a:extLst>
              <a:ext uri="{FF2B5EF4-FFF2-40B4-BE49-F238E27FC236}">
                <a16:creationId xmlns:a16="http://schemas.microsoft.com/office/drawing/2014/main" id="{E5A87971-41E0-5540-FE97-FC77E5C7A301}"/>
              </a:ext>
            </a:extLst>
          </p:cNvPr>
          <p:cNvSpPr>
            <a:spLocks noChangeArrowheads="1"/>
          </p:cNvSpPr>
          <p:nvPr/>
        </p:nvSpPr>
        <p:spPr bwMode="auto">
          <a:xfrm>
            <a:off x="1587501" y="1366231"/>
            <a:ext cx="6489700" cy="3240088"/>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 name="Line 5">
            <a:extLst>
              <a:ext uri="{FF2B5EF4-FFF2-40B4-BE49-F238E27FC236}">
                <a16:creationId xmlns:a16="http://schemas.microsoft.com/office/drawing/2014/main" id="{5AD56472-1D9F-C242-1649-DDC8A482A6D9}"/>
              </a:ext>
            </a:extLst>
          </p:cNvPr>
          <p:cNvSpPr>
            <a:spLocks noChangeShapeType="1"/>
          </p:cNvSpPr>
          <p:nvPr/>
        </p:nvSpPr>
        <p:spPr bwMode="auto">
          <a:xfrm>
            <a:off x="1398588" y="4606319"/>
            <a:ext cx="188913" cy="1587"/>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 name="Line 6">
            <a:extLst>
              <a:ext uri="{FF2B5EF4-FFF2-40B4-BE49-F238E27FC236}">
                <a16:creationId xmlns:a16="http://schemas.microsoft.com/office/drawing/2014/main" id="{B5EA23B4-BE3F-92C6-08F6-A2B6F7487A46}"/>
              </a:ext>
            </a:extLst>
          </p:cNvPr>
          <p:cNvSpPr>
            <a:spLocks noChangeShapeType="1"/>
          </p:cNvSpPr>
          <p:nvPr/>
        </p:nvSpPr>
        <p:spPr bwMode="auto">
          <a:xfrm>
            <a:off x="1433513" y="3937981"/>
            <a:ext cx="153988" cy="1588"/>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 name="Line 7">
            <a:extLst>
              <a:ext uri="{FF2B5EF4-FFF2-40B4-BE49-F238E27FC236}">
                <a16:creationId xmlns:a16="http://schemas.microsoft.com/office/drawing/2014/main" id="{A1C1B193-F7F3-1059-EAAF-66A47C7B64EB}"/>
              </a:ext>
            </a:extLst>
          </p:cNvPr>
          <p:cNvSpPr>
            <a:spLocks noChangeShapeType="1"/>
          </p:cNvSpPr>
          <p:nvPr/>
        </p:nvSpPr>
        <p:spPr bwMode="auto">
          <a:xfrm>
            <a:off x="1398588" y="1366231"/>
            <a:ext cx="188913" cy="1588"/>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 name="Line 8">
            <a:extLst>
              <a:ext uri="{FF2B5EF4-FFF2-40B4-BE49-F238E27FC236}">
                <a16:creationId xmlns:a16="http://schemas.microsoft.com/office/drawing/2014/main" id="{D2BF7554-7200-CD29-4970-49DD9DF2BE6C}"/>
              </a:ext>
            </a:extLst>
          </p:cNvPr>
          <p:cNvSpPr>
            <a:spLocks noChangeShapeType="1"/>
          </p:cNvSpPr>
          <p:nvPr/>
        </p:nvSpPr>
        <p:spPr bwMode="auto">
          <a:xfrm>
            <a:off x="1433513" y="1991706"/>
            <a:ext cx="153988" cy="1588"/>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 name="Rectangle 9">
            <a:extLst>
              <a:ext uri="{FF2B5EF4-FFF2-40B4-BE49-F238E27FC236}">
                <a16:creationId xmlns:a16="http://schemas.microsoft.com/office/drawing/2014/main" id="{CC7589F0-06DF-5443-3444-FE8AEF0601CD}"/>
              </a:ext>
            </a:extLst>
          </p:cNvPr>
          <p:cNvSpPr>
            <a:spLocks noChangeArrowheads="1"/>
          </p:cNvSpPr>
          <p:nvPr/>
        </p:nvSpPr>
        <p:spPr bwMode="auto">
          <a:xfrm>
            <a:off x="1016001" y="1223356"/>
            <a:ext cx="360362"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en-US" sz="1700" dirty="0"/>
              <a:t>100</a:t>
            </a:r>
            <a:endParaRPr lang="en-US" altLang="en-US" sz="2400" b="0" dirty="0">
              <a:latin typeface="Times" panose="02020603050405020304" pitchFamily="18" charset="0"/>
            </a:endParaRPr>
          </a:p>
        </p:txBody>
      </p:sp>
      <p:sp>
        <p:nvSpPr>
          <p:cNvPr id="11" name="Rectangle 10">
            <a:extLst>
              <a:ext uri="{FF2B5EF4-FFF2-40B4-BE49-F238E27FC236}">
                <a16:creationId xmlns:a16="http://schemas.microsoft.com/office/drawing/2014/main" id="{8D1AE6A4-F167-DC78-6FC3-A8CC46B7C331}"/>
              </a:ext>
            </a:extLst>
          </p:cNvPr>
          <p:cNvSpPr>
            <a:spLocks noChangeArrowheads="1"/>
          </p:cNvSpPr>
          <p:nvPr/>
        </p:nvSpPr>
        <p:spPr bwMode="auto">
          <a:xfrm>
            <a:off x="1154113" y="1875819"/>
            <a:ext cx="239713"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en-US" sz="1700"/>
              <a:t>80</a:t>
            </a:r>
            <a:endParaRPr lang="en-US" altLang="en-US" sz="2400" b="0">
              <a:latin typeface="Times" panose="02020603050405020304" pitchFamily="18" charset="0"/>
            </a:endParaRPr>
          </a:p>
        </p:txBody>
      </p:sp>
      <p:sp>
        <p:nvSpPr>
          <p:cNvPr id="12" name="Rectangle 11">
            <a:extLst>
              <a:ext uri="{FF2B5EF4-FFF2-40B4-BE49-F238E27FC236}">
                <a16:creationId xmlns:a16="http://schemas.microsoft.com/office/drawing/2014/main" id="{8B6E5758-75EC-4E4E-F2A1-05D300E6BE65}"/>
              </a:ext>
            </a:extLst>
          </p:cNvPr>
          <p:cNvSpPr>
            <a:spLocks noChangeArrowheads="1"/>
          </p:cNvSpPr>
          <p:nvPr/>
        </p:nvSpPr>
        <p:spPr bwMode="auto">
          <a:xfrm>
            <a:off x="1154113" y="3812569"/>
            <a:ext cx="239713"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en-US" sz="1700"/>
              <a:t>20</a:t>
            </a:r>
            <a:endParaRPr lang="en-US" altLang="en-US" sz="2400" b="0">
              <a:latin typeface="Times" panose="02020603050405020304" pitchFamily="18" charset="0"/>
            </a:endParaRPr>
          </a:p>
        </p:txBody>
      </p:sp>
      <p:sp>
        <p:nvSpPr>
          <p:cNvPr id="13" name="Rectangle 12">
            <a:extLst>
              <a:ext uri="{FF2B5EF4-FFF2-40B4-BE49-F238E27FC236}">
                <a16:creationId xmlns:a16="http://schemas.microsoft.com/office/drawing/2014/main" id="{C18D5D42-5A3E-3BDA-A8FB-B7F70257658D}"/>
              </a:ext>
            </a:extLst>
          </p:cNvPr>
          <p:cNvSpPr>
            <a:spLocks noChangeArrowheads="1"/>
          </p:cNvSpPr>
          <p:nvPr/>
        </p:nvSpPr>
        <p:spPr bwMode="auto">
          <a:xfrm>
            <a:off x="1212851" y="4463444"/>
            <a:ext cx="120650"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en-US" sz="1700"/>
              <a:t>0</a:t>
            </a:r>
            <a:endParaRPr lang="en-US" altLang="en-US" sz="2400" b="0">
              <a:latin typeface="Times" panose="02020603050405020304" pitchFamily="18" charset="0"/>
            </a:endParaRPr>
          </a:p>
        </p:txBody>
      </p:sp>
      <p:sp>
        <p:nvSpPr>
          <p:cNvPr id="14" name="Line 13">
            <a:extLst>
              <a:ext uri="{FF2B5EF4-FFF2-40B4-BE49-F238E27FC236}">
                <a16:creationId xmlns:a16="http://schemas.microsoft.com/office/drawing/2014/main" id="{D4BCCD6A-BF7E-96FF-962B-5B6F197CAC0F}"/>
              </a:ext>
            </a:extLst>
          </p:cNvPr>
          <p:cNvSpPr>
            <a:spLocks noChangeShapeType="1"/>
          </p:cNvSpPr>
          <p:nvPr/>
        </p:nvSpPr>
        <p:spPr bwMode="auto">
          <a:xfrm>
            <a:off x="1433513" y="2660044"/>
            <a:ext cx="153988" cy="1587"/>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 name="Rectangle 14">
            <a:extLst>
              <a:ext uri="{FF2B5EF4-FFF2-40B4-BE49-F238E27FC236}">
                <a16:creationId xmlns:a16="http://schemas.microsoft.com/office/drawing/2014/main" id="{3385C466-A2FD-C1D9-B3F0-23C495A2799B}"/>
              </a:ext>
            </a:extLst>
          </p:cNvPr>
          <p:cNvSpPr>
            <a:spLocks noChangeArrowheads="1"/>
          </p:cNvSpPr>
          <p:nvPr/>
        </p:nvSpPr>
        <p:spPr bwMode="auto">
          <a:xfrm>
            <a:off x="1154113" y="2534631"/>
            <a:ext cx="239713"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en-US" sz="1700"/>
              <a:t>60</a:t>
            </a:r>
            <a:endParaRPr lang="en-US" altLang="en-US" sz="2400" b="0">
              <a:latin typeface="Times" panose="02020603050405020304" pitchFamily="18" charset="0"/>
            </a:endParaRPr>
          </a:p>
        </p:txBody>
      </p:sp>
      <p:sp>
        <p:nvSpPr>
          <p:cNvPr id="16" name="Rectangle 15">
            <a:extLst>
              <a:ext uri="{FF2B5EF4-FFF2-40B4-BE49-F238E27FC236}">
                <a16:creationId xmlns:a16="http://schemas.microsoft.com/office/drawing/2014/main" id="{FCCC75F7-27D6-43EB-60D9-19B22CBFE6E2}"/>
              </a:ext>
            </a:extLst>
          </p:cNvPr>
          <p:cNvSpPr>
            <a:spLocks noChangeArrowheads="1"/>
          </p:cNvSpPr>
          <p:nvPr/>
        </p:nvSpPr>
        <p:spPr bwMode="auto">
          <a:xfrm rot="16200000">
            <a:off x="64294" y="2471925"/>
            <a:ext cx="123666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en-US" sz="2400"/>
              <a:t>Cost (%)</a:t>
            </a:r>
            <a:endParaRPr lang="en-US" altLang="en-US" sz="2400" b="0">
              <a:latin typeface="Times" panose="02020603050405020304" pitchFamily="18" charset="0"/>
            </a:endParaRPr>
          </a:p>
        </p:txBody>
      </p:sp>
      <p:sp>
        <p:nvSpPr>
          <p:cNvPr id="17" name="Rectangle 16">
            <a:extLst>
              <a:ext uri="{FF2B5EF4-FFF2-40B4-BE49-F238E27FC236}">
                <a16:creationId xmlns:a16="http://schemas.microsoft.com/office/drawing/2014/main" id="{2EDE6141-A59A-17AB-381D-E2F47DF51B69}"/>
              </a:ext>
            </a:extLst>
          </p:cNvPr>
          <p:cNvSpPr>
            <a:spLocks noChangeArrowheads="1"/>
          </p:cNvSpPr>
          <p:nvPr/>
        </p:nvSpPr>
        <p:spPr bwMode="auto">
          <a:xfrm>
            <a:off x="7659688" y="4642831"/>
            <a:ext cx="711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en-US" sz="2400"/>
              <a:t>Time</a:t>
            </a:r>
            <a:endParaRPr lang="en-US" altLang="en-US" sz="2400" b="0">
              <a:latin typeface="Times" panose="02020603050405020304" pitchFamily="18" charset="0"/>
            </a:endParaRPr>
          </a:p>
        </p:txBody>
      </p:sp>
      <p:sp>
        <p:nvSpPr>
          <p:cNvPr id="18" name="Rectangle 17">
            <a:extLst>
              <a:ext uri="{FF2B5EF4-FFF2-40B4-BE49-F238E27FC236}">
                <a16:creationId xmlns:a16="http://schemas.microsoft.com/office/drawing/2014/main" id="{E9516E5F-A351-FA6F-93B8-F168572D8034}"/>
              </a:ext>
            </a:extLst>
          </p:cNvPr>
          <p:cNvSpPr>
            <a:spLocks noChangeArrowheads="1"/>
          </p:cNvSpPr>
          <p:nvPr/>
        </p:nvSpPr>
        <p:spPr bwMode="auto">
          <a:xfrm>
            <a:off x="1633538" y="4738081"/>
            <a:ext cx="144780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en-US" sz="1800"/>
              <a:t>Requirement</a:t>
            </a:r>
          </a:p>
          <a:p>
            <a:pPr eaLnBrk="0" hangingPunct="0"/>
            <a:r>
              <a:rPr lang="en-US" altLang="en-US" sz="1800"/>
              <a:t>and Concept </a:t>
            </a:r>
          </a:p>
          <a:p>
            <a:pPr eaLnBrk="0" hangingPunct="0"/>
            <a:r>
              <a:rPr lang="en-US" altLang="en-US" sz="1800"/>
              <a:t>Development</a:t>
            </a:r>
          </a:p>
        </p:txBody>
      </p:sp>
      <p:sp>
        <p:nvSpPr>
          <p:cNvPr id="19" name="Rectangle 19">
            <a:extLst>
              <a:ext uri="{FF2B5EF4-FFF2-40B4-BE49-F238E27FC236}">
                <a16:creationId xmlns:a16="http://schemas.microsoft.com/office/drawing/2014/main" id="{2C370E81-876A-EA69-5EDA-1C367481E934}"/>
              </a:ext>
            </a:extLst>
          </p:cNvPr>
          <p:cNvSpPr>
            <a:spLocks noChangeArrowheads="1"/>
          </p:cNvSpPr>
          <p:nvPr/>
        </p:nvSpPr>
        <p:spPr bwMode="auto">
          <a:xfrm>
            <a:off x="3287712" y="4753956"/>
            <a:ext cx="112712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eaLnBrk="0" hangingPunct="0"/>
            <a:r>
              <a:rPr lang="en-US" altLang="en-US" sz="1800" dirty="0"/>
              <a:t>Detailed</a:t>
            </a:r>
          </a:p>
          <a:p>
            <a:pPr eaLnBrk="0" hangingPunct="0"/>
            <a:r>
              <a:rPr lang="en-US" altLang="en-US" sz="1800" dirty="0"/>
              <a:t>Design</a:t>
            </a:r>
          </a:p>
        </p:txBody>
      </p:sp>
      <p:sp>
        <p:nvSpPr>
          <p:cNvPr id="20" name="Rectangle 22">
            <a:extLst>
              <a:ext uri="{FF2B5EF4-FFF2-40B4-BE49-F238E27FC236}">
                <a16:creationId xmlns:a16="http://schemas.microsoft.com/office/drawing/2014/main" id="{FA91C3B2-B850-BB36-002C-CB774B3D108B}"/>
              </a:ext>
            </a:extLst>
          </p:cNvPr>
          <p:cNvSpPr>
            <a:spLocks noChangeArrowheads="1"/>
          </p:cNvSpPr>
          <p:nvPr/>
        </p:nvSpPr>
        <p:spPr bwMode="auto">
          <a:xfrm>
            <a:off x="4594226" y="4750781"/>
            <a:ext cx="21558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en-US" sz="1800" dirty="0"/>
              <a:t>Production</a:t>
            </a:r>
            <a:endParaRPr lang="en-US" altLang="en-US" sz="1800" b="0" dirty="0">
              <a:latin typeface="Times" panose="02020603050405020304" pitchFamily="18" charset="0"/>
            </a:endParaRPr>
          </a:p>
        </p:txBody>
      </p:sp>
      <p:sp>
        <p:nvSpPr>
          <p:cNvPr id="21" name="Line 23">
            <a:extLst>
              <a:ext uri="{FF2B5EF4-FFF2-40B4-BE49-F238E27FC236}">
                <a16:creationId xmlns:a16="http://schemas.microsoft.com/office/drawing/2014/main" id="{F311FDE1-39CA-3474-A527-CCF7AD8ECBB1}"/>
              </a:ext>
            </a:extLst>
          </p:cNvPr>
          <p:cNvSpPr>
            <a:spLocks noChangeShapeType="1"/>
          </p:cNvSpPr>
          <p:nvPr/>
        </p:nvSpPr>
        <p:spPr bwMode="auto">
          <a:xfrm>
            <a:off x="1433513" y="3302981"/>
            <a:ext cx="153988" cy="1588"/>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 name="Rectangle 24">
            <a:extLst>
              <a:ext uri="{FF2B5EF4-FFF2-40B4-BE49-F238E27FC236}">
                <a16:creationId xmlns:a16="http://schemas.microsoft.com/office/drawing/2014/main" id="{FF75DE44-3896-2437-9CDE-B9D58B028970}"/>
              </a:ext>
            </a:extLst>
          </p:cNvPr>
          <p:cNvSpPr>
            <a:spLocks noChangeArrowheads="1"/>
          </p:cNvSpPr>
          <p:nvPr/>
        </p:nvSpPr>
        <p:spPr bwMode="auto">
          <a:xfrm>
            <a:off x="1154113" y="3187094"/>
            <a:ext cx="239713"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en-US" sz="1700"/>
              <a:t>40</a:t>
            </a:r>
            <a:endParaRPr lang="en-US" altLang="en-US" sz="2400" b="0">
              <a:latin typeface="Times" panose="02020603050405020304" pitchFamily="18" charset="0"/>
            </a:endParaRPr>
          </a:p>
        </p:txBody>
      </p:sp>
      <p:grpSp>
        <p:nvGrpSpPr>
          <p:cNvPr id="23" name="Group 25">
            <a:extLst>
              <a:ext uri="{FF2B5EF4-FFF2-40B4-BE49-F238E27FC236}">
                <a16:creationId xmlns:a16="http://schemas.microsoft.com/office/drawing/2014/main" id="{FD117467-A5ED-6733-EDDC-2F9A4EEC05C7}"/>
              </a:ext>
            </a:extLst>
          </p:cNvPr>
          <p:cNvGrpSpPr>
            <a:grpSpLocks/>
          </p:cNvGrpSpPr>
          <p:nvPr/>
        </p:nvGrpSpPr>
        <p:grpSpPr bwMode="auto">
          <a:xfrm>
            <a:off x="1570038" y="1348769"/>
            <a:ext cx="6497638" cy="3240087"/>
            <a:chOff x="1106" y="1231"/>
            <a:chExt cx="4093" cy="2041"/>
          </a:xfrm>
        </p:grpSpPr>
        <p:sp>
          <p:nvSpPr>
            <p:cNvPr id="24" name="Freeform 26">
              <a:extLst>
                <a:ext uri="{FF2B5EF4-FFF2-40B4-BE49-F238E27FC236}">
                  <a16:creationId xmlns:a16="http://schemas.microsoft.com/office/drawing/2014/main" id="{6D5ADF88-307B-E31E-D39D-8B791C193DD0}"/>
                </a:ext>
              </a:extLst>
            </p:cNvPr>
            <p:cNvSpPr>
              <a:spLocks/>
            </p:cNvSpPr>
            <p:nvPr/>
          </p:nvSpPr>
          <p:spPr bwMode="auto">
            <a:xfrm>
              <a:off x="1106" y="1231"/>
              <a:ext cx="4093" cy="2041"/>
            </a:xfrm>
            <a:custGeom>
              <a:avLst/>
              <a:gdLst>
                <a:gd name="T0" fmla="*/ 98 w 4093"/>
                <a:gd name="T1" fmla="*/ 2025 h 2041"/>
                <a:gd name="T2" fmla="*/ 292 w 4093"/>
                <a:gd name="T3" fmla="*/ 2003 h 2041"/>
                <a:gd name="T4" fmla="*/ 476 w 4093"/>
                <a:gd name="T5" fmla="*/ 1976 h 2041"/>
                <a:gd name="T6" fmla="*/ 660 w 4093"/>
                <a:gd name="T7" fmla="*/ 1944 h 2041"/>
                <a:gd name="T8" fmla="*/ 692 w 4093"/>
                <a:gd name="T9" fmla="*/ 1938 h 2041"/>
                <a:gd name="T10" fmla="*/ 730 w 4093"/>
                <a:gd name="T11" fmla="*/ 1933 h 2041"/>
                <a:gd name="T12" fmla="*/ 768 w 4093"/>
                <a:gd name="T13" fmla="*/ 1928 h 2041"/>
                <a:gd name="T14" fmla="*/ 806 w 4093"/>
                <a:gd name="T15" fmla="*/ 1922 h 2041"/>
                <a:gd name="T16" fmla="*/ 844 w 4093"/>
                <a:gd name="T17" fmla="*/ 1917 h 2041"/>
                <a:gd name="T18" fmla="*/ 882 w 4093"/>
                <a:gd name="T19" fmla="*/ 1906 h 2041"/>
                <a:gd name="T20" fmla="*/ 919 w 4093"/>
                <a:gd name="T21" fmla="*/ 1901 h 2041"/>
                <a:gd name="T22" fmla="*/ 957 w 4093"/>
                <a:gd name="T23" fmla="*/ 1895 h 2041"/>
                <a:gd name="T24" fmla="*/ 1001 w 4093"/>
                <a:gd name="T25" fmla="*/ 1884 h 2041"/>
                <a:gd name="T26" fmla="*/ 1044 w 4093"/>
                <a:gd name="T27" fmla="*/ 1879 h 2041"/>
                <a:gd name="T28" fmla="*/ 1092 w 4093"/>
                <a:gd name="T29" fmla="*/ 1868 h 2041"/>
                <a:gd name="T30" fmla="*/ 1136 w 4093"/>
                <a:gd name="T31" fmla="*/ 1857 h 2041"/>
                <a:gd name="T32" fmla="*/ 1184 w 4093"/>
                <a:gd name="T33" fmla="*/ 1852 h 2041"/>
                <a:gd name="T34" fmla="*/ 1228 w 4093"/>
                <a:gd name="T35" fmla="*/ 1841 h 2041"/>
                <a:gd name="T36" fmla="*/ 1271 w 4093"/>
                <a:gd name="T37" fmla="*/ 1830 h 2041"/>
                <a:gd name="T38" fmla="*/ 1314 w 4093"/>
                <a:gd name="T39" fmla="*/ 1825 h 2041"/>
                <a:gd name="T40" fmla="*/ 1363 w 4093"/>
                <a:gd name="T41" fmla="*/ 1814 h 2041"/>
                <a:gd name="T42" fmla="*/ 1666 w 4093"/>
                <a:gd name="T43" fmla="*/ 1744 h 2041"/>
                <a:gd name="T44" fmla="*/ 1914 w 4093"/>
                <a:gd name="T45" fmla="*/ 1674 h 2041"/>
                <a:gd name="T46" fmla="*/ 2114 w 4093"/>
                <a:gd name="T47" fmla="*/ 1609 h 2041"/>
                <a:gd name="T48" fmla="*/ 2277 w 4093"/>
                <a:gd name="T49" fmla="*/ 1544 h 2041"/>
                <a:gd name="T50" fmla="*/ 2401 w 4093"/>
                <a:gd name="T51" fmla="*/ 1480 h 2041"/>
                <a:gd name="T52" fmla="*/ 2498 w 4093"/>
                <a:gd name="T53" fmla="*/ 1420 h 2041"/>
                <a:gd name="T54" fmla="*/ 2585 w 4093"/>
                <a:gd name="T55" fmla="*/ 1361 h 2041"/>
                <a:gd name="T56" fmla="*/ 2655 w 4093"/>
                <a:gd name="T57" fmla="*/ 1301 h 2041"/>
                <a:gd name="T58" fmla="*/ 2725 w 4093"/>
                <a:gd name="T59" fmla="*/ 1242 h 2041"/>
                <a:gd name="T60" fmla="*/ 2855 w 4093"/>
                <a:gd name="T61" fmla="*/ 1091 h 2041"/>
                <a:gd name="T62" fmla="*/ 2963 w 4093"/>
                <a:gd name="T63" fmla="*/ 929 h 2041"/>
                <a:gd name="T64" fmla="*/ 3061 w 4093"/>
                <a:gd name="T65" fmla="*/ 762 h 2041"/>
                <a:gd name="T66" fmla="*/ 3163 w 4093"/>
                <a:gd name="T67" fmla="*/ 594 h 2041"/>
                <a:gd name="T68" fmla="*/ 3282 w 4093"/>
                <a:gd name="T69" fmla="*/ 432 h 2041"/>
                <a:gd name="T70" fmla="*/ 3445 w 4093"/>
                <a:gd name="T71" fmla="*/ 286 h 2041"/>
                <a:gd name="T72" fmla="*/ 3650 w 4093"/>
                <a:gd name="T73" fmla="*/ 152 h 2041"/>
                <a:gd name="T74" fmla="*/ 3926 w 4093"/>
                <a:gd name="T75" fmla="*/ 44 h 20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093" h="2041">
                  <a:moveTo>
                    <a:pt x="0" y="2041"/>
                  </a:moveTo>
                  <a:lnTo>
                    <a:pt x="98" y="2025"/>
                  </a:lnTo>
                  <a:lnTo>
                    <a:pt x="195" y="2014"/>
                  </a:lnTo>
                  <a:lnTo>
                    <a:pt x="292" y="2003"/>
                  </a:lnTo>
                  <a:lnTo>
                    <a:pt x="384" y="1987"/>
                  </a:lnTo>
                  <a:lnTo>
                    <a:pt x="476" y="1976"/>
                  </a:lnTo>
                  <a:lnTo>
                    <a:pt x="568" y="1960"/>
                  </a:lnTo>
                  <a:lnTo>
                    <a:pt x="660" y="1944"/>
                  </a:lnTo>
                  <a:lnTo>
                    <a:pt x="676" y="1944"/>
                  </a:lnTo>
                  <a:lnTo>
                    <a:pt x="692" y="1938"/>
                  </a:lnTo>
                  <a:lnTo>
                    <a:pt x="714" y="1938"/>
                  </a:lnTo>
                  <a:lnTo>
                    <a:pt x="730" y="1933"/>
                  </a:lnTo>
                  <a:lnTo>
                    <a:pt x="752" y="1933"/>
                  </a:lnTo>
                  <a:lnTo>
                    <a:pt x="768" y="1928"/>
                  </a:lnTo>
                  <a:lnTo>
                    <a:pt x="790" y="1922"/>
                  </a:lnTo>
                  <a:lnTo>
                    <a:pt x="806" y="1922"/>
                  </a:lnTo>
                  <a:lnTo>
                    <a:pt x="822" y="1917"/>
                  </a:lnTo>
                  <a:lnTo>
                    <a:pt x="844" y="1917"/>
                  </a:lnTo>
                  <a:lnTo>
                    <a:pt x="860" y="1911"/>
                  </a:lnTo>
                  <a:lnTo>
                    <a:pt x="882" y="1906"/>
                  </a:lnTo>
                  <a:lnTo>
                    <a:pt x="898" y="1906"/>
                  </a:lnTo>
                  <a:lnTo>
                    <a:pt x="919" y="1901"/>
                  </a:lnTo>
                  <a:lnTo>
                    <a:pt x="936" y="1895"/>
                  </a:lnTo>
                  <a:lnTo>
                    <a:pt x="957" y="1895"/>
                  </a:lnTo>
                  <a:lnTo>
                    <a:pt x="979" y="1890"/>
                  </a:lnTo>
                  <a:lnTo>
                    <a:pt x="1001" y="1884"/>
                  </a:lnTo>
                  <a:lnTo>
                    <a:pt x="1022" y="1884"/>
                  </a:lnTo>
                  <a:lnTo>
                    <a:pt x="1044" y="1879"/>
                  </a:lnTo>
                  <a:lnTo>
                    <a:pt x="1065" y="1874"/>
                  </a:lnTo>
                  <a:lnTo>
                    <a:pt x="1092" y="1868"/>
                  </a:lnTo>
                  <a:lnTo>
                    <a:pt x="1114" y="1863"/>
                  </a:lnTo>
                  <a:lnTo>
                    <a:pt x="1136" y="1857"/>
                  </a:lnTo>
                  <a:lnTo>
                    <a:pt x="1157" y="1857"/>
                  </a:lnTo>
                  <a:lnTo>
                    <a:pt x="1184" y="1852"/>
                  </a:lnTo>
                  <a:lnTo>
                    <a:pt x="1206" y="1847"/>
                  </a:lnTo>
                  <a:lnTo>
                    <a:pt x="1228" y="1841"/>
                  </a:lnTo>
                  <a:lnTo>
                    <a:pt x="1249" y="1836"/>
                  </a:lnTo>
                  <a:lnTo>
                    <a:pt x="1271" y="1830"/>
                  </a:lnTo>
                  <a:lnTo>
                    <a:pt x="1293" y="1830"/>
                  </a:lnTo>
                  <a:lnTo>
                    <a:pt x="1314" y="1825"/>
                  </a:lnTo>
                  <a:lnTo>
                    <a:pt x="1341" y="1820"/>
                  </a:lnTo>
                  <a:lnTo>
                    <a:pt x="1363" y="1814"/>
                  </a:lnTo>
                  <a:lnTo>
                    <a:pt x="1520" y="1782"/>
                  </a:lnTo>
                  <a:lnTo>
                    <a:pt x="1666" y="1744"/>
                  </a:lnTo>
                  <a:lnTo>
                    <a:pt x="1801" y="1712"/>
                  </a:lnTo>
                  <a:lnTo>
                    <a:pt x="1914" y="1674"/>
                  </a:lnTo>
                  <a:lnTo>
                    <a:pt x="2022" y="1641"/>
                  </a:lnTo>
                  <a:lnTo>
                    <a:pt x="2114" y="1609"/>
                  </a:lnTo>
                  <a:lnTo>
                    <a:pt x="2201" y="1577"/>
                  </a:lnTo>
                  <a:lnTo>
                    <a:pt x="2277" y="1544"/>
                  </a:lnTo>
                  <a:lnTo>
                    <a:pt x="2342" y="1512"/>
                  </a:lnTo>
                  <a:lnTo>
                    <a:pt x="2401" y="1480"/>
                  </a:lnTo>
                  <a:lnTo>
                    <a:pt x="2455" y="1447"/>
                  </a:lnTo>
                  <a:lnTo>
                    <a:pt x="2498" y="1420"/>
                  </a:lnTo>
                  <a:lnTo>
                    <a:pt x="2542" y="1388"/>
                  </a:lnTo>
                  <a:lnTo>
                    <a:pt x="2585" y="1361"/>
                  </a:lnTo>
                  <a:lnTo>
                    <a:pt x="2617" y="1328"/>
                  </a:lnTo>
                  <a:lnTo>
                    <a:pt x="2655" y="1301"/>
                  </a:lnTo>
                  <a:lnTo>
                    <a:pt x="2688" y="1269"/>
                  </a:lnTo>
                  <a:lnTo>
                    <a:pt x="2725" y="1242"/>
                  </a:lnTo>
                  <a:lnTo>
                    <a:pt x="2796" y="1166"/>
                  </a:lnTo>
                  <a:lnTo>
                    <a:pt x="2855" y="1091"/>
                  </a:lnTo>
                  <a:lnTo>
                    <a:pt x="2915" y="1010"/>
                  </a:lnTo>
                  <a:lnTo>
                    <a:pt x="2963" y="929"/>
                  </a:lnTo>
                  <a:lnTo>
                    <a:pt x="3012" y="848"/>
                  </a:lnTo>
                  <a:lnTo>
                    <a:pt x="3061" y="762"/>
                  </a:lnTo>
                  <a:lnTo>
                    <a:pt x="3109" y="681"/>
                  </a:lnTo>
                  <a:lnTo>
                    <a:pt x="3163" y="594"/>
                  </a:lnTo>
                  <a:lnTo>
                    <a:pt x="3223" y="513"/>
                  </a:lnTo>
                  <a:lnTo>
                    <a:pt x="3282" y="432"/>
                  </a:lnTo>
                  <a:lnTo>
                    <a:pt x="3358" y="357"/>
                  </a:lnTo>
                  <a:lnTo>
                    <a:pt x="3445" y="286"/>
                  </a:lnTo>
                  <a:lnTo>
                    <a:pt x="3536" y="216"/>
                  </a:lnTo>
                  <a:lnTo>
                    <a:pt x="3650" y="152"/>
                  </a:lnTo>
                  <a:lnTo>
                    <a:pt x="3780" y="92"/>
                  </a:lnTo>
                  <a:lnTo>
                    <a:pt x="3926" y="44"/>
                  </a:lnTo>
                  <a:lnTo>
                    <a:pt x="4093" y="0"/>
                  </a:lnTo>
                </a:path>
              </a:pathLst>
            </a:custGeom>
            <a:noFill/>
            <a:ln w="349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 name="Rectangle 27">
              <a:extLst>
                <a:ext uri="{FF2B5EF4-FFF2-40B4-BE49-F238E27FC236}">
                  <a16:creationId xmlns:a16="http://schemas.microsoft.com/office/drawing/2014/main" id="{C638BB11-B2BD-374B-D667-417412374ECD}"/>
                </a:ext>
              </a:extLst>
            </p:cNvPr>
            <p:cNvSpPr>
              <a:spLocks noChangeArrowheads="1"/>
            </p:cNvSpPr>
            <p:nvPr/>
          </p:nvSpPr>
          <p:spPr bwMode="auto">
            <a:xfrm>
              <a:off x="4008" y="2213"/>
              <a:ext cx="768" cy="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eaLnBrk="0" hangingPunct="0"/>
              <a:r>
                <a:rPr lang="en-US" altLang="en-US" sz="2400" dirty="0">
                  <a:solidFill>
                    <a:srgbClr val="FF0000"/>
                  </a:solidFill>
                </a:rPr>
                <a:t>Costs </a:t>
              </a:r>
            </a:p>
            <a:p>
              <a:pPr algn="ctr" eaLnBrk="0" hangingPunct="0"/>
              <a:r>
                <a:rPr lang="en-US" altLang="en-US" sz="2400" dirty="0">
                  <a:solidFill>
                    <a:srgbClr val="FF0000"/>
                  </a:solidFill>
                </a:rPr>
                <a:t>Incurred</a:t>
              </a:r>
            </a:p>
          </p:txBody>
        </p:sp>
      </p:grpSp>
      <p:grpSp>
        <p:nvGrpSpPr>
          <p:cNvPr id="26" name="Group 28">
            <a:extLst>
              <a:ext uri="{FF2B5EF4-FFF2-40B4-BE49-F238E27FC236}">
                <a16:creationId xmlns:a16="http://schemas.microsoft.com/office/drawing/2014/main" id="{B33175C5-A7DF-119F-5830-EF6F56B96957}"/>
              </a:ext>
            </a:extLst>
          </p:cNvPr>
          <p:cNvGrpSpPr>
            <a:grpSpLocks/>
          </p:cNvGrpSpPr>
          <p:nvPr/>
        </p:nvGrpSpPr>
        <p:grpSpPr bwMode="auto">
          <a:xfrm>
            <a:off x="1570038" y="1355119"/>
            <a:ext cx="6497638" cy="3265487"/>
            <a:chOff x="1106" y="1235"/>
            <a:chExt cx="4093" cy="2057"/>
          </a:xfrm>
        </p:grpSpPr>
        <p:sp>
          <p:nvSpPr>
            <p:cNvPr id="27" name="Freeform 29">
              <a:extLst>
                <a:ext uri="{FF2B5EF4-FFF2-40B4-BE49-F238E27FC236}">
                  <a16:creationId xmlns:a16="http://schemas.microsoft.com/office/drawing/2014/main" id="{E308CDB1-8475-B022-110A-679789F687BC}"/>
                </a:ext>
              </a:extLst>
            </p:cNvPr>
            <p:cNvSpPr>
              <a:spLocks/>
            </p:cNvSpPr>
            <p:nvPr/>
          </p:nvSpPr>
          <p:spPr bwMode="auto">
            <a:xfrm>
              <a:off x="1106" y="1235"/>
              <a:ext cx="4093" cy="2057"/>
            </a:xfrm>
            <a:custGeom>
              <a:avLst/>
              <a:gdLst>
                <a:gd name="T0" fmla="*/ 0 w 4093"/>
                <a:gd name="T1" fmla="*/ 2057 h 2057"/>
                <a:gd name="T2" fmla="*/ 16 w 4093"/>
                <a:gd name="T3" fmla="*/ 1987 h 2057"/>
                <a:gd name="T4" fmla="*/ 38 w 4093"/>
                <a:gd name="T5" fmla="*/ 1917 h 2057"/>
                <a:gd name="T6" fmla="*/ 60 w 4093"/>
                <a:gd name="T7" fmla="*/ 1852 h 2057"/>
                <a:gd name="T8" fmla="*/ 81 w 4093"/>
                <a:gd name="T9" fmla="*/ 1782 h 2057"/>
                <a:gd name="T10" fmla="*/ 108 w 4093"/>
                <a:gd name="T11" fmla="*/ 1722 h 2057"/>
                <a:gd name="T12" fmla="*/ 135 w 4093"/>
                <a:gd name="T13" fmla="*/ 1657 h 2057"/>
                <a:gd name="T14" fmla="*/ 162 w 4093"/>
                <a:gd name="T15" fmla="*/ 1598 h 2057"/>
                <a:gd name="T16" fmla="*/ 195 w 4093"/>
                <a:gd name="T17" fmla="*/ 1539 h 2057"/>
                <a:gd name="T18" fmla="*/ 227 w 4093"/>
                <a:gd name="T19" fmla="*/ 1479 h 2057"/>
                <a:gd name="T20" fmla="*/ 260 w 4093"/>
                <a:gd name="T21" fmla="*/ 1425 h 2057"/>
                <a:gd name="T22" fmla="*/ 298 w 4093"/>
                <a:gd name="T23" fmla="*/ 1371 h 2057"/>
                <a:gd name="T24" fmla="*/ 335 w 4093"/>
                <a:gd name="T25" fmla="*/ 1317 h 2057"/>
                <a:gd name="T26" fmla="*/ 379 w 4093"/>
                <a:gd name="T27" fmla="*/ 1269 h 2057"/>
                <a:gd name="T28" fmla="*/ 417 w 4093"/>
                <a:gd name="T29" fmla="*/ 1220 h 2057"/>
                <a:gd name="T30" fmla="*/ 465 w 4093"/>
                <a:gd name="T31" fmla="*/ 1172 h 2057"/>
                <a:gd name="T32" fmla="*/ 509 w 4093"/>
                <a:gd name="T33" fmla="*/ 1128 h 2057"/>
                <a:gd name="T34" fmla="*/ 557 w 4093"/>
                <a:gd name="T35" fmla="*/ 1085 h 2057"/>
                <a:gd name="T36" fmla="*/ 611 w 4093"/>
                <a:gd name="T37" fmla="*/ 1042 h 2057"/>
                <a:gd name="T38" fmla="*/ 671 w 4093"/>
                <a:gd name="T39" fmla="*/ 993 h 2057"/>
                <a:gd name="T40" fmla="*/ 736 w 4093"/>
                <a:gd name="T41" fmla="*/ 950 h 2057"/>
                <a:gd name="T42" fmla="*/ 801 w 4093"/>
                <a:gd name="T43" fmla="*/ 907 h 2057"/>
                <a:gd name="T44" fmla="*/ 871 w 4093"/>
                <a:gd name="T45" fmla="*/ 869 h 2057"/>
                <a:gd name="T46" fmla="*/ 941 w 4093"/>
                <a:gd name="T47" fmla="*/ 826 h 2057"/>
                <a:gd name="T48" fmla="*/ 1011 w 4093"/>
                <a:gd name="T49" fmla="*/ 794 h 2057"/>
                <a:gd name="T50" fmla="*/ 1087 w 4093"/>
                <a:gd name="T51" fmla="*/ 756 h 2057"/>
                <a:gd name="T52" fmla="*/ 1157 w 4093"/>
                <a:gd name="T53" fmla="*/ 724 h 2057"/>
                <a:gd name="T54" fmla="*/ 1233 w 4093"/>
                <a:gd name="T55" fmla="*/ 691 h 2057"/>
                <a:gd name="T56" fmla="*/ 1309 w 4093"/>
                <a:gd name="T57" fmla="*/ 664 h 2057"/>
                <a:gd name="T58" fmla="*/ 1379 w 4093"/>
                <a:gd name="T59" fmla="*/ 637 h 2057"/>
                <a:gd name="T60" fmla="*/ 1455 w 4093"/>
                <a:gd name="T61" fmla="*/ 610 h 2057"/>
                <a:gd name="T62" fmla="*/ 1530 w 4093"/>
                <a:gd name="T63" fmla="*/ 583 h 2057"/>
                <a:gd name="T64" fmla="*/ 1601 w 4093"/>
                <a:gd name="T65" fmla="*/ 562 h 2057"/>
                <a:gd name="T66" fmla="*/ 1671 w 4093"/>
                <a:gd name="T67" fmla="*/ 535 h 2057"/>
                <a:gd name="T68" fmla="*/ 1741 w 4093"/>
                <a:gd name="T69" fmla="*/ 513 h 2057"/>
                <a:gd name="T70" fmla="*/ 1812 w 4093"/>
                <a:gd name="T71" fmla="*/ 491 h 2057"/>
                <a:gd name="T72" fmla="*/ 1877 w 4093"/>
                <a:gd name="T73" fmla="*/ 475 h 2057"/>
                <a:gd name="T74" fmla="*/ 1968 w 4093"/>
                <a:gd name="T75" fmla="*/ 443 h 2057"/>
                <a:gd name="T76" fmla="*/ 2055 w 4093"/>
                <a:gd name="T77" fmla="*/ 416 h 2057"/>
                <a:gd name="T78" fmla="*/ 2141 w 4093"/>
                <a:gd name="T79" fmla="*/ 389 h 2057"/>
                <a:gd name="T80" fmla="*/ 2223 w 4093"/>
                <a:gd name="T81" fmla="*/ 367 h 2057"/>
                <a:gd name="T82" fmla="*/ 2304 w 4093"/>
                <a:gd name="T83" fmla="*/ 340 h 2057"/>
                <a:gd name="T84" fmla="*/ 2385 w 4093"/>
                <a:gd name="T85" fmla="*/ 319 h 2057"/>
                <a:gd name="T86" fmla="*/ 2466 w 4093"/>
                <a:gd name="T87" fmla="*/ 297 h 2057"/>
                <a:gd name="T88" fmla="*/ 2552 w 4093"/>
                <a:gd name="T89" fmla="*/ 275 h 2057"/>
                <a:gd name="T90" fmla="*/ 2639 w 4093"/>
                <a:gd name="T91" fmla="*/ 254 h 2057"/>
                <a:gd name="T92" fmla="*/ 2731 w 4093"/>
                <a:gd name="T93" fmla="*/ 232 h 2057"/>
                <a:gd name="T94" fmla="*/ 2823 w 4093"/>
                <a:gd name="T95" fmla="*/ 211 h 2057"/>
                <a:gd name="T96" fmla="*/ 2925 w 4093"/>
                <a:gd name="T97" fmla="*/ 189 h 2057"/>
                <a:gd name="T98" fmla="*/ 3028 w 4093"/>
                <a:gd name="T99" fmla="*/ 168 h 2057"/>
                <a:gd name="T100" fmla="*/ 3142 w 4093"/>
                <a:gd name="T101" fmla="*/ 146 h 2057"/>
                <a:gd name="T102" fmla="*/ 3266 w 4093"/>
                <a:gd name="T103" fmla="*/ 124 h 2057"/>
                <a:gd name="T104" fmla="*/ 3396 w 4093"/>
                <a:gd name="T105" fmla="*/ 103 h 2057"/>
                <a:gd name="T106" fmla="*/ 3531 w 4093"/>
                <a:gd name="T107" fmla="*/ 81 h 2057"/>
                <a:gd name="T108" fmla="*/ 3682 w 4093"/>
                <a:gd name="T109" fmla="*/ 54 h 2057"/>
                <a:gd name="T110" fmla="*/ 4093 w 4093"/>
                <a:gd name="T111" fmla="*/ 0 h 20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093" h="2057">
                  <a:moveTo>
                    <a:pt x="0" y="2057"/>
                  </a:moveTo>
                  <a:lnTo>
                    <a:pt x="16" y="1987"/>
                  </a:lnTo>
                  <a:lnTo>
                    <a:pt x="38" y="1917"/>
                  </a:lnTo>
                  <a:lnTo>
                    <a:pt x="60" y="1852"/>
                  </a:lnTo>
                  <a:lnTo>
                    <a:pt x="81" y="1782"/>
                  </a:lnTo>
                  <a:lnTo>
                    <a:pt x="108" y="1722"/>
                  </a:lnTo>
                  <a:lnTo>
                    <a:pt x="135" y="1657"/>
                  </a:lnTo>
                  <a:lnTo>
                    <a:pt x="162" y="1598"/>
                  </a:lnTo>
                  <a:lnTo>
                    <a:pt x="195" y="1539"/>
                  </a:lnTo>
                  <a:lnTo>
                    <a:pt x="227" y="1479"/>
                  </a:lnTo>
                  <a:lnTo>
                    <a:pt x="260" y="1425"/>
                  </a:lnTo>
                  <a:lnTo>
                    <a:pt x="298" y="1371"/>
                  </a:lnTo>
                  <a:lnTo>
                    <a:pt x="335" y="1317"/>
                  </a:lnTo>
                  <a:lnTo>
                    <a:pt x="379" y="1269"/>
                  </a:lnTo>
                  <a:lnTo>
                    <a:pt x="417" y="1220"/>
                  </a:lnTo>
                  <a:lnTo>
                    <a:pt x="465" y="1172"/>
                  </a:lnTo>
                  <a:lnTo>
                    <a:pt x="509" y="1128"/>
                  </a:lnTo>
                  <a:lnTo>
                    <a:pt x="557" y="1085"/>
                  </a:lnTo>
                  <a:lnTo>
                    <a:pt x="611" y="1042"/>
                  </a:lnTo>
                  <a:lnTo>
                    <a:pt x="671" y="993"/>
                  </a:lnTo>
                  <a:lnTo>
                    <a:pt x="736" y="950"/>
                  </a:lnTo>
                  <a:lnTo>
                    <a:pt x="801" y="907"/>
                  </a:lnTo>
                  <a:lnTo>
                    <a:pt x="871" y="869"/>
                  </a:lnTo>
                  <a:lnTo>
                    <a:pt x="941" y="826"/>
                  </a:lnTo>
                  <a:lnTo>
                    <a:pt x="1011" y="794"/>
                  </a:lnTo>
                  <a:lnTo>
                    <a:pt x="1087" y="756"/>
                  </a:lnTo>
                  <a:lnTo>
                    <a:pt x="1157" y="724"/>
                  </a:lnTo>
                  <a:lnTo>
                    <a:pt x="1233" y="691"/>
                  </a:lnTo>
                  <a:lnTo>
                    <a:pt x="1309" y="664"/>
                  </a:lnTo>
                  <a:lnTo>
                    <a:pt x="1379" y="637"/>
                  </a:lnTo>
                  <a:lnTo>
                    <a:pt x="1455" y="610"/>
                  </a:lnTo>
                  <a:lnTo>
                    <a:pt x="1530" y="583"/>
                  </a:lnTo>
                  <a:lnTo>
                    <a:pt x="1601" y="562"/>
                  </a:lnTo>
                  <a:lnTo>
                    <a:pt x="1671" y="535"/>
                  </a:lnTo>
                  <a:lnTo>
                    <a:pt x="1741" y="513"/>
                  </a:lnTo>
                  <a:lnTo>
                    <a:pt x="1812" y="491"/>
                  </a:lnTo>
                  <a:lnTo>
                    <a:pt x="1877" y="475"/>
                  </a:lnTo>
                  <a:lnTo>
                    <a:pt x="1968" y="443"/>
                  </a:lnTo>
                  <a:lnTo>
                    <a:pt x="2055" y="416"/>
                  </a:lnTo>
                  <a:lnTo>
                    <a:pt x="2141" y="389"/>
                  </a:lnTo>
                  <a:lnTo>
                    <a:pt x="2223" y="367"/>
                  </a:lnTo>
                  <a:lnTo>
                    <a:pt x="2304" y="340"/>
                  </a:lnTo>
                  <a:lnTo>
                    <a:pt x="2385" y="319"/>
                  </a:lnTo>
                  <a:lnTo>
                    <a:pt x="2466" y="297"/>
                  </a:lnTo>
                  <a:lnTo>
                    <a:pt x="2552" y="275"/>
                  </a:lnTo>
                  <a:lnTo>
                    <a:pt x="2639" y="254"/>
                  </a:lnTo>
                  <a:lnTo>
                    <a:pt x="2731" y="232"/>
                  </a:lnTo>
                  <a:lnTo>
                    <a:pt x="2823" y="211"/>
                  </a:lnTo>
                  <a:lnTo>
                    <a:pt x="2925" y="189"/>
                  </a:lnTo>
                  <a:lnTo>
                    <a:pt x="3028" y="168"/>
                  </a:lnTo>
                  <a:lnTo>
                    <a:pt x="3142" y="146"/>
                  </a:lnTo>
                  <a:lnTo>
                    <a:pt x="3266" y="124"/>
                  </a:lnTo>
                  <a:lnTo>
                    <a:pt x="3396" y="103"/>
                  </a:lnTo>
                  <a:lnTo>
                    <a:pt x="3531" y="81"/>
                  </a:lnTo>
                  <a:lnTo>
                    <a:pt x="3682" y="54"/>
                  </a:lnTo>
                  <a:lnTo>
                    <a:pt x="4093" y="0"/>
                  </a:lnTo>
                </a:path>
              </a:pathLst>
            </a:custGeom>
            <a:noFill/>
            <a:ln w="349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 name="Rectangle 30">
              <a:extLst>
                <a:ext uri="{FF2B5EF4-FFF2-40B4-BE49-F238E27FC236}">
                  <a16:creationId xmlns:a16="http://schemas.microsoft.com/office/drawing/2014/main" id="{C1E906B3-89AD-EBCA-9E1D-A5236D9234AC}"/>
                </a:ext>
              </a:extLst>
            </p:cNvPr>
            <p:cNvSpPr>
              <a:spLocks noChangeArrowheads="1"/>
            </p:cNvSpPr>
            <p:nvPr/>
          </p:nvSpPr>
          <p:spPr bwMode="auto">
            <a:xfrm>
              <a:off x="1943" y="1339"/>
              <a:ext cx="1589"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en-US" sz="2400" dirty="0">
                  <a:solidFill>
                    <a:srgbClr val="FF0000"/>
                  </a:solidFill>
                </a:rPr>
                <a:t>Costs Committed</a:t>
              </a:r>
              <a:endParaRPr lang="en-US" altLang="en-US" sz="2400" b="0" dirty="0">
                <a:latin typeface="Times" panose="02020603050405020304" pitchFamily="18" charset="0"/>
              </a:endParaRPr>
            </a:p>
          </p:txBody>
        </p:sp>
      </p:grpSp>
      <p:sp>
        <p:nvSpPr>
          <p:cNvPr id="29" name="Line 31">
            <a:extLst>
              <a:ext uri="{FF2B5EF4-FFF2-40B4-BE49-F238E27FC236}">
                <a16:creationId xmlns:a16="http://schemas.microsoft.com/office/drawing/2014/main" id="{4A651F47-8989-8E1F-1682-76EC0C1A0D8E}"/>
              </a:ext>
            </a:extLst>
          </p:cNvPr>
          <p:cNvSpPr>
            <a:spLocks noChangeShapeType="1"/>
          </p:cNvSpPr>
          <p:nvPr/>
        </p:nvSpPr>
        <p:spPr bwMode="auto">
          <a:xfrm>
            <a:off x="8077201" y="4606319"/>
            <a:ext cx="128587" cy="1587"/>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 name="Freeform 32">
            <a:extLst>
              <a:ext uri="{FF2B5EF4-FFF2-40B4-BE49-F238E27FC236}">
                <a16:creationId xmlns:a16="http://schemas.microsoft.com/office/drawing/2014/main" id="{93252FA8-3762-887A-BFEF-AA98CD8FF2A2}"/>
              </a:ext>
            </a:extLst>
          </p:cNvPr>
          <p:cNvSpPr>
            <a:spLocks/>
          </p:cNvSpPr>
          <p:nvPr/>
        </p:nvSpPr>
        <p:spPr bwMode="auto">
          <a:xfrm>
            <a:off x="8180388" y="4495194"/>
            <a:ext cx="222250" cy="222250"/>
          </a:xfrm>
          <a:custGeom>
            <a:avLst/>
            <a:gdLst>
              <a:gd name="T0" fmla="*/ 0 w 140"/>
              <a:gd name="T1" fmla="*/ 0 h 140"/>
              <a:gd name="T2" fmla="*/ 140 w 140"/>
              <a:gd name="T3" fmla="*/ 70 h 140"/>
              <a:gd name="T4" fmla="*/ 0 w 140"/>
              <a:gd name="T5" fmla="*/ 140 h 140"/>
              <a:gd name="T6" fmla="*/ 0 w 140"/>
              <a:gd name="T7" fmla="*/ 0 h 140"/>
            </a:gdLst>
            <a:ahLst/>
            <a:cxnLst>
              <a:cxn ang="0">
                <a:pos x="T0" y="T1"/>
              </a:cxn>
              <a:cxn ang="0">
                <a:pos x="T2" y="T3"/>
              </a:cxn>
              <a:cxn ang="0">
                <a:pos x="T4" y="T5"/>
              </a:cxn>
              <a:cxn ang="0">
                <a:pos x="T6" y="T7"/>
              </a:cxn>
            </a:cxnLst>
            <a:rect l="0" t="0" r="r" b="b"/>
            <a:pathLst>
              <a:path w="140" h="140">
                <a:moveTo>
                  <a:pt x="0" y="0"/>
                </a:moveTo>
                <a:lnTo>
                  <a:pt x="140" y="70"/>
                </a:lnTo>
                <a:lnTo>
                  <a:pt x="0" y="14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31" name="Group 33">
            <a:extLst>
              <a:ext uri="{FF2B5EF4-FFF2-40B4-BE49-F238E27FC236}">
                <a16:creationId xmlns:a16="http://schemas.microsoft.com/office/drawing/2014/main" id="{FD98897F-1961-69B4-EF6A-4DB12DB88BF6}"/>
              </a:ext>
            </a:extLst>
          </p:cNvPr>
          <p:cNvGrpSpPr>
            <a:grpSpLocks/>
          </p:cNvGrpSpPr>
          <p:nvPr/>
        </p:nvGrpSpPr>
        <p:grpSpPr bwMode="auto">
          <a:xfrm>
            <a:off x="1598613" y="1985356"/>
            <a:ext cx="3168650" cy="1981200"/>
            <a:chOff x="1124" y="1632"/>
            <a:chExt cx="1996" cy="1248"/>
          </a:xfrm>
        </p:grpSpPr>
        <p:sp>
          <p:nvSpPr>
            <p:cNvPr id="32" name="Line 34">
              <a:extLst>
                <a:ext uri="{FF2B5EF4-FFF2-40B4-BE49-F238E27FC236}">
                  <a16:creationId xmlns:a16="http://schemas.microsoft.com/office/drawing/2014/main" id="{9602B77A-A504-003D-EEEF-97087F16AEBC}"/>
                </a:ext>
              </a:extLst>
            </p:cNvPr>
            <p:cNvSpPr>
              <a:spLocks noChangeShapeType="1"/>
            </p:cNvSpPr>
            <p:nvPr/>
          </p:nvSpPr>
          <p:spPr bwMode="auto">
            <a:xfrm>
              <a:off x="1124" y="2865"/>
              <a:ext cx="1968" cy="0"/>
            </a:xfrm>
            <a:prstGeom prst="line">
              <a:avLst/>
            </a:prstGeom>
            <a:noFill/>
            <a:ln w="28575" cap="rnd">
              <a:solidFill>
                <a:srgbClr val="0000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 name="Line 35">
              <a:extLst>
                <a:ext uri="{FF2B5EF4-FFF2-40B4-BE49-F238E27FC236}">
                  <a16:creationId xmlns:a16="http://schemas.microsoft.com/office/drawing/2014/main" id="{8CD1B52B-D3E3-7714-D86E-E3674923CADD}"/>
                </a:ext>
              </a:extLst>
            </p:cNvPr>
            <p:cNvSpPr>
              <a:spLocks noChangeShapeType="1"/>
            </p:cNvSpPr>
            <p:nvPr/>
          </p:nvSpPr>
          <p:spPr bwMode="auto">
            <a:xfrm>
              <a:off x="1132" y="1637"/>
              <a:ext cx="1968" cy="0"/>
            </a:xfrm>
            <a:prstGeom prst="line">
              <a:avLst/>
            </a:prstGeom>
            <a:noFill/>
            <a:ln w="28575" cap="rnd">
              <a:solidFill>
                <a:srgbClr val="0000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 name="Line 36">
              <a:extLst>
                <a:ext uri="{FF2B5EF4-FFF2-40B4-BE49-F238E27FC236}">
                  <a16:creationId xmlns:a16="http://schemas.microsoft.com/office/drawing/2014/main" id="{8C1A7AC3-F67D-DD2B-F789-9A67829B1020}"/>
                </a:ext>
              </a:extLst>
            </p:cNvPr>
            <p:cNvSpPr>
              <a:spLocks noChangeShapeType="1"/>
            </p:cNvSpPr>
            <p:nvPr/>
          </p:nvSpPr>
          <p:spPr bwMode="auto">
            <a:xfrm rot="-5400000">
              <a:off x="2496" y="2256"/>
              <a:ext cx="1248" cy="0"/>
            </a:xfrm>
            <a:prstGeom prst="line">
              <a:avLst/>
            </a:prstGeom>
            <a:noFill/>
            <a:ln w="28575" cap="rnd">
              <a:solidFill>
                <a:srgbClr val="0000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35" name="Text Box 37">
            <a:extLst>
              <a:ext uri="{FF2B5EF4-FFF2-40B4-BE49-F238E27FC236}">
                <a16:creationId xmlns:a16="http://schemas.microsoft.com/office/drawing/2014/main" id="{165710D4-6BDB-7C7D-CF0E-AE2EDB23DFC8}"/>
              </a:ext>
            </a:extLst>
          </p:cNvPr>
          <p:cNvSpPr txBox="1">
            <a:spLocks noChangeArrowheads="1"/>
          </p:cNvSpPr>
          <p:nvPr/>
        </p:nvSpPr>
        <p:spPr bwMode="auto">
          <a:xfrm>
            <a:off x="366714" y="5811057"/>
            <a:ext cx="8489623" cy="369332"/>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b="1" i="1" dirty="0">
                <a:solidFill>
                  <a:srgbClr val="FF0000"/>
                </a:solidFill>
              </a:rPr>
              <a:t>Requirement and concept development commit costs before they are incurred.</a:t>
            </a:r>
            <a:endParaRPr lang="en-US" altLang="en-US" sz="2400" b="1" i="1" dirty="0">
              <a:solidFill>
                <a:srgbClr val="FF0000"/>
              </a:solidFill>
            </a:endParaRPr>
          </a:p>
        </p:txBody>
      </p:sp>
    </p:spTree>
    <p:extLst>
      <p:ext uri="{BB962C8B-B14F-4D97-AF65-F5344CB8AC3E}">
        <p14:creationId xmlns:p14="http://schemas.microsoft.com/office/powerpoint/2010/main" val="2462251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12950-3A05-46EF-B542-D735B2D230BE}"/>
              </a:ext>
            </a:extLst>
          </p:cNvPr>
          <p:cNvSpPr>
            <a:spLocks noGrp="1"/>
          </p:cNvSpPr>
          <p:nvPr>
            <p:ph type="title"/>
          </p:nvPr>
        </p:nvSpPr>
        <p:spPr/>
        <p:txBody>
          <a:bodyPr/>
          <a:lstStyle/>
          <a:p>
            <a:r>
              <a:rPr lang="en-US" dirty="0"/>
              <a:t>Types of Requirements</a:t>
            </a:r>
          </a:p>
        </p:txBody>
      </p:sp>
      <p:sp>
        <p:nvSpPr>
          <p:cNvPr id="4" name="Slide Number Placeholder 3">
            <a:extLst>
              <a:ext uri="{FF2B5EF4-FFF2-40B4-BE49-F238E27FC236}">
                <a16:creationId xmlns:a16="http://schemas.microsoft.com/office/drawing/2014/main" id="{7AF1C6AF-08A4-6DE8-0BAC-5141FCEB3B3E}"/>
              </a:ext>
            </a:extLst>
          </p:cNvPr>
          <p:cNvSpPr>
            <a:spLocks noGrp="1"/>
          </p:cNvSpPr>
          <p:nvPr>
            <p:ph type="sldNum" sz="quarter" idx="12"/>
          </p:nvPr>
        </p:nvSpPr>
        <p:spPr/>
        <p:txBody>
          <a:bodyPr/>
          <a:lstStyle/>
          <a:p>
            <a:fld id="{9A3029B7-FE6B-4680-9049-80E8298A0825}" type="slidenum">
              <a:rPr lang="en-US" smtClean="0"/>
              <a:t>11</a:t>
            </a:fld>
            <a:endParaRPr lang="en-US"/>
          </a:p>
        </p:txBody>
      </p:sp>
      <p:sp>
        <p:nvSpPr>
          <p:cNvPr id="5" name="Rectangle 3">
            <a:extLst>
              <a:ext uri="{FF2B5EF4-FFF2-40B4-BE49-F238E27FC236}">
                <a16:creationId xmlns:a16="http://schemas.microsoft.com/office/drawing/2014/main" id="{98332529-4478-0FAB-0BD7-3CBE4775BB10}"/>
              </a:ext>
            </a:extLst>
          </p:cNvPr>
          <p:cNvSpPr txBox="1">
            <a:spLocks noChangeArrowheads="1"/>
          </p:cNvSpPr>
          <p:nvPr/>
        </p:nvSpPr>
        <p:spPr>
          <a:xfrm>
            <a:off x="46364" y="1085850"/>
            <a:ext cx="9051272" cy="55006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55000"/>
              </a:spcBef>
              <a:buNone/>
            </a:pPr>
            <a:r>
              <a:rPr lang="en-US" altLang="en-US" sz="1800" b="1" u="sng" dirty="0">
                <a:solidFill>
                  <a:srgbClr val="0070C0"/>
                </a:solidFill>
              </a:rPr>
              <a:t>Functional</a:t>
            </a:r>
            <a:r>
              <a:rPr lang="en-US" altLang="en-US" sz="1800" dirty="0">
                <a:solidFill>
                  <a:srgbClr val="0070C0"/>
                </a:solidFill>
              </a:rPr>
              <a:t> - Requirements which define </a:t>
            </a:r>
            <a:r>
              <a:rPr lang="en-US" altLang="en-US" sz="1800" b="1" i="1" dirty="0">
                <a:solidFill>
                  <a:srgbClr val="0070C0"/>
                </a:solidFill>
              </a:rPr>
              <a:t>what</a:t>
            </a:r>
            <a:r>
              <a:rPr lang="en-US" altLang="en-US" sz="1800" dirty="0">
                <a:solidFill>
                  <a:srgbClr val="0070C0"/>
                </a:solidFill>
              </a:rPr>
              <a:t> an item </a:t>
            </a:r>
            <a:r>
              <a:rPr lang="en-US" altLang="en-US" sz="1800" i="1" dirty="0">
                <a:solidFill>
                  <a:srgbClr val="0070C0"/>
                </a:solidFill>
              </a:rPr>
              <a:t>must</a:t>
            </a:r>
            <a:r>
              <a:rPr lang="en-US" altLang="en-US" sz="1800" dirty="0">
                <a:solidFill>
                  <a:srgbClr val="0070C0"/>
                </a:solidFill>
              </a:rPr>
              <a:t> </a:t>
            </a:r>
            <a:r>
              <a:rPr lang="en-US" altLang="en-US" sz="1800" i="1" dirty="0">
                <a:solidFill>
                  <a:srgbClr val="0070C0"/>
                </a:solidFill>
              </a:rPr>
              <a:t>do</a:t>
            </a:r>
            <a:r>
              <a:rPr lang="en-US" altLang="en-US" sz="1800" dirty="0">
                <a:solidFill>
                  <a:srgbClr val="0070C0"/>
                </a:solidFill>
              </a:rPr>
              <a:t>.</a:t>
            </a:r>
          </a:p>
          <a:p>
            <a:pPr lvl="1">
              <a:spcBef>
                <a:spcPct val="55000"/>
              </a:spcBef>
            </a:pPr>
            <a:r>
              <a:rPr lang="en-US" altLang="en-US" sz="1600" dirty="0">
                <a:solidFill>
                  <a:srgbClr val="0070C0"/>
                </a:solidFill>
              </a:rPr>
              <a:t>The system shall provide communications between the ground and the spacecraft.</a:t>
            </a:r>
          </a:p>
          <a:p>
            <a:pPr marL="0" indent="0">
              <a:spcBef>
                <a:spcPct val="55000"/>
              </a:spcBef>
              <a:buNone/>
            </a:pPr>
            <a:r>
              <a:rPr lang="en-US" altLang="en-US" sz="1800" b="1" u="sng" dirty="0">
                <a:solidFill>
                  <a:srgbClr val="00B050"/>
                </a:solidFill>
              </a:rPr>
              <a:t>Performance</a:t>
            </a:r>
            <a:r>
              <a:rPr lang="en-US" altLang="en-US" sz="1800" dirty="0">
                <a:solidFill>
                  <a:srgbClr val="00B050"/>
                </a:solidFill>
              </a:rPr>
              <a:t> - Requirements which define and quantify </a:t>
            </a:r>
            <a:r>
              <a:rPr lang="en-US" altLang="en-US" sz="1800" b="1" i="1" dirty="0">
                <a:solidFill>
                  <a:srgbClr val="00B050"/>
                </a:solidFill>
              </a:rPr>
              <a:t>how</a:t>
            </a:r>
            <a:r>
              <a:rPr lang="en-US" altLang="en-US" sz="1800" b="1" dirty="0">
                <a:solidFill>
                  <a:srgbClr val="00B050"/>
                </a:solidFill>
              </a:rPr>
              <a:t> </a:t>
            </a:r>
            <a:r>
              <a:rPr lang="en-US" altLang="en-US" sz="1800" b="1" i="1" dirty="0">
                <a:solidFill>
                  <a:srgbClr val="00B050"/>
                </a:solidFill>
              </a:rPr>
              <a:t>well</a:t>
            </a:r>
            <a:r>
              <a:rPr lang="en-US" altLang="en-US" sz="1800" dirty="0">
                <a:solidFill>
                  <a:srgbClr val="00B050"/>
                </a:solidFill>
              </a:rPr>
              <a:t> an item must accomplish a particular function.</a:t>
            </a:r>
          </a:p>
          <a:p>
            <a:pPr lvl="1">
              <a:spcBef>
                <a:spcPct val="55000"/>
              </a:spcBef>
            </a:pPr>
            <a:r>
              <a:rPr lang="en-US" altLang="en-US" sz="1600" dirty="0">
                <a:solidFill>
                  <a:srgbClr val="00B050"/>
                </a:solidFill>
              </a:rPr>
              <a:t>Provide communications over what range, with what data rate and how often</a:t>
            </a:r>
            <a:endParaRPr lang="en-US" altLang="en-US" sz="1600" u="sng" dirty="0">
              <a:solidFill>
                <a:srgbClr val="00B050"/>
              </a:solidFill>
            </a:endParaRPr>
          </a:p>
          <a:p>
            <a:pPr marL="0" indent="0">
              <a:spcBef>
                <a:spcPct val="55000"/>
              </a:spcBef>
              <a:buNone/>
            </a:pPr>
            <a:r>
              <a:rPr lang="en-US" altLang="en-US" sz="1800" b="1" u="sng" dirty="0">
                <a:solidFill>
                  <a:srgbClr val="FF0000"/>
                </a:solidFill>
              </a:rPr>
              <a:t>Constraint</a:t>
            </a:r>
            <a:r>
              <a:rPr lang="en-US" altLang="en-US" sz="1800" dirty="0">
                <a:solidFill>
                  <a:srgbClr val="FF0000"/>
                </a:solidFill>
              </a:rPr>
              <a:t> – Requirements that capture </a:t>
            </a:r>
            <a:r>
              <a:rPr lang="en-US" altLang="en-US" sz="1800" b="1" dirty="0">
                <a:solidFill>
                  <a:srgbClr val="FF0000"/>
                </a:solidFill>
              </a:rPr>
              <a:t>limitations</a:t>
            </a:r>
            <a:r>
              <a:rPr lang="en-US" altLang="en-US" sz="1800" dirty="0">
                <a:solidFill>
                  <a:srgbClr val="FF0000"/>
                </a:solidFill>
              </a:rPr>
              <a:t> such as schedule, budget, operational, environmental, safety or regulatory limitations. Often externally imposed. Examples:</a:t>
            </a:r>
          </a:p>
          <a:p>
            <a:pPr lvl="1">
              <a:spcBef>
                <a:spcPct val="55000"/>
              </a:spcBef>
            </a:pPr>
            <a:r>
              <a:rPr lang="en-US" altLang="en-US" sz="1600" dirty="0">
                <a:solidFill>
                  <a:srgbClr val="FF0000"/>
                </a:solidFill>
              </a:rPr>
              <a:t>The communications system shall use X-band frequencies.</a:t>
            </a:r>
          </a:p>
          <a:p>
            <a:pPr lvl="1">
              <a:spcBef>
                <a:spcPct val="55000"/>
              </a:spcBef>
            </a:pPr>
            <a:r>
              <a:rPr lang="en-US" altLang="en-US" sz="1600" dirty="0">
                <a:solidFill>
                  <a:srgbClr val="FF0000"/>
                </a:solidFill>
              </a:rPr>
              <a:t>The maximum RF power density shall be less than 10 watts/m</a:t>
            </a:r>
            <a:r>
              <a:rPr lang="en-US" altLang="en-US" sz="1600" baseline="30000" dirty="0">
                <a:solidFill>
                  <a:srgbClr val="FF0000"/>
                </a:solidFill>
              </a:rPr>
              <a:t>2 </a:t>
            </a:r>
            <a:r>
              <a:rPr lang="en-US" altLang="en-US" sz="1600" dirty="0">
                <a:solidFill>
                  <a:srgbClr val="FF0000"/>
                </a:solidFill>
              </a:rPr>
              <a:t>[due to regulation]</a:t>
            </a:r>
            <a:endParaRPr lang="en-US" altLang="en-US" sz="1600" u="sng" dirty="0">
              <a:solidFill>
                <a:srgbClr val="FF0000"/>
              </a:solidFill>
            </a:endParaRPr>
          </a:p>
          <a:p>
            <a:pPr lvl="1">
              <a:spcBef>
                <a:spcPct val="55000"/>
              </a:spcBef>
            </a:pPr>
            <a:r>
              <a:rPr lang="en-US" altLang="en-US" sz="1600" dirty="0">
                <a:solidFill>
                  <a:srgbClr val="FF0000"/>
                </a:solidFill>
              </a:rPr>
              <a:t>Design standards (e.g., metric units, programming language, etc.)</a:t>
            </a:r>
          </a:p>
          <a:p>
            <a:pPr marL="0" indent="0">
              <a:spcBef>
                <a:spcPct val="55000"/>
              </a:spcBef>
              <a:buNone/>
            </a:pPr>
            <a:r>
              <a:rPr lang="en-US" altLang="en-US" sz="1800" b="1" u="sng" dirty="0">
                <a:solidFill>
                  <a:srgbClr val="7030A0"/>
                </a:solidFill>
              </a:rPr>
              <a:t>Verification</a:t>
            </a:r>
            <a:r>
              <a:rPr lang="en-US" altLang="en-US" sz="1800" dirty="0">
                <a:solidFill>
                  <a:srgbClr val="7030A0"/>
                </a:solidFill>
              </a:rPr>
              <a:t> - Requirements capture how confidence will be established that the system will perform in its intended environment.</a:t>
            </a:r>
          </a:p>
          <a:p>
            <a:pPr lvl="1"/>
            <a:r>
              <a:rPr lang="en-US" altLang="en-US" sz="1600" dirty="0">
                <a:solidFill>
                  <a:srgbClr val="7030A0"/>
                </a:solidFill>
              </a:rPr>
              <a:t>All performance and functional requirements shall be met while the system is in a vacuum chamber with 2.5 </a:t>
            </a:r>
            <a:r>
              <a:rPr lang="en-US" altLang="en-US" sz="1600" dirty="0" err="1">
                <a:solidFill>
                  <a:srgbClr val="7030A0"/>
                </a:solidFill>
              </a:rPr>
              <a:t>Kwatts</a:t>
            </a:r>
            <a:r>
              <a:rPr lang="en-US" altLang="en-US" sz="1600" dirty="0">
                <a:solidFill>
                  <a:srgbClr val="7030A0"/>
                </a:solidFill>
              </a:rPr>
              <a:t>/m</a:t>
            </a:r>
            <a:r>
              <a:rPr lang="en-US" altLang="en-US" sz="1600" baseline="30000" dirty="0">
                <a:solidFill>
                  <a:srgbClr val="7030A0"/>
                </a:solidFill>
              </a:rPr>
              <a:t>2</a:t>
            </a:r>
            <a:r>
              <a:rPr lang="en-US" altLang="en-US" sz="1600" dirty="0">
                <a:solidFill>
                  <a:srgbClr val="7030A0"/>
                </a:solidFill>
              </a:rPr>
              <a:t> of visible light illuminating the z-side.</a:t>
            </a:r>
          </a:p>
        </p:txBody>
      </p:sp>
    </p:spTree>
    <p:extLst>
      <p:ext uri="{BB962C8B-B14F-4D97-AF65-F5344CB8AC3E}">
        <p14:creationId xmlns:p14="http://schemas.microsoft.com/office/powerpoint/2010/main" val="81232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500"/>
                                        <p:tgtEl>
                                          <p:spTgt spid="5">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3" end="3"/>
                                            </p:txEl>
                                          </p:spTgt>
                                        </p:tgtEl>
                                        <p:attrNameLst>
                                          <p:attrName>style.visibility</p:attrName>
                                        </p:attrNameLst>
                                      </p:cBhvr>
                                      <p:to>
                                        <p:strVal val="visible"/>
                                      </p:to>
                                    </p:set>
                                    <p:animEffect transition="in" filter="fade">
                                      <p:cBhvr>
                                        <p:cTn id="10" dur="500"/>
                                        <p:tgtEl>
                                          <p:spTgt spid="5">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animEffect transition="in" filter="fade">
                                      <p:cBhvr>
                                        <p:cTn id="15" dur="500"/>
                                        <p:tgtEl>
                                          <p:spTgt spid="5">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5">
                                            <p:txEl>
                                              <p:pRg st="5" end="5"/>
                                            </p:txEl>
                                          </p:spTgt>
                                        </p:tgtEl>
                                        <p:attrNameLst>
                                          <p:attrName>style.visibility</p:attrName>
                                        </p:attrNameLst>
                                      </p:cBhvr>
                                      <p:to>
                                        <p:strVal val="visible"/>
                                      </p:to>
                                    </p:set>
                                    <p:animEffect transition="in" filter="fade">
                                      <p:cBhvr>
                                        <p:cTn id="18" dur="500"/>
                                        <p:tgtEl>
                                          <p:spTgt spid="5">
                                            <p:txEl>
                                              <p:pRg st="5" end="5"/>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5">
                                            <p:txEl>
                                              <p:pRg st="6" end="6"/>
                                            </p:txEl>
                                          </p:spTgt>
                                        </p:tgtEl>
                                        <p:attrNameLst>
                                          <p:attrName>style.visibility</p:attrName>
                                        </p:attrNameLst>
                                      </p:cBhvr>
                                      <p:to>
                                        <p:strVal val="visible"/>
                                      </p:to>
                                    </p:set>
                                    <p:animEffect transition="in" filter="fade">
                                      <p:cBhvr>
                                        <p:cTn id="21" dur="500"/>
                                        <p:tgtEl>
                                          <p:spTgt spid="5">
                                            <p:txEl>
                                              <p:pRg st="6" end="6"/>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5">
                                            <p:txEl>
                                              <p:pRg st="7" end="7"/>
                                            </p:txEl>
                                          </p:spTgt>
                                        </p:tgtEl>
                                        <p:attrNameLst>
                                          <p:attrName>style.visibility</p:attrName>
                                        </p:attrNameLst>
                                      </p:cBhvr>
                                      <p:to>
                                        <p:strVal val="visible"/>
                                      </p:to>
                                    </p:set>
                                    <p:animEffect transition="in" filter="fade">
                                      <p:cBhvr>
                                        <p:cTn id="24" dur="500"/>
                                        <p:tgtEl>
                                          <p:spTgt spid="5">
                                            <p:txEl>
                                              <p:pRg st="7" end="7"/>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5">
                                            <p:txEl>
                                              <p:pRg st="8" end="8"/>
                                            </p:txEl>
                                          </p:spTgt>
                                        </p:tgtEl>
                                        <p:attrNameLst>
                                          <p:attrName>style.visibility</p:attrName>
                                        </p:attrNameLst>
                                      </p:cBhvr>
                                      <p:to>
                                        <p:strVal val="visible"/>
                                      </p:to>
                                    </p:set>
                                    <p:animEffect transition="in" filter="fade">
                                      <p:cBhvr>
                                        <p:cTn id="29" dur="500"/>
                                        <p:tgtEl>
                                          <p:spTgt spid="5">
                                            <p:txEl>
                                              <p:pRg st="8" end="8"/>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5">
                                            <p:txEl>
                                              <p:pRg st="9" end="9"/>
                                            </p:txEl>
                                          </p:spTgt>
                                        </p:tgtEl>
                                        <p:attrNameLst>
                                          <p:attrName>style.visibility</p:attrName>
                                        </p:attrNameLst>
                                      </p:cBhvr>
                                      <p:to>
                                        <p:strVal val="visible"/>
                                      </p:to>
                                    </p:set>
                                    <p:animEffect transition="in" filter="fade">
                                      <p:cBhvr>
                                        <p:cTn id="32" dur="500"/>
                                        <p:tgtEl>
                                          <p:spTgt spid="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0C252-C2DA-A462-A234-5DAC1B791948}"/>
              </a:ext>
            </a:extLst>
          </p:cNvPr>
          <p:cNvSpPr>
            <a:spLocks noGrp="1"/>
          </p:cNvSpPr>
          <p:nvPr>
            <p:ph type="title"/>
          </p:nvPr>
        </p:nvSpPr>
        <p:spPr/>
        <p:txBody>
          <a:bodyPr/>
          <a:lstStyle/>
          <a:p>
            <a:r>
              <a:rPr lang="en-US" altLang="en-US" b="0" dirty="0"/>
              <a:t>Good Requirements Are</a:t>
            </a:r>
            <a:endParaRPr lang="en-US" dirty="0"/>
          </a:p>
        </p:txBody>
      </p:sp>
      <p:sp>
        <p:nvSpPr>
          <p:cNvPr id="4" name="Slide Number Placeholder 3">
            <a:extLst>
              <a:ext uri="{FF2B5EF4-FFF2-40B4-BE49-F238E27FC236}">
                <a16:creationId xmlns:a16="http://schemas.microsoft.com/office/drawing/2014/main" id="{A84082D4-5DF7-FBE9-1FE0-853EDAEA1A82}"/>
              </a:ext>
            </a:extLst>
          </p:cNvPr>
          <p:cNvSpPr>
            <a:spLocks noGrp="1"/>
          </p:cNvSpPr>
          <p:nvPr>
            <p:ph type="sldNum" sz="quarter" idx="12"/>
          </p:nvPr>
        </p:nvSpPr>
        <p:spPr/>
        <p:txBody>
          <a:bodyPr/>
          <a:lstStyle/>
          <a:p>
            <a:fld id="{9A3029B7-FE6B-4680-9049-80E8298A0825}" type="slidenum">
              <a:rPr lang="en-US" smtClean="0"/>
              <a:t>12</a:t>
            </a:fld>
            <a:endParaRPr lang="en-US"/>
          </a:p>
        </p:txBody>
      </p:sp>
      <p:sp>
        <p:nvSpPr>
          <p:cNvPr id="7" name="Content Placeholder 6">
            <a:extLst>
              <a:ext uri="{FF2B5EF4-FFF2-40B4-BE49-F238E27FC236}">
                <a16:creationId xmlns:a16="http://schemas.microsoft.com/office/drawing/2014/main" id="{D08F861C-C7EC-8E7F-313F-326219B8FA2C}"/>
              </a:ext>
            </a:extLst>
          </p:cNvPr>
          <p:cNvSpPr>
            <a:spLocks noGrp="1" noChangeArrowheads="1"/>
          </p:cNvSpPr>
          <p:nvPr>
            <p:ph idx="1"/>
          </p:nvPr>
        </p:nvSpPr>
        <p:spPr bwMode="auto">
          <a:xfrm>
            <a:off x="200025" y="1002506"/>
            <a:ext cx="8793015" cy="5722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rmAutofit/>
          </a:bodyPr>
          <a:lstStyle>
            <a:lvl1pPr marL="342900" indent="-342900" algn="l" rtl="0" fontAlgn="base">
              <a:spcBef>
                <a:spcPct val="20000"/>
              </a:spcBef>
              <a:spcAft>
                <a:spcPct val="0"/>
              </a:spcAft>
              <a:buClr>
                <a:srgbClr val="CC0000"/>
              </a:buClr>
              <a:buFont typeface="Symbol" panose="05050102010706020507" pitchFamily="18" charset="2"/>
              <a:buChar char=""/>
              <a:defRPr sz="2000" kern="1200">
                <a:solidFill>
                  <a:schemeClr val="tx1"/>
                </a:solidFill>
                <a:latin typeface="+mn-lt"/>
                <a:ea typeface="+mn-ea"/>
                <a:cs typeface="+mn-cs"/>
              </a:defRPr>
            </a:lvl1pPr>
            <a:lvl2pPr marL="742950" indent="-285750" algn="l" rtl="0" fontAlgn="base">
              <a:spcBef>
                <a:spcPct val="20000"/>
              </a:spcBef>
              <a:spcAft>
                <a:spcPct val="0"/>
              </a:spcAft>
              <a:buClr>
                <a:srgbClr val="FF0000"/>
              </a:buClr>
              <a:buFont typeface="Times" panose="02020603050405020304" pitchFamily="18" charset="0"/>
              <a:buChar char="•"/>
              <a:defRPr kern="1200">
                <a:solidFill>
                  <a:schemeClr val="tx1"/>
                </a:solidFill>
                <a:latin typeface="+mn-lt"/>
                <a:ea typeface="+mn-ea"/>
                <a:cs typeface="+mn-cs"/>
              </a:defRPr>
            </a:lvl2pPr>
            <a:lvl3pPr marL="1143000" indent="-228600" algn="l" rtl="0" fontAlgn="base">
              <a:spcBef>
                <a:spcPct val="20000"/>
              </a:spcBef>
              <a:spcAft>
                <a:spcPct val="0"/>
              </a:spcAft>
              <a:buChar char="•"/>
              <a:defRPr sz="1600" kern="1200">
                <a:solidFill>
                  <a:schemeClr val="tx1"/>
                </a:solidFill>
                <a:latin typeface="+mn-lt"/>
                <a:ea typeface="+mn-ea"/>
                <a:cs typeface="+mn-cs"/>
              </a:defRPr>
            </a:lvl3pPr>
            <a:lvl4pPr marL="1600200" indent="-228600" algn="l" rtl="0" fontAlgn="base">
              <a:spcBef>
                <a:spcPct val="20000"/>
              </a:spcBef>
              <a:spcAft>
                <a:spcPct val="0"/>
              </a:spcAft>
              <a:buChar char="–"/>
              <a:defRPr sz="14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nSpc>
                <a:spcPct val="90000"/>
              </a:lnSpc>
              <a:buNone/>
            </a:pPr>
            <a:r>
              <a:rPr lang="en-US" altLang="en-US" b="1" dirty="0"/>
              <a:t>S</a:t>
            </a:r>
            <a:r>
              <a:rPr lang="en-US" altLang="en-US" dirty="0"/>
              <a:t>pecific - </a:t>
            </a:r>
          </a:p>
          <a:p>
            <a:pPr lvl="2">
              <a:lnSpc>
                <a:spcPct val="90000"/>
              </a:lnSpc>
            </a:pPr>
            <a:r>
              <a:rPr lang="en-US" altLang="en-US" dirty="0"/>
              <a:t>It must address only one aspect of the system design or performance</a:t>
            </a:r>
          </a:p>
          <a:p>
            <a:pPr lvl="2">
              <a:lnSpc>
                <a:spcPct val="90000"/>
              </a:lnSpc>
            </a:pPr>
            <a:r>
              <a:rPr lang="en-US" altLang="en-US" dirty="0"/>
              <a:t>It must be expressed in terms of the need (what and how well), not the solution (how).</a:t>
            </a:r>
          </a:p>
          <a:p>
            <a:pPr marL="457200" lvl="1" indent="0">
              <a:lnSpc>
                <a:spcPct val="90000"/>
              </a:lnSpc>
              <a:buNone/>
            </a:pPr>
            <a:r>
              <a:rPr lang="en-US" altLang="en-US" b="1" dirty="0"/>
              <a:t>M</a:t>
            </a:r>
            <a:r>
              <a:rPr lang="en-US" altLang="en-US" dirty="0"/>
              <a:t>easurable - </a:t>
            </a:r>
          </a:p>
          <a:p>
            <a:pPr lvl="2">
              <a:lnSpc>
                <a:spcPct val="90000"/>
              </a:lnSpc>
            </a:pPr>
            <a:r>
              <a:rPr lang="en-US" altLang="en-US" dirty="0"/>
              <a:t>Performance is expressed objectively and quantitatively </a:t>
            </a:r>
          </a:p>
          <a:p>
            <a:pPr lvl="2">
              <a:lnSpc>
                <a:spcPct val="90000"/>
              </a:lnSpc>
            </a:pPr>
            <a:r>
              <a:rPr lang="en-US" altLang="en-US" dirty="0"/>
              <a:t>E.g., an exact pointing requirement (in degrees) can be tested thus verified prior to launch.</a:t>
            </a:r>
          </a:p>
          <a:p>
            <a:pPr marL="457200" lvl="1" indent="0">
              <a:lnSpc>
                <a:spcPct val="90000"/>
              </a:lnSpc>
              <a:buNone/>
            </a:pPr>
            <a:r>
              <a:rPr lang="en-US" altLang="en-US" b="1" dirty="0"/>
              <a:t>A</a:t>
            </a:r>
            <a:r>
              <a:rPr lang="en-US" altLang="en-US" dirty="0"/>
              <a:t>chievable - </a:t>
            </a:r>
          </a:p>
          <a:p>
            <a:pPr lvl="2">
              <a:lnSpc>
                <a:spcPct val="90000"/>
              </a:lnSpc>
            </a:pPr>
            <a:r>
              <a:rPr lang="en-US" altLang="en-US" dirty="0"/>
              <a:t>It must be technically achievable at costs considered affordable</a:t>
            </a:r>
          </a:p>
          <a:p>
            <a:pPr lvl="2">
              <a:lnSpc>
                <a:spcPct val="90000"/>
              </a:lnSpc>
            </a:pPr>
            <a:r>
              <a:rPr lang="en-US" altLang="en-US" dirty="0"/>
              <a:t>E.g., JWST early designs specified an aperture requirement eventually descoped due to technical issues with deployment.</a:t>
            </a:r>
          </a:p>
          <a:p>
            <a:pPr marL="457200" lvl="1" indent="0">
              <a:lnSpc>
                <a:spcPct val="90000"/>
              </a:lnSpc>
              <a:buNone/>
            </a:pPr>
            <a:r>
              <a:rPr lang="en-US" altLang="en-US" b="1" dirty="0"/>
              <a:t>R</a:t>
            </a:r>
            <a:r>
              <a:rPr lang="en-US" altLang="en-US" dirty="0"/>
              <a:t>elevant - </a:t>
            </a:r>
          </a:p>
          <a:p>
            <a:pPr lvl="2">
              <a:lnSpc>
                <a:spcPct val="90000"/>
              </a:lnSpc>
            </a:pPr>
            <a:r>
              <a:rPr lang="en-US" altLang="en-US" dirty="0"/>
              <a:t>It must be appropriate for the level being specified</a:t>
            </a:r>
          </a:p>
          <a:p>
            <a:pPr lvl="2">
              <a:lnSpc>
                <a:spcPct val="90000"/>
              </a:lnSpc>
            </a:pPr>
            <a:r>
              <a:rPr lang="en-US" altLang="en-US" dirty="0"/>
              <a:t>E.g., requirement on the solar cells should not be designated at the spacecraft level.</a:t>
            </a:r>
          </a:p>
          <a:p>
            <a:pPr marL="457200" lvl="1" indent="0">
              <a:lnSpc>
                <a:spcPct val="90000"/>
              </a:lnSpc>
              <a:buNone/>
            </a:pPr>
            <a:r>
              <a:rPr lang="en-US" altLang="en-US" b="1" dirty="0"/>
              <a:t>T</a:t>
            </a:r>
            <a:r>
              <a:rPr lang="en-US" altLang="en-US" dirty="0"/>
              <a:t>raceable - </a:t>
            </a:r>
          </a:p>
          <a:p>
            <a:pPr lvl="2">
              <a:lnSpc>
                <a:spcPct val="90000"/>
              </a:lnSpc>
            </a:pPr>
            <a:r>
              <a:rPr lang="en-US" altLang="en-US" dirty="0"/>
              <a:t>Lower level requirements (children) must clearly flow from and support higher level requirements (parents).</a:t>
            </a:r>
          </a:p>
          <a:p>
            <a:pPr lvl="2">
              <a:lnSpc>
                <a:spcPct val="90000"/>
              </a:lnSpc>
            </a:pPr>
            <a:r>
              <a:rPr lang="en-US" altLang="en-US" dirty="0"/>
              <a:t>Requirements without a parent are referred to as orphans, and need to be assessed for necessity of inclusion.</a:t>
            </a:r>
          </a:p>
        </p:txBody>
      </p:sp>
      <p:sp>
        <p:nvSpPr>
          <p:cNvPr id="8" name="TextBox 7">
            <a:extLst>
              <a:ext uri="{FF2B5EF4-FFF2-40B4-BE49-F238E27FC236}">
                <a16:creationId xmlns:a16="http://schemas.microsoft.com/office/drawing/2014/main" id="{E44B78BD-FAB0-99E0-6AA6-B9D0D619C74B}"/>
              </a:ext>
            </a:extLst>
          </p:cNvPr>
          <p:cNvSpPr txBox="1"/>
          <p:nvPr/>
        </p:nvSpPr>
        <p:spPr>
          <a:xfrm>
            <a:off x="4730013" y="191618"/>
            <a:ext cx="4608334" cy="523220"/>
          </a:xfrm>
          <a:prstGeom prst="rect">
            <a:avLst/>
          </a:prstGeom>
          <a:noFill/>
        </p:spPr>
        <p:txBody>
          <a:bodyPr wrap="square">
            <a:spAutoFit/>
          </a:bodyPr>
          <a:lstStyle/>
          <a:p>
            <a:r>
              <a:rPr kumimoji="0" lang="en-US" altLang="en-US" sz="2800" b="1" i="0" u="none" strike="noStrike" kern="1200" cap="none" spc="0" normalizeH="0" baseline="0" noProof="0" dirty="0">
                <a:ln>
                  <a:noFill/>
                </a:ln>
                <a:solidFill>
                  <a:srgbClr val="00B050"/>
                </a:solidFill>
                <a:effectLst/>
                <a:uLnTx/>
                <a:uFillTx/>
                <a:latin typeface="Segoe UI" panose="020B0502040204020203" pitchFamily="34" charset="0"/>
                <a:ea typeface="+mj-ea"/>
                <a:cs typeface="Segoe UI" panose="020B0502040204020203" pitchFamily="34" charset="0"/>
              </a:rPr>
              <a:t>SMART</a:t>
            </a:r>
            <a:endParaRPr lang="en-US" dirty="0">
              <a:solidFill>
                <a:srgbClr val="00B050"/>
              </a:solidFill>
            </a:endParaRPr>
          </a:p>
        </p:txBody>
      </p:sp>
    </p:spTree>
    <p:extLst>
      <p:ext uri="{BB962C8B-B14F-4D97-AF65-F5344CB8AC3E}">
        <p14:creationId xmlns:p14="http://schemas.microsoft.com/office/powerpoint/2010/main" val="3835826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animEffect transition="in" filter="fade">
                                      <p:cBhvr>
                                        <p:cTn id="7" dur="500"/>
                                        <p:tgtEl>
                                          <p:spTgt spid="7">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7">
                                            <p:txEl>
                                              <p:pRg st="4" end="4"/>
                                            </p:txEl>
                                          </p:spTgt>
                                        </p:tgtEl>
                                        <p:attrNameLst>
                                          <p:attrName>style.visibility</p:attrName>
                                        </p:attrNameLst>
                                      </p:cBhvr>
                                      <p:to>
                                        <p:strVal val="visible"/>
                                      </p:to>
                                    </p:set>
                                    <p:animEffect transition="in" filter="fade">
                                      <p:cBhvr>
                                        <p:cTn id="10" dur="500"/>
                                        <p:tgtEl>
                                          <p:spTgt spid="7">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7">
                                            <p:txEl>
                                              <p:pRg st="5" end="5"/>
                                            </p:txEl>
                                          </p:spTgt>
                                        </p:tgtEl>
                                        <p:attrNameLst>
                                          <p:attrName>style.visibility</p:attrName>
                                        </p:attrNameLst>
                                      </p:cBhvr>
                                      <p:to>
                                        <p:strVal val="visible"/>
                                      </p:to>
                                    </p:set>
                                    <p:animEffect transition="in" filter="fade">
                                      <p:cBhvr>
                                        <p:cTn id="13" dur="500"/>
                                        <p:tgtEl>
                                          <p:spTgt spid="7">
                                            <p:txEl>
                                              <p:pRg st="5" end="5"/>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7">
                                            <p:txEl>
                                              <p:pRg st="6" end="6"/>
                                            </p:txEl>
                                          </p:spTgt>
                                        </p:tgtEl>
                                        <p:attrNameLst>
                                          <p:attrName>style.visibility</p:attrName>
                                        </p:attrNameLst>
                                      </p:cBhvr>
                                      <p:to>
                                        <p:strVal val="visible"/>
                                      </p:to>
                                    </p:set>
                                    <p:animEffect transition="in" filter="fade">
                                      <p:cBhvr>
                                        <p:cTn id="18" dur="500"/>
                                        <p:tgtEl>
                                          <p:spTgt spid="7">
                                            <p:txEl>
                                              <p:pRg st="6" end="6"/>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7">
                                            <p:txEl>
                                              <p:pRg st="7" end="7"/>
                                            </p:txEl>
                                          </p:spTgt>
                                        </p:tgtEl>
                                        <p:attrNameLst>
                                          <p:attrName>style.visibility</p:attrName>
                                        </p:attrNameLst>
                                      </p:cBhvr>
                                      <p:to>
                                        <p:strVal val="visible"/>
                                      </p:to>
                                    </p:set>
                                    <p:animEffect transition="in" filter="fade">
                                      <p:cBhvr>
                                        <p:cTn id="21" dur="500"/>
                                        <p:tgtEl>
                                          <p:spTgt spid="7">
                                            <p:txEl>
                                              <p:pRg st="7" end="7"/>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7">
                                            <p:txEl>
                                              <p:pRg st="8" end="8"/>
                                            </p:txEl>
                                          </p:spTgt>
                                        </p:tgtEl>
                                        <p:attrNameLst>
                                          <p:attrName>style.visibility</p:attrName>
                                        </p:attrNameLst>
                                      </p:cBhvr>
                                      <p:to>
                                        <p:strVal val="visible"/>
                                      </p:to>
                                    </p:set>
                                    <p:animEffect transition="in" filter="fade">
                                      <p:cBhvr>
                                        <p:cTn id="24" dur="500"/>
                                        <p:tgtEl>
                                          <p:spTgt spid="7">
                                            <p:txEl>
                                              <p:pRg st="8" end="8"/>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7">
                                            <p:txEl>
                                              <p:pRg st="9" end="9"/>
                                            </p:txEl>
                                          </p:spTgt>
                                        </p:tgtEl>
                                        <p:attrNameLst>
                                          <p:attrName>style.visibility</p:attrName>
                                        </p:attrNameLst>
                                      </p:cBhvr>
                                      <p:to>
                                        <p:strVal val="visible"/>
                                      </p:to>
                                    </p:set>
                                    <p:animEffect transition="in" filter="fade">
                                      <p:cBhvr>
                                        <p:cTn id="29" dur="500"/>
                                        <p:tgtEl>
                                          <p:spTgt spid="7">
                                            <p:txEl>
                                              <p:pRg st="9" end="9"/>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7">
                                            <p:txEl>
                                              <p:pRg st="10" end="10"/>
                                            </p:txEl>
                                          </p:spTgt>
                                        </p:tgtEl>
                                        <p:attrNameLst>
                                          <p:attrName>style.visibility</p:attrName>
                                        </p:attrNameLst>
                                      </p:cBhvr>
                                      <p:to>
                                        <p:strVal val="visible"/>
                                      </p:to>
                                    </p:set>
                                    <p:animEffect transition="in" filter="fade">
                                      <p:cBhvr>
                                        <p:cTn id="32" dur="500"/>
                                        <p:tgtEl>
                                          <p:spTgt spid="7">
                                            <p:txEl>
                                              <p:pRg st="10" end="10"/>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7">
                                            <p:txEl>
                                              <p:pRg st="11" end="11"/>
                                            </p:txEl>
                                          </p:spTgt>
                                        </p:tgtEl>
                                        <p:attrNameLst>
                                          <p:attrName>style.visibility</p:attrName>
                                        </p:attrNameLst>
                                      </p:cBhvr>
                                      <p:to>
                                        <p:strVal val="visible"/>
                                      </p:to>
                                    </p:set>
                                    <p:animEffect transition="in" filter="fade">
                                      <p:cBhvr>
                                        <p:cTn id="35" dur="500"/>
                                        <p:tgtEl>
                                          <p:spTgt spid="7">
                                            <p:txEl>
                                              <p:pRg st="11" end="11"/>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7">
                                            <p:txEl>
                                              <p:pRg st="12" end="12"/>
                                            </p:txEl>
                                          </p:spTgt>
                                        </p:tgtEl>
                                        <p:attrNameLst>
                                          <p:attrName>style.visibility</p:attrName>
                                        </p:attrNameLst>
                                      </p:cBhvr>
                                      <p:to>
                                        <p:strVal val="visible"/>
                                      </p:to>
                                    </p:set>
                                    <p:animEffect transition="in" filter="fade">
                                      <p:cBhvr>
                                        <p:cTn id="40" dur="500"/>
                                        <p:tgtEl>
                                          <p:spTgt spid="7">
                                            <p:txEl>
                                              <p:pRg st="12" end="12"/>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7">
                                            <p:txEl>
                                              <p:pRg st="13" end="13"/>
                                            </p:txEl>
                                          </p:spTgt>
                                        </p:tgtEl>
                                        <p:attrNameLst>
                                          <p:attrName>style.visibility</p:attrName>
                                        </p:attrNameLst>
                                      </p:cBhvr>
                                      <p:to>
                                        <p:strVal val="visible"/>
                                      </p:to>
                                    </p:set>
                                    <p:animEffect transition="in" filter="fade">
                                      <p:cBhvr>
                                        <p:cTn id="43" dur="500"/>
                                        <p:tgtEl>
                                          <p:spTgt spid="7">
                                            <p:txEl>
                                              <p:pRg st="13" end="13"/>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7">
                                            <p:txEl>
                                              <p:pRg st="14" end="14"/>
                                            </p:txEl>
                                          </p:spTgt>
                                        </p:tgtEl>
                                        <p:attrNameLst>
                                          <p:attrName>style.visibility</p:attrName>
                                        </p:attrNameLst>
                                      </p:cBhvr>
                                      <p:to>
                                        <p:strVal val="visible"/>
                                      </p:to>
                                    </p:set>
                                    <p:animEffect transition="in" filter="fade">
                                      <p:cBhvr>
                                        <p:cTn id="46" dur="500"/>
                                        <p:tgtEl>
                                          <p:spTgt spid="7">
                                            <p:txEl>
                                              <p:pRg st="14" end="14"/>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6" presetClass="entr" presetSubtype="21" fill="hold" grpId="0" nodeType="clickEffect">
                                  <p:stCondLst>
                                    <p:cond delay="0"/>
                                  </p:stCondLst>
                                  <p:childTnLst>
                                    <p:set>
                                      <p:cBhvr>
                                        <p:cTn id="50" dur="1" fill="hold">
                                          <p:stCondLst>
                                            <p:cond delay="0"/>
                                          </p:stCondLst>
                                        </p:cTn>
                                        <p:tgtEl>
                                          <p:spTgt spid="8"/>
                                        </p:tgtEl>
                                        <p:attrNameLst>
                                          <p:attrName>style.visibility</p:attrName>
                                        </p:attrNameLst>
                                      </p:cBhvr>
                                      <p:to>
                                        <p:strVal val="visible"/>
                                      </p:to>
                                    </p:set>
                                    <p:animEffect transition="in" filter="barn(inVertical)">
                                      <p:cBhvr>
                                        <p:cTn id="5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35AAFB-14AF-83AE-C813-6DD181731E6C}"/>
              </a:ext>
            </a:extLst>
          </p:cNvPr>
          <p:cNvSpPr>
            <a:spLocks noGrp="1"/>
          </p:cNvSpPr>
          <p:nvPr>
            <p:ph type="title"/>
          </p:nvPr>
        </p:nvSpPr>
        <p:spPr/>
        <p:txBody>
          <a:bodyPr/>
          <a:lstStyle/>
          <a:p>
            <a:r>
              <a:rPr lang="en-US" dirty="0"/>
              <a:t>Properties of Good Requirements</a:t>
            </a:r>
          </a:p>
        </p:txBody>
      </p:sp>
      <p:sp>
        <p:nvSpPr>
          <p:cNvPr id="3" name="Content Placeholder 2">
            <a:extLst>
              <a:ext uri="{FF2B5EF4-FFF2-40B4-BE49-F238E27FC236}">
                <a16:creationId xmlns:a16="http://schemas.microsoft.com/office/drawing/2014/main" id="{BB6B32D1-78FF-E78C-42C6-53DE9305E535}"/>
              </a:ext>
            </a:extLst>
          </p:cNvPr>
          <p:cNvSpPr>
            <a:spLocks noGrp="1"/>
          </p:cNvSpPr>
          <p:nvPr>
            <p:ph idx="1"/>
          </p:nvPr>
        </p:nvSpPr>
        <p:spPr>
          <a:xfrm>
            <a:off x="200025" y="1153551"/>
            <a:ext cx="8793015" cy="5396912"/>
          </a:xfrm>
        </p:spPr>
        <p:txBody>
          <a:bodyPr>
            <a:normAutofit/>
          </a:bodyPr>
          <a:lstStyle/>
          <a:p>
            <a:pPr>
              <a:lnSpc>
                <a:spcPct val="120000"/>
              </a:lnSpc>
              <a:spcBef>
                <a:spcPts val="600"/>
              </a:spcBef>
            </a:pPr>
            <a:r>
              <a:rPr lang="en-US" sz="2000" b="1" dirty="0"/>
              <a:t>Unique:  </a:t>
            </a:r>
            <a:r>
              <a:rPr lang="en-US" sz="2000" dirty="0"/>
              <a:t>no two requirements overlap or duplicate each other</a:t>
            </a:r>
          </a:p>
          <a:p>
            <a:pPr>
              <a:lnSpc>
                <a:spcPct val="120000"/>
              </a:lnSpc>
              <a:spcBef>
                <a:spcPts val="600"/>
              </a:spcBef>
            </a:pPr>
            <a:r>
              <a:rPr lang="en-US" sz="2000" b="1" dirty="0"/>
              <a:t>Unambiguous:  </a:t>
            </a:r>
            <a:r>
              <a:rPr lang="en-US" sz="2000" dirty="0"/>
              <a:t>no misunderstanding of exactly what is required</a:t>
            </a:r>
          </a:p>
          <a:p>
            <a:pPr>
              <a:lnSpc>
                <a:spcPct val="120000"/>
              </a:lnSpc>
              <a:spcBef>
                <a:spcPts val="600"/>
              </a:spcBef>
            </a:pPr>
            <a:r>
              <a:rPr lang="en-US" sz="2000" b="1" dirty="0"/>
              <a:t>Testable:  </a:t>
            </a:r>
            <a:r>
              <a:rPr lang="en-US" sz="2000" dirty="0"/>
              <a:t>practical way of determining whether delivered system actually meets requirement</a:t>
            </a:r>
          </a:p>
          <a:p>
            <a:pPr>
              <a:lnSpc>
                <a:spcPct val="120000"/>
              </a:lnSpc>
              <a:spcBef>
                <a:spcPts val="600"/>
              </a:spcBef>
            </a:pPr>
            <a:r>
              <a:rPr lang="en-US" sz="2000" b="1" dirty="0"/>
              <a:t>Traceable:  </a:t>
            </a:r>
            <a:r>
              <a:rPr lang="en-US" sz="2000" dirty="0"/>
              <a:t>every high-level requirement is broken down into one or more low-level testable requirements and every low-level requirement supports a documented high-level requirement</a:t>
            </a:r>
          </a:p>
          <a:p>
            <a:pPr>
              <a:lnSpc>
                <a:spcPct val="120000"/>
              </a:lnSpc>
              <a:spcBef>
                <a:spcPts val="600"/>
              </a:spcBef>
            </a:pPr>
            <a:r>
              <a:rPr lang="en-US" sz="2000" b="1" dirty="0"/>
              <a:t>Consistent:  </a:t>
            </a:r>
            <a:r>
              <a:rPr lang="en-US" sz="2000" dirty="0"/>
              <a:t>doesn’t conflict with other requirement</a:t>
            </a:r>
          </a:p>
          <a:p>
            <a:pPr>
              <a:lnSpc>
                <a:spcPct val="120000"/>
              </a:lnSpc>
              <a:spcBef>
                <a:spcPts val="600"/>
              </a:spcBef>
            </a:pPr>
            <a:r>
              <a:rPr lang="en-US" sz="2000" b="1" dirty="0"/>
              <a:t>Specific:  </a:t>
            </a:r>
            <a:r>
              <a:rPr lang="en-US" sz="2000" dirty="0"/>
              <a:t>focuses on one thing</a:t>
            </a:r>
          </a:p>
          <a:p>
            <a:pPr>
              <a:lnSpc>
                <a:spcPct val="120000"/>
              </a:lnSpc>
              <a:spcBef>
                <a:spcPts val="600"/>
              </a:spcBef>
            </a:pPr>
            <a:r>
              <a:rPr lang="en-US" sz="2000" b="1" dirty="0"/>
              <a:t>Essential:  </a:t>
            </a:r>
            <a:r>
              <a:rPr lang="en-US" sz="2000" dirty="0"/>
              <a:t>creates a deficiency if deleted</a:t>
            </a:r>
          </a:p>
          <a:p>
            <a:pPr>
              <a:lnSpc>
                <a:spcPct val="120000"/>
              </a:lnSpc>
              <a:spcBef>
                <a:spcPts val="600"/>
              </a:spcBef>
            </a:pPr>
            <a:r>
              <a:rPr lang="en-US" sz="2000" b="1" dirty="0"/>
              <a:t>Complete:  </a:t>
            </a:r>
            <a:r>
              <a:rPr lang="en-US" sz="2000" dirty="0"/>
              <a:t>not missing any conditions or constraints that would distinguish an acceptable system from an unacceptable system</a:t>
            </a:r>
          </a:p>
        </p:txBody>
      </p:sp>
      <p:sp>
        <p:nvSpPr>
          <p:cNvPr id="4" name="Slide Number Placeholder 3">
            <a:extLst>
              <a:ext uri="{FF2B5EF4-FFF2-40B4-BE49-F238E27FC236}">
                <a16:creationId xmlns:a16="http://schemas.microsoft.com/office/drawing/2014/main" id="{CC2B863F-B70D-AC1E-3DBF-921B8B5C4D83}"/>
              </a:ext>
            </a:extLst>
          </p:cNvPr>
          <p:cNvSpPr>
            <a:spLocks noGrp="1"/>
          </p:cNvSpPr>
          <p:nvPr>
            <p:ph type="sldNum" sz="quarter" idx="12"/>
          </p:nvPr>
        </p:nvSpPr>
        <p:spPr/>
        <p:txBody>
          <a:bodyPr/>
          <a:lstStyle/>
          <a:p>
            <a:fld id="{9A3029B7-FE6B-4680-9049-80E8298A0825}" type="slidenum">
              <a:rPr lang="en-US" smtClean="0"/>
              <a:t>13</a:t>
            </a:fld>
            <a:endParaRPr lang="en-US"/>
          </a:p>
        </p:txBody>
      </p:sp>
    </p:spTree>
    <p:extLst>
      <p:ext uri="{BB962C8B-B14F-4D97-AF65-F5344CB8AC3E}">
        <p14:creationId xmlns:p14="http://schemas.microsoft.com/office/powerpoint/2010/main" val="1529765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93A76-5532-37AE-EE7C-13490C4783DE}"/>
              </a:ext>
            </a:extLst>
          </p:cNvPr>
          <p:cNvSpPr>
            <a:spLocks noGrp="1"/>
          </p:cNvSpPr>
          <p:nvPr>
            <p:ph type="title"/>
          </p:nvPr>
        </p:nvSpPr>
        <p:spPr/>
        <p:txBody>
          <a:bodyPr/>
          <a:lstStyle/>
          <a:p>
            <a:r>
              <a:rPr lang="en-US" altLang="en-US" dirty="0"/>
              <a:t>Rules for Writing Good Requirements</a:t>
            </a:r>
            <a:endParaRPr lang="en-US" dirty="0"/>
          </a:p>
        </p:txBody>
      </p:sp>
      <p:sp>
        <p:nvSpPr>
          <p:cNvPr id="3" name="Content Placeholder 2">
            <a:extLst>
              <a:ext uri="{FF2B5EF4-FFF2-40B4-BE49-F238E27FC236}">
                <a16:creationId xmlns:a16="http://schemas.microsoft.com/office/drawing/2014/main" id="{2D0732C8-7247-73F1-684A-E06E48B89C7A}"/>
              </a:ext>
            </a:extLst>
          </p:cNvPr>
          <p:cNvSpPr>
            <a:spLocks noGrp="1"/>
          </p:cNvSpPr>
          <p:nvPr>
            <p:ph idx="1"/>
          </p:nvPr>
        </p:nvSpPr>
        <p:spPr/>
        <p:txBody>
          <a:bodyPr/>
          <a:lstStyle/>
          <a:p>
            <a:pPr marL="0" indent="0">
              <a:buNone/>
            </a:pPr>
            <a:r>
              <a:rPr lang="en-US" altLang="en-US" sz="2400" dirty="0">
                <a:solidFill>
                  <a:srgbClr val="000000"/>
                </a:solidFill>
              </a:rPr>
              <a:t>Requirements have mandatory characteristics:</a:t>
            </a:r>
            <a:endParaRPr lang="en-US" altLang="en-US" sz="2400" b="1" dirty="0">
              <a:solidFill>
                <a:srgbClr val="000000"/>
              </a:solidFill>
            </a:endParaRPr>
          </a:p>
          <a:p>
            <a:pPr marL="908050" lvl="1"/>
            <a:r>
              <a:rPr lang="en-US" altLang="en-US" sz="2000" i="1" dirty="0">
                <a:solidFill>
                  <a:srgbClr val="000000"/>
                </a:solidFill>
              </a:rPr>
              <a:t>Needed</a:t>
            </a:r>
          </a:p>
          <a:p>
            <a:pPr marL="908050" lvl="1"/>
            <a:r>
              <a:rPr lang="en-US" altLang="en-US" sz="2000" i="1" dirty="0">
                <a:solidFill>
                  <a:srgbClr val="000000"/>
                </a:solidFill>
              </a:rPr>
              <a:t>Verifiable</a:t>
            </a:r>
          </a:p>
          <a:p>
            <a:pPr marL="908050" lvl="1"/>
            <a:r>
              <a:rPr lang="en-US" altLang="en-US" sz="2000" i="1" dirty="0">
                <a:solidFill>
                  <a:srgbClr val="000000"/>
                </a:solidFill>
              </a:rPr>
              <a:t>Attainable: technically, cost, schedule</a:t>
            </a:r>
            <a:endParaRPr lang="en-US" altLang="en-US" sz="2000" dirty="0">
              <a:solidFill>
                <a:srgbClr val="000000"/>
              </a:solidFill>
            </a:endParaRPr>
          </a:p>
          <a:p>
            <a:pPr marL="0" indent="0">
              <a:spcBef>
                <a:spcPct val="55000"/>
              </a:spcBef>
              <a:buNone/>
            </a:pPr>
            <a:endParaRPr lang="en-US" altLang="en-US" sz="2400" dirty="0">
              <a:solidFill>
                <a:srgbClr val="000000"/>
              </a:solidFill>
            </a:endParaRPr>
          </a:p>
          <a:p>
            <a:pPr marL="0" indent="0">
              <a:spcBef>
                <a:spcPct val="55000"/>
              </a:spcBef>
              <a:buNone/>
            </a:pPr>
            <a:r>
              <a:rPr lang="en-US" altLang="en-US" sz="2400" dirty="0">
                <a:solidFill>
                  <a:srgbClr val="000000"/>
                </a:solidFill>
              </a:rPr>
              <a:t>Each requirement should</a:t>
            </a:r>
            <a:endParaRPr lang="en-US" altLang="en-US" sz="1600" dirty="0">
              <a:solidFill>
                <a:srgbClr val="000000"/>
              </a:solidFill>
            </a:endParaRPr>
          </a:p>
          <a:p>
            <a:pPr marL="908050" lvl="1"/>
            <a:r>
              <a:rPr lang="en-US" altLang="en-US" sz="2000" i="1" dirty="0">
                <a:solidFill>
                  <a:srgbClr val="000000"/>
                </a:solidFill>
              </a:rPr>
              <a:t>Express one thought</a:t>
            </a:r>
          </a:p>
          <a:p>
            <a:pPr marL="908050" lvl="1"/>
            <a:r>
              <a:rPr lang="en-US" altLang="en-US" sz="2000" i="1" dirty="0">
                <a:solidFill>
                  <a:srgbClr val="000000"/>
                </a:solidFill>
              </a:rPr>
              <a:t>Be concise and simple</a:t>
            </a:r>
          </a:p>
          <a:p>
            <a:pPr marL="908050" lvl="1"/>
            <a:r>
              <a:rPr lang="en-US" altLang="en-US" sz="2000" i="1" dirty="0">
                <a:solidFill>
                  <a:srgbClr val="000000"/>
                </a:solidFill>
              </a:rPr>
              <a:t>Be stated positively</a:t>
            </a:r>
          </a:p>
          <a:p>
            <a:pPr marL="908050" lvl="1"/>
            <a:r>
              <a:rPr lang="en-US" altLang="en-US" sz="2000" i="1" dirty="0">
                <a:solidFill>
                  <a:srgbClr val="000000"/>
                </a:solidFill>
              </a:rPr>
              <a:t>Be grammatically correct; free of typos and misspellings</a:t>
            </a:r>
          </a:p>
          <a:p>
            <a:pPr marL="908050" lvl="1"/>
            <a:r>
              <a:rPr lang="en-US" altLang="en-US" sz="2000" i="1" dirty="0">
                <a:solidFill>
                  <a:srgbClr val="000000"/>
                </a:solidFill>
              </a:rPr>
              <a:t>Be understood only one way; they are unambiguous</a:t>
            </a:r>
          </a:p>
          <a:p>
            <a:pPr marL="908050" lvl="1"/>
            <a:r>
              <a:rPr lang="en-US" altLang="en-US" sz="2000" i="1" dirty="0">
                <a:solidFill>
                  <a:srgbClr val="000000"/>
                </a:solidFill>
              </a:rPr>
              <a:t>Use consistent terminology to refer to the system/product and its lower-level entities</a:t>
            </a:r>
          </a:p>
          <a:p>
            <a:pPr marL="908050" lvl="1"/>
            <a:r>
              <a:rPr lang="en-US" altLang="en-US" sz="2000" i="1" dirty="0">
                <a:solidFill>
                  <a:srgbClr val="000000"/>
                </a:solidFill>
              </a:rPr>
              <a:t>Comply with the project’s template and style rules</a:t>
            </a:r>
            <a:endParaRPr lang="en-US" altLang="en-US" sz="1400" i="1" dirty="0">
              <a:solidFill>
                <a:srgbClr val="000000"/>
              </a:solidFill>
            </a:endParaRPr>
          </a:p>
          <a:p>
            <a:endParaRPr lang="en-US" dirty="0"/>
          </a:p>
        </p:txBody>
      </p:sp>
      <p:sp>
        <p:nvSpPr>
          <p:cNvPr id="4" name="Slide Number Placeholder 3">
            <a:extLst>
              <a:ext uri="{FF2B5EF4-FFF2-40B4-BE49-F238E27FC236}">
                <a16:creationId xmlns:a16="http://schemas.microsoft.com/office/drawing/2014/main" id="{90F1786E-8BA4-70E6-F460-05B631D014C0}"/>
              </a:ext>
            </a:extLst>
          </p:cNvPr>
          <p:cNvSpPr>
            <a:spLocks noGrp="1"/>
          </p:cNvSpPr>
          <p:nvPr>
            <p:ph type="sldNum" sz="quarter" idx="12"/>
          </p:nvPr>
        </p:nvSpPr>
        <p:spPr/>
        <p:txBody>
          <a:bodyPr/>
          <a:lstStyle/>
          <a:p>
            <a:fld id="{9A3029B7-FE6B-4680-9049-80E8298A0825}" type="slidenum">
              <a:rPr lang="en-US" smtClean="0"/>
              <a:t>14</a:t>
            </a:fld>
            <a:endParaRPr lang="en-US"/>
          </a:p>
        </p:txBody>
      </p:sp>
    </p:spTree>
    <p:extLst>
      <p:ext uri="{BB962C8B-B14F-4D97-AF65-F5344CB8AC3E}">
        <p14:creationId xmlns:p14="http://schemas.microsoft.com/office/powerpoint/2010/main" val="1108864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1" end="1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16A1A-4466-6FF7-1F22-1F76DF0DBE1A}"/>
              </a:ext>
            </a:extLst>
          </p:cNvPr>
          <p:cNvSpPr>
            <a:spLocks noGrp="1"/>
          </p:cNvSpPr>
          <p:nvPr>
            <p:ph type="title"/>
          </p:nvPr>
        </p:nvSpPr>
        <p:spPr/>
        <p:txBody>
          <a:bodyPr/>
          <a:lstStyle/>
          <a:p>
            <a:r>
              <a:rPr lang="en-US" altLang="en-US" dirty="0"/>
              <a:t>More Rules for Writing Good Requirements</a:t>
            </a:r>
            <a:endParaRPr lang="en-US" dirty="0"/>
          </a:p>
        </p:txBody>
      </p:sp>
      <p:sp>
        <p:nvSpPr>
          <p:cNvPr id="3" name="Content Placeholder 2">
            <a:extLst>
              <a:ext uri="{FF2B5EF4-FFF2-40B4-BE49-F238E27FC236}">
                <a16:creationId xmlns:a16="http://schemas.microsoft.com/office/drawing/2014/main" id="{EE797A34-308F-0420-7B78-D19324205C40}"/>
              </a:ext>
            </a:extLst>
          </p:cNvPr>
          <p:cNvSpPr>
            <a:spLocks noGrp="1"/>
          </p:cNvSpPr>
          <p:nvPr>
            <p:ph idx="1"/>
          </p:nvPr>
        </p:nvSpPr>
        <p:spPr>
          <a:xfrm>
            <a:off x="200025" y="1002506"/>
            <a:ext cx="8793015" cy="5576845"/>
          </a:xfrm>
        </p:spPr>
        <p:txBody>
          <a:bodyPr>
            <a:noAutofit/>
          </a:bodyPr>
          <a:lstStyle/>
          <a:p>
            <a:pPr marL="508000" indent="-508000">
              <a:buNone/>
            </a:pPr>
            <a:r>
              <a:rPr lang="en-US" altLang="en-US" sz="1600" dirty="0">
                <a:solidFill>
                  <a:srgbClr val="000000"/>
                </a:solidFill>
              </a:rPr>
              <a:t>What a requirement must state:</a:t>
            </a:r>
          </a:p>
          <a:p>
            <a:pPr marL="908050" lvl="1"/>
            <a:r>
              <a:rPr lang="en-US" altLang="en-US" sz="1600" b="1" dirty="0">
                <a:solidFill>
                  <a:srgbClr val="000000"/>
                </a:solidFill>
              </a:rPr>
              <a:t>WHO</a:t>
            </a:r>
            <a:r>
              <a:rPr lang="en-US" altLang="en-US" sz="1600" dirty="0">
                <a:solidFill>
                  <a:srgbClr val="000000"/>
                </a:solidFill>
              </a:rPr>
              <a:t> is responsible</a:t>
            </a:r>
          </a:p>
          <a:p>
            <a:pPr marL="908050" lvl="1"/>
            <a:r>
              <a:rPr lang="en-US" altLang="en-US" sz="1600" b="1" dirty="0">
                <a:solidFill>
                  <a:srgbClr val="000000"/>
                </a:solidFill>
              </a:rPr>
              <a:t>WHAT </a:t>
            </a:r>
            <a:r>
              <a:rPr lang="en-US" altLang="en-US" sz="1600" dirty="0">
                <a:solidFill>
                  <a:srgbClr val="000000"/>
                </a:solidFill>
              </a:rPr>
              <a:t>shall be done</a:t>
            </a:r>
          </a:p>
          <a:p>
            <a:pPr marL="908050" lvl="1"/>
            <a:r>
              <a:rPr lang="en-US" altLang="en-US" sz="1600" dirty="0">
                <a:solidFill>
                  <a:srgbClr val="000000"/>
                </a:solidFill>
              </a:rPr>
              <a:t>Or </a:t>
            </a:r>
            <a:r>
              <a:rPr lang="en-US" altLang="en-US" sz="1600" b="1" dirty="0">
                <a:solidFill>
                  <a:srgbClr val="000000"/>
                </a:solidFill>
              </a:rPr>
              <a:t>HOW WELL</a:t>
            </a:r>
            <a:r>
              <a:rPr lang="en-US" altLang="en-US" sz="1600" dirty="0">
                <a:solidFill>
                  <a:srgbClr val="000000"/>
                </a:solidFill>
              </a:rPr>
              <a:t> something shall be done</a:t>
            </a:r>
          </a:p>
          <a:p>
            <a:pPr marL="908050" lvl="1"/>
            <a:r>
              <a:rPr lang="en-US" altLang="en-US" sz="1600" dirty="0">
                <a:solidFill>
                  <a:srgbClr val="000000"/>
                </a:solidFill>
              </a:rPr>
              <a:t>Or under what </a:t>
            </a:r>
            <a:r>
              <a:rPr lang="en-US" altLang="en-US" sz="1600" b="1" dirty="0">
                <a:solidFill>
                  <a:srgbClr val="000000"/>
                </a:solidFill>
              </a:rPr>
              <a:t>CONSTRAINTS </a:t>
            </a:r>
            <a:r>
              <a:rPr lang="en-US" altLang="en-US" sz="1600" dirty="0">
                <a:solidFill>
                  <a:srgbClr val="000000"/>
                </a:solidFill>
              </a:rPr>
              <a:t>something shall be done</a:t>
            </a:r>
          </a:p>
          <a:p>
            <a:pPr marL="508000" indent="-508000">
              <a:spcBef>
                <a:spcPct val="30000"/>
              </a:spcBef>
              <a:buNone/>
            </a:pPr>
            <a:endParaRPr lang="en-US" altLang="en-US" sz="1600" dirty="0">
              <a:solidFill>
                <a:srgbClr val="000000"/>
              </a:solidFill>
            </a:endParaRPr>
          </a:p>
          <a:p>
            <a:pPr marL="508000" indent="-508000">
              <a:spcBef>
                <a:spcPct val="30000"/>
              </a:spcBef>
              <a:buNone/>
            </a:pPr>
            <a:r>
              <a:rPr lang="en-US" altLang="en-US" sz="1600" dirty="0">
                <a:solidFill>
                  <a:srgbClr val="000000"/>
                </a:solidFill>
              </a:rPr>
              <a:t>Requirement format:</a:t>
            </a:r>
            <a:r>
              <a:rPr lang="en-US" altLang="en-US" sz="1600" b="1" dirty="0">
                <a:solidFill>
                  <a:srgbClr val="000000"/>
                </a:solidFill>
              </a:rPr>
              <a:t> “WHO shall WHAT”</a:t>
            </a:r>
            <a:endParaRPr lang="en-US" altLang="en-US" sz="1600" dirty="0">
              <a:solidFill>
                <a:srgbClr val="000000"/>
              </a:solidFill>
            </a:endParaRPr>
          </a:p>
          <a:p>
            <a:pPr marL="908050" lvl="1"/>
            <a:r>
              <a:rPr lang="en-US" altLang="en-US" sz="1600" dirty="0">
                <a:solidFill>
                  <a:srgbClr val="000000"/>
                </a:solidFill>
              </a:rPr>
              <a:t>Uses active not passive voice</a:t>
            </a:r>
          </a:p>
          <a:p>
            <a:pPr marL="508000" indent="-508000">
              <a:spcBef>
                <a:spcPct val="30000"/>
              </a:spcBef>
              <a:buNone/>
            </a:pPr>
            <a:endParaRPr lang="en-US" altLang="en-US" sz="1600" dirty="0">
              <a:solidFill>
                <a:srgbClr val="000000"/>
              </a:solidFill>
            </a:endParaRPr>
          </a:p>
          <a:p>
            <a:pPr marL="508000" indent="-508000">
              <a:spcBef>
                <a:spcPct val="30000"/>
              </a:spcBef>
              <a:buNone/>
            </a:pPr>
            <a:r>
              <a:rPr lang="en-US" altLang="en-US" sz="1600" dirty="0">
                <a:solidFill>
                  <a:srgbClr val="000000"/>
                </a:solidFill>
              </a:rPr>
              <a:t>Example product requirements:</a:t>
            </a:r>
          </a:p>
          <a:p>
            <a:pPr marL="908050" lvl="1"/>
            <a:r>
              <a:rPr lang="en-US" altLang="en-US" sz="1600" dirty="0">
                <a:solidFill>
                  <a:srgbClr val="000000"/>
                </a:solidFill>
              </a:rPr>
              <a:t>The system shall operate at a power level of…</a:t>
            </a:r>
          </a:p>
          <a:p>
            <a:pPr marL="908050" lvl="1"/>
            <a:r>
              <a:rPr lang="en-US" altLang="en-US" sz="1600" dirty="0">
                <a:solidFill>
                  <a:srgbClr val="000000"/>
                </a:solidFill>
              </a:rPr>
              <a:t>The software shall acquire data from the…</a:t>
            </a:r>
          </a:p>
          <a:p>
            <a:pPr marL="908050" lvl="1"/>
            <a:r>
              <a:rPr lang="en-US" altLang="en-US" sz="1600" dirty="0">
                <a:solidFill>
                  <a:srgbClr val="000000"/>
                </a:solidFill>
              </a:rPr>
              <a:t>The structure shall withstand loads of…</a:t>
            </a:r>
          </a:p>
          <a:p>
            <a:pPr marL="908050" lvl="1"/>
            <a:r>
              <a:rPr lang="en-US" altLang="en-US" sz="1600" dirty="0">
                <a:solidFill>
                  <a:srgbClr val="000000"/>
                </a:solidFill>
              </a:rPr>
              <a:t>The hardware shall have a mass of…</a:t>
            </a:r>
          </a:p>
          <a:p>
            <a:pPr marL="508000" indent="-508000">
              <a:spcBef>
                <a:spcPct val="30000"/>
              </a:spcBef>
              <a:buNone/>
            </a:pPr>
            <a:endParaRPr lang="en-US" altLang="en-US" sz="1600" dirty="0">
              <a:solidFill>
                <a:srgbClr val="000000"/>
              </a:solidFill>
            </a:endParaRPr>
          </a:p>
          <a:p>
            <a:pPr marL="508000" indent="-508000">
              <a:spcBef>
                <a:spcPct val="30000"/>
              </a:spcBef>
              <a:buNone/>
            </a:pPr>
            <a:r>
              <a:rPr lang="en-US" altLang="en-US" sz="1600" dirty="0">
                <a:solidFill>
                  <a:srgbClr val="000000"/>
                </a:solidFill>
              </a:rPr>
              <a:t>Use the correct terms:</a:t>
            </a:r>
          </a:p>
          <a:p>
            <a:pPr marL="908050" lvl="1"/>
            <a:r>
              <a:rPr lang="en-US" altLang="en-US" sz="1600" i="1" dirty="0">
                <a:solidFill>
                  <a:srgbClr val="000000"/>
                </a:solidFill>
              </a:rPr>
              <a:t>Requirements</a:t>
            </a:r>
            <a:r>
              <a:rPr lang="en-US" altLang="en-US" sz="1600" dirty="0">
                <a:solidFill>
                  <a:srgbClr val="000000"/>
                </a:solidFill>
              </a:rPr>
              <a:t> are binding - </a:t>
            </a:r>
            <a:r>
              <a:rPr lang="en-US" altLang="en-US" sz="1600" b="1" dirty="0">
                <a:solidFill>
                  <a:srgbClr val="000000"/>
                </a:solidFill>
              </a:rPr>
              <a:t>Shall</a:t>
            </a:r>
            <a:endParaRPr lang="en-US" altLang="en-US" sz="1600" dirty="0">
              <a:solidFill>
                <a:srgbClr val="000000"/>
              </a:solidFill>
            </a:endParaRPr>
          </a:p>
          <a:p>
            <a:pPr marL="908050" lvl="1"/>
            <a:r>
              <a:rPr lang="en-US" altLang="en-US" sz="1600" i="1" dirty="0">
                <a:solidFill>
                  <a:srgbClr val="000000"/>
                </a:solidFill>
              </a:rPr>
              <a:t>Facts</a:t>
            </a:r>
            <a:r>
              <a:rPr lang="en-US" altLang="en-US" sz="1600" dirty="0">
                <a:solidFill>
                  <a:srgbClr val="000000"/>
                </a:solidFill>
              </a:rPr>
              <a:t> or Declaration of purpose - </a:t>
            </a:r>
            <a:r>
              <a:rPr lang="en-US" altLang="en-US" sz="1600" b="1" dirty="0">
                <a:solidFill>
                  <a:srgbClr val="000000"/>
                </a:solidFill>
              </a:rPr>
              <a:t>Will</a:t>
            </a:r>
            <a:endParaRPr lang="en-US" altLang="en-US" sz="1600" dirty="0">
              <a:solidFill>
                <a:srgbClr val="000000"/>
              </a:solidFill>
            </a:endParaRPr>
          </a:p>
          <a:p>
            <a:pPr marL="908050" lvl="1"/>
            <a:r>
              <a:rPr lang="en-US" altLang="en-US" sz="1600" i="1" dirty="0">
                <a:solidFill>
                  <a:srgbClr val="000000"/>
                </a:solidFill>
              </a:rPr>
              <a:t>Goals</a:t>
            </a:r>
            <a:r>
              <a:rPr lang="en-US" altLang="en-US" sz="1600" dirty="0">
                <a:solidFill>
                  <a:srgbClr val="000000"/>
                </a:solidFill>
              </a:rPr>
              <a:t> are non-mandatory provisions - </a:t>
            </a:r>
            <a:r>
              <a:rPr lang="en-US" altLang="en-US" sz="1600" b="1" dirty="0">
                <a:solidFill>
                  <a:srgbClr val="000000"/>
                </a:solidFill>
              </a:rPr>
              <a:t>Should</a:t>
            </a:r>
            <a:endParaRPr lang="en-US" altLang="en-US" sz="1600" dirty="0">
              <a:solidFill>
                <a:srgbClr val="000000"/>
              </a:solidFill>
            </a:endParaRPr>
          </a:p>
          <a:p>
            <a:pPr marL="908050" lvl="1"/>
            <a:r>
              <a:rPr lang="en-US" altLang="en-US" sz="1600" dirty="0">
                <a:solidFill>
                  <a:srgbClr val="000000"/>
                </a:solidFill>
              </a:rPr>
              <a:t>Do NOT use “Must”</a:t>
            </a:r>
          </a:p>
          <a:p>
            <a:endParaRPr lang="en-US" sz="1600" dirty="0"/>
          </a:p>
        </p:txBody>
      </p:sp>
      <p:sp>
        <p:nvSpPr>
          <p:cNvPr id="4" name="Slide Number Placeholder 3">
            <a:extLst>
              <a:ext uri="{FF2B5EF4-FFF2-40B4-BE49-F238E27FC236}">
                <a16:creationId xmlns:a16="http://schemas.microsoft.com/office/drawing/2014/main" id="{16E7756B-CB30-520F-2476-9AA655F9816B}"/>
              </a:ext>
            </a:extLst>
          </p:cNvPr>
          <p:cNvSpPr>
            <a:spLocks noGrp="1"/>
          </p:cNvSpPr>
          <p:nvPr>
            <p:ph type="sldNum" sz="quarter" idx="12"/>
          </p:nvPr>
        </p:nvSpPr>
        <p:spPr/>
        <p:txBody>
          <a:bodyPr/>
          <a:lstStyle/>
          <a:p>
            <a:fld id="{9A3029B7-FE6B-4680-9049-80E8298A0825}" type="slidenum">
              <a:rPr lang="en-US" smtClean="0"/>
              <a:t>15</a:t>
            </a:fld>
            <a:endParaRPr lang="en-US"/>
          </a:p>
        </p:txBody>
      </p:sp>
    </p:spTree>
    <p:extLst>
      <p:ext uri="{BB962C8B-B14F-4D97-AF65-F5344CB8AC3E}">
        <p14:creationId xmlns:p14="http://schemas.microsoft.com/office/powerpoint/2010/main" val="185077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fade">
                                      <p:cBhvr>
                                        <p:cTn id="7" dur="500"/>
                                        <p:tgtEl>
                                          <p:spTgt spid="3">
                                            <p:txEl>
                                              <p:pRg st="6" end="6"/>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7" end="7"/>
                                            </p:txEl>
                                          </p:spTgt>
                                        </p:tgtEl>
                                        <p:attrNameLst>
                                          <p:attrName>style.visibility</p:attrName>
                                        </p:attrNameLst>
                                      </p:cBhvr>
                                      <p:to>
                                        <p:strVal val="visible"/>
                                      </p:to>
                                    </p:set>
                                    <p:animEffect transition="in" filter="fade">
                                      <p:cBhvr>
                                        <p:cTn id="10" dur="500"/>
                                        <p:tgtEl>
                                          <p:spTgt spid="3">
                                            <p:txEl>
                                              <p:pRg st="7" end="7"/>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animEffect transition="in" filter="fade">
                                      <p:cBhvr>
                                        <p:cTn id="15" dur="500"/>
                                        <p:tgtEl>
                                          <p:spTgt spid="3">
                                            <p:txEl>
                                              <p:pRg st="9" end="9"/>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10" end="10"/>
                                            </p:txEl>
                                          </p:spTgt>
                                        </p:tgtEl>
                                        <p:attrNameLst>
                                          <p:attrName>style.visibility</p:attrName>
                                        </p:attrNameLst>
                                      </p:cBhvr>
                                      <p:to>
                                        <p:strVal val="visible"/>
                                      </p:to>
                                    </p:set>
                                    <p:animEffect transition="in" filter="fade">
                                      <p:cBhvr>
                                        <p:cTn id="18" dur="500"/>
                                        <p:tgtEl>
                                          <p:spTgt spid="3">
                                            <p:txEl>
                                              <p:pRg st="10" end="10"/>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11" end="11"/>
                                            </p:txEl>
                                          </p:spTgt>
                                        </p:tgtEl>
                                        <p:attrNameLst>
                                          <p:attrName>style.visibility</p:attrName>
                                        </p:attrNameLst>
                                      </p:cBhvr>
                                      <p:to>
                                        <p:strVal val="visible"/>
                                      </p:to>
                                    </p:set>
                                    <p:animEffect transition="in" filter="fade">
                                      <p:cBhvr>
                                        <p:cTn id="21" dur="500"/>
                                        <p:tgtEl>
                                          <p:spTgt spid="3">
                                            <p:txEl>
                                              <p:pRg st="11" end="11"/>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12" end="12"/>
                                            </p:txEl>
                                          </p:spTgt>
                                        </p:tgtEl>
                                        <p:attrNameLst>
                                          <p:attrName>style.visibility</p:attrName>
                                        </p:attrNameLst>
                                      </p:cBhvr>
                                      <p:to>
                                        <p:strVal val="visible"/>
                                      </p:to>
                                    </p:set>
                                    <p:animEffect transition="in" filter="fade">
                                      <p:cBhvr>
                                        <p:cTn id="24" dur="500"/>
                                        <p:tgtEl>
                                          <p:spTgt spid="3">
                                            <p:txEl>
                                              <p:pRg st="12" end="12"/>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13" end="13"/>
                                            </p:txEl>
                                          </p:spTgt>
                                        </p:tgtEl>
                                        <p:attrNameLst>
                                          <p:attrName>style.visibility</p:attrName>
                                        </p:attrNameLst>
                                      </p:cBhvr>
                                      <p:to>
                                        <p:strVal val="visible"/>
                                      </p:to>
                                    </p:set>
                                    <p:animEffect transition="in" filter="fade">
                                      <p:cBhvr>
                                        <p:cTn id="27" dur="500"/>
                                        <p:tgtEl>
                                          <p:spTgt spid="3">
                                            <p:txEl>
                                              <p:pRg st="13" end="1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15" end="15"/>
                                            </p:txEl>
                                          </p:spTgt>
                                        </p:tgtEl>
                                        <p:attrNameLst>
                                          <p:attrName>style.visibility</p:attrName>
                                        </p:attrNameLst>
                                      </p:cBhvr>
                                      <p:to>
                                        <p:strVal val="visible"/>
                                      </p:to>
                                    </p:set>
                                    <p:animEffect transition="in" filter="fade">
                                      <p:cBhvr>
                                        <p:cTn id="32" dur="500"/>
                                        <p:tgtEl>
                                          <p:spTgt spid="3">
                                            <p:txEl>
                                              <p:pRg st="15" end="15"/>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3">
                                            <p:txEl>
                                              <p:pRg st="16" end="16"/>
                                            </p:txEl>
                                          </p:spTgt>
                                        </p:tgtEl>
                                        <p:attrNameLst>
                                          <p:attrName>style.visibility</p:attrName>
                                        </p:attrNameLst>
                                      </p:cBhvr>
                                      <p:to>
                                        <p:strVal val="visible"/>
                                      </p:to>
                                    </p:set>
                                    <p:animEffect transition="in" filter="fade">
                                      <p:cBhvr>
                                        <p:cTn id="35" dur="500"/>
                                        <p:tgtEl>
                                          <p:spTgt spid="3">
                                            <p:txEl>
                                              <p:pRg st="16" end="16"/>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3">
                                            <p:txEl>
                                              <p:pRg st="17" end="17"/>
                                            </p:txEl>
                                          </p:spTgt>
                                        </p:tgtEl>
                                        <p:attrNameLst>
                                          <p:attrName>style.visibility</p:attrName>
                                        </p:attrNameLst>
                                      </p:cBhvr>
                                      <p:to>
                                        <p:strVal val="visible"/>
                                      </p:to>
                                    </p:set>
                                    <p:animEffect transition="in" filter="fade">
                                      <p:cBhvr>
                                        <p:cTn id="38" dur="500"/>
                                        <p:tgtEl>
                                          <p:spTgt spid="3">
                                            <p:txEl>
                                              <p:pRg st="17" end="17"/>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3">
                                            <p:txEl>
                                              <p:pRg st="18" end="18"/>
                                            </p:txEl>
                                          </p:spTgt>
                                        </p:tgtEl>
                                        <p:attrNameLst>
                                          <p:attrName>style.visibility</p:attrName>
                                        </p:attrNameLst>
                                      </p:cBhvr>
                                      <p:to>
                                        <p:strVal val="visible"/>
                                      </p:to>
                                    </p:set>
                                    <p:animEffect transition="in" filter="fade">
                                      <p:cBhvr>
                                        <p:cTn id="41" dur="500"/>
                                        <p:tgtEl>
                                          <p:spTgt spid="3">
                                            <p:txEl>
                                              <p:pRg st="18" end="18"/>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3">
                                            <p:txEl>
                                              <p:pRg st="19" end="19"/>
                                            </p:txEl>
                                          </p:spTgt>
                                        </p:tgtEl>
                                        <p:attrNameLst>
                                          <p:attrName>style.visibility</p:attrName>
                                        </p:attrNameLst>
                                      </p:cBhvr>
                                      <p:to>
                                        <p:strVal val="visible"/>
                                      </p:to>
                                    </p:set>
                                    <p:animEffect transition="in" filter="fade">
                                      <p:cBhvr>
                                        <p:cTn id="44" dur="500"/>
                                        <p:tgtEl>
                                          <p:spTgt spid="3">
                                            <p:txEl>
                                              <p:pRg st="19" end="1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62634-DEBB-3568-AFD4-848815BA5D80}"/>
              </a:ext>
            </a:extLst>
          </p:cNvPr>
          <p:cNvSpPr>
            <a:spLocks noGrp="1"/>
          </p:cNvSpPr>
          <p:nvPr>
            <p:ph type="title"/>
          </p:nvPr>
        </p:nvSpPr>
        <p:spPr/>
        <p:txBody>
          <a:bodyPr/>
          <a:lstStyle/>
          <a:p>
            <a:r>
              <a:rPr lang="en-US" dirty="0"/>
              <a:t>Do Not Use in Requirements</a:t>
            </a:r>
          </a:p>
        </p:txBody>
      </p:sp>
      <p:sp>
        <p:nvSpPr>
          <p:cNvPr id="4" name="Slide Number Placeholder 3">
            <a:extLst>
              <a:ext uri="{FF2B5EF4-FFF2-40B4-BE49-F238E27FC236}">
                <a16:creationId xmlns:a16="http://schemas.microsoft.com/office/drawing/2014/main" id="{ED14BB8F-352D-9A29-475E-522009023BAB}"/>
              </a:ext>
            </a:extLst>
          </p:cNvPr>
          <p:cNvSpPr>
            <a:spLocks noGrp="1"/>
          </p:cNvSpPr>
          <p:nvPr>
            <p:ph type="sldNum" sz="quarter" idx="12"/>
          </p:nvPr>
        </p:nvSpPr>
        <p:spPr/>
        <p:txBody>
          <a:bodyPr/>
          <a:lstStyle/>
          <a:p>
            <a:fld id="{9A3029B7-FE6B-4680-9049-80E8298A0825}" type="slidenum">
              <a:rPr lang="en-US" smtClean="0"/>
              <a:t>16</a:t>
            </a:fld>
            <a:endParaRPr lang="en-US"/>
          </a:p>
        </p:txBody>
      </p:sp>
      <p:sp>
        <p:nvSpPr>
          <p:cNvPr id="5" name="Rectangle 1">
            <a:extLst>
              <a:ext uri="{FF2B5EF4-FFF2-40B4-BE49-F238E27FC236}">
                <a16:creationId xmlns:a16="http://schemas.microsoft.com/office/drawing/2014/main" id="{EF974BC6-CD66-A4C5-B394-C09F32C761F5}"/>
              </a:ext>
            </a:extLst>
          </p:cNvPr>
          <p:cNvSpPr>
            <a:spLocks noGrp="1" noChangeArrowheads="1"/>
          </p:cNvSpPr>
          <p:nvPr>
            <p:ph idx="1"/>
          </p:nvPr>
        </p:nvSpPr>
        <p:spPr bwMode="auto">
          <a:xfrm>
            <a:off x="387547" y="1624680"/>
            <a:ext cx="2939853" cy="4257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26960" rIns="0" bIns="12696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333333"/>
                </a:solidFill>
                <a:effectLst/>
                <a:latin typeface="Segoe UI" panose="020B0502040204020203" pitchFamily="34" charset="0"/>
              </a:rPr>
              <a:t>Multiple Requirements in a single statement:</a:t>
            </a:r>
            <a:endParaRPr kumimoji="0" lang="en-US" altLang="en-US" sz="2000" b="0" i="0" u="none" strike="noStrike" cap="none" normalizeH="0" baseline="0" dirty="0">
              <a:ln>
                <a:noFill/>
              </a:ln>
              <a:solidFill>
                <a:schemeClr val="tx1"/>
              </a:solidFill>
              <a:effectLst/>
              <a:latin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rgbClr val="333333"/>
                </a:solidFill>
                <a:effectLst/>
                <a:latin typeface="Segoe UI" panose="020B0502040204020203" pitchFamily="34" charset="0"/>
              </a:rPr>
              <a:t>And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rgbClr val="333333"/>
                </a:solidFill>
                <a:effectLst/>
                <a:latin typeface="Segoe UI" panose="020B0502040204020203" pitchFamily="34" charset="0"/>
              </a:rPr>
              <a:t>Or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rgbClr val="333333"/>
              </a:solidFill>
              <a:effectLst/>
              <a:latin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333333"/>
                </a:solidFill>
                <a:effectLst/>
                <a:latin typeface="Segoe UI" panose="020B0502040204020203" pitchFamily="34" charset="0"/>
              </a:rPr>
              <a:t>Conditional Clauses</a:t>
            </a:r>
            <a:endParaRPr kumimoji="0" lang="en-US" altLang="en-US" sz="2000" b="0" i="0" u="none" strike="noStrike" cap="none" normalizeH="0" baseline="0" dirty="0">
              <a:ln>
                <a:noFill/>
              </a:ln>
              <a:solidFill>
                <a:schemeClr val="tx1"/>
              </a:solidFill>
              <a:effectLst/>
              <a:latin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rgbClr val="333333"/>
                </a:solidFill>
                <a:effectLst/>
                <a:latin typeface="Segoe UI" panose="020B0502040204020203" pitchFamily="34" charset="0"/>
              </a:rPr>
              <a:t>If</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rgbClr val="333333"/>
                </a:solidFill>
                <a:effectLst/>
                <a:latin typeface="Segoe UI" panose="020B0502040204020203" pitchFamily="34" charset="0"/>
              </a:rPr>
              <a:t>Once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rgbClr val="333333"/>
                </a:solidFill>
                <a:effectLst/>
                <a:latin typeface="Segoe UI" panose="020B0502040204020203" pitchFamily="34" charset="0"/>
              </a:rPr>
              <a:t>When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rgbClr val="333333"/>
                </a:solidFill>
                <a:effectLst/>
                <a:latin typeface="Segoe UI" panose="020B0502040204020203" pitchFamily="34" charset="0"/>
              </a:rPr>
              <a:t>Unless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rgbClr val="333333"/>
                </a:solidFill>
                <a:effectLst/>
                <a:latin typeface="Segoe UI" panose="020B0502040204020203" pitchFamily="34" charset="0"/>
              </a:rPr>
              <a:t>Except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rgbClr val="333333"/>
                </a:solidFill>
                <a:effectLst/>
                <a:latin typeface="Segoe UI" panose="020B0502040204020203" pitchFamily="34" charset="0"/>
              </a:rPr>
              <a:t>Although</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rgbClr val="333333"/>
                </a:solidFill>
                <a:effectLst/>
                <a:latin typeface="Segoe UI" panose="020B0502040204020203" pitchFamily="34" charset="0"/>
              </a:rPr>
              <a:t>Always</a:t>
            </a:r>
          </a:p>
        </p:txBody>
      </p:sp>
      <p:sp>
        <p:nvSpPr>
          <p:cNvPr id="6" name="Content Placeholder 2">
            <a:extLst>
              <a:ext uri="{FF2B5EF4-FFF2-40B4-BE49-F238E27FC236}">
                <a16:creationId xmlns:a16="http://schemas.microsoft.com/office/drawing/2014/main" id="{AFF5C735-1D23-9E37-5416-DECDEEA6D762}"/>
              </a:ext>
            </a:extLst>
          </p:cNvPr>
          <p:cNvSpPr txBox="1">
            <a:spLocks/>
          </p:cNvSpPr>
          <p:nvPr/>
        </p:nvSpPr>
        <p:spPr>
          <a:xfrm>
            <a:off x="3477845" y="1768707"/>
            <a:ext cx="5400907" cy="4174740"/>
          </a:xfrm>
          <a:prstGeom prst="rect">
            <a:avLst/>
          </a:prstGeom>
        </p:spPr>
        <p:txBody>
          <a:bodyPr vert="horz" lIns="68580" tIns="34290" rIns="68580" bIns="34290" numCol="2"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r>
              <a:rPr lang="en-US" sz="2000" dirty="0">
                <a:latin typeface="Segoe UI" panose="020B0502040204020203" pitchFamily="34" charset="0"/>
                <a:cs typeface="Segoe UI" panose="020B0502040204020203" pitchFamily="34" charset="0"/>
              </a:rPr>
              <a:t>User-friendly</a:t>
            </a:r>
          </a:p>
          <a:p>
            <a:pPr lvl="1"/>
            <a:r>
              <a:rPr lang="en-US" sz="2000" dirty="0">
                <a:latin typeface="Segoe UI" panose="020B0502040204020203" pitchFamily="34" charset="0"/>
                <a:cs typeface="Segoe UI" panose="020B0502040204020203" pitchFamily="34" charset="0"/>
              </a:rPr>
              <a:t>Easy</a:t>
            </a:r>
          </a:p>
          <a:p>
            <a:pPr lvl="1"/>
            <a:r>
              <a:rPr lang="en-US" sz="2000" dirty="0">
                <a:latin typeface="Segoe UI" panose="020B0502040204020203" pitchFamily="34" charset="0"/>
                <a:cs typeface="Segoe UI" panose="020B0502040204020203" pitchFamily="34" charset="0"/>
              </a:rPr>
              <a:t>Simple</a:t>
            </a:r>
          </a:p>
          <a:p>
            <a:pPr lvl="1"/>
            <a:r>
              <a:rPr lang="en-US" sz="2000" dirty="0">
                <a:latin typeface="Segoe UI" panose="020B0502040204020203" pitchFamily="34" charset="0"/>
                <a:cs typeface="Segoe UI" panose="020B0502040204020203" pitchFamily="34" charset="0"/>
              </a:rPr>
              <a:t>Rapid</a:t>
            </a:r>
          </a:p>
          <a:p>
            <a:pPr lvl="1"/>
            <a:r>
              <a:rPr lang="en-US" sz="2000" dirty="0">
                <a:latin typeface="Segoe UI" panose="020B0502040204020203" pitchFamily="34" charset="0"/>
                <a:cs typeface="Segoe UI" panose="020B0502040204020203" pitchFamily="34" charset="0"/>
              </a:rPr>
              <a:t>Efficient</a:t>
            </a:r>
          </a:p>
          <a:p>
            <a:pPr lvl="1"/>
            <a:r>
              <a:rPr lang="en-US" sz="2000" dirty="0">
                <a:latin typeface="Segoe UI" panose="020B0502040204020203" pitchFamily="34" charset="0"/>
                <a:cs typeface="Segoe UI" panose="020B0502040204020203" pitchFamily="34" charset="0"/>
              </a:rPr>
              <a:t>Several</a:t>
            </a:r>
          </a:p>
          <a:p>
            <a:pPr lvl="1"/>
            <a:r>
              <a:rPr lang="en-US" sz="2000" dirty="0">
                <a:latin typeface="Segoe UI" panose="020B0502040204020203" pitchFamily="34" charset="0"/>
                <a:cs typeface="Segoe UI" panose="020B0502040204020203" pitchFamily="34" charset="0"/>
              </a:rPr>
              <a:t>State-of-the-Art</a:t>
            </a:r>
          </a:p>
          <a:p>
            <a:pPr lvl="1"/>
            <a:r>
              <a:rPr lang="en-US" sz="2000" dirty="0">
                <a:latin typeface="Segoe UI" panose="020B0502040204020203" pitchFamily="34" charset="0"/>
                <a:cs typeface="Segoe UI" panose="020B0502040204020203" pitchFamily="34" charset="0"/>
              </a:rPr>
              <a:t>Improve</a:t>
            </a:r>
          </a:p>
          <a:p>
            <a:pPr lvl="1"/>
            <a:r>
              <a:rPr lang="en-US" sz="2000" dirty="0">
                <a:latin typeface="Segoe UI" panose="020B0502040204020203" pitchFamily="34" charset="0"/>
                <a:cs typeface="Segoe UI" panose="020B0502040204020203" pitchFamily="34" charset="0"/>
              </a:rPr>
              <a:t>Maximize</a:t>
            </a:r>
          </a:p>
          <a:p>
            <a:pPr lvl="1"/>
            <a:r>
              <a:rPr lang="en-US" sz="2000" dirty="0">
                <a:latin typeface="Segoe UI" panose="020B0502040204020203" pitchFamily="34" charset="0"/>
                <a:cs typeface="Segoe UI" panose="020B0502040204020203" pitchFamily="34" charset="0"/>
              </a:rPr>
              <a:t>Minimize</a:t>
            </a:r>
          </a:p>
          <a:p>
            <a:pPr lvl="1"/>
            <a:r>
              <a:rPr lang="en-US" sz="2000" dirty="0">
                <a:latin typeface="Segoe UI" panose="020B0502040204020203" pitchFamily="34" charset="0"/>
                <a:cs typeface="Segoe UI" panose="020B0502040204020203" pitchFamily="34" charset="0"/>
              </a:rPr>
              <a:t>Optimize</a:t>
            </a:r>
          </a:p>
          <a:p>
            <a:pPr lvl="1"/>
            <a:r>
              <a:rPr lang="en-US" sz="2000" dirty="0">
                <a:latin typeface="Segoe UI" panose="020B0502040204020203" pitchFamily="34" charset="0"/>
                <a:cs typeface="Segoe UI" panose="020B0502040204020203" pitchFamily="34" charset="0"/>
              </a:rPr>
              <a:t>Adequate</a:t>
            </a:r>
            <a:endParaRPr lang="en-US" sz="1800" dirty="0">
              <a:latin typeface="Segoe UI" panose="020B0502040204020203" pitchFamily="34" charset="0"/>
              <a:cs typeface="Segoe UI" panose="020B0502040204020203" pitchFamily="34" charset="0"/>
            </a:endParaRPr>
          </a:p>
          <a:p>
            <a:pPr lvl="1"/>
            <a:r>
              <a:rPr lang="en-US" sz="1800" dirty="0">
                <a:latin typeface="Segoe UI" panose="020B0502040204020203" pitchFamily="34" charset="0"/>
                <a:cs typeface="Segoe UI" panose="020B0502040204020203" pitchFamily="34" charset="0"/>
              </a:rPr>
              <a:t>Flexible</a:t>
            </a:r>
          </a:p>
          <a:p>
            <a:pPr lvl="1"/>
            <a:r>
              <a:rPr lang="en-US" sz="1800" dirty="0">
                <a:latin typeface="Segoe UI" panose="020B0502040204020203" pitchFamily="34" charset="0"/>
                <a:cs typeface="Segoe UI" panose="020B0502040204020203" pitchFamily="34" charset="0"/>
              </a:rPr>
              <a:t>Approximately</a:t>
            </a:r>
          </a:p>
          <a:p>
            <a:pPr lvl="1"/>
            <a:r>
              <a:rPr lang="en-US" sz="1800" dirty="0">
                <a:latin typeface="Segoe UI" panose="020B0502040204020203" pitchFamily="34" charset="0"/>
                <a:cs typeface="Segoe UI" panose="020B0502040204020203" pitchFamily="34" charset="0"/>
              </a:rPr>
              <a:t>Modern</a:t>
            </a:r>
          </a:p>
          <a:p>
            <a:pPr lvl="1"/>
            <a:r>
              <a:rPr lang="en-US" sz="1800" dirty="0">
                <a:latin typeface="Segoe UI" panose="020B0502040204020203" pitchFamily="34" charset="0"/>
                <a:cs typeface="Segoe UI" panose="020B0502040204020203" pitchFamily="34" charset="0"/>
              </a:rPr>
              <a:t>Versatile</a:t>
            </a:r>
          </a:p>
          <a:p>
            <a:pPr lvl="1"/>
            <a:r>
              <a:rPr lang="en-US" sz="1800" dirty="0">
                <a:latin typeface="Segoe UI" panose="020B0502040204020203" pitchFamily="34" charset="0"/>
                <a:cs typeface="Segoe UI" panose="020B0502040204020203" pitchFamily="34" charset="0"/>
              </a:rPr>
              <a:t>As possible</a:t>
            </a:r>
          </a:p>
          <a:p>
            <a:pPr lvl="1"/>
            <a:r>
              <a:rPr lang="en-US" sz="1800" dirty="0">
                <a:latin typeface="Segoe UI" panose="020B0502040204020203" pitchFamily="34" charset="0"/>
                <a:cs typeface="Segoe UI" panose="020B0502040204020203" pitchFamily="34" charset="0"/>
              </a:rPr>
              <a:t>Facilities</a:t>
            </a:r>
          </a:p>
          <a:p>
            <a:pPr lvl="1"/>
            <a:r>
              <a:rPr lang="en-US" sz="1800" dirty="0">
                <a:latin typeface="Segoe UI" panose="020B0502040204020203" pitchFamily="34" charset="0"/>
                <a:cs typeface="Segoe UI" panose="020B0502040204020203" pitchFamily="34" charset="0"/>
              </a:rPr>
              <a:t>Support</a:t>
            </a:r>
          </a:p>
          <a:p>
            <a:pPr lvl="1"/>
            <a:r>
              <a:rPr lang="en-US" sz="1800" dirty="0">
                <a:latin typeface="Segoe UI" panose="020B0502040204020203" pitchFamily="34" charset="0"/>
                <a:cs typeface="Segoe UI" panose="020B0502040204020203" pitchFamily="34" charset="0"/>
              </a:rPr>
              <a:t>High-performance</a:t>
            </a:r>
          </a:p>
          <a:p>
            <a:pPr lvl="1"/>
            <a:r>
              <a:rPr lang="en-US" sz="1800" dirty="0">
                <a:latin typeface="Segoe UI" panose="020B0502040204020203" pitchFamily="34" charset="0"/>
                <a:cs typeface="Segoe UI" panose="020B0502040204020203" pitchFamily="34" charset="0"/>
              </a:rPr>
              <a:t>Large</a:t>
            </a:r>
          </a:p>
          <a:p>
            <a:pPr lvl="1"/>
            <a:r>
              <a:rPr lang="en-US" sz="1800" dirty="0">
                <a:latin typeface="Segoe UI" panose="020B0502040204020203" pitchFamily="34" charset="0"/>
                <a:cs typeface="Segoe UI" panose="020B0502040204020203" pitchFamily="34" charset="0"/>
              </a:rPr>
              <a:t>Intuitive</a:t>
            </a:r>
          </a:p>
          <a:p>
            <a:pPr lvl="1"/>
            <a:r>
              <a:rPr lang="en-US" sz="1800" dirty="0">
                <a:latin typeface="Segoe UI" panose="020B0502040204020203" pitchFamily="34" charset="0"/>
                <a:cs typeface="Segoe UI" panose="020B0502040204020203" pitchFamily="34" charset="0"/>
              </a:rPr>
              <a:t>Robust</a:t>
            </a:r>
          </a:p>
          <a:p>
            <a:pPr lvl="1"/>
            <a:r>
              <a:rPr lang="en-US" sz="1800" dirty="0">
                <a:latin typeface="Segoe UI" panose="020B0502040204020203" pitchFamily="34" charset="0"/>
                <a:cs typeface="Segoe UI" panose="020B0502040204020203" pitchFamily="34" charset="0"/>
              </a:rPr>
              <a:t>Sufficient</a:t>
            </a:r>
          </a:p>
          <a:p>
            <a:pPr lvl="1"/>
            <a:endParaRPr lang="en-US" sz="1800" dirty="0">
              <a:latin typeface="Segoe UI" panose="020B0502040204020203" pitchFamily="34" charset="0"/>
              <a:cs typeface="Segoe UI" panose="020B0502040204020203" pitchFamily="34" charset="0"/>
            </a:endParaRPr>
          </a:p>
          <a:p>
            <a:pPr lvl="1"/>
            <a:endParaRPr lang="en-US" sz="1800" dirty="0">
              <a:latin typeface="Segoe UI" panose="020B0502040204020203" pitchFamily="34" charset="0"/>
              <a:cs typeface="Segoe UI" panose="020B0502040204020203" pitchFamily="34" charset="0"/>
            </a:endParaRPr>
          </a:p>
        </p:txBody>
      </p:sp>
      <p:sp>
        <p:nvSpPr>
          <p:cNvPr id="9" name="TextBox 8">
            <a:extLst>
              <a:ext uri="{FF2B5EF4-FFF2-40B4-BE49-F238E27FC236}">
                <a16:creationId xmlns:a16="http://schemas.microsoft.com/office/drawing/2014/main" id="{F95A7009-75F4-7BC0-036C-FFC94CAA8251}"/>
              </a:ext>
            </a:extLst>
          </p:cNvPr>
          <p:cNvSpPr txBox="1"/>
          <p:nvPr/>
        </p:nvSpPr>
        <p:spPr>
          <a:xfrm>
            <a:off x="3934016" y="1307042"/>
            <a:ext cx="4724400" cy="461665"/>
          </a:xfrm>
          <a:prstGeom prst="rect">
            <a:avLst/>
          </a:prstGeom>
          <a:noFill/>
        </p:spPr>
        <p:txBody>
          <a:bodyPr wrap="square">
            <a:spAutoFit/>
          </a:bodyPr>
          <a:lstStyle/>
          <a:p>
            <a:pPr marL="0" indent="0" algn="ctr">
              <a:buNone/>
            </a:pPr>
            <a:r>
              <a:rPr lang="en-US" sz="2400" b="1" dirty="0">
                <a:latin typeface="Segoe UI" panose="020B0502040204020203" pitchFamily="34" charset="0"/>
                <a:cs typeface="Segoe UI" panose="020B0502040204020203" pitchFamily="34" charset="0"/>
              </a:rPr>
              <a:t>Subjective Phrases</a:t>
            </a:r>
          </a:p>
        </p:txBody>
      </p:sp>
    </p:spTree>
    <p:extLst>
      <p:ext uri="{BB962C8B-B14F-4D97-AF65-F5344CB8AC3E}">
        <p14:creationId xmlns:p14="http://schemas.microsoft.com/office/powerpoint/2010/main" val="34059493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2A882AE-3FC9-7EEF-9BDD-5F708FAA9389}"/>
              </a:ext>
            </a:extLst>
          </p:cNvPr>
          <p:cNvSpPr>
            <a:spLocks noGrp="1"/>
          </p:cNvSpPr>
          <p:nvPr>
            <p:ph type="sldNum" sz="quarter" idx="10"/>
          </p:nvPr>
        </p:nvSpPr>
        <p:spPr/>
        <p:txBody>
          <a:bodyPr/>
          <a:lstStyle/>
          <a:p>
            <a:fld id="{FC0A7588-E93D-4094-8714-EA543C013E43}" type="slidenum">
              <a:rPr lang="en-US" altLang="en-US"/>
              <a:pPr/>
              <a:t>17</a:t>
            </a:fld>
            <a:endParaRPr lang="en-US" altLang="en-US"/>
          </a:p>
        </p:txBody>
      </p:sp>
      <p:sp>
        <p:nvSpPr>
          <p:cNvPr id="1591298" name="Rectangle 2">
            <a:extLst>
              <a:ext uri="{FF2B5EF4-FFF2-40B4-BE49-F238E27FC236}">
                <a16:creationId xmlns:a16="http://schemas.microsoft.com/office/drawing/2014/main" id="{6A811B0D-FE1F-0E89-B2A1-A8E2C58D98E0}"/>
              </a:ext>
            </a:extLst>
          </p:cNvPr>
          <p:cNvSpPr>
            <a:spLocks noGrp="1" noChangeArrowheads="1"/>
          </p:cNvSpPr>
          <p:nvPr>
            <p:ph type="title"/>
          </p:nvPr>
        </p:nvSpPr>
        <p:spPr>
          <a:xfrm>
            <a:off x="823913" y="207961"/>
            <a:ext cx="8051800" cy="609600"/>
          </a:xfrm>
        </p:spPr>
        <p:txBody>
          <a:bodyPr/>
          <a:lstStyle/>
          <a:p>
            <a:pPr>
              <a:lnSpc>
                <a:spcPct val="90000"/>
              </a:lnSpc>
            </a:pPr>
            <a:r>
              <a:rPr lang="en-US" altLang="en-US" sz="2800"/>
              <a:t>Goodness Checklist: Is this Requirement…</a:t>
            </a:r>
          </a:p>
        </p:txBody>
      </p:sp>
      <p:sp>
        <p:nvSpPr>
          <p:cNvPr id="1591299" name="Rectangle 3">
            <a:extLst>
              <a:ext uri="{FF2B5EF4-FFF2-40B4-BE49-F238E27FC236}">
                <a16:creationId xmlns:a16="http://schemas.microsoft.com/office/drawing/2014/main" id="{4A46199A-FE90-A448-9FEF-21BFEFC2F00C}"/>
              </a:ext>
            </a:extLst>
          </p:cNvPr>
          <p:cNvSpPr>
            <a:spLocks noGrp="1" noChangeArrowheads="1"/>
          </p:cNvSpPr>
          <p:nvPr>
            <p:ph type="body" idx="1"/>
          </p:nvPr>
        </p:nvSpPr>
        <p:spPr>
          <a:xfrm>
            <a:off x="285750" y="1057275"/>
            <a:ext cx="8404077" cy="5772955"/>
          </a:xfrm>
        </p:spPr>
        <p:txBody>
          <a:bodyPr>
            <a:normAutofit/>
          </a:bodyPr>
          <a:lstStyle/>
          <a:p>
            <a:pPr marL="0" indent="0">
              <a:lnSpc>
                <a:spcPct val="90000"/>
              </a:lnSpc>
              <a:buNone/>
            </a:pPr>
            <a:r>
              <a:rPr lang="en-US" altLang="en-US" sz="1500" b="1" dirty="0">
                <a:solidFill>
                  <a:srgbClr val="000000"/>
                </a:solidFill>
              </a:rPr>
              <a:t>Free of ambiguous terms?</a:t>
            </a:r>
          </a:p>
          <a:p>
            <a:pPr marL="450850"/>
            <a:r>
              <a:rPr lang="en-US" altLang="en-US" sz="1500" dirty="0">
                <a:solidFill>
                  <a:srgbClr val="000000"/>
                </a:solidFill>
              </a:rPr>
              <a:t>Examples: as appropriate, etc., and/or, support, but not limited to, be able to, be capable of</a:t>
            </a:r>
          </a:p>
          <a:p>
            <a:pPr marL="0" indent="0">
              <a:lnSpc>
                <a:spcPct val="90000"/>
              </a:lnSpc>
              <a:buNone/>
            </a:pPr>
            <a:r>
              <a:rPr lang="en-US" altLang="en-US" sz="1500" b="1" dirty="0">
                <a:solidFill>
                  <a:srgbClr val="000000"/>
                </a:solidFill>
              </a:rPr>
              <a:t>Free of indefinite pronouns?</a:t>
            </a:r>
          </a:p>
          <a:p>
            <a:pPr marL="450850"/>
            <a:r>
              <a:rPr lang="en-US" altLang="en-US" sz="1500" dirty="0">
                <a:solidFill>
                  <a:srgbClr val="000000"/>
                </a:solidFill>
              </a:rPr>
              <a:t>Examples: this, these </a:t>
            </a:r>
          </a:p>
          <a:p>
            <a:pPr marL="0" indent="0">
              <a:lnSpc>
                <a:spcPct val="90000"/>
              </a:lnSpc>
              <a:buNone/>
            </a:pPr>
            <a:r>
              <a:rPr lang="en-US" altLang="en-US" sz="1500" b="1" dirty="0">
                <a:solidFill>
                  <a:srgbClr val="000000"/>
                </a:solidFill>
              </a:rPr>
              <a:t>Free of unverifiable terms?</a:t>
            </a:r>
          </a:p>
          <a:p>
            <a:pPr marL="450850"/>
            <a:r>
              <a:rPr lang="en-US" altLang="en-US" sz="1500" i="1" dirty="0">
                <a:solidFill>
                  <a:srgbClr val="000000"/>
                </a:solidFill>
              </a:rPr>
              <a:t>Examples: flexible, user-friendly, robust, light-weight, maximize, adequate, small, portable, easily - other “</a:t>
            </a:r>
            <a:r>
              <a:rPr lang="en-US" altLang="en-US" sz="1500" i="1" dirty="0" err="1">
                <a:solidFill>
                  <a:srgbClr val="000000"/>
                </a:solidFill>
              </a:rPr>
              <a:t>ly</a:t>
            </a:r>
            <a:r>
              <a:rPr lang="en-US" altLang="en-US" sz="1500" i="1" dirty="0">
                <a:solidFill>
                  <a:srgbClr val="000000"/>
                </a:solidFill>
              </a:rPr>
              <a:t>” words and other “</a:t>
            </a:r>
            <a:r>
              <a:rPr lang="en-US" altLang="en-US" sz="1500" i="1" dirty="0" err="1">
                <a:solidFill>
                  <a:srgbClr val="000000"/>
                </a:solidFill>
              </a:rPr>
              <a:t>ize</a:t>
            </a:r>
            <a:r>
              <a:rPr lang="en-US" altLang="en-US" sz="1500" i="1" dirty="0">
                <a:solidFill>
                  <a:srgbClr val="000000"/>
                </a:solidFill>
              </a:rPr>
              <a:t>” words</a:t>
            </a:r>
          </a:p>
          <a:p>
            <a:pPr marL="0" indent="0">
              <a:lnSpc>
                <a:spcPct val="90000"/>
              </a:lnSpc>
              <a:buNone/>
            </a:pPr>
            <a:r>
              <a:rPr lang="en-US" altLang="en-US" sz="1500" b="1" dirty="0">
                <a:solidFill>
                  <a:srgbClr val="000000"/>
                </a:solidFill>
              </a:rPr>
              <a:t>Free of implementation?</a:t>
            </a:r>
          </a:p>
          <a:p>
            <a:pPr marL="450850"/>
            <a:r>
              <a:rPr lang="en-US" altLang="en-US" sz="1500" i="1" dirty="0">
                <a:solidFill>
                  <a:srgbClr val="000000"/>
                </a:solidFill>
              </a:rPr>
              <a:t>Requirement should state WHAT is needed, NOT HOW to provide it, i.e., state the problem not the solution.</a:t>
            </a:r>
          </a:p>
          <a:p>
            <a:pPr marL="0" indent="0">
              <a:lnSpc>
                <a:spcPct val="90000"/>
              </a:lnSpc>
              <a:buNone/>
            </a:pPr>
            <a:r>
              <a:rPr lang="en-US" altLang="en-US" sz="1500" b="1" dirty="0">
                <a:solidFill>
                  <a:srgbClr val="000000"/>
                </a:solidFill>
              </a:rPr>
              <a:t>Necessary?</a:t>
            </a:r>
          </a:p>
          <a:p>
            <a:pPr marL="450850"/>
            <a:r>
              <a:rPr lang="en-US" altLang="en-US" sz="1500" i="1" dirty="0">
                <a:solidFill>
                  <a:srgbClr val="000000"/>
                </a:solidFill>
              </a:rPr>
              <a:t>Ask “Why do you need the requirement?”; the answer may lead you to the real requirement.</a:t>
            </a:r>
          </a:p>
          <a:p>
            <a:pPr marL="0" indent="0">
              <a:lnSpc>
                <a:spcPct val="90000"/>
              </a:lnSpc>
              <a:buNone/>
            </a:pPr>
            <a:r>
              <a:rPr lang="en-US" altLang="en-US" sz="1500" b="1" dirty="0">
                <a:solidFill>
                  <a:srgbClr val="000000"/>
                </a:solidFill>
              </a:rPr>
              <a:t>Free of descriptions of operations?</a:t>
            </a:r>
          </a:p>
          <a:p>
            <a:pPr marL="450850"/>
            <a:r>
              <a:rPr lang="en-US" altLang="en-US" sz="1500" i="1" dirty="0">
                <a:solidFill>
                  <a:srgbClr val="000000"/>
                </a:solidFill>
              </a:rPr>
              <a:t>To distinguish between operations and requirements, ask “Does the developer have control over this?” “Is this a need the product must satisfy or an activity involving the product?”</a:t>
            </a:r>
          </a:p>
          <a:p>
            <a:pPr marL="0" indent="0">
              <a:lnSpc>
                <a:spcPct val="90000"/>
              </a:lnSpc>
              <a:buNone/>
            </a:pPr>
            <a:r>
              <a:rPr lang="en-US" altLang="en-US" sz="1500" b="1" dirty="0">
                <a:solidFill>
                  <a:srgbClr val="000000"/>
                </a:solidFill>
              </a:rPr>
              <a:t>Free of TBDs (To Be Determined)? </a:t>
            </a:r>
          </a:p>
          <a:p>
            <a:pPr marL="450850"/>
            <a:r>
              <a:rPr lang="en-US" altLang="en-US" sz="1500" i="1" dirty="0">
                <a:solidFill>
                  <a:srgbClr val="000000"/>
                </a:solidFill>
              </a:rPr>
              <a:t>Use a best estimate and a TBR (To Be Resolved) with rationale when possible.</a:t>
            </a:r>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C45AB99-1BC5-1B50-8EBD-82AFD6A2426A}"/>
              </a:ext>
            </a:extLst>
          </p:cNvPr>
          <p:cNvSpPr>
            <a:spLocks noGrp="1"/>
          </p:cNvSpPr>
          <p:nvPr>
            <p:ph type="sldNum" sz="quarter" idx="10"/>
          </p:nvPr>
        </p:nvSpPr>
        <p:spPr/>
        <p:txBody>
          <a:bodyPr/>
          <a:lstStyle/>
          <a:p>
            <a:fld id="{6BF05D24-9FA0-4A5E-A949-57E2B4CBDF81}" type="slidenum">
              <a:rPr lang="en-US" altLang="en-US"/>
              <a:pPr/>
              <a:t>18</a:t>
            </a:fld>
            <a:endParaRPr lang="en-US" altLang="en-US"/>
          </a:p>
        </p:txBody>
      </p:sp>
      <p:sp>
        <p:nvSpPr>
          <p:cNvPr id="1593346" name="Rectangle 2">
            <a:extLst>
              <a:ext uri="{FF2B5EF4-FFF2-40B4-BE49-F238E27FC236}">
                <a16:creationId xmlns:a16="http://schemas.microsoft.com/office/drawing/2014/main" id="{3121D48F-36BB-704C-E607-BFA0B44C6D22}"/>
              </a:ext>
            </a:extLst>
          </p:cNvPr>
          <p:cNvSpPr>
            <a:spLocks noGrp="1" noChangeArrowheads="1"/>
          </p:cNvSpPr>
          <p:nvPr>
            <p:ph type="title"/>
          </p:nvPr>
        </p:nvSpPr>
        <p:spPr>
          <a:xfrm>
            <a:off x="771525" y="176210"/>
            <a:ext cx="8051800" cy="609600"/>
          </a:xfrm>
        </p:spPr>
        <p:txBody>
          <a:bodyPr/>
          <a:lstStyle/>
          <a:p>
            <a:pPr>
              <a:lnSpc>
                <a:spcPct val="90000"/>
              </a:lnSpc>
            </a:pPr>
            <a:r>
              <a:rPr lang="en-US" altLang="en-US" sz="2800" dirty="0"/>
              <a:t>Example Requirements: Good or Bad?</a:t>
            </a:r>
          </a:p>
        </p:txBody>
      </p:sp>
      <p:sp>
        <p:nvSpPr>
          <p:cNvPr id="1593347" name="Rectangle 3">
            <a:extLst>
              <a:ext uri="{FF2B5EF4-FFF2-40B4-BE49-F238E27FC236}">
                <a16:creationId xmlns:a16="http://schemas.microsoft.com/office/drawing/2014/main" id="{0B4F86DC-5014-C852-12BA-1D891FE952DD}"/>
              </a:ext>
            </a:extLst>
          </p:cNvPr>
          <p:cNvSpPr>
            <a:spLocks noGrp="1" noChangeArrowheads="1"/>
          </p:cNvSpPr>
          <p:nvPr>
            <p:ph type="body" idx="1"/>
          </p:nvPr>
        </p:nvSpPr>
        <p:spPr>
          <a:xfrm>
            <a:off x="216426" y="1092951"/>
            <a:ext cx="8733899" cy="5531687"/>
          </a:xfrm>
        </p:spPr>
        <p:txBody>
          <a:bodyPr>
            <a:normAutofit/>
          </a:bodyPr>
          <a:lstStyle/>
          <a:p>
            <a:pPr marL="0" indent="0">
              <a:lnSpc>
                <a:spcPct val="90000"/>
              </a:lnSpc>
              <a:spcBef>
                <a:spcPct val="40000"/>
              </a:spcBef>
              <a:buNone/>
            </a:pPr>
            <a:r>
              <a:rPr lang="en-US" altLang="en-US" sz="1800" dirty="0">
                <a:solidFill>
                  <a:srgbClr val="000000"/>
                </a:solidFill>
              </a:rPr>
              <a:t>The aircraft shall have three engines.</a:t>
            </a:r>
          </a:p>
          <a:p>
            <a:pPr marL="0" indent="0">
              <a:lnSpc>
                <a:spcPct val="90000"/>
              </a:lnSpc>
              <a:spcBef>
                <a:spcPct val="40000"/>
              </a:spcBef>
              <a:buNone/>
            </a:pPr>
            <a:r>
              <a:rPr lang="en-US" altLang="en-US" sz="1800" b="1" dirty="0">
                <a:sym typeface="Wingdings" panose="05000000000000000000" pitchFamily="2" charset="2"/>
              </a:rPr>
              <a:t> </a:t>
            </a:r>
            <a:r>
              <a:rPr lang="en-US" altLang="en-US" sz="1800" b="1" dirty="0"/>
              <a:t>The aircraft shall meet the operation requirements with a single engine out.</a:t>
            </a:r>
            <a:endParaRPr lang="en-US" altLang="en-US" sz="1800" b="1" dirty="0">
              <a:solidFill>
                <a:srgbClr val="000000"/>
              </a:solidFill>
            </a:endParaRPr>
          </a:p>
          <a:p>
            <a:pPr marL="0" indent="0">
              <a:lnSpc>
                <a:spcPct val="90000"/>
              </a:lnSpc>
              <a:spcBef>
                <a:spcPct val="40000"/>
              </a:spcBef>
              <a:buNone/>
            </a:pPr>
            <a:endParaRPr lang="en-US" altLang="en-US" sz="1800" b="1" dirty="0">
              <a:solidFill>
                <a:srgbClr val="000000"/>
              </a:solidFill>
            </a:endParaRPr>
          </a:p>
          <a:p>
            <a:pPr marL="0" indent="0">
              <a:lnSpc>
                <a:spcPct val="90000"/>
              </a:lnSpc>
              <a:spcBef>
                <a:spcPct val="40000"/>
              </a:spcBef>
              <a:buNone/>
            </a:pPr>
            <a:r>
              <a:rPr lang="en-US" altLang="en-US" sz="1800" dirty="0">
                <a:solidFill>
                  <a:srgbClr val="000000"/>
                </a:solidFill>
              </a:rPr>
              <a:t>The lunar lander shall include an airlock.</a:t>
            </a:r>
          </a:p>
          <a:p>
            <a:pPr marL="0" indent="0">
              <a:lnSpc>
                <a:spcPct val="90000"/>
              </a:lnSpc>
              <a:spcBef>
                <a:spcPct val="40000"/>
              </a:spcBef>
              <a:buNone/>
            </a:pPr>
            <a:r>
              <a:rPr lang="en-US" altLang="en-US" sz="1800" b="1" dirty="0">
                <a:solidFill>
                  <a:srgbClr val="000000"/>
                </a:solidFill>
                <a:sym typeface="Wingdings" panose="05000000000000000000" pitchFamily="2" charset="2"/>
              </a:rPr>
              <a:t> </a:t>
            </a:r>
            <a:r>
              <a:rPr lang="en-US" altLang="en-US" sz="1800" b="1" dirty="0">
                <a:solidFill>
                  <a:srgbClr val="000000"/>
                </a:solidFill>
              </a:rPr>
              <a:t>The lunar lander shall provide the capability for crew to ingress/egress while maintaining pressurization.</a:t>
            </a:r>
          </a:p>
          <a:p>
            <a:pPr marL="0" indent="0">
              <a:lnSpc>
                <a:spcPct val="90000"/>
              </a:lnSpc>
              <a:spcBef>
                <a:spcPct val="40000"/>
              </a:spcBef>
              <a:buNone/>
            </a:pPr>
            <a:endParaRPr lang="en-US" altLang="en-US" sz="1800" b="1" dirty="0">
              <a:solidFill>
                <a:srgbClr val="000000"/>
              </a:solidFill>
            </a:endParaRPr>
          </a:p>
          <a:p>
            <a:pPr marL="0" indent="0">
              <a:lnSpc>
                <a:spcPct val="90000"/>
              </a:lnSpc>
              <a:spcBef>
                <a:spcPct val="40000"/>
              </a:spcBef>
              <a:buNone/>
            </a:pPr>
            <a:r>
              <a:rPr lang="en-US" altLang="en-US" sz="1800" dirty="0">
                <a:solidFill>
                  <a:srgbClr val="000000"/>
                </a:solidFill>
              </a:rPr>
              <a:t>The crew shall have the capability to perform extra-vehicular activities (EVAs).</a:t>
            </a:r>
          </a:p>
          <a:p>
            <a:pPr marL="0" indent="0">
              <a:lnSpc>
                <a:spcPct val="90000"/>
              </a:lnSpc>
              <a:spcBef>
                <a:spcPct val="40000"/>
              </a:spcBef>
              <a:buNone/>
            </a:pPr>
            <a:r>
              <a:rPr lang="en-US" altLang="en-US" sz="1800" b="1" dirty="0">
                <a:sym typeface="Wingdings" panose="05000000000000000000" pitchFamily="2" charset="2"/>
              </a:rPr>
              <a:t> </a:t>
            </a:r>
            <a:r>
              <a:rPr lang="en-US" altLang="en-US" sz="1800" b="1" dirty="0"/>
              <a:t>The vehicle shall allow extra-vehicular activities during operations.</a:t>
            </a:r>
          </a:p>
          <a:p>
            <a:pPr marL="0" indent="0">
              <a:lnSpc>
                <a:spcPct val="90000"/>
              </a:lnSpc>
              <a:spcBef>
                <a:spcPct val="40000"/>
              </a:spcBef>
              <a:buNone/>
            </a:pPr>
            <a:endParaRPr lang="en-US" altLang="en-US" sz="1800" b="1" dirty="0">
              <a:solidFill>
                <a:srgbClr val="000000"/>
              </a:solidFill>
            </a:endParaRPr>
          </a:p>
          <a:p>
            <a:pPr marL="0" indent="0">
              <a:lnSpc>
                <a:spcPct val="90000"/>
              </a:lnSpc>
              <a:spcBef>
                <a:spcPct val="40000"/>
              </a:spcBef>
              <a:buNone/>
            </a:pPr>
            <a:r>
              <a:rPr lang="en-US" altLang="en-US" sz="1800" dirty="0">
                <a:solidFill>
                  <a:srgbClr val="000000"/>
                </a:solidFill>
              </a:rPr>
              <a:t>The spacecraft shall maximize lifetime.</a:t>
            </a:r>
          </a:p>
          <a:p>
            <a:pPr marL="0" indent="0">
              <a:lnSpc>
                <a:spcPct val="90000"/>
              </a:lnSpc>
              <a:spcBef>
                <a:spcPct val="40000"/>
              </a:spcBef>
              <a:buNone/>
            </a:pPr>
            <a:r>
              <a:rPr lang="en-US" altLang="en-US" sz="1800" b="1" dirty="0">
                <a:sym typeface="Wingdings" panose="05000000000000000000" pitchFamily="2" charset="2"/>
              </a:rPr>
              <a:t> </a:t>
            </a:r>
            <a:r>
              <a:rPr lang="en-US" altLang="en-US" sz="1800" b="1" dirty="0"/>
              <a:t>The spacecraft shall have a lifetime of at least three years.</a:t>
            </a:r>
            <a:endParaRPr lang="en-US" altLang="en-US" sz="1800" b="1" dirty="0">
              <a:solidFill>
                <a:srgbClr val="000000"/>
              </a:solidFill>
            </a:endParaRPr>
          </a:p>
          <a:p>
            <a:pPr marL="0" indent="0">
              <a:lnSpc>
                <a:spcPct val="90000"/>
              </a:lnSpc>
              <a:spcBef>
                <a:spcPct val="40000"/>
              </a:spcBef>
              <a:buNone/>
            </a:pPr>
            <a:endParaRPr lang="en-US" altLang="en-US" sz="1800" b="1" dirty="0">
              <a:solidFill>
                <a:srgbClr val="000000"/>
              </a:solidFill>
            </a:endParaRPr>
          </a:p>
          <a:p>
            <a:pPr marL="0" indent="0">
              <a:lnSpc>
                <a:spcPct val="90000"/>
              </a:lnSpc>
              <a:spcBef>
                <a:spcPct val="40000"/>
              </a:spcBef>
              <a:buNone/>
            </a:pPr>
            <a:r>
              <a:rPr lang="en-US" altLang="en-US" sz="1800" dirty="0">
                <a:solidFill>
                  <a:srgbClr val="000000"/>
                </a:solidFill>
              </a:rPr>
              <a:t>The software shall display data in a user-friendly fashion.</a:t>
            </a:r>
          </a:p>
          <a:p>
            <a:pPr marL="0" indent="0">
              <a:lnSpc>
                <a:spcPct val="90000"/>
              </a:lnSpc>
              <a:spcBef>
                <a:spcPct val="40000"/>
              </a:spcBef>
              <a:buNone/>
            </a:pPr>
            <a:r>
              <a:rPr lang="en-US" altLang="en-US" sz="1800" b="1" dirty="0">
                <a:sym typeface="Wingdings" panose="05000000000000000000" pitchFamily="2" charset="2"/>
              </a:rPr>
              <a:t> </a:t>
            </a:r>
            <a:r>
              <a:rPr lang="en-US" altLang="en-US" sz="1800" b="1" dirty="0"/>
              <a:t>The software shall display data as described in ICD 2345 Table 3.1.</a:t>
            </a:r>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93347">
                                            <p:txEl>
                                              <p:pRg st="1" end="1"/>
                                            </p:txEl>
                                          </p:spTgt>
                                        </p:tgtEl>
                                        <p:attrNameLst>
                                          <p:attrName>style.visibility</p:attrName>
                                        </p:attrNameLst>
                                      </p:cBhvr>
                                      <p:to>
                                        <p:strVal val="visible"/>
                                      </p:to>
                                    </p:set>
                                    <p:animEffect transition="in" filter="fade">
                                      <p:cBhvr>
                                        <p:cTn id="7" dur="500"/>
                                        <p:tgtEl>
                                          <p:spTgt spid="159334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93347">
                                            <p:txEl>
                                              <p:pRg st="3" end="3"/>
                                            </p:txEl>
                                          </p:spTgt>
                                        </p:tgtEl>
                                        <p:attrNameLst>
                                          <p:attrName>style.visibility</p:attrName>
                                        </p:attrNameLst>
                                      </p:cBhvr>
                                      <p:to>
                                        <p:strVal val="visible"/>
                                      </p:to>
                                    </p:set>
                                    <p:animEffect transition="in" filter="fade">
                                      <p:cBhvr>
                                        <p:cTn id="12" dur="500"/>
                                        <p:tgtEl>
                                          <p:spTgt spid="1593347">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93347">
                                            <p:txEl>
                                              <p:pRg st="4" end="4"/>
                                            </p:txEl>
                                          </p:spTgt>
                                        </p:tgtEl>
                                        <p:attrNameLst>
                                          <p:attrName>style.visibility</p:attrName>
                                        </p:attrNameLst>
                                      </p:cBhvr>
                                      <p:to>
                                        <p:strVal val="visible"/>
                                      </p:to>
                                    </p:set>
                                    <p:animEffect transition="in" filter="fade">
                                      <p:cBhvr>
                                        <p:cTn id="17" dur="500"/>
                                        <p:tgtEl>
                                          <p:spTgt spid="1593347">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93347">
                                            <p:txEl>
                                              <p:pRg st="6" end="6"/>
                                            </p:txEl>
                                          </p:spTgt>
                                        </p:tgtEl>
                                        <p:attrNameLst>
                                          <p:attrName>style.visibility</p:attrName>
                                        </p:attrNameLst>
                                      </p:cBhvr>
                                      <p:to>
                                        <p:strVal val="visible"/>
                                      </p:to>
                                    </p:set>
                                    <p:animEffect transition="in" filter="fade">
                                      <p:cBhvr>
                                        <p:cTn id="22" dur="500"/>
                                        <p:tgtEl>
                                          <p:spTgt spid="1593347">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593347">
                                            <p:txEl>
                                              <p:pRg st="7" end="7"/>
                                            </p:txEl>
                                          </p:spTgt>
                                        </p:tgtEl>
                                        <p:attrNameLst>
                                          <p:attrName>style.visibility</p:attrName>
                                        </p:attrNameLst>
                                      </p:cBhvr>
                                      <p:to>
                                        <p:strVal val="visible"/>
                                      </p:to>
                                    </p:set>
                                    <p:animEffect transition="in" filter="fade">
                                      <p:cBhvr>
                                        <p:cTn id="27" dur="500"/>
                                        <p:tgtEl>
                                          <p:spTgt spid="1593347">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593347">
                                            <p:txEl>
                                              <p:pRg st="9" end="9"/>
                                            </p:txEl>
                                          </p:spTgt>
                                        </p:tgtEl>
                                        <p:attrNameLst>
                                          <p:attrName>style.visibility</p:attrName>
                                        </p:attrNameLst>
                                      </p:cBhvr>
                                      <p:to>
                                        <p:strVal val="visible"/>
                                      </p:to>
                                    </p:set>
                                    <p:animEffect transition="in" filter="fade">
                                      <p:cBhvr>
                                        <p:cTn id="32" dur="500"/>
                                        <p:tgtEl>
                                          <p:spTgt spid="1593347">
                                            <p:txEl>
                                              <p:pRg st="9" end="9"/>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593347">
                                            <p:txEl>
                                              <p:pRg st="10" end="10"/>
                                            </p:txEl>
                                          </p:spTgt>
                                        </p:tgtEl>
                                        <p:attrNameLst>
                                          <p:attrName>style.visibility</p:attrName>
                                        </p:attrNameLst>
                                      </p:cBhvr>
                                      <p:to>
                                        <p:strVal val="visible"/>
                                      </p:to>
                                    </p:set>
                                    <p:animEffect transition="in" filter="fade">
                                      <p:cBhvr>
                                        <p:cTn id="37" dur="500"/>
                                        <p:tgtEl>
                                          <p:spTgt spid="1593347">
                                            <p:txEl>
                                              <p:pRg st="10" end="1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593347">
                                            <p:txEl>
                                              <p:pRg st="12" end="12"/>
                                            </p:txEl>
                                          </p:spTgt>
                                        </p:tgtEl>
                                        <p:attrNameLst>
                                          <p:attrName>style.visibility</p:attrName>
                                        </p:attrNameLst>
                                      </p:cBhvr>
                                      <p:to>
                                        <p:strVal val="visible"/>
                                      </p:to>
                                    </p:set>
                                    <p:animEffect transition="in" filter="fade">
                                      <p:cBhvr>
                                        <p:cTn id="42" dur="500"/>
                                        <p:tgtEl>
                                          <p:spTgt spid="1593347">
                                            <p:txEl>
                                              <p:pRg st="12" end="1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593347">
                                            <p:txEl>
                                              <p:pRg st="13" end="13"/>
                                            </p:txEl>
                                          </p:spTgt>
                                        </p:tgtEl>
                                        <p:attrNameLst>
                                          <p:attrName>style.visibility</p:attrName>
                                        </p:attrNameLst>
                                      </p:cBhvr>
                                      <p:to>
                                        <p:strVal val="visible"/>
                                      </p:to>
                                    </p:set>
                                    <p:animEffect transition="in" filter="fade">
                                      <p:cBhvr>
                                        <p:cTn id="47" dur="500"/>
                                        <p:tgtEl>
                                          <p:spTgt spid="1593347">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32C870F-893C-2119-FA70-114B1DF15120}"/>
              </a:ext>
            </a:extLst>
          </p:cNvPr>
          <p:cNvSpPr>
            <a:spLocks noGrp="1"/>
          </p:cNvSpPr>
          <p:nvPr>
            <p:ph type="sldNum" sz="quarter" idx="10"/>
          </p:nvPr>
        </p:nvSpPr>
        <p:spPr/>
        <p:txBody>
          <a:bodyPr/>
          <a:lstStyle/>
          <a:p>
            <a:fld id="{873DED26-75F7-4C67-AA1F-380A0C8A07DF}" type="slidenum">
              <a:rPr lang="en-US" altLang="en-US"/>
              <a:pPr/>
              <a:t>19</a:t>
            </a:fld>
            <a:endParaRPr lang="en-US" altLang="en-US"/>
          </a:p>
        </p:txBody>
      </p:sp>
      <p:sp>
        <p:nvSpPr>
          <p:cNvPr id="1595394" name="Rectangle 2">
            <a:extLst>
              <a:ext uri="{FF2B5EF4-FFF2-40B4-BE49-F238E27FC236}">
                <a16:creationId xmlns:a16="http://schemas.microsoft.com/office/drawing/2014/main" id="{4FEA9B74-16BB-A661-B35B-E572BE72A9E8}"/>
              </a:ext>
            </a:extLst>
          </p:cNvPr>
          <p:cNvSpPr>
            <a:spLocks noGrp="1" noChangeArrowheads="1"/>
          </p:cNvSpPr>
          <p:nvPr>
            <p:ph type="title"/>
          </p:nvPr>
        </p:nvSpPr>
        <p:spPr>
          <a:xfrm>
            <a:off x="815975" y="162708"/>
            <a:ext cx="8051800" cy="609600"/>
          </a:xfrm>
        </p:spPr>
        <p:txBody>
          <a:bodyPr>
            <a:normAutofit fontScale="90000"/>
          </a:bodyPr>
          <a:lstStyle/>
          <a:p>
            <a:pPr>
              <a:lnSpc>
                <a:spcPct val="90000"/>
              </a:lnSpc>
            </a:pPr>
            <a:r>
              <a:rPr lang="en-US" altLang="en-US" dirty="0"/>
              <a:t>Rationale Captures the Motivation and </a:t>
            </a:r>
            <a:br>
              <a:rPr lang="en-US" altLang="en-US" dirty="0"/>
            </a:br>
            <a:r>
              <a:rPr lang="en-US" altLang="en-US" dirty="0"/>
              <a:t>Assumptions of a Requirement</a:t>
            </a:r>
          </a:p>
        </p:txBody>
      </p:sp>
      <p:sp>
        <p:nvSpPr>
          <p:cNvPr id="1595395" name="Rectangle 3">
            <a:extLst>
              <a:ext uri="{FF2B5EF4-FFF2-40B4-BE49-F238E27FC236}">
                <a16:creationId xmlns:a16="http://schemas.microsoft.com/office/drawing/2014/main" id="{576C2C8A-7A12-D8A9-243B-B70DE1FA88C9}"/>
              </a:ext>
            </a:extLst>
          </p:cNvPr>
          <p:cNvSpPr>
            <a:spLocks noGrp="1" noChangeArrowheads="1"/>
          </p:cNvSpPr>
          <p:nvPr>
            <p:ph type="body" idx="1"/>
          </p:nvPr>
        </p:nvSpPr>
        <p:spPr>
          <a:xfrm>
            <a:off x="815975" y="1092200"/>
            <a:ext cx="7715250" cy="5418138"/>
          </a:xfrm>
        </p:spPr>
        <p:txBody>
          <a:bodyPr>
            <a:normAutofit lnSpcReduction="10000"/>
          </a:bodyPr>
          <a:lstStyle/>
          <a:p>
            <a:pPr marL="508000" indent="-508000">
              <a:lnSpc>
                <a:spcPct val="90000"/>
              </a:lnSpc>
              <a:buFont typeface="Symbol" panose="05050102010706020507" pitchFamily="18" charset="2"/>
              <a:buNone/>
            </a:pPr>
            <a:r>
              <a:rPr lang="en-US" altLang="en-US" sz="2400" b="1" dirty="0">
                <a:solidFill>
                  <a:srgbClr val="000000"/>
                </a:solidFill>
              </a:rPr>
              <a:t>The rationale of each requirement defines</a:t>
            </a:r>
          </a:p>
          <a:p>
            <a:pPr marL="908050" lvl="1">
              <a:lnSpc>
                <a:spcPct val="90000"/>
              </a:lnSpc>
            </a:pPr>
            <a:r>
              <a:rPr lang="en-US" altLang="en-US" sz="2000" dirty="0">
                <a:solidFill>
                  <a:srgbClr val="000000"/>
                </a:solidFill>
              </a:rPr>
              <a:t>Why a requirement is </a:t>
            </a:r>
            <a:r>
              <a:rPr lang="en-US" altLang="en-US" sz="2000" u="sng" dirty="0">
                <a:solidFill>
                  <a:srgbClr val="000000"/>
                </a:solidFill>
              </a:rPr>
              <a:t>needed</a:t>
            </a:r>
            <a:endParaRPr lang="en-US" altLang="en-US" sz="2000" dirty="0">
              <a:solidFill>
                <a:srgbClr val="000000"/>
              </a:solidFill>
            </a:endParaRPr>
          </a:p>
          <a:p>
            <a:pPr marL="908050" lvl="1">
              <a:lnSpc>
                <a:spcPct val="90000"/>
              </a:lnSpc>
            </a:pPr>
            <a:r>
              <a:rPr lang="en-US" altLang="en-US" sz="2000" dirty="0">
                <a:solidFill>
                  <a:srgbClr val="000000"/>
                </a:solidFill>
              </a:rPr>
              <a:t>What </a:t>
            </a:r>
            <a:r>
              <a:rPr lang="en-US" altLang="en-US" sz="2000" u="sng" dirty="0">
                <a:solidFill>
                  <a:srgbClr val="000000"/>
                </a:solidFill>
              </a:rPr>
              <a:t>assumptions</a:t>
            </a:r>
            <a:r>
              <a:rPr lang="en-US" altLang="en-US" sz="2000" dirty="0">
                <a:solidFill>
                  <a:srgbClr val="000000"/>
                </a:solidFill>
              </a:rPr>
              <a:t> were made</a:t>
            </a:r>
          </a:p>
          <a:p>
            <a:pPr marL="908050" lvl="1">
              <a:lnSpc>
                <a:spcPct val="90000"/>
              </a:lnSpc>
            </a:pPr>
            <a:r>
              <a:rPr lang="en-US" altLang="en-US" sz="2000" dirty="0">
                <a:solidFill>
                  <a:srgbClr val="000000"/>
                </a:solidFill>
              </a:rPr>
              <a:t>What </a:t>
            </a:r>
            <a:r>
              <a:rPr lang="en-US" altLang="en-US" sz="2000" u="sng" dirty="0">
                <a:solidFill>
                  <a:srgbClr val="000000"/>
                </a:solidFill>
              </a:rPr>
              <a:t>design</a:t>
            </a:r>
            <a:r>
              <a:rPr lang="en-US" altLang="en-US" sz="2000" dirty="0">
                <a:solidFill>
                  <a:srgbClr val="000000"/>
                </a:solidFill>
              </a:rPr>
              <a:t> effort drove the requirement</a:t>
            </a:r>
          </a:p>
          <a:p>
            <a:pPr marL="908050" lvl="1">
              <a:lnSpc>
                <a:spcPct val="90000"/>
              </a:lnSpc>
            </a:pPr>
            <a:r>
              <a:rPr lang="en-US" altLang="en-US" sz="2000" dirty="0">
                <a:solidFill>
                  <a:srgbClr val="000000"/>
                </a:solidFill>
              </a:rPr>
              <a:t>Other data that will be needed to </a:t>
            </a:r>
            <a:r>
              <a:rPr lang="en-US" altLang="en-US" sz="2000" u="sng" dirty="0">
                <a:solidFill>
                  <a:srgbClr val="000000"/>
                </a:solidFill>
              </a:rPr>
              <a:t>maintain</a:t>
            </a:r>
            <a:r>
              <a:rPr lang="en-US" altLang="en-US" sz="2000" dirty="0">
                <a:solidFill>
                  <a:srgbClr val="000000"/>
                </a:solidFill>
              </a:rPr>
              <a:t> the requirement over time</a:t>
            </a:r>
          </a:p>
          <a:p>
            <a:pPr marL="508000" indent="-508000">
              <a:lnSpc>
                <a:spcPct val="90000"/>
              </a:lnSpc>
              <a:buFont typeface="Symbol" panose="05050102010706020507" pitchFamily="18" charset="2"/>
              <a:buNone/>
            </a:pPr>
            <a:endParaRPr lang="en-US" altLang="en-US" sz="2400" dirty="0">
              <a:solidFill>
                <a:srgbClr val="000000"/>
              </a:solidFill>
            </a:endParaRPr>
          </a:p>
          <a:p>
            <a:pPr marL="508000" indent="-508000">
              <a:lnSpc>
                <a:spcPct val="90000"/>
              </a:lnSpc>
              <a:buFont typeface="Symbol" panose="05050102010706020507" pitchFamily="18" charset="2"/>
              <a:buNone/>
            </a:pPr>
            <a:r>
              <a:rPr lang="en-US" altLang="en-US" sz="2400" dirty="0">
                <a:solidFill>
                  <a:srgbClr val="000000"/>
                </a:solidFill>
              </a:rPr>
              <a:t>Example</a:t>
            </a:r>
          </a:p>
          <a:p>
            <a:pPr marL="508000" indent="-508000">
              <a:lnSpc>
                <a:spcPct val="90000"/>
              </a:lnSpc>
              <a:buFont typeface="Times" panose="02020603050405020304" pitchFamily="18" charset="0"/>
              <a:buChar char="•"/>
            </a:pPr>
            <a:r>
              <a:rPr lang="en-US" altLang="en-US" sz="2400" u="sng" dirty="0">
                <a:solidFill>
                  <a:srgbClr val="000000"/>
                </a:solidFill>
              </a:rPr>
              <a:t>Requirement</a:t>
            </a:r>
            <a:r>
              <a:rPr lang="en-US" altLang="en-US" sz="2400" dirty="0">
                <a:solidFill>
                  <a:srgbClr val="000000"/>
                </a:solidFill>
              </a:rPr>
              <a:t>: “The truck shall have a height of no more than 14 feet.”</a:t>
            </a:r>
          </a:p>
          <a:p>
            <a:pPr marL="508000" indent="-508000">
              <a:lnSpc>
                <a:spcPct val="90000"/>
              </a:lnSpc>
              <a:buFont typeface="Times" panose="02020603050405020304" pitchFamily="18" charset="0"/>
              <a:buChar char="•"/>
            </a:pPr>
            <a:r>
              <a:rPr lang="en-US" altLang="en-US" sz="2400" u="sng" dirty="0">
                <a:solidFill>
                  <a:srgbClr val="000000"/>
                </a:solidFill>
              </a:rPr>
              <a:t>Rationale</a:t>
            </a:r>
            <a:r>
              <a:rPr lang="en-US" altLang="en-US" sz="2400" dirty="0">
                <a:solidFill>
                  <a:srgbClr val="000000"/>
                </a:solidFill>
              </a:rPr>
              <a:t>: 99% of all US interstate highway overpasses have a 14 foot or greater clearance. (Assumptions: The truck will be used primarily on US interstate highways for long-haul freight in the US.)</a:t>
            </a:r>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1DF4D2D-09E0-FEC0-7B7F-FB505D3D7AD8}"/>
              </a:ext>
            </a:extLst>
          </p:cNvPr>
          <p:cNvSpPr>
            <a:spLocks noGrp="1"/>
          </p:cNvSpPr>
          <p:nvPr>
            <p:ph type="sldNum" sz="quarter" idx="10"/>
          </p:nvPr>
        </p:nvSpPr>
        <p:spPr/>
        <p:txBody>
          <a:bodyPr/>
          <a:lstStyle/>
          <a:p>
            <a:fld id="{0998AC2B-DC54-4D5D-9E4E-AAD4D9685CE0}" type="slidenum">
              <a:rPr lang="en-US" altLang="en-US"/>
              <a:pPr/>
              <a:t>20</a:t>
            </a:fld>
            <a:endParaRPr lang="en-US" altLang="en-US"/>
          </a:p>
        </p:txBody>
      </p:sp>
      <p:sp>
        <p:nvSpPr>
          <p:cNvPr id="1597442" name="Rectangle 2">
            <a:extLst>
              <a:ext uri="{FF2B5EF4-FFF2-40B4-BE49-F238E27FC236}">
                <a16:creationId xmlns:a16="http://schemas.microsoft.com/office/drawing/2014/main" id="{EE9661FE-40F9-680B-8A05-AD09C63FCC36}"/>
              </a:ext>
            </a:extLst>
          </p:cNvPr>
          <p:cNvSpPr>
            <a:spLocks noGrp="1" noChangeArrowheads="1"/>
          </p:cNvSpPr>
          <p:nvPr>
            <p:ph type="title"/>
          </p:nvPr>
        </p:nvSpPr>
        <p:spPr>
          <a:xfrm>
            <a:off x="796925" y="124609"/>
            <a:ext cx="8051800" cy="609600"/>
          </a:xfrm>
        </p:spPr>
        <p:txBody>
          <a:bodyPr/>
          <a:lstStyle/>
          <a:p>
            <a:pPr>
              <a:lnSpc>
                <a:spcPct val="90000"/>
              </a:lnSpc>
            </a:pPr>
            <a:r>
              <a:rPr lang="en-US" altLang="en-US" sz="2800" dirty="0"/>
              <a:t>Space Example Requirement &amp; Rationale</a:t>
            </a:r>
          </a:p>
        </p:txBody>
      </p:sp>
      <p:sp>
        <p:nvSpPr>
          <p:cNvPr id="1597443" name="Rectangle 3">
            <a:extLst>
              <a:ext uri="{FF2B5EF4-FFF2-40B4-BE49-F238E27FC236}">
                <a16:creationId xmlns:a16="http://schemas.microsoft.com/office/drawing/2014/main" id="{73E89B35-EF7E-BFF0-F1A8-080A2C43D01B}"/>
              </a:ext>
            </a:extLst>
          </p:cNvPr>
          <p:cNvSpPr>
            <a:spLocks noGrp="1" noChangeArrowheads="1"/>
          </p:cNvSpPr>
          <p:nvPr>
            <p:ph type="body" idx="1"/>
          </p:nvPr>
        </p:nvSpPr>
        <p:spPr>
          <a:xfrm>
            <a:off x="396875" y="1038225"/>
            <a:ext cx="8451850" cy="5445125"/>
          </a:xfrm>
        </p:spPr>
        <p:txBody>
          <a:bodyPr>
            <a:normAutofit/>
          </a:bodyPr>
          <a:lstStyle/>
          <a:p>
            <a:pPr marL="0" indent="0">
              <a:lnSpc>
                <a:spcPct val="90000"/>
              </a:lnSpc>
              <a:buNone/>
            </a:pPr>
            <a:r>
              <a:rPr lang="en-US" altLang="en-US" sz="2200" u="sng" dirty="0">
                <a:solidFill>
                  <a:srgbClr val="000000"/>
                </a:solidFill>
              </a:rPr>
              <a:t>Requirement</a:t>
            </a:r>
            <a:r>
              <a:rPr lang="en-US" altLang="en-US" sz="2200" dirty="0">
                <a:solidFill>
                  <a:srgbClr val="000000"/>
                </a:solidFill>
              </a:rPr>
              <a:t>: “The Constellation Architecture shall provide communication and tracking services prior to launch, during all mission phases, through recovery.”</a:t>
            </a:r>
          </a:p>
          <a:p>
            <a:pPr marL="0" indent="0">
              <a:spcBef>
                <a:spcPct val="60000"/>
              </a:spcBef>
              <a:buNone/>
            </a:pPr>
            <a:r>
              <a:rPr lang="en-US" altLang="en-US" sz="2200" u="sng" dirty="0">
                <a:solidFill>
                  <a:srgbClr val="000000"/>
                </a:solidFill>
              </a:rPr>
              <a:t>Rationale</a:t>
            </a:r>
            <a:r>
              <a:rPr lang="en-US" altLang="en-US" sz="2200" dirty="0">
                <a:solidFill>
                  <a:srgbClr val="000000"/>
                </a:solidFill>
              </a:rPr>
              <a:t>: Communication and tracking services must be provided to elements during all mission phases. Ground based assets can provide this capability to elements when in direct line-of-sight with Earth. The Space Network can support launch, operations in LEO, re-entry and landing. Earth-based comm. and tracking services cannot, however, support the lunar landing, lunar ascent, or lunar surface operations if they are at polar locations or on the far side of the Moon. Another infrastructure element, such as a lunar relay, must be provided to support communications and tracking to elements during operations on the lunar far side or at the poles.</a:t>
            </a:r>
          </a:p>
          <a:p>
            <a:pPr marL="908050" lvl="1"/>
            <a:r>
              <a:rPr lang="en-US" altLang="en-US" sz="2200" dirty="0">
                <a:solidFill>
                  <a:srgbClr val="000000"/>
                </a:solidFill>
              </a:rPr>
              <a:t>This requirement does not imply continuous coverage.</a:t>
            </a:r>
          </a:p>
          <a:p>
            <a:pPr marL="908050" lvl="1"/>
            <a:r>
              <a:rPr lang="en-US" altLang="en-US" sz="2200" dirty="0">
                <a:solidFill>
                  <a:srgbClr val="000000"/>
                </a:solidFill>
              </a:rPr>
              <a:t>Lower level requirements will specify continuity and type of coverage.</a:t>
            </a:r>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8591A-F615-A1B0-A488-7DBA18726AB6}"/>
              </a:ext>
            </a:extLst>
          </p:cNvPr>
          <p:cNvSpPr>
            <a:spLocks noGrp="1"/>
          </p:cNvSpPr>
          <p:nvPr>
            <p:ph type="title"/>
          </p:nvPr>
        </p:nvSpPr>
        <p:spPr/>
        <p:txBody>
          <a:bodyPr/>
          <a:lstStyle/>
          <a:p>
            <a:r>
              <a:rPr lang="en-US" dirty="0"/>
              <a:t>Exercise Cont.</a:t>
            </a:r>
          </a:p>
        </p:txBody>
      </p:sp>
      <p:sp>
        <p:nvSpPr>
          <p:cNvPr id="3" name="Content Placeholder 2">
            <a:extLst>
              <a:ext uri="{FF2B5EF4-FFF2-40B4-BE49-F238E27FC236}">
                <a16:creationId xmlns:a16="http://schemas.microsoft.com/office/drawing/2014/main" id="{8F14BCC7-76D4-E6D2-D638-0A8FDCEA711F}"/>
              </a:ext>
            </a:extLst>
          </p:cNvPr>
          <p:cNvSpPr>
            <a:spLocks noGrp="1"/>
          </p:cNvSpPr>
          <p:nvPr>
            <p:ph idx="1"/>
          </p:nvPr>
        </p:nvSpPr>
        <p:spPr>
          <a:xfrm>
            <a:off x="200025" y="1739900"/>
            <a:ext cx="8793015" cy="4490159"/>
          </a:xfrm>
        </p:spPr>
        <p:txBody>
          <a:bodyPr/>
          <a:lstStyle/>
          <a:p>
            <a:pPr marL="0" indent="0">
              <a:buNone/>
            </a:pPr>
            <a:r>
              <a:rPr lang="en-US" b="1" dirty="0"/>
              <a:t>Task</a:t>
            </a:r>
            <a:r>
              <a:rPr lang="en-US" dirty="0"/>
              <a:t>: Create one of each type of requirement (functional, performance, constraint, verification) for your space mission.</a:t>
            </a:r>
          </a:p>
        </p:txBody>
      </p:sp>
      <p:sp>
        <p:nvSpPr>
          <p:cNvPr id="4" name="Slide Number Placeholder 3">
            <a:extLst>
              <a:ext uri="{FF2B5EF4-FFF2-40B4-BE49-F238E27FC236}">
                <a16:creationId xmlns:a16="http://schemas.microsoft.com/office/drawing/2014/main" id="{BF47FED3-F377-11C5-C749-0B1C649B89FF}"/>
              </a:ext>
            </a:extLst>
          </p:cNvPr>
          <p:cNvSpPr>
            <a:spLocks noGrp="1"/>
          </p:cNvSpPr>
          <p:nvPr>
            <p:ph type="sldNum" sz="quarter" idx="12"/>
          </p:nvPr>
        </p:nvSpPr>
        <p:spPr/>
        <p:txBody>
          <a:bodyPr/>
          <a:lstStyle/>
          <a:p>
            <a:fld id="{9A3029B7-FE6B-4680-9049-80E8298A0825}" type="slidenum">
              <a:rPr lang="en-US" smtClean="0"/>
              <a:t>21</a:t>
            </a:fld>
            <a:endParaRPr lang="en-US"/>
          </a:p>
        </p:txBody>
      </p:sp>
    </p:spTree>
    <p:extLst>
      <p:ext uri="{BB962C8B-B14F-4D97-AF65-F5344CB8AC3E}">
        <p14:creationId xmlns:p14="http://schemas.microsoft.com/office/powerpoint/2010/main" val="32078501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1C5A5-C9A6-0034-9AAE-DF7FCABC945B}"/>
              </a:ext>
            </a:extLst>
          </p:cNvPr>
          <p:cNvSpPr>
            <a:spLocks noGrp="1"/>
          </p:cNvSpPr>
          <p:nvPr>
            <p:ph type="title"/>
          </p:nvPr>
        </p:nvSpPr>
        <p:spPr/>
        <p:txBody>
          <a:bodyPr/>
          <a:lstStyle/>
          <a:p>
            <a:r>
              <a:rPr lang="en-US" dirty="0"/>
              <a:t>Requirement Allocation and Closure</a:t>
            </a:r>
          </a:p>
        </p:txBody>
      </p:sp>
      <p:sp>
        <p:nvSpPr>
          <p:cNvPr id="3" name="Content Placeholder 2">
            <a:extLst>
              <a:ext uri="{FF2B5EF4-FFF2-40B4-BE49-F238E27FC236}">
                <a16:creationId xmlns:a16="http://schemas.microsoft.com/office/drawing/2014/main" id="{7F987FE6-5053-8DEE-15DD-4E7A2AF5F194}"/>
              </a:ext>
            </a:extLst>
          </p:cNvPr>
          <p:cNvSpPr>
            <a:spLocks noGrp="1"/>
          </p:cNvSpPr>
          <p:nvPr>
            <p:ph idx="1"/>
          </p:nvPr>
        </p:nvSpPr>
        <p:spPr/>
        <p:txBody>
          <a:bodyPr>
            <a:normAutofit/>
          </a:bodyPr>
          <a:lstStyle/>
          <a:p>
            <a:endParaRPr lang="en-US" sz="2400" dirty="0"/>
          </a:p>
          <a:p>
            <a:endParaRPr lang="en-US" sz="2400" dirty="0"/>
          </a:p>
          <a:p>
            <a:r>
              <a:rPr lang="en-US" sz="2400" b="1" dirty="0"/>
              <a:t>Allocation</a:t>
            </a:r>
            <a:r>
              <a:rPr lang="en-US" sz="2400" dirty="0"/>
              <a:t> –  breaking down higher-level requirements into lower-level, more detailed requirements, and assigning (allocating) them to specific subsystems, components, or teams responsible for meeting them.</a:t>
            </a:r>
          </a:p>
          <a:p>
            <a:endParaRPr lang="en-US" sz="2400" dirty="0"/>
          </a:p>
          <a:p>
            <a:pPr marL="0" indent="0">
              <a:buNone/>
            </a:pPr>
            <a:endParaRPr lang="en-US" sz="2400" dirty="0"/>
          </a:p>
          <a:p>
            <a:r>
              <a:rPr lang="en-US" sz="2400" b="1" dirty="0"/>
              <a:t>Closure</a:t>
            </a:r>
            <a:r>
              <a:rPr lang="en-US" sz="2400" dirty="0"/>
              <a:t> – satisfying lower-level requirements ensures system performance at the next higher level, and that we can trace all requirements back to satisfying mission needs</a:t>
            </a:r>
          </a:p>
          <a:p>
            <a:endParaRPr lang="en-US" sz="2400" dirty="0"/>
          </a:p>
        </p:txBody>
      </p:sp>
      <p:sp>
        <p:nvSpPr>
          <p:cNvPr id="4" name="Slide Number Placeholder 3">
            <a:extLst>
              <a:ext uri="{FF2B5EF4-FFF2-40B4-BE49-F238E27FC236}">
                <a16:creationId xmlns:a16="http://schemas.microsoft.com/office/drawing/2014/main" id="{7843AD48-7A1C-B00B-7115-C27A82C53651}"/>
              </a:ext>
            </a:extLst>
          </p:cNvPr>
          <p:cNvSpPr>
            <a:spLocks noGrp="1"/>
          </p:cNvSpPr>
          <p:nvPr>
            <p:ph type="sldNum" sz="quarter" idx="12"/>
          </p:nvPr>
        </p:nvSpPr>
        <p:spPr/>
        <p:txBody>
          <a:bodyPr/>
          <a:lstStyle/>
          <a:p>
            <a:fld id="{9A3029B7-FE6B-4680-9049-80E8298A0825}" type="slidenum">
              <a:rPr lang="en-US" smtClean="0"/>
              <a:t>22</a:t>
            </a:fld>
            <a:endParaRPr lang="en-US"/>
          </a:p>
        </p:txBody>
      </p:sp>
    </p:spTree>
    <p:extLst>
      <p:ext uri="{BB962C8B-B14F-4D97-AF65-F5344CB8AC3E}">
        <p14:creationId xmlns:p14="http://schemas.microsoft.com/office/powerpoint/2010/main" val="24315653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1F337FD-D7A1-BDF4-8EF8-218F94E9B49C}"/>
              </a:ext>
            </a:extLst>
          </p:cNvPr>
          <p:cNvSpPr/>
          <p:nvPr/>
        </p:nvSpPr>
        <p:spPr>
          <a:xfrm>
            <a:off x="0" y="0"/>
            <a:ext cx="914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descr="A diagram of a company&#10;&#10;AI-generated content may be incorrect.">
            <a:extLst>
              <a:ext uri="{FF2B5EF4-FFF2-40B4-BE49-F238E27FC236}">
                <a16:creationId xmlns:a16="http://schemas.microsoft.com/office/drawing/2014/main" id="{301EC3F2-EE1B-E9F9-F918-6DB0447B46E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80904" y="27770"/>
            <a:ext cx="5075496" cy="6139714"/>
          </a:xfrm>
        </p:spPr>
      </p:pic>
      <p:sp>
        <p:nvSpPr>
          <p:cNvPr id="4" name="Slide Number Placeholder 3">
            <a:extLst>
              <a:ext uri="{FF2B5EF4-FFF2-40B4-BE49-F238E27FC236}">
                <a16:creationId xmlns:a16="http://schemas.microsoft.com/office/drawing/2014/main" id="{B52A1F2E-1FB7-195D-DE8B-08DC41039598}"/>
              </a:ext>
            </a:extLst>
          </p:cNvPr>
          <p:cNvSpPr>
            <a:spLocks noGrp="1"/>
          </p:cNvSpPr>
          <p:nvPr>
            <p:ph type="sldNum" sz="quarter" idx="12"/>
          </p:nvPr>
        </p:nvSpPr>
        <p:spPr/>
        <p:txBody>
          <a:bodyPr/>
          <a:lstStyle/>
          <a:p>
            <a:fld id="{9A3029B7-FE6B-4680-9049-80E8298A0825}" type="slidenum">
              <a:rPr lang="en-US" smtClean="0"/>
              <a:t>23</a:t>
            </a:fld>
            <a:endParaRPr lang="en-US"/>
          </a:p>
        </p:txBody>
      </p:sp>
      <p:sp>
        <p:nvSpPr>
          <p:cNvPr id="7" name="Rectangle 6">
            <a:extLst>
              <a:ext uri="{FF2B5EF4-FFF2-40B4-BE49-F238E27FC236}">
                <a16:creationId xmlns:a16="http://schemas.microsoft.com/office/drawing/2014/main" id="{D8E44DCD-651B-C9E9-1493-C6077F0A41E4}"/>
              </a:ext>
            </a:extLst>
          </p:cNvPr>
          <p:cNvSpPr/>
          <p:nvPr/>
        </p:nvSpPr>
        <p:spPr>
          <a:xfrm>
            <a:off x="157078" y="6264357"/>
            <a:ext cx="8610600" cy="510357"/>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0" i="0" dirty="0">
                <a:solidFill>
                  <a:schemeClr val="bg1"/>
                </a:solidFill>
                <a:effectLst/>
                <a:highlight>
                  <a:srgbClr val="FF0000"/>
                </a:highlight>
                <a:latin typeface="-apple-system"/>
              </a:rPr>
              <a:t>Requirement allocation (big-to-little/left-to-right) and closure (little-to-big)</a:t>
            </a:r>
            <a:endParaRPr lang="en-US" dirty="0">
              <a:solidFill>
                <a:schemeClr val="bg1"/>
              </a:solidFill>
              <a:highlight>
                <a:srgbClr val="FF0000"/>
              </a:highlight>
            </a:endParaRPr>
          </a:p>
        </p:txBody>
      </p:sp>
    </p:spTree>
    <p:extLst>
      <p:ext uri="{BB962C8B-B14F-4D97-AF65-F5344CB8AC3E}">
        <p14:creationId xmlns:p14="http://schemas.microsoft.com/office/powerpoint/2010/main" val="32974382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29CCB2A-DA40-B233-CDAA-E7DAE289BBD4}"/>
              </a:ext>
            </a:extLst>
          </p:cNvPr>
          <p:cNvSpPr>
            <a:spLocks noGrp="1"/>
          </p:cNvSpPr>
          <p:nvPr>
            <p:ph type="sldNum" sz="quarter" idx="10"/>
          </p:nvPr>
        </p:nvSpPr>
        <p:spPr/>
        <p:txBody>
          <a:bodyPr/>
          <a:lstStyle/>
          <a:p>
            <a:fld id="{360D02FF-5FA2-4029-B865-FA6E17667CCE}" type="slidenum">
              <a:rPr lang="en-US" altLang="en-US"/>
              <a:pPr/>
              <a:t>24</a:t>
            </a:fld>
            <a:endParaRPr lang="en-US" altLang="en-US"/>
          </a:p>
        </p:txBody>
      </p:sp>
      <p:sp>
        <p:nvSpPr>
          <p:cNvPr id="1623042" name="Rectangle 2">
            <a:extLst>
              <a:ext uri="{FF2B5EF4-FFF2-40B4-BE49-F238E27FC236}">
                <a16:creationId xmlns:a16="http://schemas.microsoft.com/office/drawing/2014/main" id="{320B2DBB-E70E-E53A-8297-93B08A3DB542}"/>
              </a:ext>
            </a:extLst>
          </p:cNvPr>
          <p:cNvSpPr>
            <a:spLocks noGrp="1" noChangeArrowheads="1"/>
          </p:cNvSpPr>
          <p:nvPr>
            <p:ph type="title"/>
          </p:nvPr>
        </p:nvSpPr>
        <p:spPr/>
        <p:txBody>
          <a:bodyPr/>
          <a:lstStyle/>
          <a:p>
            <a:r>
              <a:rPr lang="en-US" altLang="en-US" sz="2800"/>
              <a:t>Requirements Validation</a:t>
            </a:r>
            <a:endParaRPr lang="en-US" altLang="en-US"/>
          </a:p>
        </p:txBody>
      </p:sp>
      <p:sp>
        <p:nvSpPr>
          <p:cNvPr id="1623043" name="Rectangle 3">
            <a:extLst>
              <a:ext uri="{FF2B5EF4-FFF2-40B4-BE49-F238E27FC236}">
                <a16:creationId xmlns:a16="http://schemas.microsoft.com/office/drawing/2014/main" id="{DE981C1D-0790-0226-25B2-4699A1B540DE}"/>
              </a:ext>
            </a:extLst>
          </p:cNvPr>
          <p:cNvSpPr>
            <a:spLocks noGrp="1" noChangeArrowheads="1"/>
          </p:cNvSpPr>
          <p:nvPr>
            <p:ph type="body" idx="1"/>
          </p:nvPr>
        </p:nvSpPr>
        <p:spPr>
          <a:xfrm>
            <a:off x="153383" y="1054905"/>
            <a:ext cx="8677951" cy="5410200"/>
          </a:xfrm>
        </p:spPr>
        <p:txBody>
          <a:bodyPr>
            <a:normAutofit fontScale="85000" lnSpcReduction="10000"/>
          </a:bodyPr>
          <a:lstStyle/>
          <a:p>
            <a:pPr>
              <a:lnSpc>
                <a:spcPct val="90000"/>
              </a:lnSpc>
              <a:spcBef>
                <a:spcPct val="45000"/>
              </a:spcBef>
            </a:pPr>
            <a:r>
              <a:rPr lang="en-US" altLang="en-US" dirty="0"/>
              <a:t>Requirements </a:t>
            </a:r>
            <a:r>
              <a:rPr lang="en-US" altLang="en-US" u="sng" dirty="0"/>
              <a:t>validation</a:t>
            </a:r>
            <a:r>
              <a:rPr lang="en-US" altLang="en-US" dirty="0"/>
              <a:t> is a process that asks 3 questions:</a:t>
            </a:r>
            <a:endParaRPr lang="en-US" altLang="en-US" sz="1800" dirty="0"/>
          </a:p>
          <a:p>
            <a:pPr lvl="1">
              <a:lnSpc>
                <a:spcPct val="90000"/>
              </a:lnSpc>
              <a:spcBef>
                <a:spcPct val="45000"/>
              </a:spcBef>
            </a:pPr>
            <a:r>
              <a:rPr lang="en-US" altLang="en-US" i="1" dirty="0">
                <a:solidFill>
                  <a:srgbClr val="0033CC"/>
                </a:solidFill>
              </a:rPr>
              <a:t>Do we have the correct problem?</a:t>
            </a:r>
          </a:p>
          <a:p>
            <a:pPr lvl="1">
              <a:lnSpc>
                <a:spcPct val="90000"/>
              </a:lnSpc>
              <a:spcBef>
                <a:spcPct val="45000"/>
              </a:spcBef>
            </a:pPr>
            <a:r>
              <a:rPr lang="en-US" altLang="en-US" i="1" dirty="0">
                <a:solidFill>
                  <a:srgbClr val="0033CC"/>
                </a:solidFill>
              </a:rPr>
              <a:t>Do our requirements capture this problem?</a:t>
            </a:r>
          </a:p>
          <a:p>
            <a:pPr lvl="1">
              <a:lnSpc>
                <a:spcPct val="90000"/>
              </a:lnSpc>
              <a:spcBef>
                <a:spcPct val="45000"/>
              </a:spcBef>
            </a:pPr>
            <a:r>
              <a:rPr lang="en-US" altLang="en-US" i="1" dirty="0">
                <a:solidFill>
                  <a:srgbClr val="0033CC"/>
                </a:solidFill>
              </a:rPr>
              <a:t>Are our requirements SMART?</a:t>
            </a:r>
          </a:p>
          <a:p>
            <a:pPr>
              <a:lnSpc>
                <a:spcPct val="90000"/>
              </a:lnSpc>
              <a:spcBef>
                <a:spcPct val="45000"/>
              </a:spcBef>
            </a:pPr>
            <a:r>
              <a:rPr lang="en-US" altLang="en-US" dirty="0"/>
              <a:t>Performed to </a:t>
            </a:r>
            <a:r>
              <a:rPr lang="en-US" altLang="en-US" i="1" dirty="0">
                <a:solidFill>
                  <a:schemeClr val="accent2"/>
                </a:solidFill>
              </a:rPr>
              <a:t>assure</a:t>
            </a:r>
            <a:r>
              <a:rPr lang="en-US" altLang="en-US" dirty="0"/>
              <a:t> the system requirements </a:t>
            </a:r>
            <a:r>
              <a:rPr lang="en-US" altLang="en-US" i="1" dirty="0">
                <a:solidFill>
                  <a:schemeClr val="accent2"/>
                </a:solidFill>
              </a:rPr>
              <a:t>set</a:t>
            </a:r>
            <a:r>
              <a:rPr lang="en-US" altLang="en-US" dirty="0"/>
              <a:t> is complete, consistent, and each requirement is achievable and verifiable.</a:t>
            </a:r>
          </a:p>
          <a:p>
            <a:pPr>
              <a:lnSpc>
                <a:spcPct val="90000"/>
              </a:lnSpc>
              <a:spcBef>
                <a:spcPct val="45000"/>
              </a:spcBef>
            </a:pPr>
            <a:r>
              <a:rPr lang="en-US" altLang="en-US" dirty="0"/>
              <a:t>Performed by subject matter experts, the system performing organization and the system authorized customer.</a:t>
            </a:r>
          </a:p>
          <a:p>
            <a:pPr>
              <a:lnSpc>
                <a:spcPct val="90000"/>
              </a:lnSpc>
              <a:spcBef>
                <a:spcPct val="45000"/>
              </a:spcBef>
            </a:pPr>
            <a:r>
              <a:rPr lang="en-US" altLang="en-US" dirty="0"/>
              <a:t>Does the requirement set completely address and accomplish the mission?</a:t>
            </a:r>
          </a:p>
          <a:p>
            <a:pPr>
              <a:lnSpc>
                <a:spcPct val="90000"/>
              </a:lnSpc>
              <a:spcBef>
                <a:spcPct val="45000"/>
              </a:spcBef>
            </a:pPr>
            <a:r>
              <a:rPr lang="en-US" altLang="en-US" dirty="0"/>
              <a:t>Are the requirements consistent with the established system boundaries and constraints?</a:t>
            </a:r>
          </a:p>
          <a:p>
            <a:pPr>
              <a:lnSpc>
                <a:spcPct val="90000"/>
              </a:lnSpc>
              <a:spcBef>
                <a:spcPct val="45000"/>
              </a:spcBef>
            </a:pPr>
            <a:r>
              <a:rPr lang="en-US" altLang="en-US" dirty="0"/>
              <a:t>When does requirement validation take place?</a:t>
            </a:r>
            <a:endParaRPr lang="en-US" altLang="en-US" sz="1800" dirty="0"/>
          </a:p>
          <a:p>
            <a:pPr lvl="1">
              <a:lnSpc>
                <a:spcPct val="90000"/>
              </a:lnSpc>
              <a:spcBef>
                <a:spcPct val="45000"/>
              </a:spcBef>
            </a:pPr>
            <a:r>
              <a:rPr lang="en-US" altLang="en-US" i="1" dirty="0"/>
              <a:t>Before the </a:t>
            </a:r>
            <a:r>
              <a:rPr lang="en-US" altLang="en-US" i="1" dirty="0">
                <a:solidFill>
                  <a:srgbClr val="0033CC"/>
                </a:solidFill>
              </a:rPr>
              <a:t>System Requirements Review</a:t>
            </a:r>
            <a:r>
              <a:rPr lang="en-US" altLang="en-US" i="1" dirty="0"/>
              <a:t> (SRR)</a:t>
            </a:r>
            <a:endParaRPr lang="en-US" altLang="en-US" dirty="0"/>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23043">
                                            <p:txEl>
                                              <p:pRg st="4" end="4"/>
                                            </p:txEl>
                                          </p:spTgt>
                                        </p:tgtEl>
                                        <p:attrNameLst>
                                          <p:attrName>style.visibility</p:attrName>
                                        </p:attrNameLst>
                                      </p:cBhvr>
                                      <p:to>
                                        <p:strVal val="visible"/>
                                      </p:to>
                                    </p:set>
                                    <p:animEffect transition="in" filter="fade">
                                      <p:cBhvr>
                                        <p:cTn id="7" dur="500"/>
                                        <p:tgtEl>
                                          <p:spTgt spid="1623043">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23043">
                                            <p:txEl>
                                              <p:pRg st="5" end="5"/>
                                            </p:txEl>
                                          </p:spTgt>
                                        </p:tgtEl>
                                        <p:attrNameLst>
                                          <p:attrName>style.visibility</p:attrName>
                                        </p:attrNameLst>
                                      </p:cBhvr>
                                      <p:to>
                                        <p:strVal val="visible"/>
                                      </p:to>
                                    </p:set>
                                    <p:animEffect transition="in" filter="fade">
                                      <p:cBhvr>
                                        <p:cTn id="12" dur="500"/>
                                        <p:tgtEl>
                                          <p:spTgt spid="1623043">
                                            <p:txEl>
                                              <p:pRg st="5" end="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23043">
                                            <p:txEl>
                                              <p:pRg st="6" end="6"/>
                                            </p:txEl>
                                          </p:spTgt>
                                        </p:tgtEl>
                                        <p:attrNameLst>
                                          <p:attrName>style.visibility</p:attrName>
                                        </p:attrNameLst>
                                      </p:cBhvr>
                                      <p:to>
                                        <p:strVal val="visible"/>
                                      </p:to>
                                    </p:set>
                                    <p:animEffect transition="in" filter="fade">
                                      <p:cBhvr>
                                        <p:cTn id="17" dur="500"/>
                                        <p:tgtEl>
                                          <p:spTgt spid="1623043">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23043">
                                            <p:txEl>
                                              <p:pRg st="7" end="7"/>
                                            </p:txEl>
                                          </p:spTgt>
                                        </p:tgtEl>
                                        <p:attrNameLst>
                                          <p:attrName>style.visibility</p:attrName>
                                        </p:attrNameLst>
                                      </p:cBhvr>
                                      <p:to>
                                        <p:strVal val="visible"/>
                                      </p:to>
                                    </p:set>
                                    <p:animEffect transition="in" filter="fade">
                                      <p:cBhvr>
                                        <p:cTn id="22" dur="500"/>
                                        <p:tgtEl>
                                          <p:spTgt spid="1623043">
                                            <p:txEl>
                                              <p:pRg st="7" end="7"/>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623043">
                                            <p:txEl>
                                              <p:pRg st="8" end="8"/>
                                            </p:txEl>
                                          </p:spTgt>
                                        </p:tgtEl>
                                        <p:attrNameLst>
                                          <p:attrName>style.visibility</p:attrName>
                                        </p:attrNameLst>
                                      </p:cBhvr>
                                      <p:to>
                                        <p:strVal val="visible"/>
                                      </p:to>
                                    </p:set>
                                    <p:animEffect transition="in" filter="fade">
                                      <p:cBhvr>
                                        <p:cTn id="27" dur="500"/>
                                        <p:tgtEl>
                                          <p:spTgt spid="1623043">
                                            <p:txEl>
                                              <p:pRg st="8" end="8"/>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1623043">
                                            <p:txEl>
                                              <p:pRg st="9" end="9"/>
                                            </p:txEl>
                                          </p:spTgt>
                                        </p:tgtEl>
                                        <p:attrNameLst>
                                          <p:attrName>style.visibility</p:attrName>
                                        </p:attrNameLst>
                                      </p:cBhvr>
                                      <p:to>
                                        <p:strVal val="visible"/>
                                      </p:to>
                                    </p:set>
                                    <p:animEffect transition="in" filter="fade">
                                      <p:cBhvr>
                                        <p:cTn id="30" dur="500"/>
                                        <p:tgtEl>
                                          <p:spTgt spid="162304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E5AAC31-A4B4-8672-E17E-0CB975C18452}"/>
              </a:ext>
            </a:extLst>
          </p:cNvPr>
          <p:cNvSpPr>
            <a:spLocks noGrp="1"/>
          </p:cNvSpPr>
          <p:nvPr>
            <p:ph type="sldNum" sz="quarter" idx="10"/>
          </p:nvPr>
        </p:nvSpPr>
        <p:spPr/>
        <p:txBody>
          <a:bodyPr/>
          <a:lstStyle/>
          <a:p>
            <a:fld id="{92E6DE66-61EA-4E75-B5EC-FC60B4D8BB05}" type="slidenum">
              <a:rPr lang="en-US" altLang="en-US"/>
              <a:pPr/>
              <a:t>25</a:t>
            </a:fld>
            <a:endParaRPr lang="en-US" altLang="en-US"/>
          </a:p>
        </p:txBody>
      </p:sp>
      <p:sp>
        <p:nvSpPr>
          <p:cNvPr id="1637378" name="Rectangle 2">
            <a:extLst>
              <a:ext uri="{FF2B5EF4-FFF2-40B4-BE49-F238E27FC236}">
                <a16:creationId xmlns:a16="http://schemas.microsoft.com/office/drawing/2014/main" id="{6E4F6F77-6CE6-8533-A6C1-A184BFA6DF7F}"/>
              </a:ext>
            </a:extLst>
          </p:cNvPr>
          <p:cNvSpPr>
            <a:spLocks noGrp="1" noChangeArrowheads="1"/>
          </p:cNvSpPr>
          <p:nvPr>
            <p:ph type="title"/>
          </p:nvPr>
        </p:nvSpPr>
        <p:spPr/>
        <p:txBody>
          <a:bodyPr/>
          <a:lstStyle/>
          <a:p>
            <a:r>
              <a:rPr lang="en-US" altLang="en-US"/>
              <a:t>Requirements Validation</a:t>
            </a:r>
          </a:p>
        </p:txBody>
      </p:sp>
      <p:sp>
        <p:nvSpPr>
          <p:cNvPr id="1637379" name="Rectangle 3">
            <a:extLst>
              <a:ext uri="{FF2B5EF4-FFF2-40B4-BE49-F238E27FC236}">
                <a16:creationId xmlns:a16="http://schemas.microsoft.com/office/drawing/2014/main" id="{9B959951-3DAC-BB5F-F03C-42DAF878CFC4}"/>
              </a:ext>
            </a:extLst>
          </p:cNvPr>
          <p:cNvSpPr>
            <a:spLocks noGrp="1" noChangeArrowheads="1"/>
          </p:cNvSpPr>
          <p:nvPr>
            <p:ph type="body" idx="1"/>
          </p:nvPr>
        </p:nvSpPr>
        <p:spPr>
          <a:xfrm>
            <a:off x="714375" y="1009650"/>
            <a:ext cx="7942263" cy="5607050"/>
          </a:xfrm>
        </p:spPr>
        <p:txBody>
          <a:bodyPr>
            <a:normAutofit fontScale="92500" lnSpcReduction="20000"/>
          </a:bodyPr>
          <a:lstStyle/>
          <a:p>
            <a:pPr>
              <a:spcBef>
                <a:spcPct val="50000"/>
              </a:spcBef>
            </a:pPr>
            <a:r>
              <a:rPr lang="en-US" altLang="en-US" u="sng"/>
              <a:t>Requirement Validation</a:t>
            </a:r>
            <a:r>
              <a:rPr lang="en-US" altLang="en-US"/>
              <a:t> is the process of confirming the completeness, compatibility and correctness of the requirements.</a:t>
            </a:r>
          </a:p>
          <a:p>
            <a:pPr>
              <a:spcBef>
                <a:spcPct val="50000"/>
              </a:spcBef>
            </a:pPr>
            <a:r>
              <a:rPr lang="en-US" altLang="en-US" u="sng"/>
              <a:t>Requirement Validation</a:t>
            </a:r>
            <a:r>
              <a:rPr lang="en-US" altLang="en-US"/>
              <a:t> answers the questions: “ Are the system design requirements correctly defined and mean what we intended? “Is the set of requirements, or the specification, self-consistent?”</a:t>
            </a:r>
          </a:p>
          <a:p>
            <a:pPr>
              <a:spcBef>
                <a:spcPct val="50000"/>
              </a:spcBef>
            </a:pPr>
            <a:r>
              <a:rPr lang="en-US" altLang="en-US"/>
              <a:t>When does </a:t>
            </a:r>
            <a:r>
              <a:rPr lang="en-US" altLang="en-US" u="sng"/>
              <a:t>requirement validation</a:t>
            </a:r>
            <a:r>
              <a:rPr lang="en-US" altLang="en-US"/>
              <a:t> take place?</a:t>
            </a:r>
          </a:p>
          <a:p>
            <a:pPr lvl="1">
              <a:spcBef>
                <a:spcPct val="50000"/>
              </a:spcBef>
            </a:pPr>
            <a:r>
              <a:rPr lang="en-US" altLang="en-US"/>
              <a:t>Before design and during detailed design, i.e., mostly in Phase B and tapering down in Phase C</a:t>
            </a:r>
          </a:p>
          <a:p>
            <a:pPr lvl="1">
              <a:spcBef>
                <a:spcPct val="50000"/>
              </a:spcBef>
            </a:pPr>
            <a:r>
              <a:rPr lang="en-US" altLang="en-US"/>
              <a:t>Ideally, completed prior to System Requirements Review (SRR) </a:t>
            </a:r>
          </a:p>
          <a:p>
            <a:pPr>
              <a:spcBef>
                <a:spcPct val="50000"/>
              </a:spcBef>
            </a:pPr>
            <a:r>
              <a:rPr lang="en-US" altLang="en-US"/>
              <a:t>What is importance of getting requirements validation right early in the project life cycle?</a:t>
            </a:r>
          </a:p>
          <a:p>
            <a:pPr lvl="1">
              <a:spcBef>
                <a:spcPct val="40000"/>
              </a:spcBef>
            </a:pPr>
            <a:r>
              <a:rPr lang="en-US" altLang="en-US"/>
              <a:t>So when it comes time to </a:t>
            </a:r>
            <a:r>
              <a:rPr lang="en-US" altLang="en-US" u="sng"/>
              <a:t>verify</a:t>
            </a:r>
            <a:r>
              <a:rPr lang="en-US" altLang="en-US"/>
              <a:t> the system, you are verifying to the right requirements. </a:t>
            </a:r>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35D46-81CB-D9E5-C378-AA0C700402AD}"/>
              </a:ext>
            </a:extLst>
          </p:cNvPr>
          <p:cNvSpPr>
            <a:spLocks noGrp="1"/>
          </p:cNvSpPr>
          <p:nvPr>
            <p:ph type="title"/>
          </p:nvPr>
        </p:nvSpPr>
        <p:spPr/>
        <p:txBody>
          <a:bodyPr>
            <a:normAutofit/>
          </a:bodyPr>
          <a:lstStyle/>
          <a:p>
            <a:r>
              <a:rPr lang="en-US" sz="2400" dirty="0"/>
              <a:t>NASA Example (poorly defined requirement)</a:t>
            </a:r>
          </a:p>
        </p:txBody>
      </p:sp>
      <p:sp>
        <p:nvSpPr>
          <p:cNvPr id="4" name="Slide Number Placeholder 3">
            <a:extLst>
              <a:ext uri="{FF2B5EF4-FFF2-40B4-BE49-F238E27FC236}">
                <a16:creationId xmlns:a16="http://schemas.microsoft.com/office/drawing/2014/main" id="{CB2DBA9B-30AA-4D45-F755-2AB4C8DB0185}"/>
              </a:ext>
            </a:extLst>
          </p:cNvPr>
          <p:cNvSpPr>
            <a:spLocks noGrp="1"/>
          </p:cNvSpPr>
          <p:nvPr>
            <p:ph type="sldNum" sz="quarter" idx="12"/>
          </p:nvPr>
        </p:nvSpPr>
        <p:spPr/>
        <p:txBody>
          <a:bodyPr/>
          <a:lstStyle/>
          <a:p>
            <a:fld id="{9A3029B7-FE6B-4680-9049-80E8298A0825}" type="slidenum">
              <a:rPr lang="en-US" smtClean="0"/>
              <a:t>26</a:t>
            </a:fld>
            <a:endParaRPr lang="en-US"/>
          </a:p>
        </p:txBody>
      </p:sp>
      <p:pic>
        <p:nvPicPr>
          <p:cNvPr id="7" name="Picture 6" descr="A person in a blue suit holding flowers&#10;&#10;Description automatically generated">
            <a:extLst>
              <a:ext uri="{FF2B5EF4-FFF2-40B4-BE49-F238E27FC236}">
                <a16:creationId xmlns:a16="http://schemas.microsoft.com/office/drawing/2014/main" id="{503C4E9D-62BD-8DC0-0A5A-8DAEE93A4C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695" y="950504"/>
            <a:ext cx="7359202" cy="3569494"/>
          </a:xfrm>
          <a:prstGeom prst="rect">
            <a:avLst/>
          </a:prstGeom>
        </p:spPr>
      </p:pic>
      <p:pic>
        <p:nvPicPr>
          <p:cNvPr id="6" name="Picture 5">
            <a:extLst>
              <a:ext uri="{FF2B5EF4-FFF2-40B4-BE49-F238E27FC236}">
                <a16:creationId xmlns:a16="http://schemas.microsoft.com/office/drawing/2014/main" id="{544BA2C4-9E92-2621-3C54-6250EF32065A}"/>
              </a:ext>
            </a:extLst>
          </p:cNvPr>
          <p:cNvPicPr>
            <a:picLocks noChangeAspect="1"/>
          </p:cNvPicPr>
          <p:nvPr/>
        </p:nvPicPr>
        <p:blipFill>
          <a:blip r:embed="rId4"/>
          <a:stretch>
            <a:fillRect/>
          </a:stretch>
        </p:blipFill>
        <p:spPr>
          <a:xfrm>
            <a:off x="654015" y="3778140"/>
            <a:ext cx="7835970" cy="2946674"/>
          </a:xfrm>
          <a:prstGeom prst="rect">
            <a:avLst/>
          </a:prstGeom>
        </p:spPr>
      </p:pic>
      <p:sp>
        <p:nvSpPr>
          <p:cNvPr id="8" name="TextBox 7">
            <a:extLst>
              <a:ext uri="{FF2B5EF4-FFF2-40B4-BE49-F238E27FC236}">
                <a16:creationId xmlns:a16="http://schemas.microsoft.com/office/drawing/2014/main" id="{42A45E8C-8377-8C4D-F07E-AEBAC2EAB0D3}"/>
              </a:ext>
            </a:extLst>
          </p:cNvPr>
          <p:cNvSpPr txBox="1"/>
          <p:nvPr/>
        </p:nvSpPr>
        <p:spPr>
          <a:xfrm>
            <a:off x="278299" y="3867040"/>
            <a:ext cx="7790637" cy="369332"/>
          </a:xfrm>
          <a:prstGeom prst="rect">
            <a:avLst/>
          </a:prstGeom>
          <a:solidFill>
            <a:schemeClr val="bg2">
              <a:lumMod val="90000"/>
            </a:schemeClr>
          </a:solidFill>
          <a:ln>
            <a:solidFill>
              <a:schemeClr val="accent1"/>
            </a:solidFill>
          </a:ln>
        </p:spPr>
        <p:txBody>
          <a:bodyPr wrap="square" rtlCol="0">
            <a:spAutoFit/>
          </a:bodyPr>
          <a:lstStyle/>
          <a:p>
            <a:r>
              <a:rPr lang="en-US" dirty="0">
                <a:latin typeface="Segoe UI" panose="020B0502040204020203" pitchFamily="34" charset="0"/>
                <a:cs typeface="Segoe UI" panose="020B0502040204020203" pitchFamily="34" charset="0"/>
              </a:rPr>
              <a:t>From: </a:t>
            </a:r>
            <a:r>
              <a:rPr lang="en-US" b="1" dirty="0">
                <a:latin typeface="Segoe UI" panose="020B0502040204020203" pitchFamily="34" charset="0"/>
                <a:cs typeface="Segoe UI" panose="020B0502040204020203" pitchFamily="34" charset="0"/>
              </a:rPr>
              <a:t>ISS Crew Transportation and  Services Requirements Document: </a:t>
            </a:r>
          </a:p>
        </p:txBody>
      </p:sp>
    </p:spTree>
    <p:extLst>
      <p:ext uri="{BB962C8B-B14F-4D97-AF65-F5344CB8AC3E}">
        <p14:creationId xmlns:p14="http://schemas.microsoft.com/office/powerpoint/2010/main" val="1459442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B00434-E6CF-3891-D7B7-8EE67D3F791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10B3E2-4876-A012-E324-4F822FB35344}"/>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lgn="ctr">
              <a:buNone/>
            </a:pPr>
            <a:r>
              <a:rPr lang="en-US" b="1" dirty="0"/>
              <a:t>ISS Crew Transportation and  Services Requirements Document </a:t>
            </a:r>
          </a:p>
        </p:txBody>
      </p:sp>
      <p:sp>
        <p:nvSpPr>
          <p:cNvPr id="4" name="Slide Number Placeholder 3">
            <a:extLst>
              <a:ext uri="{FF2B5EF4-FFF2-40B4-BE49-F238E27FC236}">
                <a16:creationId xmlns:a16="http://schemas.microsoft.com/office/drawing/2014/main" id="{7D22AFF9-9033-1EEB-0A42-F0A7CB35F706}"/>
              </a:ext>
            </a:extLst>
          </p:cNvPr>
          <p:cNvSpPr>
            <a:spLocks noGrp="1"/>
          </p:cNvSpPr>
          <p:nvPr>
            <p:ph type="sldNum" sz="quarter" idx="12"/>
          </p:nvPr>
        </p:nvSpPr>
        <p:spPr/>
        <p:txBody>
          <a:bodyPr/>
          <a:lstStyle/>
          <a:p>
            <a:fld id="{9A3029B7-FE6B-4680-9049-80E8298A0825}" type="slidenum">
              <a:rPr lang="en-US" smtClean="0"/>
              <a:t>27</a:t>
            </a:fld>
            <a:endParaRPr lang="en-US"/>
          </a:p>
        </p:txBody>
      </p:sp>
    </p:spTree>
    <p:extLst>
      <p:ext uri="{BB962C8B-B14F-4D97-AF65-F5344CB8AC3E}">
        <p14:creationId xmlns:p14="http://schemas.microsoft.com/office/powerpoint/2010/main" val="41727763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87721D3-7DD5-49C2-7C00-272F7F5528BC}"/>
              </a:ext>
            </a:extLst>
          </p:cNvPr>
          <p:cNvSpPr>
            <a:spLocks noGrp="1"/>
          </p:cNvSpPr>
          <p:nvPr>
            <p:ph type="title"/>
          </p:nvPr>
        </p:nvSpPr>
        <p:spPr/>
        <p:txBody>
          <a:bodyPr/>
          <a:lstStyle/>
          <a:p>
            <a:r>
              <a:rPr lang="en-US" dirty="0"/>
              <a:t>Mission Design</a:t>
            </a:r>
          </a:p>
        </p:txBody>
      </p:sp>
      <p:sp>
        <p:nvSpPr>
          <p:cNvPr id="6" name="Text Placeholder 5">
            <a:extLst>
              <a:ext uri="{FF2B5EF4-FFF2-40B4-BE49-F238E27FC236}">
                <a16:creationId xmlns:a16="http://schemas.microsoft.com/office/drawing/2014/main" id="{2DB6ADA0-3718-B989-68F5-A05D3AD8DCA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4D52BE4-E894-C989-3090-48A835529FBE}"/>
              </a:ext>
            </a:extLst>
          </p:cNvPr>
          <p:cNvSpPr>
            <a:spLocks noGrp="1"/>
          </p:cNvSpPr>
          <p:nvPr>
            <p:ph type="sldNum" sz="quarter" idx="12"/>
          </p:nvPr>
        </p:nvSpPr>
        <p:spPr/>
        <p:txBody>
          <a:bodyPr/>
          <a:lstStyle/>
          <a:p>
            <a:fld id="{9A3029B7-FE6B-4680-9049-80E8298A0825}" type="slidenum">
              <a:rPr lang="en-US" smtClean="0"/>
              <a:t>28</a:t>
            </a:fld>
            <a:endParaRPr lang="en-US"/>
          </a:p>
        </p:txBody>
      </p:sp>
    </p:spTree>
    <p:extLst>
      <p:ext uri="{BB962C8B-B14F-4D97-AF65-F5344CB8AC3E}">
        <p14:creationId xmlns:p14="http://schemas.microsoft.com/office/powerpoint/2010/main" val="28697551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26EB6-7BE1-65CD-EF6D-E74E1A1ADD02}"/>
              </a:ext>
            </a:extLst>
          </p:cNvPr>
          <p:cNvSpPr>
            <a:spLocks noGrp="1"/>
          </p:cNvSpPr>
          <p:nvPr>
            <p:ph type="title"/>
          </p:nvPr>
        </p:nvSpPr>
        <p:spPr/>
        <p:txBody>
          <a:bodyPr/>
          <a:lstStyle/>
          <a:p>
            <a:r>
              <a:rPr lang="en-US" dirty="0"/>
              <a:t>Systems engineering V-diagram</a:t>
            </a:r>
          </a:p>
        </p:txBody>
      </p:sp>
      <p:pic>
        <p:nvPicPr>
          <p:cNvPr id="6" name="Content Placeholder 5" descr="A diagram of components&#10;&#10;AI-generated content may be incorrect.">
            <a:extLst>
              <a:ext uri="{FF2B5EF4-FFF2-40B4-BE49-F238E27FC236}">
                <a16:creationId xmlns:a16="http://schemas.microsoft.com/office/drawing/2014/main" id="{E45C08DD-54E1-F625-6407-61953550C9AA}"/>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75418" y="1408863"/>
            <a:ext cx="8793163" cy="4762963"/>
          </a:xfrm>
        </p:spPr>
      </p:pic>
      <p:sp>
        <p:nvSpPr>
          <p:cNvPr id="4" name="Slide Number Placeholder 3">
            <a:extLst>
              <a:ext uri="{FF2B5EF4-FFF2-40B4-BE49-F238E27FC236}">
                <a16:creationId xmlns:a16="http://schemas.microsoft.com/office/drawing/2014/main" id="{229B5D9E-B00C-F3A4-1891-A707D14E959B}"/>
              </a:ext>
            </a:extLst>
          </p:cNvPr>
          <p:cNvSpPr>
            <a:spLocks noGrp="1"/>
          </p:cNvSpPr>
          <p:nvPr>
            <p:ph type="sldNum" sz="quarter" idx="12"/>
          </p:nvPr>
        </p:nvSpPr>
        <p:spPr/>
        <p:txBody>
          <a:bodyPr/>
          <a:lstStyle/>
          <a:p>
            <a:fld id="{9A3029B7-FE6B-4680-9049-80E8298A0825}" type="slidenum">
              <a:rPr lang="en-US" smtClean="0"/>
              <a:t>29</a:t>
            </a:fld>
            <a:endParaRPr lang="en-US"/>
          </a:p>
        </p:txBody>
      </p:sp>
    </p:spTree>
    <p:extLst>
      <p:ext uri="{BB962C8B-B14F-4D97-AF65-F5344CB8AC3E}">
        <p14:creationId xmlns:p14="http://schemas.microsoft.com/office/powerpoint/2010/main" val="33019657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03B92-E304-30D8-0C8A-EE3B602938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1F6003-DBFF-0DBF-4420-16031AA5FE66}"/>
              </a:ext>
            </a:extLst>
          </p:cNvPr>
          <p:cNvSpPr>
            <a:spLocks noGrp="1"/>
          </p:cNvSpPr>
          <p:nvPr>
            <p:ph type="title"/>
          </p:nvPr>
        </p:nvSpPr>
        <p:spPr/>
        <p:txBody>
          <a:bodyPr/>
          <a:lstStyle/>
          <a:p>
            <a:r>
              <a:rPr lang="en-US" dirty="0"/>
              <a:t>Systems engineering V-diagram (detailed)</a:t>
            </a:r>
          </a:p>
        </p:txBody>
      </p:sp>
      <p:sp>
        <p:nvSpPr>
          <p:cNvPr id="4" name="Slide Number Placeholder 3">
            <a:extLst>
              <a:ext uri="{FF2B5EF4-FFF2-40B4-BE49-F238E27FC236}">
                <a16:creationId xmlns:a16="http://schemas.microsoft.com/office/drawing/2014/main" id="{1EC18140-E0CC-46DB-1E03-1CA5673FEE45}"/>
              </a:ext>
            </a:extLst>
          </p:cNvPr>
          <p:cNvSpPr>
            <a:spLocks noGrp="1"/>
          </p:cNvSpPr>
          <p:nvPr>
            <p:ph type="sldNum" sz="quarter" idx="12"/>
          </p:nvPr>
        </p:nvSpPr>
        <p:spPr/>
        <p:txBody>
          <a:bodyPr/>
          <a:lstStyle/>
          <a:p>
            <a:fld id="{9A3029B7-FE6B-4680-9049-80E8298A0825}" type="slidenum">
              <a:rPr lang="en-US" smtClean="0"/>
              <a:t>30</a:t>
            </a:fld>
            <a:endParaRPr lang="en-US"/>
          </a:p>
        </p:txBody>
      </p:sp>
      <p:pic>
        <p:nvPicPr>
          <p:cNvPr id="8" name="Picture 7">
            <a:extLst>
              <a:ext uri="{FF2B5EF4-FFF2-40B4-BE49-F238E27FC236}">
                <a16:creationId xmlns:a16="http://schemas.microsoft.com/office/drawing/2014/main" id="{EE6E82CA-DDE3-F742-935A-DE16B01BD32E}"/>
              </a:ext>
            </a:extLst>
          </p:cNvPr>
          <p:cNvPicPr>
            <a:picLocks noChangeAspect="1"/>
          </p:cNvPicPr>
          <p:nvPr/>
        </p:nvPicPr>
        <p:blipFill>
          <a:blip r:embed="rId3"/>
          <a:stretch>
            <a:fillRect/>
          </a:stretch>
        </p:blipFill>
        <p:spPr>
          <a:xfrm>
            <a:off x="628650" y="994244"/>
            <a:ext cx="7886700" cy="5835987"/>
          </a:xfrm>
          <a:prstGeom prst="rect">
            <a:avLst/>
          </a:prstGeom>
        </p:spPr>
      </p:pic>
    </p:spTree>
    <p:extLst>
      <p:ext uri="{BB962C8B-B14F-4D97-AF65-F5344CB8AC3E}">
        <p14:creationId xmlns:p14="http://schemas.microsoft.com/office/powerpoint/2010/main" val="21698202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1F397E7-9EF9-5BC7-74FE-3065DCA3D9AF}"/>
              </a:ext>
            </a:extLst>
          </p:cNvPr>
          <p:cNvSpPr>
            <a:spLocks noGrp="1"/>
          </p:cNvSpPr>
          <p:nvPr>
            <p:ph type="title"/>
          </p:nvPr>
        </p:nvSpPr>
        <p:spPr/>
        <p:txBody>
          <a:bodyPr/>
          <a:lstStyle/>
          <a:p>
            <a:r>
              <a:rPr lang="en-US" dirty="0"/>
              <a:t>Development Cycle</a:t>
            </a:r>
          </a:p>
        </p:txBody>
      </p:sp>
      <p:sp>
        <p:nvSpPr>
          <p:cNvPr id="6" name="Content Placeholder 5">
            <a:extLst>
              <a:ext uri="{FF2B5EF4-FFF2-40B4-BE49-F238E27FC236}">
                <a16:creationId xmlns:a16="http://schemas.microsoft.com/office/drawing/2014/main" id="{DACD3625-1FF2-67AC-1737-0E5C89AC2B95}"/>
              </a:ext>
            </a:extLst>
          </p:cNvPr>
          <p:cNvSpPr>
            <a:spLocks noGrp="1"/>
          </p:cNvSpPr>
          <p:nvPr>
            <p:ph idx="1"/>
          </p:nvPr>
        </p:nvSpPr>
        <p:spPr>
          <a:xfrm>
            <a:off x="200025" y="1002506"/>
            <a:ext cx="8793015" cy="5722308"/>
          </a:xfrm>
        </p:spPr>
        <p:txBody>
          <a:bodyPr>
            <a:normAutofit fontScale="92500" lnSpcReduction="10000"/>
          </a:bodyPr>
          <a:lstStyle/>
          <a:p>
            <a:pPr marL="0" indent="0">
              <a:buNone/>
            </a:pPr>
            <a:r>
              <a:rPr lang="en-US" sz="2000" b="1" dirty="0"/>
              <a:t>General developmental process:</a:t>
            </a:r>
          </a:p>
          <a:p>
            <a:r>
              <a:rPr lang="en-US" sz="2000" dirty="0"/>
              <a:t>High Level Requirements</a:t>
            </a:r>
          </a:p>
          <a:p>
            <a:pPr marL="457200" lvl="1" indent="0">
              <a:buNone/>
            </a:pPr>
            <a:r>
              <a:rPr lang="en-US" sz="1800" i="1" dirty="0"/>
              <a:t>What is the mission trying to accomplish?</a:t>
            </a:r>
          </a:p>
          <a:p>
            <a:r>
              <a:rPr lang="en-US" sz="2000" dirty="0"/>
              <a:t>Concepts</a:t>
            </a:r>
          </a:p>
          <a:p>
            <a:pPr marL="457200" lvl="1" indent="0">
              <a:buNone/>
            </a:pPr>
            <a:r>
              <a:rPr lang="en-US" sz="1800" i="1" dirty="0"/>
              <a:t>What options could accomplish this?</a:t>
            </a:r>
          </a:p>
          <a:p>
            <a:r>
              <a:rPr lang="en-US" sz="2000" dirty="0"/>
              <a:t>Detailed Requirements</a:t>
            </a:r>
          </a:p>
          <a:p>
            <a:pPr marL="457200" lvl="1" indent="0">
              <a:buNone/>
            </a:pPr>
            <a:r>
              <a:rPr lang="en-US" sz="1800" i="1" dirty="0"/>
              <a:t>Be specific about critical aspects of the mission.</a:t>
            </a:r>
          </a:p>
          <a:p>
            <a:r>
              <a:rPr lang="en-US" sz="2000" dirty="0"/>
              <a:t>Design/Development</a:t>
            </a:r>
          </a:p>
          <a:p>
            <a:pPr marL="457200" lvl="1" indent="0">
              <a:buNone/>
            </a:pPr>
            <a:r>
              <a:rPr lang="en-US" sz="1800" i="1" dirty="0"/>
              <a:t>Figure out how to build a satellite to meet the requirements.</a:t>
            </a:r>
          </a:p>
          <a:p>
            <a:r>
              <a:rPr lang="en-US" sz="2000" dirty="0"/>
              <a:t>Production</a:t>
            </a:r>
          </a:p>
          <a:p>
            <a:pPr marL="457200" lvl="1" indent="0">
              <a:buNone/>
            </a:pPr>
            <a:r>
              <a:rPr lang="en-US" sz="1800" i="1" dirty="0"/>
              <a:t>Build that satellite(s).</a:t>
            </a:r>
          </a:p>
          <a:p>
            <a:r>
              <a:rPr lang="en-US" sz="2000" dirty="0"/>
              <a:t>Deployment</a:t>
            </a:r>
          </a:p>
          <a:p>
            <a:pPr marL="457200" lvl="1" indent="0">
              <a:buNone/>
            </a:pPr>
            <a:r>
              <a:rPr lang="en-US" sz="1800" i="1" dirty="0"/>
              <a:t>Get the satellite and ground systems in place.</a:t>
            </a:r>
          </a:p>
          <a:p>
            <a:r>
              <a:rPr lang="en-US" sz="2000" dirty="0"/>
              <a:t>Operations/Maintenance</a:t>
            </a:r>
          </a:p>
          <a:p>
            <a:pPr marL="457200" lvl="1" indent="0">
              <a:buNone/>
            </a:pPr>
            <a:r>
              <a:rPr lang="en-US" sz="1800" i="1" dirty="0"/>
              <a:t>Day to day functioning of the satellite.</a:t>
            </a:r>
          </a:p>
          <a:p>
            <a:r>
              <a:rPr lang="en-US" sz="2000" dirty="0"/>
              <a:t>Termination</a:t>
            </a:r>
          </a:p>
          <a:p>
            <a:pPr marL="457200" lvl="1" indent="0">
              <a:buNone/>
            </a:pPr>
            <a:r>
              <a:rPr lang="en-US" sz="1800" i="1" dirty="0"/>
              <a:t>Handle the end of life of the project.</a:t>
            </a:r>
          </a:p>
        </p:txBody>
      </p:sp>
      <p:sp>
        <p:nvSpPr>
          <p:cNvPr id="4" name="Slide Number Placeholder 3">
            <a:extLst>
              <a:ext uri="{FF2B5EF4-FFF2-40B4-BE49-F238E27FC236}">
                <a16:creationId xmlns:a16="http://schemas.microsoft.com/office/drawing/2014/main" id="{07B51169-B5C6-51C3-DEDF-68234B8C7629}"/>
              </a:ext>
            </a:extLst>
          </p:cNvPr>
          <p:cNvSpPr>
            <a:spLocks noGrp="1"/>
          </p:cNvSpPr>
          <p:nvPr>
            <p:ph type="sldNum" sz="quarter" idx="12"/>
          </p:nvPr>
        </p:nvSpPr>
        <p:spPr/>
        <p:txBody>
          <a:bodyPr/>
          <a:lstStyle/>
          <a:p>
            <a:fld id="{9A3029B7-FE6B-4680-9049-80E8298A0825}" type="slidenum">
              <a:rPr lang="en-US" smtClean="0"/>
              <a:t>31</a:t>
            </a:fld>
            <a:endParaRPr lang="en-US"/>
          </a:p>
        </p:txBody>
      </p:sp>
      <p:sp>
        <p:nvSpPr>
          <p:cNvPr id="7" name="TextBox 6">
            <a:extLst>
              <a:ext uri="{FF2B5EF4-FFF2-40B4-BE49-F238E27FC236}">
                <a16:creationId xmlns:a16="http://schemas.microsoft.com/office/drawing/2014/main" id="{D5D88FB7-9E34-4C28-FF65-E89B405AF03A}"/>
              </a:ext>
            </a:extLst>
          </p:cNvPr>
          <p:cNvSpPr txBox="1"/>
          <p:nvPr/>
        </p:nvSpPr>
        <p:spPr>
          <a:xfrm>
            <a:off x="5597103" y="5486162"/>
            <a:ext cx="2886266" cy="369332"/>
          </a:xfrm>
          <a:prstGeom prst="rect">
            <a:avLst/>
          </a:prstGeom>
          <a:solidFill>
            <a:srgbClr val="FF0000"/>
          </a:solidFill>
          <a:ln>
            <a:solidFill>
              <a:schemeClr val="tx1"/>
            </a:solidFill>
          </a:ln>
        </p:spPr>
        <p:txBody>
          <a:bodyPr wrap="square" rtlCol="0">
            <a:spAutoFit/>
          </a:bodyPr>
          <a:lstStyle/>
          <a:p>
            <a:pPr algn="ctr"/>
            <a:r>
              <a:rPr lang="en-US" b="1" dirty="0"/>
              <a:t>This process is iterative!</a:t>
            </a:r>
          </a:p>
        </p:txBody>
      </p:sp>
    </p:spTree>
    <p:extLst>
      <p:ext uri="{BB962C8B-B14F-4D97-AF65-F5344CB8AC3E}">
        <p14:creationId xmlns:p14="http://schemas.microsoft.com/office/powerpoint/2010/main" val="1559804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6">
                                            <p:txEl>
                                              <p:pRg st="11" end="11"/>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
                                            <p:txEl>
                                              <p:pRg st="13" end="13"/>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6">
                                            <p:txEl>
                                              <p:pRg st="14" end="14"/>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6">
                                            <p:txEl>
                                              <p:pRg st="15" end="15"/>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6">
                                            <p:txEl>
                                              <p:pRg st="16" end="16"/>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E7959-8DE3-A361-E5C4-5BBA1D432FC6}"/>
              </a:ext>
            </a:extLst>
          </p:cNvPr>
          <p:cNvSpPr>
            <a:spLocks noGrp="1"/>
          </p:cNvSpPr>
          <p:nvPr>
            <p:ph type="title"/>
          </p:nvPr>
        </p:nvSpPr>
        <p:spPr/>
        <p:txBody>
          <a:bodyPr/>
          <a:lstStyle/>
          <a:p>
            <a:r>
              <a:rPr lang="en-US" dirty="0"/>
              <a:t>Common Mission Milestones</a:t>
            </a:r>
          </a:p>
        </p:txBody>
      </p:sp>
      <p:sp>
        <p:nvSpPr>
          <p:cNvPr id="3" name="Content Placeholder 2">
            <a:extLst>
              <a:ext uri="{FF2B5EF4-FFF2-40B4-BE49-F238E27FC236}">
                <a16:creationId xmlns:a16="http://schemas.microsoft.com/office/drawing/2014/main" id="{104705DF-967C-8D6B-1B17-8DC4964DCCD7}"/>
              </a:ext>
            </a:extLst>
          </p:cNvPr>
          <p:cNvSpPr>
            <a:spLocks noGrp="1"/>
          </p:cNvSpPr>
          <p:nvPr>
            <p:ph idx="1"/>
          </p:nvPr>
        </p:nvSpPr>
        <p:spPr/>
        <p:txBody>
          <a:bodyPr/>
          <a:lstStyle/>
          <a:p>
            <a:pPr marL="0" indent="0">
              <a:buNone/>
            </a:pPr>
            <a:endParaRPr lang="en-US" dirty="0"/>
          </a:p>
          <a:p>
            <a:pPr marL="0" indent="0">
              <a:buNone/>
            </a:pPr>
            <a:r>
              <a:rPr lang="en-US" b="1" dirty="0"/>
              <a:t>SRR</a:t>
            </a:r>
            <a:r>
              <a:rPr lang="en-US" dirty="0"/>
              <a:t> – System Requirements Review</a:t>
            </a:r>
          </a:p>
          <a:p>
            <a:pPr marL="0" indent="0">
              <a:buNone/>
            </a:pPr>
            <a:r>
              <a:rPr lang="en-US" b="1" dirty="0"/>
              <a:t>SDR</a:t>
            </a:r>
            <a:r>
              <a:rPr lang="en-US" dirty="0"/>
              <a:t> – System Design Review</a:t>
            </a:r>
          </a:p>
          <a:p>
            <a:pPr marL="0" indent="0">
              <a:buNone/>
            </a:pPr>
            <a:r>
              <a:rPr lang="en-US" b="1" dirty="0"/>
              <a:t>SSR</a:t>
            </a:r>
            <a:r>
              <a:rPr lang="en-US" dirty="0"/>
              <a:t> – Software Specification Review</a:t>
            </a:r>
          </a:p>
          <a:p>
            <a:pPr marL="0" indent="0">
              <a:buNone/>
            </a:pPr>
            <a:r>
              <a:rPr lang="en-US" b="1" dirty="0"/>
              <a:t>PDR</a:t>
            </a:r>
            <a:r>
              <a:rPr lang="en-US" dirty="0"/>
              <a:t> – Preliminary Design Review</a:t>
            </a:r>
          </a:p>
          <a:p>
            <a:pPr marL="0" indent="0">
              <a:buNone/>
            </a:pPr>
            <a:r>
              <a:rPr lang="en-US" b="1" dirty="0"/>
              <a:t>CDR</a:t>
            </a:r>
            <a:r>
              <a:rPr lang="en-US" dirty="0"/>
              <a:t> – Critical Design Review</a:t>
            </a:r>
          </a:p>
          <a:p>
            <a:pPr marL="0" indent="0">
              <a:buNone/>
            </a:pPr>
            <a:r>
              <a:rPr lang="en-US" b="1" dirty="0"/>
              <a:t>TRR</a:t>
            </a:r>
            <a:r>
              <a:rPr lang="en-US" dirty="0"/>
              <a:t> – Test Readiness Review</a:t>
            </a:r>
          </a:p>
          <a:p>
            <a:pPr marL="0" indent="0">
              <a:buNone/>
            </a:pPr>
            <a:r>
              <a:rPr lang="en-US" b="1" dirty="0"/>
              <a:t>IOC</a:t>
            </a:r>
            <a:r>
              <a:rPr lang="en-US" dirty="0"/>
              <a:t> – Initial Operational Capability</a:t>
            </a:r>
          </a:p>
          <a:p>
            <a:pPr marL="0" indent="0">
              <a:buNone/>
            </a:pPr>
            <a:r>
              <a:rPr lang="en-US" b="1" dirty="0"/>
              <a:t>FOC</a:t>
            </a:r>
            <a:r>
              <a:rPr lang="en-US" dirty="0"/>
              <a:t> – Full Operational Capability</a:t>
            </a:r>
          </a:p>
        </p:txBody>
      </p:sp>
      <p:sp>
        <p:nvSpPr>
          <p:cNvPr id="4" name="Slide Number Placeholder 3">
            <a:extLst>
              <a:ext uri="{FF2B5EF4-FFF2-40B4-BE49-F238E27FC236}">
                <a16:creationId xmlns:a16="http://schemas.microsoft.com/office/drawing/2014/main" id="{76AE2F52-B0BF-00D9-4302-7E45827E8125}"/>
              </a:ext>
            </a:extLst>
          </p:cNvPr>
          <p:cNvSpPr>
            <a:spLocks noGrp="1"/>
          </p:cNvSpPr>
          <p:nvPr>
            <p:ph type="sldNum" sz="quarter" idx="12"/>
          </p:nvPr>
        </p:nvSpPr>
        <p:spPr/>
        <p:txBody>
          <a:bodyPr/>
          <a:lstStyle/>
          <a:p>
            <a:fld id="{9A3029B7-FE6B-4680-9049-80E8298A0825}" type="slidenum">
              <a:rPr lang="en-US" smtClean="0"/>
              <a:t>32</a:t>
            </a:fld>
            <a:endParaRPr lang="en-US"/>
          </a:p>
        </p:txBody>
      </p:sp>
    </p:spTree>
    <p:extLst>
      <p:ext uri="{BB962C8B-B14F-4D97-AF65-F5344CB8AC3E}">
        <p14:creationId xmlns:p14="http://schemas.microsoft.com/office/powerpoint/2010/main" val="29931567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D8124-4C55-250E-0354-B507459C4381}"/>
              </a:ext>
            </a:extLst>
          </p:cNvPr>
          <p:cNvSpPr>
            <a:spLocks noGrp="1"/>
          </p:cNvSpPr>
          <p:nvPr>
            <p:ph type="title"/>
          </p:nvPr>
        </p:nvSpPr>
        <p:spPr/>
        <p:txBody>
          <a:bodyPr/>
          <a:lstStyle/>
          <a:p>
            <a:r>
              <a:rPr lang="en-US" dirty="0"/>
              <a:t>Mission Elements</a:t>
            </a:r>
          </a:p>
        </p:txBody>
      </p:sp>
      <p:sp>
        <p:nvSpPr>
          <p:cNvPr id="3" name="Content Placeholder 2">
            <a:extLst>
              <a:ext uri="{FF2B5EF4-FFF2-40B4-BE49-F238E27FC236}">
                <a16:creationId xmlns:a16="http://schemas.microsoft.com/office/drawing/2014/main" id="{40E1B4A6-9185-E843-B27E-79F7DA4CBAD5}"/>
              </a:ext>
            </a:extLst>
          </p:cNvPr>
          <p:cNvSpPr>
            <a:spLocks noGrp="1"/>
          </p:cNvSpPr>
          <p:nvPr>
            <p:ph idx="1"/>
          </p:nvPr>
        </p:nvSpPr>
        <p:spPr/>
        <p:txBody>
          <a:bodyPr/>
          <a:lstStyle/>
          <a:p>
            <a:pPr marL="0" indent="0">
              <a:buNone/>
            </a:pPr>
            <a:r>
              <a:rPr lang="en-US" dirty="0"/>
              <a:t>Consider more than the satellite itself as an element of the mission. Examples:</a:t>
            </a:r>
          </a:p>
        </p:txBody>
      </p:sp>
      <p:sp>
        <p:nvSpPr>
          <p:cNvPr id="4" name="Slide Number Placeholder 3">
            <a:extLst>
              <a:ext uri="{FF2B5EF4-FFF2-40B4-BE49-F238E27FC236}">
                <a16:creationId xmlns:a16="http://schemas.microsoft.com/office/drawing/2014/main" id="{3353805F-DA68-0C40-1970-1D49D1E0F0FC}"/>
              </a:ext>
            </a:extLst>
          </p:cNvPr>
          <p:cNvSpPr>
            <a:spLocks noGrp="1"/>
          </p:cNvSpPr>
          <p:nvPr>
            <p:ph type="sldNum" sz="quarter" idx="12"/>
          </p:nvPr>
        </p:nvSpPr>
        <p:spPr/>
        <p:txBody>
          <a:bodyPr/>
          <a:lstStyle/>
          <a:p>
            <a:fld id="{9A3029B7-FE6B-4680-9049-80E8298A0825}" type="slidenum">
              <a:rPr lang="en-US" smtClean="0"/>
              <a:t>33</a:t>
            </a:fld>
            <a:endParaRPr lang="en-US"/>
          </a:p>
        </p:txBody>
      </p:sp>
      <p:pic>
        <p:nvPicPr>
          <p:cNvPr id="2050" name="Picture 2" descr="1: Overview of the GPS segments [US.Army (1996)]. | Download Scientific  Diagram">
            <a:extLst>
              <a:ext uri="{FF2B5EF4-FFF2-40B4-BE49-F238E27FC236}">
                <a16:creationId xmlns:a16="http://schemas.microsoft.com/office/drawing/2014/main" id="{FA5976C1-C31C-8154-0102-0BDC1AAB84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7581" y="2222951"/>
            <a:ext cx="3453410" cy="379321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4D2C93E1-D032-EDE6-CF84-EFF7964453C3}"/>
              </a:ext>
            </a:extLst>
          </p:cNvPr>
          <p:cNvPicPr>
            <a:picLocks noChangeAspect="1"/>
          </p:cNvPicPr>
          <p:nvPr/>
        </p:nvPicPr>
        <p:blipFill>
          <a:blip r:embed="rId3"/>
          <a:stretch>
            <a:fillRect/>
          </a:stretch>
        </p:blipFill>
        <p:spPr>
          <a:xfrm>
            <a:off x="150960" y="2005828"/>
            <a:ext cx="5510328" cy="2007546"/>
          </a:xfrm>
          <a:prstGeom prst="rect">
            <a:avLst/>
          </a:prstGeom>
        </p:spPr>
      </p:pic>
      <p:sp>
        <p:nvSpPr>
          <p:cNvPr id="7" name="TextBox 6">
            <a:extLst>
              <a:ext uri="{FF2B5EF4-FFF2-40B4-BE49-F238E27FC236}">
                <a16:creationId xmlns:a16="http://schemas.microsoft.com/office/drawing/2014/main" id="{FCE207B6-A614-2F37-985B-8DCE36EF180C}"/>
              </a:ext>
            </a:extLst>
          </p:cNvPr>
          <p:cNvSpPr txBox="1"/>
          <p:nvPr/>
        </p:nvSpPr>
        <p:spPr>
          <a:xfrm>
            <a:off x="1462558" y="3946232"/>
            <a:ext cx="2887132" cy="369332"/>
          </a:xfrm>
          <a:prstGeom prst="rect">
            <a:avLst/>
          </a:prstGeom>
          <a:noFill/>
        </p:spPr>
        <p:txBody>
          <a:bodyPr wrap="square">
            <a:spAutoFit/>
          </a:bodyPr>
          <a:lstStyle/>
          <a:p>
            <a:pPr algn="ctr"/>
            <a:r>
              <a:rPr lang="en-US" b="1" dirty="0">
                <a:solidFill>
                  <a:srgbClr val="0070C0"/>
                </a:solidFill>
                <a:latin typeface="Segoe UI" panose="020B0502040204020203" pitchFamily="34" charset="0"/>
                <a:cs typeface="Segoe UI" panose="020B0502040204020203" pitchFamily="34" charset="0"/>
              </a:rPr>
              <a:t>Arbitrary Space Mission</a:t>
            </a:r>
          </a:p>
        </p:txBody>
      </p:sp>
      <p:sp>
        <p:nvSpPr>
          <p:cNvPr id="8" name="TextBox 7">
            <a:extLst>
              <a:ext uri="{FF2B5EF4-FFF2-40B4-BE49-F238E27FC236}">
                <a16:creationId xmlns:a16="http://schemas.microsoft.com/office/drawing/2014/main" id="{96E6433E-4551-D615-5CE7-83E51A6DACF8}"/>
              </a:ext>
            </a:extLst>
          </p:cNvPr>
          <p:cNvSpPr txBox="1"/>
          <p:nvPr/>
        </p:nvSpPr>
        <p:spPr>
          <a:xfrm>
            <a:off x="1845762" y="5486162"/>
            <a:ext cx="2887132" cy="369332"/>
          </a:xfrm>
          <a:prstGeom prst="rect">
            <a:avLst/>
          </a:prstGeom>
          <a:noFill/>
        </p:spPr>
        <p:txBody>
          <a:bodyPr wrap="square">
            <a:spAutoFit/>
          </a:bodyPr>
          <a:lstStyle/>
          <a:p>
            <a:pPr algn="ctr"/>
            <a:r>
              <a:rPr lang="en-US" b="1" dirty="0">
                <a:solidFill>
                  <a:srgbClr val="0070C0"/>
                </a:solidFill>
                <a:latin typeface="Segoe UI" panose="020B0502040204020203" pitchFamily="34" charset="0"/>
                <a:cs typeface="Segoe UI" panose="020B0502040204020203" pitchFamily="34" charset="0"/>
              </a:rPr>
              <a:t>GPS Mission Segments</a:t>
            </a:r>
          </a:p>
        </p:txBody>
      </p:sp>
      <p:cxnSp>
        <p:nvCxnSpPr>
          <p:cNvPr id="10" name="Straight Arrow Connector 9">
            <a:extLst>
              <a:ext uri="{FF2B5EF4-FFF2-40B4-BE49-F238E27FC236}">
                <a16:creationId xmlns:a16="http://schemas.microsoft.com/office/drawing/2014/main" id="{D46FFFD2-99AD-B159-269F-9BBD4670728D}"/>
              </a:ext>
            </a:extLst>
          </p:cNvPr>
          <p:cNvCxnSpPr>
            <a:cxnSpLocks/>
          </p:cNvCxnSpPr>
          <p:nvPr/>
        </p:nvCxnSpPr>
        <p:spPr>
          <a:xfrm flipV="1">
            <a:off x="4596532" y="5251115"/>
            <a:ext cx="759239" cy="419713"/>
          </a:xfrm>
          <a:prstGeom prst="straightConnector1">
            <a:avLst/>
          </a:prstGeom>
          <a:ln w="57150">
            <a:solidFill>
              <a:srgbClr val="0070C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49472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D96EE-FA72-3281-8749-A498EAC22D0C}"/>
              </a:ext>
            </a:extLst>
          </p:cNvPr>
          <p:cNvSpPr>
            <a:spLocks noGrp="1"/>
          </p:cNvSpPr>
          <p:nvPr>
            <p:ph type="title"/>
          </p:nvPr>
        </p:nvSpPr>
        <p:spPr/>
        <p:txBody>
          <a:bodyPr/>
          <a:lstStyle/>
          <a:p>
            <a:r>
              <a:rPr lang="en-US" dirty="0"/>
              <a:t>Main Players</a:t>
            </a:r>
          </a:p>
        </p:txBody>
      </p:sp>
      <p:sp>
        <p:nvSpPr>
          <p:cNvPr id="3" name="Content Placeholder 2">
            <a:extLst>
              <a:ext uri="{FF2B5EF4-FFF2-40B4-BE49-F238E27FC236}">
                <a16:creationId xmlns:a16="http://schemas.microsoft.com/office/drawing/2014/main" id="{D0BD8BD0-1804-0A18-CE6F-ADA280E394A2}"/>
              </a:ext>
            </a:extLst>
          </p:cNvPr>
          <p:cNvSpPr>
            <a:spLocks noGrp="1"/>
          </p:cNvSpPr>
          <p:nvPr>
            <p:ph idx="1"/>
          </p:nvPr>
        </p:nvSpPr>
        <p:spPr/>
        <p:txBody>
          <a:bodyPr>
            <a:normAutofit lnSpcReduction="10000"/>
          </a:bodyPr>
          <a:lstStyle/>
          <a:p>
            <a:endParaRPr lang="en-US" sz="2400" b="1" dirty="0"/>
          </a:p>
          <a:p>
            <a:r>
              <a:rPr lang="en-US" sz="2400" b="1" dirty="0"/>
              <a:t>Sponsors/Stakeholders </a:t>
            </a:r>
            <a:r>
              <a:rPr lang="en-US" sz="2400" dirty="0"/>
              <a:t>– People/organizations that specify the high-level requirements and provide funding. They are ultimately why the project exists. Sometimes referred to as ‘</a:t>
            </a:r>
            <a:r>
              <a:rPr lang="en-US" sz="2400" b="1" dirty="0"/>
              <a:t>customer.</a:t>
            </a:r>
            <a:r>
              <a:rPr lang="en-US" sz="2400" dirty="0"/>
              <a:t>’</a:t>
            </a:r>
          </a:p>
          <a:p>
            <a:endParaRPr lang="en-US" sz="2400" b="1" dirty="0"/>
          </a:p>
          <a:p>
            <a:r>
              <a:rPr lang="en-US" sz="2400" b="1" dirty="0"/>
              <a:t>Developers</a:t>
            </a:r>
            <a:r>
              <a:rPr lang="en-US" sz="2400" dirty="0"/>
              <a:t> – Turn concepts and requirements into real hardware/software and a process that will meet the sponsors’ requirements.</a:t>
            </a:r>
          </a:p>
          <a:p>
            <a:endParaRPr lang="en-US" sz="2400" b="1" dirty="0"/>
          </a:p>
          <a:p>
            <a:r>
              <a:rPr lang="en-US" sz="2400" b="1" dirty="0"/>
              <a:t>Users</a:t>
            </a:r>
            <a:r>
              <a:rPr lang="en-US" sz="2400" dirty="0"/>
              <a:t> – The people that will be tasked with operating the system or analyzing the data that comes from the completed system. The final result needs to be something that they can use.</a:t>
            </a:r>
          </a:p>
          <a:p>
            <a:endParaRPr lang="en-US" sz="2400" dirty="0"/>
          </a:p>
        </p:txBody>
      </p:sp>
      <p:sp>
        <p:nvSpPr>
          <p:cNvPr id="4" name="Slide Number Placeholder 3">
            <a:extLst>
              <a:ext uri="{FF2B5EF4-FFF2-40B4-BE49-F238E27FC236}">
                <a16:creationId xmlns:a16="http://schemas.microsoft.com/office/drawing/2014/main" id="{7A275D59-53B8-190F-943C-D3C4B14C75EA}"/>
              </a:ext>
            </a:extLst>
          </p:cNvPr>
          <p:cNvSpPr>
            <a:spLocks noGrp="1"/>
          </p:cNvSpPr>
          <p:nvPr>
            <p:ph type="sldNum" sz="quarter" idx="12"/>
          </p:nvPr>
        </p:nvSpPr>
        <p:spPr/>
        <p:txBody>
          <a:bodyPr/>
          <a:lstStyle/>
          <a:p>
            <a:fld id="{9A3029B7-FE6B-4680-9049-80E8298A0825}" type="slidenum">
              <a:rPr lang="en-US" smtClean="0"/>
              <a:t>34</a:t>
            </a:fld>
            <a:endParaRPr lang="en-US"/>
          </a:p>
        </p:txBody>
      </p:sp>
    </p:spTree>
    <p:extLst>
      <p:ext uri="{BB962C8B-B14F-4D97-AF65-F5344CB8AC3E}">
        <p14:creationId xmlns:p14="http://schemas.microsoft.com/office/powerpoint/2010/main" val="2564451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01998-BC9F-4041-377F-A41FF7EEB177}"/>
              </a:ext>
            </a:extLst>
          </p:cNvPr>
          <p:cNvSpPr>
            <a:spLocks noGrp="1"/>
          </p:cNvSpPr>
          <p:nvPr>
            <p:ph type="title"/>
          </p:nvPr>
        </p:nvSpPr>
        <p:spPr/>
        <p:txBody>
          <a:bodyPr/>
          <a:lstStyle/>
          <a:p>
            <a:r>
              <a:rPr lang="en-US" dirty="0"/>
              <a:t>CONOPS</a:t>
            </a:r>
          </a:p>
        </p:txBody>
      </p:sp>
      <p:sp>
        <p:nvSpPr>
          <p:cNvPr id="3" name="Content Placeholder 2">
            <a:extLst>
              <a:ext uri="{FF2B5EF4-FFF2-40B4-BE49-F238E27FC236}">
                <a16:creationId xmlns:a16="http://schemas.microsoft.com/office/drawing/2014/main" id="{73C887EA-0EBB-DCFE-B874-84CDD8CF2FDE}"/>
              </a:ext>
            </a:extLst>
          </p:cNvPr>
          <p:cNvSpPr>
            <a:spLocks noGrp="1"/>
          </p:cNvSpPr>
          <p:nvPr>
            <p:ph idx="1"/>
          </p:nvPr>
        </p:nvSpPr>
        <p:spPr/>
        <p:txBody>
          <a:bodyPr>
            <a:normAutofit/>
          </a:bodyPr>
          <a:lstStyle/>
          <a:p>
            <a:pPr marL="0" indent="0">
              <a:buNone/>
            </a:pPr>
            <a:r>
              <a:rPr lang="en-US" sz="1600" dirty="0"/>
              <a:t>A </a:t>
            </a:r>
            <a:r>
              <a:rPr lang="en-US" sz="1600" b="1" dirty="0"/>
              <a:t>Concept of Operations (CONOPS)</a:t>
            </a:r>
            <a:r>
              <a:rPr lang="en-US" sz="1600" dirty="0"/>
              <a:t> describes how a mission is executed. Usually includes:  </a:t>
            </a:r>
          </a:p>
          <a:p>
            <a:r>
              <a:rPr lang="en-US" sz="1600" dirty="0"/>
              <a:t>Goals and Objectives</a:t>
            </a:r>
          </a:p>
          <a:p>
            <a:r>
              <a:rPr lang="en-US" sz="1600" dirty="0"/>
              <a:t>Strategies and Policies</a:t>
            </a:r>
          </a:p>
          <a:p>
            <a:r>
              <a:rPr lang="en-US" sz="1600" dirty="0"/>
              <a:t>Interactions and Activities between all groups involved</a:t>
            </a:r>
          </a:p>
          <a:p>
            <a:r>
              <a:rPr lang="en-US" sz="1600" dirty="0"/>
              <a:t>Identification of who has Responsibilities</a:t>
            </a:r>
          </a:p>
          <a:p>
            <a:r>
              <a:rPr lang="en-US" sz="1600" dirty="0"/>
              <a:t>Identification of who has Authority</a:t>
            </a:r>
          </a:p>
          <a:p>
            <a:r>
              <a:rPr lang="en-US" sz="1600" dirty="0"/>
              <a:t>The Processes and Operation of the system</a:t>
            </a:r>
          </a:p>
          <a:p>
            <a:r>
              <a:rPr lang="en-US" sz="1600" dirty="0"/>
              <a:t>Plans for Startup, Normal Operations, and End of Life</a:t>
            </a:r>
          </a:p>
        </p:txBody>
      </p:sp>
      <p:sp>
        <p:nvSpPr>
          <p:cNvPr id="4" name="Slide Number Placeholder 3">
            <a:extLst>
              <a:ext uri="{FF2B5EF4-FFF2-40B4-BE49-F238E27FC236}">
                <a16:creationId xmlns:a16="http://schemas.microsoft.com/office/drawing/2014/main" id="{AF568687-118D-05BB-03E2-D63D71FE4C4B}"/>
              </a:ext>
            </a:extLst>
          </p:cNvPr>
          <p:cNvSpPr>
            <a:spLocks noGrp="1"/>
          </p:cNvSpPr>
          <p:nvPr>
            <p:ph type="sldNum" sz="quarter" idx="12"/>
          </p:nvPr>
        </p:nvSpPr>
        <p:spPr/>
        <p:txBody>
          <a:bodyPr/>
          <a:lstStyle/>
          <a:p>
            <a:fld id="{9A3029B7-FE6B-4680-9049-80E8298A0825}" type="slidenum">
              <a:rPr lang="en-US" smtClean="0"/>
              <a:t>35</a:t>
            </a:fld>
            <a:endParaRPr lang="en-US"/>
          </a:p>
        </p:txBody>
      </p:sp>
      <p:pic>
        <p:nvPicPr>
          <p:cNvPr id="1028" name="Picture 4">
            <a:extLst>
              <a:ext uri="{FF2B5EF4-FFF2-40B4-BE49-F238E27FC236}">
                <a16:creationId xmlns:a16="http://schemas.microsoft.com/office/drawing/2014/main" id="{8E52FCC2-904F-404D-8E9C-AF4C57AE3F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960" y="3919453"/>
            <a:ext cx="4240000" cy="238573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BB5A139C-1B58-43A6-8C07-C29655CEED12}"/>
              </a:ext>
            </a:extLst>
          </p:cNvPr>
          <p:cNvPicPr>
            <a:picLocks noChangeAspect="1"/>
          </p:cNvPicPr>
          <p:nvPr/>
        </p:nvPicPr>
        <p:blipFill>
          <a:blip r:embed="rId3"/>
          <a:stretch>
            <a:fillRect/>
          </a:stretch>
        </p:blipFill>
        <p:spPr>
          <a:xfrm>
            <a:off x="4440025" y="4161327"/>
            <a:ext cx="4685070" cy="2068732"/>
          </a:xfrm>
          <a:prstGeom prst="rect">
            <a:avLst/>
          </a:prstGeom>
        </p:spPr>
      </p:pic>
    </p:spTree>
    <p:extLst>
      <p:ext uri="{BB962C8B-B14F-4D97-AF65-F5344CB8AC3E}">
        <p14:creationId xmlns:p14="http://schemas.microsoft.com/office/powerpoint/2010/main" val="33057437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D02054-A635-4C3F-C245-546325E567DF}"/>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lgn="ctr">
              <a:buNone/>
            </a:pPr>
            <a:r>
              <a:rPr lang="en-US" b="1" dirty="0"/>
              <a:t>GOES-R CONOPS Document</a:t>
            </a:r>
          </a:p>
        </p:txBody>
      </p:sp>
      <p:sp>
        <p:nvSpPr>
          <p:cNvPr id="4" name="Slide Number Placeholder 3">
            <a:extLst>
              <a:ext uri="{FF2B5EF4-FFF2-40B4-BE49-F238E27FC236}">
                <a16:creationId xmlns:a16="http://schemas.microsoft.com/office/drawing/2014/main" id="{996ABE3C-44E4-C3F3-B40D-58DA1BAC81AB}"/>
              </a:ext>
            </a:extLst>
          </p:cNvPr>
          <p:cNvSpPr>
            <a:spLocks noGrp="1"/>
          </p:cNvSpPr>
          <p:nvPr>
            <p:ph type="sldNum" sz="quarter" idx="12"/>
          </p:nvPr>
        </p:nvSpPr>
        <p:spPr/>
        <p:txBody>
          <a:bodyPr/>
          <a:lstStyle/>
          <a:p>
            <a:fld id="{9A3029B7-FE6B-4680-9049-80E8298A0825}" type="slidenum">
              <a:rPr lang="en-US" smtClean="0"/>
              <a:t>36</a:t>
            </a:fld>
            <a:endParaRPr lang="en-US"/>
          </a:p>
        </p:txBody>
      </p:sp>
    </p:spTree>
    <p:extLst>
      <p:ext uri="{BB962C8B-B14F-4D97-AF65-F5344CB8AC3E}">
        <p14:creationId xmlns:p14="http://schemas.microsoft.com/office/powerpoint/2010/main" val="29654341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2" name="Picture 4" descr="Space Mission Analysis - ppt video online downloa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22294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8642" y="-1"/>
            <a:ext cx="7988157" cy="863029"/>
          </a:xfrm>
        </p:spPr>
        <p:txBody>
          <a:bodyPr>
            <a:normAutofit/>
          </a:bodyPr>
          <a:lstStyle/>
          <a:p>
            <a:r>
              <a:rPr lang="en-US" dirty="0" err="1"/>
              <a:t>FireSat</a:t>
            </a:r>
            <a:r>
              <a:rPr lang="en-US" dirty="0"/>
              <a:t> Requirements &amp; Constraints</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4099352561"/>
              </p:ext>
            </p:extLst>
          </p:nvPr>
        </p:nvGraphicFramePr>
        <p:xfrm>
          <a:off x="623640" y="1011588"/>
          <a:ext cx="8138160" cy="536956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tblGrid>
              <a:tr h="370840">
                <a:tc>
                  <a:txBody>
                    <a:bodyPr/>
                    <a:lstStyle/>
                    <a:p>
                      <a:pPr algn="ctr"/>
                      <a:r>
                        <a:rPr lang="en-US" dirty="0">
                          <a:solidFill>
                            <a:schemeClr val="tx1"/>
                          </a:solidFill>
                        </a:rPr>
                        <a:t>Functional </a:t>
                      </a:r>
                      <a:r>
                        <a:rPr lang="en-US" dirty="0" err="1">
                          <a:solidFill>
                            <a:schemeClr val="tx1"/>
                          </a:solidFill>
                        </a:rPr>
                        <a:t>Rqmts</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50000"/>
                        <a:lumOff val="50000"/>
                      </a:schemeClr>
                    </a:solidFill>
                  </a:tcPr>
                </a:tc>
                <a:tc>
                  <a:txBody>
                    <a:bodyPr/>
                    <a:lstStyle/>
                    <a:p>
                      <a:pPr algn="ctr"/>
                      <a:r>
                        <a:rPr lang="en-US" dirty="0">
                          <a:solidFill>
                            <a:schemeClr val="tx1"/>
                          </a:solidFill>
                        </a:rPr>
                        <a:t>Operational </a:t>
                      </a:r>
                      <a:r>
                        <a:rPr lang="en-US" dirty="0" err="1">
                          <a:solidFill>
                            <a:schemeClr val="tx1"/>
                          </a:solidFill>
                        </a:rPr>
                        <a:t>Rqmts</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50000"/>
                        <a:lumOff val="50000"/>
                      </a:schemeClr>
                    </a:solidFill>
                  </a:tcPr>
                </a:tc>
                <a:tc>
                  <a:txBody>
                    <a:bodyPr/>
                    <a:lstStyle/>
                    <a:p>
                      <a:pPr algn="ctr"/>
                      <a:r>
                        <a:rPr lang="en-US" dirty="0">
                          <a:solidFill>
                            <a:schemeClr val="tx1"/>
                          </a:solidFill>
                        </a:rPr>
                        <a:t>Constraints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50000"/>
                        <a:lumOff val="50000"/>
                      </a:schemeClr>
                    </a:solidFill>
                  </a:tcPr>
                </a:tc>
                <a:extLst>
                  <a:ext uri="{0D108BD9-81ED-4DB2-BD59-A6C34878D82A}">
                    <a16:rowId xmlns:a16="http://schemas.microsoft.com/office/drawing/2014/main" val="10000"/>
                  </a:ext>
                </a:extLst>
              </a:tr>
              <a:tr h="370840">
                <a:tc>
                  <a:txBody>
                    <a:bodyPr/>
                    <a:lstStyle/>
                    <a:p>
                      <a:r>
                        <a:rPr lang="en-US" sz="1400" kern="1200" dirty="0">
                          <a:solidFill>
                            <a:schemeClr val="tx1"/>
                          </a:solidFill>
                          <a:effectLst/>
                          <a:latin typeface="+mn-lt"/>
                          <a:ea typeface="+mn-ea"/>
                          <a:cs typeface="+mn-cs"/>
                        </a:rPr>
                        <a:t>Performance</a:t>
                      </a:r>
                    </a:p>
                    <a:p>
                      <a:pPr marL="176213" indent="-176213">
                        <a:buFontTx/>
                        <a:buChar char="-"/>
                      </a:pPr>
                      <a:r>
                        <a:rPr lang="en-US" sz="1400" kern="1200" dirty="0">
                          <a:solidFill>
                            <a:schemeClr val="tx1"/>
                          </a:solidFill>
                          <a:effectLst/>
                          <a:latin typeface="+mn-lt"/>
                          <a:ea typeface="+mn-ea"/>
                          <a:cs typeface="+mn-cs"/>
                        </a:rPr>
                        <a:t>30 m resolution</a:t>
                      </a:r>
                    </a:p>
                    <a:p>
                      <a:pPr marL="176213" indent="-176213">
                        <a:buFontTx/>
                        <a:buChar char="-"/>
                      </a:pPr>
                      <a:r>
                        <a:rPr lang="en-US" sz="1400" kern="1200" dirty="0">
                          <a:solidFill>
                            <a:schemeClr val="tx1"/>
                          </a:solidFill>
                          <a:effectLst/>
                          <a:latin typeface="+mn-lt"/>
                          <a:ea typeface="+mn-ea"/>
                          <a:cs typeface="+mn-cs"/>
                        </a:rPr>
                        <a:t>500 m location accuracy</a:t>
                      </a:r>
                    </a:p>
                    <a:p>
                      <a:r>
                        <a:rPr lang="en-US" sz="1400" kern="1200" dirty="0">
                          <a:solidFill>
                            <a:schemeClr val="tx1"/>
                          </a:solidFill>
                          <a:effectLst/>
                          <a:latin typeface="+mn-lt"/>
                          <a:ea typeface="+mn-ea"/>
                          <a:cs typeface="+mn-cs"/>
                        </a:rPr>
                        <a:t>Coverage</a:t>
                      </a:r>
                    </a:p>
                    <a:p>
                      <a:pPr marL="176213" indent="-176213">
                        <a:buFontTx/>
                        <a:buChar char="-"/>
                      </a:pPr>
                      <a:r>
                        <a:rPr lang="en-US" sz="1400" kern="1200" baseline="0" dirty="0">
                          <a:solidFill>
                            <a:schemeClr val="tx1"/>
                          </a:solidFill>
                          <a:effectLst/>
                          <a:latin typeface="+mn-lt"/>
                          <a:ea typeface="+mn-ea"/>
                          <a:cs typeface="+mn-cs"/>
                        </a:rPr>
                        <a:t>Daily for USA</a:t>
                      </a:r>
                      <a:endParaRPr lang="en-US" sz="1400" kern="1200" dirty="0">
                        <a:solidFill>
                          <a:schemeClr val="tx1"/>
                        </a:solidFill>
                        <a:effectLst/>
                        <a:latin typeface="+mn-lt"/>
                        <a:ea typeface="+mn-ea"/>
                        <a:cs typeface="+mn-cs"/>
                      </a:endParaRPr>
                    </a:p>
                    <a:p>
                      <a:r>
                        <a:rPr lang="en-US" sz="1400" kern="1200" dirty="0">
                          <a:solidFill>
                            <a:schemeClr val="tx1"/>
                          </a:solidFill>
                          <a:effectLst/>
                          <a:latin typeface="+mn-lt"/>
                          <a:ea typeface="+mn-ea"/>
                          <a:cs typeface="+mn-cs"/>
                        </a:rPr>
                        <a:t>Responsiveness</a:t>
                      </a:r>
                    </a:p>
                    <a:p>
                      <a:pPr marL="176213" marR="0" lvl="0" indent="-176213" algn="l" defTabSz="914400" rtl="0" eaLnBrk="1" fontAlgn="auto" latinLnBrk="0" hangingPunct="1">
                        <a:lnSpc>
                          <a:spcPct val="100000"/>
                        </a:lnSpc>
                        <a:spcBef>
                          <a:spcPts val="0"/>
                        </a:spcBef>
                        <a:spcAft>
                          <a:spcPts val="0"/>
                        </a:spcAft>
                        <a:buClrTx/>
                        <a:buSzTx/>
                        <a:buFontTx/>
                        <a:buNone/>
                        <a:tabLst/>
                        <a:defRPr/>
                      </a:pPr>
                      <a:r>
                        <a:rPr lang="en-US" sz="1400" kern="1200" dirty="0">
                          <a:solidFill>
                            <a:schemeClr val="tx1"/>
                          </a:solidFill>
                          <a:effectLst/>
                          <a:latin typeface="+mn-lt"/>
                          <a:ea typeface="+mn-ea"/>
                          <a:cs typeface="+mn-cs"/>
                        </a:rPr>
                        <a:t>-  Send registered data within 30 min of detecting fire to up to 50 users</a:t>
                      </a:r>
                    </a:p>
                    <a:p>
                      <a:r>
                        <a:rPr lang="en-US" sz="1400" kern="1200" dirty="0">
                          <a:solidFill>
                            <a:schemeClr val="tx1"/>
                          </a:solidFill>
                          <a:effectLst/>
                          <a:latin typeface="+mn-lt"/>
                          <a:ea typeface="+mn-ea"/>
                          <a:cs typeface="+mn-cs"/>
                        </a:rPr>
                        <a:t>Secondary Mission</a:t>
                      </a:r>
                    </a:p>
                    <a:p>
                      <a:pPr marL="176213" indent="-176213">
                        <a:buFontTx/>
                        <a:buChar char="-"/>
                      </a:pPr>
                      <a:r>
                        <a:rPr lang="en-US" sz="1400" kern="1200" dirty="0">
                          <a:solidFill>
                            <a:schemeClr val="tx1"/>
                          </a:solidFill>
                          <a:effectLst/>
                          <a:latin typeface="+mn-lt"/>
                          <a:ea typeface="+mn-ea"/>
                          <a:cs typeface="+mn-cs"/>
                        </a:rPr>
                        <a:t>4 temperature levels for pest management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kern="1200" dirty="0">
                          <a:solidFill>
                            <a:schemeClr val="tx1"/>
                          </a:solidFill>
                          <a:effectLst/>
                          <a:latin typeface="+mn-lt"/>
                          <a:ea typeface="+mn-ea"/>
                          <a:cs typeface="+mn-cs"/>
                        </a:rPr>
                        <a:t>Duration</a:t>
                      </a:r>
                    </a:p>
                    <a:p>
                      <a:pPr marL="176213" indent="-176213"/>
                      <a:r>
                        <a:rPr lang="en-US" sz="1400" kern="1200" dirty="0">
                          <a:solidFill>
                            <a:schemeClr val="tx1"/>
                          </a:solidFill>
                          <a:effectLst/>
                          <a:latin typeface="+mn-lt"/>
                          <a:ea typeface="+mn-ea"/>
                          <a:cs typeface="+mn-cs"/>
                        </a:rPr>
                        <a:t>- At </a:t>
                      </a:r>
                      <a:r>
                        <a:rPr lang="en-US" sz="1400" kern="1200" dirty="0" err="1">
                          <a:solidFill>
                            <a:schemeClr val="tx1"/>
                          </a:solidFill>
                          <a:effectLst/>
                          <a:latin typeface="+mn-lt"/>
                          <a:ea typeface="+mn-ea"/>
                          <a:cs typeface="+mn-cs"/>
                        </a:rPr>
                        <a:t>leat</a:t>
                      </a:r>
                      <a:r>
                        <a:rPr lang="en-US" sz="1400" kern="1200" dirty="0">
                          <a:solidFill>
                            <a:schemeClr val="tx1"/>
                          </a:solidFill>
                          <a:effectLst/>
                          <a:latin typeface="+mn-lt"/>
                          <a:ea typeface="+mn-ea"/>
                          <a:cs typeface="+mn-cs"/>
                        </a:rPr>
                        <a:t> 5 </a:t>
                      </a:r>
                      <a:r>
                        <a:rPr lang="en-US" sz="1400" kern="1200" dirty="0" err="1">
                          <a:solidFill>
                            <a:schemeClr val="tx1"/>
                          </a:solidFill>
                          <a:effectLst/>
                          <a:latin typeface="+mn-lt"/>
                          <a:ea typeface="+mn-ea"/>
                          <a:cs typeface="+mn-cs"/>
                        </a:rPr>
                        <a:t>yrs</a:t>
                      </a:r>
                      <a:endParaRPr lang="en-US" sz="1400" kern="1200" dirty="0">
                        <a:solidFill>
                          <a:schemeClr val="tx1"/>
                        </a:solidFill>
                        <a:effectLst/>
                        <a:latin typeface="+mn-lt"/>
                        <a:ea typeface="+mn-ea"/>
                        <a:cs typeface="+mn-cs"/>
                      </a:endParaRPr>
                    </a:p>
                    <a:p>
                      <a:r>
                        <a:rPr lang="en-US" sz="1400" kern="1200" dirty="0">
                          <a:solidFill>
                            <a:schemeClr val="tx1"/>
                          </a:solidFill>
                          <a:effectLst/>
                          <a:latin typeface="+mn-lt"/>
                          <a:ea typeface="+mn-ea"/>
                          <a:cs typeface="+mn-cs"/>
                        </a:rPr>
                        <a:t>Availability</a:t>
                      </a:r>
                    </a:p>
                    <a:p>
                      <a:pPr marL="176213" marR="0" lvl="0" indent="-176213" algn="l" defTabSz="914400" rtl="0" eaLnBrk="1" fontAlgn="auto" latinLnBrk="0" hangingPunct="1">
                        <a:lnSpc>
                          <a:spcPct val="100000"/>
                        </a:lnSpc>
                        <a:spcBef>
                          <a:spcPts val="0"/>
                        </a:spcBef>
                        <a:spcAft>
                          <a:spcPts val="0"/>
                        </a:spcAft>
                        <a:buClrTx/>
                        <a:buSzTx/>
                        <a:buFontTx/>
                        <a:buChar char="-"/>
                        <a:tabLst/>
                        <a:defRPr/>
                      </a:pPr>
                      <a:r>
                        <a:rPr lang="en-US" sz="1400" kern="1200" dirty="0">
                          <a:solidFill>
                            <a:schemeClr val="tx1"/>
                          </a:solidFill>
                          <a:effectLst/>
                          <a:latin typeface="+mn-lt"/>
                          <a:ea typeface="+mn-ea"/>
                          <a:cs typeface="+mn-cs"/>
                        </a:rPr>
                        <a:t>98%</a:t>
                      </a:r>
                      <a:r>
                        <a:rPr lang="en-US" sz="1400" kern="1200" baseline="0" dirty="0">
                          <a:solidFill>
                            <a:schemeClr val="tx1"/>
                          </a:solidFill>
                          <a:effectLst/>
                          <a:latin typeface="+mn-lt"/>
                          <a:ea typeface="+mn-ea"/>
                          <a:cs typeface="+mn-cs"/>
                        </a:rPr>
                        <a:t> excluding weather</a:t>
                      </a:r>
                    </a:p>
                    <a:p>
                      <a:pPr marL="176213" marR="0" lvl="0" indent="-176213" algn="l" defTabSz="914400" rtl="0" eaLnBrk="1" fontAlgn="auto" latinLnBrk="0" hangingPunct="1">
                        <a:lnSpc>
                          <a:spcPct val="100000"/>
                        </a:lnSpc>
                        <a:spcBef>
                          <a:spcPts val="0"/>
                        </a:spcBef>
                        <a:spcAft>
                          <a:spcPts val="0"/>
                        </a:spcAft>
                        <a:buClrTx/>
                        <a:buSzTx/>
                        <a:buFontTx/>
                        <a:buChar char="-"/>
                        <a:tabLst/>
                        <a:defRPr/>
                      </a:pPr>
                      <a:r>
                        <a:rPr lang="en-US" sz="1400" kern="1200" baseline="0" dirty="0">
                          <a:solidFill>
                            <a:schemeClr val="tx1"/>
                          </a:solidFill>
                          <a:effectLst/>
                          <a:latin typeface="+mn-lt"/>
                          <a:ea typeface="+mn-ea"/>
                          <a:cs typeface="+mn-cs"/>
                        </a:rPr>
                        <a:t>3-day maximum outage</a:t>
                      </a:r>
                      <a:endParaRPr lang="en-US" sz="1400" kern="1200" dirty="0">
                        <a:solidFill>
                          <a:schemeClr val="tx1"/>
                        </a:solidFill>
                        <a:effectLst/>
                        <a:latin typeface="+mn-lt"/>
                        <a:ea typeface="+mn-ea"/>
                        <a:cs typeface="+mn-cs"/>
                      </a:endParaRPr>
                    </a:p>
                    <a:p>
                      <a:r>
                        <a:rPr lang="en-US" sz="1400" kern="1200" dirty="0">
                          <a:solidFill>
                            <a:schemeClr val="tx1"/>
                          </a:solidFill>
                          <a:effectLst/>
                          <a:latin typeface="+mn-lt"/>
                          <a:ea typeface="+mn-ea"/>
                          <a:cs typeface="+mn-cs"/>
                        </a:rPr>
                        <a:t>Timeliness</a:t>
                      </a:r>
                    </a:p>
                    <a:p>
                      <a:r>
                        <a:rPr lang="en-US" sz="1400" kern="1200" dirty="0">
                          <a:solidFill>
                            <a:schemeClr val="tx1"/>
                          </a:solidFill>
                          <a:effectLst/>
                          <a:latin typeface="+mn-lt"/>
                          <a:ea typeface="+mn-ea"/>
                          <a:cs typeface="+mn-cs"/>
                        </a:rPr>
                        <a:t>Survivability</a:t>
                      </a:r>
                    </a:p>
                    <a:p>
                      <a:pPr marL="176213" marR="0" lvl="0" indent="-176213" algn="l" defTabSz="914400" rtl="0" eaLnBrk="1" fontAlgn="auto" latinLnBrk="0" hangingPunct="1">
                        <a:lnSpc>
                          <a:spcPct val="100000"/>
                        </a:lnSpc>
                        <a:spcBef>
                          <a:spcPts val="0"/>
                        </a:spcBef>
                        <a:spcAft>
                          <a:spcPts val="0"/>
                        </a:spcAft>
                        <a:buClrTx/>
                        <a:buSzTx/>
                        <a:buFontTx/>
                        <a:buNone/>
                        <a:tabLst/>
                        <a:defRPr/>
                      </a:pPr>
                      <a:r>
                        <a:rPr lang="en-US" sz="1400" kern="1200" dirty="0">
                          <a:solidFill>
                            <a:schemeClr val="tx1"/>
                          </a:solidFill>
                          <a:effectLst/>
                          <a:latin typeface="+mn-lt"/>
                          <a:ea typeface="+mn-ea"/>
                          <a:cs typeface="+mn-cs"/>
                        </a:rPr>
                        <a:t>- Natural</a:t>
                      </a:r>
                      <a:r>
                        <a:rPr lang="en-US" sz="1400" kern="1200" baseline="0" dirty="0">
                          <a:solidFill>
                            <a:schemeClr val="tx1"/>
                          </a:solidFill>
                          <a:effectLst/>
                          <a:latin typeface="+mn-lt"/>
                          <a:ea typeface="+mn-ea"/>
                          <a:cs typeface="+mn-cs"/>
                        </a:rPr>
                        <a:t> environment only</a:t>
                      </a:r>
                      <a:endParaRPr lang="en-US" sz="1400" kern="1200" dirty="0">
                        <a:solidFill>
                          <a:schemeClr val="tx1"/>
                        </a:solidFill>
                        <a:effectLst/>
                        <a:latin typeface="+mn-lt"/>
                        <a:ea typeface="+mn-ea"/>
                        <a:cs typeface="+mn-cs"/>
                      </a:endParaRPr>
                    </a:p>
                    <a:p>
                      <a:r>
                        <a:rPr lang="en-US" sz="1400" kern="1200" dirty="0">
                          <a:solidFill>
                            <a:schemeClr val="tx1"/>
                          </a:solidFill>
                          <a:effectLst/>
                          <a:latin typeface="+mn-lt"/>
                          <a:ea typeface="+mn-ea"/>
                          <a:cs typeface="+mn-cs"/>
                        </a:rPr>
                        <a:t>Data Distribution</a:t>
                      </a:r>
                    </a:p>
                    <a:p>
                      <a:pPr marL="176213" marR="0" lvl="0" indent="-176213" algn="l" defTabSz="914400" rtl="0" eaLnBrk="1" fontAlgn="auto" latinLnBrk="0" hangingPunct="1">
                        <a:lnSpc>
                          <a:spcPct val="100000"/>
                        </a:lnSpc>
                        <a:spcBef>
                          <a:spcPts val="0"/>
                        </a:spcBef>
                        <a:spcAft>
                          <a:spcPts val="0"/>
                        </a:spcAft>
                        <a:buClrTx/>
                        <a:buSzTx/>
                        <a:buFontTx/>
                        <a:buNone/>
                        <a:tabLst/>
                        <a:defRPr/>
                      </a:pPr>
                      <a:r>
                        <a:rPr lang="en-US" sz="1400" kern="1200" dirty="0">
                          <a:solidFill>
                            <a:schemeClr val="tx1"/>
                          </a:solidFill>
                          <a:effectLst/>
                          <a:latin typeface="+mn-lt"/>
                          <a:ea typeface="+mn-ea"/>
                          <a:cs typeface="+mn-cs"/>
                        </a:rPr>
                        <a:t>- Up</a:t>
                      </a:r>
                      <a:r>
                        <a:rPr lang="en-US" sz="1400" kern="1200" baseline="0" dirty="0">
                          <a:solidFill>
                            <a:schemeClr val="tx1"/>
                          </a:solidFill>
                          <a:effectLst/>
                          <a:latin typeface="+mn-lt"/>
                          <a:ea typeface="+mn-ea"/>
                          <a:cs typeface="+mn-cs"/>
                        </a:rPr>
                        <a:t> to 500 fire-monitoring office &amp; 2000 rangers worldwide with a max of 100 simultaneous users</a:t>
                      </a:r>
                      <a:endParaRPr lang="en-US" sz="1400" kern="1200" dirty="0">
                        <a:solidFill>
                          <a:schemeClr val="tx1"/>
                        </a:solidFill>
                        <a:effectLst/>
                        <a:latin typeface="+mn-lt"/>
                        <a:ea typeface="+mn-ea"/>
                        <a:cs typeface="+mn-cs"/>
                      </a:endParaRPr>
                    </a:p>
                    <a:p>
                      <a:r>
                        <a:rPr lang="en-US" sz="1400" kern="1200" dirty="0">
                          <a:solidFill>
                            <a:schemeClr val="tx1"/>
                          </a:solidFill>
                          <a:effectLst/>
                          <a:latin typeface="+mn-lt"/>
                          <a:ea typeface="+mn-ea"/>
                          <a:cs typeface="+mn-cs"/>
                        </a:rPr>
                        <a:t>Data Content, Form, &amp; Format</a:t>
                      </a:r>
                    </a:p>
                    <a:p>
                      <a:pPr marL="176213" indent="-176213">
                        <a:buFontTx/>
                        <a:buChar char="-"/>
                      </a:pPr>
                      <a:r>
                        <a:rPr lang="en-US" sz="1400" kern="1200" dirty="0">
                          <a:solidFill>
                            <a:schemeClr val="tx1"/>
                          </a:solidFill>
                          <a:effectLst/>
                          <a:latin typeface="+mn-lt"/>
                          <a:ea typeface="+mn-ea"/>
                          <a:cs typeface="+mn-cs"/>
                        </a:rPr>
                        <a:t>Location and extent of fire on any of 12 map bases</a:t>
                      </a:r>
                    </a:p>
                    <a:p>
                      <a:pPr marL="176213" indent="-176213">
                        <a:buFontTx/>
                        <a:buChar char="-"/>
                      </a:pPr>
                      <a:r>
                        <a:rPr lang="en-US" sz="1400" kern="1200" dirty="0">
                          <a:solidFill>
                            <a:schemeClr val="tx1"/>
                          </a:solidFill>
                          <a:effectLst/>
                          <a:latin typeface="+mn-lt"/>
                          <a:ea typeface="+mn-ea"/>
                          <a:cs typeface="+mn-cs"/>
                        </a:rPr>
                        <a:t>Average temperature for each 30 square meter grid</a:t>
                      </a:r>
                    </a:p>
                    <a:p>
                      <a:pPr marL="0" indent="0">
                        <a:buFontTx/>
                        <a:buNone/>
                      </a:pPr>
                      <a:r>
                        <a:rPr lang="en-US" sz="1400" kern="1200" dirty="0">
                          <a:solidFill>
                            <a:schemeClr val="tx1"/>
                          </a:solidFill>
                          <a:effectLst/>
                          <a:latin typeface="+mn-lt"/>
                          <a:ea typeface="+mn-ea"/>
                          <a:cs typeface="+mn-cs"/>
                        </a:rPr>
                        <a:t>Data Storage</a:t>
                      </a: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kern="1200" dirty="0">
                          <a:solidFill>
                            <a:schemeClr val="tx1"/>
                          </a:solidFill>
                          <a:effectLst/>
                          <a:latin typeface="+mn-lt"/>
                          <a:ea typeface="+mn-ea"/>
                          <a:cs typeface="+mn-cs"/>
                        </a:rPr>
                        <a:t>Cost</a:t>
                      </a:r>
                    </a:p>
                    <a:p>
                      <a:pPr marL="176213" marR="0" lvl="0" indent="-176213" algn="l" defTabSz="914400" rtl="0" eaLnBrk="1" fontAlgn="auto" latinLnBrk="0" hangingPunct="1">
                        <a:lnSpc>
                          <a:spcPct val="100000"/>
                        </a:lnSpc>
                        <a:spcBef>
                          <a:spcPts val="0"/>
                        </a:spcBef>
                        <a:spcAft>
                          <a:spcPts val="0"/>
                        </a:spcAft>
                        <a:buClrTx/>
                        <a:buSzTx/>
                        <a:buFontTx/>
                        <a:buNone/>
                        <a:tabLst/>
                        <a:defRPr/>
                      </a:pPr>
                      <a:r>
                        <a:rPr lang="en-US" sz="1400" kern="1200" dirty="0">
                          <a:solidFill>
                            <a:schemeClr val="tx1"/>
                          </a:solidFill>
                          <a:effectLst/>
                          <a:latin typeface="+mn-lt"/>
                          <a:ea typeface="+mn-ea"/>
                          <a:cs typeface="+mn-cs"/>
                        </a:rPr>
                        <a:t>- &lt;$20</a:t>
                      </a:r>
                      <a:r>
                        <a:rPr lang="en-US" sz="1400" kern="1200" baseline="0" dirty="0">
                          <a:solidFill>
                            <a:schemeClr val="tx1"/>
                          </a:solidFill>
                          <a:effectLst/>
                          <a:latin typeface="+mn-lt"/>
                          <a:ea typeface="+mn-ea"/>
                          <a:cs typeface="+mn-cs"/>
                        </a:rPr>
                        <a:t> million/</a:t>
                      </a:r>
                      <a:r>
                        <a:rPr lang="en-US" sz="1400" kern="1200" baseline="0" dirty="0" err="1">
                          <a:solidFill>
                            <a:schemeClr val="tx1"/>
                          </a:solidFill>
                          <a:effectLst/>
                          <a:latin typeface="+mn-lt"/>
                          <a:ea typeface="+mn-ea"/>
                          <a:cs typeface="+mn-cs"/>
                        </a:rPr>
                        <a:t>yr</a:t>
                      </a:r>
                      <a:r>
                        <a:rPr lang="en-US" sz="1400" kern="1200" baseline="0" dirty="0">
                          <a:solidFill>
                            <a:schemeClr val="tx1"/>
                          </a:solidFill>
                          <a:effectLst/>
                          <a:latin typeface="+mn-lt"/>
                          <a:ea typeface="+mn-ea"/>
                          <a:cs typeface="+mn-cs"/>
                        </a:rPr>
                        <a:t> plus R&amp;D costs</a:t>
                      </a:r>
                      <a:endParaRPr lang="en-US" sz="1400" kern="1200" dirty="0">
                        <a:solidFill>
                          <a:schemeClr val="tx1"/>
                        </a:solidFill>
                        <a:effectLst/>
                        <a:latin typeface="+mn-lt"/>
                        <a:ea typeface="+mn-ea"/>
                        <a:cs typeface="+mn-cs"/>
                      </a:endParaRPr>
                    </a:p>
                    <a:p>
                      <a:r>
                        <a:rPr lang="en-US" sz="1400" kern="1200" dirty="0">
                          <a:solidFill>
                            <a:schemeClr val="tx1"/>
                          </a:solidFill>
                          <a:effectLst/>
                          <a:latin typeface="+mn-lt"/>
                          <a:ea typeface="+mn-ea"/>
                          <a:cs typeface="+mn-cs"/>
                        </a:rPr>
                        <a:t>Schedule</a:t>
                      </a:r>
                    </a:p>
                    <a:p>
                      <a:pPr marL="176213" marR="0" lvl="0" indent="-176213" algn="l" defTabSz="914400" rtl="0" eaLnBrk="1" fontAlgn="auto" latinLnBrk="0" hangingPunct="1">
                        <a:lnSpc>
                          <a:spcPct val="100000"/>
                        </a:lnSpc>
                        <a:spcBef>
                          <a:spcPts val="0"/>
                        </a:spcBef>
                        <a:spcAft>
                          <a:spcPts val="0"/>
                        </a:spcAft>
                        <a:buClrTx/>
                        <a:buSzTx/>
                        <a:buFontTx/>
                        <a:buChar char="-"/>
                        <a:tabLst/>
                        <a:defRPr/>
                      </a:pPr>
                      <a:r>
                        <a:rPr lang="en-US" sz="1400" kern="1200" dirty="0">
                          <a:solidFill>
                            <a:schemeClr val="tx1"/>
                          </a:solidFill>
                          <a:effectLst/>
                          <a:latin typeface="+mn-lt"/>
                          <a:ea typeface="+mn-ea"/>
                          <a:cs typeface="+mn-cs"/>
                        </a:rPr>
                        <a:t>IOC</a:t>
                      </a:r>
                      <a:r>
                        <a:rPr lang="en-US" sz="1400" kern="1200" baseline="0" dirty="0">
                          <a:solidFill>
                            <a:schemeClr val="tx1"/>
                          </a:solidFill>
                          <a:effectLst/>
                          <a:latin typeface="+mn-lt"/>
                          <a:ea typeface="+mn-ea"/>
                          <a:cs typeface="+mn-cs"/>
                        </a:rPr>
                        <a:t> in 5 </a:t>
                      </a:r>
                      <a:r>
                        <a:rPr lang="en-US" sz="1400" kern="1200" baseline="0" dirty="0" err="1">
                          <a:solidFill>
                            <a:schemeClr val="tx1"/>
                          </a:solidFill>
                          <a:effectLst/>
                          <a:latin typeface="+mn-lt"/>
                          <a:ea typeface="+mn-ea"/>
                          <a:cs typeface="+mn-cs"/>
                        </a:rPr>
                        <a:t>yrs</a:t>
                      </a:r>
                      <a:endParaRPr lang="en-US" sz="1400" kern="1200" baseline="0" dirty="0">
                        <a:solidFill>
                          <a:schemeClr val="tx1"/>
                        </a:solidFill>
                        <a:effectLst/>
                        <a:latin typeface="+mn-lt"/>
                        <a:ea typeface="+mn-ea"/>
                        <a:cs typeface="+mn-cs"/>
                      </a:endParaRPr>
                    </a:p>
                    <a:p>
                      <a:pPr marL="176213" marR="0" lvl="0" indent="-176213" algn="l" defTabSz="914400" rtl="0" eaLnBrk="1" fontAlgn="auto" latinLnBrk="0" hangingPunct="1">
                        <a:lnSpc>
                          <a:spcPct val="100000"/>
                        </a:lnSpc>
                        <a:spcBef>
                          <a:spcPts val="0"/>
                        </a:spcBef>
                        <a:spcAft>
                          <a:spcPts val="0"/>
                        </a:spcAft>
                        <a:buClrTx/>
                        <a:buSzTx/>
                        <a:buFontTx/>
                        <a:buChar char="-"/>
                        <a:tabLst/>
                        <a:defRPr/>
                      </a:pPr>
                      <a:r>
                        <a:rPr lang="en-US" sz="1400" kern="1200" baseline="0" dirty="0">
                          <a:solidFill>
                            <a:schemeClr val="tx1"/>
                          </a:solidFill>
                          <a:effectLst/>
                          <a:latin typeface="+mn-lt"/>
                          <a:ea typeface="+mn-ea"/>
                          <a:cs typeface="+mn-cs"/>
                        </a:rPr>
                        <a:t>FOC in 6 </a:t>
                      </a:r>
                      <a:r>
                        <a:rPr lang="en-US" sz="1400" kern="1200" baseline="0" dirty="0" err="1">
                          <a:solidFill>
                            <a:schemeClr val="tx1"/>
                          </a:solidFill>
                          <a:effectLst/>
                          <a:latin typeface="+mn-lt"/>
                          <a:ea typeface="+mn-ea"/>
                          <a:cs typeface="+mn-cs"/>
                        </a:rPr>
                        <a:t>yrs</a:t>
                      </a:r>
                      <a:endParaRPr lang="en-US" sz="1400" kern="1200" dirty="0">
                        <a:solidFill>
                          <a:schemeClr val="tx1"/>
                        </a:solidFill>
                        <a:effectLst/>
                        <a:latin typeface="+mn-lt"/>
                        <a:ea typeface="+mn-ea"/>
                        <a:cs typeface="+mn-cs"/>
                      </a:endParaRPr>
                    </a:p>
                    <a:p>
                      <a:r>
                        <a:rPr lang="en-US" sz="1400" kern="1200" dirty="0">
                          <a:solidFill>
                            <a:schemeClr val="tx1"/>
                          </a:solidFill>
                          <a:effectLst/>
                          <a:latin typeface="+mn-lt"/>
                          <a:ea typeface="+mn-ea"/>
                          <a:cs typeface="+mn-cs"/>
                        </a:rPr>
                        <a:t>Regulations</a:t>
                      </a:r>
                    </a:p>
                    <a:p>
                      <a:pPr marL="176213" marR="0" lvl="0" indent="-176213" algn="l" defTabSz="914400" rtl="0" eaLnBrk="1" fontAlgn="auto" latinLnBrk="0" hangingPunct="1">
                        <a:lnSpc>
                          <a:spcPct val="100000"/>
                        </a:lnSpc>
                        <a:spcBef>
                          <a:spcPts val="0"/>
                        </a:spcBef>
                        <a:spcAft>
                          <a:spcPts val="0"/>
                        </a:spcAft>
                        <a:buClrTx/>
                        <a:buSzTx/>
                        <a:buFontTx/>
                        <a:buNone/>
                        <a:tabLst/>
                        <a:defRPr/>
                      </a:pPr>
                      <a:r>
                        <a:rPr lang="en-US" sz="1400" kern="1200" dirty="0">
                          <a:solidFill>
                            <a:schemeClr val="tx1"/>
                          </a:solidFill>
                          <a:effectLst/>
                          <a:latin typeface="+mn-lt"/>
                          <a:ea typeface="+mn-ea"/>
                          <a:cs typeface="+mn-cs"/>
                        </a:rPr>
                        <a:t>- NASA</a:t>
                      </a:r>
                      <a:r>
                        <a:rPr lang="en-US" sz="1400" kern="1200" baseline="0" dirty="0">
                          <a:solidFill>
                            <a:schemeClr val="tx1"/>
                          </a:solidFill>
                          <a:effectLst/>
                          <a:latin typeface="+mn-lt"/>
                          <a:ea typeface="+mn-ea"/>
                          <a:cs typeface="+mn-cs"/>
                        </a:rPr>
                        <a:t> mission (federal </a:t>
                      </a:r>
                      <a:r>
                        <a:rPr lang="en-US" sz="1400" kern="1200" baseline="0" dirty="0" err="1">
                          <a:solidFill>
                            <a:schemeClr val="tx1"/>
                          </a:solidFill>
                          <a:effectLst/>
                          <a:latin typeface="+mn-lt"/>
                          <a:ea typeface="+mn-ea"/>
                          <a:cs typeface="+mn-cs"/>
                        </a:rPr>
                        <a:t>regs</a:t>
                      </a:r>
                      <a:r>
                        <a:rPr lang="en-US" sz="1400" kern="1200" baseline="0" dirty="0">
                          <a:solidFill>
                            <a:schemeClr val="tx1"/>
                          </a:solidFill>
                          <a:effectLst/>
                          <a:latin typeface="+mn-lt"/>
                          <a:ea typeface="+mn-ea"/>
                          <a:cs typeface="+mn-cs"/>
                        </a:rPr>
                        <a:t> and procurement constraints apply)</a:t>
                      </a:r>
                      <a:endParaRPr lang="en-US" sz="1400" kern="1200" dirty="0">
                        <a:solidFill>
                          <a:schemeClr val="tx1"/>
                        </a:solidFill>
                        <a:effectLst/>
                        <a:latin typeface="+mn-lt"/>
                        <a:ea typeface="+mn-ea"/>
                        <a:cs typeface="+mn-cs"/>
                      </a:endParaRPr>
                    </a:p>
                    <a:p>
                      <a:r>
                        <a:rPr lang="en-US" sz="1400" kern="1200" dirty="0">
                          <a:solidFill>
                            <a:schemeClr val="tx1"/>
                          </a:solidFill>
                          <a:effectLst/>
                          <a:latin typeface="+mn-lt"/>
                          <a:ea typeface="+mn-ea"/>
                          <a:cs typeface="+mn-cs"/>
                        </a:rPr>
                        <a:t>Political Limits</a:t>
                      </a:r>
                    </a:p>
                    <a:p>
                      <a:pPr marL="176213" marR="0" lvl="0" indent="-176213" algn="l" defTabSz="914400" rtl="0" eaLnBrk="1" fontAlgn="auto" latinLnBrk="0" hangingPunct="1">
                        <a:lnSpc>
                          <a:spcPct val="100000"/>
                        </a:lnSpc>
                        <a:spcBef>
                          <a:spcPts val="0"/>
                        </a:spcBef>
                        <a:spcAft>
                          <a:spcPts val="0"/>
                        </a:spcAft>
                        <a:buClrTx/>
                        <a:buSzTx/>
                        <a:buFontTx/>
                        <a:buNone/>
                        <a:tabLst/>
                        <a:defRPr/>
                      </a:pPr>
                      <a:r>
                        <a:rPr lang="en-US" sz="1400" kern="1200" dirty="0">
                          <a:solidFill>
                            <a:schemeClr val="tx1"/>
                          </a:solidFill>
                          <a:effectLst/>
                          <a:latin typeface="+mn-lt"/>
                          <a:ea typeface="+mn-ea"/>
                          <a:cs typeface="+mn-cs"/>
                        </a:rPr>
                        <a:t>- Responsive</a:t>
                      </a:r>
                      <a:r>
                        <a:rPr lang="en-US" sz="1400" kern="1200" baseline="0" dirty="0">
                          <a:solidFill>
                            <a:schemeClr val="tx1"/>
                          </a:solidFill>
                          <a:effectLst/>
                          <a:latin typeface="+mn-lt"/>
                          <a:ea typeface="+mn-ea"/>
                          <a:cs typeface="+mn-cs"/>
                        </a:rPr>
                        <a:t> to public demand for actions</a:t>
                      </a:r>
                      <a:endParaRPr lang="en-US" sz="1400" kern="1200" dirty="0">
                        <a:solidFill>
                          <a:schemeClr val="tx1"/>
                        </a:solidFill>
                        <a:effectLst/>
                        <a:latin typeface="+mn-lt"/>
                        <a:ea typeface="+mn-ea"/>
                        <a:cs typeface="+mn-cs"/>
                      </a:endParaRPr>
                    </a:p>
                    <a:p>
                      <a:r>
                        <a:rPr lang="en-US" sz="1400" kern="1200" dirty="0">
                          <a:solidFill>
                            <a:schemeClr val="tx1"/>
                          </a:solidFill>
                          <a:effectLst/>
                          <a:latin typeface="+mn-lt"/>
                          <a:ea typeface="+mn-ea"/>
                          <a:cs typeface="+mn-cs"/>
                        </a:rPr>
                        <a:t>Economic Return</a:t>
                      </a:r>
                    </a:p>
                    <a:p>
                      <a:r>
                        <a:rPr lang="en-US" sz="1400" kern="1200" dirty="0">
                          <a:solidFill>
                            <a:schemeClr val="tx1"/>
                          </a:solidFill>
                          <a:effectLst/>
                          <a:latin typeface="+mn-lt"/>
                          <a:ea typeface="+mn-ea"/>
                          <a:cs typeface="+mn-cs"/>
                        </a:rPr>
                        <a:t>Environment</a:t>
                      </a:r>
                    </a:p>
                    <a:p>
                      <a:r>
                        <a:rPr lang="en-US" sz="1400" kern="1200" dirty="0">
                          <a:solidFill>
                            <a:schemeClr val="tx1"/>
                          </a:solidFill>
                          <a:effectLst/>
                          <a:latin typeface="+mn-lt"/>
                          <a:ea typeface="+mn-ea"/>
                          <a:cs typeface="+mn-cs"/>
                        </a:rPr>
                        <a:t>Interfaces</a:t>
                      </a:r>
                    </a:p>
                    <a:p>
                      <a:pPr marL="176213" marR="0" lvl="0" indent="-176213" algn="l" defTabSz="914400" rtl="0" eaLnBrk="1" fontAlgn="auto" latinLnBrk="0" hangingPunct="1">
                        <a:lnSpc>
                          <a:spcPct val="100000"/>
                        </a:lnSpc>
                        <a:spcBef>
                          <a:spcPts val="0"/>
                        </a:spcBef>
                        <a:spcAft>
                          <a:spcPts val="0"/>
                        </a:spcAft>
                        <a:buClrTx/>
                        <a:buSzTx/>
                        <a:buFontTx/>
                        <a:buNone/>
                        <a:tabLst/>
                        <a:defRPr/>
                      </a:pPr>
                      <a:r>
                        <a:rPr lang="en-US" sz="1400" kern="1200" dirty="0">
                          <a:solidFill>
                            <a:schemeClr val="tx1"/>
                          </a:solidFill>
                          <a:effectLst/>
                          <a:latin typeface="+mn-lt"/>
                          <a:ea typeface="+mn-ea"/>
                          <a:cs typeface="+mn-cs"/>
                        </a:rPr>
                        <a:t>- Communication</a:t>
                      </a:r>
                      <a:r>
                        <a:rPr lang="en-US" sz="1400" kern="1200" baseline="0" dirty="0">
                          <a:solidFill>
                            <a:schemeClr val="tx1"/>
                          </a:solidFill>
                          <a:effectLst/>
                          <a:latin typeface="+mn-lt"/>
                          <a:ea typeface="+mn-ea"/>
                          <a:cs typeface="+mn-cs"/>
                        </a:rPr>
                        <a:t> relay and interoperable through NOAA ground stations</a:t>
                      </a:r>
                      <a:endParaRPr lang="en-US" sz="1400" kern="1200" dirty="0">
                        <a:solidFill>
                          <a:schemeClr val="tx1"/>
                        </a:solidFill>
                        <a:effectLst/>
                        <a:latin typeface="+mn-lt"/>
                        <a:ea typeface="+mn-ea"/>
                        <a:cs typeface="+mn-cs"/>
                      </a:endParaRPr>
                    </a:p>
                    <a:p>
                      <a:r>
                        <a:rPr lang="en-US" sz="1400" kern="1200" dirty="0">
                          <a:solidFill>
                            <a:schemeClr val="tx1"/>
                          </a:solidFill>
                          <a:effectLst/>
                          <a:latin typeface="+mn-lt"/>
                          <a:ea typeface="+mn-ea"/>
                          <a:cs typeface="+mn-cs"/>
                        </a:rPr>
                        <a:t>Development Constraints</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1400" kern="1200" dirty="0">
                          <a:solidFill>
                            <a:schemeClr val="tx1"/>
                          </a:solidFill>
                          <a:effectLst/>
                          <a:latin typeface="+mn-lt"/>
                          <a:ea typeface="+mn-ea"/>
                          <a:cs typeface="+mn-cs"/>
                        </a:rPr>
                        <a:t>Launch</a:t>
                      </a:r>
                      <a:r>
                        <a:rPr lang="en-US" sz="1400" kern="1200" baseline="0" dirty="0">
                          <a:solidFill>
                            <a:schemeClr val="tx1"/>
                          </a:solidFill>
                          <a:effectLst/>
                          <a:latin typeface="+mn-lt"/>
                          <a:ea typeface="+mn-ea"/>
                          <a:cs typeface="+mn-cs"/>
                        </a:rPr>
                        <a:t> on Shuttle or expendable</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1400" kern="1200" baseline="0" dirty="0">
                          <a:solidFill>
                            <a:schemeClr val="tx1"/>
                          </a:solidFill>
                          <a:effectLst/>
                          <a:latin typeface="+mn-lt"/>
                          <a:ea typeface="+mn-ea"/>
                          <a:cs typeface="+mn-cs"/>
                        </a:rPr>
                        <a:t>No unique operations people at data distribution nodes</a:t>
                      </a:r>
                      <a:endParaRPr lang="en-US" sz="1400" kern="1200" dirty="0">
                        <a:solidFill>
                          <a:schemeClr val="tx1"/>
                        </a:solidFill>
                        <a:effectLst/>
                        <a:latin typeface="+mn-lt"/>
                        <a:ea typeface="+mn-ea"/>
                        <a:cs typeface="+mn-cs"/>
                      </a:endParaRPr>
                    </a:p>
                    <a:p>
                      <a:r>
                        <a:rPr lang="en-US" sz="1400" kern="1200" dirty="0">
                          <a:solidFill>
                            <a:schemeClr val="tx1"/>
                          </a:solidFill>
                          <a:effectLst/>
                          <a:latin typeface="+mn-lt"/>
                          <a:ea typeface="+mn-ea"/>
                          <a:cs typeface="+mn-cs"/>
                        </a:rPr>
                        <a:t>Spacecraft Disposal</a:t>
                      </a: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
        <p:nvSpPr>
          <p:cNvPr id="3" name="Slide Number Placeholder 3">
            <a:extLst>
              <a:ext uri="{FF2B5EF4-FFF2-40B4-BE49-F238E27FC236}">
                <a16:creationId xmlns:a16="http://schemas.microsoft.com/office/drawing/2014/main" id="{8BEE8371-0165-46E6-11BB-DC216FA04C42}"/>
              </a:ext>
            </a:extLst>
          </p:cNvPr>
          <p:cNvSpPr>
            <a:spLocks noGrp="1"/>
          </p:cNvSpPr>
          <p:nvPr>
            <p:ph type="sldNum" sz="quarter" idx="12"/>
          </p:nvPr>
        </p:nvSpPr>
        <p:spPr>
          <a:xfrm>
            <a:off x="7040236" y="6465106"/>
            <a:ext cx="2057400" cy="365125"/>
          </a:xfrm>
        </p:spPr>
        <p:txBody>
          <a:bodyPr/>
          <a:lstStyle/>
          <a:p>
            <a:fld id="{9A3029B7-FE6B-4680-9049-80E8298A0825}" type="slidenum">
              <a:rPr lang="en-US" smtClean="0"/>
              <a:t>38</a:t>
            </a:fld>
            <a:endParaRPr lang="en-US"/>
          </a:p>
        </p:txBody>
      </p:sp>
    </p:spTree>
    <p:extLst>
      <p:ext uri="{BB962C8B-B14F-4D97-AF65-F5344CB8AC3E}">
        <p14:creationId xmlns:p14="http://schemas.microsoft.com/office/powerpoint/2010/main" val="2299477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EB069-6E90-76D9-C11A-E685B163B60C}"/>
              </a:ext>
            </a:extLst>
          </p:cNvPr>
          <p:cNvSpPr>
            <a:spLocks noGrp="1"/>
          </p:cNvSpPr>
          <p:nvPr>
            <p:ph type="title"/>
          </p:nvPr>
        </p:nvSpPr>
        <p:spPr/>
        <p:txBody>
          <a:bodyPr/>
          <a:lstStyle/>
          <a:p>
            <a:r>
              <a:rPr lang="en-US" dirty="0" err="1"/>
              <a:t>Astr</a:t>
            </a:r>
            <a:r>
              <a:rPr lang="en-US" dirty="0"/>
              <a:t> Engr 423 Space Mission Design</a:t>
            </a:r>
          </a:p>
        </p:txBody>
      </p:sp>
      <p:sp>
        <p:nvSpPr>
          <p:cNvPr id="3" name="Content Placeholder 2">
            <a:extLst>
              <a:ext uri="{FF2B5EF4-FFF2-40B4-BE49-F238E27FC236}">
                <a16:creationId xmlns:a16="http://schemas.microsoft.com/office/drawing/2014/main" id="{3F479D30-A667-E737-3C87-ADCDB7045C21}"/>
              </a:ext>
            </a:extLst>
          </p:cNvPr>
          <p:cNvSpPr>
            <a:spLocks noGrp="1"/>
          </p:cNvSpPr>
          <p:nvPr>
            <p:ph idx="1"/>
          </p:nvPr>
        </p:nvSpPr>
        <p:spPr/>
        <p:txBody>
          <a:bodyPr/>
          <a:lstStyle/>
          <a:p>
            <a:endParaRPr lang="en-US" dirty="0"/>
          </a:p>
          <a:p>
            <a:pPr marL="0" indent="0">
              <a:buNone/>
            </a:pPr>
            <a:r>
              <a:rPr lang="en-US" b="1" dirty="0" err="1"/>
              <a:t>Astr</a:t>
            </a:r>
            <a:r>
              <a:rPr lang="en-US" b="1" dirty="0"/>
              <a:t> Engr 423. </a:t>
            </a:r>
            <a:r>
              <a:rPr lang="en-US" b="1" i="1" dirty="0"/>
              <a:t>Space Mission Design. </a:t>
            </a:r>
            <a:r>
              <a:rPr lang="en-US" dirty="0"/>
              <a:t>3(1). An advanced mission design course for civilian and military space applications. The course focuses on applying numerical and analytical techniques to solve realistic problems for space missions involving maneuvering and trajectory design. </a:t>
            </a:r>
            <a:r>
              <a:rPr lang="en-US" dirty="0">
                <a:solidFill>
                  <a:srgbClr val="0070C0"/>
                </a:solidFill>
              </a:rPr>
              <a:t>Topics include advanced proximity operations, cislunar trajectories, hypersonic reentry, and other dynamic space operations</a:t>
            </a:r>
            <a:r>
              <a:rPr lang="en-US" dirty="0"/>
              <a:t>. Structured computer programming is applied to analyze space missions. Final project. </a:t>
            </a:r>
            <a:r>
              <a:rPr lang="en-US" dirty="0" err="1"/>
              <a:t>Prereq</a:t>
            </a:r>
            <a:r>
              <a:rPr lang="en-US" dirty="0"/>
              <a:t>: </a:t>
            </a:r>
            <a:r>
              <a:rPr lang="en-US" dirty="0" err="1"/>
              <a:t>Astr</a:t>
            </a:r>
            <a:r>
              <a:rPr lang="en-US" dirty="0"/>
              <a:t> Engr 321. Sem </a:t>
            </a:r>
            <a:r>
              <a:rPr lang="en-US" dirty="0" err="1"/>
              <a:t>hrs</a:t>
            </a:r>
            <a:r>
              <a:rPr lang="en-US" dirty="0"/>
              <a:t>: 3 fall.</a:t>
            </a:r>
          </a:p>
        </p:txBody>
      </p:sp>
      <p:sp>
        <p:nvSpPr>
          <p:cNvPr id="4" name="Slide Number Placeholder 3">
            <a:extLst>
              <a:ext uri="{FF2B5EF4-FFF2-40B4-BE49-F238E27FC236}">
                <a16:creationId xmlns:a16="http://schemas.microsoft.com/office/drawing/2014/main" id="{3D5ADC70-FA7F-7CAD-15DF-30A209F05509}"/>
              </a:ext>
            </a:extLst>
          </p:cNvPr>
          <p:cNvSpPr>
            <a:spLocks noGrp="1"/>
          </p:cNvSpPr>
          <p:nvPr>
            <p:ph type="sldNum" sz="quarter" idx="12"/>
          </p:nvPr>
        </p:nvSpPr>
        <p:spPr/>
        <p:txBody>
          <a:bodyPr/>
          <a:lstStyle/>
          <a:p>
            <a:fld id="{9A3029B7-FE6B-4680-9049-80E8298A0825}" type="slidenum">
              <a:rPr lang="en-US" smtClean="0"/>
              <a:t>39</a:t>
            </a:fld>
            <a:endParaRPr lang="en-US"/>
          </a:p>
        </p:txBody>
      </p:sp>
    </p:spTree>
    <p:extLst>
      <p:ext uri="{BB962C8B-B14F-4D97-AF65-F5344CB8AC3E}">
        <p14:creationId xmlns:p14="http://schemas.microsoft.com/office/powerpoint/2010/main" val="3610146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49237-97BD-F7AB-216F-44F12989108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51CA697-A035-5ED9-23BA-90DFE618734A}"/>
              </a:ext>
            </a:extLst>
          </p:cNvPr>
          <p:cNvSpPr>
            <a:spLocks noGrp="1"/>
          </p:cNvSpPr>
          <p:nvPr>
            <p:ph idx="1"/>
          </p:nvPr>
        </p:nvSpPr>
        <p:spPr/>
        <p:txBody>
          <a:bodyPr/>
          <a:lstStyle/>
          <a:p>
            <a:endParaRPr lang="en-US" dirty="0"/>
          </a:p>
        </p:txBody>
      </p:sp>
      <p:grpSp>
        <p:nvGrpSpPr>
          <p:cNvPr id="4" name="Group">
            <a:extLst>
              <a:ext uri="{FF2B5EF4-FFF2-40B4-BE49-F238E27FC236}">
                <a16:creationId xmlns:a16="http://schemas.microsoft.com/office/drawing/2014/main" id="{3FC2EFFA-2268-F003-20CA-EEFE6F296073}"/>
              </a:ext>
            </a:extLst>
          </p:cNvPr>
          <p:cNvGrpSpPr/>
          <p:nvPr/>
        </p:nvGrpSpPr>
        <p:grpSpPr>
          <a:xfrm>
            <a:off x="70813" y="0"/>
            <a:ext cx="9002374" cy="6858000"/>
            <a:chOff x="-892440" y="-696400"/>
            <a:chExt cx="12141317" cy="8942177"/>
          </a:xfrm>
        </p:grpSpPr>
        <p:pic>
          <p:nvPicPr>
            <p:cNvPr id="5" name="Screen Shot 2021-10-29 at 5.06.29 PM.png" descr="Screen Shot 2021-10-29 at 5.06.29 PM.png">
              <a:extLst>
                <a:ext uri="{FF2B5EF4-FFF2-40B4-BE49-F238E27FC236}">
                  <a16:creationId xmlns:a16="http://schemas.microsoft.com/office/drawing/2014/main" id="{FD3E0780-9D5F-45C1-5829-CEBB897E2A30}"/>
                </a:ext>
              </a:extLst>
            </p:cNvPr>
            <p:cNvPicPr>
              <a:picLocks noChangeAspect="1"/>
            </p:cNvPicPr>
            <p:nvPr/>
          </p:nvPicPr>
          <p:blipFill>
            <a:blip r:embed="rId2"/>
            <a:stretch>
              <a:fillRect/>
            </a:stretch>
          </p:blipFill>
          <p:spPr>
            <a:xfrm>
              <a:off x="-892440" y="-696400"/>
              <a:ext cx="12141317" cy="8942177"/>
            </a:xfrm>
            <a:prstGeom prst="rect">
              <a:avLst/>
            </a:prstGeom>
            <a:ln w="12700" cap="flat">
              <a:noFill/>
              <a:miter lim="400000"/>
            </a:ln>
            <a:effectLst/>
          </p:spPr>
        </p:pic>
        <p:sp>
          <p:nvSpPr>
            <p:cNvPr id="6" name="Rectangle">
              <a:extLst>
                <a:ext uri="{FF2B5EF4-FFF2-40B4-BE49-F238E27FC236}">
                  <a16:creationId xmlns:a16="http://schemas.microsoft.com/office/drawing/2014/main" id="{FEE0F0EA-AFC7-120C-E246-351BBF8BAD52}"/>
                </a:ext>
              </a:extLst>
            </p:cNvPr>
            <p:cNvSpPr/>
            <p:nvPr/>
          </p:nvSpPr>
          <p:spPr>
            <a:xfrm>
              <a:off x="7341268" y="4406262"/>
              <a:ext cx="978723" cy="474469"/>
            </a:xfrm>
            <a:prstGeom prst="rect">
              <a:avLst/>
            </a:prstGeom>
            <a:solidFill>
              <a:srgbClr val="FFFFFF"/>
            </a:solidFill>
            <a:ln w="38100" cap="flat">
              <a:solidFill>
                <a:srgbClr val="FFFFFF"/>
              </a:solidFill>
              <a:prstDash val="solid"/>
              <a:miter lim="400000"/>
            </a:ln>
            <a:effectLst/>
          </p:spPr>
          <p:txBody>
            <a:bodyPr wrap="square" lIns="76200" tIns="76200" rIns="76200" bIns="76200" numCol="1" anchor="ctr">
              <a:noAutofit/>
            </a:bodyPr>
            <a:lstStyle/>
            <a:p>
              <a:pPr marR="0" algn="ctr" defTabSz="647700">
                <a:defRPr sz="5600">
                  <a:solidFill>
                    <a:srgbClr val="FFFFFF"/>
                  </a:solidFill>
                  <a:effectLst>
                    <a:outerShdw blurRad="63500" dist="25400" dir="2700000" rotWithShape="0">
                      <a:srgbClr val="000000">
                        <a:alpha val="70000"/>
                      </a:srgbClr>
                    </a:outerShdw>
                  </a:effectLst>
                  <a:uFillTx/>
                  <a:latin typeface="Arial"/>
                  <a:ea typeface="Arial"/>
                  <a:cs typeface="Arial"/>
                  <a:sym typeface="Arial"/>
                </a:defRPr>
              </a:pPr>
              <a:endParaRPr/>
            </a:p>
          </p:txBody>
        </p:sp>
      </p:grpSp>
    </p:spTree>
    <p:extLst>
      <p:ext uri="{BB962C8B-B14F-4D97-AF65-F5344CB8AC3E}">
        <p14:creationId xmlns:p14="http://schemas.microsoft.com/office/powerpoint/2010/main" val="185890072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0C902C3CBC54D4FA7075784AD88F5EC" ma:contentTypeVersion="21" ma:contentTypeDescription="Create a new document." ma:contentTypeScope="" ma:versionID="c08fcfd817066be31f8f1ca0ac65db2f">
  <xsd:schema xmlns:xsd="http://www.w3.org/2001/XMLSchema" xmlns:xs="http://www.w3.org/2001/XMLSchema" xmlns:p="http://schemas.microsoft.com/office/2006/metadata/properties" xmlns:ns1="http://schemas.microsoft.com/sharepoint/v3" xmlns:ns2="7584c457-6b5a-4caa-be47-be979cbe6555" xmlns:ns3="723aa48c-73f2-40da-86b1-f1ae286477fe" targetNamespace="http://schemas.microsoft.com/office/2006/metadata/properties" ma:root="true" ma:fieldsID="795b92cbcc638951d3b8bb33cdebaea5" ns1:_="" ns2:_="" ns3:_="">
    <xsd:import namespace="http://schemas.microsoft.com/sharepoint/v3"/>
    <xsd:import namespace="7584c457-6b5a-4caa-be47-be979cbe6555"/>
    <xsd:import namespace="723aa48c-73f2-40da-86b1-f1ae286477fe"/>
    <xsd:element name="properties">
      <xsd:complexType>
        <xsd:sequence>
          <xsd:element name="documentManagement">
            <xsd:complexType>
              <xsd:all>
                <xsd:element ref="ns2:MediaServiceMetadata" minOccurs="0"/>
                <xsd:element ref="ns2:MediaServiceFastMetadata" minOccurs="0"/>
                <xsd:element ref="ns1:_ip_UnifiedCompliancePolicyProperties" minOccurs="0"/>
                <xsd:element ref="ns1:_ip_UnifiedCompliancePolicyUIAc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Location" minOccurs="0"/>
                <xsd:element ref="ns2:MediaServiceOCR"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0" nillable="true" ma:displayName="Unified Compliance Policy Properties" ma:hidden="true" ma:internalName="_ip_UnifiedCompliancePolicyProperties">
      <xsd:simpleType>
        <xsd:restriction base="dms:Note"/>
      </xsd:simpleType>
    </xsd:element>
    <xsd:element name="_ip_UnifiedCompliancePolicyUIAction" ma:index="1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584c457-6b5a-4caa-be47-be979cbe655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LengthInSeconds" ma:index="22" nillable="true" ma:displayName="Length (seconds)" ma:internalName="MediaLengthInSeconds" ma:readOnly="true">
      <xsd:simpleType>
        <xsd:restriction base="dms:Unknow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d16a427a-858a-487d-80a3-21f23792e06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23aa48c-73f2-40da-86b1-f1ae286477fe" elementFormDefault="qualified">
    <xsd:import namespace="http://schemas.microsoft.com/office/2006/documentManagement/types"/>
    <xsd:import namespace="http://schemas.microsoft.com/office/infopath/2007/PartnerControls"/>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18387b12-f69f-4719-8b38-c3231d645ace}" ma:internalName="TaxCatchAll" ma:showField="CatchAllData" ma:web="723aa48c-73f2-40da-86b1-f1ae286477f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723aa48c-73f2-40da-86b1-f1ae286477fe" xsi:nil="true"/>
    <lcf76f155ced4ddcb4097134ff3c332f xmlns="7584c457-6b5a-4caa-be47-be979cbe6555">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369AE44-8CFD-4B3E-B167-98E7BD11C52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584c457-6b5a-4caa-be47-be979cbe6555"/>
    <ds:schemaRef ds:uri="723aa48c-73f2-40da-86b1-f1ae286477f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EFCEEB1-216E-4149-96B7-D065E20F46F5}">
  <ds:schemaRefs>
    <ds:schemaRef ds:uri="http://schemas.microsoft.com/office/infopath/2007/PartnerControls"/>
    <ds:schemaRef ds:uri="http://purl.org/dc/elements/1.1/"/>
    <ds:schemaRef ds:uri="http://schemas.microsoft.com/office/2006/metadata/properties"/>
    <ds:schemaRef ds:uri="7584c457-6b5a-4caa-be47-be979cbe6555"/>
    <ds:schemaRef ds:uri="http://schemas.microsoft.com/sharepoint/v3"/>
    <ds:schemaRef ds:uri="http://purl.org/dc/terms/"/>
    <ds:schemaRef ds:uri="http://schemas.openxmlformats.org/package/2006/metadata/core-properties"/>
    <ds:schemaRef ds:uri="http://schemas.microsoft.com/office/2006/documentManagement/types"/>
    <ds:schemaRef ds:uri="723aa48c-73f2-40da-86b1-f1ae286477fe"/>
    <ds:schemaRef ds:uri="http://www.w3.org/XML/1998/namespace"/>
    <ds:schemaRef ds:uri="http://purl.org/dc/dcmitype/"/>
  </ds:schemaRefs>
</ds:datastoreItem>
</file>

<file path=customXml/itemProps3.xml><?xml version="1.0" encoding="utf-8"?>
<ds:datastoreItem xmlns:ds="http://schemas.openxmlformats.org/officeDocument/2006/customXml" ds:itemID="{91F0888F-19EE-47AC-B5E5-686790EC89FC}">
  <ds:schemaRefs>
    <ds:schemaRef ds:uri="http://schemas.microsoft.com/sharepoint/v3/contenttype/forms"/>
  </ds:schemaRefs>
</ds:datastoreItem>
</file>

<file path=docMetadata/LabelInfo.xml><?xml version="1.0" encoding="utf-8"?>
<clbl:labelList xmlns:clbl="http://schemas.microsoft.com/office/2020/mipLabelMetadata">
  <clbl:label id="{7ab80a06-f029-45c0-84d1-7dad19ce3c61}" enabled="0" method="" siteId="{7ab80a06-f029-45c0-84d1-7dad19ce3c61}" removed="1"/>
</clbl:labelList>
</file>

<file path=docProps/app.xml><?xml version="1.0" encoding="utf-8"?>
<Properties xmlns="http://schemas.openxmlformats.org/officeDocument/2006/extended-properties" xmlns:vt="http://schemas.openxmlformats.org/officeDocument/2006/docPropsVTypes">
  <Template>Office Theme</Template>
  <TotalTime>13954</TotalTime>
  <Words>5199</Words>
  <Application>Microsoft Office PowerPoint</Application>
  <PresentationFormat>Letter Paper (8.5x11 in)</PresentationFormat>
  <Paragraphs>574</Paragraphs>
  <Slides>40</Slides>
  <Notes>18</Notes>
  <HiddenSlides>4</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40</vt:i4>
      </vt:variant>
    </vt:vector>
  </HeadingPairs>
  <TitlesOfParts>
    <vt:vector size="48" baseType="lpstr">
      <vt:lpstr>-apple-system</vt:lpstr>
      <vt:lpstr>Aptos</vt:lpstr>
      <vt:lpstr>Arial</vt:lpstr>
      <vt:lpstr>Segoe UI</vt:lpstr>
      <vt:lpstr>Symbol</vt:lpstr>
      <vt:lpstr>Times</vt:lpstr>
      <vt:lpstr>Wingdings</vt:lpstr>
      <vt:lpstr>Office Theme</vt:lpstr>
      <vt:lpstr>Lesson 2</vt:lpstr>
      <vt:lpstr>Status</vt:lpstr>
      <vt:lpstr>What plane is this?</vt:lpstr>
      <vt:lpstr>Reverse Engineering</vt:lpstr>
      <vt:lpstr>Requirements</vt:lpstr>
      <vt:lpstr>A spacecraft according to…</vt:lpstr>
      <vt:lpstr>Exercise</vt:lpstr>
      <vt:lpstr>Requirements</vt:lpstr>
      <vt:lpstr>The Importance of Requirements</vt:lpstr>
      <vt:lpstr>The Importance of Getting the Requirements Right</vt:lpstr>
      <vt:lpstr>Types of Requirements</vt:lpstr>
      <vt:lpstr>Good Requirements Are</vt:lpstr>
      <vt:lpstr>Properties of Good Requirements</vt:lpstr>
      <vt:lpstr>Rules for Writing Good Requirements</vt:lpstr>
      <vt:lpstr>More Rules for Writing Good Requirements</vt:lpstr>
      <vt:lpstr>Do Not Use in Requirements</vt:lpstr>
      <vt:lpstr>Goodness Checklist: Is this Requirement…</vt:lpstr>
      <vt:lpstr>Example Requirements: Good or Bad?</vt:lpstr>
      <vt:lpstr>Rationale Captures the Motivation and  Assumptions of a Requirement</vt:lpstr>
      <vt:lpstr>Space Example Requirement &amp; Rationale</vt:lpstr>
      <vt:lpstr>Exercise Cont.</vt:lpstr>
      <vt:lpstr>Requirement Allocation and Closure</vt:lpstr>
      <vt:lpstr>PowerPoint Presentation</vt:lpstr>
      <vt:lpstr>Requirements Validation</vt:lpstr>
      <vt:lpstr>Requirements Validation</vt:lpstr>
      <vt:lpstr>NASA Example (poorly defined requirement)</vt:lpstr>
      <vt:lpstr>PowerPoint Presentation</vt:lpstr>
      <vt:lpstr>Mission Design</vt:lpstr>
      <vt:lpstr>Systems engineering V-diagram</vt:lpstr>
      <vt:lpstr>Systems engineering V-diagram (detailed)</vt:lpstr>
      <vt:lpstr>Development Cycle</vt:lpstr>
      <vt:lpstr>Common Mission Milestones</vt:lpstr>
      <vt:lpstr>Mission Elements</vt:lpstr>
      <vt:lpstr>Main Players</vt:lpstr>
      <vt:lpstr>CONOPS</vt:lpstr>
      <vt:lpstr>PowerPoint Presentation</vt:lpstr>
      <vt:lpstr>PowerPoint Presentation</vt:lpstr>
      <vt:lpstr>FireSat Requirements &amp; Constraints</vt:lpstr>
      <vt:lpstr>Astr Engr 423 Space Mission Design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Harris, Wyatt J Lt Col USAF USAFA DF/DFAS</dc:creator>
  <cp:lastModifiedBy>Harris, Wyatt J Lt Col USAF USAFA DF/DFAS</cp:lastModifiedBy>
  <cp:revision>2</cp:revision>
  <cp:lastPrinted>2025-08-01T16:37:26Z</cp:lastPrinted>
  <dcterms:created xsi:type="dcterms:W3CDTF">2025-07-17T17:53:42Z</dcterms:created>
  <dcterms:modified xsi:type="dcterms:W3CDTF">2026-01-08T16:30:00Z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0x010100E0C902C3CBC54D4FA7075784AD88F5EC</vt:lpwstr>
  </property>
  <property fmtid="{D5CDD505-2E9C-101B-9397-08002B2CF9AE}" pid="3" name="MediaServiceImageTags">
    <vt:lpwstr/>
  </property>
</Properties>
</file>