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6" r:id="rId5"/>
    <p:sldId id="318" r:id="rId6"/>
    <p:sldId id="323" r:id="rId7"/>
    <p:sldId id="324" r:id="rId8"/>
    <p:sldId id="305" r:id="rId9"/>
    <p:sldId id="325" r:id="rId10"/>
    <p:sldId id="310" r:id="rId11"/>
    <p:sldId id="327" r:id="rId12"/>
    <p:sldId id="328" r:id="rId13"/>
    <p:sldId id="329" r:id="rId14"/>
    <p:sldId id="313" r:id="rId15"/>
    <p:sldId id="315" r:id="rId16"/>
    <p:sldId id="316" r:id="rId17"/>
  </p:sldIdLst>
  <p:sldSz cx="9144000" cy="6858000" type="screen4x3"/>
  <p:notesSz cx="9101138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FF66"/>
    <a:srgbClr val="66CCFF"/>
    <a:srgbClr val="CCFF99"/>
    <a:srgbClr val="FFCC99"/>
    <a:srgbClr val="FFCCFF"/>
    <a:srgbClr val="CCECFF"/>
    <a:srgbClr val="FFFF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24" autoAdjust="0"/>
  </p:normalViewPr>
  <p:slideViewPr>
    <p:cSldViewPr snapToGrid="0">
      <p:cViewPr varScale="1">
        <p:scale>
          <a:sx n="53" d="100"/>
          <a:sy n="53" d="100"/>
        </p:scale>
        <p:origin x="15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46003" cy="3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84" tIns="45593" rIns="91184" bIns="45593" numCol="1" anchor="t" anchorCtr="0" compatLnSpc="1">
            <a:prstTxWarp prst="textNoShape">
              <a:avLst/>
            </a:prstTxWarp>
          </a:bodyPr>
          <a:lstStyle>
            <a:lvl1pPr defTabSz="912652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52028" y="0"/>
            <a:ext cx="3947556" cy="3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84" tIns="45593" rIns="91184" bIns="45593" numCol="1" anchor="t" anchorCtr="0" compatLnSpc="1">
            <a:prstTxWarp prst="textNoShape">
              <a:avLst/>
            </a:prstTxWarp>
          </a:bodyPr>
          <a:lstStyle>
            <a:lvl1pPr algn="r" defTabSz="912652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236"/>
            <a:ext cx="3946003" cy="3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84" tIns="45593" rIns="91184" bIns="45593" numCol="1" anchor="b" anchorCtr="0" compatLnSpc="1">
            <a:prstTxWarp prst="textNoShape">
              <a:avLst/>
            </a:prstTxWarp>
          </a:bodyPr>
          <a:lstStyle>
            <a:lvl1pPr defTabSz="912652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52028" y="6513236"/>
            <a:ext cx="3947556" cy="34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84" tIns="45593" rIns="91184" bIns="45593" numCol="1" anchor="b" anchorCtr="0" compatLnSpc="1">
            <a:prstTxWarp prst="textNoShape">
              <a:avLst/>
            </a:prstTxWarp>
          </a:bodyPr>
          <a:lstStyle>
            <a:lvl1pPr algn="r" defTabSz="912652">
              <a:defRPr sz="1200">
                <a:latin typeface="Arial" charset="0"/>
              </a:defRPr>
            </a:lvl1pPr>
          </a:lstStyle>
          <a:p>
            <a:pPr>
              <a:defRPr/>
            </a:pPr>
            <a:fld id="{C78F81F3-36E1-47D6-8FD9-F7E9A13E3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62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4335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54613" y="0"/>
            <a:ext cx="3944937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508F0-B3C4-4676-89F0-715E08FC4B67}" type="datetimeFigureOut">
              <a:rPr lang="en-US" smtClean="0"/>
              <a:t>1/2/2022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06725" y="857250"/>
            <a:ext cx="3087688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9638" y="3300413"/>
            <a:ext cx="7281862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4335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54613" y="6513513"/>
            <a:ext cx="3944937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CCCC-8DBA-49BA-ACFC-4D0DC7DA7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154363" y="914400"/>
            <a:ext cx="3292475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Forsberg and </a:t>
            </a:r>
            <a:r>
              <a:rPr lang="en-US" altLang="en-US" dirty="0" err="1" smtClean="0">
                <a:latin typeface="Arial" panose="020B0604020202020204" pitchFamily="34" charset="0"/>
              </a:rPr>
              <a:t>Mooz</a:t>
            </a:r>
            <a:r>
              <a:rPr lang="en-US" altLang="en-US" dirty="0" smtClean="0">
                <a:latin typeface="Arial" panose="020B0604020202020204" pitchFamily="34" charset="0"/>
              </a:rPr>
              <a:t> developed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Decomposition on the left down to an architecture, verification and testing up the right side to meet the original customer needs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At all levels the original needs and requirements are verified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799D20-18E2-4714-8420-C5241A391F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02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CDF89-FC78-4476-9D1F-4720A39070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4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BBDA3-BE8A-4840-BDC4-7C423F6A6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4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5B951-26D8-49AA-B213-4D50C9E1F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2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0B773-0897-43FD-BC26-CA1F5E38F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5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764DD-B1D3-472F-A002-6FBB2064DD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22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C41B6-1AD4-4F05-97D3-3FE6B4A2E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7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20EBB-A61F-4D00-ABB1-E7D9080E86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6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82088-24F4-4B96-8F45-5769381790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9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9DF44-B688-463A-96A9-A23F17CE71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0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7D47D-9A7E-4461-AAE2-8DEDFF756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2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DABA0-1E1B-479B-A4BB-8117B14949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21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EF945-E5F7-4035-9458-93138BFFC4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58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3B1E1-A800-4270-B03E-2C84855BF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8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E7C19F1E-CC3B-446D-8287-3B8E0E416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Astro 331 Lesson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Mission </a:t>
            </a:r>
            <a:r>
              <a:rPr lang="en-US" dirty="0" smtClean="0"/>
              <a:t>Design and</a:t>
            </a:r>
          </a:p>
          <a:p>
            <a:r>
              <a:rPr lang="en-US" dirty="0" smtClean="0"/>
              <a:t>Requirements Definition</a:t>
            </a:r>
          </a:p>
          <a:p>
            <a:r>
              <a:rPr lang="en-US" dirty="0" smtClean="0"/>
              <a:t>SMAD </a:t>
            </a:r>
            <a:r>
              <a:rPr lang="en-US" dirty="0" err="1" smtClean="0"/>
              <a:t>Ch</a:t>
            </a:r>
            <a:r>
              <a:rPr lang="en-US" dirty="0" smtClean="0"/>
              <a:t> 1, 2.3 &amp; 4</a:t>
            </a:r>
          </a:p>
        </p:txBody>
      </p:sp>
    </p:spTree>
    <p:extLst>
      <p:ext uri="{BB962C8B-B14F-4D97-AF65-F5344CB8AC3E}">
        <p14:creationId xmlns:p14="http://schemas.microsoft.com/office/powerpoint/2010/main" val="13924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8352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Summarize the major steps in the space mission analysis and design (SMAD) process</a:t>
            </a:r>
          </a:p>
          <a:p>
            <a:pPr lvl="0"/>
            <a:r>
              <a:rPr lang="en-US" dirty="0"/>
              <a:t>List and describe the sub elements of a space mission architecture</a:t>
            </a:r>
          </a:p>
          <a:p>
            <a:pPr lvl="0"/>
            <a:r>
              <a:rPr lang="en-US" dirty="0"/>
              <a:t>List and describe common system drivers of a spacecraft mission</a:t>
            </a:r>
          </a:p>
          <a:p>
            <a:pPr lvl="0"/>
            <a:r>
              <a:rPr lang="en-US" dirty="0"/>
              <a:t>Understand the terms “allocation” and “closure” as they pertain to requirements</a:t>
            </a:r>
          </a:p>
          <a:p>
            <a:pPr lvl="0"/>
            <a:r>
              <a:rPr lang="en-US" dirty="0"/>
              <a:t>List and describe the eight properties of good requirements</a:t>
            </a:r>
          </a:p>
          <a:p>
            <a:pPr lvl="0"/>
            <a:r>
              <a:rPr lang="en-US" dirty="0"/>
              <a:t>Critique a given set of requirements and offer suggestions for improvement where applicable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25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ace Mission Analysis - ppt video onlin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2" y="0"/>
            <a:ext cx="8906105" cy="667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94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Space Mission Analysis - ppt video onlin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22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423"/>
            <a:ext cx="8229600" cy="1143000"/>
          </a:xfrm>
        </p:spPr>
        <p:txBody>
          <a:bodyPr/>
          <a:lstStyle/>
          <a:p>
            <a:r>
              <a:rPr lang="en-US" sz="3600" dirty="0" err="1" smtClean="0">
                <a:solidFill>
                  <a:srgbClr val="0000FF"/>
                </a:solidFill>
              </a:rPr>
              <a:t>FireSAT</a:t>
            </a:r>
            <a:r>
              <a:rPr lang="en-US" sz="3600" dirty="0" smtClean="0"/>
              <a:t> Requirements &amp; Constraints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902434"/>
              </p:ext>
            </p:extLst>
          </p:nvPr>
        </p:nvGraphicFramePr>
        <p:xfrm>
          <a:off x="548640" y="982561"/>
          <a:ext cx="8138160" cy="536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Functional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Rqmts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Operational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Rqmts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Constraints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 m resolution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 m location accuracy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Coverage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for USA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Responsiveness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Send registered data within 30 min of detecting fire to up to 50 users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Secondary Mission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temperature levels for pest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Duration</a:t>
                      </a:r>
                    </a:p>
                    <a:p>
                      <a:pPr marL="176213" indent="-176213"/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At </a:t>
                      </a:r>
                      <a:r>
                        <a:rPr lang="en-US" sz="14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leat</a:t>
                      </a: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 </a:t>
                      </a:r>
                      <a:r>
                        <a:rPr lang="en-US" sz="140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Availability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98%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excluding weather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3-day maximum outage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Timeliness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Survivability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Natural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environment only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Distribution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Up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500 fire-monitoring office &amp; 2000 rangers worldwide with a max of 100 simultaneous users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Content, Form, &amp; Format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and extent of fire on any of 12 map bases</a:t>
                      </a:r>
                    </a:p>
                    <a:p>
                      <a:pPr marL="176213" indent="-176213">
                        <a:buFontTx/>
                        <a:buChar char="-"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temperature for each 30 square meter grid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Storage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&lt;$20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million/</a:t>
                      </a:r>
                      <a:r>
                        <a:rPr lang="en-US" sz="1400" kern="1200" baseline="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plus R&amp;D costs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5 </a:t>
                      </a:r>
                      <a:r>
                        <a:rPr lang="en-US" sz="1400" kern="1200" baseline="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yrs</a:t>
                      </a:r>
                      <a:endParaRPr lang="en-US" sz="1400" kern="1200" baseline="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 in 6 </a:t>
                      </a:r>
                      <a:r>
                        <a:rPr lang="en-US" sz="1400" kern="1200" baseline="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yrs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Regulations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NASA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mission (federal </a:t>
                      </a:r>
                      <a:r>
                        <a:rPr lang="en-US" sz="1400" kern="1200" baseline="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regs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procurement constraints apply)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Political Limits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Responsive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public demand for actions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Economic Return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Communication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relay and interoperable through NOAA ground stations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Development Constraints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</a:t>
                      </a: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on Shuttle or expendable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unique operations people at data distribution nodes</a:t>
                      </a:r>
                      <a:endParaRPr lang="en-US" sz="1400" kern="1200" dirty="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Spacecraft Disposal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72"/>
          <p:cNvSpPr>
            <a:spLocks/>
          </p:cNvSpPr>
          <p:nvPr/>
        </p:nvSpPr>
        <p:spPr bwMode="auto">
          <a:xfrm>
            <a:off x="3837293" y="6468406"/>
            <a:ext cx="5306707" cy="389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>
            <a:spAutoFit/>
          </a:bodyPr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</a:t>
            </a:r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 and Systems,</a:t>
            </a:r>
          </a:p>
          <a:p>
            <a:pPr algn="r"/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Teaching Science and Technology, Inc.</a:t>
            </a:r>
            <a:endParaRPr lang="en-US" altLang="en-US" sz="1266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93590" b="89677"/>
          <a:stretch/>
        </p:blipFill>
        <p:spPr>
          <a:xfrm>
            <a:off x="0" y="0"/>
            <a:ext cx="586154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7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ti Professional Development Short Course Space Mission Analysis Desi…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" t="9114" r="7312" b="15761"/>
          <a:stretch/>
        </p:blipFill>
        <p:spPr bwMode="auto">
          <a:xfrm>
            <a:off x="457200" y="334537"/>
            <a:ext cx="8290900" cy="569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37643" y="6177775"/>
            <a:ext cx="4010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Fig 1-3 Space Mission Architecture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62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sz="4400" dirty="0" smtClean="0"/>
              <a:t>Common System Drivers</a:t>
            </a:r>
            <a:endParaRPr lang="en-US" sz="4400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69422"/>
              </p:ext>
            </p:extLst>
          </p:nvPr>
        </p:nvGraphicFramePr>
        <p:xfrm>
          <a:off x="158750" y="1130301"/>
          <a:ext cx="8735219" cy="5274598"/>
        </p:xfrm>
        <a:graphic>
          <a:graphicData uri="http://schemas.openxmlformats.org/drawingml/2006/table">
            <a:tbl>
              <a:tblPr/>
              <a:tblGrid>
                <a:gridCol w="161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48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Driver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EDEE7"/>
                        </a:gs>
                        <a:gs pos="100000">
                          <a:srgbClr val="A0BECB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What Limits Driver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EDEE7"/>
                        </a:gs>
                        <a:gs pos="100000">
                          <a:srgbClr val="A0BECB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What Driver Limits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CEDEE7"/>
                        </a:gs>
                        <a:gs pos="100000">
                          <a:srgbClr val="A0BECB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28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Size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Shroud or bay size, available weight, aerodynamic drag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Payload size (frequently antenna diameter or aperture)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On-orbit Weight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Altitude, inclination, launch vehicle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Payload weight, survivability; largely determines design and manufacturing cost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28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Power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Size, weight (control is secondary problem)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Payload &amp; bus design, system sensitivity, on-orbit life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Data rate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Storage, processing, antenna sizes, limits of existing systems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Information sent to user; can push demand for onboard processing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Communications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Coverage, availability of ground stations or relay satellites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Coverage, timeliness, ability to command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02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Pointing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Cost, mass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Resolution, geolocation, overall system accuracy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02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Number of Spacecraft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Cost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 frequency, and overlap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Altitude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Launch vehicle, performance demands, weight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Performance, survivability, coverage (instantaneous and rate), communications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 (geometry and timing)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Orbit, scheduling, payload field of view &amp; observation time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Data frequency and continuity, maneuver requirements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45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Scheduling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Timeline &amp; operations, decision making, communications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Coverage, responsiveness, mission utility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458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Operations</a:t>
                      </a:r>
                    </a:p>
                  </a:txBody>
                  <a:tcPr marL="41627" marR="41627" marT="41627" marB="41627" anchor="ctr" horzOverflow="overflow">
                    <a:lnL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Cost, crew size, communications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buSzPct val="100000"/>
                        <a:buFont typeface="Arial" panose="020B0604020202020204" pitchFamily="34" charset="0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1pPr>
                      <a:lvl2pPr marL="1050925" indent="-419100">
                        <a:spcBef>
                          <a:spcPts val="7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2pPr>
                      <a:lvl3pPr marL="1612900" indent="-330200">
                        <a:spcBef>
                          <a:spcPts val="600"/>
                        </a:spcBef>
                        <a:buSzPct val="100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3pPr>
                      <a:lvl4pPr marL="2262188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4pPr>
                      <a:lvl5pPr marL="2913063" indent="-330200">
                        <a:spcBef>
                          <a:spcPts val="500"/>
                        </a:spcBef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5pPr>
                      <a:lvl6pPr marL="33702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6pPr>
                      <a:lvl7pPr marL="38274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7pPr>
                      <a:lvl8pPr marL="42846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8pPr>
                      <a:lvl9pPr marL="4741863" indent="-330200" fontAlgn="base">
                        <a:spcBef>
                          <a:spcPts val="500"/>
                        </a:spcBef>
                        <a:spcAft>
                          <a:spcPct val="0"/>
                        </a:spcAft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ヒラギノ角ゴ ProN W3" charset="0"/>
                          <a:cs typeface="ヒラギノ角ゴ ProN W3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  <a:sym typeface="Helvetica" panose="020B0604020202020204" pitchFamily="34" charset="0"/>
                        </a:rPr>
                        <a:t>Frequently principal cost driver, principal error source, pushes demand for autonomy (can also save “lost” missions)</a:t>
                      </a:r>
                    </a:p>
                  </a:txBody>
                  <a:tcPr marL="41627" marR="41627" marT="41627" marB="41627" anchor="ctr" horzOverflow="overflow">
                    <a:lnL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3E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72"/>
          <p:cNvSpPr>
            <a:spLocks/>
          </p:cNvSpPr>
          <p:nvPr/>
        </p:nvSpPr>
        <p:spPr bwMode="auto">
          <a:xfrm>
            <a:off x="2607380" y="6501056"/>
            <a:ext cx="3168952" cy="19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40640" bIns="0">
            <a:spAutoFit/>
          </a:bodyPr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66" b="1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Table 2-8 Common System Drivers</a:t>
            </a:r>
            <a:endParaRPr lang="en-US" altLang="en-US" sz="1266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52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Recall the Sys </a:t>
            </a:r>
            <a:r>
              <a:rPr lang="en-US" dirty="0" err="1" smtClean="0"/>
              <a:t>Eng</a:t>
            </a:r>
            <a:r>
              <a:rPr lang="en-US" dirty="0" smtClean="0"/>
              <a:t> “V” model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1200150" y="1554202"/>
            <a:ext cx="6743700" cy="4000499"/>
            <a:chOff x="1676400" y="1524001"/>
            <a:chExt cx="8991600" cy="5333999"/>
          </a:xfrm>
        </p:grpSpPr>
        <p:sp>
          <p:nvSpPr>
            <p:cNvPr id="10" name="WordArt 2"/>
            <p:cNvSpPr>
              <a:spLocks noChangeArrowheads="1" noChangeShapeType="1" noTextEdit="1"/>
            </p:cNvSpPr>
            <p:nvPr/>
          </p:nvSpPr>
          <p:spPr bwMode="auto">
            <a:xfrm>
              <a:off x="1676400" y="1676401"/>
              <a:ext cx="8991600" cy="460851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60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accent2">
                      <a:alpha val="20000"/>
                    </a:schemeClr>
                  </a:solidFill>
                  <a:latin typeface="Arial Black" panose="020B0A04020102020204" pitchFamily="34" charset="0"/>
                </a:rPr>
                <a:t>V</a:t>
              </a:r>
            </a:p>
          </p:txBody>
        </p:sp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191000" y="2057400"/>
              <a:ext cx="3886200" cy="30480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tint val="9412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350">
                <a:latin typeface="Arial" charset="0"/>
              </a:endParaRPr>
            </a:p>
          </p:txBody>
        </p:sp>
        <p:sp>
          <p:nvSpPr>
            <p:cNvPr id="12" name="AutoShape 5"/>
            <p:cNvSpPr>
              <a:spLocks noChangeArrowheads="1"/>
            </p:cNvSpPr>
            <p:nvPr/>
          </p:nvSpPr>
          <p:spPr bwMode="auto">
            <a:xfrm>
              <a:off x="2362200" y="1828800"/>
              <a:ext cx="1828800" cy="685800"/>
            </a:xfrm>
            <a:prstGeom prst="flowChartAlternateProcess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4290" rIns="3429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Define System Requirements</a:t>
              </a:r>
            </a:p>
          </p:txBody>
        </p:sp>
        <p:sp>
          <p:nvSpPr>
            <p:cNvPr id="13" name="AutoShape 6"/>
            <p:cNvSpPr>
              <a:spLocks noChangeArrowheads="1"/>
            </p:cNvSpPr>
            <p:nvPr/>
          </p:nvSpPr>
          <p:spPr bwMode="auto">
            <a:xfrm>
              <a:off x="3276600" y="3048000"/>
              <a:ext cx="2057400" cy="1143000"/>
            </a:xfrm>
            <a:prstGeom prst="flowChartAlternateProcess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4290" rIns="3429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Allocate System Functions to Subsystems</a:t>
              </a:r>
            </a:p>
          </p:txBody>
        </p:sp>
        <p:sp>
          <p:nvSpPr>
            <p:cNvPr id="14" name="AutoShape 7"/>
            <p:cNvSpPr>
              <a:spLocks noChangeArrowheads="1"/>
            </p:cNvSpPr>
            <p:nvPr/>
          </p:nvSpPr>
          <p:spPr bwMode="auto">
            <a:xfrm>
              <a:off x="4191000" y="4724400"/>
              <a:ext cx="1828800" cy="838200"/>
            </a:xfrm>
            <a:prstGeom prst="flowChartAlternateProcess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Detail Design of Components</a:t>
              </a:r>
            </a:p>
          </p:txBody>
        </p:sp>
        <p:sp>
          <p:nvSpPr>
            <p:cNvPr id="15" name="AutoShape 8"/>
            <p:cNvSpPr>
              <a:spLocks noChangeArrowheads="1"/>
            </p:cNvSpPr>
            <p:nvPr/>
          </p:nvSpPr>
          <p:spPr bwMode="auto">
            <a:xfrm>
              <a:off x="6477000" y="4800600"/>
              <a:ext cx="1752600" cy="685800"/>
            </a:xfrm>
            <a:prstGeom prst="flowChartAlternateProcess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>
                  <a:solidFill>
                    <a:srgbClr val="FF0000"/>
                  </a:solidFill>
                </a:rPr>
                <a:t>Verify</a:t>
              </a:r>
              <a:r>
                <a:rPr lang="en-US" altLang="en-US" sz="1350" b="1"/>
                <a:t> Components</a:t>
              </a:r>
            </a:p>
          </p:txBody>
        </p:sp>
        <p:sp>
          <p:nvSpPr>
            <p:cNvPr id="16" name="AutoShape 9"/>
            <p:cNvSpPr>
              <a:spLocks noChangeArrowheads="1"/>
            </p:cNvSpPr>
            <p:nvPr/>
          </p:nvSpPr>
          <p:spPr bwMode="auto">
            <a:xfrm>
              <a:off x="7315200" y="3200400"/>
              <a:ext cx="1676400" cy="838200"/>
            </a:xfrm>
            <a:prstGeom prst="flowChartAlternateProcess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>
                  <a:solidFill>
                    <a:srgbClr val="FF0000"/>
                  </a:solidFill>
                </a:rPr>
                <a:t>Verification</a:t>
              </a:r>
              <a:r>
                <a:rPr lang="en-US" altLang="en-US" sz="1350" b="1"/>
                <a:t> of Subsystems</a:t>
              </a:r>
            </a:p>
          </p:txBody>
        </p:sp>
        <p:sp>
          <p:nvSpPr>
            <p:cNvPr id="17" name="AutoShape 10"/>
            <p:cNvSpPr>
              <a:spLocks noChangeArrowheads="1"/>
            </p:cNvSpPr>
            <p:nvPr/>
          </p:nvSpPr>
          <p:spPr bwMode="auto">
            <a:xfrm>
              <a:off x="8077200" y="1828800"/>
              <a:ext cx="1752600" cy="838200"/>
            </a:xfrm>
            <a:prstGeom prst="flowChartAlternateProcess">
              <a:avLst/>
            </a:prstGeom>
            <a:solidFill>
              <a:srgbClr val="CC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4290" rIns="3429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Full System Operation and </a:t>
              </a:r>
              <a:r>
                <a:rPr lang="en-US" altLang="en-US" sz="1350" b="1">
                  <a:solidFill>
                    <a:srgbClr val="FF0000"/>
                  </a:solidFill>
                </a:rPr>
                <a:t>Verification</a:t>
              </a:r>
            </a:p>
          </p:txBody>
        </p:sp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 rot="18263282">
              <a:off x="6887369" y="4085431"/>
              <a:ext cx="4724400" cy="668338"/>
            </a:xfrm>
            <a:prstGeom prst="rightArrow">
              <a:avLst>
                <a:gd name="adj1" fmla="val 50000"/>
                <a:gd name="adj2" fmla="val 17672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Integration and Verification</a:t>
              </a:r>
            </a:p>
          </p:txBody>
        </p:sp>
        <p:sp>
          <p:nvSpPr>
            <p:cNvPr id="19" name="AutoShape 12"/>
            <p:cNvSpPr>
              <a:spLocks noChangeArrowheads="1"/>
            </p:cNvSpPr>
            <p:nvPr/>
          </p:nvSpPr>
          <p:spPr bwMode="auto">
            <a:xfrm rot="3398549">
              <a:off x="571500" y="4000500"/>
              <a:ext cx="4953000" cy="762000"/>
            </a:xfrm>
            <a:prstGeom prst="rightArrow">
              <a:avLst>
                <a:gd name="adj1" fmla="val 50000"/>
                <a:gd name="adj2" fmla="val 1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Decomposition and Definition</a:t>
              </a: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3505200" y="2514600"/>
              <a:ext cx="381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4495800" y="4191000"/>
              <a:ext cx="381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 flipV="1">
              <a:off x="7391400" y="4038600"/>
              <a:ext cx="457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8305800" y="2667000"/>
              <a:ext cx="304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4191000" y="2209800"/>
              <a:ext cx="3886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5334000" y="3581400"/>
              <a:ext cx="1981200" cy="30480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tint val="9412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350">
                <a:latin typeface="Arial" charset="0"/>
              </a:endParaRP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5334000" y="3733800"/>
              <a:ext cx="198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6019800" y="5029200"/>
              <a:ext cx="457200" cy="30480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tint val="9412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350">
                <a:latin typeface="Arial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6019800" y="51816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 flipV="1">
              <a:off x="6248400" y="5486400"/>
              <a:ext cx="609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5715000" y="5562600"/>
              <a:ext cx="5334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4724400" y="1828800"/>
              <a:ext cx="2743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5638800" y="1524001"/>
              <a:ext cx="1049860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50" b="1"/>
                <a:t>Testing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92101" y="5571679"/>
            <a:ext cx="8394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When defining requirements, you are on the top left of the V, but you need to keep in mind the whole V process in order to write a good requirement.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725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Allocation and Closure of Requirements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947196" y="6222380"/>
            <a:ext cx="3249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Adapted from Fig 4-4 from SMAD v3</a:t>
            </a:r>
            <a:endParaRPr lang="en-US" sz="1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726" y="1115122"/>
            <a:ext cx="4943670" cy="517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9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Allocation and Closure of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Allocation – assigns the function and its associated performance requirement to a lower level design </a:t>
            </a:r>
            <a:r>
              <a:rPr lang="en-US" sz="2800" dirty="0" smtClean="0"/>
              <a:t>element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Closure – satisfying lower-level requirements ensures system performance at the next higher </a:t>
            </a:r>
            <a:r>
              <a:rPr lang="en-US" sz="2800" dirty="0" smtClean="0"/>
              <a:t>level, and that we can trace </a:t>
            </a:r>
            <a:r>
              <a:rPr lang="en-US" sz="2800" dirty="0" smtClean="0"/>
              <a:t>all requirements back to satisfying mission needs</a:t>
            </a:r>
          </a:p>
        </p:txBody>
      </p:sp>
    </p:spTree>
    <p:extLst>
      <p:ext uri="{BB962C8B-B14F-4D97-AF65-F5344CB8AC3E}">
        <p14:creationId xmlns:p14="http://schemas.microsoft.com/office/powerpoint/2010/main" val="122485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dirty="0"/>
              <a:t>Properties of Good </a:t>
            </a:r>
            <a:r>
              <a:rPr lang="en-US" sz="3600" dirty="0" smtClean="0"/>
              <a:t>Requirements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1289538"/>
            <a:ext cx="8661400" cy="54240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Unique:  </a:t>
            </a:r>
            <a:r>
              <a:rPr lang="en-US" sz="2200" dirty="0"/>
              <a:t>no two </a:t>
            </a:r>
            <a:r>
              <a:rPr lang="en-US" sz="2200" dirty="0" err="1" smtClean="0"/>
              <a:t>rqmts</a:t>
            </a:r>
            <a:r>
              <a:rPr lang="en-US" sz="2200" dirty="0" smtClean="0"/>
              <a:t> </a:t>
            </a:r>
            <a:r>
              <a:rPr lang="en-US" sz="2200" dirty="0"/>
              <a:t>overlap or duplicate each other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 smtClean="0"/>
              <a:t>Unambiguous:  </a:t>
            </a:r>
            <a:r>
              <a:rPr lang="en-US" sz="2200" dirty="0" smtClean="0"/>
              <a:t>no misunderstanding of exactly what is required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 smtClean="0"/>
              <a:t>Testable:  </a:t>
            </a:r>
            <a:r>
              <a:rPr lang="en-US" sz="2200" dirty="0" smtClean="0"/>
              <a:t>practical way of determining whether delivered system actually meets </a:t>
            </a:r>
            <a:r>
              <a:rPr lang="en-US" sz="2200" dirty="0" err="1" smtClean="0"/>
              <a:t>rqmt</a:t>
            </a:r>
            <a:endParaRPr lang="en-US" sz="2200" dirty="0" smtClean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 smtClean="0"/>
              <a:t>Traceable:  </a:t>
            </a:r>
            <a:r>
              <a:rPr lang="en-US" sz="2200" dirty="0" smtClean="0"/>
              <a:t>every high-level </a:t>
            </a:r>
            <a:r>
              <a:rPr lang="en-US" sz="2200" dirty="0" err="1" smtClean="0"/>
              <a:t>rqmt</a:t>
            </a:r>
            <a:r>
              <a:rPr lang="en-US" sz="2200" dirty="0" smtClean="0"/>
              <a:t> is </a:t>
            </a:r>
            <a:r>
              <a:rPr lang="en-US" sz="2200" dirty="0" smtClean="0"/>
              <a:t>broken down</a:t>
            </a:r>
            <a:r>
              <a:rPr lang="en-US" sz="2200" dirty="0" smtClean="0"/>
              <a:t> into </a:t>
            </a:r>
            <a:r>
              <a:rPr lang="en-US" sz="2200" dirty="0" smtClean="0"/>
              <a:t>one or more low-level testable requirements and every low-level </a:t>
            </a:r>
            <a:r>
              <a:rPr lang="en-US" sz="2200" dirty="0" err="1" smtClean="0"/>
              <a:t>rqmt</a:t>
            </a:r>
            <a:r>
              <a:rPr lang="en-US" sz="2200" dirty="0" smtClean="0"/>
              <a:t> supports a documented high-level </a:t>
            </a:r>
            <a:r>
              <a:rPr lang="en-US" sz="2200" dirty="0" err="1" smtClean="0"/>
              <a:t>rqmt</a:t>
            </a:r>
            <a:endParaRPr lang="en-US" sz="2200" dirty="0" smtClean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Consistent:  </a:t>
            </a:r>
            <a:r>
              <a:rPr lang="en-US" sz="2200" dirty="0"/>
              <a:t>doesn’t conflict with other </a:t>
            </a:r>
            <a:r>
              <a:rPr lang="en-US" sz="2200" dirty="0" err="1"/>
              <a:t>rqmts</a:t>
            </a:r>
            <a:endParaRPr lang="en-US" sz="22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Specific:  </a:t>
            </a:r>
            <a:r>
              <a:rPr lang="en-US" sz="2200" dirty="0" smtClean="0"/>
              <a:t>focuses </a:t>
            </a:r>
            <a:r>
              <a:rPr lang="en-US" sz="2200" dirty="0"/>
              <a:t>on one thing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Essential:  </a:t>
            </a:r>
            <a:r>
              <a:rPr lang="en-US" sz="2200" dirty="0"/>
              <a:t>creates a deficiency if deleted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b="1" dirty="0"/>
              <a:t>Complete:  </a:t>
            </a:r>
            <a:r>
              <a:rPr lang="en-US" sz="2200" dirty="0"/>
              <a:t>not missing any conditions or constraints that would distinguish an acceptable system from an unacceptable </a:t>
            </a:r>
            <a:r>
              <a:rPr lang="en-US" sz="2200" dirty="0" smtClean="0"/>
              <a:t>system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4227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28650" y="345650"/>
            <a:ext cx="7886700" cy="99417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What to Avoid in Writing Good </a:t>
            </a:r>
            <a:r>
              <a:rPr lang="en-US" sz="3600" dirty="0" err="1" smtClean="0"/>
              <a:t>Rqmts</a:t>
            </a:r>
            <a:endParaRPr lang="en-US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39489" y="1544445"/>
            <a:ext cx="3554452" cy="5177030"/>
          </a:xfrm>
        </p:spPr>
        <p:txBody>
          <a:bodyPr>
            <a:noAutofit/>
          </a:bodyPr>
          <a:lstStyle/>
          <a:p>
            <a:r>
              <a:rPr lang="en-US" sz="2400" dirty="0" smtClean="0"/>
              <a:t>Multiple </a:t>
            </a:r>
            <a:r>
              <a:rPr lang="en-US" sz="2400" dirty="0" err="1" smtClean="0"/>
              <a:t>Rqmts</a:t>
            </a:r>
            <a:endParaRPr lang="en-US" sz="2400" dirty="0" smtClean="0"/>
          </a:p>
          <a:p>
            <a:pPr lvl="1"/>
            <a:r>
              <a:rPr lang="en-US" sz="2000" dirty="0" smtClean="0"/>
              <a:t>And</a:t>
            </a:r>
          </a:p>
          <a:p>
            <a:pPr lvl="1"/>
            <a:r>
              <a:rPr lang="en-US" sz="2000" dirty="0" smtClean="0"/>
              <a:t>Or</a:t>
            </a:r>
          </a:p>
          <a:p>
            <a:pPr lvl="1"/>
            <a:endParaRPr lang="en-US" sz="1800" dirty="0" smtClean="0"/>
          </a:p>
          <a:p>
            <a:r>
              <a:rPr lang="en-US" sz="2400" dirty="0" smtClean="0"/>
              <a:t>Conditional Clauses</a:t>
            </a:r>
          </a:p>
          <a:p>
            <a:pPr lvl="1"/>
            <a:r>
              <a:rPr lang="en-US" sz="2000" dirty="0" smtClean="0"/>
              <a:t>If</a:t>
            </a:r>
          </a:p>
          <a:p>
            <a:pPr lvl="1"/>
            <a:r>
              <a:rPr lang="en-US" sz="2000" dirty="0" smtClean="0"/>
              <a:t>Once</a:t>
            </a:r>
          </a:p>
          <a:p>
            <a:pPr lvl="1"/>
            <a:r>
              <a:rPr lang="en-US" sz="2000" dirty="0" smtClean="0"/>
              <a:t>When</a:t>
            </a:r>
          </a:p>
          <a:p>
            <a:pPr lvl="1"/>
            <a:r>
              <a:rPr lang="en-US" sz="2000" dirty="0" smtClean="0"/>
              <a:t>Unless</a:t>
            </a:r>
          </a:p>
          <a:p>
            <a:pPr lvl="1"/>
            <a:r>
              <a:rPr lang="en-US" sz="2000" dirty="0" smtClean="0"/>
              <a:t>Except</a:t>
            </a:r>
          </a:p>
          <a:p>
            <a:pPr lvl="1"/>
            <a:r>
              <a:rPr lang="en-US" sz="2000" dirty="0" smtClean="0"/>
              <a:t>Although</a:t>
            </a:r>
          </a:p>
          <a:p>
            <a:pPr lvl="1"/>
            <a:r>
              <a:rPr lang="en-US" sz="2000" dirty="0" smtClean="0"/>
              <a:t>Always</a:t>
            </a:r>
          </a:p>
          <a:p>
            <a:pPr lvl="1"/>
            <a:endParaRPr 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181135" y="1561173"/>
            <a:ext cx="4096680" cy="33944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Possibilities</a:t>
            </a:r>
            <a:endParaRPr lang="en-US" sz="2400" dirty="0"/>
          </a:p>
          <a:p>
            <a:pPr lvl="1"/>
            <a:r>
              <a:rPr lang="en-US" sz="2000" dirty="0"/>
              <a:t>Should</a:t>
            </a:r>
          </a:p>
          <a:p>
            <a:pPr lvl="1"/>
            <a:r>
              <a:rPr lang="en-US" sz="2000" dirty="0"/>
              <a:t>Might</a:t>
            </a:r>
          </a:p>
          <a:p>
            <a:pPr lvl="1"/>
            <a:r>
              <a:rPr lang="en-US" sz="2000" dirty="0"/>
              <a:t>Ought</a:t>
            </a:r>
          </a:p>
          <a:p>
            <a:pPr lvl="1"/>
            <a:r>
              <a:rPr lang="en-US" sz="2000" dirty="0"/>
              <a:t>Could</a:t>
            </a:r>
          </a:p>
          <a:p>
            <a:pPr lvl="1"/>
            <a:r>
              <a:rPr lang="en-US" sz="2000" dirty="0"/>
              <a:t>Perhaps</a:t>
            </a:r>
          </a:p>
          <a:p>
            <a:pPr lvl="1"/>
            <a:r>
              <a:rPr lang="en-US" sz="2000" dirty="0"/>
              <a:t>Probably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154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406293" y="1209372"/>
            <a:ext cx="2743200" cy="39356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Subjective Phrases</a:t>
            </a:r>
          </a:p>
          <a:p>
            <a:pPr lvl="1"/>
            <a:r>
              <a:rPr lang="en-US" sz="2000" dirty="0"/>
              <a:t>User-friendly</a:t>
            </a:r>
          </a:p>
          <a:p>
            <a:pPr lvl="1"/>
            <a:r>
              <a:rPr lang="en-US" sz="2000" dirty="0"/>
              <a:t>Easy</a:t>
            </a:r>
          </a:p>
          <a:p>
            <a:pPr lvl="1"/>
            <a:r>
              <a:rPr lang="en-US" sz="2000" dirty="0"/>
              <a:t>Simple</a:t>
            </a:r>
          </a:p>
          <a:p>
            <a:pPr lvl="1"/>
            <a:r>
              <a:rPr lang="en-US" sz="2000" dirty="0"/>
              <a:t>Rapid</a:t>
            </a:r>
          </a:p>
          <a:p>
            <a:pPr lvl="1"/>
            <a:r>
              <a:rPr lang="en-US" sz="2000" dirty="0"/>
              <a:t>Efficient</a:t>
            </a:r>
          </a:p>
          <a:p>
            <a:pPr lvl="1"/>
            <a:r>
              <a:rPr lang="en-US" sz="2000" dirty="0"/>
              <a:t>Several</a:t>
            </a:r>
          </a:p>
          <a:p>
            <a:pPr lvl="1"/>
            <a:r>
              <a:rPr lang="en-US" sz="2000" dirty="0"/>
              <a:t>State-of-the-Art</a:t>
            </a:r>
          </a:p>
          <a:p>
            <a:pPr lvl="1"/>
            <a:r>
              <a:rPr lang="en-US" sz="2000" dirty="0"/>
              <a:t>Improve</a:t>
            </a:r>
          </a:p>
          <a:p>
            <a:pPr lvl="1"/>
            <a:r>
              <a:rPr lang="en-US" sz="2000" dirty="0"/>
              <a:t>Maximize</a:t>
            </a:r>
          </a:p>
          <a:p>
            <a:pPr lvl="1"/>
            <a:r>
              <a:rPr lang="en-US" sz="2000" dirty="0"/>
              <a:t>Minimize</a:t>
            </a:r>
          </a:p>
          <a:p>
            <a:pPr lvl="1"/>
            <a:r>
              <a:rPr lang="en-US" sz="2000" dirty="0"/>
              <a:t>Optimize</a:t>
            </a:r>
          </a:p>
          <a:p>
            <a:pPr lvl="1"/>
            <a:r>
              <a:rPr lang="en-US" sz="2000" dirty="0"/>
              <a:t>Adequate</a:t>
            </a:r>
          </a:p>
          <a:p>
            <a:pPr lvl="1"/>
            <a:endParaRPr 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16548" y="1209372"/>
            <a:ext cx="3444446" cy="393562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Subjective Phrases (cont.)</a:t>
            </a:r>
          </a:p>
          <a:p>
            <a:pPr lvl="1"/>
            <a:r>
              <a:rPr lang="en-US" sz="2000" dirty="0"/>
              <a:t>Flexible</a:t>
            </a:r>
          </a:p>
          <a:p>
            <a:pPr lvl="1"/>
            <a:r>
              <a:rPr lang="en-US" sz="2000" dirty="0"/>
              <a:t>Approximately</a:t>
            </a:r>
          </a:p>
          <a:p>
            <a:pPr lvl="1"/>
            <a:r>
              <a:rPr lang="en-US" sz="2000" dirty="0"/>
              <a:t>Modern</a:t>
            </a:r>
          </a:p>
          <a:p>
            <a:pPr lvl="1"/>
            <a:r>
              <a:rPr lang="en-US" sz="2000" dirty="0"/>
              <a:t>Versatile</a:t>
            </a:r>
          </a:p>
          <a:p>
            <a:pPr lvl="1"/>
            <a:r>
              <a:rPr lang="en-US" sz="2000" dirty="0"/>
              <a:t>As possible</a:t>
            </a:r>
          </a:p>
          <a:p>
            <a:pPr lvl="1"/>
            <a:r>
              <a:rPr lang="en-US" sz="2000" dirty="0"/>
              <a:t>Facilities</a:t>
            </a:r>
          </a:p>
          <a:p>
            <a:pPr lvl="1"/>
            <a:r>
              <a:rPr lang="en-US" sz="2000" dirty="0"/>
              <a:t>Support</a:t>
            </a:r>
          </a:p>
          <a:p>
            <a:pPr lvl="1"/>
            <a:r>
              <a:rPr lang="en-US" sz="2000" dirty="0"/>
              <a:t>High performance</a:t>
            </a:r>
          </a:p>
          <a:p>
            <a:pPr lvl="1"/>
            <a:r>
              <a:rPr lang="en-US" sz="2000" dirty="0"/>
              <a:t>Large</a:t>
            </a:r>
          </a:p>
          <a:p>
            <a:pPr lvl="1"/>
            <a:r>
              <a:rPr lang="en-US" sz="2000" dirty="0"/>
              <a:t>Intuitive</a:t>
            </a:r>
          </a:p>
          <a:p>
            <a:pPr lvl="1"/>
            <a:r>
              <a:rPr lang="en-US" sz="2000" dirty="0"/>
              <a:t>Robust</a:t>
            </a:r>
          </a:p>
          <a:p>
            <a:pPr lvl="1"/>
            <a:r>
              <a:rPr lang="en-US" sz="2000" dirty="0"/>
              <a:t>Sufficient</a:t>
            </a:r>
          </a:p>
          <a:p>
            <a:pPr lvl="1"/>
            <a:endParaRPr lang="en-US" sz="20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58873" y="213764"/>
            <a:ext cx="8515350" cy="99417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What to Avoid in Writing Good </a:t>
            </a:r>
            <a:r>
              <a:rPr lang="en-US" sz="3600" dirty="0" err="1" smtClean="0"/>
              <a:t>Rqmts</a:t>
            </a:r>
            <a:r>
              <a:rPr lang="en-US" sz="3600" dirty="0" smtClean="0"/>
              <a:t> (cont.)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487106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1B4319D-875E-41CF-8290-604D1B8D6B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F21020-E1E6-4E03-BD38-6DD565699861}"/>
</file>

<file path=customXml/itemProps3.xml><?xml version="1.0" encoding="utf-8"?>
<ds:datastoreItem xmlns:ds="http://schemas.openxmlformats.org/officeDocument/2006/customXml" ds:itemID="{D147C8B1-37AB-462B-98A0-E725236684C6}">
  <ds:schemaRefs>
    <ds:schemaRef ds:uri="http://schemas.microsoft.com/office/2006/metadata/properties"/>
    <ds:schemaRef ds:uri="http://schemas.microsoft.com/office/2006/documentManagement/types"/>
    <ds:schemaRef ds:uri="7584c457-6b5a-4caa-be47-be979cbe6555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723aa48c-73f2-40da-86b1-f1ae286477f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3395</TotalTime>
  <Words>847</Words>
  <Application>Microsoft Office PowerPoint</Application>
  <PresentationFormat>On-screen Show (4:3)</PresentationFormat>
  <Paragraphs>174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Helvetica</vt:lpstr>
      <vt:lpstr>ヒラギノ角ゴ ProN W3</vt:lpstr>
      <vt:lpstr>Default Design</vt:lpstr>
      <vt:lpstr>Astro 331 Lesson 2</vt:lpstr>
      <vt:lpstr>Lesson Objectives</vt:lpstr>
      <vt:lpstr>PowerPoint Presentation</vt:lpstr>
      <vt:lpstr>PowerPoint Presentation</vt:lpstr>
      <vt:lpstr>FireSAT Requirements &amp; Constraints</vt:lpstr>
      <vt:lpstr>PowerPoint Presentation</vt:lpstr>
      <vt:lpstr>Common System Drivers</vt:lpstr>
      <vt:lpstr>Recall the Sys Eng “V” model</vt:lpstr>
      <vt:lpstr>Allocation and Closure of Requirements</vt:lpstr>
      <vt:lpstr>Allocation and Closure of Requirements</vt:lpstr>
      <vt:lpstr>Properties of Good Requirements</vt:lpstr>
      <vt:lpstr>What to Avoid in Writing Good Rqmts</vt:lpstr>
      <vt:lpstr>What to Avoid in Writing Good Rqmts (cont.)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Home Points</dc:title>
  <dc:creator>Administrator</dc:creator>
  <cp:lastModifiedBy>Quadrino, Meghan K Capt USAF USAFA USAFA/DFAS</cp:lastModifiedBy>
  <cp:revision>170</cp:revision>
  <cp:lastPrinted>2014-08-24T23:25:23Z</cp:lastPrinted>
  <dcterms:created xsi:type="dcterms:W3CDTF">2005-07-21T15:25:51Z</dcterms:created>
  <dcterms:modified xsi:type="dcterms:W3CDTF">2022-01-03T04:14:14Z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