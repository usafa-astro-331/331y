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570" r:id="rId5"/>
    <p:sldId id="621" r:id="rId6"/>
    <p:sldId id="571" r:id="rId7"/>
    <p:sldId id="323" r:id="rId8"/>
    <p:sldId id="325" r:id="rId9"/>
    <p:sldId id="310" r:id="rId10"/>
    <p:sldId id="327" r:id="rId11"/>
    <p:sldId id="617" r:id="rId12"/>
    <p:sldId id="329" r:id="rId13"/>
    <p:sldId id="328" r:id="rId14"/>
    <p:sldId id="616" r:id="rId15"/>
    <p:sldId id="313" r:id="rId16"/>
    <p:sldId id="315" r:id="rId17"/>
    <p:sldId id="316" r:id="rId18"/>
    <p:sldId id="324" r:id="rId19"/>
    <p:sldId id="305" r:id="rId20"/>
    <p:sldId id="620" r:id="rId21"/>
    <p:sldId id="618" r:id="rId22"/>
    <p:sldId id="619" r:id="rId2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FF0066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1C74D-6D63-4939-85EE-02C9D9CB8ADF}" v="1" dt="2025-08-08T18:38:19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4" autoAdjust="0"/>
    <p:restoredTop sz="86111" autoAdjust="0"/>
  </p:normalViewPr>
  <p:slideViewPr>
    <p:cSldViewPr>
      <p:cViewPr varScale="1">
        <p:scale>
          <a:sx n="83" d="100"/>
          <a:sy n="83" d="100"/>
        </p:scale>
        <p:origin x="2268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er, Jonathan M Lt Col USSF USAFA DF/DFAS" userId="d003cf6e-ed25-45fa-8706-5841241c5d7b" providerId="ADAL" clId="{C3C075BA-ECFA-4BED-A21D-34B429CD6526}"/>
    <pc:docChg chg="addSld modSld sldOrd">
      <pc:chgData name="Miller, Jonathan M Lt Col USSF USAFA DF/DFAS" userId="d003cf6e-ed25-45fa-8706-5841241c5d7b" providerId="ADAL" clId="{C3C075BA-ECFA-4BED-A21D-34B429CD6526}" dt="2025-01-07T20:26:07.483" v="22" actId="14100"/>
      <pc:docMkLst>
        <pc:docMk/>
      </pc:docMkLst>
      <pc:sldChg chg="addSp modSp mod modAnim">
        <pc:chgData name="Miller, Jonathan M Lt Col USSF USAFA DF/DFAS" userId="d003cf6e-ed25-45fa-8706-5841241c5d7b" providerId="ADAL" clId="{C3C075BA-ECFA-4BED-A21D-34B429CD6526}" dt="2025-01-07T20:15:52.091" v="5"/>
        <pc:sldMkLst>
          <pc:docMk/>
          <pc:sldMk cId="3747267669" sldId="618"/>
        </pc:sldMkLst>
      </pc:sldChg>
      <pc:sldChg chg="addSp modSp new mod ord">
        <pc:chgData name="Miller, Jonathan M Lt Col USSF USAFA DF/DFAS" userId="d003cf6e-ed25-45fa-8706-5841241c5d7b" providerId="ADAL" clId="{C3C075BA-ECFA-4BED-A21D-34B429CD6526}" dt="2025-01-07T20:23:49.161" v="14"/>
        <pc:sldMkLst>
          <pc:docMk/>
          <pc:sldMk cId="1858900725" sldId="620"/>
        </pc:sldMkLst>
      </pc:sldChg>
      <pc:sldChg chg="addSp modSp new mod">
        <pc:chgData name="Miller, Jonathan M Lt Col USSF USAFA DF/DFAS" userId="d003cf6e-ed25-45fa-8706-5841241c5d7b" providerId="ADAL" clId="{C3C075BA-ECFA-4BED-A21D-34B429CD6526}" dt="2025-01-07T20:26:07.483" v="22" actId="14100"/>
        <pc:sldMkLst>
          <pc:docMk/>
          <pc:sldMk cId="627348525" sldId="621"/>
        </pc:sldMkLst>
      </pc:sldChg>
    </pc:docChg>
  </pc:docChgLst>
  <pc:docChgLst>
    <pc:chgData name="Harris, Wyatt J Lt Col USAF USAFA DF/DFAS" userId="768bfb95-c272-4014-8fa2-010c15306053" providerId="ADAL" clId="{6EB1C74D-6D63-4939-85EE-02C9D9CB8ADF}"/>
    <pc:docChg chg="undo custSel modSld">
      <pc:chgData name="Harris, Wyatt J Lt Col USAF USAFA DF/DFAS" userId="768bfb95-c272-4014-8fa2-010c15306053" providerId="ADAL" clId="{6EB1C74D-6D63-4939-85EE-02C9D9CB8ADF}" dt="2025-08-08T19:32:53.688" v="7" actId="14100"/>
      <pc:docMkLst>
        <pc:docMk/>
      </pc:docMkLst>
      <pc:sldChg chg="modSp mod">
        <pc:chgData name="Harris, Wyatt J Lt Col USAF USAFA DF/DFAS" userId="768bfb95-c272-4014-8fa2-010c15306053" providerId="ADAL" clId="{6EB1C74D-6D63-4939-85EE-02C9D9CB8ADF}" dt="2025-08-08T18:38:19.337" v="5" actId="1076"/>
        <pc:sldMkLst>
          <pc:docMk/>
          <pc:sldMk cId="2299477021" sldId="305"/>
        </pc:sldMkLst>
        <pc:spChg chg="mod">
          <ac:chgData name="Harris, Wyatt J Lt Col USAF USAFA DF/DFAS" userId="768bfb95-c272-4014-8fa2-010c15306053" providerId="ADAL" clId="{6EB1C74D-6D63-4939-85EE-02C9D9CB8ADF}" dt="2025-08-08T18:38:19.337" v="5" actId="1076"/>
          <ac:spMkLst>
            <pc:docMk/>
            <pc:sldMk cId="2299477021" sldId="305"/>
            <ac:spMk id="4" creationId="{00000000-0000-0000-0000-000000000000}"/>
          </ac:spMkLst>
        </pc:spChg>
        <pc:graphicFrameChg chg="mod">
          <ac:chgData name="Harris, Wyatt J Lt Col USAF USAFA DF/DFAS" userId="768bfb95-c272-4014-8fa2-010c15306053" providerId="ADAL" clId="{6EB1C74D-6D63-4939-85EE-02C9D9CB8ADF}" dt="2025-08-08T18:38:14.724" v="4" actId="1076"/>
          <ac:graphicFrameMkLst>
            <pc:docMk/>
            <pc:sldMk cId="2299477021" sldId="305"/>
            <ac:graphicFrameMk id="5" creationId="{00000000-0000-0000-0000-000000000000}"/>
          </ac:graphicFrameMkLst>
        </pc:graphicFrameChg>
      </pc:sldChg>
      <pc:sldChg chg="modSp mod">
        <pc:chgData name="Harris, Wyatt J Lt Col USAF USAFA DF/DFAS" userId="768bfb95-c272-4014-8fa2-010c15306053" providerId="ADAL" clId="{6EB1C74D-6D63-4939-85EE-02C9D9CB8ADF}" dt="2025-08-05T22:40:28.793" v="1" actId="1076"/>
        <pc:sldMkLst>
          <pc:docMk/>
          <pc:sldMk cId="817255942" sldId="327"/>
        </pc:sldMkLst>
        <pc:picChg chg="mod">
          <ac:chgData name="Harris, Wyatt J Lt Col USAF USAFA DF/DFAS" userId="768bfb95-c272-4014-8fa2-010c15306053" providerId="ADAL" clId="{6EB1C74D-6D63-4939-85EE-02C9D9CB8ADF}" dt="2025-08-05T22:40:28.793" v="1" actId="1076"/>
          <ac:picMkLst>
            <pc:docMk/>
            <pc:sldMk cId="817255942" sldId="327"/>
            <ac:picMk id="9" creationId="{E22604C2-E206-EF28-2A4C-E279334797F8}"/>
          </ac:picMkLst>
        </pc:picChg>
      </pc:sldChg>
      <pc:sldChg chg="modSp mod">
        <pc:chgData name="Harris, Wyatt J Lt Col USAF USAFA DF/DFAS" userId="768bfb95-c272-4014-8fa2-010c15306053" providerId="ADAL" clId="{6EB1C74D-6D63-4939-85EE-02C9D9CB8ADF}" dt="2025-08-08T19:32:53.688" v="7" actId="14100"/>
        <pc:sldMkLst>
          <pc:docMk/>
          <pc:sldMk cId="3747267669" sldId="618"/>
        </pc:sldMkLst>
        <pc:picChg chg="mod">
          <ac:chgData name="Harris, Wyatt J Lt Col USAF USAFA DF/DFAS" userId="768bfb95-c272-4014-8fa2-010c15306053" providerId="ADAL" clId="{6EB1C74D-6D63-4939-85EE-02C9D9CB8ADF}" dt="2025-08-08T19:32:53.688" v="7" actId="14100"/>
          <ac:picMkLst>
            <pc:docMk/>
            <pc:sldMk cId="3747267669" sldId="618"/>
            <ac:picMk id="5" creationId="{437708D6-393E-EC8C-EF35-047DE5135A12}"/>
          </ac:picMkLst>
        </pc:picChg>
      </pc:sldChg>
      <pc:sldChg chg="modSp mod">
        <pc:chgData name="Harris, Wyatt J Lt Col USAF USAFA DF/DFAS" userId="768bfb95-c272-4014-8fa2-010c15306053" providerId="ADAL" clId="{6EB1C74D-6D63-4939-85EE-02C9D9CB8ADF}" dt="2025-08-08T15:45:11.278" v="2" actId="1076"/>
        <pc:sldMkLst>
          <pc:docMk/>
          <pc:sldMk cId="627348525" sldId="621"/>
        </pc:sldMkLst>
        <pc:picChg chg="mod">
          <ac:chgData name="Harris, Wyatt J Lt Col USAF USAFA DF/DFAS" userId="768bfb95-c272-4014-8fa2-010c15306053" providerId="ADAL" clId="{6EB1C74D-6D63-4939-85EE-02C9D9CB8ADF}" dt="2025-08-08T15:45:11.278" v="2" actId="1076"/>
          <ac:picMkLst>
            <pc:docMk/>
            <pc:sldMk cId="627348525" sldId="621"/>
            <ac:picMk id="4" creationId="{5FFD0E15-6351-2E96-E2C8-A620E25292A4}"/>
          </ac:picMkLst>
        </pc:picChg>
      </pc:sldChg>
    </pc:docChg>
  </pc:docChgLst>
  <pc:docChgLst>
    <pc:chgData name="Miller, Jonathan M Lt Col USSF USAFA DF/DFAS" userId="d003cf6e-ed25-45fa-8706-5841241c5d7b" providerId="ADAL" clId="{F59DEDBF-AD05-4287-A6AC-89C1CE0F88C3}"/>
    <pc:docChg chg="undo redo custSel addSld delSld modSld sldOrd">
      <pc:chgData name="Miller, Jonathan M Lt Col USSF USAFA DF/DFAS" userId="d003cf6e-ed25-45fa-8706-5841241c5d7b" providerId="ADAL" clId="{F59DEDBF-AD05-4287-A6AC-89C1CE0F88C3}" dt="2024-08-12T20:04:09.751" v="327" actId="20577"/>
      <pc:docMkLst>
        <pc:docMk/>
      </pc:docMkLst>
      <pc:sldChg chg="delSp modSp add mod ord modTransition">
        <pc:chgData name="Miller, Jonathan M Lt Col USSF USAFA DF/DFAS" userId="d003cf6e-ed25-45fa-8706-5841241c5d7b" providerId="ADAL" clId="{F59DEDBF-AD05-4287-A6AC-89C1CE0F88C3}" dt="2024-08-12T07:13:39.940" v="255"/>
        <pc:sldMkLst>
          <pc:docMk/>
          <pc:sldMk cId="2299477021" sldId="305"/>
        </pc:sldMkLst>
      </pc:sldChg>
      <pc:sldChg chg="add modTransition">
        <pc:chgData name="Miller, Jonathan M Lt Col USSF USAFA DF/DFAS" userId="d003cf6e-ed25-45fa-8706-5841241c5d7b" providerId="ADAL" clId="{F59DEDBF-AD05-4287-A6AC-89C1CE0F88C3}" dt="2024-08-12T06:41:27.848" v="33"/>
        <pc:sldMkLst>
          <pc:docMk/>
          <pc:sldMk cId="1378527023" sldId="310"/>
        </pc:sldMkLst>
      </pc:sldChg>
      <pc:sldChg chg="add modTransition">
        <pc:chgData name="Miller, Jonathan M Lt Col USSF USAFA DF/DFAS" userId="d003cf6e-ed25-45fa-8706-5841241c5d7b" providerId="ADAL" clId="{F59DEDBF-AD05-4287-A6AC-89C1CE0F88C3}" dt="2024-08-12T06:41:27.848" v="33"/>
        <pc:sldMkLst>
          <pc:docMk/>
          <pc:sldMk cId="4242277757" sldId="313"/>
        </pc:sldMkLst>
      </pc:sldChg>
      <pc:sldChg chg="add modTransition">
        <pc:chgData name="Miller, Jonathan M Lt Col USSF USAFA DF/DFAS" userId="d003cf6e-ed25-45fa-8706-5841241c5d7b" providerId="ADAL" clId="{F59DEDBF-AD05-4287-A6AC-89C1CE0F88C3}" dt="2024-08-12T06:41:27.848" v="33"/>
        <pc:sldMkLst>
          <pc:docMk/>
          <pc:sldMk cId="721544159" sldId="315"/>
        </pc:sldMkLst>
      </pc:sldChg>
      <pc:sldChg chg="modSp add mod modTransition">
        <pc:chgData name="Miller, Jonathan M Lt Col USSF USAFA DF/DFAS" userId="d003cf6e-ed25-45fa-8706-5841241c5d7b" providerId="ADAL" clId="{F59DEDBF-AD05-4287-A6AC-89C1CE0F88C3}" dt="2024-08-12T07:02:35.323" v="172" actId="207"/>
        <pc:sldMkLst>
          <pc:docMk/>
          <pc:sldMk cId="104871064" sldId="316"/>
        </pc:sldMkLst>
      </pc:sldChg>
      <pc:sldChg chg="add modTransition">
        <pc:chgData name="Miller, Jonathan M Lt Col USSF USAFA DF/DFAS" userId="d003cf6e-ed25-45fa-8706-5841241c5d7b" providerId="ADAL" clId="{F59DEDBF-AD05-4287-A6AC-89C1CE0F88C3}" dt="2024-08-12T06:41:27.848" v="33"/>
        <pc:sldMkLst>
          <pc:docMk/>
          <pc:sldMk cId="1918944535" sldId="323"/>
        </pc:sldMkLst>
      </pc:sldChg>
      <pc:sldChg chg="add ord modTransition">
        <pc:chgData name="Miller, Jonathan M Lt Col USSF USAFA DF/DFAS" userId="d003cf6e-ed25-45fa-8706-5841241c5d7b" providerId="ADAL" clId="{F59DEDBF-AD05-4287-A6AC-89C1CE0F88C3}" dt="2024-08-12T07:13:29.613" v="253"/>
        <pc:sldMkLst>
          <pc:docMk/>
          <pc:sldMk cId="892229437" sldId="324"/>
        </pc:sldMkLst>
      </pc:sldChg>
      <pc:sldChg chg="add modTransition">
        <pc:chgData name="Miller, Jonathan M Lt Col USSF USAFA DF/DFAS" userId="d003cf6e-ed25-45fa-8706-5841241c5d7b" providerId="ADAL" clId="{F59DEDBF-AD05-4287-A6AC-89C1CE0F88C3}" dt="2024-08-12T06:41:27.848" v="33"/>
        <pc:sldMkLst>
          <pc:docMk/>
          <pc:sldMk cId="68623929" sldId="325"/>
        </pc:sldMkLst>
      </pc:sldChg>
      <pc:sldChg chg="addSp delSp modSp add mod modTransition">
        <pc:chgData name="Miller, Jonathan M Lt Col USSF USAFA DF/DFAS" userId="d003cf6e-ed25-45fa-8706-5841241c5d7b" providerId="ADAL" clId="{F59DEDBF-AD05-4287-A6AC-89C1CE0F88C3}" dt="2024-08-12T07:09:30.148" v="245" actId="1076"/>
        <pc:sldMkLst>
          <pc:docMk/>
          <pc:sldMk cId="817255942" sldId="327"/>
        </pc:sldMkLst>
      </pc:sldChg>
      <pc:sldChg chg="addSp modSp add mod ord modTransition">
        <pc:chgData name="Miller, Jonathan M Lt Col USSF USAFA DF/DFAS" userId="d003cf6e-ed25-45fa-8706-5841241c5d7b" providerId="ADAL" clId="{F59DEDBF-AD05-4287-A6AC-89C1CE0F88C3}" dt="2024-08-12T07:06:35.221" v="207" actId="207"/>
        <pc:sldMkLst>
          <pc:docMk/>
          <pc:sldMk cId="2860298998" sldId="328"/>
        </pc:sldMkLst>
      </pc:sldChg>
      <pc:sldChg chg="add modTransition modAnim">
        <pc:chgData name="Miller, Jonathan M Lt Col USSF USAFA DF/DFAS" userId="d003cf6e-ed25-45fa-8706-5841241c5d7b" providerId="ADAL" clId="{F59DEDBF-AD05-4287-A6AC-89C1CE0F88C3}" dt="2024-08-12T07:23:14.802" v="285"/>
        <pc:sldMkLst>
          <pc:docMk/>
          <pc:sldMk cId="1224852902" sldId="329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0" sldId="518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0" sldId="522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0" sldId="569"/>
        </pc:sldMkLst>
      </pc:sldChg>
      <pc:sldChg chg="delSp modSp mod">
        <pc:chgData name="Miller, Jonathan M Lt Col USSF USAFA DF/DFAS" userId="d003cf6e-ed25-45fa-8706-5841241c5d7b" providerId="ADAL" clId="{F59DEDBF-AD05-4287-A6AC-89C1CE0F88C3}" dt="2024-08-12T06:39:10.132" v="15" actId="1076"/>
        <pc:sldMkLst>
          <pc:docMk/>
          <pc:sldMk cId="0" sldId="570"/>
        </pc:sldMkLst>
      </pc:sldChg>
      <pc:sldChg chg="modSp mod modAnim">
        <pc:chgData name="Miller, Jonathan M Lt Col USSF USAFA DF/DFAS" userId="d003cf6e-ed25-45fa-8706-5841241c5d7b" providerId="ADAL" clId="{F59DEDBF-AD05-4287-A6AC-89C1CE0F88C3}" dt="2024-08-12T07:20:36.825" v="282"/>
        <pc:sldMkLst>
          <pc:docMk/>
          <pc:sldMk cId="0" sldId="571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0" sldId="573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1464434451" sldId="606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1008222075" sldId="607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3320727524" sldId="608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1582454030" sldId="609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547101997" sldId="610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3131375549" sldId="611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3825224036" sldId="612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2791971619" sldId="613"/>
        </pc:sldMkLst>
      </pc:sldChg>
      <pc:sldChg chg="del">
        <pc:chgData name="Miller, Jonathan M Lt Col USSF USAFA DF/DFAS" userId="d003cf6e-ed25-45fa-8706-5841241c5d7b" providerId="ADAL" clId="{F59DEDBF-AD05-4287-A6AC-89C1CE0F88C3}" dt="2024-08-12T07:06:50.775" v="208" actId="47"/>
        <pc:sldMkLst>
          <pc:docMk/>
          <pc:sldMk cId="3322329994" sldId="615"/>
        </pc:sldMkLst>
      </pc:sldChg>
      <pc:sldChg chg="modSp new mod modAnim">
        <pc:chgData name="Miller, Jonathan M Lt Col USSF USAFA DF/DFAS" userId="d003cf6e-ed25-45fa-8706-5841241c5d7b" providerId="ADAL" clId="{F59DEDBF-AD05-4287-A6AC-89C1CE0F88C3}" dt="2024-08-12T07:25:11.554" v="287"/>
        <pc:sldMkLst>
          <pc:docMk/>
          <pc:sldMk cId="3875966307" sldId="616"/>
        </pc:sldMkLst>
      </pc:sldChg>
      <pc:sldChg chg="modSp new mod modAnim">
        <pc:chgData name="Miller, Jonathan M Lt Col USSF USAFA DF/DFAS" userId="d003cf6e-ed25-45fa-8706-5841241c5d7b" providerId="ADAL" clId="{F59DEDBF-AD05-4287-A6AC-89C1CE0F88C3}" dt="2024-08-12T07:22:49.806" v="283"/>
        <pc:sldMkLst>
          <pc:docMk/>
          <pc:sldMk cId="1347707705" sldId="617"/>
        </pc:sldMkLst>
      </pc:sldChg>
      <pc:sldChg chg="modSp new mod">
        <pc:chgData name="Miller, Jonathan M Lt Col USSF USAFA DF/DFAS" userId="d003cf6e-ed25-45fa-8706-5841241c5d7b" providerId="ADAL" clId="{F59DEDBF-AD05-4287-A6AC-89C1CE0F88C3}" dt="2024-08-12T07:14:34.394" v="274" actId="15"/>
        <pc:sldMkLst>
          <pc:docMk/>
          <pc:sldMk cId="3747267669" sldId="618"/>
        </pc:sldMkLst>
      </pc:sldChg>
      <pc:sldChg chg="modSp new mod">
        <pc:chgData name="Miller, Jonathan M Lt Col USSF USAFA DF/DFAS" userId="d003cf6e-ed25-45fa-8706-5841241c5d7b" providerId="ADAL" clId="{F59DEDBF-AD05-4287-A6AC-89C1CE0F88C3}" dt="2024-08-12T20:04:09.751" v="327" actId="20577"/>
        <pc:sldMkLst>
          <pc:docMk/>
          <pc:sldMk cId="1812679805" sldId="6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31687C92-D099-43A9-B1E5-793A8B9DD779}" type="datetimeFigureOut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7B15040C-6E88-4BFF-9196-21D1001C9A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590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A82AE8-4410-479A-ABC2-E87FE01012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203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A82AE8-4410-479A-ABC2-E87FE010125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7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154363" y="914400"/>
            <a:ext cx="3292475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Forsberg and </a:t>
            </a:r>
            <a:r>
              <a:rPr lang="en-US" altLang="en-US" dirty="0" err="1">
                <a:latin typeface="Arial" panose="020B0604020202020204" pitchFamily="34" charset="0"/>
              </a:rPr>
              <a:t>Mooz</a:t>
            </a:r>
            <a:r>
              <a:rPr lang="en-US" altLang="en-US" dirty="0">
                <a:latin typeface="Arial" panose="020B0604020202020204" pitchFamily="34" charset="0"/>
              </a:rPr>
              <a:t> developed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Decomposition on the left down to an architecture, verification and testing up the right side to meet the original customer needs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At all levels the original needs and requirements are verified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799D20-18E2-4714-8420-C5241A391F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02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A2ED0-7B37-48FA-BF1A-6C2923EBE3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81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F71B5-7CC7-42C9-9B7D-4BE09772E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8260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74E1A-88DC-4289-BC2F-C0A52F7B5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9799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6E9A1-516B-4C15-A2C6-E8E12404D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8937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BB52B-3DFD-48AD-9CB6-583188EE5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1337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DE63E-20C9-4436-BC2C-1F7E7AC93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2018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9B9DB-4BE5-460F-ABE5-106E55B37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8927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CC497-304F-4D07-B956-A2FD1E50B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3782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055ED-F717-423E-B25C-681062F6E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187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BED78-0132-46D7-A19E-E8E32750D6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18948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3985F-6A68-4DA4-A9A3-86A8FA238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3631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B8B6659-4281-4089-8436-E653C42A1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09600" y="-152400"/>
            <a:ext cx="7772400" cy="1470025"/>
          </a:xfrm>
        </p:spPr>
        <p:txBody>
          <a:bodyPr/>
          <a:lstStyle/>
          <a:p>
            <a:r>
              <a:rPr lang="en-US" b="1" dirty="0"/>
              <a:t>Mission Design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88" y="1828800"/>
            <a:ext cx="7220953" cy="406178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53F6-ACC9-C42C-1AA9-5901BF3D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7ED45-299F-AAB7-DD2D-EBE5432D0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5FFD0E15-6351-2E96-E2C8-A620E2529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2676"/>
            <a:ext cx="8763000" cy="55626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2734852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Vs. Constraints 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dirty="0"/>
              <a:t>Requirement </a:t>
            </a:r>
          </a:p>
          <a:p>
            <a:pPr lvl="1"/>
            <a:r>
              <a:rPr lang="en-US" sz="1600" dirty="0"/>
              <a:t>features/capabilities/products/deliverables that expected to be delivered from the project as interim or end results</a:t>
            </a:r>
          </a:p>
          <a:p>
            <a:pPr lvl="1"/>
            <a:r>
              <a:rPr lang="en-US" sz="1600" dirty="0"/>
              <a:t>Requirements focus on the capability of the deliverable rather than the project itself</a:t>
            </a:r>
          </a:p>
          <a:p>
            <a:r>
              <a:rPr lang="en-US" dirty="0"/>
              <a:t>Constraint</a:t>
            </a:r>
          </a:p>
          <a:p>
            <a:pPr lvl="1"/>
            <a:r>
              <a:rPr lang="en-US" sz="1600" dirty="0"/>
              <a:t>factors that need to be taken into accounts when planning the project. Constraints are mostly restrictions imposed on the project. In the PMBOK® Guide, constraints include a total of 6 competing project constraints:</a:t>
            </a:r>
          </a:p>
          <a:p>
            <a:pPr marL="457200" lvl="1" indent="0">
              <a:buNone/>
            </a:pPr>
            <a:r>
              <a:rPr lang="en-US" sz="1600" dirty="0"/>
              <a:t>	</a:t>
            </a:r>
            <a:endParaRPr lang="en-US" sz="1200" dirty="0"/>
          </a:p>
          <a:p>
            <a:pPr lvl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/>
              <a:t>Scope </a:t>
            </a:r>
            <a:r>
              <a:rPr lang="en-US" sz="1200" dirty="0"/>
              <a:t>– what are required/expected of the project?</a:t>
            </a:r>
          </a:p>
          <a:p>
            <a:pPr lvl="1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/>
              <a:t>Time</a:t>
            </a:r>
            <a:r>
              <a:rPr lang="en-US" sz="1200" dirty="0"/>
              <a:t> – when will the project need to be finished?</a:t>
            </a:r>
          </a:p>
          <a:p>
            <a:pPr lvl="1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/>
              <a:t>Cost </a:t>
            </a:r>
            <a:r>
              <a:rPr lang="en-US" sz="1200" dirty="0"/>
              <a:t>– how much money is provided?</a:t>
            </a:r>
          </a:p>
          <a:p>
            <a:pPr lvl="1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/>
              <a:t>Quality</a:t>
            </a:r>
            <a:r>
              <a:rPr lang="en-US" sz="1200" dirty="0"/>
              <a:t> – what is the expectation of the outcome? high or just okay?</a:t>
            </a:r>
          </a:p>
          <a:p>
            <a:pPr lvl="1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/>
              <a:t>Resources</a:t>
            </a:r>
            <a:r>
              <a:rPr lang="en-US" sz="1200" dirty="0"/>
              <a:t> – who are the working team members? what equipment/materials are provided?</a:t>
            </a:r>
          </a:p>
          <a:p>
            <a:pPr lvl="1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/>
              <a:t>Risk </a:t>
            </a:r>
            <a:r>
              <a:rPr lang="en-US" sz="1200" dirty="0"/>
              <a:t>– what can go wrong with the project and how to deal with them?</a:t>
            </a:r>
          </a:p>
          <a:p>
            <a:pPr lvl="2"/>
            <a:endParaRPr lang="en-US" sz="1200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ace Mission Analysis - ppt video onlin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2" y="0"/>
            <a:ext cx="8906105" cy="667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94453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ti Professional Development Short Course Space Mission Analysis Desi…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5" t="9114" r="7312" b="15761"/>
          <a:stretch/>
        </p:blipFill>
        <p:spPr bwMode="auto">
          <a:xfrm>
            <a:off x="457200" y="334537"/>
            <a:ext cx="8290900" cy="569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37643" y="6177775"/>
            <a:ext cx="4010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 1-3 Space Mission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68623929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US" sz="4400" dirty="0"/>
              <a:t>Common System Drivers</a:t>
            </a:r>
          </a:p>
        </p:txBody>
      </p:sp>
      <p:graphicFrame>
        <p:nvGraphicFramePr>
          <p:cNvPr id="6" name="Group 3"/>
          <p:cNvGraphicFramePr>
            <a:graphicFrameLocks noGrp="1"/>
          </p:cNvGraphicFramePr>
          <p:nvPr/>
        </p:nvGraphicFramePr>
        <p:xfrm>
          <a:off x="158750" y="1130301"/>
          <a:ext cx="8735219" cy="5108296"/>
        </p:xfrm>
        <a:graphic>
          <a:graphicData uri="http://schemas.openxmlformats.org/drawingml/2006/table">
            <a:tbl>
              <a:tblPr/>
              <a:tblGrid>
                <a:gridCol w="16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48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Driver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EDEE7"/>
                        </a:gs>
                        <a:gs pos="100000">
                          <a:srgbClr val="A0BECB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What Limits Driver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EDEE7"/>
                        </a:gs>
                        <a:gs pos="100000">
                          <a:srgbClr val="A0BECB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What Driver Limits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EDEE7"/>
                        </a:gs>
                        <a:gs pos="100000">
                          <a:srgbClr val="A0BECB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28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Size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Shroud or bay size, available weight, aerodynamic drag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Payload size (frequently antenna diameter or aperture)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On-orbit Weight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Altitude, inclination, launch vehicle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Payload weight, survivability; largely determines design and manufacturing cost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28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Power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Size, weight (control is secondary problem)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Payload &amp; bus design, system sensitivity, on-orbit life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Data rate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Storage, processing, antenna sizes, limits of existing systems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Information sent to user; can push demand for onboard processing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Communications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Coverage, availability of ground stations or relay satellites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Coverage, timeliness, ability to command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02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Pointing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Cost, mass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Resolution, geolocation, overall system accuracy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02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Number of Spacecraft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Cost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 frequency, and overlap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Altitude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Launch vehicle, performance demands, weight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Performance, survivability, coverage (instantaneous and rate), communications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 (geometry and timing)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Orbit, scheduling, payload field of view &amp; observation time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Data frequency and continuity, maneuver requirements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Scheduling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Timeline &amp; operations, decision making, communications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Coverage, responsiveness, mission utility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458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Operations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Cost, crew size, communications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Frequently principal cost driver, principal error source, pushes demand for autonomy (can also save “lost” missions)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72"/>
          <p:cNvSpPr>
            <a:spLocks/>
          </p:cNvSpPr>
          <p:nvPr/>
        </p:nvSpPr>
        <p:spPr bwMode="auto">
          <a:xfrm>
            <a:off x="2607380" y="6501056"/>
            <a:ext cx="3168952" cy="19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40640" bIns="0">
            <a:spAutoFit/>
          </a:bodyPr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66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Table 2-8 Common System Drivers</a:t>
            </a:r>
          </a:p>
        </p:txBody>
      </p:sp>
    </p:spTree>
    <p:extLst>
      <p:ext uri="{BB962C8B-B14F-4D97-AF65-F5344CB8AC3E}">
        <p14:creationId xmlns:p14="http://schemas.microsoft.com/office/powerpoint/2010/main" val="137852702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Engineering “V”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101" y="5571679"/>
            <a:ext cx="8394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defining requirements, you are on the top left of the V, but you need to keep in mind the whole V process in order to write a good requirement.</a:t>
            </a:r>
          </a:p>
        </p:txBody>
      </p:sp>
      <p:pic>
        <p:nvPicPr>
          <p:cNvPr id="9" name="Picture 8" descr="A diagram of components&#10;&#10;Description automatically generated">
            <a:extLst>
              <a:ext uri="{FF2B5EF4-FFF2-40B4-BE49-F238E27FC236}">
                <a16:creationId xmlns:a16="http://schemas.microsoft.com/office/drawing/2014/main" id="{E22604C2-E206-EF28-2A4C-E27933479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63" y="1617836"/>
            <a:ext cx="9144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5594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B231-4C16-5EEC-541D-BC35D54A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Engineering “V”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12599-3B05-135F-1B38-51C87136B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-apple-system"/>
              </a:rPr>
              <a:t>verification at each level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verify complete system at the end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can’t verify complete system until the system is complete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need to verify components/subsystems along the way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allocation/closure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note what’s missing: build the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7077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and Closure of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Allocation – assigns the function and its associated performance requirement to a lower level design element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Closure – satisfying lower-level requirements ensures system performance at the next higher level, and that we can trace all requirements back to satisfying mission needs</a:t>
            </a:r>
          </a:p>
        </p:txBody>
      </p:sp>
    </p:spTree>
    <p:extLst>
      <p:ext uri="{BB962C8B-B14F-4D97-AF65-F5344CB8AC3E}">
        <p14:creationId xmlns:p14="http://schemas.microsoft.com/office/powerpoint/2010/main" val="12248529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243657"/>
            <a:ext cx="8229600" cy="1143000"/>
          </a:xfrm>
        </p:spPr>
        <p:txBody>
          <a:bodyPr/>
          <a:lstStyle/>
          <a:p>
            <a:r>
              <a:rPr lang="en-US" sz="3200" dirty="0"/>
              <a:t>Allocation and Closure of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7196" y="6222380"/>
            <a:ext cx="3249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Adapted from Fig 4-4 from SMAD v3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94880"/>
            <a:ext cx="8077200" cy="54682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63912B-774A-02DE-833C-38B016C33086}"/>
              </a:ext>
            </a:extLst>
          </p:cNvPr>
          <p:cNvSpPr/>
          <p:nvPr/>
        </p:nvSpPr>
        <p:spPr>
          <a:xfrm>
            <a:off x="228600" y="6019800"/>
            <a:ext cx="8610600" cy="5103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apple-system"/>
              </a:rPr>
              <a:t>requirement allocation (big-to-little/left-to-right) and closure (little-to-big)</a:t>
            </a:r>
            <a:endParaRPr lang="en-US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60298998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7E0B-1873-8788-5B27-05C99B87B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F7D-7B2D-CBC1-1D13-5C8319C3D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effectLst/>
                <a:highlight>
                  <a:srgbClr val="000000"/>
                </a:highlight>
                <a:latin typeface="-apple-system"/>
              </a:rPr>
              <a:t>Requirements will usually be written as sentences or paragraphs: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highlight>
                  <a:srgbClr val="000000"/>
                </a:highlight>
                <a:latin typeface="-apple-system"/>
              </a:rPr>
              <a:t>Attitude control system will maintain bus pointing within 1 degree.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highlight>
                  <a:srgbClr val="000000"/>
                </a:highlight>
                <a:latin typeface="-apple-system"/>
              </a:rPr>
              <a:t>Star sensors will provide accurate bus orientation knowledge with a maximum expected error of 0.2 degree.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663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 dirty="0"/>
              <a:t>Properties of Good Requirements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1289538"/>
            <a:ext cx="8661400" cy="542408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Unique:  </a:t>
            </a:r>
            <a:r>
              <a:rPr lang="en-US" sz="2200" dirty="0"/>
              <a:t>no two </a:t>
            </a:r>
            <a:r>
              <a:rPr lang="en-US" sz="2200" dirty="0" err="1"/>
              <a:t>rqmts</a:t>
            </a:r>
            <a:r>
              <a:rPr lang="en-US" sz="2200" dirty="0"/>
              <a:t> overlap or duplicate each other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Unambiguous:  </a:t>
            </a:r>
            <a:r>
              <a:rPr lang="en-US" sz="2200" dirty="0"/>
              <a:t>no misunderstanding of exactly what is required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Testable:  </a:t>
            </a:r>
            <a:r>
              <a:rPr lang="en-US" sz="2200" dirty="0"/>
              <a:t>practical way of determining whether delivered system actually meets </a:t>
            </a:r>
            <a:r>
              <a:rPr lang="en-US" sz="2200" dirty="0" err="1"/>
              <a:t>rqmt</a:t>
            </a:r>
            <a:endParaRPr lang="en-US" sz="22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Traceable:  </a:t>
            </a:r>
            <a:r>
              <a:rPr lang="en-US" sz="2200" dirty="0"/>
              <a:t>every high-level </a:t>
            </a:r>
            <a:r>
              <a:rPr lang="en-US" sz="2200" dirty="0" err="1"/>
              <a:t>rqmt</a:t>
            </a:r>
            <a:r>
              <a:rPr lang="en-US" sz="2200" dirty="0"/>
              <a:t> is broken down into one or more low-level testable requirements and every low-level </a:t>
            </a:r>
            <a:r>
              <a:rPr lang="en-US" sz="2200" dirty="0" err="1"/>
              <a:t>rqmt</a:t>
            </a:r>
            <a:r>
              <a:rPr lang="en-US" sz="2200" dirty="0"/>
              <a:t> supports a documented high-level </a:t>
            </a:r>
            <a:r>
              <a:rPr lang="en-US" sz="2200" dirty="0" err="1"/>
              <a:t>rqmt</a:t>
            </a:r>
            <a:endParaRPr lang="en-US" sz="22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Consistent:  </a:t>
            </a:r>
            <a:r>
              <a:rPr lang="en-US" sz="2200" dirty="0"/>
              <a:t>doesn’t conflict with other </a:t>
            </a:r>
            <a:r>
              <a:rPr lang="en-US" sz="2200" dirty="0" err="1"/>
              <a:t>rqmts</a:t>
            </a:r>
            <a:endParaRPr lang="en-US" sz="22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Specific:  </a:t>
            </a:r>
            <a:r>
              <a:rPr lang="en-US" sz="2200" dirty="0"/>
              <a:t>focuses on one thing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Essential:  </a:t>
            </a:r>
            <a:r>
              <a:rPr lang="en-US" sz="2200" dirty="0"/>
              <a:t>creates a deficiency if deleted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Complete:  </a:t>
            </a:r>
            <a:r>
              <a:rPr lang="en-US" sz="2200" dirty="0"/>
              <a:t>not missing any conditions or constraints that would distinguish an acceptable system from an unacceptable system</a:t>
            </a:r>
          </a:p>
        </p:txBody>
      </p:sp>
    </p:spTree>
    <p:extLst>
      <p:ext uri="{BB962C8B-B14F-4D97-AF65-F5344CB8AC3E}">
        <p14:creationId xmlns:p14="http://schemas.microsoft.com/office/powerpoint/2010/main" val="4242277757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28650" y="345650"/>
            <a:ext cx="7886700" cy="994172"/>
          </a:xfrm>
        </p:spPr>
        <p:txBody>
          <a:bodyPr>
            <a:normAutofit/>
          </a:bodyPr>
          <a:lstStyle/>
          <a:p>
            <a:r>
              <a:rPr lang="en-US" sz="3600" dirty="0"/>
              <a:t>What to Avoid in Writing Good </a:t>
            </a:r>
            <a:r>
              <a:rPr lang="en-US" sz="3600" dirty="0" err="1"/>
              <a:t>Rqmts</a:t>
            </a:r>
            <a:endParaRPr lang="en-US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39489" y="1544445"/>
            <a:ext cx="3554452" cy="5177030"/>
          </a:xfrm>
        </p:spPr>
        <p:txBody>
          <a:bodyPr>
            <a:noAutofit/>
          </a:bodyPr>
          <a:lstStyle/>
          <a:p>
            <a:r>
              <a:rPr lang="en-US" sz="2400" dirty="0"/>
              <a:t>Multiple </a:t>
            </a:r>
            <a:r>
              <a:rPr lang="en-US" sz="2400" dirty="0" err="1"/>
              <a:t>Rqmts</a:t>
            </a:r>
            <a:endParaRPr lang="en-US" sz="2400" dirty="0"/>
          </a:p>
          <a:p>
            <a:pPr lvl="1"/>
            <a:r>
              <a:rPr lang="en-US" sz="2000" dirty="0"/>
              <a:t>And</a:t>
            </a:r>
          </a:p>
          <a:p>
            <a:pPr lvl="1"/>
            <a:r>
              <a:rPr lang="en-US" sz="2000" dirty="0"/>
              <a:t>Or</a:t>
            </a:r>
          </a:p>
          <a:p>
            <a:pPr lvl="1"/>
            <a:endParaRPr lang="en-US" sz="1800" dirty="0"/>
          </a:p>
          <a:p>
            <a:r>
              <a:rPr lang="en-US" sz="2400" dirty="0"/>
              <a:t>Conditional Clauses</a:t>
            </a:r>
          </a:p>
          <a:p>
            <a:pPr lvl="1"/>
            <a:r>
              <a:rPr lang="en-US" sz="2000" dirty="0"/>
              <a:t>If</a:t>
            </a:r>
          </a:p>
          <a:p>
            <a:pPr lvl="1"/>
            <a:r>
              <a:rPr lang="en-US" sz="2000" dirty="0"/>
              <a:t>Once</a:t>
            </a:r>
          </a:p>
          <a:p>
            <a:pPr lvl="1"/>
            <a:r>
              <a:rPr lang="en-US" sz="2000" dirty="0"/>
              <a:t>When</a:t>
            </a:r>
          </a:p>
          <a:p>
            <a:pPr lvl="1"/>
            <a:r>
              <a:rPr lang="en-US" sz="2000" dirty="0"/>
              <a:t>Unless</a:t>
            </a:r>
          </a:p>
          <a:p>
            <a:pPr lvl="1"/>
            <a:r>
              <a:rPr lang="en-US" sz="2000" dirty="0"/>
              <a:t>Except</a:t>
            </a:r>
          </a:p>
          <a:p>
            <a:pPr lvl="1"/>
            <a:r>
              <a:rPr lang="en-US" sz="2000" dirty="0"/>
              <a:t>Although</a:t>
            </a:r>
          </a:p>
          <a:p>
            <a:pPr lvl="1"/>
            <a:r>
              <a:rPr lang="en-US" sz="2000" dirty="0"/>
              <a:t>Always</a:t>
            </a:r>
          </a:p>
          <a:p>
            <a:pPr lvl="1"/>
            <a:endParaRPr lang="en-US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181135" y="1561173"/>
            <a:ext cx="4096680" cy="33944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Possibilities</a:t>
            </a:r>
          </a:p>
          <a:p>
            <a:pPr lvl="1"/>
            <a:r>
              <a:rPr lang="en-US" sz="2000" dirty="0"/>
              <a:t>Should</a:t>
            </a:r>
          </a:p>
          <a:p>
            <a:pPr lvl="1"/>
            <a:r>
              <a:rPr lang="en-US" sz="2000" dirty="0"/>
              <a:t>Might</a:t>
            </a:r>
          </a:p>
          <a:p>
            <a:pPr lvl="1"/>
            <a:r>
              <a:rPr lang="en-US" sz="2000" dirty="0"/>
              <a:t>Ought</a:t>
            </a:r>
          </a:p>
          <a:p>
            <a:pPr lvl="1"/>
            <a:r>
              <a:rPr lang="en-US" sz="2000" dirty="0"/>
              <a:t>Could</a:t>
            </a:r>
          </a:p>
          <a:p>
            <a:pPr lvl="1"/>
            <a:r>
              <a:rPr lang="en-US" sz="2000" dirty="0"/>
              <a:t>Perhaps</a:t>
            </a:r>
          </a:p>
          <a:p>
            <a:pPr lvl="1"/>
            <a:r>
              <a:rPr lang="en-US" sz="2000" dirty="0"/>
              <a:t>Probably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21544159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406293" y="1209372"/>
            <a:ext cx="2743200" cy="39356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Subjective Phrases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User-friendly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Easy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Simple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Rapid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Efficient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Several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State-of-the-Art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Improve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Maximize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Minimize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Optimize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Adequate</a:t>
            </a:r>
          </a:p>
          <a:p>
            <a:pPr lvl="1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16548" y="1209372"/>
            <a:ext cx="3444446" cy="39356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Subjective Phrases (cont.)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Flexible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Approximately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Modern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Versatile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As possible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Facilities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Support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High performance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Large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Intuitive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Robust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Sufficient</a:t>
            </a:r>
          </a:p>
          <a:p>
            <a:pPr lvl="1"/>
            <a:endParaRPr lang="en-US" sz="20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58873" y="213764"/>
            <a:ext cx="8515350" cy="99417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What to Avoid in Writing Good </a:t>
            </a:r>
            <a:r>
              <a:rPr lang="en-US" sz="3600" dirty="0" err="1"/>
              <a:t>Rqmts</a:t>
            </a:r>
            <a:r>
              <a:rPr lang="en-US" sz="3600" dirty="0"/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104871064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 descr="Space Mission Analysis - ppt video onlin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22943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423"/>
            <a:ext cx="8229600" cy="1143000"/>
          </a:xfrm>
        </p:spPr>
        <p:txBody>
          <a:bodyPr/>
          <a:lstStyle/>
          <a:p>
            <a:r>
              <a:rPr lang="en-US" sz="3600" dirty="0" err="1"/>
              <a:t>FireSAT</a:t>
            </a:r>
            <a:r>
              <a:rPr lang="en-US" sz="3600" dirty="0"/>
              <a:t> Requirements &amp; Constraints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176128"/>
              </p:ext>
            </p:extLst>
          </p:nvPr>
        </p:nvGraphicFramePr>
        <p:xfrm>
          <a:off x="548640" y="982561"/>
          <a:ext cx="8138160" cy="536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Functional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Rqmts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Operational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Rqmts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Constraints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 m resolution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 m location accuracy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Coverage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 for USA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Responsiveness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Send registered data within 30 min of detecting fire to up to 50 users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Secondary Mission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temperature levels for pest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Duration</a:t>
                      </a:r>
                    </a:p>
                    <a:p>
                      <a:pPr marL="176213" indent="-176213"/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At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leat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yrs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Availability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98%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excluding weather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3-day maximum outage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Timeliness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Survivability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Natural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environment only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Distribution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Up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500 fire-monitoring office &amp; 2000 rangers worldwide with a max of 100 simultaneous users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Content, Form, &amp; Format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 and extent of fire on any of 12 map bases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temperature for each 30 square meter grid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Storage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&lt;$20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million/</a:t>
                      </a:r>
                      <a:r>
                        <a:rPr lang="en-US" sz="1400" kern="1200" baseline="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yr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plus R&amp;D costs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5 </a:t>
                      </a:r>
                      <a:r>
                        <a:rPr lang="en-US" sz="1400" kern="1200" baseline="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yrs</a:t>
                      </a:r>
                      <a:endParaRPr lang="en-US" sz="1400" kern="1200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 in 6 </a:t>
                      </a:r>
                      <a:r>
                        <a:rPr lang="en-US" sz="1400" kern="1200" baseline="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yrs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Regulations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NASA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mission (federal </a:t>
                      </a:r>
                      <a:r>
                        <a:rPr lang="en-US" sz="1400" kern="1200" baseline="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regs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procurement constraints apply)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Political Limits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Responsive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public demand for actions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Economic Return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Communication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relay and interoperable through NOAA ground stations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Development Constraints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Launch</a:t>
                      </a: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on Shuttle or expendable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unique operations people at data distribution nodes</a:t>
                      </a: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Spacecraft Disposal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72"/>
          <p:cNvSpPr>
            <a:spLocks/>
          </p:cNvSpPr>
          <p:nvPr/>
        </p:nvSpPr>
        <p:spPr bwMode="auto">
          <a:xfrm>
            <a:off x="7696200" y="5481022"/>
            <a:ext cx="5306707" cy="389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>
            <a:spAutoFit/>
          </a:bodyPr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Adapted from Designing Space Mission and Systems,</a:t>
            </a:r>
          </a:p>
          <a:p>
            <a:pPr algn="r"/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Teaching Science and Technology, Inc.</a:t>
            </a:r>
          </a:p>
        </p:txBody>
      </p:sp>
    </p:spTree>
    <p:extLst>
      <p:ext uri="{BB962C8B-B14F-4D97-AF65-F5344CB8AC3E}">
        <p14:creationId xmlns:p14="http://schemas.microsoft.com/office/powerpoint/2010/main" val="229947702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9237-97BD-F7AB-216F-44F12989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CA697-A035-5ED9-23BA-90DFE6187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">
            <a:extLst>
              <a:ext uri="{FF2B5EF4-FFF2-40B4-BE49-F238E27FC236}">
                <a16:creationId xmlns:a16="http://schemas.microsoft.com/office/drawing/2014/main" id="{3FC2EFFA-2268-F003-20CA-EEFE6F296073}"/>
              </a:ext>
            </a:extLst>
          </p:cNvPr>
          <p:cNvGrpSpPr/>
          <p:nvPr/>
        </p:nvGrpSpPr>
        <p:grpSpPr>
          <a:xfrm>
            <a:off x="152400" y="234654"/>
            <a:ext cx="8763000" cy="6547145"/>
            <a:chOff x="-892440" y="-696400"/>
            <a:chExt cx="12141317" cy="8942177"/>
          </a:xfrm>
        </p:grpSpPr>
        <p:pic>
          <p:nvPicPr>
            <p:cNvPr id="5" name="Screen Shot 2021-10-29 at 5.06.29 PM.png" descr="Screen Shot 2021-10-29 at 5.06.29 PM.png">
              <a:extLst>
                <a:ext uri="{FF2B5EF4-FFF2-40B4-BE49-F238E27FC236}">
                  <a16:creationId xmlns:a16="http://schemas.microsoft.com/office/drawing/2014/main" id="{FD3E0780-9D5F-45C1-5829-CEBB897E2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892440" y="-696400"/>
              <a:ext cx="12141317" cy="89421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FEE0F0EA-AFC7-120C-E246-351BBF8BAD52}"/>
                </a:ext>
              </a:extLst>
            </p:cNvPr>
            <p:cNvSpPr/>
            <p:nvPr/>
          </p:nvSpPr>
          <p:spPr>
            <a:xfrm>
              <a:off x="7341268" y="4406262"/>
              <a:ext cx="978723" cy="474469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76200" tIns="76200" rIns="76200" bIns="76200" numCol="1" anchor="ctr">
              <a:noAutofit/>
            </a:bodyPr>
            <a:lstStyle/>
            <a:p>
              <a:pPr marR="0" algn="ctr" defTabSz="647700">
                <a:defRPr sz="5600">
                  <a:solidFill>
                    <a:srgbClr val="FFFFFF"/>
                  </a:solidFill>
                  <a:effectLst>
                    <a:outerShdw blurRad="63500" dist="25400" dir="2700000" rotWithShape="0">
                      <a:srgbClr val="000000">
                        <a:alpha val="70000"/>
                      </a:srgbClr>
                    </a:outerShdw>
                  </a:effectLst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58900725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B4FC-AA10-A33A-1707-88C2B923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NASA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F76D-5460-3A78-FFC5-260E0DEDF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3.2 safety and mission assurance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3.2.5 emergency equipment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3.2.5.2 breathing mask (page 39)</a:t>
            </a:r>
          </a:p>
          <a:p>
            <a:endParaRPr lang="en-US" dirty="0"/>
          </a:p>
        </p:txBody>
      </p:sp>
      <p:pic>
        <p:nvPicPr>
          <p:cNvPr id="5" name="Picture 4" descr="A person in a blue suit holding flowers&#10;&#10;Description automatically generated">
            <a:extLst>
              <a:ext uri="{FF2B5EF4-FFF2-40B4-BE49-F238E27FC236}">
                <a16:creationId xmlns:a16="http://schemas.microsoft.com/office/drawing/2014/main" id="{437708D6-393E-EC8C-EF35-047DE5135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282519"/>
            <a:ext cx="6239109" cy="302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676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493C-9CAC-62C3-9AF1-95E4749E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next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F16DF-69F6-E3E7-2995-E6C3037E6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install by next lesson:</a:t>
            </a:r>
          </a:p>
          <a:p>
            <a:pPr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winget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install </a:t>
            </a: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git.git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winget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install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tortoisegit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67980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6D1DAC-2261-4E8B-9AEB-51A241A5345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14DFC64-A262-4532-BE10-84A8EC97BF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4F07F3-ED3B-4BF7-85DF-81E2EF426B87}"/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7296</TotalTime>
  <Words>1015</Words>
  <Application>Microsoft Office PowerPoint</Application>
  <PresentationFormat>On-screen Show (4:3)</PresentationFormat>
  <Paragraphs>190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-apple-system</vt:lpstr>
      <vt:lpstr>Aptos</vt:lpstr>
      <vt:lpstr>Arial</vt:lpstr>
      <vt:lpstr>Helvetica</vt:lpstr>
      <vt:lpstr>Symbol</vt:lpstr>
      <vt:lpstr>Default Design</vt:lpstr>
      <vt:lpstr>Mission Design</vt:lpstr>
      <vt:lpstr>PowerPoint Presentation</vt:lpstr>
      <vt:lpstr>Requirements Vs. Constraints </vt:lpstr>
      <vt:lpstr>PowerPoint Presentation</vt:lpstr>
      <vt:lpstr>PowerPoint Presentation</vt:lpstr>
      <vt:lpstr>Common System Drivers</vt:lpstr>
      <vt:lpstr>Systems Engineering “V” model</vt:lpstr>
      <vt:lpstr>Systems Engineering “V” model</vt:lpstr>
      <vt:lpstr>Allocation and Closure of Requirements</vt:lpstr>
      <vt:lpstr>Allocation and Closure of Requirements</vt:lpstr>
      <vt:lpstr>Requirements </vt:lpstr>
      <vt:lpstr>Properties of Good Requirements</vt:lpstr>
      <vt:lpstr>What to Avoid in Writing Good Rqmts</vt:lpstr>
      <vt:lpstr>What to Avoid in Writing Good Rqmts (cont.)</vt:lpstr>
      <vt:lpstr>PowerPoint Presentation</vt:lpstr>
      <vt:lpstr>FireSAT Requirements &amp; Constraints</vt:lpstr>
      <vt:lpstr>PowerPoint Presentation</vt:lpstr>
      <vt:lpstr>NASA Example</vt:lpstr>
      <vt:lpstr>By next Lesson</vt:lpstr>
    </vt:vector>
  </TitlesOfParts>
  <Company>usafa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david.french</dc:creator>
  <cp:lastModifiedBy>Harris, Wyatt J Lt Col USAF USAFA DF/DFAS</cp:lastModifiedBy>
  <cp:revision>187</cp:revision>
  <cp:lastPrinted>2012-08-09T15:11:59Z</cp:lastPrinted>
  <dcterms:created xsi:type="dcterms:W3CDTF">2005-08-29T21:27:48Z</dcterms:created>
  <dcterms:modified xsi:type="dcterms:W3CDTF">2025-08-08T19:33:03Z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