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40"/>
  </p:notesMasterIdLst>
  <p:sldIdLst>
    <p:sldId id="256" r:id="rId5"/>
    <p:sldId id="275" r:id="rId6"/>
    <p:sldId id="276" r:id="rId7"/>
    <p:sldId id="306" r:id="rId8"/>
    <p:sldId id="278" r:id="rId9"/>
    <p:sldId id="284" r:id="rId10"/>
    <p:sldId id="290" r:id="rId11"/>
    <p:sldId id="286" r:id="rId12"/>
    <p:sldId id="277" r:id="rId13"/>
    <p:sldId id="296" r:id="rId14"/>
    <p:sldId id="285" r:id="rId15"/>
    <p:sldId id="291" r:id="rId16"/>
    <p:sldId id="279" r:id="rId17"/>
    <p:sldId id="283" r:id="rId18"/>
    <p:sldId id="287" r:id="rId19"/>
    <p:sldId id="297" r:id="rId20"/>
    <p:sldId id="298" r:id="rId21"/>
    <p:sldId id="288" r:id="rId22"/>
    <p:sldId id="280" r:id="rId23"/>
    <p:sldId id="281" r:id="rId24"/>
    <p:sldId id="282" r:id="rId25"/>
    <p:sldId id="303" r:id="rId26"/>
    <p:sldId id="289" r:id="rId27"/>
    <p:sldId id="294" r:id="rId28"/>
    <p:sldId id="304" r:id="rId29"/>
    <p:sldId id="292" r:id="rId30"/>
    <p:sldId id="299" r:id="rId31"/>
    <p:sldId id="295" r:id="rId32"/>
    <p:sldId id="305" r:id="rId33"/>
    <p:sldId id="293" r:id="rId34"/>
    <p:sldId id="302" r:id="rId35"/>
    <p:sldId id="308" r:id="rId36"/>
    <p:sldId id="301" r:id="rId37"/>
    <p:sldId id="300" r:id="rId38"/>
    <p:sldId id="307" r:id="rId39"/>
  </p:sldIdLst>
  <p:sldSz cx="9144000" cy="6858000" type="letter"/>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AA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14C6BC-0432-40ED-BF00-801547FC80F6}" v="47" dt="2026-02-06T04:30:16.0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ris, Wyatt J Lt Col USAF USAFA DF/DFAS" userId="768bfb95-c272-4014-8fa2-010c15306053" providerId="ADAL" clId="{95571437-1CDD-49A9-9F44-9267EE8F1204}"/>
    <pc:docChg chg="undo custSel addSld delSld modSld sldOrd">
      <pc:chgData name="Harris, Wyatt J Lt Col USAF USAFA DF/DFAS" userId="768bfb95-c272-4014-8fa2-010c15306053" providerId="ADAL" clId="{95571437-1CDD-49A9-9F44-9267EE8F1204}" dt="2026-02-06T04:30:16.097" v="3188"/>
      <pc:docMkLst>
        <pc:docMk/>
      </pc:docMkLst>
      <pc:sldChg chg="modNotesTx">
        <pc:chgData name="Harris, Wyatt J Lt Col USAF USAFA DF/DFAS" userId="768bfb95-c272-4014-8fa2-010c15306053" providerId="ADAL" clId="{95571437-1CDD-49A9-9F44-9267EE8F1204}" dt="2026-02-06T04:22:21.761" v="3183" actId="20577"/>
        <pc:sldMkLst>
          <pc:docMk/>
          <pc:sldMk cId="1463673274" sldId="280"/>
        </pc:sldMkLst>
      </pc:sldChg>
      <pc:sldChg chg="modSp">
        <pc:chgData name="Harris, Wyatt J Lt Col USAF USAFA DF/DFAS" userId="768bfb95-c272-4014-8fa2-010c15306053" providerId="ADAL" clId="{95571437-1CDD-49A9-9F44-9267EE8F1204}" dt="2026-02-06T04:23:46.023" v="3186" actId="20577"/>
        <pc:sldMkLst>
          <pc:docMk/>
          <pc:sldMk cId="1730286099" sldId="281"/>
        </pc:sldMkLst>
        <pc:spChg chg="mod">
          <ac:chgData name="Harris, Wyatt J Lt Col USAF USAFA DF/DFAS" userId="768bfb95-c272-4014-8fa2-010c15306053" providerId="ADAL" clId="{95571437-1CDD-49A9-9F44-9267EE8F1204}" dt="2026-02-06T04:23:46.023" v="3186" actId="20577"/>
          <ac:spMkLst>
            <pc:docMk/>
            <pc:sldMk cId="1730286099" sldId="281"/>
            <ac:spMk id="5" creationId="{F25C97C1-5BC1-1CED-9549-526131194C81}"/>
          </ac:spMkLst>
        </pc:spChg>
      </pc:sldChg>
      <pc:sldChg chg="addSp modSp mod ord modAnim modNotesTx">
        <pc:chgData name="Harris, Wyatt J Lt Col USAF USAFA DF/DFAS" userId="768bfb95-c272-4014-8fa2-010c15306053" providerId="ADAL" clId="{95571437-1CDD-49A9-9F44-9267EE8F1204}" dt="2026-02-06T04:08:57.230" v="3145" actId="20577"/>
        <pc:sldMkLst>
          <pc:docMk/>
          <pc:sldMk cId="1853124547" sldId="284"/>
        </pc:sldMkLst>
      </pc:sldChg>
      <pc:sldChg chg="modNotesTx">
        <pc:chgData name="Harris, Wyatt J Lt Col USAF USAFA DF/DFAS" userId="768bfb95-c272-4014-8fa2-010c15306053" providerId="ADAL" clId="{95571437-1CDD-49A9-9F44-9267EE8F1204}" dt="2026-02-06T04:14:57.477" v="3172" actId="20577"/>
        <pc:sldMkLst>
          <pc:docMk/>
          <pc:sldMk cId="3827388695" sldId="290"/>
        </pc:sldMkLst>
      </pc:sldChg>
      <pc:sldChg chg="ord">
        <pc:chgData name="Harris, Wyatt J Lt Col USAF USAFA DF/DFAS" userId="768bfb95-c272-4014-8fa2-010c15306053" providerId="ADAL" clId="{95571437-1CDD-49A9-9F44-9267EE8F1204}" dt="2026-02-06T04:30:16.097" v="3188"/>
        <pc:sldMkLst>
          <pc:docMk/>
          <pc:sldMk cId="2529071092" sldId="30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32" tIns="45716" rIns="91432" bIns="45716"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32" tIns="45716" rIns="91432" bIns="45716" rtlCol="0"/>
          <a:lstStyle>
            <a:lvl1pPr algn="r">
              <a:defRPr sz="1200"/>
            </a:lvl1pPr>
          </a:lstStyle>
          <a:p>
            <a:fld id="{94D2EC29-5E9A-49E8-BC12-73FDF6305747}" type="datetimeFigureOut">
              <a:rPr lang="en-US" smtClean="0"/>
              <a:t>2/5/2026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32" tIns="45716" rIns="91432" bIns="45716"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32" tIns="45716" rIns="91432" bIns="4571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32" tIns="45716" rIns="91432" bIns="45716"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32" tIns="45716" rIns="91432" bIns="45716" rtlCol="0" anchor="b"/>
          <a:lstStyle>
            <a:lvl1pPr algn="r">
              <a:defRPr sz="1200"/>
            </a:lvl1pPr>
          </a:lstStyle>
          <a:p>
            <a:fld id="{9EB4C982-825B-414E-ABB9-79AB251390A5}" type="slidenum">
              <a:rPr lang="en-US" smtClean="0"/>
              <a:t>‹#›</a:t>
            </a:fld>
            <a:endParaRPr lang="en-US"/>
          </a:p>
        </p:txBody>
      </p:sp>
    </p:spTree>
    <p:extLst>
      <p:ext uri="{BB962C8B-B14F-4D97-AF65-F5344CB8AC3E}">
        <p14:creationId xmlns:p14="http://schemas.microsoft.com/office/powerpoint/2010/main" val="642321261"/>
      </p:ext>
    </p:extLst>
  </p:cSld>
  <p:clrMap bg1="lt1" tx1="dk1" bg2="lt2" tx2="dk2" accent1="accent1" accent2="accent2" accent3="accent3" accent4="accent4" accent5="accent5" accent6="accent6" hlink="hlink" folHlink="folHlink"/>
  <p:notesStyle>
    <a:lvl1pPr marL="0" algn="l" defTabSz="914315" rtl="0" eaLnBrk="1" latinLnBrk="0" hangingPunct="1">
      <a:defRPr sz="1200" kern="1200">
        <a:solidFill>
          <a:schemeClr val="tx1"/>
        </a:solidFill>
        <a:latin typeface="+mn-lt"/>
        <a:ea typeface="+mn-ea"/>
        <a:cs typeface="+mn-cs"/>
      </a:defRPr>
    </a:lvl1pPr>
    <a:lvl2pPr marL="457158" algn="l" defTabSz="914315" rtl="0" eaLnBrk="1" latinLnBrk="0" hangingPunct="1">
      <a:defRPr sz="1200" kern="1200">
        <a:solidFill>
          <a:schemeClr val="tx1"/>
        </a:solidFill>
        <a:latin typeface="+mn-lt"/>
        <a:ea typeface="+mn-ea"/>
        <a:cs typeface="+mn-cs"/>
      </a:defRPr>
    </a:lvl2pPr>
    <a:lvl3pPr marL="914315" algn="l" defTabSz="914315" rtl="0" eaLnBrk="1" latinLnBrk="0" hangingPunct="1">
      <a:defRPr sz="1200" kern="1200">
        <a:solidFill>
          <a:schemeClr val="tx1"/>
        </a:solidFill>
        <a:latin typeface="+mn-lt"/>
        <a:ea typeface="+mn-ea"/>
        <a:cs typeface="+mn-cs"/>
      </a:defRPr>
    </a:lvl3pPr>
    <a:lvl4pPr marL="1371474" algn="l" defTabSz="914315" rtl="0" eaLnBrk="1" latinLnBrk="0" hangingPunct="1">
      <a:defRPr sz="1200" kern="1200">
        <a:solidFill>
          <a:schemeClr val="tx1"/>
        </a:solidFill>
        <a:latin typeface="+mn-lt"/>
        <a:ea typeface="+mn-ea"/>
        <a:cs typeface="+mn-cs"/>
      </a:defRPr>
    </a:lvl4pPr>
    <a:lvl5pPr marL="1828631" algn="l" defTabSz="914315" rtl="0" eaLnBrk="1" latinLnBrk="0" hangingPunct="1">
      <a:defRPr sz="1200" kern="1200">
        <a:solidFill>
          <a:schemeClr val="tx1"/>
        </a:solidFill>
        <a:latin typeface="+mn-lt"/>
        <a:ea typeface="+mn-ea"/>
        <a:cs typeface="+mn-cs"/>
      </a:defRPr>
    </a:lvl5pPr>
    <a:lvl6pPr marL="2285789" algn="l" defTabSz="914315" rtl="0" eaLnBrk="1" latinLnBrk="0" hangingPunct="1">
      <a:defRPr sz="1200" kern="1200">
        <a:solidFill>
          <a:schemeClr val="tx1"/>
        </a:solidFill>
        <a:latin typeface="+mn-lt"/>
        <a:ea typeface="+mn-ea"/>
        <a:cs typeface="+mn-cs"/>
      </a:defRPr>
    </a:lvl6pPr>
    <a:lvl7pPr marL="2742947" algn="l" defTabSz="914315" rtl="0" eaLnBrk="1" latinLnBrk="0" hangingPunct="1">
      <a:defRPr sz="1200" kern="1200">
        <a:solidFill>
          <a:schemeClr val="tx1"/>
        </a:solidFill>
        <a:latin typeface="+mn-lt"/>
        <a:ea typeface="+mn-ea"/>
        <a:cs typeface="+mn-cs"/>
      </a:defRPr>
    </a:lvl7pPr>
    <a:lvl8pPr marL="3200104" algn="l" defTabSz="914315" rtl="0" eaLnBrk="1" latinLnBrk="0" hangingPunct="1">
      <a:defRPr sz="1200" kern="1200">
        <a:solidFill>
          <a:schemeClr val="tx1"/>
        </a:solidFill>
        <a:latin typeface="+mn-lt"/>
        <a:ea typeface="+mn-ea"/>
        <a:cs typeface="+mn-cs"/>
      </a:defRPr>
    </a:lvl8pPr>
    <a:lvl9pPr marL="3657263" algn="l" defTabSz="91431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8" Type="http://schemas.openxmlformats.org/officeDocument/2006/relationships/hyperlink" Target="https://en.wikipedia.org/wiki/Geosynchronous_Earth_orbit" TargetMode="External"/><Relationship Id="rId3" Type="http://schemas.openxmlformats.org/officeDocument/2006/relationships/hyperlink" Target="https://en.wikipedia.org/wiki/United_States_Space_Force" TargetMode="External"/><Relationship Id="rId7" Type="http://schemas.openxmlformats.org/officeDocument/2006/relationships/hyperlink" Target="https://en.wikipedia.org/wiki/Battlespace" TargetMode="External"/><Relationship Id="rId2" Type="http://schemas.openxmlformats.org/officeDocument/2006/relationships/slide" Target="../slides/slide35.xml"/><Relationship Id="rId1" Type="http://schemas.openxmlformats.org/officeDocument/2006/relationships/notesMaster" Target="../notesMasters/notesMaster1.xml"/><Relationship Id="rId6" Type="http://schemas.openxmlformats.org/officeDocument/2006/relationships/hyperlink" Target="https://en.wikipedia.org/wiki/Missile_defense" TargetMode="External"/><Relationship Id="rId5" Type="http://schemas.openxmlformats.org/officeDocument/2006/relationships/hyperlink" Target="https://en.wikipedia.org/wiki/Infrared" TargetMode="External"/><Relationship Id="rId4" Type="http://schemas.openxmlformats.org/officeDocument/2006/relationships/hyperlink" Target="https://en.wikipedia.org/wiki/United_States_Department_of_Defense" TargetMode="External"/><Relationship Id="rId9" Type="http://schemas.openxmlformats.org/officeDocument/2006/relationships/hyperlink" Target="https://en.wikipedia.org/wiki/Molniya_orbit"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https://www.youtube.com/watch?v=jVXgWGK9Kr8</a:t>
            </a:r>
          </a:p>
        </p:txBody>
      </p:sp>
      <p:sp>
        <p:nvSpPr>
          <p:cNvPr id="4" name="Slide Number Placeholder 3"/>
          <p:cNvSpPr>
            <a:spLocks noGrp="1"/>
          </p:cNvSpPr>
          <p:nvPr>
            <p:ph type="sldNum" sz="quarter" idx="5"/>
          </p:nvPr>
        </p:nvSpPr>
        <p:spPr/>
        <p:txBody>
          <a:bodyPr/>
          <a:lstStyle/>
          <a:p>
            <a:fld id="{9EB4C982-825B-414E-ABB9-79AB251390A5}" type="slidenum">
              <a:rPr lang="en-US" smtClean="0"/>
              <a:t>1</a:t>
            </a:fld>
            <a:endParaRPr lang="en-US"/>
          </a:p>
        </p:txBody>
      </p:sp>
    </p:spTree>
    <p:extLst>
      <p:ext uri="{BB962C8B-B14F-4D97-AF65-F5344CB8AC3E}">
        <p14:creationId xmlns:p14="http://schemas.microsoft.com/office/powerpoint/2010/main" val="4662042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Mantis shrimp vision is one of the most extraordinary sensory systems in the animal kingdom. Their eyes are often called </a:t>
            </a:r>
            <a:r>
              <a:rPr lang="en-US" b="1"/>
              <a:t>nature’s most complex visual organs</a:t>
            </a:r>
            <a:r>
              <a:rPr lang="en-US"/>
              <a:t>, and studying them has influenced everything from evolutionary biology to biomimetic sensor design.</a:t>
            </a:r>
          </a:p>
          <a:p>
            <a:br>
              <a:rPr lang="en-US"/>
            </a:br>
            <a:endParaRPr lang="en-US"/>
          </a:p>
          <a:p>
            <a:r>
              <a:rPr lang="en-US" b="1"/>
              <a:t>Eye Structure</a:t>
            </a:r>
          </a:p>
          <a:p>
            <a:r>
              <a:rPr lang="en-US" b="1"/>
              <a:t>Compound eyes:</a:t>
            </a:r>
            <a:r>
              <a:rPr lang="en-US"/>
              <a:t> Like many crustaceans, mantis shrimp have compound eyes, but with unique specializations.</a:t>
            </a:r>
          </a:p>
          <a:p>
            <a:r>
              <a:rPr lang="en-US"/>
              <a:t>Each eye is mounted on a stalk and can move </a:t>
            </a:r>
            <a:r>
              <a:rPr lang="en-US" b="1"/>
              <a:t>independently</a:t>
            </a:r>
            <a:r>
              <a:rPr lang="en-US"/>
              <a:t>, giving nearly 360° vision.</a:t>
            </a:r>
          </a:p>
          <a:p>
            <a:r>
              <a:rPr lang="en-US"/>
              <a:t>The eye has three distinct regions:</a:t>
            </a:r>
          </a:p>
          <a:p>
            <a:pPr lvl="1"/>
            <a:r>
              <a:rPr lang="en-US" b="1"/>
              <a:t>Dorsal hemisphere</a:t>
            </a:r>
            <a:endParaRPr lang="en-US"/>
          </a:p>
          <a:p>
            <a:pPr lvl="1"/>
            <a:r>
              <a:rPr lang="en-US" b="1"/>
              <a:t>Ventral hemisphere</a:t>
            </a:r>
            <a:endParaRPr lang="en-US"/>
          </a:p>
          <a:p>
            <a:pPr lvl="1"/>
            <a:r>
              <a:rPr lang="en-US" b="1"/>
              <a:t>Midband</a:t>
            </a:r>
            <a:r>
              <a:rPr lang="en-US"/>
              <a:t> (a specialized strip with rows of ommatidia responsible for advanced spectral and polarization sensitivity).</a:t>
            </a:r>
          </a:p>
          <a:p>
            <a:r>
              <a:rPr lang="en-US"/>
              <a:t>Because of this structure, </a:t>
            </a:r>
            <a:r>
              <a:rPr lang="en-US" b="1"/>
              <a:t>each eye can see depth on its own</a:t>
            </a:r>
            <a:r>
              <a:rPr lang="en-US"/>
              <a:t> (trinocular vision within a single eye), unlike humans, who require two eyes for stereoscopic depth.</a:t>
            </a:r>
          </a:p>
          <a:p>
            <a:br>
              <a:rPr lang="en-US"/>
            </a:br>
            <a:endParaRPr lang="en-US"/>
          </a:p>
          <a:p>
            <a:r>
              <a:rPr lang="en-US" b="1"/>
              <a:t>Spectral Sensitivity</a:t>
            </a:r>
          </a:p>
          <a:p>
            <a:r>
              <a:rPr lang="en-US"/>
              <a:t>Humans see </a:t>
            </a:r>
            <a:r>
              <a:rPr lang="en-US" b="1"/>
              <a:t>3 color channels</a:t>
            </a:r>
            <a:r>
              <a:rPr lang="en-US"/>
              <a:t> (red, green, blue).</a:t>
            </a:r>
          </a:p>
          <a:p>
            <a:r>
              <a:rPr lang="en-US"/>
              <a:t>Mantis shrimp have </a:t>
            </a:r>
            <a:r>
              <a:rPr lang="en-US" b="1"/>
              <a:t>12–16 different types of photoreceptor cells</a:t>
            </a:r>
            <a:r>
              <a:rPr lang="en-US"/>
              <a:t> sensitive to different wavelengths.</a:t>
            </a:r>
          </a:p>
          <a:p>
            <a:r>
              <a:rPr lang="en-US"/>
              <a:t>Their spectral coverage spans </a:t>
            </a:r>
            <a:r>
              <a:rPr lang="en-US" b="1"/>
              <a:t>ultraviolet (UV), visible light, and even into the far-red</a:t>
            </a:r>
            <a:r>
              <a:rPr lang="en-US"/>
              <a:t>.</a:t>
            </a:r>
          </a:p>
          <a:p>
            <a:r>
              <a:rPr lang="en-US"/>
              <a:t>Despite this, experiments suggest they don’t perceive “color” the way we do (blending channels into a continuous spectrum). Instead, they may use a </a:t>
            </a:r>
            <a:r>
              <a:rPr lang="en-US" b="1"/>
              <a:t>lookup-table style system</a:t>
            </a:r>
            <a:r>
              <a:rPr lang="en-US"/>
              <a:t>—quickly identifying spectral signatures without complex processing.</a:t>
            </a:r>
          </a:p>
          <a:p>
            <a:r>
              <a:rPr lang="en-US"/>
              <a:t>This system is thought to enable </a:t>
            </a:r>
            <a:r>
              <a:rPr lang="en-US" b="1"/>
              <a:t>ultra-fast color recognition</a:t>
            </a:r>
            <a:r>
              <a:rPr lang="en-US"/>
              <a:t>, useful in dynamic reef environments.</a:t>
            </a:r>
          </a:p>
          <a:p>
            <a:br>
              <a:rPr lang="en-US"/>
            </a:br>
            <a:endParaRPr lang="en-US"/>
          </a:p>
          <a:p>
            <a:r>
              <a:rPr lang="en-US" b="1"/>
              <a:t>Polarization Vision</a:t>
            </a:r>
          </a:p>
          <a:p>
            <a:r>
              <a:rPr lang="en-US"/>
              <a:t>Mantis shrimp can detect:</a:t>
            </a:r>
          </a:p>
          <a:p>
            <a:r>
              <a:rPr lang="en-US" b="1"/>
              <a:t>Linear polarization</a:t>
            </a:r>
            <a:r>
              <a:rPr lang="en-US"/>
              <a:t> (orientation of light waves).</a:t>
            </a:r>
          </a:p>
          <a:p>
            <a:r>
              <a:rPr lang="en-US" b="1"/>
              <a:t>Circular polarization</a:t>
            </a:r>
            <a:r>
              <a:rPr lang="en-US"/>
              <a:t> (spiral-shaped waveforms)—a capability almost unique in the animal kingdom.</a:t>
            </a:r>
          </a:p>
          <a:p>
            <a:r>
              <a:rPr lang="en-US"/>
              <a:t>Some species even produce </a:t>
            </a:r>
            <a:r>
              <a:rPr lang="en-US" b="1"/>
              <a:t>circularly polarized signals</a:t>
            </a:r>
            <a:r>
              <a:rPr lang="en-US"/>
              <a:t> on their body for communication, invisible to most predators.</a:t>
            </a:r>
          </a:p>
          <a:p>
            <a:br>
              <a:rPr lang="en-US"/>
            </a:br>
            <a:endParaRPr lang="en-US"/>
          </a:p>
          <a:p>
            <a:r>
              <a:rPr lang="en-US" b="1"/>
              <a:t>Functional Advantages</a:t>
            </a:r>
          </a:p>
          <a:p>
            <a:r>
              <a:rPr lang="en-US" b="1"/>
              <a:t>Communication:</a:t>
            </a:r>
            <a:r>
              <a:rPr lang="en-US"/>
              <a:t> Many species use polarized patterns and colors on their exoskeleton for signaling.</a:t>
            </a:r>
          </a:p>
          <a:p>
            <a:r>
              <a:rPr lang="en-US" b="1"/>
              <a:t>Predation &amp; hunting:</a:t>
            </a:r>
            <a:r>
              <a:rPr lang="en-US"/>
              <a:t> Their vision helps spot transparent prey, detect prey buried in sand, or see through camouflage.</a:t>
            </a:r>
          </a:p>
          <a:p>
            <a:r>
              <a:rPr lang="en-US" b="1"/>
              <a:t>Navigation:</a:t>
            </a:r>
            <a:r>
              <a:rPr lang="en-US"/>
              <a:t> UV and polarization cues are used to orient on reefs.</a:t>
            </a:r>
          </a:p>
          <a:p>
            <a:r>
              <a:rPr lang="en-US" b="1"/>
              <a:t>Survival:</a:t>
            </a:r>
            <a:r>
              <a:rPr lang="en-US"/>
              <a:t> Independent eye movement and polarization detection give them awareness of predators and rivals.</a:t>
            </a:r>
          </a:p>
          <a:p>
            <a:br>
              <a:rPr lang="en-US"/>
            </a:br>
            <a:endParaRPr lang="en-US"/>
          </a:p>
          <a:p>
            <a:r>
              <a:rPr lang="en-US" b="1"/>
              <a:t>Inspirations for Technology</a:t>
            </a:r>
          </a:p>
          <a:p>
            <a:r>
              <a:rPr lang="en-US" b="1"/>
              <a:t>Biomedical imaging</a:t>
            </a:r>
            <a:r>
              <a:rPr lang="en-US"/>
              <a:t>: Polarization-sensitive detection can enhance cancer diagnostics.</a:t>
            </a:r>
          </a:p>
          <a:p>
            <a:r>
              <a:rPr lang="en-US" b="1"/>
              <a:t>Hyperspectral cameras</a:t>
            </a:r>
            <a:r>
              <a:rPr lang="en-US"/>
              <a:t>: Designs mimicking mantis shrimp eyes may allow compact sensors.</a:t>
            </a:r>
          </a:p>
          <a:p>
            <a:r>
              <a:rPr lang="en-US" b="1"/>
              <a:t>Optical communication</a:t>
            </a:r>
            <a:r>
              <a:rPr lang="en-US"/>
              <a:t>: Circular polarization channels for secure data transfer.</a:t>
            </a:r>
          </a:p>
          <a:p>
            <a:br>
              <a:rPr lang="en-US"/>
            </a:br>
            <a:endParaRPr lang="en-US"/>
          </a:p>
          <a:p>
            <a:r>
              <a:rPr lang="en-US"/>
              <a:t>In short, mantis shrimp don’t just “see more colors”—they </a:t>
            </a:r>
            <a:r>
              <a:rPr lang="en-US" i="1"/>
              <a:t>see the world in fundamentally different ways</a:t>
            </a:r>
            <a:r>
              <a:rPr lang="en-US"/>
              <a:t>, combining color, polarization, and depth perception in ways no human or most other animals can.</a:t>
            </a:r>
          </a:p>
          <a:p>
            <a:r>
              <a:rPr lang="en-US"/>
              <a:t>Would you like me to also sketch a </a:t>
            </a:r>
            <a:r>
              <a:rPr lang="en-US" b="1"/>
              <a:t>diagram of their eye structure and midband rows</a:t>
            </a:r>
            <a:r>
              <a:rPr lang="en-US"/>
              <a:t> so it’s easier to visualize?</a:t>
            </a:r>
          </a:p>
          <a:p>
            <a:endParaRPr lang="en-US"/>
          </a:p>
        </p:txBody>
      </p:sp>
      <p:sp>
        <p:nvSpPr>
          <p:cNvPr id="4" name="Slide Number Placeholder 3"/>
          <p:cNvSpPr>
            <a:spLocks noGrp="1"/>
          </p:cNvSpPr>
          <p:nvPr>
            <p:ph type="sldNum" sz="quarter" idx="5"/>
          </p:nvPr>
        </p:nvSpPr>
        <p:spPr/>
        <p:txBody>
          <a:bodyPr/>
          <a:lstStyle/>
          <a:p>
            <a:fld id="{9EB4C982-825B-414E-ABB9-79AB251390A5}" type="slidenum">
              <a:rPr lang="en-US" smtClean="0"/>
              <a:t>2</a:t>
            </a:fld>
            <a:endParaRPr lang="en-US"/>
          </a:p>
        </p:txBody>
      </p:sp>
    </p:spTree>
    <p:extLst>
      <p:ext uri="{BB962C8B-B14F-4D97-AF65-F5344CB8AC3E}">
        <p14:creationId xmlns:p14="http://schemas.microsoft.com/office/powerpoint/2010/main" val="29188752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https://www.youtube.com/shorts/7mPGyMGglC0</a:t>
            </a:r>
          </a:p>
        </p:txBody>
      </p:sp>
      <p:sp>
        <p:nvSpPr>
          <p:cNvPr id="4" name="Slide Number Placeholder 3"/>
          <p:cNvSpPr>
            <a:spLocks noGrp="1"/>
          </p:cNvSpPr>
          <p:nvPr>
            <p:ph type="sldNum" sz="quarter" idx="5"/>
          </p:nvPr>
        </p:nvSpPr>
        <p:spPr/>
        <p:txBody>
          <a:bodyPr/>
          <a:lstStyle/>
          <a:p>
            <a:fld id="{9EB4C982-825B-414E-ABB9-79AB251390A5}" type="slidenum">
              <a:rPr lang="en-US" smtClean="0"/>
              <a:t>3</a:t>
            </a:fld>
            <a:endParaRPr lang="en-US"/>
          </a:p>
        </p:txBody>
      </p:sp>
    </p:spTree>
    <p:extLst>
      <p:ext uri="{BB962C8B-B14F-4D97-AF65-F5344CB8AC3E}">
        <p14:creationId xmlns:p14="http://schemas.microsoft.com/office/powerpoint/2010/main" val="27582331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Atmospheric windows</a:t>
            </a:r>
            <a:r>
              <a:rPr lang="en-US"/>
              <a:t> are wavelength ranges where Earth’s atmosphere is relatively </a:t>
            </a:r>
            <a:r>
              <a:rPr lang="en-US" b="1"/>
              <a:t>transparent</a:t>
            </a:r>
            <a:r>
              <a:rPr lang="en-US"/>
              <a:t>, letting radiation from the surface (or a target) pass to a sensor with low absorption. Outside these windows, gases like </a:t>
            </a:r>
            <a:r>
              <a:rPr lang="en-US" b="1"/>
              <a:t>H₂O, CO₂, O₃, O₂, CH₄</a:t>
            </a:r>
            <a:r>
              <a:rPr lang="en-US"/>
              <a:t> and aerosols/clouds strongly absorb or scatter light.</a:t>
            </a:r>
          </a:p>
        </p:txBody>
      </p:sp>
      <p:sp>
        <p:nvSpPr>
          <p:cNvPr id="4" name="Slide Number Placeholder 3"/>
          <p:cNvSpPr>
            <a:spLocks noGrp="1"/>
          </p:cNvSpPr>
          <p:nvPr>
            <p:ph type="sldNum" sz="quarter" idx="5"/>
          </p:nvPr>
        </p:nvSpPr>
        <p:spPr/>
        <p:txBody>
          <a:bodyPr/>
          <a:lstStyle/>
          <a:p>
            <a:fld id="{9EB4C982-825B-414E-ABB9-79AB251390A5}" type="slidenum">
              <a:rPr lang="en-US" smtClean="0"/>
              <a:t>5</a:t>
            </a:fld>
            <a:endParaRPr lang="en-US"/>
          </a:p>
        </p:txBody>
      </p:sp>
    </p:spTree>
    <p:extLst>
      <p:ext uri="{BB962C8B-B14F-4D97-AF65-F5344CB8AC3E}">
        <p14:creationId xmlns:p14="http://schemas.microsoft.com/office/powerpoint/2010/main" val="29083292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a:t>
            </a:r>
            <a:r>
              <a:rPr lang="en-US" b="1"/>
              <a:t>black body</a:t>
            </a:r>
            <a:r>
              <a:rPr lang="en-US"/>
              <a:t> is an idealized physical object that:</a:t>
            </a:r>
          </a:p>
          <a:p>
            <a:pPr marL="171450" indent="-171450">
              <a:buFontTx/>
              <a:buChar char="-"/>
            </a:pPr>
            <a:r>
              <a:rPr lang="en-US"/>
              <a:t>Absorbs </a:t>
            </a:r>
            <a:r>
              <a:rPr lang="en-US" b="1"/>
              <a:t>100% of incident electromagnetic radiation</a:t>
            </a:r>
            <a:r>
              <a:rPr lang="en-US"/>
              <a:t> at all wavelengths and angles</a:t>
            </a:r>
          </a:p>
          <a:p>
            <a:pPr marL="171450" indent="-171450">
              <a:buFontTx/>
              <a:buChar char="-"/>
            </a:pPr>
            <a:r>
              <a:rPr lang="en-US"/>
              <a:t>Reflects </a:t>
            </a:r>
            <a:r>
              <a:rPr lang="en-US" b="1"/>
              <a:t>0%</a:t>
            </a:r>
            <a:r>
              <a:rPr lang="en-US"/>
              <a:t> and transmits </a:t>
            </a:r>
            <a:r>
              <a:rPr lang="en-US" b="1"/>
              <a:t>0%</a:t>
            </a:r>
            <a:endParaRPr lang="en-US"/>
          </a:p>
          <a:p>
            <a:pPr marL="171450" indent="-171450">
              <a:buFontTx/>
              <a:buChar char="-"/>
            </a:pPr>
            <a:r>
              <a:rPr lang="en-US"/>
              <a:t>Emits the </a:t>
            </a:r>
            <a:r>
              <a:rPr lang="en-US" b="1"/>
              <a:t>maximum possible radiation</a:t>
            </a:r>
            <a:r>
              <a:rPr lang="en-US"/>
              <a:t> for its temperature</a:t>
            </a:r>
          </a:p>
          <a:p>
            <a:r>
              <a:rPr lang="en-US"/>
              <a:t>It is a theoretical reference model — not a real material — but many natural objects approximate blackbody behavior closely enough for remote sensing analysis.</a:t>
            </a:r>
          </a:p>
          <a:p>
            <a:endParaRPr lang="en-US"/>
          </a:p>
        </p:txBody>
      </p:sp>
      <p:sp>
        <p:nvSpPr>
          <p:cNvPr id="4" name="Slide Number Placeholder 3"/>
          <p:cNvSpPr>
            <a:spLocks noGrp="1"/>
          </p:cNvSpPr>
          <p:nvPr>
            <p:ph type="sldNum" sz="quarter" idx="5"/>
          </p:nvPr>
        </p:nvSpPr>
        <p:spPr/>
        <p:txBody>
          <a:bodyPr/>
          <a:lstStyle/>
          <a:p>
            <a:fld id="{9EB4C982-825B-414E-ABB9-79AB251390A5}" type="slidenum">
              <a:rPr lang="en-US" smtClean="0"/>
              <a:t>6</a:t>
            </a:fld>
            <a:endParaRPr lang="en-US"/>
          </a:p>
        </p:txBody>
      </p:sp>
    </p:spTree>
    <p:extLst>
      <p:ext uri="{BB962C8B-B14F-4D97-AF65-F5344CB8AC3E}">
        <p14:creationId xmlns:p14="http://schemas.microsoft.com/office/powerpoint/2010/main" val="30718349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Stars behave very close to </a:t>
            </a:r>
            <a:r>
              <a:rPr lang="en-US" b="1"/>
              <a:t>blackbody radiators</a:t>
            </a:r>
            <a:r>
              <a:rPr lang="en-US"/>
              <a:t>. Their surface temperature sets the shape of their emission spectrum, which determines perceived color.</a:t>
            </a:r>
          </a:p>
          <a:p>
            <a:r>
              <a:rPr lang="en-US"/>
              <a:t>From blackbody radiation physics (Wien + Planck):</a:t>
            </a:r>
          </a:p>
          <a:p>
            <a:pPr marL="171450" indent="-171450">
              <a:buFontTx/>
              <a:buChar char="-"/>
            </a:pPr>
            <a:r>
              <a:rPr lang="en-US"/>
              <a:t>Higher temperature → peak emission at shorter wavelengths → bluer appearance</a:t>
            </a:r>
          </a:p>
          <a:p>
            <a:pPr marL="171450" indent="-171450">
              <a:buFontTx/>
              <a:buChar char="-"/>
            </a:pPr>
            <a:r>
              <a:rPr lang="en-US"/>
              <a:t>Lower temperature → peak emission at longer wavelengths → redder appearance</a:t>
            </a:r>
          </a:p>
          <a:p>
            <a:endParaRPr lang="en-US"/>
          </a:p>
          <a:p>
            <a:endParaRPr lang="en-US"/>
          </a:p>
          <a:p>
            <a:r>
              <a:rPr lang="en-US" b="1"/>
              <a:t>Then Why Aren’t There Green Stars?</a:t>
            </a:r>
          </a:p>
          <a:p>
            <a:r>
              <a:rPr lang="en-US"/>
              <a:t>This is a </a:t>
            </a:r>
            <a:r>
              <a:rPr lang="en-US" b="1"/>
              <a:t>spectral mixing + human vision</a:t>
            </a:r>
            <a:r>
              <a:rPr lang="en-US"/>
              <a:t> issue — not a physics limitation.</a:t>
            </a:r>
          </a:p>
          <a:p>
            <a:r>
              <a:rPr lang="en-US" b="1"/>
              <a:t>Key Reason: Stars Emit Broad Spectra — Not Narrow Colors</a:t>
            </a:r>
          </a:p>
          <a:p>
            <a:r>
              <a:rPr lang="en-US"/>
              <a:t>A star does </a:t>
            </a:r>
            <a:r>
              <a:rPr lang="en-US" b="1"/>
              <a:t>not</a:t>
            </a:r>
            <a:r>
              <a:rPr lang="en-US"/>
              <a:t> emit at just one wavelength. It emits a </a:t>
            </a:r>
            <a:r>
              <a:rPr lang="en-US" b="1"/>
              <a:t>continuous spectrum</a:t>
            </a:r>
            <a:r>
              <a:rPr lang="en-US"/>
              <a:t> across visible light.</a:t>
            </a:r>
          </a:p>
          <a:p>
            <a:r>
              <a:rPr lang="en-US"/>
              <a:t>Even if a star’s </a:t>
            </a:r>
            <a:r>
              <a:rPr lang="en-US" b="1"/>
              <a:t>peak wavelength</a:t>
            </a:r>
            <a:r>
              <a:rPr lang="en-US"/>
              <a:t> falls in the green region (~500–550 nm):</a:t>
            </a:r>
          </a:p>
          <a:p>
            <a:r>
              <a:rPr lang="en-US"/>
              <a:t>It still emits substantial red and blue light</a:t>
            </a:r>
          </a:p>
          <a:p>
            <a:r>
              <a:rPr lang="en-US"/>
              <a:t>The combined visible output appears </a:t>
            </a:r>
            <a:r>
              <a:rPr lang="en-US" b="1"/>
              <a:t>white or yellowish</a:t>
            </a:r>
            <a:r>
              <a:rPr lang="en-US"/>
              <a:t>, not green</a:t>
            </a:r>
          </a:p>
          <a:p>
            <a:r>
              <a:rPr lang="en-US"/>
              <a:t>Example:</a:t>
            </a:r>
          </a:p>
          <a:p>
            <a:r>
              <a:rPr lang="en-US"/>
              <a:t>A ~5800 K star (like the Sun) peaks near green</a:t>
            </a:r>
          </a:p>
          <a:p>
            <a:r>
              <a:rPr lang="en-US"/>
              <a:t>But because red + green + blue are all strong → your eye perceives </a:t>
            </a:r>
            <a:r>
              <a:rPr lang="en-US" b="1"/>
              <a:t>white</a:t>
            </a:r>
          </a:p>
          <a:p>
            <a:endParaRPr lang="en-US" b="1"/>
          </a:p>
          <a:p>
            <a:r>
              <a:rPr lang="en-US"/>
              <a:t>Human color perception works by combining signals from three cone types:</a:t>
            </a:r>
          </a:p>
          <a:p>
            <a:pPr marL="171450" indent="-171450">
              <a:buFontTx/>
              <a:buChar char="-"/>
            </a:pPr>
            <a:r>
              <a:rPr lang="en-US"/>
              <a:t>Red-sensitive cones</a:t>
            </a:r>
          </a:p>
          <a:p>
            <a:pPr marL="171450" indent="-171450">
              <a:buFontTx/>
              <a:buChar char="-"/>
            </a:pPr>
            <a:r>
              <a:rPr lang="en-US"/>
              <a:t>Green-sensitive cones</a:t>
            </a:r>
          </a:p>
          <a:p>
            <a:pPr marL="171450" indent="-171450">
              <a:buFontTx/>
              <a:buChar char="-"/>
            </a:pPr>
            <a:r>
              <a:rPr lang="en-US"/>
              <a:t>Blue-sensitive cones</a:t>
            </a:r>
          </a:p>
          <a:p>
            <a:r>
              <a:rPr lang="en-US"/>
              <a:t>A blackbody spectrum near the green peak stimulates </a:t>
            </a:r>
            <a:r>
              <a:rPr lang="en-US" b="1"/>
              <a:t>all three cones strongly</a:t>
            </a:r>
            <a:r>
              <a:rPr lang="en-US"/>
              <a:t> → interpreted as </a:t>
            </a:r>
            <a:r>
              <a:rPr lang="en-US" b="1"/>
              <a:t>white</a:t>
            </a:r>
            <a:r>
              <a:rPr lang="en-US"/>
              <a:t>, not green.</a:t>
            </a:r>
          </a:p>
          <a:p>
            <a:r>
              <a:rPr lang="en-US"/>
              <a:t>To appear green, a source must emit:</a:t>
            </a:r>
          </a:p>
          <a:p>
            <a:pPr marL="171450" indent="-171450">
              <a:buFontTx/>
              <a:buChar char="-"/>
            </a:pPr>
            <a:r>
              <a:rPr lang="en-US"/>
              <a:t>Strong green</a:t>
            </a:r>
          </a:p>
          <a:p>
            <a:pPr marL="171450" indent="-171450">
              <a:buFontTx/>
              <a:buChar char="-"/>
            </a:pPr>
            <a:r>
              <a:rPr lang="en-US"/>
              <a:t>Weak red</a:t>
            </a:r>
          </a:p>
          <a:p>
            <a:pPr marL="171450" indent="-171450">
              <a:buFontTx/>
              <a:buChar char="-"/>
            </a:pPr>
            <a:r>
              <a:rPr lang="en-US"/>
              <a:t>Weak blue</a:t>
            </a:r>
          </a:p>
          <a:p>
            <a:r>
              <a:rPr lang="en-US"/>
              <a:t>Stars do not produce that kind of narrowband spectrum.</a:t>
            </a:r>
          </a:p>
          <a:p>
            <a:endParaRPr lang="en-US"/>
          </a:p>
          <a:p>
            <a:endParaRPr lang="en-US"/>
          </a:p>
        </p:txBody>
      </p:sp>
      <p:sp>
        <p:nvSpPr>
          <p:cNvPr id="4" name="Slide Number Placeholder 3"/>
          <p:cNvSpPr>
            <a:spLocks noGrp="1"/>
          </p:cNvSpPr>
          <p:nvPr>
            <p:ph type="sldNum" sz="quarter" idx="5"/>
          </p:nvPr>
        </p:nvSpPr>
        <p:spPr/>
        <p:txBody>
          <a:bodyPr/>
          <a:lstStyle/>
          <a:p>
            <a:fld id="{9EB4C982-825B-414E-ABB9-79AB251390A5}" type="slidenum">
              <a:rPr lang="en-US" smtClean="0"/>
              <a:t>7</a:t>
            </a:fld>
            <a:endParaRPr lang="en-US"/>
          </a:p>
        </p:txBody>
      </p:sp>
    </p:spTree>
    <p:extLst>
      <p:ext uri="{BB962C8B-B14F-4D97-AF65-F5344CB8AC3E}">
        <p14:creationId xmlns:p14="http://schemas.microsoft.com/office/powerpoint/2010/main" val="18114088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Remote sensing is the process of detecting and monitoring the physical  characteristics of an area by measuring its reflected and emitted  radiation at a distance (typically from satellite or aircraft). Special  cameras collect remotely sensed images, which help researchers "sense"  things about the Earth. Some examples are:</a:t>
            </a:r>
          </a:p>
          <a:p>
            <a:endParaRPr lang="en-US"/>
          </a:p>
          <a:p>
            <a:r>
              <a:rPr lang="en-US"/>
              <a:t>- Cameras on satellites and airplanes take images of large areas on  the Earth's surface, allowing us to see much more than we can see when  standing on the ground.</a:t>
            </a:r>
          </a:p>
          <a:p>
            <a:r>
              <a:rPr lang="en-US"/>
              <a:t>- Sonar systems on ships can be used to create images of the ocean floor without needing to travel to the bottom of the ocean.</a:t>
            </a:r>
          </a:p>
          <a:p>
            <a:r>
              <a:rPr lang="en-US"/>
              <a:t>- Cameras on satellites can be used to make images of temperature changes in the oceans.</a:t>
            </a:r>
          </a:p>
          <a:p>
            <a:endParaRPr lang="en-US"/>
          </a:p>
          <a:p>
            <a:r>
              <a:rPr lang="en-US"/>
              <a:t>Some specific uses of remotely sensed images of the Earth include:</a:t>
            </a:r>
          </a:p>
          <a:p>
            <a:endParaRPr lang="en-US"/>
          </a:p>
          <a:p>
            <a:r>
              <a:rPr lang="en-US"/>
              <a:t>- Large forest fires can be mapped from space, allowing rangers to see a much larger area than from the ground.</a:t>
            </a:r>
          </a:p>
          <a:p>
            <a:r>
              <a:rPr lang="en-US"/>
              <a:t>- Tracking clouds to help predict the weather or watching erupting volcanoes, and help watching for dust storms.</a:t>
            </a:r>
          </a:p>
          <a:p>
            <a:r>
              <a:rPr lang="en-US"/>
              <a:t>- Tracking the growth of a city and changes in farmland or forests over several years or decades.</a:t>
            </a:r>
          </a:p>
          <a:p>
            <a:r>
              <a:rPr lang="en-US"/>
              <a:t>- Discovery and mapping of the rugged topography of the ocean floor  (e.g., huge mountain ranges, deep canyons, and the “magnetic striping”  on the ocean floor).</a:t>
            </a:r>
          </a:p>
          <a:p>
            <a:endParaRPr lang="en-US"/>
          </a:p>
          <a:p>
            <a:r>
              <a:rPr lang="en-US"/>
              <a:t>from [USGS.gov](https://www.usgs.gov/faqs/what-remote-sensing-and-what-it-used)</a:t>
            </a:r>
          </a:p>
        </p:txBody>
      </p:sp>
      <p:sp>
        <p:nvSpPr>
          <p:cNvPr id="4" name="Slide Number Placeholder 3"/>
          <p:cNvSpPr>
            <a:spLocks noGrp="1"/>
          </p:cNvSpPr>
          <p:nvPr>
            <p:ph type="sldNum" sz="quarter" idx="5"/>
          </p:nvPr>
        </p:nvSpPr>
        <p:spPr/>
        <p:txBody>
          <a:bodyPr/>
          <a:lstStyle/>
          <a:p>
            <a:fld id="{9EB4C982-825B-414E-ABB9-79AB251390A5}" type="slidenum">
              <a:rPr lang="en-US" smtClean="0"/>
              <a:t>9</a:t>
            </a:fld>
            <a:endParaRPr lang="en-US"/>
          </a:p>
        </p:txBody>
      </p:sp>
    </p:spTree>
    <p:extLst>
      <p:ext uri="{BB962C8B-B14F-4D97-AF65-F5344CB8AC3E}">
        <p14:creationId xmlns:p14="http://schemas.microsoft.com/office/powerpoint/2010/main" val="29920035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https://www.earthdata.nasa.gov/learn/earth-observation-data-basics/remote-sensing</a:t>
            </a:r>
          </a:p>
          <a:p>
            <a:endParaRPr lang="en-US"/>
          </a:p>
          <a:p>
            <a:r>
              <a:rPr lang="en-US" sz="1200" b="1" i="0" kern="1200">
                <a:solidFill>
                  <a:schemeClr val="tx1"/>
                </a:solidFill>
                <a:effectLst/>
                <a:latin typeface="+mn-lt"/>
                <a:ea typeface="+mn-ea"/>
                <a:cs typeface="+mn-cs"/>
              </a:rPr>
              <a:t>Passive instruments </a:t>
            </a:r>
            <a:r>
              <a:rPr lang="en-US" sz="1200" b="0" i="0" kern="1200">
                <a:solidFill>
                  <a:schemeClr val="tx1"/>
                </a:solidFill>
                <a:effectLst/>
                <a:latin typeface="+mn-lt"/>
                <a:ea typeface="+mn-ea"/>
                <a:cs typeface="+mn-cs"/>
              </a:rPr>
              <a:t>include different types of radiometers (instruments that quantitatively measure the intensity of electromagnetic radiation in select bands) and spectrometers (devices that are designed to detect, measure, and analyze the spectral content of reflected electromagnetic radiation). Most passive systems used by remote sensing applications operate in the visible, infrared, thermal infrared, and microwave portions of the electromagnetic spectrum. These instruments measure land and sea surface temperature, vegetation properties, cloud and aerosol properties, and other physical attributes. Most passive instruments cannot penetrate dense cloud cover and thus have limitations observing areas like the tropics where dense cloud cover is frequent.</a:t>
            </a:r>
          </a:p>
          <a:p>
            <a:endParaRPr lang="en-US" sz="1200" b="0" i="0" kern="1200">
              <a:solidFill>
                <a:schemeClr val="tx1"/>
              </a:solidFill>
              <a:effectLst/>
              <a:latin typeface="+mn-lt"/>
              <a:ea typeface="+mn-ea"/>
              <a:cs typeface="+mn-cs"/>
            </a:endParaRPr>
          </a:p>
          <a:p>
            <a:r>
              <a:rPr lang="en-US" sz="1200" b="1" i="0" kern="1200">
                <a:solidFill>
                  <a:schemeClr val="tx1"/>
                </a:solidFill>
                <a:effectLst/>
                <a:latin typeface="+mn-lt"/>
                <a:ea typeface="+mn-ea"/>
                <a:cs typeface="+mn-cs"/>
              </a:rPr>
              <a:t>Active instruments </a:t>
            </a:r>
            <a:r>
              <a:rPr lang="en-US" sz="1200" b="0" i="0" kern="1200">
                <a:solidFill>
                  <a:schemeClr val="tx1"/>
                </a:solidFill>
                <a:effectLst/>
                <a:latin typeface="+mn-lt"/>
                <a:ea typeface="+mn-ea"/>
                <a:cs typeface="+mn-cs"/>
              </a:rPr>
              <a:t>include different types of radio detection and ranging (radar) instruments, altimeters, and </a:t>
            </a:r>
            <a:r>
              <a:rPr lang="en-US" sz="1200" b="0" i="0" kern="1200" err="1">
                <a:solidFill>
                  <a:schemeClr val="tx1"/>
                </a:solidFill>
                <a:effectLst/>
                <a:latin typeface="+mn-lt"/>
                <a:ea typeface="+mn-ea"/>
                <a:cs typeface="+mn-cs"/>
              </a:rPr>
              <a:t>scatterometers</a:t>
            </a:r>
            <a:r>
              <a:rPr lang="en-US" sz="1200" b="0" i="0" kern="1200">
                <a:solidFill>
                  <a:schemeClr val="tx1"/>
                </a:solidFill>
                <a:effectLst/>
                <a:latin typeface="+mn-lt"/>
                <a:ea typeface="+mn-ea"/>
                <a:cs typeface="+mn-cs"/>
              </a:rPr>
              <a:t>. The majority of active instruments operate in the microwave band of the electromagnetic spectrum, which gives them the ability to penetrate the atmosphere under most conditions. These types of instruments are useful for measuring the vertical profiles of aerosols, forest structure, precipitation and winds, sea surface topography, and ice, among other criteria.</a:t>
            </a:r>
          </a:p>
          <a:p>
            <a:endParaRPr lang="en-US"/>
          </a:p>
          <a:p>
            <a:endParaRPr lang="en-US"/>
          </a:p>
          <a:p>
            <a:r>
              <a:rPr lang="en-US" b="1" u="sng"/>
              <a:t>Passive Sensors</a:t>
            </a:r>
          </a:p>
          <a:p>
            <a:r>
              <a:rPr lang="en-US" b="1"/>
              <a:t>Definition:</a:t>
            </a:r>
            <a:r>
              <a:rPr lang="en-US"/>
              <a:t> Detect natural radiation that is emitted or reflected from the Earth’s surface or atmosphere.</a:t>
            </a:r>
          </a:p>
          <a:p>
            <a:r>
              <a:rPr lang="en-US" b="1"/>
              <a:t>Energy Source:</a:t>
            </a:r>
            <a:r>
              <a:rPr lang="en-US"/>
              <a:t> Sunlight (most common) or naturally emitted thermal radiation from the Earth.</a:t>
            </a:r>
          </a:p>
          <a:p>
            <a:r>
              <a:rPr lang="en-US" b="1"/>
              <a:t>Examples:</a:t>
            </a:r>
            <a:endParaRPr lang="en-US"/>
          </a:p>
          <a:p>
            <a:pPr lvl="1"/>
            <a:r>
              <a:rPr lang="en-US" b="1"/>
              <a:t>Cameras</a:t>
            </a:r>
            <a:r>
              <a:rPr lang="en-US"/>
              <a:t> (visible spectrum, using reflected sunlight).</a:t>
            </a:r>
          </a:p>
          <a:p>
            <a:pPr lvl="1"/>
            <a:r>
              <a:rPr lang="en-US" b="1"/>
              <a:t>Multispectral/hyperspectral imagers</a:t>
            </a:r>
            <a:r>
              <a:rPr lang="en-US"/>
              <a:t> (Landsat, Sentinel-2).</a:t>
            </a:r>
          </a:p>
          <a:p>
            <a:pPr lvl="1"/>
            <a:r>
              <a:rPr lang="en-US" b="1"/>
              <a:t>Infrared radiometers</a:t>
            </a:r>
            <a:r>
              <a:rPr lang="en-US"/>
              <a:t> (thermal imaging satellites).</a:t>
            </a:r>
          </a:p>
          <a:p>
            <a:pPr lvl="1"/>
            <a:r>
              <a:rPr lang="en-US" b="1"/>
              <a:t>Radiometers for microwave frequencies</a:t>
            </a:r>
            <a:r>
              <a:rPr lang="en-US"/>
              <a:t> (e.g., measuring soil moisture, sea surface temperature).</a:t>
            </a:r>
          </a:p>
          <a:p>
            <a:r>
              <a:rPr lang="en-US" b="1"/>
              <a:t>Advantages:</a:t>
            </a:r>
            <a:endParaRPr lang="en-US"/>
          </a:p>
          <a:p>
            <a:pPr lvl="1"/>
            <a:r>
              <a:rPr lang="en-US"/>
              <a:t>Simple design, often less power-intensive.</a:t>
            </a:r>
          </a:p>
          <a:p>
            <a:pPr lvl="1"/>
            <a:r>
              <a:rPr lang="en-US"/>
              <a:t>Natural spectral coverage across many wavelengths.</a:t>
            </a:r>
          </a:p>
          <a:p>
            <a:pPr lvl="1"/>
            <a:r>
              <a:rPr lang="en-US"/>
              <a:t>Long heritage in Earth observation (decades of optical/IR imaging).</a:t>
            </a:r>
          </a:p>
          <a:p>
            <a:r>
              <a:rPr lang="en-US" b="1"/>
              <a:t>Limitations:</a:t>
            </a:r>
            <a:endParaRPr lang="en-US"/>
          </a:p>
          <a:p>
            <a:pPr lvl="1"/>
            <a:r>
              <a:rPr lang="en-US"/>
              <a:t>Only work when natural illumination is present (daylight for optical, clear skies for some bands).</a:t>
            </a:r>
          </a:p>
          <a:p>
            <a:pPr lvl="1"/>
            <a:r>
              <a:rPr lang="en-US"/>
              <a:t>Can be blocked by clouds, dust, or nighttime (except thermal infrared/microwave).</a:t>
            </a:r>
          </a:p>
          <a:p>
            <a:br>
              <a:rPr lang="en-US"/>
            </a:br>
            <a:r>
              <a:rPr lang="en-US" b="1" u="sng"/>
              <a:t>Active Sensors</a:t>
            </a:r>
          </a:p>
          <a:p>
            <a:r>
              <a:rPr lang="en-US" b="1"/>
              <a:t>Definition:</a:t>
            </a:r>
            <a:r>
              <a:rPr lang="en-US"/>
              <a:t> Emit their own signal and measure the reflection/scattering from the target.</a:t>
            </a:r>
          </a:p>
          <a:p>
            <a:r>
              <a:rPr lang="en-US" b="1"/>
              <a:t>Energy Source:</a:t>
            </a:r>
            <a:r>
              <a:rPr lang="en-US"/>
              <a:t> Onboard transmitter (laser, radar, LiDAR).</a:t>
            </a:r>
          </a:p>
          <a:p>
            <a:r>
              <a:rPr lang="en-US" b="1"/>
              <a:t>Examples:</a:t>
            </a:r>
            <a:endParaRPr lang="en-US"/>
          </a:p>
          <a:p>
            <a:pPr lvl="1"/>
            <a:r>
              <a:rPr lang="en-US" b="1"/>
              <a:t>Synthetic Aperture Radar (SAR):</a:t>
            </a:r>
            <a:r>
              <a:rPr lang="en-US"/>
              <a:t> Uses microwaves to image surface structures (e.g., Sentinel-1, RADARSAT).</a:t>
            </a:r>
          </a:p>
          <a:p>
            <a:pPr lvl="1"/>
            <a:r>
              <a:rPr lang="en-US" b="1"/>
              <a:t>LiDAR (Light Detection and Ranging):</a:t>
            </a:r>
            <a:r>
              <a:rPr lang="en-US"/>
              <a:t> Uses laser pulses to measure topography, vegetation canopy, or atmosphere.</a:t>
            </a:r>
          </a:p>
          <a:p>
            <a:pPr lvl="1"/>
            <a:r>
              <a:rPr lang="en-US" b="1"/>
              <a:t>Radar altimeters:</a:t>
            </a:r>
            <a:r>
              <a:rPr lang="en-US"/>
              <a:t> Measure sea surface height or ice thickness.</a:t>
            </a:r>
          </a:p>
          <a:p>
            <a:r>
              <a:rPr lang="en-US" b="1"/>
              <a:t>Advantages:</a:t>
            </a:r>
            <a:endParaRPr lang="en-US"/>
          </a:p>
          <a:p>
            <a:pPr lvl="1"/>
            <a:r>
              <a:rPr lang="en-US"/>
              <a:t>Operate day or night (independent of the sun).</a:t>
            </a:r>
          </a:p>
          <a:p>
            <a:pPr lvl="1"/>
            <a:r>
              <a:rPr lang="en-US"/>
              <a:t>Can penetrate clouds, vegetation, or even soil (depending on wavelength).</a:t>
            </a:r>
          </a:p>
          <a:p>
            <a:pPr lvl="1"/>
            <a:r>
              <a:rPr lang="en-US"/>
              <a:t>Provide direct measurements of structure (e.g., elevation, surface roughness).</a:t>
            </a:r>
          </a:p>
          <a:p>
            <a:r>
              <a:rPr lang="en-US" b="1"/>
              <a:t>Limitations:</a:t>
            </a:r>
            <a:endParaRPr lang="en-US"/>
          </a:p>
          <a:p>
            <a:pPr lvl="1"/>
            <a:r>
              <a:rPr lang="en-US"/>
              <a:t>More complex and power-hungry.</a:t>
            </a:r>
          </a:p>
          <a:p>
            <a:pPr lvl="1"/>
            <a:r>
              <a:rPr lang="en-US"/>
              <a:t>Narrower spectral coverage compared to passive optical systems.</a:t>
            </a:r>
          </a:p>
          <a:p>
            <a:pPr lvl="1"/>
            <a:r>
              <a:rPr lang="en-US"/>
              <a:t>Often more expensive to build and operate.</a:t>
            </a:r>
          </a:p>
          <a:p>
            <a:endParaRPr lang="en-US"/>
          </a:p>
        </p:txBody>
      </p:sp>
      <p:sp>
        <p:nvSpPr>
          <p:cNvPr id="4" name="Slide Number Placeholder 3"/>
          <p:cNvSpPr>
            <a:spLocks noGrp="1"/>
          </p:cNvSpPr>
          <p:nvPr>
            <p:ph type="sldNum" sz="quarter" idx="5"/>
          </p:nvPr>
        </p:nvSpPr>
        <p:spPr/>
        <p:txBody>
          <a:bodyPr/>
          <a:lstStyle/>
          <a:p>
            <a:fld id="{9EB4C982-825B-414E-ABB9-79AB251390A5}" type="slidenum">
              <a:rPr lang="en-US" smtClean="0"/>
              <a:t>10</a:t>
            </a:fld>
            <a:endParaRPr lang="en-US"/>
          </a:p>
        </p:txBody>
      </p:sp>
    </p:spTree>
    <p:extLst>
      <p:ext uri="{BB962C8B-B14F-4D97-AF65-F5344CB8AC3E}">
        <p14:creationId xmlns:p14="http://schemas.microsoft.com/office/powerpoint/2010/main" val="28534405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https://www.earthdata.nasa.gov/learn/earth-observation-data-basics/remote-sensing</a:t>
            </a:r>
          </a:p>
        </p:txBody>
      </p:sp>
      <p:sp>
        <p:nvSpPr>
          <p:cNvPr id="4" name="Slide Number Placeholder 3"/>
          <p:cNvSpPr>
            <a:spLocks noGrp="1"/>
          </p:cNvSpPr>
          <p:nvPr>
            <p:ph type="sldNum" sz="quarter" idx="5"/>
          </p:nvPr>
        </p:nvSpPr>
        <p:spPr/>
        <p:txBody>
          <a:bodyPr/>
          <a:lstStyle/>
          <a:p>
            <a:fld id="{9EB4C982-825B-414E-ABB9-79AB251390A5}" type="slidenum">
              <a:rPr lang="en-US" smtClean="0"/>
              <a:t>16</a:t>
            </a:fld>
            <a:endParaRPr lang="en-US"/>
          </a:p>
        </p:txBody>
      </p:sp>
    </p:spTree>
    <p:extLst>
      <p:ext uri="{BB962C8B-B14F-4D97-AF65-F5344CB8AC3E}">
        <p14:creationId xmlns:p14="http://schemas.microsoft.com/office/powerpoint/2010/main" val="17175404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a:solidFill>
                  <a:schemeClr val="tx1"/>
                </a:solidFill>
                <a:latin typeface="+mn-lt"/>
                <a:ea typeface="+mn-ea"/>
                <a:cs typeface="+mn-cs"/>
              </a:rPr>
              <a:t>The diffraction resolution can be improved (made smaller) by decreasing the wavelength or distance to the subject, or be increasing the diameter of the aperture.</a:t>
            </a:r>
          </a:p>
          <a:p>
            <a:endParaRPr lang="en-US" sz="1200" b="0" i="0" u="none" strike="noStrike" kern="1200" baseline="0">
              <a:solidFill>
                <a:schemeClr val="tx1"/>
              </a:solidFill>
              <a:latin typeface="+mn-lt"/>
              <a:ea typeface="+mn-ea"/>
              <a:cs typeface="+mn-cs"/>
            </a:endParaRPr>
          </a:p>
          <a:p>
            <a:r>
              <a:rPr lang="en-US" sz="1200" b="0" i="0" u="none" strike="noStrike" kern="1200" baseline="0">
                <a:solidFill>
                  <a:schemeClr val="tx1"/>
                </a:solidFill>
                <a:latin typeface="+mn-lt"/>
                <a:ea typeface="+mn-ea"/>
                <a:cs typeface="+mn-cs"/>
              </a:rPr>
              <a:t>Independent of quality of lens. </a:t>
            </a:r>
          </a:p>
          <a:p>
            <a:endParaRPr lang="en-US" sz="1200" b="0" i="0" u="none" strike="noStrike" kern="1200" baseline="0">
              <a:solidFill>
                <a:schemeClr val="tx1"/>
              </a:solidFill>
              <a:latin typeface="+mn-lt"/>
              <a:ea typeface="+mn-ea"/>
              <a:cs typeface="+mn-cs"/>
            </a:endParaRPr>
          </a:p>
          <a:p>
            <a:r>
              <a:rPr lang="en-US"/>
              <a:t>An </a:t>
            </a:r>
            <a:r>
              <a:rPr lang="en-US" b="1"/>
              <a:t>Airy disk</a:t>
            </a:r>
            <a:r>
              <a:rPr lang="en-US"/>
              <a:t> is the central bright spot in the diffraction pattern produced when light from a point source passes through a </a:t>
            </a:r>
            <a:r>
              <a:rPr lang="en-US" b="1"/>
              <a:t>circular aperture</a:t>
            </a:r>
            <a:r>
              <a:rPr lang="en-US"/>
              <a:t> (lens, telescope, camera, sensor optics).</a:t>
            </a:r>
          </a:p>
          <a:p>
            <a:r>
              <a:rPr lang="en-US"/>
              <a:t>Even a perfect, aberration-free optical system cannot focus light to an infinitesimal point. Due to </a:t>
            </a:r>
            <a:r>
              <a:rPr lang="en-US" b="1"/>
              <a:t>wave diffraction</a:t>
            </a:r>
            <a:r>
              <a:rPr lang="en-US"/>
              <a:t>, the image of a point source becomes:</a:t>
            </a:r>
          </a:p>
          <a:p>
            <a:pPr marL="171450" indent="-171450">
              <a:buFontTx/>
              <a:buChar char="-"/>
            </a:pPr>
            <a:r>
              <a:rPr lang="en-US"/>
              <a:t>Bright central spot (Airy disk)</a:t>
            </a:r>
          </a:p>
          <a:p>
            <a:pPr marL="171450" indent="-171450">
              <a:buFontTx/>
              <a:buChar char="-"/>
            </a:pPr>
            <a:r>
              <a:rPr lang="en-US"/>
              <a:t>Surrounded by concentric dim rings</a:t>
            </a:r>
          </a:p>
          <a:p>
            <a:pPr marL="171450" indent="-171450">
              <a:buFontTx/>
              <a:buChar char="-"/>
            </a:pPr>
            <a:r>
              <a:rPr lang="en-US"/>
              <a:t>This full pattern is the </a:t>
            </a:r>
            <a:r>
              <a:rPr lang="en-US" b="1"/>
              <a:t>point spread function (PSF)</a:t>
            </a:r>
            <a:r>
              <a:rPr lang="en-US"/>
              <a:t> of a circular aperture</a:t>
            </a:r>
          </a:p>
          <a:p>
            <a:r>
              <a:rPr lang="en-US"/>
              <a:t>This sets the </a:t>
            </a:r>
            <a:r>
              <a:rPr lang="en-US" b="1"/>
              <a:t>fundamental resolution limit</a:t>
            </a:r>
            <a:r>
              <a:rPr lang="en-US"/>
              <a:t> of imaging systems — including telescopes and remote sensing instruments.</a:t>
            </a:r>
          </a:p>
          <a:p>
            <a:endParaRPr lang="en-US"/>
          </a:p>
        </p:txBody>
      </p:sp>
      <p:sp>
        <p:nvSpPr>
          <p:cNvPr id="4" name="Slide Number Placeholder 3"/>
          <p:cNvSpPr>
            <a:spLocks noGrp="1"/>
          </p:cNvSpPr>
          <p:nvPr>
            <p:ph type="sldNum" sz="quarter" idx="5"/>
          </p:nvPr>
        </p:nvSpPr>
        <p:spPr/>
        <p:txBody>
          <a:bodyPr/>
          <a:lstStyle/>
          <a:p>
            <a:fld id="{9EB4C982-825B-414E-ABB9-79AB251390A5}" type="slidenum">
              <a:rPr lang="en-US" smtClean="0"/>
              <a:t>19</a:t>
            </a:fld>
            <a:endParaRPr lang="en-US"/>
          </a:p>
        </p:txBody>
      </p:sp>
    </p:spTree>
    <p:extLst>
      <p:ext uri="{BB962C8B-B14F-4D97-AF65-F5344CB8AC3E}">
        <p14:creationId xmlns:p14="http://schemas.microsoft.com/office/powerpoint/2010/main" val="16805230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a:solidFill>
                  <a:schemeClr val="tx1"/>
                </a:solidFill>
                <a:latin typeface="+mn-lt"/>
                <a:ea typeface="+mn-ea"/>
                <a:cs typeface="+mn-cs"/>
              </a:rPr>
              <a:t>Spectral – This is how narrow of a frequency band that we can observe. For example blue light is approximately 400-500 nm. Our sensor may be able to view that band. However, for higher Spectral resolution, we could divide that into ten bands instead and observe 400-410nm, 410-420nm, …, 480-500nm, giving us information about several shades of blue.</a:t>
            </a:r>
            <a:endParaRPr lang="en-US"/>
          </a:p>
        </p:txBody>
      </p:sp>
      <p:sp>
        <p:nvSpPr>
          <p:cNvPr id="4" name="Slide Number Placeholder 3"/>
          <p:cNvSpPr>
            <a:spLocks noGrp="1"/>
          </p:cNvSpPr>
          <p:nvPr>
            <p:ph type="sldNum" sz="quarter" idx="5"/>
          </p:nvPr>
        </p:nvSpPr>
        <p:spPr/>
        <p:txBody>
          <a:bodyPr/>
          <a:lstStyle/>
          <a:p>
            <a:fld id="{9EB4C982-825B-414E-ABB9-79AB251390A5}" type="slidenum">
              <a:rPr lang="en-US" smtClean="0"/>
              <a:t>23</a:t>
            </a:fld>
            <a:endParaRPr lang="en-US"/>
          </a:p>
        </p:txBody>
      </p:sp>
    </p:spTree>
    <p:extLst>
      <p:ext uri="{BB962C8B-B14F-4D97-AF65-F5344CB8AC3E}">
        <p14:creationId xmlns:p14="http://schemas.microsoft.com/office/powerpoint/2010/main" val="40851502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a:solidFill>
                  <a:schemeClr val="tx1"/>
                </a:solidFill>
                <a:latin typeface="+mn-lt"/>
                <a:ea typeface="+mn-ea"/>
                <a:cs typeface="+mn-cs"/>
              </a:rPr>
              <a:t>Radiance (or Radiometric) – This is how accurately we can measure the brightness of something. It is often related to the number of bits allotted to each pixel. For example if a pixel has 1 bit, it can only be one of two values, either be white or black. If the pixel has 8 bits, it can have 256 different values allowing us much higher Radiance resolution, storing white to black with 256 different shades of gray.</a:t>
            </a:r>
            <a:endParaRPr lang="en-US" b="0"/>
          </a:p>
        </p:txBody>
      </p:sp>
      <p:sp>
        <p:nvSpPr>
          <p:cNvPr id="4" name="Slide Number Placeholder 3"/>
          <p:cNvSpPr>
            <a:spLocks noGrp="1"/>
          </p:cNvSpPr>
          <p:nvPr>
            <p:ph type="sldNum" sz="quarter" idx="5"/>
          </p:nvPr>
        </p:nvSpPr>
        <p:spPr/>
        <p:txBody>
          <a:bodyPr/>
          <a:lstStyle/>
          <a:p>
            <a:fld id="{9EB4C982-825B-414E-ABB9-79AB251390A5}" type="slidenum">
              <a:rPr lang="en-US" smtClean="0"/>
              <a:t>26</a:t>
            </a:fld>
            <a:endParaRPr lang="en-US"/>
          </a:p>
        </p:txBody>
      </p:sp>
    </p:spTree>
    <p:extLst>
      <p:ext uri="{BB962C8B-B14F-4D97-AF65-F5344CB8AC3E}">
        <p14:creationId xmlns:p14="http://schemas.microsoft.com/office/powerpoint/2010/main" val="23902656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https://www.e-education.psu.edu/geog160/node/1959</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Spectral resolution. The area under the curve represents the magnitude of electromagnetic energy emitted by the Sun at various wavelengths. Low resolution sensors record energy within relatively wide wavelength bands (represented by the lighter and thicker purple band). High-resolution sensors record energy within narrow bands (represented by the darker and thinner band).</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Radiometric resolution. The area under the curve represents the magnitude of electromagnetic energy emitted by the Sun at various wavelengths. Sensors with low radiometric resolution are able to detect only relatively large differences in energy magnitude (as represented by the lighter and thicker purple band). Sensors with high radiometric resolution are able to detect relatively small differences (represented by the darker and thinner band).</a:t>
            </a:r>
            <a:endParaRPr lang="en-US" b="0"/>
          </a:p>
          <a:p>
            <a:endParaRPr lang="en-US"/>
          </a:p>
        </p:txBody>
      </p:sp>
      <p:sp>
        <p:nvSpPr>
          <p:cNvPr id="4" name="Slide Number Placeholder 3"/>
          <p:cNvSpPr>
            <a:spLocks noGrp="1"/>
          </p:cNvSpPr>
          <p:nvPr>
            <p:ph type="sldNum" sz="quarter" idx="5"/>
          </p:nvPr>
        </p:nvSpPr>
        <p:spPr/>
        <p:txBody>
          <a:bodyPr/>
          <a:lstStyle/>
          <a:p>
            <a:fld id="{9EB4C982-825B-414E-ABB9-79AB251390A5}" type="slidenum">
              <a:rPr lang="en-US" smtClean="0"/>
              <a:t>28</a:t>
            </a:fld>
            <a:endParaRPr lang="en-US"/>
          </a:p>
        </p:txBody>
      </p:sp>
    </p:spTree>
    <p:extLst>
      <p:ext uri="{BB962C8B-B14F-4D97-AF65-F5344CB8AC3E}">
        <p14:creationId xmlns:p14="http://schemas.microsoft.com/office/powerpoint/2010/main" val="36298355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Synthetic Aperture Radar (SAR)</a:t>
            </a:r>
            <a:r>
              <a:rPr lang="en-US"/>
              <a:t> is an </a:t>
            </a:r>
            <a:r>
              <a:rPr lang="en-US" b="1"/>
              <a:t>active remote sensing system</a:t>
            </a:r>
            <a:r>
              <a:rPr lang="en-US"/>
              <a:t> that uses microwave radar to create high-resolution images of the Earth’s surface.</a:t>
            </a:r>
          </a:p>
          <a:p>
            <a:r>
              <a:rPr lang="en-US"/>
              <a:t>Unlike optical sensors, SAR works </a:t>
            </a:r>
            <a:r>
              <a:rPr lang="en-US" b="1"/>
              <a:t>day or night</a:t>
            </a:r>
            <a:r>
              <a:rPr lang="en-US"/>
              <a:t> and can </a:t>
            </a:r>
            <a:r>
              <a:rPr lang="en-US" b="1"/>
              <a:t>see through clouds, smoke, and even some vegetation and soil</a:t>
            </a:r>
            <a:r>
              <a:rPr lang="en-US"/>
              <a:t>, depending on wavelength.</a:t>
            </a:r>
          </a:p>
          <a:p>
            <a:br>
              <a:rPr lang="en-US"/>
            </a:br>
            <a:r>
              <a:rPr lang="en-US" b="1"/>
              <a:t>How it Works</a:t>
            </a:r>
          </a:p>
          <a:p>
            <a:r>
              <a:rPr lang="en-US"/>
              <a:t>A radar antenna on a satellite or aircraft emits </a:t>
            </a:r>
            <a:r>
              <a:rPr lang="en-US" b="1"/>
              <a:t>microwave pulses</a:t>
            </a:r>
            <a:r>
              <a:rPr lang="en-US"/>
              <a:t> toward the ground.</a:t>
            </a:r>
          </a:p>
          <a:p>
            <a:r>
              <a:rPr lang="en-US"/>
              <a:t>The pulses scatter off the Earth’s surface and return to the antenna.</a:t>
            </a:r>
          </a:p>
          <a:p>
            <a:r>
              <a:rPr lang="en-US"/>
              <a:t>By measuring the </a:t>
            </a:r>
            <a:r>
              <a:rPr lang="en-US" b="1"/>
              <a:t>time delay</a:t>
            </a:r>
            <a:r>
              <a:rPr lang="en-US"/>
              <a:t> (distance) and </a:t>
            </a:r>
            <a:r>
              <a:rPr lang="en-US" b="1"/>
              <a:t>phase</a:t>
            </a:r>
            <a:r>
              <a:rPr lang="en-US"/>
              <a:t> (waveform shift), SAR builds up detailed information about the terrain.</a:t>
            </a:r>
          </a:p>
          <a:p>
            <a:r>
              <a:rPr lang="en-US" b="1"/>
              <a:t>The "Synthetic Aperture" Trick</a:t>
            </a:r>
          </a:p>
          <a:p>
            <a:r>
              <a:rPr lang="en-US"/>
              <a:t>Normally, radar resolution depends on the </a:t>
            </a:r>
            <a:r>
              <a:rPr lang="en-US" b="1"/>
              <a:t>physical size of the antenna</a:t>
            </a:r>
            <a:r>
              <a:rPr lang="en-US"/>
              <a:t>: bigger antennas = sharper images.</a:t>
            </a:r>
          </a:p>
          <a:p>
            <a:r>
              <a:rPr lang="en-US"/>
              <a:t>A satellite can’t carry a 1-kilometer-long antenna — so SAR uses the </a:t>
            </a:r>
            <a:r>
              <a:rPr lang="en-US" b="1"/>
              <a:t>motion of the platform</a:t>
            </a:r>
            <a:r>
              <a:rPr lang="en-US"/>
              <a:t> to simulate one.</a:t>
            </a:r>
          </a:p>
          <a:p>
            <a:r>
              <a:rPr lang="en-US"/>
              <a:t>As the radar platform moves, it records echoes from each point on the ground over time.</a:t>
            </a:r>
          </a:p>
          <a:p>
            <a:r>
              <a:rPr lang="en-US"/>
              <a:t>These echoes are combined with advanced signal processing to create the effect of a much larger antenna — a </a:t>
            </a:r>
            <a:r>
              <a:rPr lang="en-US" b="1"/>
              <a:t>synthetic aperture</a:t>
            </a:r>
            <a:r>
              <a:rPr lang="en-US"/>
              <a:t>.</a:t>
            </a:r>
          </a:p>
          <a:p>
            <a:r>
              <a:rPr lang="en-US"/>
              <a:t>Result: </a:t>
            </a:r>
            <a:r>
              <a:rPr lang="en-US" b="1"/>
              <a:t>very high-resolution images</a:t>
            </a:r>
            <a:r>
              <a:rPr lang="en-US"/>
              <a:t> (as fine as 25 cm from space).</a:t>
            </a:r>
          </a:p>
          <a:p>
            <a:endParaRPr lang="en-US"/>
          </a:p>
          <a:p>
            <a:r>
              <a:rPr lang="en-US" b="1"/>
              <a:t>Key Features</a:t>
            </a:r>
          </a:p>
          <a:p>
            <a:r>
              <a:rPr lang="en-US" b="1"/>
              <a:t>All-weather capability:</a:t>
            </a:r>
            <a:r>
              <a:rPr lang="en-US"/>
              <a:t> Penetrates clouds and darkness.</a:t>
            </a:r>
          </a:p>
          <a:p>
            <a:r>
              <a:rPr lang="en-US" b="1"/>
              <a:t>Polarization:</a:t>
            </a:r>
            <a:r>
              <a:rPr lang="en-US"/>
              <a:t> SAR can transmit/receive in horizontal or vertical polarization (HH, HV, VH, VV), giving extra information about surface structure.</a:t>
            </a:r>
          </a:p>
          <a:p>
            <a:r>
              <a:rPr lang="en-US" b="1"/>
              <a:t>Interferometry (InSAR):</a:t>
            </a:r>
            <a:r>
              <a:rPr lang="en-US"/>
              <a:t> Using two SAR images of the same area, scientists can measure tiny ground movements (mm-scale) — useful for earthquakes, volcanoes, and glaciers.</a:t>
            </a:r>
          </a:p>
          <a:p>
            <a:r>
              <a:rPr lang="en-US" b="1"/>
              <a:t>Coherence:</a:t>
            </a:r>
            <a:r>
              <a:rPr lang="en-US"/>
              <a:t> SAR can track changes over time, detecting land cover changes, deforestation, or urban growth.</a:t>
            </a:r>
          </a:p>
          <a:p>
            <a:endParaRPr lang="en-US"/>
          </a:p>
          <a:p>
            <a:r>
              <a:rPr lang="en-US" b="1"/>
              <a:t>Example Missions</a:t>
            </a:r>
          </a:p>
          <a:p>
            <a:r>
              <a:rPr lang="en-US" b="1"/>
              <a:t>Sentinel-1 (ESA):</a:t>
            </a:r>
            <a:r>
              <a:rPr lang="en-US"/>
              <a:t> Europe’s free, open SAR dataset — widely used for environmental monitoring.</a:t>
            </a:r>
          </a:p>
          <a:p>
            <a:r>
              <a:rPr lang="en-US" b="1"/>
              <a:t>RADARSAT (Canada):</a:t>
            </a:r>
            <a:r>
              <a:rPr lang="en-US"/>
              <a:t> Maritime and Arctic surveillance.</a:t>
            </a:r>
          </a:p>
          <a:p>
            <a:r>
              <a:rPr lang="en-US" b="1" err="1"/>
              <a:t>TerraSAR</a:t>
            </a:r>
            <a:r>
              <a:rPr lang="en-US" b="1"/>
              <a:t>-X (Germany):</a:t>
            </a:r>
            <a:r>
              <a:rPr lang="en-US"/>
              <a:t> Commercial high-resolution imagery.</a:t>
            </a:r>
          </a:p>
          <a:p>
            <a:r>
              <a:rPr lang="en-US" b="1"/>
              <a:t>NISAR (NASA–ISRO, launching 2025):</a:t>
            </a:r>
            <a:r>
              <a:rPr lang="en-US"/>
              <a:t> Will provide global L- and S-band SAR for climate and hazard monitoring.</a:t>
            </a:r>
          </a:p>
          <a:p>
            <a:endParaRPr lang="en-US"/>
          </a:p>
          <a:p>
            <a:endParaRPr lang="en-US"/>
          </a:p>
          <a:p>
            <a:r>
              <a:rPr lang="en-US"/>
              <a:t>Synthetic Aperture Radar (SAR) doesn’t belong to one single electromagnetic (EM) band—it’s a technique that can be applied across several </a:t>
            </a:r>
            <a:r>
              <a:rPr lang="en-US" b="1"/>
              <a:t>microwave frequency bands</a:t>
            </a:r>
            <a:r>
              <a:rPr lang="en-US"/>
              <a:t>.</a:t>
            </a:r>
          </a:p>
          <a:p>
            <a:r>
              <a:rPr lang="en-US"/>
              <a:t>Here’s how it typically breaks down:</a:t>
            </a:r>
          </a:p>
          <a:p>
            <a:r>
              <a:rPr lang="en-US" b="1"/>
              <a:t>P-band (~0.3–1 GHz)</a:t>
            </a:r>
            <a:r>
              <a:rPr lang="en-US"/>
              <a:t>: Long wavelength (~30–100 cm). Can penetrate vegetation, soil, and even some dry sand—useful for subsurface studies.</a:t>
            </a:r>
          </a:p>
          <a:p>
            <a:r>
              <a:rPr lang="en-US" b="1"/>
              <a:t>L-band (~1–2 GHz)</a:t>
            </a:r>
            <a:r>
              <a:rPr lang="en-US"/>
              <a:t>: Wavelength ~15–30 cm. Good for vegetation monitoring, forestry, and soil moisture.</a:t>
            </a:r>
          </a:p>
          <a:p>
            <a:r>
              <a:rPr lang="en-US" b="1"/>
              <a:t>S-band (~2–4 GHz)</a:t>
            </a:r>
            <a:r>
              <a:rPr lang="en-US"/>
              <a:t>: Wavelength ~7.5–15 cm. Less common, used in some specialized systems.</a:t>
            </a:r>
          </a:p>
          <a:p>
            <a:r>
              <a:rPr lang="en-US" b="1"/>
              <a:t>C-band (~4–8 GHz)</a:t>
            </a:r>
            <a:r>
              <a:rPr lang="en-US"/>
              <a:t>: Wavelength ~3.8–7.5 cm. Widely used (e.g., ESA Sentinel-1). Balanced between resolution and vegetation penetration.</a:t>
            </a:r>
          </a:p>
          <a:p>
            <a:r>
              <a:rPr lang="en-US" b="1"/>
              <a:t>X-band (~8–12 GHz)</a:t>
            </a:r>
            <a:r>
              <a:rPr lang="en-US"/>
              <a:t>: Wavelength ~2.5–3.8 cm. High-resolution imaging, used in </a:t>
            </a:r>
            <a:r>
              <a:rPr lang="en-US" err="1"/>
              <a:t>TerraSAR</a:t>
            </a:r>
            <a:r>
              <a:rPr lang="en-US"/>
              <a:t>-X, COSMO-</a:t>
            </a:r>
            <a:r>
              <a:rPr lang="en-US" err="1"/>
              <a:t>SkyMed</a:t>
            </a:r>
            <a:r>
              <a:rPr lang="en-US"/>
              <a:t>, military reconnaissance.</a:t>
            </a:r>
          </a:p>
          <a:p>
            <a:r>
              <a:rPr lang="en-US" b="1"/>
              <a:t>Ku/Ka-band (&gt;12 GHz)</a:t>
            </a:r>
            <a:r>
              <a:rPr lang="en-US"/>
              <a:t>: Shorter wavelengths (&lt;2.5 cm). Used in experimental or airborne SAR systems for very high resolution, though more affected by atmosphere and rain.</a:t>
            </a:r>
          </a:p>
          <a:p>
            <a:r>
              <a:rPr lang="en-US" b="1"/>
              <a:t>Summary:</a:t>
            </a:r>
            <a:br>
              <a:rPr lang="en-US"/>
            </a:br>
            <a:r>
              <a:rPr lang="en-US"/>
              <a:t>SAR is a </a:t>
            </a:r>
            <a:r>
              <a:rPr lang="en-US" b="1"/>
              <a:t>radar imaging technique</a:t>
            </a:r>
            <a:r>
              <a:rPr lang="en-US"/>
              <a:t> that uses microwave frequencies (roughly </a:t>
            </a:r>
            <a:r>
              <a:rPr lang="en-US" b="1"/>
              <a:t>0.3–40 GHz</a:t>
            </a:r>
            <a:r>
              <a:rPr lang="en-US"/>
              <a:t>), most commonly in </a:t>
            </a:r>
            <a:r>
              <a:rPr lang="en-US" b="1"/>
              <a:t>L, C, and X bands</a:t>
            </a:r>
            <a:r>
              <a:rPr lang="en-US"/>
              <a:t>. The choice of band depends on the trade-off between resolution, penetration (through vegetation/ground), and atmospheric effects.</a:t>
            </a:r>
          </a:p>
          <a:p>
            <a:endParaRPr lang="en-US"/>
          </a:p>
        </p:txBody>
      </p:sp>
      <p:sp>
        <p:nvSpPr>
          <p:cNvPr id="4" name="Slide Number Placeholder 3"/>
          <p:cNvSpPr>
            <a:spLocks noGrp="1"/>
          </p:cNvSpPr>
          <p:nvPr>
            <p:ph type="sldNum" sz="quarter" idx="5"/>
          </p:nvPr>
        </p:nvSpPr>
        <p:spPr/>
        <p:txBody>
          <a:bodyPr/>
          <a:lstStyle/>
          <a:p>
            <a:fld id="{9EB4C982-825B-414E-ABB9-79AB251390A5}" type="slidenum">
              <a:rPr lang="en-US" smtClean="0"/>
              <a:t>33</a:t>
            </a:fld>
            <a:endParaRPr lang="en-US"/>
          </a:p>
        </p:txBody>
      </p:sp>
    </p:spTree>
    <p:extLst>
      <p:ext uri="{BB962C8B-B14F-4D97-AF65-F5344CB8AC3E}">
        <p14:creationId xmlns:p14="http://schemas.microsoft.com/office/powerpoint/2010/main" val="32006970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One of the most dramatic and secretive chapters in Cold War reconnaissance history — the story of </a:t>
            </a:r>
            <a:r>
              <a:rPr lang="en-US" b="1"/>
              <a:t>CORONA film recovery by aircraft</a:t>
            </a:r>
            <a:r>
              <a:rPr lang="en-US"/>
              <a:t>…</a:t>
            </a:r>
            <a:br>
              <a:rPr lang="en-US"/>
            </a:br>
            <a:endParaRPr lang="en-US"/>
          </a:p>
          <a:p>
            <a:r>
              <a:rPr lang="en-US" b="1"/>
              <a:t>The CORONA Program</a:t>
            </a:r>
          </a:p>
          <a:p>
            <a:r>
              <a:rPr lang="en-US"/>
              <a:t>In the late 1950s, the U.S. developed the </a:t>
            </a:r>
            <a:r>
              <a:rPr lang="en-US" b="1"/>
              <a:t>CORONA</a:t>
            </a:r>
            <a:r>
              <a:rPr lang="en-US"/>
              <a:t> series of spy satellites to photograph the Soviet Union and other strategic areas.</a:t>
            </a:r>
          </a:p>
          <a:p>
            <a:r>
              <a:rPr lang="en-US"/>
              <a:t>These satellites carried film-based cameras — this was before digital imaging.</a:t>
            </a:r>
          </a:p>
          <a:p>
            <a:r>
              <a:rPr lang="en-US"/>
              <a:t>Once the film was used up, there was no way to beam images back to Earth. Instead, the film had to be </a:t>
            </a:r>
            <a:r>
              <a:rPr lang="en-US" b="1"/>
              <a:t>physically returned</a:t>
            </a:r>
            <a:r>
              <a:rPr lang="en-US"/>
              <a:t>.</a:t>
            </a:r>
          </a:p>
          <a:p>
            <a:br>
              <a:rPr lang="en-US"/>
            </a:br>
            <a:r>
              <a:rPr lang="en-US" b="1"/>
              <a:t>Film Return Capsules</a:t>
            </a:r>
          </a:p>
          <a:p>
            <a:r>
              <a:rPr lang="en-US"/>
              <a:t>The satellites carried </a:t>
            </a:r>
            <a:r>
              <a:rPr lang="en-US" b="1"/>
              <a:t>reentry capsules</a:t>
            </a:r>
            <a:r>
              <a:rPr lang="en-US"/>
              <a:t> (nicknamed </a:t>
            </a:r>
            <a:r>
              <a:rPr lang="en-US" i="1"/>
              <a:t>“film buckets”</a:t>
            </a:r>
            <a:r>
              <a:rPr lang="en-US"/>
              <a:t>).</a:t>
            </a:r>
          </a:p>
          <a:p>
            <a:r>
              <a:rPr lang="en-US"/>
              <a:t>After the satellite’s mission ended, the capsule was ejected, reentered the atmosphere with a heat shield, and deployed a parachute.</a:t>
            </a:r>
          </a:p>
          <a:p>
            <a:r>
              <a:rPr lang="en-US"/>
              <a:t>Inside was the precious exposed film with high-resolution images of Soviet missile silos, airbases, and shipyards.</a:t>
            </a:r>
          </a:p>
          <a:p>
            <a:br>
              <a:rPr lang="en-US"/>
            </a:br>
            <a:r>
              <a:rPr lang="en-US" b="1"/>
              <a:t>Mid-Air Recovery</a:t>
            </a:r>
          </a:p>
          <a:p>
            <a:r>
              <a:rPr lang="en-US"/>
              <a:t>To prevent the capsule from landing in the ocean (and possibly being lost or recovered by adversaries), the U.S. Air Force developed a daring recovery method:</a:t>
            </a:r>
          </a:p>
          <a:p>
            <a:r>
              <a:rPr lang="en-US" b="1"/>
              <a:t>C-119 “Flying Boxcar”</a:t>
            </a:r>
            <a:r>
              <a:rPr lang="en-US"/>
              <a:t> (later </a:t>
            </a:r>
            <a:r>
              <a:rPr lang="en-US" b="1"/>
              <a:t>JC-130 Hercules</a:t>
            </a:r>
            <a:r>
              <a:rPr lang="en-US"/>
              <a:t>) aircraft were equipped with special hooks and winches.</a:t>
            </a:r>
          </a:p>
          <a:p>
            <a:r>
              <a:rPr lang="en-US"/>
              <a:t>As the capsule parachuted down, recovery planes would </a:t>
            </a:r>
            <a:r>
              <a:rPr lang="en-US" b="1"/>
              <a:t>fly underneath it</a:t>
            </a:r>
            <a:r>
              <a:rPr lang="en-US"/>
              <a:t> and snag the parachute cord with a trapeze-like mechanism.</a:t>
            </a:r>
          </a:p>
          <a:p>
            <a:r>
              <a:rPr lang="en-US"/>
              <a:t>Once caught, the capsule was reeled into the aircraft’s cargo bay.</a:t>
            </a:r>
          </a:p>
          <a:p>
            <a:r>
              <a:rPr lang="en-US"/>
              <a:t>If the plane missed, Navy ships and submarines were stationed for ocean recovery — but this was riskier, since film could be damaged by seawater.</a:t>
            </a:r>
          </a:p>
          <a:p>
            <a:r>
              <a:rPr lang="en-US"/>
              <a:t>This maneuver was called </a:t>
            </a:r>
            <a:r>
              <a:rPr lang="en-US" b="1"/>
              <a:t>airborne midair retrieval (MAR)</a:t>
            </a:r>
            <a:r>
              <a:rPr lang="en-US"/>
              <a:t> and was first successfully performed in </a:t>
            </a:r>
            <a:r>
              <a:rPr lang="en-US" b="1"/>
              <a:t>1960</a:t>
            </a:r>
            <a:r>
              <a:rPr lang="en-US"/>
              <a:t>.</a:t>
            </a:r>
          </a:p>
          <a:p>
            <a:br>
              <a:rPr lang="en-US"/>
            </a:br>
            <a:r>
              <a:rPr lang="en-US" b="1"/>
              <a:t>Challenges</a:t>
            </a:r>
          </a:p>
          <a:p>
            <a:r>
              <a:rPr lang="en-US"/>
              <a:t>The capsules were small (about the size of a trash can) and fell at high speed before their parachute slowed them.</a:t>
            </a:r>
          </a:p>
          <a:p>
            <a:r>
              <a:rPr lang="en-US"/>
              <a:t>Timing was critical — the recovery plane had to be at the exact spot in the Pacific Ocean where the capsule was expected to descend, based on precise orbital tracking.</a:t>
            </a:r>
          </a:p>
          <a:p>
            <a:r>
              <a:rPr lang="en-US"/>
              <a:t>Crews sometimes missed, and capsules occasionally sank before they could be recovered. But overall, the system proved remarkably successful.</a:t>
            </a:r>
          </a:p>
          <a:p>
            <a:br>
              <a:rPr lang="en-US"/>
            </a:br>
            <a:r>
              <a:rPr lang="en-US" b="1"/>
              <a:t>Significance</a:t>
            </a:r>
          </a:p>
          <a:p>
            <a:r>
              <a:rPr lang="en-US"/>
              <a:t>The CORONA program (1959–1972) produced </a:t>
            </a:r>
            <a:r>
              <a:rPr lang="en-US" b="1"/>
              <a:t>over 800,000 images</a:t>
            </a:r>
            <a:r>
              <a:rPr lang="en-US"/>
              <a:t>, giving the U.S. an unprecedented view of the Soviet Union and reshaping intelligence capabilities.</a:t>
            </a:r>
          </a:p>
          <a:p>
            <a:r>
              <a:rPr lang="en-US"/>
              <a:t>It showed that the USSR had </a:t>
            </a:r>
            <a:r>
              <a:rPr lang="en-US" b="1"/>
              <a:t>fewer missiles</a:t>
            </a:r>
            <a:r>
              <a:rPr lang="en-US"/>
              <a:t> than feared, which helped cool some of the nuclear panic of the early 1960s.</a:t>
            </a:r>
          </a:p>
          <a:p>
            <a:r>
              <a:rPr lang="en-US"/>
              <a:t>CORONA’s success paved the way for later reconnaissance programs and today’s digital spy satellites.</a:t>
            </a:r>
          </a:p>
          <a:p>
            <a:endParaRPr lang="en-US"/>
          </a:p>
          <a:p>
            <a:r>
              <a:rPr lang="en-US"/>
              <a:t>In 1972, the last CORONA capsule ever launched splashed down in the Pacific and was recovered by the USS </a:t>
            </a:r>
            <a:r>
              <a:rPr lang="en-US" i="1"/>
              <a:t>Longview</a:t>
            </a:r>
            <a:r>
              <a:rPr lang="en-US"/>
              <a:t>.</a:t>
            </a:r>
          </a:p>
          <a:p>
            <a:r>
              <a:rPr lang="en-US"/>
              <a:t>Today, some of the old CORONA film is declassified and used by scientists to study </a:t>
            </a:r>
            <a:r>
              <a:rPr lang="en-US" b="1"/>
              <a:t>glaciers, forests, and archaeological sites</a:t>
            </a:r>
            <a:r>
              <a:rPr lang="en-US"/>
              <a:t>, since it provides a detailed historical record of Earth before widespread satellite monitoring.</a:t>
            </a:r>
          </a:p>
          <a:p>
            <a:endParaRPr lang="en-US"/>
          </a:p>
        </p:txBody>
      </p:sp>
      <p:sp>
        <p:nvSpPr>
          <p:cNvPr id="4" name="Slide Number Placeholder 3"/>
          <p:cNvSpPr>
            <a:spLocks noGrp="1"/>
          </p:cNvSpPr>
          <p:nvPr>
            <p:ph type="sldNum" sz="quarter" idx="5"/>
          </p:nvPr>
        </p:nvSpPr>
        <p:spPr/>
        <p:txBody>
          <a:bodyPr/>
          <a:lstStyle/>
          <a:p>
            <a:fld id="{9EB4C982-825B-414E-ABB9-79AB251390A5}" type="slidenum">
              <a:rPr lang="en-US" smtClean="0"/>
              <a:t>34</a:t>
            </a:fld>
            <a:endParaRPr lang="en-US"/>
          </a:p>
        </p:txBody>
      </p:sp>
    </p:spTree>
    <p:extLst>
      <p:ext uri="{BB962C8B-B14F-4D97-AF65-F5344CB8AC3E}">
        <p14:creationId xmlns:p14="http://schemas.microsoft.com/office/powerpoint/2010/main" val="22902265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The </a:t>
            </a:r>
            <a:r>
              <a:rPr lang="en-US" sz="1200" b="1" i="0" kern="1200">
                <a:solidFill>
                  <a:schemeClr val="tx1"/>
                </a:solidFill>
                <a:effectLst/>
                <a:latin typeface="+mn-lt"/>
                <a:ea typeface="+mn-ea"/>
                <a:cs typeface="+mn-cs"/>
              </a:rPr>
              <a:t>Space-Based Infrared System</a:t>
            </a:r>
            <a:r>
              <a:rPr lang="en-US" sz="1200" b="0" i="0" kern="1200">
                <a:solidFill>
                  <a:schemeClr val="tx1"/>
                </a:solidFill>
                <a:effectLst/>
                <a:latin typeface="+mn-lt"/>
                <a:ea typeface="+mn-ea"/>
                <a:cs typeface="+mn-cs"/>
              </a:rPr>
              <a:t> (</a:t>
            </a:r>
            <a:r>
              <a:rPr lang="en-US" sz="1200" b="1" i="0" kern="1200">
                <a:solidFill>
                  <a:schemeClr val="tx1"/>
                </a:solidFill>
                <a:effectLst/>
                <a:latin typeface="+mn-lt"/>
                <a:ea typeface="+mn-ea"/>
                <a:cs typeface="+mn-cs"/>
              </a:rPr>
              <a:t>SBIRS</a:t>
            </a:r>
            <a:r>
              <a:rPr lang="en-US" sz="1200" b="0" i="0" kern="1200">
                <a:solidFill>
                  <a:schemeClr val="tx1"/>
                </a:solidFill>
                <a:effectLst/>
                <a:latin typeface="+mn-lt"/>
                <a:ea typeface="+mn-ea"/>
                <a:cs typeface="+mn-cs"/>
              </a:rPr>
              <a:t>) is a </a:t>
            </a:r>
            <a:r>
              <a:rPr lang="en-US" sz="1200" b="0" i="0" u="none" strike="noStrike" kern="1200">
                <a:solidFill>
                  <a:schemeClr val="tx1"/>
                </a:solidFill>
                <a:effectLst/>
                <a:latin typeface="+mn-lt"/>
                <a:ea typeface="+mn-ea"/>
                <a:cs typeface="+mn-cs"/>
                <a:hlinkClick r:id="rId3" tooltip="United States Space Force"/>
              </a:rPr>
              <a:t>United States Space Force</a:t>
            </a:r>
            <a:r>
              <a:rPr lang="en-US" sz="1200" b="0" i="0" kern="1200">
                <a:solidFill>
                  <a:schemeClr val="tx1"/>
                </a:solidFill>
                <a:effectLst/>
                <a:latin typeface="+mn-lt"/>
                <a:ea typeface="+mn-ea"/>
                <a:cs typeface="+mn-cs"/>
              </a:rPr>
              <a:t> system intended to meet the United States' </a:t>
            </a:r>
            <a:r>
              <a:rPr lang="en-US" sz="1200" b="0" i="0" u="none" strike="noStrike" kern="1200">
                <a:solidFill>
                  <a:schemeClr val="tx1"/>
                </a:solidFill>
                <a:effectLst/>
                <a:latin typeface="+mn-lt"/>
                <a:ea typeface="+mn-ea"/>
                <a:cs typeface="+mn-cs"/>
                <a:hlinkClick r:id="rId4" tooltip="United States Department of Defense"/>
              </a:rPr>
              <a:t>Department of Defense</a:t>
            </a:r>
            <a:r>
              <a:rPr lang="en-US" sz="1200" b="0" i="0" kern="1200">
                <a:solidFill>
                  <a:schemeClr val="tx1"/>
                </a:solidFill>
                <a:effectLst/>
                <a:latin typeface="+mn-lt"/>
                <a:ea typeface="+mn-ea"/>
                <a:cs typeface="+mn-cs"/>
              </a:rPr>
              <a:t> </a:t>
            </a:r>
            <a:r>
              <a:rPr lang="en-US" sz="1200" b="0" i="0" u="none" strike="noStrike" kern="1200">
                <a:solidFill>
                  <a:schemeClr val="tx1"/>
                </a:solidFill>
                <a:effectLst/>
                <a:latin typeface="+mn-lt"/>
                <a:ea typeface="+mn-ea"/>
                <a:cs typeface="+mn-cs"/>
                <a:hlinkClick r:id="rId5" tooltip="Infrared"/>
              </a:rPr>
              <a:t>infrared</a:t>
            </a:r>
            <a:r>
              <a:rPr lang="en-US" sz="1200" b="0" i="0" kern="1200">
                <a:solidFill>
                  <a:schemeClr val="tx1"/>
                </a:solidFill>
                <a:effectLst/>
                <a:latin typeface="+mn-lt"/>
                <a:ea typeface="+mn-ea"/>
                <a:cs typeface="+mn-cs"/>
              </a:rPr>
              <a:t> space surveillance needs through the first two to three decades of the 21st century. The SBIRS program is designed to provide key capabilities in the areas of missile warning, </a:t>
            </a:r>
            <a:r>
              <a:rPr lang="en-US" sz="1200" b="0" i="0" u="none" strike="noStrike" kern="1200">
                <a:solidFill>
                  <a:schemeClr val="tx1"/>
                </a:solidFill>
                <a:effectLst/>
                <a:latin typeface="+mn-lt"/>
                <a:ea typeface="+mn-ea"/>
                <a:cs typeface="+mn-cs"/>
                <a:hlinkClick r:id="rId6" tooltip="Missile defense"/>
              </a:rPr>
              <a:t>missile defense</a:t>
            </a:r>
            <a:r>
              <a:rPr lang="en-US" sz="1200" b="0" i="0" kern="1200">
                <a:solidFill>
                  <a:schemeClr val="tx1"/>
                </a:solidFill>
                <a:effectLst/>
                <a:latin typeface="+mn-lt"/>
                <a:ea typeface="+mn-ea"/>
                <a:cs typeface="+mn-cs"/>
              </a:rPr>
              <a:t>, </a:t>
            </a:r>
            <a:r>
              <a:rPr lang="en-US" sz="1200" b="0" i="0" u="none" strike="noStrike" kern="1200">
                <a:solidFill>
                  <a:schemeClr val="tx1"/>
                </a:solidFill>
                <a:effectLst/>
                <a:latin typeface="+mn-lt"/>
                <a:ea typeface="+mn-ea"/>
                <a:cs typeface="+mn-cs"/>
                <a:hlinkClick r:id="rId7" tooltip="Battlespace"/>
              </a:rPr>
              <a:t>battlespace</a:t>
            </a:r>
            <a:r>
              <a:rPr lang="en-US" sz="1200" b="0" i="0" kern="1200">
                <a:solidFill>
                  <a:schemeClr val="tx1"/>
                </a:solidFill>
                <a:effectLst/>
                <a:latin typeface="+mn-lt"/>
                <a:ea typeface="+mn-ea"/>
                <a:cs typeface="+mn-cs"/>
              </a:rPr>
              <a:t> characterization and technical intelligence via satellites in </a:t>
            </a:r>
            <a:r>
              <a:rPr lang="en-US" sz="1200" b="0" i="0" u="none" strike="noStrike" kern="1200">
                <a:solidFill>
                  <a:schemeClr val="tx1"/>
                </a:solidFill>
                <a:effectLst/>
                <a:latin typeface="+mn-lt"/>
                <a:ea typeface="+mn-ea"/>
                <a:cs typeface="+mn-cs"/>
                <a:hlinkClick r:id="rId8" tooltip="Geosynchronous Earth orbit"/>
              </a:rPr>
              <a:t>geosynchronous Earth orbit</a:t>
            </a:r>
            <a:r>
              <a:rPr lang="en-US" sz="1200" b="0" i="0" kern="1200">
                <a:solidFill>
                  <a:schemeClr val="tx1"/>
                </a:solidFill>
                <a:effectLst/>
                <a:latin typeface="+mn-lt"/>
                <a:ea typeface="+mn-ea"/>
                <a:cs typeface="+mn-cs"/>
              </a:rPr>
              <a:t> (GEO), sensors hosted on satellites in </a:t>
            </a:r>
            <a:r>
              <a:rPr lang="en-US" sz="1200" b="0" i="0" u="none" strike="noStrike" kern="1200">
                <a:solidFill>
                  <a:schemeClr val="tx1"/>
                </a:solidFill>
                <a:effectLst/>
                <a:latin typeface="+mn-lt"/>
                <a:ea typeface="+mn-ea"/>
                <a:cs typeface="+mn-cs"/>
                <a:hlinkClick r:id="rId9" tooltip="Molniya orbit"/>
              </a:rPr>
              <a:t>highly elliptical orbit</a:t>
            </a:r>
            <a:r>
              <a:rPr lang="en-US" sz="1200" b="0" i="0" kern="1200">
                <a:solidFill>
                  <a:schemeClr val="tx1"/>
                </a:solidFill>
                <a:effectLst/>
                <a:latin typeface="+mn-lt"/>
                <a:ea typeface="+mn-ea"/>
                <a:cs typeface="+mn-cs"/>
              </a:rPr>
              <a:t> (HEO), and ground-based data processing and control.</a:t>
            </a:r>
            <a:endParaRPr lang="en-US"/>
          </a:p>
        </p:txBody>
      </p:sp>
      <p:sp>
        <p:nvSpPr>
          <p:cNvPr id="4" name="Slide Number Placeholder 3"/>
          <p:cNvSpPr>
            <a:spLocks noGrp="1"/>
          </p:cNvSpPr>
          <p:nvPr>
            <p:ph type="sldNum" sz="quarter" idx="5"/>
          </p:nvPr>
        </p:nvSpPr>
        <p:spPr/>
        <p:txBody>
          <a:bodyPr/>
          <a:lstStyle/>
          <a:p>
            <a:fld id="{9EB4C982-825B-414E-ABB9-79AB251390A5}" type="slidenum">
              <a:rPr lang="en-US" smtClean="0"/>
              <a:t>35</a:t>
            </a:fld>
            <a:endParaRPr lang="en-US"/>
          </a:p>
        </p:txBody>
      </p:sp>
    </p:spTree>
    <p:extLst>
      <p:ext uri="{BB962C8B-B14F-4D97-AF65-F5344CB8AC3E}">
        <p14:creationId xmlns:p14="http://schemas.microsoft.com/office/powerpoint/2010/main" val="39181352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77505" y="1287560"/>
            <a:ext cx="6788990" cy="2387600"/>
          </a:xfrm>
        </p:spPr>
        <p:txBody>
          <a:bodyPr anchor="ctr"/>
          <a:lstStyle>
            <a:lvl1pPr algn="ctr">
              <a:defRPr sz="6000"/>
            </a:lvl1pPr>
          </a:lstStyle>
          <a:p>
            <a:r>
              <a:rPr lang="en-US"/>
              <a:t>Click to edit Master title style</a:t>
            </a:r>
          </a:p>
        </p:txBody>
      </p:sp>
      <p:sp>
        <p:nvSpPr>
          <p:cNvPr id="3" name="Subtitle 2"/>
          <p:cNvSpPr>
            <a:spLocks noGrp="1"/>
          </p:cNvSpPr>
          <p:nvPr>
            <p:ph type="subTitle" idx="1"/>
          </p:nvPr>
        </p:nvSpPr>
        <p:spPr>
          <a:xfrm>
            <a:off x="1143000" y="3781865"/>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1EE600E-A67F-4D2A-8A36-552C1EFBE963}" type="datetime1">
              <a:rPr lang="en-US" smtClean="0"/>
              <a:t>2/5/2026</a:t>
            </a:fld>
            <a:endParaRPr lang="en-US"/>
          </a:p>
        </p:txBody>
      </p:sp>
      <p:sp>
        <p:nvSpPr>
          <p:cNvPr id="6" name="Slide Number Placeholder 5"/>
          <p:cNvSpPr>
            <a:spLocks noGrp="1"/>
          </p:cNvSpPr>
          <p:nvPr>
            <p:ph type="sldNum" sz="quarter" idx="12"/>
          </p:nvPr>
        </p:nvSpPr>
        <p:spPr/>
        <p:txBody>
          <a:bodyPr/>
          <a:lstStyle/>
          <a:p>
            <a:fld id="{9A3029B7-FE6B-4680-9049-80E8298A0825}" type="slidenum">
              <a:rPr lang="en-US" smtClean="0"/>
              <a:pPr/>
              <a:t>‹#›</a:t>
            </a:fld>
            <a:endParaRPr lang="en-US"/>
          </a:p>
        </p:txBody>
      </p:sp>
      <p:sp>
        <p:nvSpPr>
          <p:cNvPr id="7" name="Title 1">
            <a:extLst>
              <a:ext uri="{FF2B5EF4-FFF2-40B4-BE49-F238E27FC236}">
                <a16:creationId xmlns:a16="http://schemas.microsoft.com/office/drawing/2014/main" id="{CF1DE720-C36A-2EFC-0954-335249276F1A}"/>
              </a:ext>
            </a:extLst>
          </p:cNvPr>
          <p:cNvSpPr txBox="1">
            <a:spLocks/>
          </p:cNvSpPr>
          <p:nvPr userDrawn="1"/>
        </p:nvSpPr>
        <p:spPr>
          <a:xfrm>
            <a:off x="1028701" y="111639"/>
            <a:ext cx="7226780" cy="6963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Segoe UI" panose="020B0502040204020203" pitchFamily="34" charset="0"/>
                <a:ea typeface="+mj-ea"/>
                <a:cs typeface="Segoe UI" panose="020B0502040204020203" pitchFamily="34" charset="0"/>
              </a:defRPr>
            </a:lvl1pPr>
          </a:lstStyle>
          <a:p>
            <a:pPr algn="ctr"/>
            <a:r>
              <a:rPr lang="en-US" sz="3600"/>
              <a:t>USAFA ASTRO</a:t>
            </a:r>
          </a:p>
        </p:txBody>
      </p:sp>
      <p:sp>
        <p:nvSpPr>
          <p:cNvPr id="8" name="Subtitle 2">
            <a:extLst>
              <a:ext uri="{FF2B5EF4-FFF2-40B4-BE49-F238E27FC236}">
                <a16:creationId xmlns:a16="http://schemas.microsoft.com/office/drawing/2014/main" id="{6FD864A1-DC7B-C6C8-87CB-D0D681030469}"/>
              </a:ext>
            </a:extLst>
          </p:cNvPr>
          <p:cNvSpPr txBox="1">
            <a:spLocks/>
          </p:cNvSpPr>
          <p:nvPr userDrawn="1"/>
        </p:nvSpPr>
        <p:spPr>
          <a:xfrm>
            <a:off x="1143000" y="6288282"/>
            <a:ext cx="6858000" cy="501261"/>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Segoe UI" panose="020B0502040204020203" pitchFamily="34" charset="0"/>
                <a:ea typeface="+mn-ea"/>
                <a:cs typeface="Segoe UI" panose="020B050204020402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Segoe UI" panose="020B0502040204020203" pitchFamily="34" charset="0"/>
                <a:ea typeface="+mn-ea"/>
                <a:cs typeface="Segoe UI" panose="020B050204020402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Segoe UI" panose="020B0502040204020203" pitchFamily="34" charset="0"/>
                <a:ea typeface="+mn-ea"/>
                <a:cs typeface="Segoe UI" panose="020B050204020402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mn-ea"/>
                <a:cs typeface="Segoe UI" panose="020B050204020402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mn-ea"/>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b="1" i="1"/>
              <a:t>ASTRO 331 – Space Systems Engineering</a:t>
            </a:r>
          </a:p>
        </p:txBody>
      </p:sp>
    </p:spTree>
    <p:extLst>
      <p:ext uri="{BB962C8B-B14F-4D97-AF65-F5344CB8AC3E}">
        <p14:creationId xmlns:p14="http://schemas.microsoft.com/office/powerpoint/2010/main" val="652688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19D194C-E731-4CF3-8F14-16F2CEB9B5CF}" type="datetime1">
              <a:rPr lang="en-US" smtClean="0"/>
              <a:t>2/5/2026</a:t>
            </a:fld>
            <a:endParaRPr lang="en-US"/>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88006264"/>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ctr">
            <a:normAutofit/>
          </a:bodyPr>
          <a:lstStyle>
            <a:lvl1pPr>
              <a:defRPr sz="48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5C6FCA-E440-4A17-8C6B-54B65BC400EF}" type="datetime1">
              <a:rPr lang="en-US" smtClean="0"/>
              <a:t>2/5/2026</a:t>
            </a:fld>
            <a:endParaRPr lang="en-US"/>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9590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7CEF287-72CA-49D4-A601-3B9D2E83EA05}" type="datetime1">
              <a:rPr lang="en-US" smtClean="0"/>
              <a:t>2/5/2026</a:t>
            </a:fld>
            <a:endParaRPr lang="en-US"/>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915566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92B2832-1105-4FA1-AD49-3D1761459FB9}" type="datetime1">
              <a:rPr lang="en-US" smtClean="0"/>
              <a:t>2/5/2026</a:t>
            </a:fld>
            <a:endParaRPr lang="en-US"/>
          </a:p>
        </p:txBody>
      </p:sp>
      <p:sp>
        <p:nvSpPr>
          <p:cNvPr id="9" name="Slide Number Placeholder 8"/>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37671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C08DF9A-2345-4D36-85FA-49730D271487}" type="datetime1">
              <a:rPr lang="en-US" smtClean="0"/>
              <a:t>2/5/2026</a:t>
            </a:fld>
            <a:endParaRPr lang="en-US"/>
          </a:p>
        </p:txBody>
      </p:sp>
      <p:sp>
        <p:nvSpPr>
          <p:cNvPr id="4" name="Footer Placeholder 3"/>
          <p:cNvSpPr>
            <a:spLocks noGrp="1"/>
          </p:cNvSpPr>
          <p:nvPr>
            <p:ph type="ftr" sz="quarter" idx="11"/>
          </p:nvPr>
        </p:nvSpPr>
        <p:spPr>
          <a:xfrm>
            <a:off x="3028950" y="6501692"/>
            <a:ext cx="3086100" cy="365125"/>
          </a:xfrm>
          <a:prstGeom prst="rect">
            <a:avLst/>
          </a:prstGeom>
        </p:spPr>
        <p:txBody>
          <a:bodyPr/>
          <a:lstStyle/>
          <a:p>
            <a:r>
              <a:rPr lang="en-US"/>
              <a:t>Astro 331 Lab #1</a:t>
            </a:r>
          </a:p>
        </p:txBody>
      </p:sp>
      <p:sp>
        <p:nvSpPr>
          <p:cNvPr id="5" name="Slide Number Placeholder 4"/>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4185979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0B4DED-4E37-473F-AD62-970655F2D578}" type="datetime1">
              <a:rPr lang="en-US" smtClean="0"/>
              <a:t>2/5/2026</a:t>
            </a:fld>
            <a:endParaRPr lang="en-US"/>
          </a:p>
        </p:txBody>
      </p:sp>
      <p:sp>
        <p:nvSpPr>
          <p:cNvPr id="4" name="Slide Number Placeholder 3"/>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2657856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0154D36-2BA6-4632-B283-5D3E851C5410}" type="datetime1">
              <a:rPr lang="en-US" smtClean="0"/>
              <a:t>2/5/2026</a:t>
            </a:fld>
            <a:endParaRPr lang="en-US"/>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640363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A9CD72-2059-40BB-BF30-AF971560729B}" type="datetime1">
              <a:rPr lang="en-US" smtClean="0"/>
              <a:t>2/5/2026</a:t>
            </a:fld>
            <a:endParaRPr lang="en-US"/>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58343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4B0F733-755F-4A68-A044-3BB7487EA333}" type="datetime1">
              <a:rPr lang="en-US" smtClean="0"/>
              <a:t>2/5/2026</a:t>
            </a:fld>
            <a:endParaRPr lang="en-US"/>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837221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CE81D12-59AE-465C-A617-7D2534E388B9}" type="datetime1">
              <a:rPr lang="en-US" smtClean="0"/>
              <a:t>2/5/2026</a:t>
            </a:fld>
            <a:endParaRPr lang="en-US"/>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1552929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66966" y="133186"/>
            <a:ext cx="7886700" cy="652197"/>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00025" y="1002506"/>
            <a:ext cx="8793015" cy="522755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291" y="6465105"/>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19D194C-E731-4CF3-8F14-16F2CEB9B5CF}" type="datetime1">
              <a:rPr lang="en-US" smtClean="0"/>
              <a:t>2/5/2026</a:t>
            </a:fld>
            <a:endParaRPr lang="en-US"/>
          </a:p>
        </p:txBody>
      </p:sp>
      <p:sp>
        <p:nvSpPr>
          <p:cNvPr id="6" name="Slide Number Placeholder 5"/>
          <p:cNvSpPr>
            <a:spLocks noGrp="1"/>
          </p:cNvSpPr>
          <p:nvPr>
            <p:ph type="sldNum" sz="quarter" idx="4"/>
          </p:nvPr>
        </p:nvSpPr>
        <p:spPr>
          <a:xfrm>
            <a:off x="7040236" y="6465106"/>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A3029B7-FE6B-4680-9049-80E8298A0825}" type="slidenum">
              <a:rPr lang="en-US" smtClean="0"/>
              <a:t>‹#›</a:t>
            </a:fld>
            <a:endParaRPr lang="en-US"/>
          </a:p>
        </p:txBody>
      </p:sp>
      <p:sp>
        <p:nvSpPr>
          <p:cNvPr id="8" name="TextBox 7">
            <a:extLst>
              <a:ext uri="{FF2B5EF4-FFF2-40B4-BE49-F238E27FC236}">
                <a16:creationId xmlns:a16="http://schemas.microsoft.com/office/drawing/2014/main" id="{1B2918AF-A31D-A49D-520C-D6A347912BFA}"/>
              </a:ext>
            </a:extLst>
          </p:cNvPr>
          <p:cNvSpPr txBox="1"/>
          <p:nvPr userDrawn="1"/>
        </p:nvSpPr>
        <p:spPr>
          <a:xfrm>
            <a:off x="8115301" y="72097"/>
            <a:ext cx="970472" cy="307777"/>
          </a:xfrm>
          <a:prstGeom prst="rect">
            <a:avLst/>
          </a:prstGeom>
          <a:noFill/>
        </p:spPr>
        <p:txBody>
          <a:bodyPr wrap="square" rtlCol="0">
            <a:spAutoFit/>
          </a:bodyPr>
          <a:lstStyle/>
          <a:p>
            <a:pPr algn="r"/>
            <a:r>
              <a:rPr lang="en-US" sz="1400" b="1">
                <a:latin typeface="Segoe UI" panose="020B0502040204020203" pitchFamily="34" charset="0"/>
                <a:cs typeface="Segoe UI" panose="020B0502040204020203" pitchFamily="34" charset="0"/>
              </a:rPr>
              <a:t>2025 Fall</a:t>
            </a:r>
          </a:p>
        </p:txBody>
      </p:sp>
      <p:sp>
        <p:nvSpPr>
          <p:cNvPr id="9" name="Rectangle 8">
            <a:extLst>
              <a:ext uri="{FF2B5EF4-FFF2-40B4-BE49-F238E27FC236}">
                <a16:creationId xmlns:a16="http://schemas.microsoft.com/office/drawing/2014/main" id="{30CFB5F7-9C45-8CB0-F5C4-6BF493EF4BCD}"/>
              </a:ext>
            </a:extLst>
          </p:cNvPr>
          <p:cNvSpPr/>
          <p:nvPr userDrawn="1"/>
        </p:nvSpPr>
        <p:spPr>
          <a:xfrm>
            <a:off x="46364" y="855395"/>
            <a:ext cx="9039409" cy="5961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800"/>
          </a:p>
        </p:txBody>
      </p:sp>
      <p:pic>
        <p:nvPicPr>
          <p:cNvPr id="11" name="Picture 10">
            <a:extLst>
              <a:ext uri="{FF2B5EF4-FFF2-40B4-BE49-F238E27FC236}">
                <a16:creationId xmlns:a16="http://schemas.microsoft.com/office/drawing/2014/main" id="{DF49DA28-CF7C-1CE3-C307-FC252DA9EBC7}"/>
              </a:ext>
            </a:extLst>
          </p:cNvPr>
          <p:cNvPicPr>
            <a:picLocks noChangeAspect="1"/>
          </p:cNvPicPr>
          <p:nvPr userDrawn="1"/>
        </p:nvPicPr>
        <p:blipFill>
          <a:blip r:embed="rId13">
            <a:clrChange>
              <a:clrFrom>
                <a:srgbClr val="FFFFFF"/>
              </a:clrFrom>
              <a:clrTo>
                <a:srgbClr val="FFFFFF">
                  <a:alpha val="0"/>
                </a:srgbClr>
              </a:clrTo>
            </a:clrChange>
          </a:blip>
          <a:stretch>
            <a:fillRect/>
          </a:stretch>
        </p:blipFill>
        <p:spPr>
          <a:xfrm>
            <a:off x="46365" y="18574"/>
            <a:ext cx="734686" cy="827487"/>
          </a:xfrm>
          <a:prstGeom prst="rect">
            <a:avLst/>
          </a:prstGeom>
        </p:spPr>
      </p:pic>
    </p:spTree>
    <p:extLst>
      <p:ext uri="{BB962C8B-B14F-4D97-AF65-F5344CB8AC3E}">
        <p14:creationId xmlns:p14="http://schemas.microsoft.com/office/powerpoint/2010/main" val="856012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2800" b="1" kern="1200">
          <a:solidFill>
            <a:schemeClr val="tx1"/>
          </a:solidFill>
          <a:latin typeface="Segoe UI" panose="020B0502040204020203" pitchFamily="34" charset="0"/>
          <a:ea typeface="+mj-ea"/>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hyperlink" Target="https://www.google.com/search?client=firefox-b-1-d&amp;sa=X&amp;sca_esv=562371431&amp;biw=1468&amp;bih=793&amp;sxsrf=AB5stBhRirgKRaYNYEZAq4eVNPtXt4ulUA:1693771425006&amp;q=resolving&amp;si=ACFMAn8hzZSJQsgXIYlkGc-z1vmpLzzqDb-HYA4Uzs8LHMyf4RUfQLskl7sb9mRXEdy6ujQUiSElCOVlpDx7Wea71hZH8miEkQ%3D%3D&amp;expnd=1" TargetMode="External"/><Relationship Id="rId2" Type="http://schemas.openxmlformats.org/officeDocument/2006/relationships/hyperlink" Target="https://www.google.com/search?client=firefox-b-1-d&amp;sa=X&amp;sca_esv=562371431&amp;biw=1468&amp;bih=793&amp;sxsrf=AB5stBhRirgKRaYNYEZAq4eVNPtXt4ulUA:1693771425006&amp;q=measurable&amp;si=ACFMAn9-5A9OMKPWcg180I9o9MndJuk7StA-r0Nd3r1VpzlBxaS-jhUiyKBx923vEnSjKqNHSXgnYdC7Jgzork5_KyoG09euWg%3D%3D&amp;expnd=1"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7.gif"/><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2.gif"/><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3.gi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49.jpeg"/></Relationships>
</file>

<file path=ppt/slides/_rels/slide34.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0E2C4-BC94-2EEF-55E0-A1575A57F58F}"/>
              </a:ext>
            </a:extLst>
          </p:cNvPr>
          <p:cNvSpPr>
            <a:spLocks noGrp="1"/>
          </p:cNvSpPr>
          <p:nvPr>
            <p:ph type="ctrTitle"/>
          </p:nvPr>
        </p:nvSpPr>
        <p:spPr/>
        <p:txBody>
          <a:bodyPr>
            <a:normAutofit/>
          </a:bodyPr>
          <a:lstStyle/>
          <a:p>
            <a:r>
              <a:rPr lang="en-US" b="1"/>
              <a:t>Lesson 9</a:t>
            </a:r>
          </a:p>
        </p:txBody>
      </p:sp>
      <p:sp>
        <p:nvSpPr>
          <p:cNvPr id="3" name="Subtitle 2">
            <a:extLst>
              <a:ext uri="{FF2B5EF4-FFF2-40B4-BE49-F238E27FC236}">
                <a16:creationId xmlns:a16="http://schemas.microsoft.com/office/drawing/2014/main" id="{1D63E707-3906-1580-6A39-D3696F120305}"/>
              </a:ext>
            </a:extLst>
          </p:cNvPr>
          <p:cNvSpPr>
            <a:spLocks noGrp="1"/>
          </p:cNvSpPr>
          <p:nvPr>
            <p:ph type="subTitle" idx="1"/>
          </p:nvPr>
        </p:nvSpPr>
        <p:spPr/>
        <p:txBody>
          <a:bodyPr/>
          <a:lstStyle/>
          <a:p>
            <a:r>
              <a:rPr lang="en-US" b="1"/>
              <a:t>Remote Sensing</a:t>
            </a:r>
          </a:p>
        </p:txBody>
      </p:sp>
    </p:spTree>
    <p:extLst>
      <p:ext uri="{BB962C8B-B14F-4D97-AF65-F5344CB8AC3E}">
        <p14:creationId xmlns:p14="http://schemas.microsoft.com/office/powerpoint/2010/main" val="3188062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2E022-496B-45E9-EE47-B3946C01E892}"/>
              </a:ext>
            </a:extLst>
          </p:cNvPr>
          <p:cNvSpPr>
            <a:spLocks noGrp="1"/>
          </p:cNvSpPr>
          <p:nvPr>
            <p:ph type="title"/>
          </p:nvPr>
        </p:nvSpPr>
        <p:spPr/>
        <p:txBody>
          <a:bodyPr/>
          <a:lstStyle/>
          <a:p>
            <a:r>
              <a:rPr lang="en-US"/>
              <a:t>What is this? (and why is it special?)</a:t>
            </a:r>
          </a:p>
        </p:txBody>
      </p:sp>
      <p:sp>
        <p:nvSpPr>
          <p:cNvPr id="4" name="Slide Number Placeholder 3">
            <a:extLst>
              <a:ext uri="{FF2B5EF4-FFF2-40B4-BE49-F238E27FC236}">
                <a16:creationId xmlns:a16="http://schemas.microsoft.com/office/drawing/2014/main" id="{30863F05-AF6A-B250-F070-9BA32E83D1C9}"/>
              </a:ext>
            </a:extLst>
          </p:cNvPr>
          <p:cNvSpPr>
            <a:spLocks noGrp="1"/>
          </p:cNvSpPr>
          <p:nvPr>
            <p:ph type="sldNum" sz="quarter" idx="12"/>
          </p:nvPr>
        </p:nvSpPr>
        <p:spPr/>
        <p:txBody>
          <a:bodyPr/>
          <a:lstStyle/>
          <a:p>
            <a:fld id="{9A3029B7-FE6B-4680-9049-80E8298A0825}" type="slidenum">
              <a:rPr lang="en-US" smtClean="0"/>
              <a:t>2</a:t>
            </a:fld>
            <a:endParaRPr lang="en-US"/>
          </a:p>
        </p:txBody>
      </p:sp>
      <p:pic>
        <p:nvPicPr>
          <p:cNvPr id="3" name="Picture 2" descr="Beautiful, Terrifying Mantis Shrimp – Home">
            <a:extLst>
              <a:ext uri="{FF2B5EF4-FFF2-40B4-BE49-F238E27FC236}">
                <a16:creationId xmlns:a16="http://schemas.microsoft.com/office/drawing/2014/main" id="{30287471-3B61-8392-01D0-C8534E58F5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254" y="1028269"/>
            <a:ext cx="4567451" cy="304496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diagram of different types of light&#10;&#10;AI-generated content may be incorrect.">
            <a:extLst>
              <a:ext uri="{FF2B5EF4-FFF2-40B4-BE49-F238E27FC236}">
                <a16:creationId xmlns:a16="http://schemas.microsoft.com/office/drawing/2014/main" id="{AA70EE54-97EC-26B4-DA45-B71755A20B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08005" y="4125018"/>
            <a:ext cx="6527989" cy="2705213"/>
          </a:xfrm>
          <a:prstGeom prst="rect">
            <a:avLst/>
          </a:prstGeom>
        </p:spPr>
      </p:pic>
      <p:pic>
        <p:nvPicPr>
          <p:cNvPr id="6" name="Picture 2">
            <a:extLst>
              <a:ext uri="{FF2B5EF4-FFF2-40B4-BE49-F238E27FC236}">
                <a16:creationId xmlns:a16="http://schemas.microsoft.com/office/drawing/2014/main" id="{88315203-FBA9-4CAE-5928-BA19443D9D8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43433" y="1198202"/>
            <a:ext cx="3606800" cy="2705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6357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2169F-9F67-7C0F-1324-A5600C548E15}"/>
              </a:ext>
            </a:extLst>
          </p:cNvPr>
          <p:cNvSpPr>
            <a:spLocks noGrp="1"/>
          </p:cNvSpPr>
          <p:nvPr>
            <p:ph type="title"/>
          </p:nvPr>
        </p:nvSpPr>
        <p:spPr/>
        <p:txBody>
          <a:bodyPr/>
          <a:lstStyle/>
          <a:p>
            <a:r>
              <a:rPr lang="en-US"/>
              <a:t>Electromagnetic Spectrum (again)</a:t>
            </a:r>
          </a:p>
        </p:txBody>
      </p:sp>
      <p:sp>
        <p:nvSpPr>
          <p:cNvPr id="4" name="Slide Number Placeholder 3">
            <a:extLst>
              <a:ext uri="{FF2B5EF4-FFF2-40B4-BE49-F238E27FC236}">
                <a16:creationId xmlns:a16="http://schemas.microsoft.com/office/drawing/2014/main" id="{5B8F7995-AF94-1D1E-F27A-C0C62E48A2FC}"/>
              </a:ext>
            </a:extLst>
          </p:cNvPr>
          <p:cNvSpPr>
            <a:spLocks noGrp="1"/>
          </p:cNvSpPr>
          <p:nvPr>
            <p:ph type="sldNum" sz="quarter" idx="12"/>
          </p:nvPr>
        </p:nvSpPr>
        <p:spPr/>
        <p:txBody>
          <a:bodyPr/>
          <a:lstStyle/>
          <a:p>
            <a:fld id="{9A3029B7-FE6B-4680-9049-80E8298A0825}" type="slidenum">
              <a:rPr lang="en-US" smtClean="0"/>
              <a:t>3</a:t>
            </a:fld>
            <a:endParaRPr lang="en-US"/>
          </a:p>
        </p:txBody>
      </p:sp>
      <p:pic>
        <p:nvPicPr>
          <p:cNvPr id="5" name="Picture 6" descr="http://local.content.compendiumblog.com/uploads/user/2af9dc1d-8541-42e4-a91f-6aaf97caf33a/4844a17e-a4fb-4018-9d3a-31dc846044ee/Visible%20spectrum.jpg">
            <a:extLst>
              <a:ext uri="{FF2B5EF4-FFF2-40B4-BE49-F238E27FC236}">
                <a16:creationId xmlns:a16="http://schemas.microsoft.com/office/drawing/2014/main" id="{76A1CA2F-4B91-1A74-568D-F7037033ED88}"/>
              </a:ext>
            </a:extLst>
          </p:cNvPr>
          <p:cNvPicPr>
            <a:picLocks noChangeAspect="1" noChangeArrowheads="1"/>
          </p:cNvPicPr>
          <p:nvPr/>
        </p:nvPicPr>
        <p:blipFill>
          <a:blip r:embed="rId3" cstate="screen">
            <a:extLst>
              <a:ext uri="{28A0092B-C50C-407E-A947-70E740481C1C}">
                <a14:useLocalDpi xmlns:a14="http://schemas.microsoft.com/office/drawing/2010/main" val="0"/>
              </a:ext>
            </a:extLst>
          </a:blip>
          <a:srcRect/>
          <a:stretch>
            <a:fillRect/>
          </a:stretch>
        </p:blipFill>
        <p:spPr bwMode="auto">
          <a:xfrm>
            <a:off x="440939" y="936480"/>
            <a:ext cx="8312727" cy="3967889"/>
          </a:xfrm>
          <a:prstGeom prst="roundRect">
            <a:avLst>
              <a:gd name="adj" fmla="val 8594"/>
            </a:avLst>
          </a:prstGeom>
          <a:solidFill>
            <a:srgbClr val="FFFFFF">
              <a:shade val="85000"/>
            </a:srgbClr>
          </a:solidFill>
          <a:ln>
            <a:noFill/>
          </a:ln>
          <a:effectLst/>
        </p:spPr>
      </p:pic>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4187D3DD-7359-4FD8-AF4B-99439C80FAD2}"/>
                  </a:ext>
                </a:extLst>
              </p:cNvPr>
              <p:cNvSpPr txBox="1"/>
              <p:nvPr/>
            </p:nvSpPr>
            <p:spPr>
              <a:xfrm>
                <a:off x="3381577" y="5054236"/>
                <a:ext cx="2380845" cy="719877"/>
              </a:xfrm>
              <a:prstGeom prst="rect">
                <a:avLst/>
              </a:prstGeom>
              <a:noFill/>
            </p:spPr>
            <p:txBody>
              <a:bodyPr wrap="none" lIns="0" tIns="0" rIns="0" bIns="0" rtlCol="0">
                <a:spAutoFit/>
              </a:bodyPr>
              <a:lstStyle/>
              <a:p>
                <a:r>
                  <a:rPr lang="en-US" sz="2400" b="1"/>
                  <a:t>Recall:	 </a:t>
                </a:r>
                <a14:m>
                  <m:oMath xmlns:m="http://schemas.openxmlformats.org/officeDocument/2006/math">
                    <m:r>
                      <a:rPr lang="en-US" sz="3200" b="1" i="1" smtClean="0">
                        <a:latin typeface="Cambria Math" panose="02040503050406030204" pitchFamily="18" charset="0"/>
                      </a:rPr>
                      <m:t>𝝀</m:t>
                    </m:r>
                    <m:r>
                      <a:rPr lang="en-US" sz="3200" b="1" i="1" smtClean="0">
                        <a:latin typeface="Cambria Math" panose="02040503050406030204" pitchFamily="18" charset="0"/>
                      </a:rPr>
                      <m:t>=</m:t>
                    </m:r>
                    <m:f>
                      <m:fPr>
                        <m:ctrlPr>
                          <a:rPr lang="en-US" sz="3200" b="1" i="1" smtClean="0">
                            <a:latin typeface="Cambria Math" panose="02040503050406030204" pitchFamily="18" charset="0"/>
                          </a:rPr>
                        </m:ctrlPr>
                      </m:fPr>
                      <m:num>
                        <m:r>
                          <a:rPr lang="en-US" sz="3200" b="1" i="1" smtClean="0">
                            <a:latin typeface="Cambria Math" panose="02040503050406030204" pitchFamily="18" charset="0"/>
                          </a:rPr>
                          <m:t>𝒄</m:t>
                        </m:r>
                      </m:num>
                      <m:den>
                        <m:r>
                          <a:rPr lang="en-US" sz="3200" b="1" i="1" smtClean="0">
                            <a:latin typeface="Cambria Math" panose="02040503050406030204" pitchFamily="18" charset="0"/>
                          </a:rPr>
                          <m:t>𝒇</m:t>
                        </m:r>
                      </m:den>
                    </m:f>
                  </m:oMath>
                </a14:m>
                <a:endParaRPr lang="en-US" sz="2400" b="1"/>
              </a:p>
            </p:txBody>
          </p:sp>
        </mc:Choice>
        <mc:Fallback>
          <p:sp>
            <p:nvSpPr>
              <p:cNvPr id="9" name="TextBox 8">
                <a:extLst>
                  <a:ext uri="{FF2B5EF4-FFF2-40B4-BE49-F238E27FC236}">
                    <a16:creationId xmlns:a16="http://schemas.microsoft.com/office/drawing/2014/main" id="{4187D3DD-7359-4FD8-AF4B-99439C80FAD2}"/>
                  </a:ext>
                </a:extLst>
              </p:cNvPr>
              <p:cNvSpPr txBox="1">
                <a:spLocks noRot="1" noChangeAspect="1" noMove="1" noResize="1" noEditPoints="1" noAdjustHandles="1" noChangeArrowheads="1" noChangeShapeType="1" noTextEdit="1"/>
              </p:cNvSpPr>
              <p:nvPr/>
            </p:nvSpPr>
            <p:spPr>
              <a:xfrm>
                <a:off x="3381577" y="5054236"/>
                <a:ext cx="2380845" cy="719877"/>
              </a:xfrm>
              <a:prstGeom prst="rect">
                <a:avLst/>
              </a:prstGeom>
              <a:blipFill>
                <a:blip r:embed="rId4"/>
                <a:stretch>
                  <a:fillRect l="-7949"/>
                </a:stretch>
              </a:blipFill>
            </p:spPr>
            <p:txBody>
              <a:bodyPr/>
              <a:lstStyle/>
              <a:p>
                <a:r>
                  <a:rPr lang="en-US">
                    <a:noFill/>
                  </a:rPr>
                  <a:t> </a:t>
                </a:r>
              </a:p>
            </p:txBody>
          </p:sp>
        </mc:Fallback>
      </mc:AlternateContent>
      <p:pic>
        <p:nvPicPr>
          <p:cNvPr id="11" name="Picture 10">
            <a:extLst>
              <a:ext uri="{FF2B5EF4-FFF2-40B4-BE49-F238E27FC236}">
                <a16:creationId xmlns:a16="http://schemas.microsoft.com/office/drawing/2014/main" id="{B1410634-CC7B-A85E-55ED-1AF53111714B}"/>
              </a:ext>
            </a:extLst>
          </p:cNvPr>
          <p:cNvPicPr>
            <a:picLocks noChangeAspect="1"/>
          </p:cNvPicPr>
          <p:nvPr/>
        </p:nvPicPr>
        <p:blipFill>
          <a:blip r:embed="rId5"/>
          <a:stretch>
            <a:fillRect/>
          </a:stretch>
        </p:blipFill>
        <p:spPr>
          <a:xfrm>
            <a:off x="2747317" y="5923980"/>
            <a:ext cx="3934374" cy="647790"/>
          </a:xfrm>
          <a:prstGeom prst="rect">
            <a:avLst/>
          </a:prstGeom>
        </p:spPr>
      </p:pic>
    </p:spTree>
    <p:extLst>
      <p:ext uri="{BB962C8B-B14F-4D97-AF65-F5344CB8AC3E}">
        <p14:creationId xmlns:p14="http://schemas.microsoft.com/office/powerpoint/2010/main" val="1431411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2C1C1-BA06-6F40-A8FB-D58017271C6D}"/>
              </a:ext>
            </a:extLst>
          </p:cNvPr>
          <p:cNvSpPr>
            <a:spLocks noGrp="1"/>
          </p:cNvSpPr>
          <p:nvPr>
            <p:ph type="title"/>
          </p:nvPr>
        </p:nvSpPr>
        <p:spPr/>
        <p:txBody>
          <a:bodyPr>
            <a:normAutofit fontScale="90000"/>
          </a:bodyPr>
          <a:lstStyle/>
          <a:p>
            <a:r>
              <a:rPr lang="en-US"/>
              <a:t>EM Spectrum: Useful Bands for Remote Sensing</a:t>
            </a:r>
          </a:p>
        </p:txBody>
      </p:sp>
      <p:sp>
        <p:nvSpPr>
          <p:cNvPr id="4" name="Slide Number Placeholder 3">
            <a:extLst>
              <a:ext uri="{FF2B5EF4-FFF2-40B4-BE49-F238E27FC236}">
                <a16:creationId xmlns:a16="http://schemas.microsoft.com/office/drawing/2014/main" id="{01B3173F-DE6C-8CAD-8C88-A151C32E2BF1}"/>
              </a:ext>
            </a:extLst>
          </p:cNvPr>
          <p:cNvSpPr>
            <a:spLocks noGrp="1"/>
          </p:cNvSpPr>
          <p:nvPr>
            <p:ph type="sldNum" sz="quarter" idx="12"/>
          </p:nvPr>
        </p:nvSpPr>
        <p:spPr/>
        <p:txBody>
          <a:bodyPr/>
          <a:lstStyle/>
          <a:p>
            <a:fld id="{9A3029B7-FE6B-4680-9049-80E8298A0825}" type="slidenum">
              <a:rPr lang="en-US" smtClean="0"/>
              <a:t>4</a:t>
            </a:fld>
            <a:endParaRPr lang="en-US"/>
          </a:p>
        </p:txBody>
      </p:sp>
      <p:graphicFrame>
        <p:nvGraphicFramePr>
          <p:cNvPr id="5" name="Table 4">
            <a:extLst>
              <a:ext uri="{FF2B5EF4-FFF2-40B4-BE49-F238E27FC236}">
                <a16:creationId xmlns:a16="http://schemas.microsoft.com/office/drawing/2014/main" id="{1580F537-022C-577F-CBA1-214CCF6D437F}"/>
              </a:ext>
            </a:extLst>
          </p:cNvPr>
          <p:cNvGraphicFramePr>
            <a:graphicFrameLocks noGrp="1"/>
          </p:cNvGraphicFramePr>
          <p:nvPr>
            <p:extLst>
              <p:ext uri="{D42A27DB-BD31-4B8C-83A1-F6EECF244321}">
                <p14:modId xmlns:p14="http://schemas.microsoft.com/office/powerpoint/2010/main" val="692477935"/>
              </p:ext>
            </p:extLst>
          </p:nvPr>
        </p:nvGraphicFramePr>
        <p:xfrm>
          <a:off x="273051" y="1232100"/>
          <a:ext cx="8597898" cy="5309206"/>
        </p:xfrm>
        <a:graphic>
          <a:graphicData uri="http://schemas.openxmlformats.org/drawingml/2006/table">
            <a:tbl>
              <a:tblPr/>
              <a:tblGrid>
                <a:gridCol w="1885949">
                  <a:extLst>
                    <a:ext uri="{9D8B030D-6E8A-4147-A177-3AD203B41FA5}">
                      <a16:colId xmlns:a16="http://schemas.microsoft.com/office/drawing/2014/main" val="2734746707"/>
                    </a:ext>
                  </a:extLst>
                </a:gridCol>
                <a:gridCol w="1638300">
                  <a:extLst>
                    <a:ext uri="{9D8B030D-6E8A-4147-A177-3AD203B41FA5}">
                      <a16:colId xmlns:a16="http://schemas.microsoft.com/office/drawing/2014/main" val="3258597075"/>
                    </a:ext>
                  </a:extLst>
                </a:gridCol>
                <a:gridCol w="5073649">
                  <a:extLst>
                    <a:ext uri="{9D8B030D-6E8A-4147-A177-3AD203B41FA5}">
                      <a16:colId xmlns:a16="http://schemas.microsoft.com/office/drawing/2014/main" val="4097339087"/>
                    </a:ext>
                  </a:extLst>
                </a:gridCol>
              </a:tblGrid>
              <a:tr h="175719">
                <a:tc>
                  <a:txBody>
                    <a:bodyPr/>
                    <a:lstStyle/>
                    <a:p>
                      <a:pPr>
                        <a:buNone/>
                      </a:pPr>
                      <a:r>
                        <a:rPr lang="en-US" sz="1400" b="1">
                          <a:latin typeface="Segoe UI" panose="020B0502040204020203" pitchFamily="34" charset="0"/>
                          <a:cs typeface="Segoe UI" panose="020B0502040204020203" pitchFamily="34" charset="0"/>
                        </a:rPr>
                        <a:t>Region</a:t>
                      </a:r>
                    </a:p>
                  </a:txBody>
                  <a:tcPr marL="43930" marR="43930" marT="21965" marB="21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sz="1400" b="1">
                          <a:latin typeface="Segoe UI" panose="020B0502040204020203" pitchFamily="34" charset="0"/>
                          <a:cs typeface="Segoe UI" panose="020B0502040204020203" pitchFamily="34" charset="0"/>
                        </a:rPr>
                        <a:t>Approx. </a:t>
                      </a:r>
                      <a:r>
                        <a:rPr lang="el-GR" sz="1400" b="1">
                          <a:latin typeface="Segoe UI" panose="020B0502040204020203" pitchFamily="34" charset="0"/>
                          <a:cs typeface="Segoe UI" panose="020B0502040204020203" pitchFamily="34" charset="0"/>
                        </a:rPr>
                        <a:t>λ</a:t>
                      </a:r>
                    </a:p>
                  </a:txBody>
                  <a:tcPr marL="43930" marR="43930" marT="21965" marB="21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sz="1400" b="1">
                          <a:latin typeface="Segoe UI" panose="020B0502040204020203" pitchFamily="34" charset="0"/>
                          <a:cs typeface="Segoe UI" panose="020B0502040204020203" pitchFamily="34" charset="0"/>
                        </a:rPr>
                        <a:t>Typical use / what you learn</a:t>
                      </a:r>
                    </a:p>
                  </a:txBody>
                  <a:tcPr marL="43930" marR="43930" marT="21965" marB="21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721468006"/>
                  </a:ext>
                </a:extLst>
              </a:tr>
              <a:tr h="439297">
                <a:tc>
                  <a:txBody>
                    <a:bodyPr/>
                    <a:lstStyle/>
                    <a:p>
                      <a:pPr>
                        <a:buNone/>
                      </a:pPr>
                      <a:r>
                        <a:rPr lang="en-US" sz="1200" b="1">
                          <a:latin typeface="Segoe UI" panose="020B0502040204020203" pitchFamily="34" charset="0"/>
                          <a:cs typeface="Segoe UI" panose="020B0502040204020203" pitchFamily="34" charset="0"/>
                        </a:rPr>
                        <a:t>UV</a:t>
                      </a:r>
                      <a:endParaRPr lang="en-US" sz="1200">
                        <a:latin typeface="Segoe UI" panose="020B0502040204020203" pitchFamily="34" charset="0"/>
                        <a:cs typeface="Segoe UI" panose="020B0502040204020203" pitchFamily="34" charset="0"/>
                      </a:endParaRPr>
                    </a:p>
                  </a:txBody>
                  <a:tcPr marL="43930" marR="43930" marT="21965" marB="21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latin typeface="Segoe UI" panose="020B0502040204020203" pitchFamily="34" charset="0"/>
                          <a:cs typeface="Segoe UI" panose="020B0502040204020203" pitchFamily="34" charset="0"/>
                        </a:rPr>
                        <a:t>0.2–0.4 µm</a:t>
                      </a:r>
                    </a:p>
                  </a:txBody>
                  <a:tcPr marL="43930" marR="43930" marT="21965" marB="21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latin typeface="Segoe UI" panose="020B0502040204020203" pitchFamily="34" charset="0"/>
                          <a:cs typeface="Segoe UI" panose="020B0502040204020203" pitchFamily="34" charset="0"/>
                        </a:rPr>
                        <a:t>Ozone/aerosols, fluorescence; strong atmospheric effects.</a:t>
                      </a:r>
                    </a:p>
                  </a:txBody>
                  <a:tcPr marL="43930" marR="43930" marT="21965" marB="21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4599627"/>
                  </a:ext>
                </a:extLst>
              </a:tr>
              <a:tr h="571086">
                <a:tc>
                  <a:txBody>
                    <a:bodyPr/>
                    <a:lstStyle/>
                    <a:p>
                      <a:pPr>
                        <a:buNone/>
                      </a:pPr>
                      <a:r>
                        <a:rPr lang="en-US" sz="1200" b="1">
                          <a:latin typeface="Segoe UI" panose="020B0502040204020203" pitchFamily="34" charset="0"/>
                          <a:cs typeface="Segoe UI" panose="020B0502040204020203" pitchFamily="34" charset="0"/>
                        </a:rPr>
                        <a:t>Visible (RGB)</a:t>
                      </a:r>
                      <a:endParaRPr lang="en-US" sz="1200">
                        <a:latin typeface="Segoe UI" panose="020B0502040204020203" pitchFamily="34" charset="0"/>
                        <a:cs typeface="Segoe UI" panose="020B0502040204020203" pitchFamily="34" charset="0"/>
                      </a:endParaRPr>
                    </a:p>
                  </a:txBody>
                  <a:tcPr marL="43930" marR="43930" marT="21965" marB="21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latin typeface="Segoe UI" panose="020B0502040204020203" pitchFamily="34" charset="0"/>
                          <a:cs typeface="Segoe UI" panose="020B0502040204020203" pitchFamily="34" charset="0"/>
                        </a:rPr>
                        <a:t>0.4–0.7 µm</a:t>
                      </a:r>
                    </a:p>
                  </a:txBody>
                  <a:tcPr marL="43930" marR="43930" marT="21965" marB="21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latin typeface="Segoe UI" panose="020B0502040204020203" pitchFamily="34" charset="0"/>
                          <a:cs typeface="Segoe UI" panose="020B0502040204020203" pitchFamily="34" charset="0"/>
                        </a:rPr>
                        <a:t>True color, water/leaves/soil color, turbidity, bathymetry in clear water.</a:t>
                      </a:r>
                    </a:p>
                  </a:txBody>
                  <a:tcPr marL="43930" marR="43930" marT="21965" marB="21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3064022"/>
                  </a:ext>
                </a:extLst>
              </a:tr>
              <a:tr h="571086">
                <a:tc>
                  <a:txBody>
                    <a:bodyPr/>
                    <a:lstStyle/>
                    <a:p>
                      <a:pPr>
                        <a:buNone/>
                      </a:pPr>
                      <a:r>
                        <a:rPr lang="en-US" sz="1200" b="1">
                          <a:latin typeface="Segoe UI" panose="020B0502040204020203" pitchFamily="34" charset="0"/>
                          <a:cs typeface="Segoe UI" panose="020B0502040204020203" pitchFamily="34" charset="0"/>
                        </a:rPr>
                        <a:t>Red-edge</a:t>
                      </a:r>
                      <a:endParaRPr lang="en-US" sz="1200">
                        <a:latin typeface="Segoe UI" panose="020B0502040204020203" pitchFamily="34" charset="0"/>
                        <a:cs typeface="Segoe UI" panose="020B0502040204020203" pitchFamily="34" charset="0"/>
                      </a:endParaRPr>
                    </a:p>
                  </a:txBody>
                  <a:tcPr marL="43930" marR="43930" marT="21965" marB="21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latin typeface="Segoe UI" panose="020B0502040204020203" pitchFamily="34" charset="0"/>
                          <a:cs typeface="Segoe UI" panose="020B0502040204020203" pitchFamily="34" charset="0"/>
                        </a:rPr>
                        <a:t>~0.70–0.75 µm</a:t>
                      </a:r>
                    </a:p>
                  </a:txBody>
                  <a:tcPr marL="43930" marR="43930" marT="21965" marB="21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latin typeface="Segoe UI" panose="020B0502040204020203" pitchFamily="34" charset="0"/>
                          <a:cs typeface="Segoe UI" panose="020B0502040204020203" pitchFamily="34" charset="0"/>
                        </a:rPr>
                        <a:t>Vegetation chlorophyll transition; stress/senescence sensitive.</a:t>
                      </a:r>
                    </a:p>
                  </a:txBody>
                  <a:tcPr marL="43930" marR="43930" marT="21965" marB="21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1928306"/>
                  </a:ext>
                </a:extLst>
              </a:tr>
              <a:tr h="439297">
                <a:tc>
                  <a:txBody>
                    <a:bodyPr/>
                    <a:lstStyle/>
                    <a:p>
                      <a:pPr>
                        <a:buNone/>
                      </a:pPr>
                      <a:r>
                        <a:rPr lang="en-US" sz="1200" b="1">
                          <a:latin typeface="Segoe UI" panose="020B0502040204020203" pitchFamily="34" charset="0"/>
                          <a:cs typeface="Segoe UI" panose="020B0502040204020203" pitchFamily="34" charset="0"/>
                        </a:rPr>
                        <a:t>NIR</a:t>
                      </a:r>
                      <a:endParaRPr lang="en-US" sz="1200">
                        <a:latin typeface="Segoe UI" panose="020B0502040204020203" pitchFamily="34" charset="0"/>
                        <a:cs typeface="Segoe UI" panose="020B0502040204020203" pitchFamily="34" charset="0"/>
                      </a:endParaRPr>
                    </a:p>
                  </a:txBody>
                  <a:tcPr marL="43930" marR="43930" marT="21965" marB="21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latin typeface="Segoe UI" panose="020B0502040204020203" pitchFamily="34" charset="0"/>
                          <a:cs typeface="Segoe UI" panose="020B0502040204020203" pitchFamily="34" charset="0"/>
                        </a:rPr>
                        <a:t>0.75–1.0 µm</a:t>
                      </a:r>
                    </a:p>
                  </a:txBody>
                  <a:tcPr marL="43930" marR="43930" marT="21965" marB="21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latin typeface="Segoe UI" panose="020B0502040204020203" pitchFamily="34" charset="0"/>
                          <a:cs typeface="Segoe UI" panose="020B0502040204020203" pitchFamily="34" charset="0"/>
                        </a:rPr>
                        <a:t>Healthy vegetation (high reflectance), water is dark → </a:t>
                      </a:r>
                      <a:r>
                        <a:rPr lang="en-US" sz="1200" b="1">
                          <a:latin typeface="Segoe UI" panose="020B0502040204020203" pitchFamily="34" charset="0"/>
                          <a:cs typeface="Segoe UI" panose="020B0502040204020203" pitchFamily="34" charset="0"/>
                        </a:rPr>
                        <a:t>NDVI</a:t>
                      </a:r>
                      <a:r>
                        <a:rPr lang="en-US" sz="1200">
                          <a:latin typeface="Segoe UI" panose="020B0502040204020203" pitchFamily="34" charset="0"/>
                          <a:cs typeface="Segoe UI" panose="020B0502040204020203" pitchFamily="34" charset="0"/>
                        </a:rPr>
                        <a:t> (Red &amp; NIR).</a:t>
                      </a:r>
                    </a:p>
                  </a:txBody>
                  <a:tcPr marL="43930" marR="43930" marT="21965" marB="21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66283524"/>
                  </a:ext>
                </a:extLst>
              </a:tr>
              <a:tr h="702876">
                <a:tc>
                  <a:txBody>
                    <a:bodyPr/>
                    <a:lstStyle/>
                    <a:p>
                      <a:pPr>
                        <a:buNone/>
                      </a:pPr>
                      <a:r>
                        <a:rPr lang="en-US" sz="1200" b="1">
                          <a:latin typeface="Segoe UI" panose="020B0502040204020203" pitchFamily="34" charset="0"/>
                          <a:cs typeface="Segoe UI" panose="020B0502040204020203" pitchFamily="34" charset="0"/>
                        </a:rPr>
                        <a:t>SWIR</a:t>
                      </a:r>
                      <a:endParaRPr lang="en-US" sz="1200">
                        <a:latin typeface="Segoe UI" panose="020B0502040204020203" pitchFamily="34" charset="0"/>
                        <a:cs typeface="Segoe UI" panose="020B0502040204020203" pitchFamily="34" charset="0"/>
                      </a:endParaRPr>
                    </a:p>
                  </a:txBody>
                  <a:tcPr marL="43930" marR="43930" marT="21965" marB="21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latin typeface="Segoe UI" panose="020B0502040204020203" pitchFamily="34" charset="0"/>
                          <a:cs typeface="Segoe UI" panose="020B0502040204020203" pitchFamily="34" charset="0"/>
                        </a:rPr>
                        <a:t>1.0–2.5 µm</a:t>
                      </a:r>
                    </a:p>
                  </a:txBody>
                  <a:tcPr marL="43930" marR="43930" marT="21965" marB="21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latin typeface="Segoe UI" panose="020B0502040204020203" pitchFamily="34" charset="0"/>
                          <a:cs typeface="Segoe UI" panose="020B0502040204020203" pitchFamily="34" charset="0"/>
                        </a:rPr>
                        <a:t>Leaf/canopy </a:t>
                      </a:r>
                      <a:r>
                        <a:rPr lang="en-US" sz="1200" b="1">
                          <a:latin typeface="Segoe UI" panose="020B0502040204020203" pitchFamily="34" charset="0"/>
                          <a:cs typeface="Segoe UI" panose="020B0502040204020203" pitchFamily="34" charset="0"/>
                        </a:rPr>
                        <a:t>water content</a:t>
                      </a:r>
                      <a:r>
                        <a:rPr lang="en-US" sz="1200">
                          <a:latin typeface="Segoe UI" panose="020B0502040204020203" pitchFamily="34" charset="0"/>
                          <a:cs typeface="Segoe UI" panose="020B0502040204020203" pitchFamily="34" charset="0"/>
                        </a:rPr>
                        <a:t>, snow/ice vs clouds (NDSI uses Green &amp; SWIR), </a:t>
                      </a:r>
                      <a:r>
                        <a:rPr lang="en-US" sz="1200" b="1">
                          <a:latin typeface="Segoe UI" panose="020B0502040204020203" pitchFamily="34" charset="0"/>
                          <a:cs typeface="Segoe UI" panose="020B0502040204020203" pitchFamily="34" charset="0"/>
                        </a:rPr>
                        <a:t>minerals</a:t>
                      </a:r>
                      <a:r>
                        <a:rPr lang="en-US" sz="1200">
                          <a:latin typeface="Segoe UI" panose="020B0502040204020203" pitchFamily="34" charset="0"/>
                          <a:cs typeface="Segoe UI" panose="020B0502040204020203" pitchFamily="34" charset="0"/>
                        </a:rPr>
                        <a:t> (clays/carbonates).</a:t>
                      </a:r>
                    </a:p>
                  </a:txBody>
                  <a:tcPr marL="43930" marR="43930" marT="21965" marB="21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5807561"/>
                  </a:ext>
                </a:extLst>
              </a:tr>
              <a:tr h="439297">
                <a:tc>
                  <a:txBody>
                    <a:bodyPr/>
                    <a:lstStyle/>
                    <a:p>
                      <a:pPr>
                        <a:buNone/>
                      </a:pPr>
                      <a:r>
                        <a:rPr lang="en-US" sz="1200" b="1">
                          <a:latin typeface="Segoe UI" panose="020B0502040204020203" pitchFamily="34" charset="0"/>
                          <a:cs typeface="Segoe UI" panose="020B0502040204020203" pitchFamily="34" charset="0"/>
                        </a:rPr>
                        <a:t>MWIR (mid-IR)</a:t>
                      </a:r>
                      <a:endParaRPr lang="en-US" sz="1200">
                        <a:latin typeface="Segoe UI" panose="020B0502040204020203" pitchFamily="34" charset="0"/>
                        <a:cs typeface="Segoe UI" panose="020B0502040204020203" pitchFamily="34" charset="0"/>
                      </a:endParaRPr>
                    </a:p>
                  </a:txBody>
                  <a:tcPr marL="43930" marR="43930" marT="21965" marB="21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latin typeface="Segoe UI" panose="020B0502040204020203" pitchFamily="34" charset="0"/>
                          <a:cs typeface="Segoe UI" panose="020B0502040204020203" pitchFamily="34" charset="0"/>
                        </a:rPr>
                        <a:t>3–5 µm</a:t>
                      </a:r>
                    </a:p>
                  </a:txBody>
                  <a:tcPr marL="43930" marR="43930" marT="21965" marB="21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latin typeface="Segoe UI" panose="020B0502040204020203" pitchFamily="34" charset="0"/>
                          <a:cs typeface="Segoe UI" panose="020B0502040204020203" pitchFamily="34" charset="0"/>
                        </a:rPr>
                        <a:t>Hot targets (fires, gas flares), some gas absorption bands.</a:t>
                      </a:r>
                    </a:p>
                  </a:txBody>
                  <a:tcPr marL="43930" marR="43930" marT="21965" marB="21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96494771"/>
                  </a:ext>
                </a:extLst>
              </a:tr>
              <a:tr h="439297">
                <a:tc>
                  <a:txBody>
                    <a:bodyPr/>
                    <a:lstStyle/>
                    <a:p>
                      <a:pPr>
                        <a:buNone/>
                      </a:pPr>
                      <a:r>
                        <a:rPr lang="en-US" sz="1200" b="1">
                          <a:latin typeface="Segoe UI" panose="020B0502040204020203" pitchFamily="34" charset="0"/>
                          <a:cs typeface="Segoe UI" panose="020B0502040204020203" pitchFamily="34" charset="0"/>
                        </a:rPr>
                        <a:t>TIR (long-wave)</a:t>
                      </a:r>
                      <a:endParaRPr lang="en-US" sz="1200">
                        <a:latin typeface="Segoe UI" panose="020B0502040204020203" pitchFamily="34" charset="0"/>
                        <a:cs typeface="Segoe UI" panose="020B0502040204020203" pitchFamily="34" charset="0"/>
                      </a:endParaRPr>
                    </a:p>
                  </a:txBody>
                  <a:tcPr marL="43930" marR="43930" marT="21965" marB="21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latin typeface="Segoe UI" panose="020B0502040204020203" pitchFamily="34" charset="0"/>
                          <a:cs typeface="Segoe UI" panose="020B0502040204020203" pitchFamily="34" charset="0"/>
                        </a:rPr>
                        <a:t>8–14 µm</a:t>
                      </a:r>
                    </a:p>
                  </a:txBody>
                  <a:tcPr marL="43930" marR="43930" marT="21965" marB="21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latin typeface="Segoe UI" panose="020B0502040204020203" pitchFamily="34" charset="0"/>
                          <a:cs typeface="Segoe UI" panose="020B0502040204020203" pitchFamily="34" charset="0"/>
                        </a:rPr>
                        <a:t>Land/sea surface temperature</a:t>
                      </a:r>
                      <a:r>
                        <a:rPr lang="en-US" sz="1200">
                          <a:latin typeface="Segoe UI" panose="020B0502040204020203" pitchFamily="34" charset="0"/>
                          <a:cs typeface="Segoe UI" panose="020B0502040204020203" pitchFamily="34" charset="0"/>
                        </a:rPr>
                        <a:t>, emissivity, urban heat, geothermal.</a:t>
                      </a:r>
                    </a:p>
                  </a:txBody>
                  <a:tcPr marL="43930" marR="43930" marT="21965" marB="21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8607199"/>
                  </a:ext>
                </a:extLst>
              </a:tr>
              <a:tr h="439297">
                <a:tc>
                  <a:txBody>
                    <a:bodyPr/>
                    <a:lstStyle/>
                    <a:p>
                      <a:pPr>
                        <a:buNone/>
                      </a:pPr>
                      <a:r>
                        <a:rPr lang="en-US" sz="1200" b="1">
                          <a:latin typeface="Segoe UI" panose="020B0502040204020203" pitchFamily="34" charset="0"/>
                          <a:cs typeface="Segoe UI" panose="020B0502040204020203" pitchFamily="34" charset="0"/>
                        </a:rPr>
                        <a:t>Microwave (passive)</a:t>
                      </a:r>
                      <a:endParaRPr lang="en-US" sz="1200">
                        <a:latin typeface="Segoe UI" panose="020B0502040204020203" pitchFamily="34" charset="0"/>
                        <a:cs typeface="Segoe UI" panose="020B0502040204020203" pitchFamily="34" charset="0"/>
                      </a:endParaRPr>
                    </a:p>
                  </a:txBody>
                  <a:tcPr marL="43930" marR="43930" marT="21965" marB="21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latin typeface="Segoe UI" panose="020B0502040204020203" pitchFamily="34" charset="0"/>
                          <a:cs typeface="Segoe UI" panose="020B0502040204020203" pitchFamily="34" charset="0"/>
                        </a:rPr>
                        <a:t>~1–100 GHz</a:t>
                      </a:r>
                    </a:p>
                  </a:txBody>
                  <a:tcPr marL="43930" marR="43930" marT="21965" marB="21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latin typeface="Segoe UI" panose="020B0502040204020203" pitchFamily="34" charset="0"/>
                          <a:cs typeface="Segoe UI" panose="020B0502040204020203" pitchFamily="34" charset="0"/>
                        </a:rPr>
                        <a:t>Soil moisture</a:t>
                      </a:r>
                      <a:r>
                        <a:rPr lang="en-US" sz="1200">
                          <a:latin typeface="Segoe UI" panose="020B0502040204020203" pitchFamily="34" charset="0"/>
                          <a:cs typeface="Segoe UI" panose="020B0502040204020203" pitchFamily="34" charset="0"/>
                        </a:rPr>
                        <a:t>, sea-ice, sea-surface wind/salinity; all-weather, day/night.</a:t>
                      </a:r>
                    </a:p>
                  </a:txBody>
                  <a:tcPr marL="43930" marR="43930" marT="21965" marB="21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4578015"/>
                  </a:ext>
                </a:extLst>
              </a:tr>
              <a:tr h="571086">
                <a:tc>
                  <a:txBody>
                    <a:bodyPr/>
                    <a:lstStyle/>
                    <a:p>
                      <a:pPr>
                        <a:buNone/>
                      </a:pPr>
                      <a:r>
                        <a:rPr lang="en-US" sz="1200" b="1">
                          <a:latin typeface="Segoe UI" panose="020B0502040204020203" pitchFamily="34" charset="0"/>
                          <a:cs typeface="Segoe UI" panose="020B0502040204020203" pitchFamily="34" charset="0"/>
                        </a:rPr>
                        <a:t>Microwave (active SAR)</a:t>
                      </a:r>
                      <a:endParaRPr lang="en-US" sz="1200">
                        <a:latin typeface="Segoe UI" panose="020B0502040204020203" pitchFamily="34" charset="0"/>
                        <a:cs typeface="Segoe UI" panose="020B0502040204020203" pitchFamily="34" charset="0"/>
                      </a:endParaRPr>
                    </a:p>
                  </a:txBody>
                  <a:tcPr marL="43930" marR="43930" marT="21965" marB="21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nl-NL" sz="1200">
                          <a:latin typeface="Segoe UI" panose="020B0502040204020203" pitchFamily="34" charset="0"/>
                          <a:cs typeface="Segoe UI" panose="020B0502040204020203" pitchFamily="34" charset="0"/>
                        </a:rPr>
                        <a:t>X/C/L bands (cm)</a:t>
                      </a:r>
                    </a:p>
                  </a:txBody>
                  <a:tcPr marL="43930" marR="43930" marT="21965" marB="21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latin typeface="Segoe UI" panose="020B0502040204020203" pitchFamily="34" charset="0"/>
                          <a:cs typeface="Segoe UI" panose="020B0502040204020203" pitchFamily="34" charset="0"/>
                        </a:rPr>
                        <a:t>Structure, roughness, moisture; all-weather imaging, interferometry (deformation), biomass.</a:t>
                      </a:r>
                    </a:p>
                  </a:txBody>
                  <a:tcPr marL="43930" marR="43930" marT="21965" marB="21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2723182"/>
                  </a:ext>
                </a:extLst>
              </a:tr>
              <a:tr h="439297">
                <a:tc>
                  <a:txBody>
                    <a:bodyPr/>
                    <a:lstStyle/>
                    <a:p>
                      <a:pPr>
                        <a:buNone/>
                      </a:pPr>
                      <a:r>
                        <a:rPr lang="en-US" sz="1200" b="1">
                          <a:latin typeface="Segoe UI" panose="020B0502040204020203" pitchFamily="34" charset="0"/>
                          <a:cs typeface="Segoe UI" panose="020B0502040204020203" pitchFamily="34" charset="0"/>
                        </a:rPr>
                        <a:t>LiDAR (active laser)</a:t>
                      </a:r>
                      <a:endParaRPr lang="en-US" sz="1200">
                        <a:latin typeface="Segoe UI" panose="020B0502040204020203" pitchFamily="34" charset="0"/>
                        <a:cs typeface="Segoe UI" panose="020B0502040204020203" pitchFamily="34" charset="0"/>
                      </a:endParaRPr>
                    </a:p>
                  </a:txBody>
                  <a:tcPr marL="43930" marR="43930" marT="21965" marB="21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latin typeface="Segoe UI" panose="020B0502040204020203" pitchFamily="34" charset="0"/>
                          <a:cs typeface="Segoe UI" panose="020B0502040204020203" pitchFamily="34" charset="0"/>
                        </a:rPr>
                        <a:t>905/1064/1550 nm</a:t>
                      </a:r>
                    </a:p>
                  </a:txBody>
                  <a:tcPr marL="43930" marR="43930" marT="21965" marB="21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latin typeface="Segoe UI" panose="020B0502040204020203" pitchFamily="34" charset="0"/>
                          <a:cs typeface="Segoe UI" panose="020B0502040204020203" pitchFamily="34" charset="0"/>
                        </a:rPr>
                        <a:t>3-D elevation/vegetation canopy, bathymetry (green lasers), precise ranging.</a:t>
                      </a:r>
                    </a:p>
                  </a:txBody>
                  <a:tcPr marL="43930" marR="43930" marT="21965" marB="21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83677204"/>
                  </a:ext>
                </a:extLst>
              </a:tr>
            </a:tbl>
          </a:graphicData>
        </a:graphic>
      </p:graphicFrame>
    </p:spTree>
    <p:extLst>
      <p:ext uri="{BB962C8B-B14F-4D97-AF65-F5344CB8AC3E}">
        <p14:creationId xmlns:p14="http://schemas.microsoft.com/office/powerpoint/2010/main" val="14168864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30392-FB9C-089F-BEBA-4299E0910FC2}"/>
              </a:ext>
            </a:extLst>
          </p:cNvPr>
          <p:cNvSpPr>
            <a:spLocks noGrp="1"/>
          </p:cNvSpPr>
          <p:nvPr>
            <p:ph type="title"/>
          </p:nvPr>
        </p:nvSpPr>
        <p:spPr/>
        <p:txBody>
          <a:bodyPr/>
          <a:lstStyle/>
          <a:p>
            <a:r>
              <a:rPr lang="en-US"/>
              <a:t>Atmospheric Windows (again)</a:t>
            </a:r>
          </a:p>
        </p:txBody>
      </p:sp>
      <p:sp>
        <p:nvSpPr>
          <p:cNvPr id="4" name="Slide Number Placeholder 3">
            <a:extLst>
              <a:ext uri="{FF2B5EF4-FFF2-40B4-BE49-F238E27FC236}">
                <a16:creationId xmlns:a16="http://schemas.microsoft.com/office/drawing/2014/main" id="{6B0928A3-5CAD-E34F-A9C2-4C2DAF2BCFE4}"/>
              </a:ext>
            </a:extLst>
          </p:cNvPr>
          <p:cNvSpPr>
            <a:spLocks noGrp="1"/>
          </p:cNvSpPr>
          <p:nvPr>
            <p:ph type="sldNum" sz="quarter" idx="12"/>
          </p:nvPr>
        </p:nvSpPr>
        <p:spPr/>
        <p:txBody>
          <a:bodyPr/>
          <a:lstStyle/>
          <a:p>
            <a:fld id="{9A3029B7-FE6B-4680-9049-80E8298A0825}" type="slidenum">
              <a:rPr lang="en-US" smtClean="0"/>
              <a:t>5</a:t>
            </a:fld>
            <a:endParaRPr lang="en-US"/>
          </a:p>
        </p:txBody>
      </p:sp>
      <p:pic>
        <p:nvPicPr>
          <p:cNvPr id="6" name="Picture 5">
            <a:extLst>
              <a:ext uri="{FF2B5EF4-FFF2-40B4-BE49-F238E27FC236}">
                <a16:creationId xmlns:a16="http://schemas.microsoft.com/office/drawing/2014/main" id="{891EF499-B701-2F0F-5E18-6033579BF3FC}"/>
              </a:ext>
            </a:extLst>
          </p:cNvPr>
          <p:cNvPicPr>
            <a:picLocks noChangeAspect="1"/>
          </p:cNvPicPr>
          <p:nvPr/>
        </p:nvPicPr>
        <p:blipFill>
          <a:blip r:embed="rId3"/>
          <a:stretch>
            <a:fillRect/>
          </a:stretch>
        </p:blipFill>
        <p:spPr>
          <a:xfrm>
            <a:off x="0" y="1359712"/>
            <a:ext cx="9136678" cy="4741195"/>
          </a:xfrm>
          <a:prstGeom prst="rect">
            <a:avLst/>
          </a:prstGeom>
        </p:spPr>
      </p:pic>
    </p:spTree>
    <p:extLst>
      <p:ext uri="{BB962C8B-B14F-4D97-AF65-F5344CB8AC3E}">
        <p14:creationId xmlns:p14="http://schemas.microsoft.com/office/powerpoint/2010/main" val="688686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B9C95-E0C8-0448-7FC9-CF17C3D38B7F}"/>
              </a:ext>
            </a:extLst>
          </p:cNvPr>
          <p:cNvSpPr>
            <a:spLocks noGrp="1"/>
          </p:cNvSpPr>
          <p:nvPr>
            <p:ph type="title"/>
          </p:nvPr>
        </p:nvSpPr>
        <p:spPr/>
        <p:txBody>
          <a:bodyPr/>
          <a:lstStyle/>
          <a:p>
            <a:r>
              <a:rPr lang="en-US"/>
              <a:t>Wein’s Law</a:t>
            </a:r>
          </a:p>
        </p:txBody>
      </p:sp>
      <p:sp>
        <p:nvSpPr>
          <p:cNvPr id="3" name="Content Placeholder 2">
            <a:extLst>
              <a:ext uri="{FF2B5EF4-FFF2-40B4-BE49-F238E27FC236}">
                <a16:creationId xmlns:a16="http://schemas.microsoft.com/office/drawing/2014/main" id="{3825EA1F-3C94-0F8B-2875-722B96FE3D04}"/>
              </a:ext>
            </a:extLst>
          </p:cNvPr>
          <p:cNvSpPr>
            <a:spLocks noGrp="1"/>
          </p:cNvSpPr>
          <p:nvPr>
            <p:ph idx="1"/>
          </p:nvPr>
        </p:nvSpPr>
        <p:spPr>
          <a:xfrm>
            <a:off x="200025" y="1002506"/>
            <a:ext cx="8793015" cy="1269583"/>
          </a:xfrm>
        </p:spPr>
        <p:txBody>
          <a:bodyPr>
            <a:normAutofit/>
          </a:bodyPr>
          <a:lstStyle/>
          <a:p>
            <a:pPr marL="0" indent="0">
              <a:buNone/>
            </a:pPr>
            <a:r>
              <a:rPr lang="en-US" sz="2000"/>
              <a:t>Describes the relationship between the </a:t>
            </a:r>
            <a:r>
              <a:rPr lang="en-US" sz="2000" b="1"/>
              <a:t>temperature of a blackbody</a:t>
            </a:r>
            <a:r>
              <a:rPr lang="en-US" sz="2000"/>
              <a:t> (an ideal perfect emitter of radiation) and the </a:t>
            </a:r>
            <a:r>
              <a:rPr lang="en-US" sz="2000" b="1"/>
              <a:t>wavelength at which it emits radiation most strongly</a:t>
            </a:r>
            <a:r>
              <a:rPr lang="en-US" sz="2000"/>
              <a:t>.</a:t>
            </a:r>
          </a:p>
        </p:txBody>
      </p:sp>
      <p:sp>
        <p:nvSpPr>
          <p:cNvPr id="4" name="Slide Number Placeholder 3">
            <a:extLst>
              <a:ext uri="{FF2B5EF4-FFF2-40B4-BE49-F238E27FC236}">
                <a16:creationId xmlns:a16="http://schemas.microsoft.com/office/drawing/2014/main" id="{24E7A7DB-BF2A-4F2C-0BE1-F4A144AD1F9D}"/>
              </a:ext>
            </a:extLst>
          </p:cNvPr>
          <p:cNvSpPr>
            <a:spLocks noGrp="1"/>
          </p:cNvSpPr>
          <p:nvPr>
            <p:ph type="sldNum" sz="quarter" idx="12"/>
          </p:nvPr>
        </p:nvSpPr>
        <p:spPr/>
        <p:txBody>
          <a:bodyPr/>
          <a:lstStyle/>
          <a:p>
            <a:fld id="{9A3029B7-FE6B-4680-9049-80E8298A0825}" type="slidenum">
              <a:rPr lang="en-US" smtClean="0"/>
              <a:t>6</a:t>
            </a:fld>
            <a:endParaRPr lang="en-US"/>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DA0778DC-91D8-EBC3-E243-9A9D6013508C}"/>
                  </a:ext>
                </a:extLst>
              </p:cNvPr>
              <p:cNvSpPr txBox="1"/>
              <p:nvPr/>
            </p:nvSpPr>
            <p:spPr>
              <a:xfrm>
                <a:off x="2206445" y="1856597"/>
                <a:ext cx="4731103" cy="172361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𝜆</m:t>
                          </m:r>
                        </m:e>
                        <m:sub>
                          <m:r>
                            <a:rPr lang="en-US" sz="2400" b="0" i="1" smtClean="0">
                              <a:latin typeface="Cambria Math" panose="02040503050406030204" pitchFamily="18" charset="0"/>
                            </a:rPr>
                            <m:t>𝑚𝑎𝑥</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rPr>
                            <m:t>2.898</m:t>
                          </m:r>
                          <m:r>
                            <a:rPr lang="en-US" sz="2400" i="1">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10</m:t>
                              </m:r>
                            </m:e>
                            <m:sup>
                              <m:r>
                                <a:rPr lang="en-US" sz="2400" i="1">
                                  <a:latin typeface="Cambria Math" panose="02040503050406030204" pitchFamily="18" charset="0"/>
                                  <a:ea typeface="Cambria Math" panose="02040503050406030204" pitchFamily="18" charset="0"/>
                                </a:rPr>
                                <m:t>−3</m:t>
                              </m:r>
                            </m:sup>
                          </m:sSup>
                        </m:num>
                        <m:den>
                          <m:r>
                            <a:rPr lang="en-US" sz="2400" b="0" i="1" smtClean="0">
                              <a:latin typeface="Cambria Math" panose="02040503050406030204" pitchFamily="18" charset="0"/>
                              <a:ea typeface="Cambria Math" panose="02040503050406030204" pitchFamily="18" charset="0"/>
                            </a:rPr>
                            <m:t>𝑇</m:t>
                          </m:r>
                        </m:den>
                      </m:f>
                    </m:oMath>
                  </m:oMathPara>
                </a14:m>
                <a:endParaRPr lang="en-US" sz="2400"/>
              </a:p>
              <a:p>
                <a:endParaRPr lang="en-US" sz="2400"/>
              </a:p>
              <a:p>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𝜆</m:t>
                        </m:r>
                      </m:e>
                      <m:sub>
                        <m:r>
                          <a:rPr lang="en-US" sz="2000" b="0" i="1" smtClean="0">
                            <a:latin typeface="Cambria Math" panose="02040503050406030204" pitchFamily="18" charset="0"/>
                          </a:rPr>
                          <m:t>𝑚𝑎𝑥</m:t>
                        </m:r>
                      </m:sub>
                    </m:sSub>
                  </m:oMath>
                </a14:m>
                <a:r>
                  <a:rPr lang="en-US" sz="2000"/>
                  <a:t> = Wavelength of maximum output (m)</a:t>
                </a:r>
              </a:p>
              <a:p>
                <a14:m>
                  <m:oMath xmlns:m="http://schemas.openxmlformats.org/officeDocument/2006/math">
                    <m:r>
                      <a:rPr lang="en-US" sz="2000" b="0" i="1" smtClean="0">
                        <a:latin typeface="Cambria Math" panose="02040503050406030204" pitchFamily="18" charset="0"/>
                      </a:rPr>
                      <m:t>𝑇</m:t>
                    </m:r>
                  </m:oMath>
                </a14:m>
                <a:r>
                  <a:rPr lang="en-US" sz="2000"/>
                  <a:t> = Temperature of Object (K)</a:t>
                </a:r>
              </a:p>
            </p:txBody>
          </p:sp>
        </mc:Choice>
        <mc:Fallback>
          <p:sp>
            <p:nvSpPr>
              <p:cNvPr id="5" name="TextBox 4">
                <a:extLst>
                  <a:ext uri="{FF2B5EF4-FFF2-40B4-BE49-F238E27FC236}">
                    <a16:creationId xmlns:a16="http://schemas.microsoft.com/office/drawing/2014/main" id="{DA0778DC-91D8-EBC3-E243-9A9D6013508C}"/>
                  </a:ext>
                </a:extLst>
              </p:cNvPr>
              <p:cNvSpPr txBox="1">
                <a:spLocks noRot="1" noChangeAspect="1" noMove="1" noResize="1" noEditPoints="1" noAdjustHandles="1" noChangeArrowheads="1" noChangeShapeType="1" noTextEdit="1"/>
              </p:cNvSpPr>
              <p:nvPr/>
            </p:nvSpPr>
            <p:spPr>
              <a:xfrm>
                <a:off x="2206445" y="1856597"/>
                <a:ext cx="4731103" cy="1723613"/>
              </a:xfrm>
              <a:prstGeom prst="rect">
                <a:avLst/>
              </a:prstGeom>
              <a:blipFill>
                <a:blip r:embed="rId3"/>
                <a:stretch>
                  <a:fillRect l="-1933" b="-8156"/>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BDA62A9A-2CB5-8561-C7C7-28CB0EB4FE80}"/>
              </a:ext>
            </a:extLst>
          </p:cNvPr>
          <p:cNvSpPr txBox="1"/>
          <p:nvPr/>
        </p:nvSpPr>
        <p:spPr>
          <a:xfrm>
            <a:off x="502418" y="3764876"/>
            <a:ext cx="8251248" cy="1477328"/>
          </a:xfrm>
          <a:prstGeom prst="rect">
            <a:avLst/>
          </a:prstGeom>
          <a:noFill/>
        </p:spPr>
        <p:txBody>
          <a:bodyPr wrap="square">
            <a:spAutoFit/>
          </a:bodyPr>
          <a:lstStyle/>
          <a:p>
            <a:pPr marL="0" indent="0">
              <a:buNone/>
            </a:pPr>
            <a:r>
              <a:rPr lang="en-US" sz="1800" b="1">
                <a:latin typeface="Segoe UI" panose="020B0502040204020203" pitchFamily="34" charset="0"/>
                <a:cs typeface="Segoe UI" panose="020B0502040204020203" pitchFamily="34" charset="0"/>
              </a:rPr>
              <a:t>Hotter objects emit at shorter wavelengths.</a:t>
            </a:r>
          </a:p>
          <a:p>
            <a:pPr marL="0" indent="0">
              <a:buNone/>
            </a:pPr>
            <a:r>
              <a:rPr lang="en-US">
                <a:latin typeface="Segoe UI" panose="020B0502040204020203" pitchFamily="34" charset="0"/>
                <a:cs typeface="Segoe UI" panose="020B0502040204020203" pitchFamily="34" charset="0"/>
                <a:sym typeface="Wingdings" panose="05000000000000000000" pitchFamily="2" charset="2"/>
              </a:rPr>
              <a:t></a:t>
            </a:r>
            <a:r>
              <a:rPr lang="en-US" sz="1800">
                <a:latin typeface="Segoe UI" panose="020B0502040204020203" pitchFamily="34" charset="0"/>
                <a:cs typeface="Segoe UI" panose="020B0502040204020203" pitchFamily="34" charset="0"/>
              </a:rPr>
              <a:t>As temperature increases, the emission peak shifts toward the blue/UV end of the spectrum.</a:t>
            </a:r>
          </a:p>
          <a:p>
            <a:pPr marL="0" indent="0">
              <a:buNone/>
            </a:pPr>
            <a:r>
              <a:rPr lang="en-US" sz="1800" b="1">
                <a:latin typeface="Segoe UI" panose="020B0502040204020203" pitchFamily="34" charset="0"/>
                <a:cs typeface="Segoe UI" panose="020B0502040204020203" pitchFamily="34" charset="0"/>
              </a:rPr>
              <a:t>Cooler objects emit at longer wavelengths.</a:t>
            </a:r>
          </a:p>
          <a:p>
            <a:pPr marL="0" indent="0">
              <a:buNone/>
            </a:pPr>
            <a:r>
              <a:rPr lang="en-US">
                <a:latin typeface="Segoe UI" panose="020B0502040204020203" pitchFamily="34" charset="0"/>
                <a:cs typeface="Segoe UI" panose="020B0502040204020203" pitchFamily="34" charset="0"/>
                <a:sym typeface="Wingdings" panose="05000000000000000000" pitchFamily="2" charset="2"/>
              </a:rPr>
              <a:t></a:t>
            </a:r>
            <a:r>
              <a:rPr lang="en-US" sz="1800">
                <a:latin typeface="Segoe UI" panose="020B0502040204020203" pitchFamily="34" charset="0"/>
                <a:cs typeface="Segoe UI" panose="020B0502040204020203" pitchFamily="34" charset="0"/>
              </a:rPr>
              <a:t>Lower temperatures shift the peak toward the red/infrared.</a:t>
            </a:r>
          </a:p>
        </p:txBody>
      </p:sp>
      <p:sp>
        <p:nvSpPr>
          <p:cNvPr id="7" name="TextBox 6">
            <a:extLst>
              <a:ext uri="{FF2B5EF4-FFF2-40B4-BE49-F238E27FC236}">
                <a16:creationId xmlns:a16="http://schemas.microsoft.com/office/drawing/2014/main" id="{31052F31-8AD2-09EA-FA51-48A3ECA7938A}"/>
              </a:ext>
            </a:extLst>
          </p:cNvPr>
          <p:cNvSpPr txBox="1"/>
          <p:nvPr/>
        </p:nvSpPr>
        <p:spPr>
          <a:xfrm>
            <a:off x="353811" y="5449443"/>
            <a:ext cx="8436370" cy="101566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l"/>
            <a:r>
              <a:rPr lang="en-US" sz="2000" b="1" i="0" u="sng" strike="noStrike" baseline="0">
                <a:latin typeface="CIDFont+F1"/>
              </a:rPr>
              <a:t>How do we use this?</a:t>
            </a:r>
          </a:p>
          <a:p>
            <a:pPr algn="l"/>
            <a:r>
              <a:rPr lang="en-US" sz="2000" b="0" i="0" u="none" strike="noStrike" baseline="0">
                <a:latin typeface="CIDFont+F1"/>
              </a:rPr>
              <a:t>When we start observing an object, our design will be easier if we can study the wavelength that produces the maximum output.</a:t>
            </a:r>
            <a:endParaRPr lang="en-US" sz="2000"/>
          </a:p>
        </p:txBody>
      </p:sp>
    </p:spTree>
    <p:extLst>
      <p:ext uri="{BB962C8B-B14F-4D97-AF65-F5344CB8AC3E}">
        <p14:creationId xmlns:p14="http://schemas.microsoft.com/office/powerpoint/2010/main" val="1853124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93BC5-E439-D61D-EE64-3C8BD408CFB0}"/>
              </a:ext>
            </a:extLst>
          </p:cNvPr>
          <p:cNvSpPr>
            <a:spLocks noGrp="1"/>
          </p:cNvSpPr>
          <p:nvPr>
            <p:ph type="title"/>
          </p:nvPr>
        </p:nvSpPr>
        <p:spPr/>
        <p:txBody>
          <a:bodyPr/>
          <a:lstStyle/>
          <a:p>
            <a:r>
              <a:rPr lang="en-US"/>
              <a:t>Wein’s Law</a:t>
            </a:r>
          </a:p>
        </p:txBody>
      </p:sp>
      <p:sp>
        <p:nvSpPr>
          <p:cNvPr id="3" name="Content Placeholder 2">
            <a:extLst>
              <a:ext uri="{FF2B5EF4-FFF2-40B4-BE49-F238E27FC236}">
                <a16:creationId xmlns:a16="http://schemas.microsoft.com/office/drawing/2014/main" id="{F302055D-B370-A93B-1DC7-71BB6987F20C}"/>
              </a:ext>
            </a:extLst>
          </p:cNvPr>
          <p:cNvSpPr>
            <a:spLocks noGrp="1"/>
          </p:cNvSpPr>
          <p:nvPr>
            <p:ph idx="1"/>
          </p:nvPr>
        </p:nvSpPr>
        <p:spPr>
          <a:xfrm>
            <a:off x="175489" y="5850330"/>
            <a:ext cx="8793015" cy="652197"/>
          </a:xfrm>
        </p:spPr>
        <p:txBody>
          <a:bodyPr>
            <a:normAutofit fontScale="85000" lnSpcReduction="20000"/>
          </a:bodyPr>
          <a:lstStyle/>
          <a:p>
            <a:pPr marL="0" indent="0">
              <a:buNone/>
            </a:pPr>
            <a:r>
              <a:rPr lang="en-US" i="1"/>
              <a:t>As the temperature decreases, the total amount of energy radiated decreases and the wavelength of the peak increases.</a:t>
            </a:r>
          </a:p>
        </p:txBody>
      </p:sp>
      <p:sp>
        <p:nvSpPr>
          <p:cNvPr id="4" name="Slide Number Placeholder 3">
            <a:extLst>
              <a:ext uri="{FF2B5EF4-FFF2-40B4-BE49-F238E27FC236}">
                <a16:creationId xmlns:a16="http://schemas.microsoft.com/office/drawing/2014/main" id="{91A83D9D-DEEC-DB0A-09F3-5F0DCA29D0BB}"/>
              </a:ext>
            </a:extLst>
          </p:cNvPr>
          <p:cNvSpPr>
            <a:spLocks noGrp="1"/>
          </p:cNvSpPr>
          <p:nvPr>
            <p:ph type="sldNum" sz="quarter" idx="12"/>
          </p:nvPr>
        </p:nvSpPr>
        <p:spPr/>
        <p:txBody>
          <a:bodyPr/>
          <a:lstStyle/>
          <a:p>
            <a:fld id="{9A3029B7-FE6B-4680-9049-80E8298A0825}" type="slidenum">
              <a:rPr lang="en-US" smtClean="0"/>
              <a:t>7</a:t>
            </a:fld>
            <a:endParaRPr lang="en-US"/>
          </a:p>
        </p:txBody>
      </p:sp>
      <p:pic>
        <p:nvPicPr>
          <p:cNvPr id="6" name="Picture 5">
            <a:extLst>
              <a:ext uri="{FF2B5EF4-FFF2-40B4-BE49-F238E27FC236}">
                <a16:creationId xmlns:a16="http://schemas.microsoft.com/office/drawing/2014/main" id="{3500AB64-C49F-FFF5-1C01-3200D0938609}"/>
              </a:ext>
            </a:extLst>
          </p:cNvPr>
          <p:cNvPicPr>
            <a:picLocks noChangeAspect="1"/>
          </p:cNvPicPr>
          <p:nvPr/>
        </p:nvPicPr>
        <p:blipFill>
          <a:blip r:embed="rId3"/>
          <a:stretch>
            <a:fillRect/>
          </a:stretch>
        </p:blipFill>
        <p:spPr>
          <a:xfrm>
            <a:off x="175489" y="955327"/>
            <a:ext cx="5801535" cy="4725059"/>
          </a:xfrm>
          <a:prstGeom prst="rect">
            <a:avLst/>
          </a:prstGeom>
        </p:spPr>
      </p:pic>
      <p:pic>
        <p:nvPicPr>
          <p:cNvPr id="9" name="Picture 2" descr="The Colors of Stars From Hottest to Coldest">
            <a:extLst>
              <a:ext uri="{FF2B5EF4-FFF2-40B4-BE49-F238E27FC236}">
                <a16:creationId xmlns:a16="http://schemas.microsoft.com/office/drawing/2014/main" id="{974CBD6F-BBB2-3496-BEAD-02B53F88FF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44915" y="1397071"/>
            <a:ext cx="5223589" cy="34823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7388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EE642-5360-F890-A200-5C39EC058BEB}"/>
              </a:ext>
            </a:extLst>
          </p:cNvPr>
          <p:cNvSpPr>
            <a:spLocks noGrp="1"/>
          </p:cNvSpPr>
          <p:nvPr>
            <p:ph type="title"/>
          </p:nvPr>
        </p:nvSpPr>
        <p:spPr/>
        <p:txBody>
          <a:bodyPr>
            <a:normAutofit/>
          </a:bodyPr>
          <a:lstStyle/>
          <a:p>
            <a:r>
              <a:rPr lang="en-US"/>
              <a:t>Solar Radiation</a:t>
            </a:r>
          </a:p>
        </p:txBody>
      </p:sp>
      <p:pic>
        <p:nvPicPr>
          <p:cNvPr id="6" name="Content Placeholder 5">
            <a:extLst>
              <a:ext uri="{FF2B5EF4-FFF2-40B4-BE49-F238E27FC236}">
                <a16:creationId xmlns:a16="http://schemas.microsoft.com/office/drawing/2014/main" id="{395ED483-C01C-BF90-4017-B30A6338B616}"/>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760741" y="1337443"/>
            <a:ext cx="7323716" cy="5492788"/>
          </a:xfrm>
        </p:spPr>
      </p:pic>
      <p:sp>
        <p:nvSpPr>
          <p:cNvPr id="4" name="Slide Number Placeholder 3">
            <a:extLst>
              <a:ext uri="{FF2B5EF4-FFF2-40B4-BE49-F238E27FC236}">
                <a16:creationId xmlns:a16="http://schemas.microsoft.com/office/drawing/2014/main" id="{CC3F649E-2DC2-5F82-A047-4717D5A716BC}"/>
              </a:ext>
            </a:extLst>
          </p:cNvPr>
          <p:cNvSpPr>
            <a:spLocks noGrp="1"/>
          </p:cNvSpPr>
          <p:nvPr>
            <p:ph type="sldNum" sz="quarter" idx="12"/>
          </p:nvPr>
        </p:nvSpPr>
        <p:spPr/>
        <p:txBody>
          <a:bodyPr/>
          <a:lstStyle/>
          <a:p>
            <a:fld id="{9A3029B7-FE6B-4680-9049-80E8298A0825}" type="slidenum">
              <a:rPr lang="en-US" smtClean="0"/>
              <a:t>8</a:t>
            </a:fld>
            <a:endParaRPr lang="en-US"/>
          </a:p>
        </p:txBody>
      </p:sp>
      <p:sp>
        <p:nvSpPr>
          <p:cNvPr id="10" name="TextBox 9">
            <a:extLst>
              <a:ext uri="{FF2B5EF4-FFF2-40B4-BE49-F238E27FC236}">
                <a16:creationId xmlns:a16="http://schemas.microsoft.com/office/drawing/2014/main" id="{787A56E6-95DB-8F5D-729F-BADD0C015A31}"/>
              </a:ext>
            </a:extLst>
          </p:cNvPr>
          <p:cNvSpPr txBox="1"/>
          <p:nvPr/>
        </p:nvSpPr>
        <p:spPr>
          <a:xfrm>
            <a:off x="152400" y="968111"/>
            <a:ext cx="7323716" cy="369332"/>
          </a:xfrm>
          <a:prstGeom prst="rect">
            <a:avLst/>
          </a:prstGeom>
          <a:noFill/>
        </p:spPr>
        <p:txBody>
          <a:bodyPr wrap="square">
            <a:spAutoFit/>
          </a:bodyPr>
          <a:lstStyle/>
          <a:p>
            <a:r>
              <a:rPr lang="en-US" b="1"/>
              <a:t>Combining Wein’s Law &amp; Atmospheric Windows for solar radiation:</a:t>
            </a:r>
            <a:r>
              <a:rPr lang="en-US"/>
              <a:t> </a:t>
            </a:r>
          </a:p>
        </p:txBody>
      </p:sp>
    </p:spTree>
    <p:extLst>
      <p:ext uri="{BB962C8B-B14F-4D97-AF65-F5344CB8AC3E}">
        <p14:creationId xmlns:p14="http://schemas.microsoft.com/office/powerpoint/2010/main" val="4610314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2F6C0-87B8-8280-7052-18C71EFE75D8}"/>
              </a:ext>
            </a:extLst>
          </p:cNvPr>
          <p:cNvSpPr>
            <a:spLocks noGrp="1"/>
          </p:cNvSpPr>
          <p:nvPr>
            <p:ph type="title"/>
          </p:nvPr>
        </p:nvSpPr>
        <p:spPr/>
        <p:txBody>
          <a:bodyPr/>
          <a:lstStyle/>
          <a:p>
            <a:r>
              <a:rPr lang="en-US"/>
              <a:t>Remote Sensing</a:t>
            </a:r>
          </a:p>
        </p:txBody>
      </p:sp>
      <p:sp>
        <p:nvSpPr>
          <p:cNvPr id="3" name="Content Placeholder 2">
            <a:extLst>
              <a:ext uri="{FF2B5EF4-FFF2-40B4-BE49-F238E27FC236}">
                <a16:creationId xmlns:a16="http://schemas.microsoft.com/office/drawing/2014/main" id="{79F2E733-4690-053E-BD12-D20AE2B05778}"/>
              </a:ext>
            </a:extLst>
          </p:cNvPr>
          <p:cNvSpPr>
            <a:spLocks noGrp="1"/>
          </p:cNvSpPr>
          <p:nvPr>
            <p:ph idx="1"/>
          </p:nvPr>
        </p:nvSpPr>
        <p:spPr/>
        <p:txBody>
          <a:bodyPr>
            <a:normAutofit/>
          </a:bodyPr>
          <a:lstStyle/>
          <a:p>
            <a:pPr marL="0" indent="0">
              <a:buNone/>
            </a:pPr>
            <a:r>
              <a:rPr lang="en-US" sz="1800" b="1"/>
              <a:t>Remote sensing</a:t>
            </a:r>
            <a:r>
              <a:rPr lang="en-US" sz="1800"/>
              <a:t>: the acquisition of information about an object or area </a:t>
            </a:r>
            <a:r>
              <a:rPr lang="en-US" sz="1800" b="1"/>
              <a:t>without physical contact</a:t>
            </a:r>
            <a:r>
              <a:rPr lang="en-US" sz="1800"/>
              <a:t>, typically by detecting energy (most often electromagnetic radiation) reflected or emitted from the target. </a:t>
            </a:r>
          </a:p>
          <a:p>
            <a:pPr marL="0" indent="0">
              <a:buNone/>
            </a:pPr>
            <a:r>
              <a:rPr lang="en-US" sz="1800"/>
              <a:t>Sensors are mounted on satellites, aircraft, drones, or the ground. </a:t>
            </a:r>
          </a:p>
          <a:p>
            <a:r>
              <a:rPr lang="en-US" sz="1800" u="sng"/>
              <a:t>Passive Remote Sensing</a:t>
            </a:r>
            <a:r>
              <a:rPr lang="en-US" sz="1800"/>
              <a:t>: measure natural radiation (e.g., reflected sunlight in VNIR/SWIR, emitted thermal IR). </a:t>
            </a:r>
          </a:p>
          <a:p>
            <a:pPr marL="457200" lvl="1" indent="0">
              <a:buNone/>
            </a:pPr>
            <a:r>
              <a:rPr lang="en-US" sz="1600">
                <a:sym typeface="Wingdings" panose="05000000000000000000" pitchFamily="2" charset="2"/>
              </a:rPr>
              <a:t> </a:t>
            </a:r>
            <a:r>
              <a:rPr lang="en-US" sz="1600"/>
              <a:t>Examples: multispectral/hyperspectral cameras, thermal imagers.</a:t>
            </a:r>
          </a:p>
          <a:p>
            <a:r>
              <a:rPr lang="en-US" sz="1800" u="sng"/>
              <a:t>Active Remote Sensing</a:t>
            </a:r>
            <a:r>
              <a:rPr lang="en-US" sz="1800"/>
              <a:t>: sensor emits energy and measure the return. </a:t>
            </a:r>
          </a:p>
          <a:p>
            <a:pPr marL="457200" lvl="1" indent="0">
              <a:buNone/>
            </a:pPr>
            <a:r>
              <a:rPr lang="en-US" sz="1600">
                <a:sym typeface="Wingdings" panose="05000000000000000000" pitchFamily="2" charset="2"/>
              </a:rPr>
              <a:t> </a:t>
            </a:r>
            <a:r>
              <a:rPr lang="en-US" sz="1600"/>
              <a:t>Examples: LiDAR (laser ranging), SAR radar (microwave), sonar (underwater).</a:t>
            </a:r>
          </a:p>
        </p:txBody>
      </p:sp>
      <p:sp>
        <p:nvSpPr>
          <p:cNvPr id="4" name="Slide Number Placeholder 3">
            <a:extLst>
              <a:ext uri="{FF2B5EF4-FFF2-40B4-BE49-F238E27FC236}">
                <a16:creationId xmlns:a16="http://schemas.microsoft.com/office/drawing/2014/main" id="{BDD760DD-EDB1-7221-0880-06EDD5AB109C}"/>
              </a:ext>
            </a:extLst>
          </p:cNvPr>
          <p:cNvSpPr>
            <a:spLocks noGrp="1"/>
          </p:cNvSpPr>
          <p:nvPr>
            <p:ph type="sldNum" sz="quarter" idx="12"/>
          </p:nvPr>
        </p:nvSpPr>
        <p:spPr/>
        <p:txBody>
          <a:bodyPr/>
          <a:lstStyle/>
          <a:p>
            <a:fld id="{9A3029B7-FE6B-4680-9049-80E8298A0825}" type="slidenum">
              <a:rPr lang="en-US" smtClean="0"/>
              <a:t>9</a:t>
            </a:fld>
            <a:endParaRPr lang="en-US"/>
          </a:p>
        </p:txBody>
      </p:sp>
      <p:pic>
        <p:nvPicPr>
          <p:cNvPr id="5" name="Picture 4">
            <a:extLst>
              <a:ext uri="{FF2B5EF4-FFF2-40B4-BE49-F238E27FC236}">
                <a16:creationId xmlns:a16="http://schemas.microsoft.com/office/drawing/2014/main" id="{5C2BD3E3-A234-2B9A-AECF-0572EA9B893F}"/>
              </a:ext>
            </a:extLst>
          </p:cNvPr>
          <p:cNvPicPr>
            <a:picLocks noChangeAspect="1"/>
          </p:cNvPicPr>
          <p:nvPr/>
        </p:nvPicPr>
        <p:blipFill>
          <a:blip r:embed="rId3"/>
          <a:stretch>
            <a:fillRect/>
          </a:stretch>
        </p:blipFill>
        <p:spPr>
          <a:xfrm>
            <a:off x="2952653" y="3815568"/>
            <a:ext cx="5285269" cy="2977368"/>
          </a:xfrm>
          <a:prstGeom prst="rect">
            <a:avLst/>
          </a:prstGeom>
        </p:spPr>
      </p:pic>
      <p:pic>
        <p:nvPicPr>
          <p:cNvPr id="14339" name="Picture 3" descr="undefined">
            <a:extLst>
              <a:ext uri="{FF2B5EF4-FFF2-40B4-BE49-F238E27FC236}">
                <a16:creationId xmlns:a16="http://schemas.microsoft.com/office/drawing/2014/main" id="{2024BCFC-A10A-E95F-BAEC-52AD8CAA74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3499" y="3888202"/>
            <a:ext cx="2265680" cy="28321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ED0A310-D0B4-F6C0-E1F3-6B57CDFCACBE}"/>
              </a:ext>
            </a:extLst>
          </p:cNvPr>
          <p:cNvSpPr txBox="1"/>
          <p:nvPr/>
        </p:nvSpPr>
        <p:spPr>
          <a:xfrm>
            <a:off x="3138966" y="5800851"/>
            <a:ext cx="5614700" cy="646331"/>
          </a:xfrm>
          <a:prstGeom prst="rect">
            <a:avLst/>
          </a:prstGeom>
          <a:solidFill>
            <a:schemeClr val="bg1"/>
          </a:solidFill>
        </p:spPr>
        <p:txBody>
          <a:bodyPr wrap="square" rtlCol="0">
            <a:spAutoFit/>
          </a:bodyPr>
          <a:lstStyle/>
          <a:p>
            <a:r>
              <a:rPr lang="en-US"/>
              <a:t>The </a:t>
            </a:r>
            <a:r>
              <a:rPr lang="en-US" b="1"/>
              <a:t>Landsat program </a:t>
            </a:r>
            <a:r>
              <a:rPr lang="en-US"/>
              <a:t>is the longest-running enterprise that has acquired satellite imagery of Earth.</a:t>
            </a:r>
          </a:p>
        </p:txBody>
      </p:sp>
    </p:spTree>
    <p:extLst>
      <p:ext uri="{BB962C8B-B14F-4D97-AF65-F5344CB8AC3E}">
        <p14:creationId xmlns:p14="http://schemas.microsoft.com/office/powerpoint/2010/main" val="1379419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1D4AB-9047-C64F-292A-E53E4EAF76EF}"/>
              </a:ext>
            </a:extLst>
          </p:cNvPr>
          <p:cNvSpPr>
            <a:spLocks noGrp="1"/>
          </p:cNvSpPr>
          <p:nvPr>
            <p:ph type="title"/>
          </p:nvPr>
        </p:nvSpPr>
        <p:spPr/>
        <p:txBody>
          <a:bodyPr/>
          <a:lstStyle/>
          <a:p>
            <a:r>
              <a:rPr lang="en-US"/>
              <a:t>Passive vs. Active Sensors</a:t>
            </a:r>
          </a:p>
        </p:txBody>
      </p:sp>
      <p:sp>
        <p:nvSpPr>
          <p:cNvPr id="4" name="Slide Number Placeholder 3">
            <a:extLst>
              <a:ext uri="{FF2B5EF4-FFF2-40B4-BE49-F238E27FC236}">
                <a16:creationId xmlns:a16="http://schemas.microsoft.com/office/drawing/2014/main" id="{2E90A316-6C93-9A0C-47B5-2BBBC23A3034}"/>
              </a:ext>
            </a:extLst>
          </p:cNvPr>
          <p:cNvSpPr>
            <a:spLocks noGrp="1"/>
          </p:cNvSpPr>
          <p:nvPr>
            <p:ph type="sldNum" sz="quarter" idx="12"/>
          </p:nvPr>
        </p:nvSpPr>
        <p:spPr/>
        <p:txBody>
          <a:bodyPr/>
          <a:lstStyle/>
          <a:p>
            <a:fld id="{9A3029B7-FE6B-4680-9049-80E8298A0825}" type="slidenum">
              <a:rPr lang="en-US" smtClean="0"/>
              <a:t>10</a:t>
            </a:fld>
            <a:endParaRPr lang="en-US"/>
          </a:p>
        </p:txBody>
      </p:sp>
      <p:pic>
        <p:nvPicPr>
          <p:cNvPr id="6146" name="Picture 2" descr="image of diagram showing difference between passive and active remote sensing">
            <a:extLst>
              <a:ext uri="{FF2B5EF4-FFF2-40B4-BE49-F238E27FC236}">
                <a16:creationId xmlns:a16="http://schemas.microsoft.com/office/drawing/2014/main" id="{B006DDB8-B712-BCFE-BEF6-55BA1F4C07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7787" y="1057982"/>
            <a:ext cx="7068426" cy="272375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4">
            <a:extLst>
              <a:ext uri="{FF2B5EF4-FFF2-40B4-BE49-F238E27FC236}">
                <a16:creationId xmlns:a16="http://schemas.microsoft.com/office/drawing/2014/main" id="{31749F5B-3FD5-7469-9967-6D5728FECCCF}"/>
              </a:ext>
            </a:extLst>
          </p:cNvPr>
          <p:cNvGraphicFramePr>
            <a:graphicFrameLocks noGrp="1"/>
          </p:cNvGraphicFramePr>
          <p:nvPr>
            <p:extLst>
              <p:ext uri="{D42A27DB-BD31-4B8C-83A1-F6EECF244321}">
                <p14:modId xmlns:p14="http://schemas.microsoft.com/office/powerpoint/2010/main" val="112201125"/>
              </p:ext>
            </p:extLst>
          </p:nvPr>
        </p:nvGraphicFramePr>
        <p:xfrm>
          <a:off x="46364" y="3866393"/>
          <a:ext cx="9014595" cy="2781275"/>
        </p:xfrm>
        <a:graphic>
          <a:graphicData uri="http://schemas.openxmlformats.org/drawingml/2006/table">
            <a:tbl>
              <a:tblPr/>
              <a:tblGrid>
                <a:gridCol w="2194333">
                  <a:extLst>
                    <a:ext uri="{9D8B030D-6E8A-4147-A177-3AD203B41FA5}">
                      <a16:colId xmlns:a16="http://schemas.microsoft.com/office/drawing/2014/main" val="708985559"/>
                    </a:ext>
                  </a:extLst>
                </a:gridCol>
                <a:gridCol w="3585467">
                  <a:extLst>
                    <a:ext uri="{9D8B030D-6E8A-4147-A177-3AD203B41FA5}">
                      <a16:colId xmlns:a16="http://schemas.microsoft.com/office/drawing/2014/main" val="4013281221"/>
                    </a:ext>
                  </a:extLst>
                </a:gridCol>
                <a:gridCol w="3234795">
                  <a:extLst>
                    <a:ext uri="{9D8B030D-6E8A-4147-A177-3AD203B41FA5}">
                      <a16:colId xmlns:a16="http://schemas.microsoft.com/office/drawing/2014/main" val="1039194215"/>
                    </a:ext>
                  </a:extLst>
                </a:gridCol>
              </a:tblGrid>
              <a:tr h="332694">
                <a:tc>
                  <a:txBody>
                    <a:bodyPr/>
                    <a:lstStyle/>
                    <a:p>
                      <a:pPr>
                        <a:buNone/>
                      </a:pPr>
                      <a:r>
                        <a:rPr lang="en-US" sz="1600" b="1"/>
                        <a:t>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a:t>Passive Sensor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a:t>Active Sensor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0807489"/>
                  </a:ext>
                </a:extLst>
              </a:tr>
              <a:tr h="373355">
                <a:tc>
                  <a:txBody>
                    <a:bodyPr/>
                    <a:lstStyle/>
                    <a:p>
                      <a:pPr>
                        <a:buNone/>
                      </a:pPr>
                      <a:r>
                        <a:rPr lang="en-US" sz="1600" b="1"/>
                        <a:t>Energy source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Natural (sun, Earth emission)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Artificial (sensor-generated signal)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8909615"/>
                  </a:ext>
                </a:extLst>
              </a:tr>
              <a:tr h="373355">
                <a:tc>
                  <a:txBody>
                    <a:bodyPr/>
                    <a:lstStyle/>
                    <a:p>
                      <a:pPr>
                        <a:buNone/>
                      </a:pPr>
                      <a:r>
                        <a:rPr lang="en-US" sz="1600" b="1"/>
                        <a:t>Day/night capability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Limited (depends on sun/thermal emission)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Works both day and night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5735702"/>
                  </a:ext>
                </a:extLst>
              </a:tr>
              <a:tr h="565580">
                <a:tc>
                  <a:txBody>
                    <a:bodyPr/>
                    <a:lstStyle/>
                    <a:p>
                      <a:pPr>
                        <a:buNone/>
                      </a:pPr>
                      <a:r>
                        <a:rPr lang="en-US" sz="1600" b="1"/>
                        <a:t>Cloud penetration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Limited (except microwave/thermal)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Can penetrate clouds (radar, some LiDAR)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48002632"/>
                  </a:ext>
                </a:extLst>
              </a:tr>
              <a:tr h="373355">
                <a:tc>
                  <a:txBody>
                    <a:bodyPr/>
                    <a:lstStyle/>
                    <a:p>
                      <a:pPr>
                        <a:buNone/>
                      </a:pPr>
                      <a:r>
                        <a:rPr lang="en-US" sz="1600" b="1"/>
                        <a:t>Examples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Optical imagers, thermal sensors, radiometers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SAR, LiDAR, radar altimeters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0233929"/>
                  </a:ext>
                </a:extLst>
              </a:tr>
              <a:tr h="332694">
                <a:tc>
                  <a:txBody>
                    <a:bodyPr/>
                    <a:lstStyle/>
                    <a:p>
                      <a:pPr>
                        <a:buNone/>
                      </a:pPr>
                      <a:r>
                        <a:rPr lang="en-US" sz="1600" b="1"/>
                        <a:t>Cost/complexity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Lower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Higher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04012318"/>
                  </a:ext>
                </a:extLst>
              </a:tr>
            </a:tbl>
          </a:graphicData>
        </a:graphic>
      </p:graphicFrame>
    </p:spTree>
    <p:extLst>
      <p:ext uri="{BB962C8B-B14F-4D97-AF65-F5344CB8AC3E}">
        <p14:creationId xmlns:p14="http://schemas.microsoft.com/office/powerpoint/2010/main" val="32298985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E1795CCA-03A4-6EDE-D294-3A78DA4FE58D}"/>
              </a:ext>
            </a:extLst>
          </p:cNvPr>
          <p:cNvPicPr>
            <a:picLocks noChangeAspect="1"/>
          </p:cNvPicPr>
          <p:nvPr/>
        </p:nvPicPr>
        <p:blipFill>
          <a:blip r:embed="rId2"/>
          <a:stretch>
            <a:fillRect/>
          </a:stretch>
        </p:blipFill>
        <p:spPr>
          <a:xfrm>
            <a:off x="141415" y="1216882"/>
            <a:ext cx="8476062" cy="5248224"/>
          </a:xfrm>
          <a:prstGeom prst="rect">
            <a:avLst/>
          </a:prstGeom>
        </p:spPr>
      </p:pic>
      <p:sp>
        <p:nvSpPr>
          <p:cNvPr id="2" name="Title 1">
            <a:extLst>
              <a:ext uri="{FF2B5EF4-FFF2-40B4-BE49-F238E27FC236}">
                <a16:creationId xmlns:a16="http://schemas.microsoft.com/office/drawing/2014/main" id="{31669018-5E79-DFBC-2374-ACDA2A50D831}"/>
              </a:ext>
            </a:extLst>
          </p:cNvPr>
          <p:cNvSpPr>
            <a:spLocks noGrp="1"/>
          </p:cNvSpPr>
          <p:nvPr>
            <p:ph type="title"/>
          </p:nvPr>
        </p:nvSpPr>
        <p:spPr/>
        <p:txBody>
          <a:bodyPr/>
          <a:lstStyle/>
          <a:p>
            <a:r>
              <a:rPr lang="en-US"/>
              <a:t>Imaging Sensors (Dahlke)</a:t>
            </a:r>
          </a:p>
        </p:txBody>
      </p:sp>
      <p:sp>
        <p:nvSpPr>
          <p:cNvPr id="4" name="Slide Number Placeholder 3">
            <a:extLst>
              <a:ext uri="{FF2B5EF4-FFF2-40B4-BE49-F238E27FC236}">
                <a16:creationId xmlns:a16="http://schemas.microsoft.com/office/drawing/2014/main" id="{0760F349-1CB3-35C5-3047-8E3B51B5D5CB}"/>
              </a:ext>
            </a:extLst>
          </p:cNvPr>
          <p:cNvSpPr>
            <a:spLocks noGrp="1"/>
          </p:cNvSpPr>
          <p:nvPr>
            <p:ph type="sldNum" sz="quarter" idx="12"/>
          </p:nvPr>
        </p:nvSpPr>
        <p:spPr/>
        <p:txBody>
          <a:bodyPr/>
          <a:lstStyle/>
          <a:p>
            <a:fld id="{9A3029B7-FE6B-4680-9049-80E8298A0825}" type="slidenum">
              <a:rPr lang="en-US" smtClean="0"/>
              <a:t>11</a:t>
            </a:fld>
            <a:endParaRPr lang="en-US"/>
          </a:p>
        </p:txBody>
      </p:sp>
      <p:pic>
        <p:nvPicPr>
          <p:cNvPr id="10" name="Picture 9">
            <a:extLst>
              <a:ext uri="{FF2B5EF4-FFF2-40B4-BE49-F238E27FC236}">
                <a16:creationId xmlns:a16="http://schemas.microsoft.com/office/drawing/2014/main" id="{44F717A5-A53A-127A-0787-5533512153A0}"/>
              </a:ext>
            </a:extLst>
          </p:cNvPr>
          <p:cNvPicPr>
            <a:picLocks noChangeAspect="1"/>
          </p:cNvPicPr>
          <p:nvPr/>
        </p:nvPicPr>
        <p:blipFill>
          <a:blip r:embed="rId3"/>
          <a:stretch>
            <a:fillRect/>
          </a:stretch>
        </p:blipFill>
        <p:spPr>
          <a:xfrm>
            <a:off x="6124635" y="4220638"/>
            <a:ext cx="2877950" cy="1583502"/>
          </a:xfrm>
          <a:prstGeom prst="rect">
            <a:avLst/>
          </a:prstGeom>
          <a:ln>
            <a:solidFill>
              <a:schemeClr val="tx1"/>
            </a:solidFill>
          </a:ln>
        </p:spPr>
      </p:pic>
    </p:spTree>
    <p:extLst>
      <p:ext uri="{BB962C8B-B14F-4D97-AF65-F5344CB8AC3E}">
        <p14:creationId xmlns:p14="http://schemas.microsoft.com/office/powerpoint/2010/main" val="6323347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43C63-1909-C971-0740-1FE0B84819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0F6B10-94C3-1418-D633-A56294937DB5}"/>
              </a:ext>
            </a:extLst>
          </p:cNvPr>
          <p:cNvSpPr>
            <a:spLocks noGrp="1"/>
          </p:cNvSpPr>
          <p:nvPr>
            <p:ph type="title"/>
          </p:nvPr>
        </p:nvSpPr>
        <p:spPr/>
        <p:txBody>
          <a:bodyPr/>
          <a:lstStyle/>
          <a:p>
            <a:r>
              <a:rPr lang="en-US"/>
              <a:t>Imaging Sensors (Equation Sheet)</a:t>
            </a:r>
          </a:p>
        </p:txBody>
      </p:sp>
      <p:pic>
        <p:nvPicPr>
          <p:cNvPr id="6" name="Content Placeholder 5">
            <a:extLst>
              <a:ext uri="{FF2B5EF4-FFF2-40B4-BE49-F238E27FC236}">
                <a16:creationId xmlns:a16="http://schemas.microsoft.com/office/drawing/2014/main" id="{4B430603-74D5-B025-D3B0-439E1BB16D37}"/>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1627894" y="1129343"/>
            <a:ext cx="5888212" cy="3375207"/>
          </a:xfrm>
        </p:spPr>
      </p:pic>
      <p:sp>
        <p:nvSpPr>
          <p:cNvPr id="4" name="Slide Number Placeholder 3">
            <a:extLst>
              <a:ext uri="{FF2B5EF4-FFF2-40B4-BE49-F238E27FC236}">
                <a16:creationId xmlns:a16="http://schemas.microsoft.com/office/drawing/2014/main" id="{CDAC7E6D-19B6-2EA4-AC3E-E1DD4441D853}"/>
              </a:ext>
            </a:extLst>
          </p:cNvPr>
          <p:cNvSpPr>
            <a:spLocks noGrp="1"/>
          </p:cNvSpPr>
          <p:nvPr>
            <p:ph type="sldNum" sz="quarter" idx="12"/>
          </p:nvPr>
        </p:nvSpPr>
        <p:spPr/>
        <p:txBody>
          <a:bodyPr/>
          <a:lstStyle/>
          <a:p>
            <a:fld id="{9A3029B7-FE6B-4680-9049-80E8298A0825}" type="slidenum">
              <a:rPr lang="en-US" smtClean="0"/>
              <a:t>12</a:t>
            </a:fld>
            <a:endParaRPr lang="en-US"/>
          </a:p>
        </p:txBody>
      </p:sp>
      <p:pic>
        <p:nvPicPr>
          <p:cNvPr id="5" name="Picture 4">
            <a:extLst>
              <a:ext uri="{FF2B5EF4-FFF2-40B4-BE49-F238E27FC236}">
                <a16:creationId xmlns:a16="http://schemas.microsoft.com/office/drawing/2014/main" id="{EC6DB828-376D-6148-9549-E0BBB8D07D30}"/>
              </a:ext>
            </a:extLst>
          </p:cNvPr>
          <p:cNvPicPr>
            <a:picLocks noChangeAspect="1"/>
          </p:cNvPicPr>
          <p:nvPr/>
        </p:nvPicPr>
        <p:blipFill>
          <a:blip r:embed="rId4"/>
          <a:stretch>
            <a:fillRect/>
          </a:stretch>
        </p:blipFill>
        <p:spPr>
          <a:xfrm>
            <a:off x="6077933" y="5235197"/>
            <a:ext cx="1991003" cy="885949"/>
          </a:xfrm>
          <a:prstGeom prst="rect">
            <a:avLst/>
          </a:prstGeom>
        </p:spPr>
      </p:pic>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14D85C9A-34F9-0187-3C3E-C0C11F8E5EFE}"/>
                  </a:ext>
                </a:extLst>
              </p:cNvPr>
              <p:cNvSpPr txBox="1"/>
              <p:nvPr/>
            </p:nvSpPr>
            <p:spPr>
              <a:xfrm>
                <a:off x="866966" y="4708676"/>
                <a:ext cx="4920342" cy="1938992"/>
              </a:xfrm>
              <a:prstGeom prst="rect">
                <a:avLst/>
              </a:prstGeom>
              <a:noFill/>
            </p:spPr>
            <p:txBody>
              <a:bodyPr wrap="square" rtlCol="0">
                <a:spAutoFit/>
              </a:bodyPr>
              <a:lstStyle/>
              <a:p>
                <a14:m>
                  <m:oMath xmlns:m="http://schemas.openxmlformats.org/officeDocument/2006/math">
                    <m:r>
                      <a:rPr lang="en-US" sz="2000" b="0" i="1" smtClean="0">
                        <a:latin typeface="Cambria Math" panose="02040503050406030204" pitchFamily="18" charset="0"/>
                        <a:cs typeface="Segoe UI" panose="020B0502040204020203" pitchFamily="34" charset="0"/>
                      </a:rPr>
                      <m:t>𝑟</m:t>
                    </m:r>
                  </m:oMath>
                </a14:m>
                <a:r>
                  <a:rPr lang="en-US" sz="2000">
                    <a:latin typeface="Segoe UI" panose="020B0502040204020203" pitchFamily="34" charset="0"/>
                    <a:cs typeface="Segoe UI" panose="020B0502040204020203" pitchFamily="34" charset="0"/>
                  </a:rPr>
                  <a:t> = Detector radius </a:t>
                </a:r>
              </a:p>
              <a:p>
                <a14:m>
                  <m:oMath xmlns:m="http://schemas.openxmlformats.org/officeDocument/2006/math">
                    <m:r>
                      <a:rPr lang="en-US" sz="2000" b="0" i="1" smtClean="0">
                        <a:latin typeface="Cambria Math" panose="02040503050406030204" pitchFamily="18" charset="0"/>
                        <a:cs typeface="Segoe UI" panose="020B0502040204020203" pitchFamily="34" charset="0"/>
                      </a:rPr>
                      <m:t>𝑓</m:t>
                    </m:r>
                  </m:oMath>
                </a14:m>
                <a:r>
                  <a:rPr lang="en-US" sz="2000">
                    <a:latin typeface="Segoe UI" panose="020B0502040204020203" pitchFamily="34" charset="0"/>
                    <a:cs typeface="Segoe UI" panose="020B0502040204020203" pitchFamily="34" charset="0"/>
                  </a:rPr>
                  <a:t> = Focal length </a:t>
                </a:r>
              </a:p>
              <a:p>
                <a14:m>
                  <m:oMath xmlns:m="http://schemas.openxmlformats.org/officeDocument/2006/math">
                    <m:r>
                      <a:rPr lang="en-US" sz="2000" b="0" i="1" smtClean="0">
                        <a:latin typeface="Cambria Math" panose="02040503050406030204" pitchFamily="18" charset="0"/>
                        <a:cs typeface="Segoe UI" panose="020B0502040204020203" pitchFamily="34" charset="0"/>
                      </a:rPr>
                      <m:t>h</m:t>
                    </m:r>
                  </m:oMath>
                </a14:m>
                <a:r>
                  <a:rPr lang="en-US" sz="2000">
                    <a:latin typeface="Segoe UI" panose="020B0502040204020203" pitchFamily="34" charset="0"/>
                    <a:cs typeface="Segoe UI" panose="020B0502040204020203" pitchFamily="34" charset="0"/>
                  </a:rPr>
                  <a:t> = Distance between lens and object</a:t>
                </a:r>
              </a:p>
              <a:p>
                <a14:m>
                  <m:oMath xmlns:m="http://schemas.openxmlformats.org/officeDocument/2006/math">
                    <m:r>
                      <a:rPr lang="en-US" sz="2000" b="0" i="1" smtClean="0">
                        <a:latin typeface="Cambria Math" panose="02040503050406030204" pitchFamily="18" charset="0"/>
                        <a:cs typeface="Segoe UI" panose="020B0502040204020203" pitchFamily="34" charset="0"/>
                      </a:rPr>
                      <m:t>𝑅</m:t>
                    </m:r>
                  </m:oMath>
                </a14:m>
                <a:r>
                  <a:rPr lang="en-US" sz="2000">
                    <a:latin typeface="Segoe UI" panose="020B0502040204020203" pitchFamily="34" charset="0"/>
                    <a:cs typeface="Segoe UI" panose="020B0502040204020203" pitchFamily="34" charset="0"/>
                  </a:rPr>
                  <a:t> = Radius of subject imaged</a:t>
                </a:r>
              </a:p>
              <a:p>
                <a14:m>
                  <m:oMath xmlns:m="http://schemas.openxmlformats.org/officeDocument/2006/math">
                    <m:r>
                      <a:rPr lang="en-US" sz="2000" b="0" i="1" smtClean="0">
                        <a:latin typeface="Cambria Math" panose="02040503050406030204" pitchFamily="18" charset="0"/>
                        <a:cs typeface="Segoe UI" panose="020B0502040204020203" pitchFamily="34" charset="0"/>
                      </a:rPr>
                      <m:t>𝐷</m:t>
                    </m:r>
                  </m:oMath>
                </a14:m>
                <a:r>
                  <a:rPr lang="en-US" sz="2000">
                    <a:latin typeface="Segoe UI" panose="020B0502040204020203" pitchFamily="34" charset="0"/>
                    <a:cs typeface="Segoe UI" panose="020B0502040204020203" pitchFamily="34" charset="0"/>
                  </a:rPr>
                  <a:t> = Diameter of Aperture</a:t>
                </a:r>
              </a:p>
              <a:p>
                <a14:m>
                  <m:oMath xmlns:m="http://schemas.openxmlformats.org/officeDocument/2006/math">
                    <m:r>
                      <a:rPr lang="en-US" sz="2000" b="0" i="1" smtClean="0">
                        <a:latin typeface="Cambria Math" panose="02040503050406030204" pitchFamily="18" charset="0"/>
                        <a:cs typeface="Segoe UI" panose="020B0502040204020203" pitchFamily="34" charset="0"/>
                      </a:rPr>
                      <m:t>𝑚𝑎𝑔</m:t>
                    </m:r>
                  </m:oMath>
                </a14:m>
                <a:r>
                  <a:rPr lang="en-US" sz="2000">
                    <a:latin typeface="Segoe UI" panose="020B0502040204020203" pitchFamily="34" charset="0"/>
                    <a:cs typeface="Segoe UI" panose="020B0502040204020203" pitchFamily="34" charset="0"/>
                  </a:rPr>
                  <a:t> = Magnification</a:t>
                </a:r>
              </a:p>
            </p:txBody>
          </p:sp>
        </mc:Choice>
        <mc:Fallback>
          <p:sp>
            <p:nvSpPr>
              <p:cNvPr id="7" name="TextBox 6">
                <a:extLst>
                  <a:ext uri="{FF2B5EF4-FFF2-40B4-BE49-F238E27FC236}">
                    <a16:creationId xmlns:a16="http://schemas.microsoft.com/office/drawing/2014/main" id="{14D85C9A-34F9-0187-3C3E-C0C11F8E5EFE}"/>
                  </a:ext>
                </a:extLst>
              </p:cNvPr>
              <p:cNvSpPr txBox="1">
                <a:spLocks noRot="1" noChangeAspect="1" noMove="1" noResize="1" noEditPoints="1" noAdjustHandles="1" noChangeArrowheads="1" noChangeShapeType="1" noTextEdit="1"/>
              </p:cNvSpPr>
              <p:nvPr/>
            </p:nvSpPr>
            <p:spPr>
              <a:xfrm>
                <a:off x="866966" y="4708676"/>
                <a:ext cx="4920342" cy="1938992"/>
              </a:xfrm>
              <a:prstGeom prst="rect">
                <a:avLst/>
              </a:prstGeom>
              <a:blipFill>
                <a:blip r:embed="rId5"/>
                <a:stretch>
                  <a:fillRect l="-496" t="-1258" b="-5031"/>
                </a:stretch>
              </a:blipFill>
            </p:spPr>
            <p:txBody>
              <a:bodyPr/>
              <a:lstStyle/>
              <a:p>
                <a:r>
                  <a:rPr lang="en-US">
                    <a:noFill/>
                  </a:rPr>
                  <a:t> </a:t>
                </a:r>
              </a:p>
            </p:txBody>
          </p:sp>
        </mc:Fallback>
      </mc:AlternateContent>
    </p:spTree>
    <p:extLst>
      <p:ext uri="{BB962C8B-B14F-4D97-AF65-F5344CB8AC3E}">
        <p14:creationId xmlns:p14="http://schemas.microsoft.com/office/powerpoint/2010/main" val="40828608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2109E-B652-1C0D-5458-E76CAD0DF4B3}"/>
              </a:ext>
            </a:extLst>
          </p:cNvPr>
          <p:cNvSpPr>
            <a:spLocks noGrp="1"/>
          </p:cNvSpPr>
          <p:nvPr>
            <p:ph type="title"/>
          </p:nvPr>
        </p:nvSpPr>
        <p:spPr/>
        <p:txBody>
          <a:bodyPr/>
          <a:lstStyle/>
          <a:p>
            <a:r>
              <a:rPr lang="en-US"/>
              <a:t>Resolution</a:t>
            </a:r>
          </a:p>
        </p:txBody>
      </p:sp>
      <p:sp>
        <p:nvSpPr>
          <p:cNvPr id="3" name="Content Placeholder 2">
            <a:extLst>
              <a:ext uri="{FF2B5EF4-FFF2-40B4-BE49-F238E27FC236}">
                <a16:creationId xmlns:a16="http://schemas.microsoft.com/office/drawing/2014/main" id="{9ACF0706-9D58-838D-018E-8231E18C48EE}"/>
              </a:ext>
            </a:extLst>
          </p:cNvPr>
          <p:cNvSpPr>
            <a:spLocks noGrp="1"/>
          </p:cNvSpPr>
          <p:nvPr>
            <p:ph idx="1"/>
          </p:nvPr>
        </p:nvSpPr>
        <p:spPr/>
        <p:txBody>
          <a:bodyPr/>
          <a:lstStyle/>
          <a:p>
            <a:r>
              <a:rPr lang="en-US">
                <a:latin typeface="-apple-system"/>
              </a:rPr>
              <a:t>The smallest interval </a:t>
            </a:r>
            <a:r>
              <a:rPr lang="en-US" u="sng">
                <a:latin typeface="-apple-system"/>
                <a:hlinkClick r:id="rId2">
                  <a:extLst>
                    <a:ext uri="{A12FA001-AC4F-418D-AE19-62706E023703}">
                      <ahyp:hlinkClr xmlns:ahyp="http://schemas.microsoft.com/office/drawing/2018/hyperlinkcolor" val="tx"/>
                    </a:ext>
                  </a:extLst>
                </a:hlinkClick>
              </a:rPr>
              <a:t>measurable</a:t>
            </a:r>
            <a:r>
              <a:rPr lang="en-US">
                <a:latin typeface="-apple-system"/>
              </a:rPr>
              <a:t> by a scientific (especially optical) instrument; the </a:t>
            </a:r>
            <a:r>
              <a:rPr lang="en-US" u="sng">
                <a:latin typeface="-apple-system"/>
                <a:hlinkClick r:id="rId3">
                  <a:extLst>
                    <a:ext uri="{A12FA001-AC4F-418D-AE19-62706E023703}">
                      <ahyp:hlinkClr xmlns:ahyp="http://schemas.microsoft.com/office/drawing/2018/hyperlinkcolor" val="tx"/>
                    </a:ext>
                  </a:extLst>
                </a:hlinkClick>
              </a:rPr>
              <a:t>resolving</a:t>
            </a:r>
            <a:r>
              <a:rPr lang="en-US">
                <a:latin typeface="-apple-system"/>
              </a:rPr>
              <a:t> power.</a:t>
            </a:r>
          </a:p>
          <a:p>
            <a:pPr marL="457200" lvl="1" indent="0">
              <a:buNone/>
            </a:pPr>
            <a:r>
              <a:rPr lang="en-US">
                <a:latin typeface="-apple-system"/>
                <a:sym typeface="Wingdings" panose="05000000000000000000" pitchFamily="2" charset="2"/>
              </a:rPr>
              <a:t></a:t>
            </a:r>
            <a:r>
              <a:rPr lang="en-US">
                <a:latin typeface="-apple-system"/>
              </a:rPr>
              <a:t>The degree of detail visible in a photographic or television image.</a:t>
            </a:r>
          </a:p>
          <a:p>
            <a:pPr marL="457200" lvl="1" indent="0">
              <a:buNone/>
            </a:pPr>
            <a:endParaRPr lang="en-US">
              <a:latin typeface="-apple-system"/>
            </a:endParaRPr>
          </a:p>
          <a:p>
            <a:r>
              <a:rPr lang="en-US">
                <a:latin typeface="-apple-system"/>
              </a:rPr>
              <a:t>Alternatively: </a:t>
            </a:r>
          </a:p>
          <a:p>
            <a:pPr marL="457200" lvl="1" indent="0">
              <a:buNone/>
            </a:pPr>
            <a:r>
              <a:rPr lang="en-US" sz="2800">
                <a:latin typeface="-apple-system"/>
              </a:rPr>
              <a:t>The act, process, or capability of distinguishing between two separate but adjacent objects or sources of light or between two nearly equal wavelengths</a:t>
            </a:r>
            <a:endParaRPr lang="en-US" sz="2800"/>
          </a:p>
        </p:txBody>
      </p:sp>
      <p:sp>
        <p:nvSpPr>
          <p:cNvPr id="4" name="Slide Number Placeholder 3">
            <a:extLst>
              <a:ext uri="{FF2B5EF4-FFF2-40B4-BE49-F238E27FC236}">
                <a16:creationId xmlns:a16="http://schemas.microsoft.com/office/drawing/2014/main" id="{A4A66F9F-3E57-743F-44B3-65CF4F8EE5CF}"/>
              </a:ext>
            </a:extLst>
          </p:cNvPr>
          <p:cNvSpPr>
            <a:spLocks noGrp="1"/>
          </p:cNvSpPr>
          <p:nvPr>
            <p:ph type="sldNum" sz="quarter" idx="12"/>
          </p:nvPr>
        </p:nvSpPr>
        <p:spPr/>
        <p:txBody>
          <a:bodyPr/>
          <a:lstStyle/>
          <a:p>
            <a:fld id="{9A3029B7-FE6B-4680-9049-80E8298A0825}" type="slidenum">
              <a:rPr lang="en-US" smtClean="0"/>
              <a:t>13</a:t>
            </a:fld>
            <a:endParaRPr lang="en-US"/>
          </a:p>
        </p:txBody>
      </p:sp>
    </p:spTree>
    <p:extLst>
      <p:ext uri="{BB962C8B-B14F-4D97-AF65-F5344CB8AC3E}">
        <p14:creationId xmlns:p14="http://schemas.microsoft.com/office/powerpoint/2010/main" val="2349187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8A16E-D7CA-78CD-00C9-E636ED0E1B67}"/>
              </a:ext>
            </a:extLst>
          </p:cNvPr>
          <p:cNvSpPr>
            <a:spLocks noGrp="1"/>
          </p:cNvSpPr>
          <p:nvPr>
            <p:ph type="title"/>
          </p:nvPr>
        </p:nvSpPr>
        <p:spPr/>
        <p:txBody>
          <a:bodyPr/>
          <a:lstStyle/>
          <a:p>
            <a:r>
              <a:rPr lang="en-US"/>
              <a:t>Types of Resolution</a:t>
            </a:r>
          </a:p>
        </p:txBody>
      </p:sp>
      <p:sp>
        <p:nvSpPr>
          <p:cNvPr id="3" name="Content Placeholder 2">
            <a:extLst>
              <a:ext uri="{FF2B5EF4-FFF2-40B4-BE49-F238E27FC236}">
                <a16:creationId xmlns:a16="http://schemas.microsoft.com/office/drawing/2014/main" id="{554ABCD0-E5AF-4939-3A65-C370C16F47F6}"/>
              </a:ext>
            </a:extLst>
          </p:cNvPr>
          <p:cNvSpPr>
            <a:spLocks noGrp="1"/>
          </p:cNvSpPr>
          <p:nvPr>
            <p:ph idx="1"/>
          </p:nvPr>
        </p:nvSpPr>
        <p:spPr>
          <a:xfrm>
            <a:off x="304621" y="1120139"/>
            <a:ext cx="8793015" cy="5710091"/>
          </a:xfrm>
        </p:spPr>
        <p:txBody>
          <a:bodyPr>
            <a:normAutofit/>
          </a:bodyPr>
          <a:lstStyle/>
          <a:p>
            <a:pPr marL="514350" indent="-514350">
              <a:buAutoNum type="arabicParenR"/>
            </a:pPr>
            <a:r>
              <a:rPr lang="en-US" sz="2400" b="1">
                <a:solidFill>
                  <a:srgbClr val="FF0000"/>
                </a:solidFill>
              </a:rPr>
              <a:t>Spatial resolution </a:t>
            </a:r>
          </a:p>
          <a:p>
            <a:pPr marL="0" indent="0">
              <a:buNone/>
            </a:pPr>
            <a:r>
              <a:rPr lang="en-US" sz="2400" b="1">
                <a:solidFill>
                  <a:srgbClr val="FF0000"/>
                </a:solidFill>
              </a:rPr>
              <a:t>	</a:t>
            </a:r>
            <a:r>
              <a:rPr lang="en-US" sz="2400" b="1">
                <a:solidFill>
                  <a:srgbClr val="FF0000"/>
                </a:solidFill>
                <a:sym typeface="Wingdings" panose="05000000000000000000" pitchFamily="2" charset="2"/>
              </a:rPr>
              <a:t></a:t>
            </a:r>
            <a:r>
              <a:rPr lang="en-US" sz="2400" b="1">
                <a:solidFill>
                  <a:srgbClr val="FF0000"/>
                </a:solidFill>
              </a:rPr>
              <a:t>“How small a thing can I see?”</a:t>
            </a:r>
          </a:p>
          <a:p>
            <a:pPr marL="0" indent="0">
              <a:buNone/>
            </a:pPr>
            <a:endParaRPr lang="en-US" sz="2400" b="1"/>
          </a:p>
          <a:p>
            <a:pPr marL="0" indent="0">
              <a:buNone/>
            </a:pPr>
            <a:r>
              <a:rPr lang="en-US" sz="2400" b="1">
                <a:solidFill>
                  <a:srgbClr val="00B050"/>
                </a:solidFill>
              </a:rPr>
              <a:t>2) Spectral resolution</a:t>
            </a:r>
          </a:p>
          <a:p>
            <a:pPr marL="0" indent="0">
              <a:buNone/>
            </a:pPr>
            <a:r>
              <a:rPr lang="en-US" sz="2400" b="1">
                <a:solidFill>
                  <a:srgbClr val="00B050"/>
                </a:solidFill>
              </a:rPr>
              <a:t>	</a:t>
            </a:r>
            <a:r>
              <a:rPr lang="en-US" sz="2400" b="1">
                <a:solidFill>
                  <a:srgbClr val="00B050"/>
                </a:solidFill>
                <a:sym typeface="Wingdings" panose="05000000000000000000" pitchFamily="2" charset="2"/>
              </a:rPr>
              <a:t> </a:t>
            </a:r>
            <a:r>
              <a:rPr lang="en-US" sz="2400" b="1">
                <a:solidFill>
                  <a:srgbClr val="00B050"/>
                </a:solidFill>
              </a:rPr>
              <a:t>“Which wavelengths can I separate?”</a:t>
            </a:r>
          </a:p>
          <a:p>
            <a:pPr marL="0" indent="0">
              <a:buNone/>
            </a:pPr>
            <a:endParaRPr lang="en-US" sz="2400" b="1"/>
          </a:p>
          <a:p>
            <a:pPr marL="0" indent="0">
              <a:buNone/>
            </a:pPr>
            <a:r>
              <a:rPr lang="en-US" sz="2400" b="1">
                <a:solidFill>
                  <a:srgbClr val="0070C0"/>
                </a:solidFill>
              </a:rPr>
              <a:t>3) Radiance/Radiometric resolution </a:t>
            </a:r>
          </a:p>
          <a:p>
            <a:pPr marL="0" indent="0">
              <a:buNone/>
            </a:pPr>
            <a:r>
              <a:rPr lang="en-US" sz="2400" b="1">
                <a:solidFill>
                  <a:srgbClr val="0070C0"/>
                </a:solidFill>
              </a:rPr>
              <a:t>	</a:t>
            </a:r>
            <a:r>
              <a:rPr lang="en-US" sz="2400" b="1">
                <a:solidFill>
                  <a:srgbClr val="0070C0"/>
                </a:solidFill>
                <a:sym typeface="Wingdings" panose="05000000000000000000" pitchFamily="2" charset="2"/>
              </a:rPr>
              <a:t> </a:t>
            </a:r>
            <a:r>
              <a:rPr lang="en-US" sz="2400" b="1">
                <a:solidFill>
                  <a:srgbClr val="0070C0"/>
                </a:solidFill>
              </a:rPr>
              <a:t>“How finely can I grade brightness?”</a:t>
            </a:r>
          </a:p>
          <a:p>
            <a:pPr marL="0" indent="0">
              <a:buNone/>
            </a:pPr>
            <a:endParaRPr lang="en-US" sz="2400" b="1"/>
          </a:p>
          <a:p>
            <a:pPr marL="0" indent="0">
              <a:buNone/>
            </a:pPr>
            <a:r>
              <a:rPr lang="en-US" sz="2400" b="1">
                <a:solidFill>
                  <a:srgbClr val="7030A0"/>
                </a:solidFill>
              </a:rPr>
              <a:t>4) Temporal resolution</a:t>
            </a:r>
          </a:p>
          <a:p>
            <a:pPr marL="0" indent="0">
              <a:buNone/>
            </a:pPr>
            <a:r>
              <a:rPr lang="en-US" sz="2400" b="1">
                <a:solidFill>
                  <a:srgbClr val="7030A0"/>
                </a:solidFill>
              </a:rPr>
              <a:t>	</a:t>
            </a:r>
            <a:r>
              <a:rPr lang="en-US" sz="2400" b="1">
                <a:solidFill>
                  <a:srgbClr val="7030A0"/>
                </a:solidFill>
                <a:sym typeface="Wingdings" panose="05000000000000000000" pitchFamily="2" charset="2"/>
              </a:rPr>
              <a:t> </a:t>
            </a:r>
            <a:r>
              <a:rPr lang="en-US" sz="2400" b="1">
                <a:solidFill>
                  <a:srgbClr val="7030A0"/>
                </a:solidFill>
              </a:rPr>
              <a:t>“How often can I sample in time?”</a:t>
            </a:r>
          </a:p>
        </p:txBody>
      </p:sp>
      <p:sp>
        <p:nvSpPr>
          <p:cNvPr id="4" name="Slide Number Placeholder 3">
            <a:extLst>
              <a:ext uri="{FF2B5EF4-FFF2-40B4-BE49-F238E27FC236}">
                <a16:creationId xmlns:a16="http://schemas.microsoft.com/office/drawing/2014/main" id="{2E5DE9CD-B2A0-9C2B-DBB3-2D7D1785215E}"/>
              </a:ext>
            </a:extLst>
          </p:cNvPr>
          <p:cNvSpPr>
            <a:spLocks noGrp="1"/>
          </p:cNvSpPr>
          <p:nvPr>
            <p:ph type="sldNum" sz="quarter" idx="12"/>
          </p:nvPr>
        </p:nvSpPr>
        <p:spPr/>
        <p:txBody>
          <a:bodyPr/>
          <a:lstStyle/>
          <a:p>
            <a:fld id="{9A3029B7-FE6B-4680-9049-80E8298A0825}" type="slidenum">
              <a:rPr lang="en-US" smtClean="0"/>
              <a:t>14</a:t>
            </a:fld>
            <a:endParaRPr lang="en-US"/>
          </a:p>
        </p:txBody>
      </p:sp>
      <p:sp>
        <p:nvSpPr>
          <p:cNvPr id="5" name="Rectangle 4">
            <a:extLst>
              <a:ext uri="{FF2B5EF4-FFF2-40B4-BE49-F238E27FC236}">
                <a16:creationId xmlns:a16="http://schemas.microsoft.com/office/drawing/2014/main" id="{CF004170-ECF1-30F3-60B6-3EC9C3BF5248}"/>
              </a:ext>
            </a:extLst>
          </p:cNvPr>
          <p:cNvSpPr/>
          <p:nvPr/>
        </p:nvSpPr>
        <p:spPr>
          <a:xfrm>
            <a:off x="304621" y="1120139"/>
            <a:ext cx="6057900" cy="93726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11696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D1DA3-C095-153D-1C48-E45F8074EF6E}"/>
              </a:ext>
            </a:extLst>
          </p:cNvPr>
          <p:cNvSpPr>
            <a:spLocks noGrp="1"/>
          </p:cNvSpPr>
          <p:nvPr>
            <p:ph type="title"/>
          </p:nvPr>
        </p:nvSpPr>
        <p:spPr/>
        <p:txBody>
          <a:bodyPr/>
          <a:lstStyle/>
          <a:p>
            <a:r>
              <a:rPr lang="en-US">
                <a:solidFill>
                  <a:srgbClr val="FF0000"/>
                </a:solidFill>
              </a:rPr>
              <a:t>Spatial Resolution</a:t>
            </a:r>
          </a:p>
        </p:txBody>
      </p:sp>
      <p:sp>
        <p:nvSpPr>
          <p:cNvPr id="3" name="Content Placeholder 2">
            <a:extLst>
              <a:ext uri="{FF2B5EF4-FFF2-40B4-BE49-F238E27FC236}">
                <a16:creationId xmlns:a16="http://schemas.microsoft.com/office/drawing/2014/main" id="{92DA1159-B8A7-44EE-82D2-416886175989}"/>
              </a:ext>
            </a:extLst>
          </p:cNvPr>
          <p:cNvSpPr>
            <a:spLocks noGrp="1"/>
          </p:cNvSpPr>
          <p:nvPr>
            <p:ph idx="1"/>
          </p:nvPr>
        </p:nvSpPr>
        <p:spPr>
          <a:xfrm>
            <a:off x="175490" y="967387"/>
            <a:ext cx="8793015" cy="1013813"/>
          </a:xfrm>
        </p:spPr>
        <p:txBody>
          <a:bodyPr>
            <a:normAutofit lnSpcReduction="10000"/>
          </a:bodyPr>
          <a:lstStyle/>
          <a:p>
            <a:pPr marL="0" indent="0">
              <a:buNone/>
            </a:pPr>
            <a:r>
              <a:rPr lang="en-US" sz="2000"/>
              <a:t>Smallest separable detail in space (fine texture, thin lines).</a:t>
            </a:r>
          </a:p>
          <a:p>
            <a:r>
              <a:rPr lang="en-US" sz="2000" b="1"/>
              <a:t>Limited by:</a:t>
            </a:r>
            <a:r>
              <a:rPr lang="en-US" sz="2000"/>
              <a:t> </a:t>
            </a:r>
            <a:r>
              <a:rPr lang="en-US" sz="2000" b="1">
                <a:solidFill>
                  <a:srgbClr val="00B0F0"/>
                </a:solidFill>
              </a:rPr>
              <a:t>Diffraction</a:t>
            </a:r>
            <a:r>
              <a:rPr lang="en-US" sz="2000" b="1"/>
              <a:t>, </a:t>
            </a:r>
            <a:r>
              <a:rPr lang="en-US" sz="2000" b="1">
                <a:solidFill>
                  <a:srgbClr val="00B0F0"/>
                </a:solidFill>
              </a:rPr>
              <a:t>pixel size</a:t>
            </a:r>
            <a:r>
              <a:rPr lang="en-US" sz="2000" b="1"/>
              <a:t>, </a:t>
            </a:r>
            <a:r>
              <a:rPr lang="en-US" sz="2000"/>
              <a:t>focal length, focus/aberrations, motion blur.</a:t>
            </a:r>
          </a:p>
        </p:txBody>
      </p:sp>
      <p:sp>
        <p:nvSpPr>
          <p:cNvPr id="4" name="Slide Number Placeholder 3">
            <a:extLst>
              <a:ext uri="{FF2B5EF4-FFF2-40B4-BE49-F238E27FC236}">
                <a16:creationId xmlns:a16="http://schemas.microsoft.com/office/drawing/2014/main" id="{28E9F1B0-86E7-4942-5A65-54C320C3D0D9}"/>
              </a:ext>
            </a:extLst>
          </p:cNvPr>
          <p:cNvSpPr>
            <a:spLocks noGrp="1"/>
          </p:cNvSpPr>
          <p:nvPr>
            <p:ph type="sldNum" sz="quarter" idx="12"/>
          </p:nvPr>
        </p:nvSpPr>
        <p:spPr/>
        <p:txBody>
          <a:bodyPr/>
          <a:lstStyle/>
          <a:p>
            <a:fld id="{9A3029B7-FE6B-4680-9049-80E8298A0825}" type="slidenum">
              <a:rPr lang="en-US" smtClean="0"/>
              <a:t>15</a:t>
            </a:fld>
            <a:endParaRPr lang="en-US"/>
          </a:p>
        </p:txBody>
      </p:sp>
      <p:pic>
        <p:nvPicPr>
          <p:cNvPr id="6" name="Picture 5">
            <a:extLst>
              <a:ext uri="{FF2B5EF4-FFF2-40B4-BE49-F238E27FC236}">
                <a16:creationId xmlns:a16="http://schemas.microsoft.com/office/drawing/2014/main" id="{A802738A-84F4-FA1D-CC39-3471CB893BB4}"/>
              </a:ext>
            </a:extLst>
          </p:cNvPr>
          <p:cNvPicPr>
            <a:picLocks noChangeAspect="1"/>
          </p:cNvPicPr>
          <p:nvPr/>
        </p:nvPicPr>
        <p:blipFill>
          <a:blip r:embed="rId2"/>
          <a:stretch>
            <a:fillRect/>
          </a:stretch>
        </p:blipFill>
        <p:spPr>
          <a:xfrm>
            <a:off x="1397245" y="3724955"/>
            <a:ext cx="6329614" cy="2303692"/>
          </a:xfrm>
          <a:prstGeom prst="rect">
            <a:avLst/>
          </a:prstGeom>
        </p:spPr>
      </p:pic>
      <p:pic>
        <p:nvPicPr>
          <p:cNvPr id="4098" name="Picture 2" descr="Types of Resolution in Remote Sensing - Pan Geography">
            <a:extLst>
              <a:ext uri="{FF2B5EF4-FFF2-40B4-BE49-F238E27FC236}">
                <a16:creationId xmlns:a16="http://schemas.microsoft.com/office/drawing/2014/main" id="{540E55F9-C6A3-A1F3-0A1A-CE530EF40CF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924"/>
          <a:stretch>
            <a:fillRect/>
          </a:stretch>
        </p:blipFill>
        <p:spPr bwMode="auto">
          <a:xfrm>
            <a:off x="1483390" y="1958594"/>
            <a:ext cx="6157325" cy="176941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50A4C3EC-7BE5-1EEC-93BB-0D937C4A171F}"/>
              </a:ext>
            </a:extLst>
          </p:cNvPr>
          <p:cNvSpPr txBox="1"/>
          <p:nvPr/>
        </p:nvSpPr>
        <p:spPr>
          <a:xfrm>
            <a:off x="175490" y="6078483"/>
            <a:ext cx="8922146" cy="646331"/>
          </a:xfrm>
          <a:prstGeom prst="rect">
            <a:avLst/>
          </a:prstGeom>
          <a:noFill/>
        </p:spPr>
        <p:txBody>
          <a:bodyPr wrap="square">
            <a:spAutoFit/>
          </a:bodyPr>
          <a:lstStyle/>
          <a:p>
            <a:pPr marL="285750" indent="-285750">
              <a:buFont typeface="Arial" panose="020B0604020202020204" pitchFamily="34" charset="0"/>
              <a:buChar char="•"/>
            </a:pPr>
            <a:r>
              <a:rPr lang="en-US" b="1">
                <a:latin typeface="Segoe UI" panose="020B0502040204020203" pitchFamily="34" charset="0"/>
                <a:cs typeface="Segoe UI" panose="020B0502040204020203" pitchFamily="34" charset="0"/>
              </a:rPr>
              <a:t>How to improve it:</a:t>
            </a:r>
            <a:r>
              <a:rPr lang="en-US">
                <a:latin typeface="Segoe UI" panose="020B0502040204020203" pitchFamily="34" charset="0"/>
                <a:cs typeface="Segoe UI" panose="020B0502040204020203" pitchFamily="34" charset="0"/>
              </a:rPr>
              <a:t> Longer focal length, closer standoff, smaller pixels, lower f-number, better optics, shorter exposure/less motion.</a:t>
            </a:r>
          </a:p>
        </p:txBody>
      </p:sp>
    </p:spTree>
    <p:extLst>
      <p:ext uri="{BB962C8B-B14F-4D97-AF65-F5344CB8AC3E}">
        <p14:creationId xmlns:p14="http://schemas.microsoft.com/office/powerpoint/2010/main" val="1981942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7CAB7-D307-EB32-180B-633F68C71474}"/>
              </a:ext>
            </a:extLst>
          </p:cNvPr>
          <p:cNvSpPr>
            <a:spLocks noGrp="1"/>
          </p:cNvSpPr>
          <p:nvPr>
            <p:ph type="title"/>
          </p:nvPr>
        </p:nvSpPr>
        <p:spPr/>
        <p:txBody>
          <a:bodyPr/>
          <a:lstStyle/>
          <a:p>
            <a:r>
              <a:rPr lang="en-US">
                <a:solidFill>
                  <a:srgbClr val="FF0000"/>
                </a:solidFill>
              </a:rPr>
              <a:t>Spatial Resolution (2)</a:t>
            </a:r>
            <a:endParaRPr lang="en-US"/>
          </a:p>
        </p:txBody>
      </p:sp>
      <p:sp>
        <p:nvSpPr>
          <p:cNvPr id="4" name="Slide Number Placeholder 3">
            <a:extLst>
              <a:ext uri="{FF2B5EF4-FFF2-40B4-BE49-F238E27FC236}">
                <a16:creationId xmlns:a16="http://schemas.microsoft.com/office/drawing/2014/main" id="{411B7FF3-268D-FAE2-26FD-E2E2A87814C0}"/>
              </a:ext>
            </a:extLst>
          </p:cNvPr>
          <p:cNvSpPr>
            <a:spLocks noGrp="1"/>
          </p:cNvSpPr>
          <p:nvPr>
            <p:ph type="sldNum" sz="quarter" idx="12"/>
          </p:nvPr>
        </p:nvSpPr>
        <p:spPr/>
        <p:txBody>
          <a:bodyPr/>
          <a:lstStyle/>
          <a:p>
            <a:fld id="{9A3029B7-FE6B-4680-9049-80E8298A0825}" type="slidenum">
              <a:rPr lang="en-US" smtClean="0"/>
              <a:t>16</a:t>
            </a:fld>
            <a:endParaRPr lang="en-US"/>
          </a:p>
        </p:txBody>
      </p:sp>
      <p:pic>
        <p:nvPicPr>
          <p:cNvPr id="8194" name="Picture 2" descr="This infographic provides information about different spatial resolutions that Earth observation are formatted in, with scaled examples in equivalent metric and degree units.">
            <a:extLst>
              <a:ext uri="{FF2B5EF4-FFF2-40B4-BE49-F238E27FC236}">
                <a16:creationId xmlns:a16="http://schemas.microsoft.com/office/drawing/2014/main" id="{1EA939C3-3411-0BBC-94DC-102360B9DA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57811"/>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583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A6A9D-1266-FA08-F2A8-7EE29D5A0F95}"/>
              </a:ext>
            </a:extLst>
          </p:cNvPr>
          <p:cNvSpPr>
            <a:spLocks noGrp="1"/>
          </p:cNvSpPr>
          <p:nvPr>
            <p:ph type="title"/>
          </p:nvPr>
        </p:nvSpPr>
        <p:spPr/>
        <p:txBody>
          <a:bodyPr/>
          <a:lstStyle/>
          <a:p>
            <a:r>
              <a:rPr lang="en-US">
                <a:solidFill>
                  <a:srgbClr val="FF0000"/>
                </a:solidFill>
              </a:rPr>
              <a:t>Spatial Resolution (3)</a:t>
            </a:r>
            <a:endParaRPr lang="en-US"/>
          </a:p>
        </p:txBody>
      </p:sp>
      <p:sp>
        <p:nvSpPr>
          <p:cNvPr id="4" name="Slide Number Placeholder 3">
            <a:extLst>
              <a:ext uri="{FF2B5EF4-FFF2-40B4-BE49-F238E27FC236}">
                <a16:creationId xmlns:a16="http://schemas.microsoft.com/office/drawing/2014/main" id="{0FEE7037-23A7-40DC-3D9C-188224C6811B}"/>
              </a:ext>
            </a:extLst>
          </p:cNvPr>
          <p:cNvSpPr>
            <a:spLocks noGrp="1"/>
          </p:cNvSpPr>
          <p:nvPr>
            <p:ph type="sldNum" sz="quarter" idx="12"/>
          </p:nvPr>
        </p:nvSpPr>
        <p:spPr/>
        <p:txBody>
          <a:bodyPr/>
          <a:lstStyle/>
          <a:p>
            <a:fld id="{9A3029B7-FE6B-4680-9049-80E8298A0825}" type="slidenum">
              <a:rPr lang="en-US" smtClean="0"/>
              <a:t>17</a:t>
            </a:fld>
            <a:endParaRPr lang="en-US"/>
          </a:p>
        </p:txBody>
      </p:sp>
      <p:pic>
        <p:nvPicPr>
          <p:cNvPr id="10242" name="Picture 2" descr="spatial_resolution">
            <a:extLst>
              <a:ext uri="{FF2B5EF4-FFF2-40B4-BE49-F238E27FC236}">
                <a16:creationId xmlns:a16="http://schemas.microsoft.com/office/drawing/2014/main" id="{0D2D6EB5-12ED-643A-3E08-CFD132079D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47750"/>
            <a:ext cx="9144000" cy="5080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7915C61-0432-E3FB-F21E-666B8F708D42}"/>
              </a:ext>
            </a:extLst>
          </p:cNvPr>
          <p:cNvSpPr txBox="1"/>
          <p:nvPr/>
        </p:nvSpPr>
        <p:spPr>
          <a:xfrm>
            <a:off x="-83126" y="6172994"/>
            <a:ext cx="9369630" cy="1200329"/>
          </a:xfrm>
          <a:prstGeom prst="rect">
            <a:avLst/>
          </a:prstGeom>
          <a:noFill/>
        </p:spPr>
        <p:txBody>
          <a:bodyPr wrap="square">
            <a:spAutoFit/>
          </a:bodyPr>
          <a:lstStyle/>
          <a:p>
            <a:pPr algn="l">
              <a:buNone/>
            </a:pPr>
            <a:r>
              <a:rPr lang="en-US" b="0" i="0">
                <a:solidFill>
                  <a:srgbClr val="2E2E32"/>
                </a:solidFill>
                <a:effectLst/>
                <a:latin typeface="Public Sans"/>
              </a:rPr>
              <a:t>Landsat 8 image of Reykjavik, Iceland, acquired July 7, 2019, illustrating the difference in pixel resolution. Credit: NASA Earth Observatory.</a:t>
            </a:r>
          </a:p>
          <a:p>
            <a:pPr>
              <a:buNone/>
            </a:pPr>
            <a:br>
              <a:rPr lang="en-US" b="0" i="0">
                <a:solidFill>
                  <a:srgbClr val="2E2E32"/>
                </a:solidFill>
                <a:effectLst/>
                <a:latin typeface="Public Sans"/>
              </a:rPr>
            </a:br>
            <a:endParaRPr lang="en-US"/>
          </a:p>
        </p:txBody>
      </p:sp>
    </p:spTree>
    <p:extLst>
      <p:ext uri="{BB962C8B-B14F-4D97-AF65-F5344CB8AC3E}">
        <p14:creationId xmlns:p14="http://schemas.microsoft.com/office/powerpoint/2010/main" val="3760885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6990D-9672-A650-AEF8-DDB92A64C6C4}"/>
              </a:ext>
            </a:extLst>
          </p:cNvPr>
          <p:cNvSpPr>
            <a:spLocks noGrp="1"/>
          </p:cNvSpPr>
          <p:nvPr>
            <p:ph type="title"/>
          </p:nvPr>
        </p:nvSpPr>
        <p:spPr/>
        <p:txBody>
          <a:bodyPr/>
          <a:lstStyle/>
          <a:p>
            <a:r>
              <a:rPr lang="en-US">
                <a:solidFill>
                  <a:srgbClr val="FF0000"/>
                </a:solidFill>
              </a:rPr>
              <a:t>Spatial Resolution (4)</a:t>
            </a:r>
          </a:p>
        </p:txBody>
      </p:sp>
      <p:sp>
        <p:nvSpPr>
          <p:cNvPr id="4" name="Slide Number Placeholder 3">
            <a:extLst>
              <a:ext uri="{FF2B5EF4-FFF2-40B4-BE49-F238E27FC236}">
                <a16:creationId xmlns:a16="http://schemas.microsoft.com/office/drawing/2014/main" id="{1FE63717-CCAB-840B-4DD9-026534443045}"/>
              </a:ext>
            </a:extLst>
          </p:cNvPr>
          <p:cNvSpPr>
            <a:spLocks noGrp="1"/>
          </p:cNvSpPr>
          <p:nvPr>
            <p:ph type="sldNum" sz="quarter" idx="12"/>
          </p:nvPr>
        </p:nvSpPr>
        <p:spPr/>
        <p:txBody>
          <a:bodyPr/>
          <a:lstStyle/>
          <a:p>
            <a:fld id="{9A3029B7-FE6B-4680-9049-80E8298A0825}" type="slidenum">
              <a:rPr lang="en-US" smtClean="0"/>
              <a:t>18</a:t>
            </a:fld>
            <a:endParaRPr lang="en-US"/>
          </a:p>
        </p:txBody>
      </p:sp>
      <p:pic>
        <p:nvPicPr>
          <p:cNvPr id="6" name="Picture 5">
            <a:extLst>
              <a:ext uri="{FF2B5EF4-FFF2-40B4-BE49-F238E27FC236}">
                <a16:creationId xmlns:a16="http://schemas.microsoft.com/office/drawing/2014/main" id="{65870ACA-C4EC-A52E-16E7-DD44106E8665}"/>
              </a:ext>
            </a:extLst>
          </p:cNvPr>
          <p:cNvPicPr>
            <a:picLocks noChangeAspect="1"/>
          </p:cNvPicPr>
          <p:nvPr/>
        </p:nvPicPr>
        <p:blipFill>
          <a:blip r:embed="rId2"/>
          <a:stretch>
            <a:fillRect/>
          </a:stretch>
        </p:blipFill>
        <p:spPr>
          <a:xfrm>
            <a:off x="1240865" y="992648"/>
            <a:ext cx="6662269" cy="5850838"/>
          </a:xfrm>
          <a:prstGeom prst="rect">
            <a:avLst/>
          </a:prstGeom>
        </p:spPr>
      </p:pic>
    </p:spTree>
    <p:extLst>
      <p:ext uri="{BB962C8B-B14F-4D97-AF65-F5344CB8AC3E}">
        <p14:creationId xmlns:p14="http://schemas.microsoft.com/office/powerpoint/2010/main" val="27972424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6962F-E433-D4A2-E326-67599DA32C9B}"/>
              </a:ext>
            </a:extLst>
          </p:cNvPr>
          <p:cNvSpPr>
            <a:spLocks noGrp="1"/>
          </p:cNvSpPr>
          <p:nvPr>
            <p:ph type="title"/>
          </p:nvPr>
        </p:nvSpPr>
        <p:spPr/>
        <p:txBody>
          <a:bodyPr/>
          <a:lstStyle/>
          <a:p>
            <a:r>
              <a:rPr lang="en-US">
                <a:solidFill>
                  <a:srgbClr val="FF0000"/>
                </a:solidFill>
              </a:rPr>
              <a:t>Spatial Resolution: </a:t>
            </a:r>
            <a:r>
              <a:rPr lang="en-US"/>
              <a:t>Diffraction Resolution</a:t>
            </a:r>
          </a:p>
        </p:txBody>
      </p:sp>
      <p:sp>
        <p:nvSpPr>
          <p:cNvPr id="3" name="Content Placeholder 2">
            <a:extLst>
              <a:ext uri="{FF2B5EF4-FFF2-40B4-BE49-F238E27FC236}">
                <a16:creationId xmlns:a16="http://schemas.microsoft.com/office/drawing/2014/main" id="{8BCB4F46-EC29-B459-566F-79A5443EA893}"/>
              </a:ext>
            </a:extLst>
          </p:cNvPr>
          <p:cNvSpPr>
            <a:spLocks noGrp="1"/>
          </p:cNvSpPr>
          <p:nvPr>
            <p:ph idx="1"/>
          </p:nvPr>
        </p:nvSpPr>
        <p:spPr>
          <a:xfrm>
            <a:off x="200025" y="1002507"/>
            <a:ext cx="8793015" cy="2780824"/>
          </a:xfrm>
        </p:spPr>
        <p:txBody>
          <a:bodyPr>
            <a:normAutofit/>
          </a:bodyPr>
          <a:lstStyle/>
          <a:p>
            <a:pPr marL="0" indent="0">
              <a:buNone/>
            </a:pPr>
            <a:r>
              <a:rPr lang="en-US" sz="2400"/>
              <a:t>When a photon hits the camera detector, it is not collected at a single point due to wave-like properties of photons. </a:t>
            </a:r>
          </a:p>
          <a:p>
            <a:r>
              <a:rPr lang="en-US" sz="2400"/>
              <a:t>The photon’s energy is spread out on the detector in a pattern called an </a:t>
            </a:r>
            <a:r>
              <a:rPr lang="en-US" sz="2400" b="1"/>
              <a:t>Airy disk</a:t>
            </a:r>
            <a:r>
              <a:rPr lang="en-US" sz="2400"/>
              <a:t>. </a:t>
            </a:r>
          </a:p>
          <a:p>
            <a:r>
              <a:rPr lang="en-US" sz="2400"/>
              <a:t>This spreading of energy limits resolution.</a:t>
            </a:r>
          </a:p>
        </p:txBody>
      </p:sp>
      <p:sp>
        <p:nvSpPr>
          <p:cNvPr id="4" name="Slide Number Placeholder 3">
            <a:extLst>
              <a:ext uri="{FF2B5EF4-FFF2-40B4-BE49-F238E27FC236}">
                <a16:creationId xmlns:a16="http://schemas.microsoft.com/office/drawing/2014/main" id="{A044E0E9-522C-3377-5D58-901B50604B42}"/>
              </a:ext>
            </a:extLst>
          </p:cNvPr>
          <p:cNvSpPr>
            <a:spLocks noGrp="1"/>
          </p:cNvSpPr>
          <p:nvPr>
            <p:ph type="sldNum" sz="quarter" idx="12"/>
          </p:nvPr>
        </p:nvSpPr>
        <p:spPr/>
        <p:txBody>
          <a:bodyPr/>
          <a:lstStyle/>
          <a:p>
            <a:fld id="{9A3029B7-FE6B-4680-9049-80E8298A0825}" type="slidenum">
              <a:rPr lang="en-US" smtClean="0"/>
              <a:t>19</a:t>
            </a:fld>
            <a:endParaRPr lang="en-US"/>
          </a:p>
        </p:txBody>
      </p:sp>
      <p:pic>
        <p:nvPicPr>
          <p:cNvPr id="1026" name="Picture 2" descr="A Closer Look at Lens Diffraction | Fstoppers">
            <a:extLst>
              <a:ext uri="{FF2B5EF4-FFF2-40B4-BE49-F238E27FC236}">
                <a16:creationId xmlns:a16="http://schemas.microsoft.com/office/drawing/2014/main" id="{40CE1217-811A-0DFA-3756-807C2F51F0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960" y="3527222"/>
            <a:ext cx="4543425" cy="255646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42CC3FD1-EEEA-8972-2C04-DF5F0E92B8EC}"/>
              </a:ext>
            </a:extLst>
          </p:cNvPr>
          <p:cNvPicPr>
            <a:picLocks noChangeAspect="1"/>
          </p:cNvPicPr>
          <p:nvPr/>
        </p:nvPicPr>
        <p:blipFill>
          <a:blip r:embed="rId4"/>
          <a:srcRect t="51313"/>
          <a:stretch>
            <a:fillRect/>
          </a:stretch>
        </p:blipFill>
        <p:spPr>
          <a:xfrm>
            <a:off x="4789062" y="5023276"/>
            <a:ext cx="4354938" cy="1195876"/>
          </a:xfrm>
          <a:prstGeom prst="rect">
            <a:avLst/>
          </a:prstGeom>
        </p:spPr>
      </p:pic>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47C7B225-39F6-1328-6257-2AA78ACCDF18}"/>
                  </a:ext>
                </a:extLst>
              </p:cNvPr>
              <p:cNvSpPr txBox="1"/>
              <p:nvPr/>
            </p:nvSpPr>
            <p:spPr>
              <a:xfrm>
                <a:off x="5609664" y="3685966"/>
                <a:ext cx="2304798" cy="101835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smtClean="0">
                              <a:latin typeface="Cambria Math" panose="02040503050406030204" pitchFamily="18" charset="0"/>
                            </a:rPr>
                          </m:ctrlPr>
                        </m:sSubPr>
                        <m:e>
                          <m:r>
                            <a:rPr lang="en-US" sz="3200" b="0" i="1" smtClean="0">
                              <a:latin typeface="Cambria Math" panose="02040503050406030204" pitchFamily="18" charset="0"/>
                            </a:rPr>
                            <m:t>𝑅</m:t>
                          </m:r>
                        </m:e>
                        <m:sub>
                          <m:r>
                            <a:rPr lang="en-US" sz="3200" b="0" i="1" smtClean="0">
                              <a:latin typeface="Cambria Math" panose="02040503050406030204" pitchFamily="18" charset="0"/>
                            </a:rPr>
                            <m:t>𝑑</m:t>
                          </m:r>
                        </m:sub>
                      </m:sSub>
                      <m:r>
                        <a:rPr lang="en-US" sz="3200" b="0" i="1" smtClean="0">
                          <a:latin typeface="Cambria Math" panose="02040503050406030204" pitchFamily="18" charset="0"/>
                        </a:rPr>
                        <m:t>=</m:t>
                      </m:r>
                      <m:f>
                        <m:fPr>
                          <m:ctrlPr>
                            <a:rPr lang="en-US" sz="3200" i="1" smtClean="0">
                              <a:latin typeface="Cambria Math" panose="02040503050406030204" pitchFamily="18" charset="0"/>
                            </a:rPr>
                          </m:ctrlPr>
                        </m:fPr>
                        <m:num>
                          <m:r>
                            <a:rPr lang="en-US" sz="3200" b="0" i="1" smtClean="0">
                              <a:latin typeface="Cambria Math" panose="02040503050406030204" pitchFamily="18" charset="0"/>
                            </a:rPr>
                            <m:t>2.44</m:t>
                          </m:r>
                          <m:r>
                            <a:rPr lang="en-US" sz="3200" b="0" i="1" smtClean="0">
                              <a:latin typeface="Cambria Math" panose="02040503050406030204" pitchFamily="18" charset="0"/>
                            </a:rPr>
                            <m:t>𝜆</m:t>
                          </m:r>
                          <m:r>
                            <a:rPr lang="en-US" sz="3200" b="0" i="1" smtClean="0">
                              <a:latin typeface="Cambria Math" panose="02040503050406030204" pitchFamily="18" charset="0"/>
                            </a:rPr>
                            <m:t>h</m:t>
                          </m:r>
                        </m:num>
                        <m:den>
                          <m:sSub>
                            <m:sSubPr>
                              <m:ctrlPr>
                                <a:rPr lang="en-US" sz="3200" i="1" smtClean="0">
                                  <a:latin typeface="Cambria Math" panose="02040503050406030204" pitchFamily="18" charset="0"/>
                                </a:rPr>
                              </m:ctrlPr>
                            </m:sSubPr>
                            <m:e>
                              <m:r>
                                <a:rPr lang="en-US" sz="3200" b="0" i="1" smtClean="0">
                                  <a:latin typeface="Cambria Math" panose="02040503050406030204" pitchFamily="18" charset="0"/>
                                </a:rPr>
                                <m:t>𝐷</m:t>
                              </m:r>
                            </m:e>
                            <m:sub>
                              <m:r>
                                <a:rPr lang="en-US" sz="3200" b="0" i="1" smtClean="0">
                                  <a:latin typeface="Cambria Math" panose="02040503050406030204" pitchFamily="18" charset="0"/>
                                </a:rPr>
                                <m:t>𝑎</m:t>
                              </m:r>
                            </m:sub>
                          </m:sSub>
                        </m:den>
                      </m:f>
                    </m:oMath>
                  </m:oMathPara>
                </a14:m>
                <a:endParaRPr lang="en-US"/>
              </a:p>
            </p:txBody>
          </p:sp>
        </mc:Choice>
        <mc:Fallback>
          <p:sp>
            <p:nvSpPr>
              <p:cNvPr id="7" name="TextBox 6">
                <a:extLst>
                  <a:ext uri="{FF2B5EF4-FFF2-40B4-BE49-F238E27FC236}">
                    <a16:creationId xmlns:a16="http://schemas.microsoft.com/office/drawing/2014/main" id="{47C7B225-39F6-1328-6257-2AA78ACCDF18}"/>
                  </a:ext>
                </a:extLst>
              </p:cNvPr>
              <p:cNvSpPr txBox="1">
                <a:spLocks noRot="1" noChangeAspect="1" noMove="1" noResize="1" noEditPoints="1" noAdjustHandles="1" noChangeArrowheads="1" noChangeShapeType="1" noTextEdit="1"/>
              </p:cNvSpPr>
              <p:nvPr/>
            </p:nvSpPr>
            <p:spPr>
              <a:xfrm>
                <a:off x="5609664" y="3685966"/>
                <a:ext cx="2304798" cy="1018356"/>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63673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CABC4-A71A-7A64-6EEC-2948880670F4}"/>
              </a:ext>
            </a:extLst>
          </p:cNvPr>
          <p:cNvSpPr>
            <a:spLocks noGrp="1"/>
          </p:cNvSpPr>
          <p:nvPr>
            <p:ph type="title"/>
          </p:nvPr>
        </p:nvSpPr>
        <p:spPr/>
        <p:txBody>
          <a:bodyPr/>
          <a:lstStyle/>
          <a:p>
            <a:r>
              <a:rPr lang="en-US">
                <a:solidFill>
                  <a:srgbClr val="FF0000"/>
                </a:solidFill>
              </a:rPr>
              <a:t>Spatial Resolution: </a:t>
            </a:r>
            <a:r>
              <a:rPr lang="en-US"/>
              <a:t>Pixel Resolution</a:t>
            </a:r>
          </a:p>
        </p:txBody>
      </p:sp>
      <p:sp>
        <p:nvSpPr>
          <p:cNvPr id="3" name="Content Placeholder 2">
            <a:extLst>
              <a:ext uri="{FF2B5EF4-FFF2-40B4-BE49-F238E27FC236}">
                <a16:creationId xmlns:a16="http://schemas.microsoft.com/office/drawing/2014/main" id="{76D7C388-4378-A3BD-6475-896EDB16B9C9}"/>
              </a:ext>
            </a:extLst>
          </p:cNvPr>
          <p:cNvSpPr>
            <a:spLocks noGrp="1"/>
          </p:cNvSpPr>
          <p:nvPr>
            <p:ph idx="1"/>
          </p:nvPr>
        </p:nvSpPr>
        <p:spPr>
          <a:xfrm>
            <a:off x="175492" y="938375"/>
            <a:ext cx="8793015" cy="5227553"/>
          </a:xfrm>
        </p:spPr>
        <p:txBody>
          <a:bodyPr>
            <a:normAutofit/>
          </a:bodyPr>
          <a:lstStyle/>
          <a:p>
            <a:pPr marL="0" indent="0">
              <a:buNone/>
            </a:pPr>
            <a:r>
              <a:rPr lang="en-US" sz="2400"/>
              <a:t>The number of pixels on a detector also dictate the amount of detail captured </a:t>
            </a:r>
            <a:r>
              <a:rPr lang="en-US" sz="2400">
                <a:sym typeface="Wingdings" panose="05000000000000000000" pitchFamily="2" charset="2"/>
              </a:rPr>
              <a:t> </a:t>
            </a:r>
            <a:r>
              <a:rPr lang="en-US" sz="2400" b="1">
                <a:sym typeface="Wingdings" panose="05000000000000000000" pitchFamily="2" charset="2"/>
              </a:rPr>
              <a:t>Pixel Resolution</a:t>
            </a:r>
            <a:endParaRPr lang="en-US" sz="2400" b="1"/>
          </a:p>
        </p:txBody>
      </p:sp>
      <p:sp>
        <p:nvSpPr>
          <p:cNvPr id="4" name="Slide Number Placeholder 3">
            <a:extLst>
              <a:ext uri="{FF2B5EF4-FFF2-40B4-BE49-F238E27FC236}">
                <a16:creationId xmlns:a16="http://schemas.microsoft.com/office/drawing/2014/main" id="{FF8F7952-3F87-1C1B-9068-1B3E64625FA4}"/>
              </a:ext>
            </a:extLst>
          </p:cNvPr>
          <p:cNvSpPr>
            <a:spLocks noGrp="1"/>
          </p:cNvSpPr>
          <p:nvPr>
            <p:ph type="sldNum" sz="quarter" idx="12"/>
          </p:nvPr>
        </p:nvSpPr>
        <p:spPr/>
        <p:txBody>
          <a:bodyPr/>
          <a:lstStyle/>
          <a:p>
            <a:fld id="{9A3029B7-FE6B-4680-9049-80E8298A0825}" type="slidenum">
              <a:rPr lang="en-US" smtClean="0"/>
              <a:t>20</a:t>
            </a:fld>
            <a:endParaRPr lang="en-US"/>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F25C97C1-5BC1-1CED-9549-526131194C81}"/>
                  </a:ext>
                </a:extLst>
              </p:cNvPr>
              <p:cNvSpPr txBox="1"/>
              <p:nvPr/>
            </p:nvSpPr>
            <p:spPr>
              <a:xfrm>
                <a:off x="1730644" y="4720327"/>
                <a:ext cx="5050870" cy="20439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𝑅</m:t>
                          </m:r>
                        </m:e>
                        <m:sub>
                          <m:r>
                            <a:rPr lang="en-US" sz="2800" b="0" i="1" smtClean="0">
                              <a:latin typeface="Cambria Math" panose="02040503050406030204" pitchFamily="18" charset="0"/>
                            </a:rPr>
                            <m:t>𝑝</m:t>
                          </m:r>
                        </m:sub>
                      </m:sSub>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𝐷</m:t>
                              </m:r>
                            </m:e>
                            <m:sub>
                              <m:r>
                                <a:rPr lang="en-US" sz="2800" b="0" i="1" smtClean="0">
                                  <a:latin typeface="Cambria Math" panose="02040503050406030204" pitchFamily="18" charset="0"/>
                                </a:rPr>
                                <m:t>𝑔</m:t>
                              </m:r>
                            </m:sub>
                          </m:sSub>
                        </m:num>
                        <m:den>
                          <m:r>
                            <a:rPr lang="en-US" sz="2800" b="0" i="1" smtClean="0">
                              <a:latin typeface="Cambria Math" panose="02040503050406030204" pitchFamily="18" charset="0"/>
                            </a:rPr>
                            <m:t>𝑝</m:t>
                          </m:r>
                        </m:den>
                      </m:f>
                    </m:oMath>
                  </m:oMathPara>
                </a14:m>
                <a:endParaRPr lang="en-US"/>
              </a:p>
              <a:p>
                <a:endParaRPr lang="en-US"/>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𝑝</m:t>
                        </m:r>
                        <m:r>
                          <a:rPr lang="en-US" b="0" i="1" smtClean="0">
                            <a:latin typeface="Cambria Math" panose="02040503050406030204" pitchFamily="18" charset="0"/>
                          </a:rPr>
                          <m:t> </m:t>
                        </m:r>
                      </m:sub>
                    </m:sSub>
                  </m:oMath>
                </a14:m>
                <a:r>
                  <a:rPr lang="en-US"/>
                  <a:t>= Pixel Resolution </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𝑔</m:t>
                        </m:r>
                      </m:sub>
                    </m:sSub>
                  </m:oMath>
                </a14:m>
                <a:r>
                  <a:rPr lang="en-US"/>
                  <a:t> = Diameter of subject imaged (AKA swath width)</a:t>
                </a:r>
              </a:p>
              <a:p>
                <a14:m>
                  <m:oMath xmlns:m="http://schemas.openxmlformats.org/officeDocument/2006/math">
                    <m:r>
                      <a:rPr lang="en-US" b="0" i="1" smtClean="0">
                        <a:latin typeface="Cambria Math" panose="02040503050406030204" pitchFamily="18" charset="0"/>
                      </a:rPr>
                      <m:t>𝑝</m:t>
                    </m:r>
                  </m:oMath>
                </a14:m>
                <a:r>
                  <a:rPr lang="en-US"/>
                  <a:t> = Number of pixels across detector</a:t>
                </a:r>
              </a:p>
            </p:txBody>
          </p:sp>
        </mc:Choice>
        <mc:Fallback>
          <p:sp>
            <p:nvSpPr>
              <p:cNvPr id="5" name="TextBox 4">
                <a:extLst>
                  <a:ext uri="{FF2B5EF4-FFF2-40B4-BE49-F238E27FC236}">
                    <a16:creationId xmlns:a16="http://schemas.microsoft.com/office/drawing/2014/main" id="{F25C97C1-5BC1-1CED-9549-526131194C81}"/>
                  </a:ext>
                </a:extLst>
              </p:cNvPr>
              <p:cNvSpPr txBox="1">
                <a:spLocks noRot="1" noChangeAspect="1" noMove="1" noResize="1" noEditPoints="1" noAdjustHandles="1" noChangeArrowheads="1" noChangeShapeType="1" noTextEdit="1"/>
              </p:cNvSpPr>
              <p:nvPr/>
            </p:nvSpPr>
            <p:spPr>
              <a:xfrm>
                <a:off x="1730644" y="4720327"/>
                <a:ext cx="5050870" cy="2043957"/>
              </a:xfrm>
              <a:prstGeom prst="rect">
                <a:avLst/>
              </a:prstGeom>
              <a:blipFill>
                <a:blip r:embed="rId2"/>
                <a:stretch>
                  <a:fillRect l="-1691" b="-5952"/>
                </a:stretch>
              </a:blipFill>
            </p:spPr>
            <p:txBody>
              <a:bodyPr/>
              <a:lstStyle/>
              <a:p>
                <a:r>
                  <a:rPr lang="en-US">
                    <a:noFill/>
                  </a:rPr>
                  <a:t> </a:t>
                </a:r>
              </a:p>
            </p:txBody>
          </p:sp>
        </mc:Fallback>
      </mc:AlternateContent>
      <p:pic>
        <p:nvPicPr>
          <p:cNvPr id="2050" name="Picture 2" descr="Making Sense of Device Resolution &amp; Pixel Density | by Alex Hernandez |  Prototypr">
            <a:extLst>
              <a:ext uri="{FF2B5EF4-FFF2-40B4-BE49-F238E27FC236}">
                <a16:creationId xmlns:a16="http://schemas.microsoft.com/office/drawing/2014/main" id="{96F6E11D-B058-F6D5-E36F-ACE6311A39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7581" y="1876151"/>
            <a:ext cx="7268836" cy="26911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0286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FE1C8-C914-5B4D-FDB9-1679F9487457}"/>
              </a:ext>
            </a:extLst>
          </p:cNvPr>
          <p:cNvSpPr>
            <a:spLocks noGrp="1"/>
          </p:cNvSpPr>
          <p:nvPr>
            <p:ph type="title"/>
          </p:nvPr>
        </p:nvSpPr>
        <p:spPr/>
        <p:txBody>
          <a:bodyPr/>
          <a:lstStyle/>
          <a:p>
            <a:r>
              <a:rPr lang="en-US">
                <a:solidFill>
                  <a:srgbClr val="FF0000"/>
                </a:solidFill>
              </a:rPr>
              <a:t>Spatial Resolution: </a:t>
            </a:r>
            <a:r>
              <a:rPr lang="en-US"/>
              <a:t>Resolution Limitation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750C2F3-AC49-0BCA-3574-8593BF5B6B6D}"/>
                  </a:ext>
                </a:extLst>
              </p:cNvPr>
              <p:cNvSpPr>
                <a:spLocks noGrp="1"/>
              </p:cNvSpPr>
              <p:nvPr>
                <p:ph idx="1"/>
              </p:nvPr>
            </p:nvSpPr>
            <p:spPr/>
            <p:txBody>
              <a:bodyPr>
                <a:normAutofit/>
              </a:bodyPr>
              <a:lstStyle/>
              <a:p>
                <a:pPr marL="0" indent="0">
                  <a:buNone/>
                </a:pPr>
                <a:r>
                  <a:rPr lang="en-US" sz="2400"/>
                  <a:t>If </a:t>
                </a:r>
                <a14:m>
                  <m:oMath xmlns:m="http://schemas.openxmlformats.org/officeDocument/2006/math">
                    <m:sSub>
                      <m:sSubPr>
                        <m:ctrlPr>
                          <a:rPr lang="en-US" sz="2400" b="1" i="1" dirty="0" smtClean="0">
                            <a:latin typeface="Cambria Math" panose="02040503050406030204" pitchFamily="18" charset="0"/>
                          </a:rPr>
                        </m:ctrlPr>
                      </m:sSubPr>
                      <m:e>
                        <m:r>
                          <a:rPr lang="en-US" sz="2400" b="1" i="1" dirty="0" smtClean="0">
                            <a:latin typeface="Cambria Math" panose="02040503050406030204" pitchFamily="18" charset="0"/>
                          </a:rPr>
                          <m:t>𝑹</m:t>
                        </m:r>
                      </m:e>
                      <m:sub>
                        <m:r>
                          <a:rPr lang="en-US" sz="2400" b="1" i="1" dirty="0" smtClean="0">
                            <a:latin typeface="Cambria Math" panose="02040503050406030204" pitchFamily="18" charset="0"/>
                          </a:rPr>
                          <m:t>𝒑</m:t>
                        </m:r>
                      </m:sub>
                    </m:sSub>
                  </m:oMath>
                </a14:m>
                <a:r>
                  <a:rPr lang="en-US" sz="2400" b="1"/>
                  <a:t> &lt; </a:t>
                </a:r>
                <a14:m>
                  <m:oMath xmlns:m="http://schemas.openxmlformats.org/officeDocument/2006/math">
                    <m:sSub>
                      <m:sSubPr>
                        <m:ctrlPr>
                          <a:rPr lang="en-US" sz="2400" b="1" i="1" dirty="0" smtClean="0">
                            <a:latin typeface="Cambria Math" panose="02040503050406030204" pitchFamily="18" charset="0"/>
                          </a:rPr>
                        </m:ctrlPr>
                      </m:sSubPr>
                      <m:e>
                        <m:r>
                          <a:rPr lang="en-US" sz="2400" b="1" i="1" dirty="0" smtClean="0">
                            <a:latin typeface="Cambria Math" panose="02040503050406030204" pitchFamily="18" charset="0"/>
                          </a:rPr>
                          <m:t>𝑹</m:t>
                        </m:r>
                      </m:e>
                      <m:sub>
                        <m:r>
                          <a:rPr lang="en-US" sz="2400" b="1" i="1" dirty="0" smtClean="0">
                            <a:latin typeface="Cambria Math" panose="02040503050406030204" pitchFamily="18" charset="0"/>
                          </a:rPr>
                          <m:t>𝒅</m:t>
                        </m:r>
                      </m:sub>
                    </m:sSub>
                  </m:oMath>
                </a14:m>
                <a:r>
                  <a:rPr lang="en-US" sz="2400" b="1"/>
                  <a:t> </a:t>
                </a:r>
                <a:r>
                  <a:rPr lang="en-US" sz="2400"/>
                  <a:t>then the sensor is </a:t>
                </a:r>
                <a:r>
                  <a:rPr lang="en-US" sz="2400" b="1"/>
                  <a:t>diffraction limited</a:t>
                </a:r>
                <a:r>
                  <a:rPr lang="en-US" sz="2400"/>
                  <a:t>. </a:t>
                </a:r>
              </a:p>
              <a:p>
                <a:pPr marL="0" indent="0">
                  <a:buNone/>
                </a:pPr>
                <a:r>
                  <a:rPr lang="en-US" sz="2400"/>
                  <a:t>If </a:t>
                </a:r>
                <a14:m>
                  <m:oMath xmlns:m="http://schemas.openxmlformats.org/officeDocument/2006/math">
                    <m:sSub>
                      <m:sSubPr>
                        <m:ctrlPr>
                          <a:rPr lang="en-US" sz="2400" b="1" i="1" dirty="0" smtClean="0">
                            <a:latin typeface="Cambria Math" panose="02040503050406030204" pitchFamily="18" charset="0"/>
                          </a:rPr>
                        </m:ctrlPr>
                      </m:sSubPr>
                      <m:e>
                        <m:r>
                          <a:rPr lang="en-US" sz="2400" b="1" i="1" dirty="0" smtClean="0">
                            <a:latin typeface="Cambria Math" panose="02040503050406030204" pitchFamily="18" charset="0"/>
                          </a:rPr>
                          <m:t>𝑹</m:t>
                        </m:r>
                      </m:e>
                      <m:sub>
                        <m:r>
                          <a:rPr lang="en-US" sz="2400" b="1" i="1" dirty="0" smtClean="0">
                            <a:latin typeface="Cambria Math" panose="02040503050406030204" pitchFamily="18" charset="0"/>
                          </a:rPr>
                          <m:t>𝒑</m:t>
                        </m:r>
                      </m:sub>
                    </m:sSub>
                  </m:oMath>
                </a14:m>
                <a:r>
                  <a:rPr lang="en-US" sz="2400" b="1"/>
                  <a:t> &gt; </a:t>
                </a:r>
                <a14:m>
                  <m:oMath xmlns:m="http://schemas.openxmlformats.org/officeDocument/2006/math">
                    <m:sSub>
                      <m:sSubPr>
                        <m:ctrlPr>
                          <a:rPr lang="en-US" sz="2400" b="1" i="1" dirty="0" smtClean="0">
                            <a:latin typeface="Cambria Math" panose="02040503050406030204" pitchFamily="18" charset="0"/>
                          </a:rPr>
                        </m:ctrlPr>
                      </m:sSubPr>
                      <m:e>
                        <m:r>
                          <a:rPr lang="en-US" sz="2400" b="1" i="1" dirty="0" smtClean="0">
                            <a:latin typeface="Cambria Math" panose="02040503050406030204" pitchFamily="18" charset="0"/>
                          </a:rPr>
                          <m:t>𝑹</m:t>
                        </m:r>
                      </m:e>
                      <m:sub>
                        <m:r>
                          <a:rPr lang="en-US" sz="2400" b="1" i="1" dirty="0" smtClean="0">
                            <a:latin typeface="Cambria Math" panose="02040503050406030204" pitchFamily="18" charset="0"/>
                          </a:rPr>
                          <m:t>𝒅</m:t>
                        </m:r>
                      </m:sub>
                    </m:sSub>
                  </m:oMath>
                </a14:m>
                <a:r>
                  <a:rPr lang="en-US" sz="2400" b="1"/>
                  <a:t> </a:t>
                </a:r>
                <a:r>
                  <a:rPr lang="en-US" sz="2400"/>
                  <a:t>then it is </a:t>
                </a:r>
                <a:r>
                  <a:rPr lang="en-US" sz="2400" b="1"/>
                  <a:t>pixel limited</a:t>
                </a:r>
                <a:r>
                  <a:rPr lang="en-US" sz="2400"/>
                  <a:t>.</a:t>
                </a:r>
              </a:p>
            </p:txBody>
          </p:sp>
        </mc:Choice>
        <mc:Fallback>
          <p:sp>
            <p:nvSpPr>
              <p:cNvPr id="3" name="Content Placeholder 2">
                <a:extLst>
                  <a:ext uri="{FF2B5EF4-FFF2-40B4-BE49-F238E27FC236}">
                    <a16:creationId xmlns:a16="http://schemas.microsoft.com/office/drawing/2014/main" id="{F750C2F3-AC49-0BCA-3574-8593BF5B6B6D}"/>
                  </a:ext>
                </a:extLst>
              </p:cNvPr>
              <p:cNvSpPr>
                <a:spLocks noGrp="1" noRot="1" noChangeAspect="1" noMove="1" noResize="1" noEditPoints="1" noAdjustHandles="1" noChangeArrowheads="1" noChangeShapeType="1" noTextEdit="1"/>
              </p:cNvSpPr>
              <p:nvPr>
                <p:ph idx="1"/>
              </p:nvPr>
            </p:nvSpPr>
            <p:spPr>
              <a:blipFill>
                <a:blip r:embed="rId2"/>
                <a:stretch>
                  <a:fillRect l="-1110" t="-151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FAF5188C-D130-DE86-BA10-FA59A9FA8D49}"/>
              </a:ext>
            </a:extLst>
          </p:cNvPr>
          <p:cNvSpPr>
            <a:spLocks noGrp="1"/>
          </p:cNvSpPr>
          <p:nvPr>
            <p:ph type="sldNum" sz="quarter" idx="12"/>
          </p:nvPr>
        </p:nvSpPr>
        <p:spPr/>
        <p:txBody>
          <a:bodyPr/>
          <a:lstStyle/>
          <a:p>
            <a:fld id="{9A3029B7-FE6B-4680-9049-80E8298A0825}" type="slidenum">
              <a:rPr lang="en-US" smtClean="0"/>
              <a:t>21</a:t>
            </a:fld>
            <a:endParaRPr lang="en-US"/>
          </a:p>
        </p:txBody>
      </p:sp>
      <p:pic>
        <p:nvPicPr>
          <p:cNvPr id="6" name="Picture 5">
            <a:extLst>
              <a:ext uri="{FF2B5EF4-FFF2-40B4-BE49-F238E27FC236}">
                <a16:creationId xmlns:a16="http://schemas.microsoft.com/office/drawing/2014/main" id="{224207BF-3584-1D4B-8661-70412B0A6F5C}"/>
              </a:ext>
            </a:extLst>
          </p:cNvPr>
          <p:cNvPicPr>
            <a:picLocks noChangeAspect="1"/>
          </p:cNvPicPr>
          <p:nvPr/>
        </p:nvPicPr>
        <p:blipFill>
          <a:blip r:embed="rId3"/>
          <a:stretch>
            <a:fillRect/>
          </a:stretch>
        </p:blipFill>
        <p:spPr>
          <a:xfrm>
            <a:off x="150960" y="2267888"/>
            <a:ext cx="6870421" cy="2733780"/>
          </a:xfrm>
          <a:prstGeom prst="rect">
            <a:avLst/>
          </a:prstGeom>
        </p:spPr>
      </p:pic>
      <p:pic>
        <p:nvPicPr>
          <p:cNvPr id="8" name="Picture 7">
            <a:extLst>
              <a:ext uri="{FF2B5EF4-FFF2-40B4-BE49-F238E27FC236}">
                <a16:creationId xmlns:a16="http://schemas.microsoft.com/office/drawing/2014/main" id="{0BD80325-8735-17F6-F768-DEE6AC240DA3}"/>
              </a:ext>
            </a:extLst>
          </p:cNvPr>
          <p:cNvPicPr>
            <a:picLocks noChangeAspect="1"/>
          </p:cNvPicPr>
          <p:nvPr/>
        </p:nvPicPr>
        <p:blipFill>
          <a:blip r:embed="rId4"/>
          <a:stretch>
            <a:fillRect/>
          </a:stretch>
        </p:blipFill>
        <p:spPr>
          <a:xfrm>
            <a:off x="6079847" y="1657705"/>
            <a:ext cx="2772462" cy="1771295"/>
          </a:xfrm>
          <a:prstGeom prst="rect">
            <a:avLst/>
          </a:prstGeom>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7213DB48-56B7-AF9B-0262-59B68D285CC6}"/>
                  </a:ext>
                </a:extLst>
              </p:cNvPr>
              <p:cNvSpPr txBox="1"/>
              <p:nvPr/>
            </p:nvSpPr>
            <p:spPr>
              <a:xfrm>
                <a:off x="514350" y="5285312"/>
                <a:ext cx="8115300" cy="1221745"/>
              </a:xfrm>
              <a:prstGeom prst="rect">
                <a:avLst/>
              </a:prstGeom>
              <a:noFill/>
            </p:spPr>
            <p:txBody>
              <a:bodyPr wrap="square">
                <a:spAutoFit/>
              </a:bodyPr>
              <a:lstStyle/>
              <a:p>
                <a:pPr algn="ctr"/>
                <a:r>
                  <a:rPr lang="en-US" sz="1800" b="1" u="sng">
                    <a:solidFill>
                      <a:srgbClr val="FF0000"/>
                    </a:solidFill>
                    <a:latin typeface="Segoe UI" panose="020B0502040204020203" pitchFamily="34" charset="0"/>
                    <a:cs typeface="Segoe UI" panose="020B0502040204020203" pitchFamily="34" charset="0"/>
                  </a:rPr>
                  <a:t>Why do we care?</a:t>
                </a:r>
              </a:p>
              <a:p>
                <a:pPr algn="ctr"/>
                <a:endParaRPr lang="en-US" sz="1800">
                  <a:solidFill>
                    <a:srgbClr val="FF0000"/>
                  </a:solidFill>
                  <a:latin typeface="Segoe UI" panose="020B0502040204020203" pitchFamily="34" charset="0"/>
                  <a:cs typeface="Segoe UI" panose="020B0502040204020203" pitchFamily="34" charset="0"/>
                </a:endParaRPr>
              </a:p>
              <a:p>
                <a:r>
                  <a:rPr lang="en-US">
                    <a:solidFill>
                      <a:srgbClr val="FF0000"/>
                    </a:solidFill>
                    <a:latin typeface="Segoe UI" panose="020B0502040204020203" pitchFamily="34" charset="0"/>
                    <a:cs typeface="Segoe UI" panose="020B0502040204020203" pitchFamily="34" charset="0"/>
                    <a:sym typeface="Wingdings" panose="05000000000000000000" pitchFamily="2" charset="2"/>
                  </a:rPr>
                  <a:t>It is best to have </a:t>
                </a:r>
                <a14:m>
                  <m:oMath xmlns:m="http://schemas.openxmlformats.org/officeDocument/2006/math">
                    <m:sSub>
                      <m:sSubPr>
                        <m:ctrlPr>
                          <a:rPr lang="en-US" i="1" dirty="0">
                            <a:solidFill>
                              <a:srgbClr val="FF0000"/>
                            </a:solidFill>
                            <a:latin typeface="Cambria Math" panose="02040503050406030204" pitchFamily="18" charset="0"/>
                          </a:rPr>
                        </m:ctrlPr>
                      </m:sSubPr>
                      <m:e>
                        <m:r>
                          <a:rPr lang="en-US" i="1" dirty="0">
                            <a:solidFill>
                              <a:srgbClr val="FF0000"/>
                            </a:solidFill>
                            <a:latin typeface="Cambria Math" panose="02040503050406030204" pitchFamily="18" charset="0"/>
                          </a:rPr>
                          <m:t>𝑅</m:t>
                        </m:r>
                      </m:e>
                      <m:sub>
                        <m:r>
                          <a:rPr lang="en-US" i="1" dirty="0">
                            <a:solidFill>
                              <a:srgbClr val="FF0000"/>
                            </a:solidFill>
                            <a:latin typeface="Cambria Math" panose="02040503050406030204" pitchFamily="18" charset="0"/>
                          </a:rPr>
                          <m:t>𝑝</m:t>
                        </m:r>
                      </m:sub>
                    </m:sSub>
                  </m:oMath>
                </a14:m>
                <a:r>
                  <a:rPr lang="en-US">
                    <a:solidFill>
                      <a:srgbClr val="FF0000"/>
                    </a:solidFill>
                  </a:rPr>
                  <a:t> and </a:t>
                </a:r>
                <a14:m>
                  <m:oMath xmlns:m="http://schemas.openxmlformats.org/officeDocument/2006/math">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𝑅</m:t>
                        </m:r>
                      </m:e>
                      <m:sub>
                        <m:r>
                          <a:rPr lang="en-US" b="0" i="1" smtClean="0">
                            <a:solidFill>
                              <a:srgbClr val="FF0000"/>
                            </a:solidFill>
                            <a:latin typeface="Cambria Math" panose="02040503050406030204" pitchFamily="18" charset="0"/>
                          </a:rPr>
                          <m:t>𝑑</m:t>
                        </m:r>
                      </m:sub>
                    </m:sSub>
                  </m:oMath>
                </a14:m>
                <a:r>
                  <a:rPr lang="en-US">
                    <a:solidFill>
                      <a:srgbClr val="FF0000"/>
                    </a:solidFill>
                    <a:latin typeface="Segoe UI" panose="020B0502040204020203" pitchFamily="34" charset="0"/>
                    <a:cs typeface="Segoe UI" panose="020B0502040204020203" pitchFamily="34" charset="0"/>
                  </a:rPr>
                  <a:t> close to each other, because otherwise you’ve wasted money over-designing either the sensor or the lens aperture.  </a:t>
                </a:r>
              </a:p>
            </p:txBody>
          </p:sp>
        </mc:Choice>
        <mc:Fallback>
          <p:sp>
            <p:nvSpPr>
              <p:cNvPr id="10" name="TextBox 9">
                <a:extLst>
                  <a:ext uri="{FF2B5EF4-FFF2-40B4-BE49-F238E27FC236}">
                    <a16:creationId xmlns:a16="http://schemas.microsoft.com/office/drawing/2014/main" id="{7213DB48-56B7-AF9B-0262-59B68D285CC6}"/>
                  </a:ext>
                </a:extLst>
              </p:cNvPr>
              <p:cNvSpPr txBox="1">
                <a:spLocks noRot="1" noChangeAspect="1" noMove="1" noResize="1" noEditPoints="1" noAdjustHandles="1" noChangeArrowheads="1" noChangeShapeType="1" noTextEdit="1"/>
              </p:cNvSpPr>
              <p:nvPr/>
            </p:nvSpPr>
            <p:spPr>
              <a:xfrm>
                <a:off x="514350" y="5285312"/>
                <a:ext cx="8115300" cy="1221745"/>
              </a:xfrm>
              <a:prstGeom prst="rect">
                <a:avLst/>
              </a:prstGeom>
              <a:blipFill>
                <a:blip r:embed="rId5"/>
                <a:stretch>
                  <a:fillRect l="-601" t="-2000" b="-7500"/>
                </a:stretch>
              </a:blipFill>
            </p:spPr>
            <p:txBody>
              <a:bodyPr/>
              <a:lstStyle/>
              <a:p>
                <a:r>
                  <a:rPr lang="en-US">
                    <a:noFill/>
                  </a:rPr>
                  <a:t> </a:t>
                </a:r>
              </a:p>
            </p:txBody>
          </p:sp>
        </mc:Fallback>
      </mc:AlternateContent>
    </p:spTree>
    <p:extLst>
      <p:ext uri="{BB962C8B-B14F-4D97-AF65-F5344CB8AC3E}">
        <p14:creationId xmlns:p14="http://schemas.microsoft.com/office/powerpoint/2010/main" val="851791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animEffect transition="in" filter="fade">
                                      <p:cBhvr>
                                        <p:cTn id="7" dur="50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01823-CEB6-4E12-433E-52355D987C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AECF22-A83F-7EF1-2D54-EBACE96112DA}"/>
              </a:ext>
            </a:extLst>
          </p:cNvPr>
          <p:cNvSpPr>
            <a:spLocks noGrp="1"/>
          </p:cNvSpPr>
          <p:nvPr>
            <p:ph type="title"/>
          </p:nvPr>
        </p:nvSpPr>
        <p:spPr/>
        <p:txBody>
          <a:bodyPr/>
          <a:lstStyle/>
          <a:p>
            <a:r>
              <a:rPr lang="en-US"/>
              <a:t>Types of Resolution</a:t>
            </a:r>
          </a:p>
        </p:txBody>
      </p:sp>
      <p:sp>
        <p:nvSpPr>
          <p:cNvPr id="3" name="Content Placeholder 2">
            <a:extLst>
              <a:ext uri="{FF2B5EF4-FFF2-40B4-BE49-F238E27FC236}">
                <a16:creationId xmlns:a16="http://schemas.microsoft.com/office/drawing/2014/main" id="{B453CB60-AB5D-9857-AA99-A743C780B38A}"/>
              </a:ext>
            </a:extLst>
          </p:cNvPr>
          <p:cNvSpPr>
            <a:spLocks noGrp="1"/>
          </p:cNvSpPr>
          <p:nvPr>
            <p:ph idx="1"/>
          </p:nvPr>
        </p:nvSpPr>
        <p:spPr>
          <a:xfrm>
            <a:off x="304621" y="1120139"/>
            <a:ext cx="8793015" cy="5710091"/>
          </a:xfrm>
        </p:spPr>
        <p:txBody>
          <a:bodyPr>
            <a:normAutofit/>
          </a:bodyPr>
          <a:lstStyle/>
          <a:p>
            <a:pPr marL="514350" indent="-514350">
              <a:buAutoNum type="arabicParenR"/>
            </a:pPr>
            <a:r>
              <a:rPr lang="en-US" sz="2400" b="1">
                <a:solidFill>
                  <a:srgbClr val="FF0000"/>
                </a:solidFill>
              </a:rPr>
              <a:t>Spatial resolution </a:t>
            </a:r>
          </a:p>
          <a:p>
            <a:pPr marL="0" indent="0">
              <a:buNone/>
            </a:pPr>
            <a:r>
              <a:rPr lang="en-US" sz="2400" b="1">
                <a:solidFill>
                  <a:srgbClr val="FF0000"/>
                </a:solidFill>
              </a:rPr>
              <a:t>	</a:t>
            </a:r>
            <a:r>
              <a:rPr lang="en-US" sz="2400" b="1">
                <a:solidFill>
                  <a:srgbClr val="FF0000"/>
                </a:solidFill>
                <a:sym typeface="Wingdings" panose="05000000000000000000" pitchFamily="2" charset="2"/>
              </a:rPr>
              <a:t></a:t>
            </a:r>
            <a:r>
              <a:rPr lang="en-US" sz="2400" b="1">
                <a:solidFill>
                  <a:srgbClr val="FF0000"/>
                </a:solidFill>
              </a:rPr>
              <a:t>“How small a thing can I see?”</a:t>
            </a:r>
          </a:p>
          <a:p>
            <a:pPr marL="0" indent="0">
              <a:buNone/>
            </a:pPr>
            <a:endParaRPr lang="en-US" sz="2400" b="1"/>
          </a:p>
          <a:p>
            <a:pPr marL="0" indent="0">
              <a:buNone/>
            </a:pPr>
            <a:r>
              <a:rPr lang="en-US" sz="2400" b="1">
                <a:solidFill>
                  <a:srgbClr val="00B050"/>
                </a:solidFill>
              </a:rPr>
              <a:t>2) Spectral resolution</a:t>
            </a:r>
          </a:p>
          <a:p>
            <a:pPr marL="0" indent="0">
              <a:buNone/>
            </a:pPr>
            <a:r>
              <a:rPr lang="en-US" sz="2400" b="1">
                <a:solidFill>
                  <a:srgbClr val="00B050"/>
                </a:solidFill>
              </a:rPr>
              <a:t>	</a:t>
            </a:r>
            <a:r>
              <a:rPr lang="en-US" sz="2400" b="1">
                <a:solidFill>
                  <a:srgbClr val="00B050"/>
                </a:solidFill>
                <a:sym typeface="Wingdings" panose="05000000000000000000" pitchFamily="2" charset="2"/>
              </a:rPr>
              <a:t> </a:t>
            </a:r>
            <a:r>
              <a:rPr lang="en-US" sz="2400" b="1">
                <a:solidFill>
                  <a:srgbClr val="00B050"/>
                </a:solidFill>
              </a:rPr>
              <a:t>“Which wavelengths can I separate?”</a:t>
            </a:r>
          </a:p>
          <a:p>
            <a:pPr marL="0" indent="0">
              <a:buNone/>
            </a:pPr>
            <a:endParaRPr lang="en-US" sz="2400" b="1"/>
          </a:p>
          <a:p>
            <a:pPr marL="0" indent="0">
              <a:buNone/>
            </a:pPr>
            <a:r>
              <a:rPr lang="en-US" sz="2400" b="1">
                <a:solidFill>
                  <a:srgbClr val="0070C0"/>
                </a:solidFill>
              </a:rPr>
              <a:t>3) Radiance/Radiometric resolution </a:t>
            </a:r>
          </a:p>
          <a:p>
            <a:pPr marL="0" indent="0">
              <a:buNone/>
            </a:pPr>
            <a:r>
              <a:rPr lang="en-US" sz="2400" b="1">
                <a:solidFill>
                  <a:srgbClr val="0070C0"/>
                </a:solidFill>
              </a:rPr>
              <a:t>	</a:t>
            </a:r>
            <a:r>
              <a:rPr lang="en-US" sz="2400" b="1">
                <a:solidFill>
                  <a:srgbClr val="0070C0"/>
                </a:solidFill>
                <a:sym typeface="Wingdings" panose="05000000000000000000" pitchFamily="2" charset="2"/>
              </a:rPr>
              <a:t> </a:t>
            </a:r>
            <a:r>
              <a:rPr lang="en-US" sz="2400" b="1">
                <a:solidFill>
                  <a:srgbClr val="0070C0"/>
                </a:solidFill>
              </a:rPr>
              <a:t>“How finely can I grade brightness?”</a:t>
            </a:r>
          </a:p>
          <a:p>
            <a:pPr marL="0" indent="0">
              <a:buNone/>
            </a:pPr>
            <a:endParaRPr lang="en-US" sz="2400" b="1"/>
          </a:p>
          <a:p>
            <a:pPr marL="0" indent="0">
              <a:buNone/>
            </a:pPr>
            <a:r>
              <a:rPr lang="en-US" sz="2400" b="1">
                <a:solidFill>
                  <a:srgbClr val="7030A0"/>
                </a:solidFill>
              </a:rPr>
              <a:t>4) Temporal resolution</a:t>
            </a:r>
          </a:p>
          <a:p>
            <a:pPr marL="0" indent="0">
              <a:buNone/>
            </a:pPr>
            <a:r>
              <a:rPr lang="en-US" sz="2400" b="1">
                <a:solidFill>
                  <a:srgbClr val="7030A0"/>
                </a:solidFill>
              </a:rPr>
              <a:t>	</a:t>
            </a:r>
            <a:r>
              <a:rPr lang="en-US" sz="2400" b="1">
                <a:solidFill>
                  <a:srgbClr val="7030A0"/>
                </a:solidFill>
                <a:sym typeface="Wingdings" panose="05000000000000000000" pitchFamily="2" charset="2"/>
              </a:rPr>
              <a:t> </a:t>
            </a:r>
            <a:r>
              <a:rPr lang="en-US" sz="2400" b="1">
                <a:solidFill>
                  <a:srgbClr val="7030A0"/>
                </a:solidFill>
              </a:rPr>
              <a:t>“How often can I sample in time?”</a:t>
            </a:r>
          </a:p>
        </p:txBody>
      </p:sp>
      <p:sp>
        <p:nvSpPr>
          <p:cNvPr id="4" name="Slide Number Placeholder 3">
            <a:extLst>
              <a:ext uri="{FF2B5EF4-FFF2-40B4-BE49-F238E27FC236}">
                <a16:creationId xmlns:a16="http://schemas.microsoft.com/office/drawing/2014/main" id="{D11364D8-9241-7F85-05BD-E451E959073B}"/>
              </a:ext>
            </a:extLst>
          </p:cNvPr>
          <p:cNvSpPr>
            <a:spLocks noGrp="1"/>
          </p:cNvSpPr>
          <p:nvPr>
            <p:ph type="sldNum" sz="quarter" idx="12"/>
          </p:nvPr>
        </p:nvSpPr>
        <p:spPr/>
        <p:txBody>
          <a:bodyPr/>
          <a:lstStyle/>
          <a:p>
            <a:fld id="{9A3029B7-FE6B-4680-9049-80E8298A0825}" type="slidenum">
              <a:rPr lang="en-US" smtClean="0"/>
              <a:t>22</a:t>
            </a:fld>
            <a:endParaRPr lang="en-US"/>
          </a:p>
        </p:txBody>
      </p:sp>
      <p:sp>
        <p:nvSpPr>
          <p:cNvPr id="5" name="Rectangle 4">
            <a:extLst>
              <a:ext uri="{FF2B5EF4-FFF2-40B4-BE49-F238E27FC236}">
                <a16:creationId xmlns:a16="http://schemas.microsoft.com/office/drawing/2014/main" id="{B4B4A31D-579C-7837-3119-46B6FFBCDA31}"/>
              </a:ext>
            </a:extLst>
          </p:cNvPr>
          <p:cNvSpPr/>
          <p:nvPr/>
        </p:nvSpPr>
        <p:spPr>
          <a:xfrm>
            <a:off x="304620" y="2491739"/>
            <a:ext cx="6735615" cy="93726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896290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D5C4D-9BA3-4373-3B3B-C058955A1096}"/>
              </a:ext>
            </a:extLst>
          </p:cNvPr>
          <p:cNvSpPr>
            <a:spLocks noGrp="1"/>
          </p:cNvSpPr>
          <p:nvPr>
            <p:ph type="title"/>
          </p:nvPr>
        </p:nvSpPr>
        <p:spPr/>
        <p:txBody>
          <a:bodyPr/>
          <a:lstStyle/>
          <a:p>
            <a:r>
              <a:rPr lang="en-US">
                <a:solidFill>
                  <a:srgbClr val="00B050"/>
                </a:solidFill>
              </a:rPr>
              <a:t>Spectral Resolution</a:t>
            </a:r>
          </a:p>
        </p:txBody>
      </p:sp>
      <p:sp>
        <p:nvSpPr>
          <p:cNvPr id="4" name="Slide Number Placeholder 3">
            <a:extLst>
              <a:ext uri="{FF2B5EF4-FFF2-40B4-BE49-F238E27FC236}">
                <a16:creationId xmlns:a16="http://schemas.microsoft.com/office/drawing/2014/main" id="{CE1B251B-D043-5410-FFAB-5597726EE9F0}"/>
              </a:ext>
            </a:extLst>
          </p:cNvPr>
          <p:cNvSpPr>
            <a:spLocks noGrp="1"/>
          </p:cNvSpPr>
          <p:nvPr>
            <p:ph type="sldNum" sz="quarter" idx="12"/>
          </p:nvPr>
        </p:nvSpPr>
        <p:spPr/>
        <p:txBody>
          <a:bodyPr/>
          <a:lstStyle/>
          <a:p>
            <a:fld id="{9A3029B7-FE6B-4680-9049-80E8298A0825}" type="slidenum">
              <a:rPr lang="en-US" smtClean="0"/>
              <a:t>23</a:t>
            </a:fld>
            <a:endParaRPr lang="en-US"/>
          </a:p>
        </p:txBody>
      </p:sp>
      <p:sp>
        <p:nvSpPr>
          <p:cNvPr id="8" name="TextBox 7">
            <a:extLst>
              <a:ext uri="{FF2B5EF4-FFF2-40B4-BE49-F238E27FC236}">
                <a16:creationId xmlns:a16="http://schemas.microsoft.com/office/drawing/2014/main" id="{CFDD5527-2873-1A0C-F88C-8D7F2FDC60D1}"/>
              </a:ext>
            </a:extLst>
          </p:cNvPr>
          <p:cNvSpPr txBox="1"/>
          <p:nvPr/>
        </p:nvSpPr>
        <p:spPr>
          <a:xfrm>
            <a:off x="0" y="937528"/>
            <a:ext cx="8858250" cy="1477328"/>
          </a:xfrm>
          <a:prstGeom prst="rect">
            <a:avLst/>
          </a:prstGeom>
          <a:noFill/>
        </p:spPr>
        <p:txBody>
          <a:bodyPr wrap="square">
            <a:spAutoFit/>
          </a:bodyPr>
          <a:lstStyle/>
          <a:p>
            <a:r>
              <a:rPr lang="en-US">
                <a:latin typeface="Segoe UI" panose="020B0502040204020203" pitchFamily="34" charset="0"/>
                <a:cs typeface="Segoe UI" panose="020B0502040204020203" pitchFamily="34" charset="0"/>
              </a:rPr>
              <a:t>Ability to distinguish </a:t>
            </a:r>
            <a:r>
              <a:rPr lang="en-US" b="1">
                <a:latin typeface="Segoe UI" panose="020B0502040204020203" pitchFamily="34" charset="0"/>
                <a:cs typeface="Segoe UI" panose="020B0502040204020203" pitchFamily="34" charset="0"/>
              </a:rPr>
              <a:t>wavelength bands</a:t>
            </a:r>
            <a:r>
              <a:rPr lang="en-US">
                <a:latin typeface="Segoe UI" panose="020B0502040204020203" pitchFamily="34" charset="0"/>
                <a:cs typeface="Segoe UI" panose="020B0502040204020203" pitchFamily="34" charset="0"/>
              </a:rPr>
              <a:t>.</a:t>
            </a:r>
          </a:p>
          <a:p>
            <a:pPr marL="285750" indent="-285750">
              <a:buFont typeface="Arial" panose="020B0604020202020204" pitchFamily="34" charset="0"/>
              <a:buChar char="•"/>
            </a:pPr>
            <a:r>
              <a:rPr lang="en-US" b="1">
                <a:latin typeface="Segoe UI" panose="020B0502040204020203" pitchFamily="34" charset="0"/>
                <a:cs typeface="Segoe UI" panose="020B0502040204020203" pitchFamily="34" charset="0"/>
              </a:rPr>
              <a:t>How it’s measured:</a:t>
            </a:r>
            <a:r>
              <a:rPr lang="en-US">
                <a:latin typeface="Segoe UI" panose="020B0502040204020203" pitchFamily="34" charset="0"/>
                <a:cs typeface="Segoe UI" panose="020B0502040204020203" pitchFamily="34" charset="0"/>
              </a:rPr>
              <a:t> Number and </a:t>
            </a:r>
            <a:r>
              <a:rPr lang="en-US" b="1">
                <a:latin typeface="Segoe UI" panose="020B0502040204020203" pitchFamily="34" charset="0"/>
                <a:cs typeface="Segoe UI" panose="020B0502040204020203" pitchFamily="34" charset="0"/>
              </a:rPr>
              <a:t>bandwidth </a:t>
            </a:r>
            <a:r>
              <a:rPr lang="en-US">
                <a:latin typeface="Segoe UI" panose="020B0502040204020203" pitchFamily="34" charset="0"/>
                <a:cs typeface="Segoe UI" panose="020B0502040204020203" pitchFamily="34" charset="0"/>
              </a:rPr>
              <a:t>of bands (e.g., RGB vs. 8-band multispectral vs. hyperspectral).</a:t>
            </a:r>
          </a:p>
          <a:p>
            <a:pPr marL="285750" indent="-285750">
              <a:buFont typeface="Arial" panose="020B0604020202020204" pitchFamily="34" charset="0"/>
              <a:buChar char="•"/>
            </a:pPr>
            <a:r>
              <a:rPr lang="en-US" b="1">
                <a:latin typeface="Segoe UI" panose="020B0502040204020203" pitchFamily="34" charset="0"/>
                <a:cs typeface="Segoe UI" panose="020B0502040204020203" pitchFamily="34" charset="0"/>
              </a:rPr>
              <a:t>Trade-off:</a:t>
            </a:r>
            <a:r>
              <a:rPr lang="en-US">
                <a:latin typeface="Segoe UI" panose="020B0502040204020203" pitchFamily="34" charset="0"/>
                <a:cs typeface="Segoe UI" panose="020B0502040204020203" pitchFamily="34" charset="0"/>
              </a:rPr>
              <a:t> Narrower bands = better spectral detail but less light per band → lower SNR or longer exposure.</a:t>
            </a:r>
          </a:p>
        </p:txBody>
      </p:sp>
      <p:pic>
        <p:nvPicPr>
          <p:cNvPr id="3074" name="Picture 2" descr="Spectral Resolution - Natural Resources Canada">
            <a:extLst>
              <a:ext uri="{FF2B5EF4-FFF2-40B4-BE49-F238E27FC236}">
                <a16:creationId xmlns:a16="http://schemas.microsoft.com/office/drawing/2014/main" id="{ACC2AEFB-5E2D-76EB-69C7-A2BC4A37DA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433" y="2737047"/>
            <a:ext cx="3882036" cy="332525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Introduction to Spatial and Spectral Resolution: Multispectral Imagery |  Earth Data Science - Earth Lab">
            <a:extLst>
              <a:ext uri="{FF2B5EF4-FFF2-40B4-BE49-F238E27FC236}">
                <a16:creationId xmlns:a16="http://schemas.microsoft.com/office/drawing/2014/main" id="{64AF7E25-6B69-C780-559D-6794AA9835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58245" y="2843925"/>
            <a:ext cx="4739391" cy="34121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9168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fade">
                                      <p:cBhvr>
                                        <p:cTn id="7" dur="500"/>
                                        <p:tgtEl>
                                          <p:spTgt spid="30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76"/>
                                        </p:tgtEl>
                                        <p:attrNameLst>
                                          <p:attrName>style.visibility</p:attrName>
                                        </p:attrNameLst>
                                      </p:cBhvr>
                                      <p:to>
                                        <p:strVal val="visible"/>
                                      </p:to>
                                    </p:set>
                                    <p:animEffect transition="in" filter="fade">
                                      <p:cBhvr>
                                        <p:cTn id="12" dur="500"/>
                                        <p:tgtEl>
                                          <p:spTgt spid="3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0E591-0FBE-8B2D-86F5-7C117DC59BDC}"/>
              </a:ext>
            </a:extLst>
          </p:cNvPr>
          <p:cNvSpPr>
            <a:spLocks noGrp="1"/>
          </p:cNvSpPr>
          <p:nvPr>
            <p:ph type="title"/>
          </p:nvPr>
        </p:nvSpPr>
        <p:spPr/>
        <p:txBody>
          <a:bodyPr/>
          <a:lstStyle/>
          <a:p>
            <a:r>
              <a:rPr lang="en-US">
                <a:solidFill>
                  <a:srgbClr val="00B050"/>
                </a:solidFill>
              </a:rPr>
              <a:t>Spectral Resolution (2)</a:t>
            </a:r>
            <a:endParaRPr lang="en-US"/>
          </a:p>
        </p:txBody>
      </p:sp>
      <p:sp>
        <p:nvSpPr>
          <p:cNvPr id="4" name="Slide Number Placeholder 3">
            <a:extLst>
              <a:ext uri="{FF2B5EF4-FFF2-40B4-BE49-F238E27FC236}">
                <a16:creationId xmlns:a16="http://schemas.microsoft.com/office/drawing/2014/main" id="{28677CA1-DA02-0D19-2463-60B32C0321DE}"/>
              </a:ext>
            </a:extLst>
          </p:cNvPr>
          <p:cNvSpPr>
            <a:spLocks noGrp="1"/>
          </p:cNvSpPr>
          <p:nvPr>
            <p:ph type="sldNum" sz="quarter" idx="12"/>
          </p:nvPr>
        </p:nvSpPr>
        <p:spPr/>
        <p:txBody>
          <a:bodyPr/>
          <a:lstStyle/>
          <a:p>
            <a:fld id="{9A3029B7-FE6B-4680-9049-80E8298A0825}" type="slidenum">
              <a:rPr lang="en-US" smtClean="0"/>
              <a:t>24</a:t>
            </a:fld>
            <a:endParaRPr lang="en-US"/>
          </a:p>
        </p:txBody>
      </p:sp>
      <p:pic>
        <p:nvPicPr>
          <p:cNvPr id="6" name="Picture 5">
            <a:extLst>
              <a:ext uri="{FF2B5EF4-FFF2-40B4-BE49-F238E27FC236}">
                <a16:creationId xmlns:a16="http://schemas.microsoft.com/office/drawing/2014/main" id="{7F81164F-FBE8-D61A-99E1-AA9CFBDA3986}"/>
              </a:ext>
            </a:extLst>
          </p:cNvPr>
          <p:cNvPicPr>
            <a:picLocks noChangeAspect="1"/>
          </p:cNvPicPr>
          <p:nvPr/>
        </p:nvPicPr>
        <p:blipFill>
          <a:blip r:embed="rId2"/>
          <a:stretch>
            <a:fillRect/>
          </a:stretch>
        </p:blipFill>
        <p:spPr>
          <a:xfrm>
            <a:off x="0" y="1407597"/>
            <a:ext cx="9067182" cy="4542900"/>
          </a:xfrm>
          <a:prstGeom prst="rect">
            <a:avLst/>
          </a:prstGeom>
        </p:spPr>
      </p:pic>
    </p:spTree>
    <p:extLst>
      <p:ext uri="{BB962C8B-B14F-4D97-AF65-F5344CB8AC3E}">
        <p14:creationId xmlns:p14="http://schemas.microsoft.com/office/powerpoint/2010/main" val="16300784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CD970-5002-DFC6-F571-96926D466B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8E963C-3122-5F4B-9593-8BC1D96F6BD1}"/>
              </a:ext>
            </a:extLst>
          </p:cNvPr>
          <p:cNvSpPr>
            <a:spLocks noGrp="1"/>
          </p:cNvSpPr>
          <p:nvPr>
            <p:ph type="title"/>
          </p:nvPr>
        </p:nvSpPr>
        <p:spPr/>
        <p:txBody>
          <a:bodyPr/>
          <a:lstStyle/>
          <a:p>
            <a:r>
              <a:rPr lang="en-US"/>
              <a:t>Types of Resolution</a:t>
            </a:r>
          </a:p>
        </p:txBody>
      </p:sp>
      <p:sp>
        <p:nvSpPr>
          <p:cNvPr id="3" name="Content Placeholder 2">
            <a:extLst>
              <a:ext uri="{FF2B5EF4-FFF2-40B4-BE49-F238E27FC236}">
                <a16:creationId xmlns:a16="http://schemas.microsoft.com/office/drawing/2014/main" id="{80503CDC-ED30-AA2B-BBE9-430BFDB5941F}"/>
              </a:ext>
            </a:extLst>
          </p:cNvPr>
          <p:cNvSpPr>
            <a:spLocks noGrp="1"/>
          </p:cNvSpPr>
          <p:nvPr>
            <p:ph idx="1"/>
          </p:nvPr>
        </p:nvSpPr>
        <p:spPr>
          <a:xfrm>
            <a:off x="304621" y="1120139"/>
            <a:ext cx="8793015" cy="5710091"/>
          </a:xfrm>
        </p:spPr>
        <p:txBody>
          <a:bodyPr>
            <a:normAutofit/>
          </a:bodyPr>
          <a:lstStyle/>
          <a:p>
            <a:pPr marL="514350" indent="-514350">
              <a:buAutoNum type="arabicParenR"/>
            </a:pPr>
            <a:r>
              <a:rPr lang="en-US" sz="2400" b="1">
                <a:solidFill>
                  <a:srgbClr val="FF0000"/>
                </a:solidFill>
              </a:rPr>
              <a:t>Spatial resolution </a:t>
            </a:r>
          </a:p>
          <a:p>
            <a:pPr marL="0" indent="0">
              <a:buNone/>
            </a:pPr>
            <a:r>
              <a:rPr lang="en-US" sz="2400" b="1">
                <a:solidFill>
                  <a:srgbClr val="FF0000"/>
                </a:solidFill>
              </a:rPr>
              <a:t>	</a:t>
            </a:r>
            <a:r>
              <a:rPr lang="en-US" sz="2400" b="1">
                <a:solidFill>
                  <a:srgbClr val="FF0000"/>
                </a:solidFill>
                <a:sym typeface="Wingdings" panose="05000000000000000000" pitchFamily="2" charset="2"/>
              </a:rPr>
              <a:t></a:t>
            </a:r>
            <a:r>
              <a:rPr lang="en-US" sz="2400" b="1">
                <a:solidFill>
                  <a:srgbClr val="FF0000"/>
                </a:solidFill>
              </a:rPr>
              <a:t>“How small a thing can I see?”</a:t>
            </a:r>
          </a:p>
          <a:p>
            <a:pPr marL="0" indent="0">
              <a:buNone/>
            </a:pPr>
            <a:endParaRPr lang="en-US" sz="2400" b="1"/>
          </a:p>
          <a:p>
            <a:pPr marL="0" indent="0">
              <a:buNone/>
            </a:pPr>
            <a:r>
              <a:rPr lang="en-US" sz="2400" b="1">
                <a:solidFill>
                  <a:srgbClr val="00B050"/>
                </a:solidFill>
              </a:rPr>
              <a:t>2) Spectral resolution</a:t>
            </a:r>
          </a:p>
          <a:p>
            <a:pPr marL="0" indent="0">
              <a:buNone/>
            </a:pPr>
            <a:r>
              <a:rPr lang="en-US" sz="2400" b="1">
                <a:solidFill>
                  <a:srgbClr val="00B050"/>
                </a:solidFill>
              </a:rPr>
              <a:t>	</a:t>
            </a:r>
            <a:r>
              <a:rPr lang="en-US" sz="2400" b="1">
                <a:solidFill>
                  <a:srgbClr val="00B050"/>
                </a:solidFill>
                <a:sym typeface="Wingdings" panose="05000000000000000000" pitchFamily="2" charset="2"/>
              </a:rPr>
              <a:t> </a:t>
            </a:r>
            <a:r>
              <a:rPr lang="en-US" sz="2400" b="1">
                <a:solidFill>
                  <a:srgbClr val="00B050"/>
                </a:solidFill>
              </a:rPr>
              <a:t>“Which wavelengths can I separate?”</a:t>
            </a:r>
          </a:p>
          <a:p>
            <a:pPr marL="0" indent="0">
              <a:buNone/>
            </a:pPr>
            <a:endParaRPr lang="en-US" sz="2400" b="1"/>
          </a:p>
          <a:p>
            <a:pPr marL="0" indent="0">
              <a:buNone/>
            </a:pPr>
            <a:r>
              <a:rPr lang="en-US" sz="2400" b="1">
                <a:solidFill>
                  <a:srgbClr val="0070C0"/>
                </a:solidFill>
              </a:rPr>
              <a:t>3) Radiance/Radiometric resolution </a:t>
            </a:r>
          </a:p>
          <a:p>
            <a:pPr marL="0" indent="0">
              <a:buNone/>
            </a:pPr>
            <a:r>
              <a:rPr lang="en-US" sz="2400" b="1">
                <a:solidFill>
                  <a:srgbClr val="0070C0"/>
                </a:solidFill>
              </a:rPr>
              <a:t>	</a:t>
            </a:r>
            <a:r>
              <a:rPr lang="en-US" sz="2400" b="1">
                <a:solidFill>
                  <a:srgbClr val="0070C0"/>
                </a:solidFill>
                <a:sym typeface="Wingdings" panose="05000000000000000000" pitchFamily="2" charset="2"/>
              </a:rPr>
              <a:t> </a:t>
            </a:r>
            <a:r>
              <a:rPr lang="en-US" sz="2400" b="1">
                <a:solidFill>
                  <a:srgbClr val="0070C0"/>
                </a:solidFill>
              </a:rPr>
              <a:t>“How finely can I grade brightness?”</a:t>
            </a:r>
          </a:p>
          <a:p>
            <a:pPr marL="0" indent="0">
              <a:buNone/>
            </a:pPr>
            <a:endParaRPr lang="en-US" sz="2400" b="1"/>
          </a:p>
          <a:p>
            <a:pPr marL="0" indent="0">
              <a:buNone/>
            </a:pPr>
            <a:r>
              <a:rPr lang="en-US" sz="2400" b="1">
                <a:solidFill>
                  <a:srgbClr val="7030A0"/>
                </a:solidFill>
              </a:rPr>
              <a:t>4) Temporal resolution</a:t>
            </a:r>
          </a:p>
          <a:p>
            <a:pPr marL="0" indent="0">
              <a:buNone/>
            </a:pPr>
            <a:r>
              <a:rPr lang="en-US" sz="2400" b="1">
                <a:solidFill>
                  <a:srgbClr val="7030A0"/>
                </a:solidFill>
              </a:rPr>
              <a:t>	</a:t>
            </a:r>
            <a:r>
              <a:rPr lang="en-US" sz="2400" b="1">
                <a:solidFill>
                  <a:srgbClr val="7030A0"/>
                </a:solidFill>
                <a:sym typeface="Wingdings" panose="05000000000000000000" pitchFamily="2" charset="2"/>
              </a:rPr>
              <a:t> </a:t>
            </a:r>
            <a:r>
              <a:rPr lang="en-US" sz="2400" b="1">
                <a:solidFill>
                  <a:srgbClr val="7030A0"/>
                </a:solidFill>
              </a:rPr>
              <a:t>“How often can I sample in time?”</a:t>
            </a:r>
          </a:p>
        </p:txBody>
      </p:sp>
      <p:sp>
        <p:nvSpPr>
          <p:cNvPr id="4" name="Slide Number Placeholder 3">
            <a:extLst>
              <a:ext uri="{FF2B5EF4-FFF2-40B4-BE49-F238E27FC236}">
                <a16:creationId xmlns:a16="http://schemas.microsoft.com/office/drawing/2014/main" id="{77CE4FDA-8250-D9AB-3DDD-E760E1C2E8A0}"/>
              </a:ext>
            </a:extLst>
          </p:cNvPr>
          <p:cNvSpPr>
            <a:spLocks noGrp="1"/>
          </p:cNvSpPr>
          <p:nvPr>
            <p:ph type="sldNum" sz="quarter" idx="12"/>
          </p:nvPr>
        </p:nvSpPr>
        <p:spPr/>
        <p:txBody>
          <a:bodyPr/>
          <a:lstStyle/>
          <a:p>
            <a:fld id="{9A3029B7-FE6B-4680-9049-80E8298A0825}" type="slidenum">
              <a:rPr lang="en-US" smtClean="0"/>
              <a:t>25</a:t>
            </a:fld>
            <a:endParaRPr lang="en-US"/>
          </a:p>
        </p:txBody>
      </p:sp>
      <p:sp>
        <p:nvSpPr>
          <p:cNvPr id="5" name="Rectangle 4">
            <a:extLst>
              <a:ext uri="{FF2B5EF4-FFF2-40B4-BE49-F238E27FC236}">
                <a16:creationId xmlns:a16="http://schemas.microsoft.com/office/drawing/2014/main" id="{0C7D6467-7154-F193-6373-4305744FAE95}"/>
              </a:ext>
            </a:extLst>
          </p:cNvPr>
          <p:cNvSpPr/>
          <p:nvPr/>
        </p:nvSpPr>
        <p:spPr>
          <a:xfrm>
            <a:off x="304621" y="3812539"/>
            <a:ext cx="6735615" cy="93726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978451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F37CA-CF77-A9B2-9AF2-5768AF40DCE6}"/>
              </a:ext>
            </a:extLst>
          </p:cNvPr>
          <p:cNvSpPr>
            <a:spLocks noGrp="1"/>
          </p:cNvSpPr>
          <p:nvPr>
            <p:ph type="title"/>
          </p:nvPr>
        </p:nvSpPr>
        <p:spPr/>
        <p:txBody>
          <a:bodyPr/>
          <a:lstStyle/>
          <a:p>
            <a:r>
              <a:rPr lang="en-US">
                <a:solidFill>
                  <a:srgbClr val="0070C0"/>
                </a:solidFill>
              </a:rPr>
              <a:t>Radiance/Radiometric Resolution</a:t>
            </a:r>
          </a:p>
        </p:txBody>
      </p:sp>
      <p:sp>
        <p:nvSpPr>
          <p:cNvPr id="3" name="Content Placeholder 2">
            <a:extLst>
              <a:ext uri="{FF2B5EF4-FFF2-40B4-BE49-F238E27FC236}">
                <a16:creationId xmlns:a16="http://schemas.microsoft.com/office/drawing/2014/main" id="{D4E45DE2-5F0D-7B54-E092-7EEEEEF92B91}"/>
              </a:ext>
            </a:extLst>
          </p:cNvPr>
          <p:cNvSpPr>
            <a:spLocks noGrp="1"/>
          </p:cNvSpPr>
          <p:nvPr>
            <p:ph idx="1"/>
          </p:nvPr>
        </p:nvSpPr>
        <p:spPr/>
        <p:txBody>
          <a:bodyPr>
            <a:normAutofit/>
          </a:bodyPr>
          <a:lstStyle/>
          <a:p>
            <a:pPr marL="0" indent="0">
              <a:buNone/>
            </a:pPr>
            <a:r>
              <a:rPr lang="en-US" sz="1800"/>
              <a:t>Smallest detectable intensity difference.</a:t>
            </a:r>
          </a:p>
          <a:p>
            <a:r>
              <a:rPr lang="en-US" sz="1800" b="1"/>
              <a:t>How it’s measured:</a:t>
            </a:r>
            <a:r>
              <a:rPr lang="en-US" sz="1800"/>
              <a:t> Bit depth (8/10/12/14-bit), dynamic range, SNR, ENOB (effective number of bits).</a:t>
            </a:r>
          </a:p>
          <a:p>
            <a:r>
              <a:rPr lang="en-US" sz="1800" b="1"/>
              <a:t>Limited by:</a:t>
            </a:r>
            <a:r>
              <a:rPr lang="en-US" sz="1800"/>
              <a:t> Sensor full-well capacity, read noise, dark noise, quantization, lighting.</a:t>
            </a:r>
          </a:p>
          <a:p>
            <a:r>
              <a:rPr lang="en-US" sz="1800" b="1"/>
              <a:t>Improve it:</a:t>
            </a:r>
            <a:r>
              <a:rPr lang="en-US" sz="1800"/>
              <a:t> More light (aperture/exposure/illumination), lower read noise, HDR, cooling (for long exposures), better ADC/processing.</a:t>
            </a:r>
          </a:p>
          <a:p>
            <a:endParaRPr lang="en-US" sz="2400"/>
          </a:p>
        </p:txBody>
      </p:sp>
      <p:sp>
        <p:nvSpPr>
          <p:cNvPr id="4" name="Slide Number Placeholder 3">
            <a:extLst>
              <a:ext uri="{FF2B5EF4-FFF2-40B4-BE49-F238E27FC236}">
                <a16:creationId xmlns:a16="http://schemas.microsoft.com/office/drawing/2014/main" id="{7DD40AF9-7F1B-870C-963E-5B38146EA1D7}"/>
              </a:ext>
            </a:extLst>
          </p:cNvPr>
          <p:cNvSpPr>
            <a:spLocks noGrp="1"/>
          </p:cNvSpPr>
          <p:nvPr>
            <p:ph type="sldNum" sz="quarter" idx="12"/>
          </p:nvPr>
        </p:nvSpPr>
        <p:spPr/>
        <p:txBody>
          <a:bodyPr/>
          <a:lstStyle/>
          <a:p>
            <a:fld id="{9A3029B7-FE6B-4680-9049-80E8298A0825}" type="slidenum">
              <a:rPr lang="en-US" smtClean="0"/>
              <a:t>26</a:t>
            </a:fld>
            <a:endParaRPr lang="en-US"/>
          </a:p>
        </p:txBody>
      </p:sp>
      <p:pic>
        <p:nvPicPr>
          <p:cNvPr id="5" name="Picture 4" descr="A collage of a person riding a bike&#10;&#10;Description automatically generated">
            <a:extLst>
              <a:ext uri="{FF2B5EF4-FFF2-40B4-BE49-F238E27FC236}">
                <a16:creationId xmlns:a16="http://schemas.microsoft.com/office/drawing/2014/main" id="{53DB760A-6B8B-D944-7CC3-535FF37DBA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8106" y="3372478"/>
            <a:ext cx="8516851" cy="2857581"/>
          </a:xfrm>
          <a:prstGeom prst="rect">
            <a:avLst/>
          </a:prstGeom>
        </p:spPr>
      </p:pic>
    </p:spTree>
    <p:extLst>
      <p:ext uri="{BB962C8B-B14F-4D97-AF65-F5344CB8AC3E}">
        <p14:creationId xmlns:p14="http://schemas.microsoft.com/office/powerpoint/2010/main" val="10319752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5C8C5-3198-7B52-9B86-047E36095462}"/>
              </a:ext>
            </a:extLst>
          </p:cNvPr>
          <p:cNvSpPr>
            <a:spLocks noGrp="1"/>
          </p:cNvSpPr>
          <p:nvPr>
            <p:ph type="title"/>
          </p:nvPr>
        </p:nvSpPr>
        <p:spPr/>
        <p:txBody>
          <a:bodyPr/>
          <a:lstStyle/>
          <a:p>
            <a:r>
              <a:rPr lang="en-US">
                <a:solidFill>
                  <a:srgbClr val="0070C0"/>
                </a:solidFill>
              </a:rPr>
              <a:t>Radiance/Radiometric Resolution (2)</a:t>
            </a:r>
            <a:endParaRPr lang="en-US"/>
          </a:p>
        </p:txBody>
      </p:sp>
      <p:sp>
        <p:nvSpPr>
          <p:cNvPr id="4" name="Slide Number Placeholder 3">
            <a:extLst>
              <a:ext uri="{FF2B5EF4-FFF2-40B4-BE49-F238E27FC236}">
                <a16:creationId xmlns:a16="http://schemas.microsoft.com/office/drawing/2014/main" id="{2544F383-0E36-CB83-E55D-68D7B6D402D0}"/>
              </a:ext>
            </a:extLst>
          </p:cNvPr>
          <p:cNvSpPr>
            <a:spLocks noGrp="1"/>
          </p:cNvSpPr>
          <p:nvPr>
            <p:ph type="sldNum" sz="quarter" idx="12"/>
          </p:nvPr>
        </p:nvSpPr>
        <p:spPr/>
        <p:txBody>
          <a:bodyPr/>
          <a:lstStyle/>
          <a:p>
            <a:fld id="{9A3029B7-FE6B-4680-9049-80E8298A0825}" type="slidenum">
              <a:rPr lang="en-US" smtClean="0"/>
              <a:t>27</a:t>
            </a:fld>
            <a:endParaRPr lang="en-US"/>
          </a:p>
        </p:txBody>
      </p:sp>
      <p:pic>
        <p:nvPicPr>
          <p:cNvPr id="11266" name="Picture 2" descr="radiometric_resolution">
            <a:extLst>
              <a:ext uri="{FF2B5EF4-FFF2-40B4-BE49-F238E27FC236}">
                <a16:creationId xmlns:a16="http://schemas.microsoft.com/office/drawing/2014/main" id="{537041A3-E320-F27E-DB69-BC4ED190101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94807" y="1009403"/>
            <a:ext cx="7831675" cy="56888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3728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E6C99-FC7E-98E2-DB10-37EDF2496B4A}"/>
              </a:ext>
            </a:extLst>
          </p:cNvPr>
          <p:cNvSpPr>
            <a:spLocks noGrp="1"/>
          </p:cNvSpPr>
          <p:nvPr>
            <p:ph type="title"/>
          </p:nvPr>
        </p:nvSpPr>
        <p:spPr/>
        <p:txBody>
          <a:bodyPr/>
          <a:lstStyle/>
          <a:p>
            <a:r>
              <a:rPr lang="en-US"/>
              <a:t>Spectral vs Radiometric Resolution</a:t>
            </a:r>
          </a:p>
        </p:txBody>
      </p:sp>
      <p:sp>
        <p:nvSpPr>
          <p:cNvPr id="4" name="Slide Number Placeholder 3">
            <a:extLst>
              <a:ext uri="{FF2B5EF4-FFF2-40B4-BE49-F238E27FC236}">
                <a16:creationId xmlns:a16="http://schemas.microsoft.com/office/drawing/2014/main" id="{1994140C-A09B-7C5A-1C87-7122E9C05AF4}"/>
              </a:ext>
            </a:extLst>
          </p:cNvPr>
          <p:cNvSpPr>
            <a:spLocks noGrp="1"/>
          </p:cNvSpPr>
          <p:nvPr>
            <p:ph type="sldNum" sz="quarter" idx="12"/>
          </p:nvPr>
        </p:nvSpPr>
        <p:spPr/>
        <p:txBody>
          <a:bodyPr/>
          <a:lstStyle/>
          <a:p>
            <a:fld id="{9A3029B7-FE6B-4680-9049-80E8298A0825}" type="slidenum">
              <a:rPr lang="en-US" smtClean="0"/>
              <a:t>28</a:t>
            </a:fld>
            <a:endParaRPr lang="en-US"/>
          </a:p>
        </p:txBody>
      </p:sp>
      <p:pic>
        <p:nvPicPr>
          <p:cNvPr id="5124" name="Picture 4" descr="Radiometric Resolution. More in text above and caption. ">
            <a:extLst>
              <a:ext uri="{FF2B5EF4-FFF2-40B4-BE49-F238E27FC236}">
                <a16:creationId xmlns:a16="http://schemas.microsoft.com/office/drawing/2014/main" id="{37FB0A4C-46A6-76FD-B4E5-C9D3EC0A63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68998" y="1357428"/>
            <a:ext cx="4528638" cy="3567682"/>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Spectral resolution graphic. More in text above and caption. ">
            <a:extLst>
              <a:ext uri="{FF2B5EF4-FFF2-40B4-BE49-F238E27FC236}">
                <a16:creationId xmlns:a16="http://schemas.microsoft.com/office/drawing/2014/main" id="{C699795B-3601-CD7C-6C85-47315E4550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5248" y="1345553"/>
            <a:ext cx="4139394" cy="3873054"/>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7954E85F-35EA-D4F0-68B5-7A6905ABAC89}"/>
              </a:ext>
            </a:extLst>
          </p:cNvPr>
          <p:cNvSpPr>
            <a:spLocks noGrp="1"/>
          </p:cNvSpPr>
          <p:nvPr>
            <p:ph idx="1"/>
          </p:nvPr>
        </p:nvSpPr>
        <p:spPr>
          <a:xfrm>
            <a:off x="1407109" y="5064229"/>
            <a:ext cx="2400671" cy="529411"/>
          </a:xfrm>
        </p:spPr>
        <p:txBody>
          <a:bodyPr/>
          <a:lstStyle/>
          <a:p>
            <a:pPr marL="0" indent="0" algn="ctr">
              <a:buNone/>
            </a:pPr>
            <a:r>
              <a:rPr lang="en-US"/>
              <a:t>wavelength</a:t>
            </a:r>
          </a:p>
        </p:txBody>
      </p:sp>
      <p:sp>
        <p:nvSpPr>
          <p:cNvPr id="5" name="Content Placeholder 2">
            <a:extLst>
              <a:ext uri="{FF2B5EF4-FFF2-40B4-BE49-F238E27FC236}">
                <a16:creationId xmlns:a16="http://schemas.microsoft.com/office/drawing/2014/main" id="{78E62370-49CA-F6A8-BA81-8F3198759B38}"/>
              </a:ext>
            </a:extLst>
          </p:cNvPr>
          <p:cNvSpPr txBox="1">
            <a:spLocks/>
          </p:cNvSpPr>
          <p:nvPr/>
        </p:nvSpPr>
        <p:spPr>
          <a:xfrm>
            <a:off x="5632981" y="5064229"/>
            <a:ext cx="2400671" cy="52941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t>wavelength</a:t>
            </a:r>
          </a:p>
        </p:txBody>
      </p:sp>
      <p:sp>
        <p:nvSpPr>
          <p:cNvPr id="6" name="Content Placeholder 2">
            <a:extLst>
              <a:ext uri="{FF2B5EF4-FFF2-40B4-BE49-F238E27FC236}">
                <a16:creationId xmlns:a16="http://schemas.microsoft.com/office/drawing/2014/main" id="{0412E278-B40C-72ED-EFB4-5E9D00419BEA}"/>
              </a:ext>
            </a:extLst>
          </p:cNvPr>
          <p:cNvSpPr txBox="1">
            <a:spLocks/>
          </p:cNvSpPr>
          <p:nvPr/>
        </p:nvSpPr>
        <p:spPr>
          <a:xfrm rot="16200000">
            <a:off x="-896647" y="3017374"/>
            <a:ext cx="2400671" cy="52941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t>Intensity</a:t>
            </a:r>
          </a:p>
        </p:txBody>
      </p:sp>
      <p:sp>
        <p:nvSpPr>
          <p:cNvPr id="8" name="Content Placeholder 2">
            <a:extLst>
              <a:ext uri="{FF2B5EF4-FFF2-40B4-BE49-F238E27FC236}">
                <a16:creationId xmlns:a16="http://schemas.microsoft.com/office/drawing/2014/main" id="{035A8498-2B1F-8BE8-C4DF-08DBB8B45843}"/>
              </a:ext>
            </a:extLst>
          </p:cNvPr>
          <p:cNvSpPr txBox="1">
            <a:spLocks/>
          </p:cNvSpPr>
          <p:nvPr/>
        </p:nvSpPr>
        <p:spPr>
          <a:xfrm>
            <a:off x="303688" y="6022411"/>
            <a:ext cx="7344021" cy="52941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a:t>Plots depict examples of high and low resolution for given type</a:t>
            </a:r>
          </a:p>
        </p:txBody>
      </p:sp>
    </p:spTree>
    <p:extLst>
      <p:ext uri="{BB962C8B-B14F-4D97-AF65-F5344CB8AC3E}">
        <p14:creationId xmlns:p14="http://schemas.microsoft.com/office/powerpoint/2010/main" val="20299234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2D3C0-FDFE-3A53-D28B-237AC1D5F2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820855-F7FA-9114-6451-4A25A191C8D2}"/>
              </a:ext>
            </a:extLst>
          </p:cNvPr>
          <p:cNvSpPr>
            <a:spLocks noGrp="1"/>
          </p:cNvSpPr>
          <p:nvPr>
            <p:ph type="title"/>
          </p:nvPr>
        </p:nvSpPr>
        <p:spPr/>
        <p:txBody>
          <a:bodyPr/>
          <a:lstStyle/>
          <a:p>
            <a:r>
              <a:rPr lang="en-US"/>
              <a:t>Types of Resolution</a:t>
            </a:r>
          </a:p>
        </p:txBody>
      </p:sp>
      <p:sp>
        <p:nvSpPr>
          <p:cNvPr id="3" name="Content Placeholder 2">
            <a:extLst>
              <a:ext uri="{FF2B5EF4-FFF2-40B4-BE49-F238E27FC236}">
                <a16:creationId xmlns:a16="http://schemas.microsoft.com/office/drawing/2014/main" id="{43BAE0C3-51BB-847C-147D-8BFB5FF923E5}"/>
              </a:ext>
            </a:extLst>
          </p:cNvPr>
          <p:cNvSpPr>
            <a:spLocks noGrp="1"/>
          </p:cNvSpPr>
          <p:nvPr>
            <p:ph idx="1"/>
          </p:nvPr>
        </p:nvSpPr>
        <p:spPr>
          <a:xfrm>
            <a:off x="304621" y="1120139"/>
            <a:ext cx="8793015" cy="5710091"/>
          </a:xfrm>
        </p:spPr>
        <p:txBody>
          <a:bodyPr>
            <a:normAutofit/>
          </a:bodyPr>
          <a:lstStyle/>
          <a:p>
            <a:pPr marL="514350" indent="-514350">
              <a:buAutoNum type="arabicParenR"/>
            </a:pPr>
            <a:r>
              <a:rPr lang="en-US" sz="2400" b="1">
                <a:solidFill>
                  <a:srgbClr val="FF0000"/>
                </a:solidFill>
              </a:rPr>
              <a:t>Spatial resolution </a:t>
            </a:r>
          </a:p>
          <a:p>
            <a:pPr marL="0" indent="0">
              <a:buNone/>
            </a:pPr>
            <a:r>
              <a:rPr lang="en-US" sz="2400" b="1">
                <a:solidFill>
                  <a:srgbClr val="FF0000"/>
                </a:solidFill>
              </a:rPr>
              <a:t>	</a:t>
            </a:r>
            <a:r>
              <a:rPr lang="en-US" sz="2400" b="1">
                <a:solidFill>
                  <a:srgbClr val="FF0000"/>
                </a:solidFill>
                <a:sym typeface="Wingdings" panose="05000000000000000000" pitchFamily="2" charset="2"/>
              </a:rPr>
              <a:t></a:t>
            </a:r>
            <a:r>
              <a:rPr lang="en-US" sz="2400" b="1">
                <a:solidFill>
                  <a:srgbClr val="FF0000"/>
                </a:solidFill>
              </a:rPr>
              <a:t>“How small a thing can I see?”</a:t>
            </a:r>
          </a:p>
          <a:p>
            <a:pPr marL="0" indent="0">
              <a:buNone/>
            </a:pPr>
            <a:endParaRPr lang="en-US" sz="2400" b="1"/>
          </a:p>
          <a:p>
            <a:pPr marL="0" indent="0">
              <a:buNone/>
            </a:pPr>
            <a:r>
              <a:rPr lang="en-US" sz="2400" b="1">
                <a:solidFill>
                  <a:srgbClr val="00B050"/>
                </a:solidFill>
              </a:rPr>
              <a:t>2) Spectral resolution</a:t>
            </a:r>
          </a:p>
          <a:p>
            <a:pPr marL="0" indent="0">
              <a:buNone/>
            </a:pPr>
            <a:r>
              <a:rPr lang="en-US" sz="2400" b="1">
                <a:solidFill>
                  <a:srgbClr val="00B050"/>
                </a:solidFill>
              </a:rPr>
              <a:t>	</a:t>
            </a:r>
            <a:r>
              <a:rPr lang="en-US" sz="2400" b="1">
                <a:solidFill>
                  <a:srgbClr val="00B050"/>
                </a:solidFill>
                <a:sym typeface="Wingdings" panose="05000000000000000000" pitchFamily="2" charset="2"/>
              </a:rPr>
              <a:t> </a:t>
            </a:r>
            <a:r>
              <a:rPr lang="en-US" sz="2400" b="1">
                <a:solidFill>
                  <a:srgbClr val="00B050"/>
                </a:solidFill>
              </a:rPr>
              <a:t>“Which wavelengths can I separate?”</a:t>
            </a:r>
          </a:p>
          <a:p>
            <a:pPr marL="0" indent="0">
              <a:buNone/>
            </a:pPr>
            <a:endParaRPr lang="en-US" sz="2400" b="1"/>
          </a:p>
          <a:p>
            <a:pPr marL="0" indent="0">
              <a:buNone/>
            </a:pPr>
            <a:r>
              <a:rPr lang="en-US" sz="2400" b="1">
                <a:solidFill>
                  <a:srgbClr val="0070C0"/>
                </a:solidFill>
              </a:rPr>
              <a:t>3) Radiance/Radiometric resolution </a:t>
            </a:r>
          </a:p>
          <a:p>
            <a:pPr marL="0" indent="0">
              <a:buNone/>
            </a:pPr>
            <a:r>
              <a:rPr lang="en-US" sz="2400" b="1">
                <a:solidFill>
                  <a:srgbClr val="0070C0"/>
                </a:solidFill>
              </a:rPr>
              <a:t>	</a:t>
            </a:r>
            <a:r>
              <a:rPr lang="en-US" sz="2400" b="1">
                <a:solidFill>
                  <a:srgbClr val="0070C0"/>
                </a:solidFill>
                <a:sym typeface="Wingdings" panose="05000000000000000000" pitchFamily="2" charset="2"/>
              </a:rPr>
              <a:t> </a:t>
            </a:r>
            <a:r>
              <a:rPr lang="en-US" sz="2400" b="1">
                <a:solidFill>
                  <a:srgbClr val="0070C0"/>
                </a:solidFill>
              </a:rPr>
              <a:t>“How finely can I grade brightness?”</a:t>
            </a:r>
          </a:p>
          <a:p>
            <a:pPr marL="0" indent="0">
              <a:buNone/>
            </a:pPr>
            <a:endParaRPr lang="en-US" sz="2400" b="1"/>
          </a:p>
          <a:p>
            <a:pPr marL="0" indent="0">
              <a:buNone/>
            </a:pPr>
            <a:r>
              <a:rPr lang="en-US" sz="2400" b="1">
                <a:solidFill>
                  <a:srgbClr val="7030A0"/>
                </a:solidFill>
              </a:rPr>
              <a:t>4) Temporal resolution</a:t>
            </a:r>
          </a:p>
          <a:p>
            <a:pPr marL="0" indent="0">
              <a:buNone/>
            </a:pPr>
            <a:r>
              <a:rPr lang="en-US" sz="2400" b="1">
                <a:solidFill>
                  <a:srgbClr val="7030A0"/>
                </a:solidFill>
              </a:rPr>
              <a:t>	</a:t>
            </a:r>
            <a:r>
              <a:rPr lang="en-US" sz="2400" b="1">
                <a:solidFill>
                  <a:srgbClr val="7030A0"/>
                </a:solidFill>
                <a:sym typeface="Wingdings" panose="05000000000000000000" pitchFamily="2" charset="2"/>
              </a:rPr>
              <a:t> </a:t>
            </a:r>
            <a:r>
              <a:rPr lang="en-US" sz="2400" b="1">
                <a:solidFill>
                  <a:srgbClr val="7030A0"/>
                </a:solidFill>
              </a:rPr>
              <a:t>“How often can I sample in time?”</a:t>
            </a:r>
          </a:p>
        </p:txBody>
      </p:sp>
      <p:sp>
        <p:nvSpPr>
          <p:cNvPr id="4" name="Slide Number Placeholder 3">
            <a:extLst>
              <a:ext uri="{FF2B5EF4-FFF2-40B4-BE49-F238E27FC236}">
                <a16:creationId xmlns:a16="http://schemas.microsoft.com/office/drawing/2014/main" id="{C58F674D-18FD-F4E0-BD8D-42F184EA8A87}"/>
              </a:ext>
            </a:extLst>
          </p:cNvPr>
          <p:cNvSpPr>
            <a:spLocks noGrp="1"/>
          </p:cNvSpPr>
          <p:nvPr>
            <p:ph type="sldNum" sz="quarter" idx="12"/>
          </p:nvPr>
        </p:nvSpPr>
        <p:spPr/>
        <p:txBody>
          <a:bodyPr/>
          <a:lstStyle/>
          <a:p>
            <a:fld id="{9A3029B7-FE6B-4680-9049-80E8298A0825}" type="slidenum">
              <a:rPr lang="en-US" smtClean="0"/>
              <a:t>29</a:t>
            </a:fld>
            <a:endParaRPr lang="en-US"/>
          </a:p>
        </p:txBody>
      </p:sp>
      <p:sp>
        <p:nvSpPr>
          <p:cNvPr id="5" name="Rectangle 4">
            <a:extLst>
              <a:ext uri="{FF2B5EF4-FFF2-40B4-BE49-F238E27FC236}">
                <a16:creationId xmlns:a16="http://schemas.microsoft.com/office/drawing/2014/main" id="{49AE69B0-5046-24B4-3DFC-CA5E3B61B325}"/>
              </a:ext>
            </a:extLst>
          </p:cNvPr>
          <p:cNvSpPr/>
          <p:nvPr/>
        </p:nvSpPr>
        <p:spPr>
          <a:xfrm>
            <a:off x="304621" y="5193089"/>
            <a:ext cx="6735615" cy="93726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883177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0E4A3-BD5E-5085-975E-6984A5F0ABC1}"/>
              </a:ext>
            </a:extLst>
          </p:cNvPr>
          <p:cNvSpPr>
            <a:spLocks noGrp="1"/>
          </p:cNvSpPr>
          <p:nvPr>
            <p:ph type="title"/>
          </p:nvPr>
        </p:nvSpPr>
        <p:spPr/>
        <p:txBody>
          <a:bodyPr/>
          <a:lstStyle/>
          <a:p>
            <a:r>
              <a:rPr lang="en-US">
                <a:solidFill>
                  <a:srgbClr val="7030A0"/>
                </a:solidFill>
              </a:rPr>
              <a:t>Temporal Resolution</a:t>
            </a:r>
          </a:p>
        </p:txBody>
      </p:sp>
      <p:sp>
        <p:nvSpPr>
          <p:cNvPr id="3" name="Content Placeholder 2">
            <a:extLst>
              <a:ext uri="{FF2B5EF4-FFF2-40B4-BE49-F238E27FC236}">
                <a16:creationId xmlns:a16="http://schemas.microsoft.com/office/drawing/2014/main" id="{AF259403-B0FE-C159-E212-22C8E029E7F8}"/>
              </a:ext>
            </a:extLst>
          </p:cNvPr>
          <p:cNvSpPr>
            <a:spLocks noGrp="1"/>
          </p:cNvSpPr>
          <p:nvPr>
            <p:ph idx="1"/>
          </p:nvPr>
        </p:nvSpPr>
        <p:spPr/>
        <p:txBody>
          <a:bodyPr/>
          <a:lstStyle/>
          <a:p>
            <a:pPr marL="0" indent="0">
              <a:buNone/>
            </a:pPr>
            <a:r>
              <a:rPr lang="en-US" sz="2000"/>
              <a:t>Ability to resolve </a:t>
            </a:r>
            <a:r>
              <a:rPr lang="en-US" sz="2000" b="1"/>
              <a:t>changes over time</a:t>
            </a:r>
            <a:r>
              <a:rPr lang="en-US" sz="2000"/>
              <a:t>.</a:t>
            </a:r>
          </a:p>
          <a:p>
            <a:r>
              <a:rPr lang="en-US" sz="2000" b="1"/>
              <a:t>How it’s measured:</a:t>
            </a:r>
            <a:r>
              <a:rPr lang="en-US" sz="2000"/>
              <a:t> Frame rate (fps), exposure time, </a:t>
            </a:r>
            <a:r>
              <a:rPr lang="en-US" sz="2000" b="1"/>
              <a:t>revisit rate</a:t>
            </a:r>
            <a:r>
              <a:rPr lang="en-US" sz="2000"/>
              <a:t>.</a:t>
            </a:r>
          </a:p>
          <a:p>
            <a:r>
              <a:rPr lang="en-US" sz="2000" b="1"/>
              <a:t>Trade-off:</a:t>
            </a:r>
            <a:r>
              <a:rPr lang="en-US" sz="2000"/>
              <a:t> Higher fps or shorter exposure reduces light per frame → potential SNR loss; rolling vs. global shutter matters for motion.</a:t>
            </a:r>
          </a:p>
          <a:p>
            <a:endParaRPr lang="en-US"/>
          </a:p>
        </p:txBody>
      </p:sp>
      <p:sp>
        <p:nvSpPr>
          <p:cNvPr id="4" name="Slide Number Placeholder 3">
            <a:extLst>
              <a:ext uri="{FF2B5EF4-FFF2-40B4-BE49-F238E27FC236}">
                <a16:creationId xmlns:a16="http://schemas.microsoft.com/office/drawing/2014/main" id="{BD152987-9FB1-173F-9D10-437B55A8860A}"/>
              </a:ext>
            </a:extLst>
          </p:cNvPr>
          <p:cNvSpPr>
            <a:spLocks noGrp="1"/>
          </p:cNvSpPr>
          <p:nvPr>
            <p:ph type="sldNum" sz="quarter" idx="12"/>
          </p:nvPr>
        </p:nvSpPr>
        <p:spPr/>
        <p:txBody>
          <a:bodyPr/>
          <a:lstStyle/>
          <a:p>
            <a:fld id="{9A3029B7-FE6B-4680-9049-80E8298A0825}" type="slidenum">
              <a:rPr lang="en-US" smtClean="0"/>
              <a:t>30</a:t>
            </a:fld>
            <a:endParaRPr lang="en-US"/>
          </a:p>
        </p:txBody>
      </p:sp>
      <p:pic>
        <p:nvPicPr>
          <p:cNvPr id="5" name="Picture 4" descr="An aerial view of a town&#10;&#10;Description automatically generated">
            <a:extLst>
              <a:ext uri="{FF2B5EF4-FFF2-40B4-BE49-F238E27FC236}">
                <a16:creationId xmlns:a16="http://schemas.microsoft.com/office/drawing/2014/main" id="{2CD882DF-0B88-B242-BCA7-5DEF5C810F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960" y="2670648"/>
            <a:ext cx="6309360" cy="3559411"/>
          </a:xfrm>
          <a:prstGeom prst="rect">
            <a:avLst/>
          </a:prstGeom>
        </p:spPr>
      </p:pic>
      <p:pic>
        <p:nvPicPr>
          <p:cNvPr id="6" name="Picture 5" descr="A city in the water&#10;&#10;Description automatically generated with medium confidence">
            <a:extLst>
              <a:ext uri="{FF2B5EF4-FFF2-40B4-BE49-F238E27FC236}">
                <a16:creationId xmlns:a16="http://schemas.microsoft.com/office/drawing/2014/main" id="{495CDB18-B9EB-6399-ACFC-3AC603D55D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84100" y="3037247"/>
            <a:ext cx="6260295" cy="3427859"/>
          </a:xfrm>
          <a:prstGeom prst="rect">
            <a:avLst/>
          </a:prstGeom>
        </p:spPr>
      </p:pic>
    </p:spTree>
    <p:extLst>
      <p:ext uri="{BB962C8B-B14F-4D97-AF65-F5344CB8AC3E}">
        <p14:creationId xmlns:p14="http://schemas.microsoft.com/office/powerpoint/2010/main" val="398946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C9A31-DFB7-37BA-EA2C-0E261DDDDD55}"/>
              </a:ext>
            </a:extLst>
          </p:cNvPr>
          <p:cNvSpPr>
            <a:spLocks noGrp="1"/>
          </p:cNvSpPr>
          <p:nvPr>
            <p:ph type="title"/>
          </p:nvPr>
        </p:nvSpPr>
        <p:spPr/>
        <p:txBody>
          <a:bodyPr/>
          <a:lstStyle/>
          <a:p>
            <a:r>
              <a:rPr lang="en-US">
                <a:solidFill>
                  <a:srgbClr val="7030A0"/>
                </a:solidFill>
              </a:rPr>
              <a:t>Temporal Resolution (2)</a:t>
            </a:r>
            <a:endParaRPr lang="en-US"/>
          </a:p>
        </p:txBody>
      </p:sp>
      <p:sp>
        <p:nvSpPr>
          <p:cNvPr id="4" name="Slide Number Placeholder 3">
            <a:extLst>
              <a:ext uri="{FF2B5EF4-FFF2-40B4-BE49-F238E27FC236}">
                <a16:creationId xmlns:a16="http://schemas.microsoft.com/office/drawing/2014/main" id="{D2132958-02D2-3C44-E2FD-D055794A3FBA}"/>
              </a:ext>
            </a:extLst>
          </p:cNvPr>
          <p:cNvSpPr>
            <a:spLocks noGrp="1"/>
          </p:cNvSpPr>
          <p:nvPr>
            <p:ph type="sldNum" sz="quarter" idx="12"/>
          </p:nvPr>
        </p:nvSpPr>
        <p:spPr/>
        <p:txBody>
          <a:bodyPr/>
          <a:lstStyle/>
          <a:p>
            <a:fld id="{9A3029B7-FE6B-4680-9049-80E8298A0825}" type="slidenum">
              <a:rPr lang="en-US" smtClean="0"/>
              <a:t>31</a:t>
            </a:fld>
            <a:endParaRPr lang="en-US"/>
          </a:p>
        </p:txBody>
      </p:sp>
      <p:pic>
        <p:nvPicPr>
          <p:cNvPr id="5" name="Picture 4" descr="An aerial view of a building&#10;&#10;AI-generated content may be incorrect.">
            <a:extLst>
              <a:ext uri="{FF2B5EF4-FFF2-40B4-BE49-F238E27FC236}">
                <a16:creationId xmlns:a16="http://schemas.microsoft.com/office/drawing/2014/main" id="{29989366-8853-4E8B-33AB-8364CE5EF1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960" y="1011230"/>
            <a:ext cx="7211585" cy="4285389"/>
          </a:xfrm>
          <a:prstGeom prst="rect">
            <a:avLst/>
          </a:prstGeom>
        </p:spPr>
      </p:pic>
      <p:pic>
        <p:nvPicPr>
          <p:cNvPr id="6" name="Picture 5" descr="An aerial view of a construction site&#10;&#10;AI-generated content may be incorrect.">
            <a:extLst>
              <a:ext uri="{FF2B5EF4-FFF2-40B4-BE49-F238E27FC236}">
                <a16:creationId xmlns:a16="http://schemas.microsoft.com/office/drawing/2014/main" id="{12062C98-2BA5-B046-793D-D37FE008FD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7339" y="2214593"/>
            <a:ext cx="7106327" cy="4250513"/>
          </a:xfrm>
          <a:prstGeom prst="rect">
            <a:avLst/>
          </a:prstGeom>
        </p:spPr>
      </p:pic>
    </p:spTree>
    <p:extLst>
      <p:ext uri="{BB962C8B-B14F-4D97-AF65-F5344CB8AC3E}">
        <p14:creationId xmlns:p14="http://schemas.microsoft.com/office/powerpoint/2010/main" val="1478068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4E9ED5-C519-B82F-22BA-E26D5ED0115B}"/>
              </a:ext>
            </a:extLst>
          </p:cNvPr>
          <p:cNvSpPr>
            <a:spLocks noGrp="1"/>
          </p:cNvSpPr>
          <p:nvPr>
            <p:ph type="title"/>
          </p:nvPr>
        </p:nvSpPr>
        <p:spPr/>
        <p:txBody>
          <a:bodyPr/>
          <a:lstStyle/>
          <a:p>
            <a:r>
              <a:rPr lang="en-US"/>
              <a:t>Extra Topics</a:t>
            </a:r>
          </a:p>
        </p:txBody>
      </p:sp>
      <p:sp>
        <p:nvSpPr>
          <p:cNvPr id="4" name="Slide Number Placeholder 3">
            <a:extLst>
              <a:ext uri="{FF2B5EF4-FFF2-40B4-BE49-F238E27FC236}">
                <a16:creationId xmlns:a16="http://schemas.microsoft.com/office/drawing/2014/main" id="{BAD9114B-F1C4-CE24-2CD2-0251728712F4}"/>
              </a:ext>
            </a:extLst>
          </p:cNvPr>
          <p:cNvSpPr>
            <a:spLocks noGrp="1"/>
          </p:cNvSpPr>
          <p:nvPr>
            <p:ph type="sldNum" sz="quarter" idx="12"/>
          </p:nvPr>
        </p:nvSpPr>
        <p:spPr/>
        <p:txBody>
          <a:bodyPr/>
          <a:lstStyle/>
          <a:p>
            <a:fld id="{9A3029B7-FE6B-4680-9049-80E8298A0825}" type="slidenum">
              <a:rPr lang="en-US" smtClean="0"/>
              <a:t>32</a:t>
            </a:fld>
            <a:endParaRPr lang="en-US"/>
          </a:p>
        </p:txBody>
      </p:sp>
    </p:spTree>
    <p:extLst>
      <p:ext uri="{BB962C8B-B14F-4D97-AF65-F5344CB8AC3E}">
        <p14:creationId xmlns:p14="http://schemas.microsoft.com/office/powerpoint/2010/main" val="41127701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1FCB5-B04E-0F28-1139-D46172AA23BD}"/>
              </a:ext>
            </a:extLst>
          </p:cNvPr>
          <p:cNvSpPr>
            <a:spLocks noGrp="1"/>
          </p:cNvSpPr>
          <p:nvPr>
            <p:ph type="title"/>
          </p:nvPr>
        </p:nvSpPr>
        <p:spPr/>
        <p:txBody>
          <a:bodyPr/>
          <a:lstStyle/>
          <a:p>
            <a:r>
              <a:rPr lang="en-US"/>
              <a:t>Synthetic Aperture Radar (SAR)</a:t>
            </a:r>
          </a:p>
        </p:txBody>
      </p:sp>
      <p:sp>
        <p:nvSpPr>
          <p:cNvPr id="4" name="Slide Number Placeholder 3">
            <a:extLst>
              <a:ext uri="{FF2B5EF4-FFF2-40B4-BE49-F238E27FC236}">
                <a16:creationId xmlns:a16="http://schemas.microsoft.com/office/drawing/2014/main" id="{432BF5A7-FDBC-CEBE-37BF-7F14DFD1DD68}"/>
              </a:ext>
            </a:extLst>
          </p:cNvPr>
          <p:cNvSpPr>
            <a:spLocks noGrp="1"/>
          </p:cNvSpPr>
          <p:nvPr>
            <p:ph type="sldNum" sz="quarter" idx="12"/>
          </p:nvPr>
        </p:nvSpPr>
        <p:spPr/>
        <p:txBody>
          <a:bodyPr/>
          <a:lstStyle/>
          <a:p>
            <a:fld id="{9A3029B7-FE6B-4680-9049-80E8298A0825}" type="slidenum">
              <a:rPr lang="en-US" smtClean="0"/>
              <a:t>33</a:t>
            </a:fld>
            <a:endParaRPr lang="en-US"/>
          </a:p>
        </p:txBody>
      </p:sp>
      <p:pic>
        <p:nvPicPr>
          <p:cNvPr id="13314" name="Picture 2" descr="Synthetic-aperture radar is making the Earth's surface watchable 24/7">
            <a:extLst>
              <a:ext uri="{FF2B5EF4-FFF2-40B4-BE49-F238E27FC236}">
                <a16:creationId xmlns:a16="http://schemas.microsoft.com/office/drawing/2014/main" id="{0DC33F8A-88F5-4773-4872-1B34E4C4516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349"/>
          <a:stretch>
            <a:fillRect/>
          </a:stretch>
        </p:blipFill>
        <p:spPr bwMode="auto">
          <a:xfrm>
            <a:off x="46364" y="1143000"/>
            <a:ext cx="3681371" cy="5425250"/>
          </a:xfrm>
          <a:prstGeom prst="rect">
            <a:avLst/>
          </a:prstGeom>
          <a:noFill/>
          <a:extLst>
            <a:ext uri="{909E8E84-426E-40DD-AFC4-6F175D3DCCD1}">
              <a14:hiddenFill xmlns:a14="http://schemas.microsoft.com/office/drawing/2010/main">
                <a:solidFill>
                  <a:srgbClr val="FFFFFF"/>
                </a:solidFill>
              </a14:hiddenFill>
            </a:ext>
          </a:extLst>
        </p:spPr>
      </p:pic>
      <p:pic>
        <p:nvPicPr>
          <p:cNvPr id="5" name="Content Placeholder 4" descr="A group of airplanes on a runway&#10;&#10;Description automatically generated">
            <a:extLst>
              <a:ext uri="{FF2B5EF4-FFF2-40B4-BE49-F238E27FC236}">
                <a16:creationId xmlns:a16="http://schemas.microsoft.com/office/drawing/2014/main" id="{DF306438-59D2-D52C-DAA7-D245006AA8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13460" y="1652526"/>
            <a:ext cx="5253433" cy="3964487"/>
          </a:xfrm>
          <a:prstGeom prst="rect">
            <a:avLst/>
          </a:prstGeom>
        </p:spPr>
      </p:pic>
    </p:spTree>
    <p:extLst>
      <p:ext uri="{BB962C8B-B14F-4D97-AF65-F5344CB8AC3E}">
        <p14:creationId xmlns:p14="http://schemas.microsoft.com/office/powerpoint/2010/main" val="25290710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70799-29DA-64E9-DD21-FFF0A3B5110E}"/>
              </a:ext>
            </a:extLst>
          </p:cNvPr>
          <p:cNvSpPr>
            <a:spLocks noGrp="1"/>
          </p:cNvSpPr>
          <p:nvPr>
            <p:ph type="title"/>
          </p:nvPr>
        </p:nvSpPr>
        <p:spPr/>
        <p:txBody>
          <a:bodyPr/>
          <a:lstStyle/>
          <a:p>
            <a:r>
              <a:rPr lang="en-US"/>
              <a:t>What’s going on here?</a:t>
            </a:r>
          </a:p>
        </p:txBody>
      </p:sp>
      <p:sp>
        <p:nvSpPr>
          <p:cNvPr id="4" name="Slide Number Placeholder 3">
            <a:extLst>
              <a:ext uri="{FF2B5EF4-FFF2-40B4-BE49-F238E27FC236}">
                <a16:creationId xmlns:a16="http://schemas.microsoft.com/office/drawing/2014/main" id="{3F4D2F2F-F353-96AF-E2E6-39451FBCDE1A}"/>
              </a:ext>
            </a:extLst>
          </p:cNvPr>
          <p:cNvSpPr>
            <a:spLocks noGrp="1"/>
          </p:cNvSpPr>
          <p:nvPr>
            <p:ph type="sldNum" sz="quarter" idx="12"/>
          </p:nvPr>
        </p:nvSpPr>
        <p:spPr/>
        <p:txBody>
          <a:bodyPr/>
          <a:lstStyle/>
          <a:p>
            <a:fld id="{9A3029B7-FE6B-4680-9049-80E8298A0825}" type="slidenum">
              <a:rPr lang="en-US" smtClean="0"/>
              <a:t>34</a:t>
            </a:fld>
            <a:endParaRPr lang="en-US"/>
          </a:p>
        </p:txBody>
      </p:sp>
      <p:pic>
        <p:nvPicPr>
          <p:cNvPr id="12290" name="Picture 2" descr="CDN media">
            <a:extLst>
              <a:ext uri="{FF2B5EF4-FFF2-40B4-BE49-F238E27FC236}">
                <a16:creationId xmlns:a16="http://schemas.microsoft.com/office/drawing/2014/main" id="{07454E88-27A8-E6C3-ED6F-5A84DC1CC8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4664" y="971219"/>
            <a:ext cx="7423736" cy="57535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07880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BCB68-3A2E-460F-BEBD-2B565FBC3551}"/>
              </a:ext>
            </a:extLst>
          </p:cNvPr>
          <p:cNvSpPr>
            <a:spLocks noGrp="1"/>
          </p:cNvSpPr>
          <p:nvPr>
            <p:ph type="title"/>
          </p:nvPr>
        </p:nvSpPr>
        <p:spPr/>
        <p:txBody>
          <a:bodyPr>
            <a:normAutofit/>
          </a:bodyPr>
          <a:lstStyle/>
          <a:p>
            <a:r>
              <a:rPr lang="en-US"/>
              <a:t>Space-Based Infrared System (SBIRS)</a:t>
            </a:r>
          </a:p>
        </p:txBody>
      </p:sp>
      <p:sp>
        <p:nvSpPr>
          <p:cNvPr id="4" name="Slide Number Placeholder 3">
            <a:extLst>
              <a:ext uri="{FF2B5EF4-FFF2-40B4-BE49-F238E27FC236}">
                <a16:creationId xmlns:a16="http://schemas.microsoft.com/office/drawing/2014/main" id="{E426EE78-735F-24F8-3899-F3022AC58630}"/>
              </a:ext>
            </a:extLst>
          </p:cNvPr>
          <p:cNvSpPr>
            <a:spLocks noGrp="1"/>
          </p:cNvSpPr>
          <p:nvPr>
            <p:ph type="sldNum" sz="quarter" idx="12"/>
          </p:nvPr>
        </p:nvSpPr>
        <p:spPr/>
        <p:txBody>
          <a:bodyPr/>
          <a:lstStyle/>
          <a:p>
            <a:fld id="{9A3029B7-FE6B-4680-9049-80E8298A0825}" type="slidenum">
              <a:rPr lang="en-US" smtClean="0"/>
              <a:t>35</a:t>
            </a:fld>
            <a:endParaRPr lang="en-US"/>
          </a:p>
        </p:txBody>
      </p:sp>
      <p:pic>
        <p:nvPicPr>
          <p:cNvPr id="16386" name="Picture 2" descr="Space-Based Infrared System (SBIRS) | Northrop Grumman">
            <a:extLst>
              <a:ext uri="{FF2B5EF4-FFF2-40B4-BE49-F238E27FC236}">
                <a16:creationId xmlns:a16="http://schemas.microsoft.com/office/drawing/2014/main" id="{0BCE0DE3-0AA5-6E4E-47A0-3DDA94425C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969791"/>
            <a:ext cx="8075517" cy="58477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863403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723aa48c-73f2-40da-86b1-f1ae286477fe" xsi:nil="true"/>
    <lcf76f155ced4ddcb4097134ff3c332f xmlns="7584c457-6b5a-4caa-be47-be979cbe6555">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0C902C3CBC54D4FA7075784AD88F5EC" ma:contentTypeVersion="21" ma:contentTypeDescription="Create a new document." ma:contentTypeScope="" ma:versionID="aab13084cbfb645f826f7dc6731109d6">
  <xsd:schema xmlns:xsd="http://www.w3.org/2001/XMLSchema" xmlns:xs="http://www.w3.org/2001/XMLSchema" xmlns:p="http://schemas.microsoft.com/office/2006/metadata/properties" xmlns:ns1="http://schemas.microsoft.com/sharepoint/v3" xmlns:ns2="7584c457-6b5a-4caa-be47-be979cbe6555" xmlns:ns3="723aa48c-73f2-40da-86b1-f1ae286477fe" targetNamespace="http://schemas.microsoft.com/office/2006/metadata/properties" ma:root="true" ma:fieldsID="2636cc15ff2f3d2629ecec77a65aea39" ns1:_="" ns2:_="" ns3:_="">
    <xsd:import namespace="http://schemas.microsoft.com/sharepoint/v3"/>
    <xsd:import namespace="7584c457-6b5a-4caa-be47-be979cbe6555"/>
    <xsd:import namespace="723aa48c-73f2-40da-86b1-f1ae286477fe"/>
    <xsd:element name="properties">
      <xsd:complexType>
        <xsd:sequence>
          <xsd:element name="documentManagement">
            <xsd:complexType>
              <xsd:all>
                <xsd:element ref="ns2:MediaServiceMetadata" minOccurs="0"/>
                <xsd:element ref="ns2:MediaServiceFastMetadata" minOccurs="0"/>
                <xsd:element ref="ns1:_ip_UnifiedCompliancePolicyProperties" minOccurs="0"/>
                <xsd:element ref="ns1:_ip_UnifiedCompliancePolicyUIAc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Location" minOccurs="0"/>
                <xsd:element ref="ns2:MediaServiceOCR"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0" nillable="true" ma:displayName="Unified Compliance Policy Properties" ma:hidden="true" ma:internalName="_ip_UnifiedCompliancePolicyProperties">
      <xsd:simpleType>
        <xsd:restriction base="dms:Note"/>
      </xsd:simpleType>
    </xsd:element>
    <xsd:element name="_ip_UnifiedCompliancePolicyUIAction" ma:index="1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584c457-6b5a-4caa-be47-be979cbe655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d16a427a-858a-487d-80a3-21f23792e06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23aa48c-73f2-40da-86b1-f1ae286477fe"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18387b12-f69f-4719-8b38-c3231d645ace}" ma:internalName="TaxCatchAll" ma:showField="CatchAllData" ma:web="723aa48c-73f2-40da-86b1-f1ae286477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286B8C-FFD3-47CE-9E8F-4104A49DEB88}">
  <ds:schemaRefs>
    <ds:schemaRef ds:uri="http://schemas.microsoft.com/sharepoint/v3/contenttype/forms"/>
  </ds:schemaRefs>
</ds:datastoreItem>
</file>

<file path=customXml/itemProps2.xml><?xml version="1.0" encoding="utf-8"?>
<ds:datastoreItem xmlns:ds="http://schemas.openxmlformats.org/officeDocument/2006/customXml" ds:itemID="{0996DB7C-76B3-472D-8F6F-C8E69FE568F8}">
  <ds:schemaRefs>
    <ds:schemaRef ds:uri="723aa48c-73f2-40da-86b1-f1ae286477fe"/>
    <ds:schemaRef ds:uri="7584c457-6b5a-4caa-be47-be979cbe655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544414B6-4D72-4DFD-A90A-9E52A06D9100}">
  <ds:schemaRefs>
    <ds:schemaRef ds:uri="723aa48c-73f2-40da-86b1-f1ae286477fe"/>
    <ds:schemaRef ds:uri="7584c457-6b5a-4caa-be47-be979cbe655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7ab80a06-f029-45c0-84d1-7dad19ce3c61}" enabled="0" method="" siteId="{7ab80a06-f029-45c0-84d1-7dad19ce3c61}" removed="1"/>
</clbl:labelList>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Letter Paper (8.5x11 in)</PresentationFormat>
  <Slides>35</Slides>
  <Notes>16</Notes>
  <HiddenSlides>0</HiddenSlide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Office Theme</vt:lpstr>
      <vt:lpstr>Lesson 9</vt:lpstr>
      <vt:lpstr>What is this? (and why is it special?)</vt:lpstr>
      <vt:lpstr>Electromagnetic Spectrum (again)</vt:lpstr>
      <vt:lpstr>EM Spectrum: Useful Bands for Remote Sensing</vt:lpstr>
      <vt:lpstr>Atmospheric Windows (again)</vt:lpstr>
      <vt:lpstr>Wein’s Law</vt:lpstr>
      <vt:lpstr>Wein’s Law</vt:lpstr>
      <vt:lpstr>Solar Radiation</vt:lpstr>
      <vt:lpstr>Remote Sensing</vt:lpstr>
      <vt:lpstr>Passive vs. Active Sensors</vt:lpstr>
      <vt:lpstr>Imaging Sensors (Dahlke)</vt:lpstr>
      <vt:lpstr>Imaging Sensors (Equation Sheet)</vt:lpstr>
      <vt:lpstr>Resolution</vt:lpstr>
      <vt:lpstr>Types of Resolution</vt:lpstr>
      <vt:lpstr>Spatial Resolution</vt:lpstr>
      <vt:lpstr>Spatial Resolution (2)</vt:lpstr>
      <vt:lpstr>Spatial Resolution (3)</vt:lpstr>
      <vt:lpstr>Spatial Resolution (4)</vt:lpstr>
      <vt:lpstr>Spatial Resolution: Diffraction Resolution</vt:lpstr>
      <vt:lpstr>Spatial Resolution: Pixel Resolution</vt:lpstr>
      <vt:lpstr>Spatial Resolution: Resolution Limitation</vt:lpstr>
      <vt:lpstr>Types of Resolution</vt:lpstr>
      <vt:lpstr>Spectral Resolution</vt:lpstr>
      <vt:lpstr>Spectral Resolution (2)</vt:lpstr>
      <vt:lpstr>Types of Resolution</vt:lpstr>
      <vt:lpstr>Radiance/Radiometric Resolution</vt:lpstr>
      <vt:lpstr>Radiance/Radiometric Resolution (2)</vt:lpstr>
      <vt:lpstr>Spectral vs Radiometric Resolution</vt:lpstr>
      <vt:lpstr>Types of Resolution</vt:lpstr>
      <vt:lpstr>Temporal Resolution</vt:lpstr>
      <vt:lpstr>Temporal Resolution (2)</vt:lpstr>
      <vt:lpstr>Extra Topics</vt:lpstr>
      <vt:lpstr>Synthetic Aperture Radar (SAR)</vt:lpstr>
      <vt:lpstr>What’s going on here?</vt:lpstr>
      <vt:lpstr>Space-Based Infrared System (SBIRS)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Harris, Wyatt J Lt Col USAF USAFA DF/DFAS</dc:creator>
  <cp:revision>1</cp:revision>
  <cp:lastPrinted>2025-08-01T16:37:26Z</cp:lastPrinted>
  <dcterms:created xsi:type="dcterms:W3CDTF">2025-07-17T17:53:42Z</dcterms:created>
  <dcterms:modified xsi:type="dcterms:W3CDTF">2026-02-06T04:30:18Z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0x010100E0C902C3CBC54D4FA7075784AD88F5EC</vt:lpwstr>
  </property>
  <property fmtid="{D5CDD505-2E9C-101B-9397-08002B2CF9AE}" pid="3" name="MediaServiceImageTags">
    <vt:lpwstr/>
  </property>
</Properties>
</file>