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handoutMasterIdLst>
    <p:handoutMasterId r:id="rId20"/>
  </p:handoutMasterIdLst>
  <p:sldIdLst>
    <p:sldId id="258" r:id="rId5"/>
    <p:sldId id="279" r:id="rId6"/>
    <p:sldId id="284" r:id="rId7"/>
    <p:sldId id="257" r:id="rId8"/>
    <p:sldId id="280" r:id="rId9"/>
    <p:sldId id="283" r:id="rId10"/>
    <p:sldId id="285" r:id="rId11"/>
    <p:sldId id="288" r:id="rId12"/>
    <p:sldId id="281" r:id="rId13"/>
    <p:sldId id="286" r:id="rId14"/>
    <p:sldId id="287" r:id="rId15"/>
    <p:sldId id="289" r:id="rId16"/>
    <p:sldId id="290" r:id="rId17"/>
    <p:sldId id="291" r:id="rId18"/>
    <p:sldId id="292" r:id="rId19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813B72-1558-42CF-9EBA-B5B857698498}" v="9" dt="2021-09-10T18:47:57.317"/>
    <p1510:client id="{4FEDB00B-483A-4202-B79D-01EDD880FC8A}" v="1" dt="2021-08-19T05:11:16.887"/>
    <p1510:client id="{60D9AA0E-6971-4E0E-9D7F-7F1B97D38281}" v="1" dt="2021-09-10T16:05:07.793"/>
    <p1510:client id="{D646400E-D1A2-4140-9E7F-6DF1D197BBA6}" v="2" dt="2023-01-13T21:21:14.8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e, Connor D C2C USAF USAFA CW/CS08" userId="S::c23connor.rude@afacademy.af.edu::411921a6-884d-490b-a5b4-612f6607b260" providerId="AD" clId="Web-{09813B72-1558-42CF-9EBA-B5B857698498}"/>
    <pc:docChg chg="modSld">
      <pc:chgData name="Rude, Connor D C2C USAF USAFA CW/CS08" userId="S::c23connor.rude@afacademy.af.edu::411921a6-884d-490b-a5b4-612f6607b260" providerId="AD" clId="Web-{09813B72-1558-42CF-9EBA-B5B857698498}" dt="2021-09-10T18:47:54.083" v="0"/>
      <pc:docMkLst>
        <pc:docMk/>
      </pc:docMkLst>
      <pc:sldChg chg="modSp">
        <pc:chgData name="Rude, Connor D C2C USAF USAFA CW/CS08" userId="S::c23connor.rude@afacademy.af.edu::411921a6-884d-490b-a5b4-612f6607b260" providerId="AD" clId="Web-{09813B72-1558-42CF-9EBA-B5B857698498}" dt="2021-09-10T18:47:54.083" v="0"/>
        <pc:sldMkLst>
          <pc:docMk/>
          <pc:sldMk cId="544942319" sldId="288"/>
        </pc:sldMkLst>
        <pc:graphicFrameChg chg="mod modGraphic">
          <ac:chgData name="Rude, Connor D C2C USAF USAFA CW/CS08" userId="S::c23connor.rude@afacademy.af.edu::411921a6-884d-490b-a5b4-612f6607b260" providerId="AD" clId="Web-{09813B72-1558-42CF-9EBA-B5B857698498}" dt="2021-09-10T18:47:54.083" v="0"/>
          <ac:graphicFrameMkLst>
            <pc:docMk/>
            <pc:sldMk cId="544942319" sldId="288"/>
            <ac:graphicFrameMk id="5" creationId="{00000000-0000-0000-0000-000000000000}"/>
          </ac:graphicFrameMkLst>
        </pc:graphicFrameChg>
      </pc:sldChg>
    </pc:docChg>
  </pc:docChgLst>
  <pc:docChgLst>
    <pc:chgData name="Howell, Mikayla R C2C USAF USAFA CW/CS19" userId="S::c23mikayla.howell@afacademy.af.edu::3b691bd5-5eff-4de1-9b60-e47407c642cd" providerId="AD" clId="Web-{4FEDB00B-483A-4202-B79D-01EDD880FC8A}"/>
    <pc:docChg chg="modSld">
      <pc:chgData name="Howell, Mikayla R C2C USAF USAFA CW/CS19" userId="S::c23mikayla.howell@afacademy.af.edu::3b691bd5-5eff-4de1-9b60-e47407c642cd" providerId="AD" clId="Web-{4FEDB00B-483A-4202-B79D-01EDD880FC8A}" dt="2021-08-19T05:11:16.871" v="0" actId="1076"/>
      <pc:docMkLst>
        <pc:docMk/>
      </pc:docMkLst>
      <pc:sldChg chg="modSp">
        <pc:chgData name="Howell, Mikayla R C2C USAF USAFA CW/CS19" userId="S::c23mikayla.howell@afacademy.af.edu::3b691bd5-5eff-4de1-9b60-e47407c642cd" providerId="AD" clId="Web-{4FEDB00B-483A-4202-B79D-01EDD880FC8A}" dt="2021-08-19T05:11:16.871" v="0" actId="1076"/>
        <pc:sldMkLst>
          <pc:docMk/>
          <pc:sldMk cId="2476300278" sldId="284"/>
        </pc:sldMkLst>
        <pc:spChg chg="mod">
          <ac:chgData name="Howell, Mikayla R C2C USAF USAFA CW/CS19" userId="S::c23mikayla.howell@afacademy.af.edu::3b691bd5-5eff-4de1-9b60-e47407c642cd" providerId="AD" clId="Web-{4FEDB00B-483A-4202-B79D-01EDD880FC8A}" dt="2021-08-19T05:11:16.871" v="0" actId="1076"/>
          <ac:spMkLst>
            <pc:docMk/>
            <pc:sldMk cId="2476300278" sldId="284"/>
            <ac:spMk id="4" creationId="{00000000-0000-0000-0000-000000000000}"/>
          </ac:spMkLst>
        </pc:spChg>
      </pc:sldChg>
    </pc:docChg>
  </pc:docChgLst>
  <pc:docChgLst>
    <pc:chgData name="Avila, Daniel G C2C USAF USAFA CW/CS34" userId="S::c24daniel.avila@afacademy.af.edu::659ea037-9a52-4b48-8ce6-d320d5ac9455" providerId="AD" clId="Web-{D646400E-D1A2-4140-9E7F-6DF1D197BBA6}"/>
    <pc:docChg chg="sldOrd">
      <pc:chgData name="Avila, Daniel G C2C USAF USAFA CW/CS34" userId="S::c24daniel.avila@afacademy.af.edu::659ea037-9a52-4b48-8ce6-d320d5ac9455" providerId="AD" clId="Web-{D646400E-D1A2-4140-9E7F-6DF1D197BBA6}" dt="2023-01-13T21:21:14.854" v="1"/>
      <pc:docMkLst>
        <pc:docMk/>
      </pc:docMkLst>
      <pc:sldChg chg="ord">
        <pc:chgData name="Avila, Daniel G C2C USAF USAFA CW/CS34" userId="S::c24daniel.avila@afacademy.af.edu::659ea037-9a52-4b48-8ce6-d320d5ac9455" providerId="AD" clId="Web-{D646400E-D1A2-4140-9E7F-6DF1D197BBA6}" dt="2023-01-13T21:21:14.854" v="1"/>
        <pc:sldMkLst>
          <pc:docMk/>
          <pc:sldMk cId="2025763494" sldId="257"/>
        </pc:sldMkLst>
      </pc:sldChg>
    </pc:docChg>
  </pc:docChgLst>
  <pc:docChgLst>
    <pc:chgData name="Paller, Tristen G C2C USAF USAFA CW/CS14" userId="S::c23tristen.paller@afacademy.af.edu::b97e4d04-e436-4015-a19c-9ec7c2cb22e5" providerId="AD" clId="Web-{60D9AA0E-6971-4E0E-9D7F-7F1B97D38281}"/>
    <pc:docChg chg="modSld">
      <pc:chgData name="Paller, Tristen G C2C USAF USAFA CW/CS14" userId="S::c23tristen.paller@afacademy.af.edu::b97e4d04-e436-4015-a19c-9ec7c2cb22e5" providerId="AD" clId="Web-{60D9AA0E-6971-4E0E-9D7F-7F1B97D38281}" dt="2021-09-10T16:05:07.793" v="0"/>
      <pc:docMkLst>
        <pc:docMk/>
      </pc:docMkLst>
      <pc:sldChg chg="addSp">
        <pc:chgData name="Paller, Tristen G C2C USAF USAFA CW/CS14" userId="S::c23tristen.paller@afacademy.af.edu::b97e4d04-e436-4015-a19c-9ec7c2cb22e5" providerId="AD" clId="Web-{60D9AA0E-6971-4E0E-9D7F-7F1B97D38281}" dt="2021-09-10T16:05:07.793" v="0"/>
        <pc:sldMkLst>
          <pc:docMk/>
          <pc:sldMk cId="1321450072" sldId="258"/>
        </pc:sldMkLst>
        <pc:spChg chg="add">
          <ac:chgData name="Paller, Tristen G C2C USAF USAFA CW/CS14" userId="S::c23tristen.paller@afacademy.af.edu::b97e4d04-e436-4015-a19c-9ec7c2cb22e5" providerId="AD" clId="Web-{60D9AA0E-6971-4E0E-9D7F-7F1B97D38281}" dt="2021-09-10T16:05:07.793" v="0"/>
          <ac:spMkLst>
            <pc:docMk/>
            <pc:sldMk cId="1321450072" sldId="258"/>
            <ac:spMk id="2" creationId="{9F414D74-5235-4A76-AED7-E7E853FF3DC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1/13/2023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Astro 331 Lesson 3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/>
              <a:t>Space Mission Geometry</a:t>
            </a:r>
          </a:p>
          <a:p>
            <a:pPr marL="0" indent="0" algn="ctr">
              <a:buNone/>
            </a:pPr>
            <a:r>
              <a:rPr lang="en-US"/>
              <a:t>SMAD </a:t>
            </a:r>
            <a:r>
              <a:rPr lang="en-US" err="1"/>
              <a:t>Ch</a:t>
            </a:r>
            <a:r>
              <a:rPr lang="en-US"/>
              <a:t> 5.2-5.3</a:t>
            </a:r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fontAlgn="base"/>
            <a:r>
              <a:rPr lang="en-US" sz="2400"/>
              <a:t>Sketch and label key space mission geometry parameters on 2D and 3D representations of the Earth</a:t>
            </a:r>
          </a:p>
          <a:p>
            <a:pPr lvl="0" fontAlgn="base"/>
            <a:r>
              <a:rPr lang="en-US" sz="2400"/>
              <a:t>Perform space mission geometry calculations to identify whether a set of given parameters will satisfy mission requirements</a:t>
            </a:r>
          </a:p>
          <a:p>
            <a:pPr lvl="0" fontAlgn="base"/>
            <a:r>
              <a:rPr lang="en-US" sz="2400"/>
              <a:t>Perform space mission geometry calculations to identify the value(s) for an unknown parameter that will be compatible with other given space mission parameters</a:t>
            </a:r>
          </a:p>
        </p:txBody>
      </p:sp>
    </p:spTree>
    <p:extLst>
      <p:ext uri="{BB962C8B-B14F-4D97-AF65-F5344CB8AC3E}">
        <p14:creationId xmlns:p14="http://schemas.microsoft.com/office/powerpoint/2010/main" val="3381845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135206"/>
            <a:ext cx="7886700" cy="1325563"/>
          </a:xfrm>
        </p:spPr>
        <p:txBody>
          <a:bodyPr/>
          <a:lstStyle/>
          <a:p>
            <a:pPr algn="ctr"/>
            <a:r>
              <a:rPr lang="en-US"/>
              <a:t>Terms Definitions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02822"/>
                <a:ext cx="7886700" cy="5675379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Assuming spherical earth: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/>
                  <a:t> = Earth’s central angle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/>
                  <a:t>= Earth’s central angle to the horizon</a:t>
                </a:r>
              </a:p>
              <a:p>
                <a:pPr marL="0" indent="0">
                  <a:buNone/>
                </a:pPr>
                <a:r>
                  <a:rPr lang="en-US"/>
                  <a:t>	R</a:t>
                </a:r>
                <a:r>
                  <a:rPr lang="en-US" baseline="-25000"/>
                  <a:t>E</a:t>
                </a:r>
                <a:r>
                  <a:rPr lang="en-US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⨁</m:t>
                        </m:r>
                      </m:sub>
                    </m:sSub>
                  </m:oMath>
                </a14:m>
                <a:r>
                  <a:rPr lang="en-US"/>
                  <a:t> = Earth’s radius (6378.135 km)</a:t>
                </a:r>
              </a:p>
              <a:p>
                <a:pPr marL="0" indent="0">
                  <a:buNone/>
                </a:pPr>
                <a:r>
                  <a:rPr lang="en-US"/>
                  <a:t>	H = S/C altitude</a:t>
                </a:r>
              </a:p>
              <a:p>
                <a:pPr marL="0" indent="0">
                  <a:buNone/>
                </a:pPr>
                <a:r>
                  <a:rPr lang="en-US"/>
                  <a:t>	D = line-of-sight distance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/>
                  <a:t> = elevation angle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/>
                  <a:t> = Earth’s angular radius (viewed from S/C)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/>
                  <a:t> = nadir angle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𝑆𝑆𝑃</m:t>
                        </m:r>
                      </m:sub>
                    </m:sSub>
                  </m:oMath>
                </a14:m>
                <a:r>
                  <a:rPr lang="en-US"/>
                  <a:t> = latitude of SSP (*note: SMAD uses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𝐿𝑎𝑡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L</a:t>
                </a:r>
                <a:r>
                  <a:rPr lang="en-US" baseline="-25000"/>
                  <a:t>S</a:t>
                </a:r>
                <a:r>
                  <a:rPr lang="en-US"/>
                  <a:t> = longitude of SSP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𝑡𝑔𝑡</m:t>
                        </m:r>
                      </m:sub>
                    </m:sSub>
                  </m:oMath>
                </a14:m>
                <a:r>
                  <a:rPr lang="en-US"/>
                  <a:t>= latitude of target (*note: SMAD uses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𝐿𝑎𝑡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:r>
                  <a:rPr lang="en-US" err="1"/>
                  <a:t>L</a:t>
                </a:r>
                <a:r>
                  <a:rPr lang="en-US" baseline="-25000" err="1"/>
                  <a:t>tgt</a:t>
                </a:r>
                <a:r>
                  <a:rPr lang="en-US"/>
                  <a:t> = longitude of target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:r>
                  <a:rPr lang="el-GR"/>
                  <a:t>Δ</a:t>
                </a:r>
                <a:r>
                  <a:rPr lang="en-US"/>
                  <a:t>L = difference in SSP and </a:t>
                </a:r>
                <a:r>
                  <a:rPr lang="en-US" err="1"/>
                  <a:t>tgt</a:t>
                </a:r>
                <a:r>
                  <a:rPr lang="en-US"/>
                  <a:t> longitudes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/>
                  <a:t> = azimuth angle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       *where SSP = sub-satellite point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02822"/>
                <a:ext cx="7886700" cy="5675379"/>
              </a:xfrm>
              <a:blipFill>
                <a:blip r:embed="rId2"/>
                <a:stretch>
                  <a:fillRect l="-618" t="-19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630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642" y="161713"/>
            <a:ext cx="7886700" cy="1325563"/>
          </a:xfrm>
        </p:spPr>
        <p:txBody>
          <a:bodyPr/>
          <a:lstStyle/>
          <a:p>
            <a:pPr algn="ctr"/>
            <a:r>
              <a:rPr lang="en-US"/>
              <a:t>Earth Geometry Viewed from Space (2D)</a:t>
            </a:r>
          </a:p>
        </p:txBody>
      </p:sp>
      <p:sp>
        <p:nvSpPr>
          <p:cNvPr id="6" name="Rectangle 72"/>
          <p:cNvSpPr>
            <a:spLocks/>
          </p:cNvSpPr>
          <p:nvPr/>
        </p:nvSpPr>
        <p:spPr bwMode="auto">
          <a:xfrm>
            <a:off x="879778" y="6333469"/>
            <a:ext cx="7392428" cy="298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 b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Fig 5-13   Definition of Angular Relationships Between Satellite, Target, and Earth Center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42" y="1487276"/>
            <a:ext cx="7866295" cy="464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763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Earth Geometry Viewed from Space (3D)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481" y="6075072"/>
            <a:ext cx="62630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Fig 5-11    Relationship Between Geometry as Viewed from the Spacecraft and from the Center of the Earth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729" y="1750735"/>
            <a:ext cx="5326541" cy="426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35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Earth Geometry Viewed from Space (3D)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721" y="6119336"/>
            <a:ext cx="63085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Fig 5-12   Relationship Between Target and </a:t>
            </a:r>
            <a:r>
              <a:rPr lang="en-US" sz="1400" b="1" err="1"/>
              <a:t>Subsatellite</a:t>
            </a:r>
            <a:r>
              <a:rPr lang="en-US" sz="1400" b="1"/>
              <a:t> Point on the Earth’s Surface</a:t>
            </a:r>
          </a:p>
          <a:p>
            <a:pPr algn="ctr"/>
            <a:endParaRPr lang="en-US" sz="1400" b="1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663" y="1765539"/>
            <a:ext cx="4404674" cy="4433350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>
            <a:off x="4854722" y="4412202"/>
            <a:ext cx="651807" cy="535352"/>
          </a:xfrm>
          <a:custGeom>
            <a:avLst/>
            <a:gdLst>
              <a:gd name="connsiteX0" fmla="*/ 445247 w 651807"/>
              <a:gd name="connsiteY0" fmla="*/ 0 h 535352"/>
              <a:gd name="connsiteX1" fmla="*/ 534024 w 651807"/>
              <a:gd name="connsiteY1" fmla="*/ 8878 h 535352"/>
              <a:gd name="connsiteX2" fmla="*/ 560657 w 651807"/>
              <a:gd name="connsiteY2" fmla="*/ 17755 h 535352"/>
              <a:gd name="connsiteX3" fmla="*/ 587290 w 651807"/>
              <a:gd name="connsiteY3" fmla="*/ 53266 h 535352"/>
              <a:gd name="connsiteX4" fmla="*/ 640556 w 651807"/>
              <a:gd name="connsiteY4" fmla="*/ 115410 h 535352"/>
              <a:gd name="connsiteX5" fmla="*/ 640556 w 651807"/>
              <a:gd name="connsiteY5" fmla="*/ 257452 h 535352"/>
              <a:gd name="connsiteX6" fmla="*/ 631678 w 651807"/>
              <a:gd name="connsiteY6" fmla="*/ 284085 h 535352"/>
              <a:gd name="connsiteX7" fmla="*/ 596167 w 651807"/>
              <a:gd name="connsiteY7" fmla="*/ 337351 h 535352"/>
              <a:gd name="connsiteX8" fmla="*/ 542901 w 651807"/>
              <a:gd name="connsiteY8" fmla="*/ 443883 h 535352"/>
              <a:gd name="connsiteX9" fmla="*/ 498513 w 651807"/>
              <a:gd name="connsiteY9" fmla="*/ 488272 h 535352"/>
              <a:gd name="connsiteX10" fmla="*/ 400859 w 651807"/>
              <a:gd name="connsiteY10" fmla="*/ 523782 h 535352"/>
              <a:gd name="connsiteX11" fmla="*/ 374226 w 651807"/>
              <a:gd name="connsiteY11" fmla="*/ 532660 h 535352"/>
              <a:gd name="connsiteX12" fmla="*/ 143406 w 651807"/>
              <a:gd name="connsiteY12" fmla="*/ 355107 h 535352"/>
              <a:gd name="connsiteX13" fmla="*/ 125651 w 651807"/>
              <a:gd name="connsiteY13" fmla="*/ 337351 h 535352"/>
              <a:gd name="connsiteX14" fmla="*/ 116773 w 651807"/>
              <a:gd name="connsiteY14" fmla="*/ 310718 h 535352"/>
              <a:gd name="connsiteX15" fmla="*/ 99018 w 651807"/>
              <a:gd name="connsiteY15" fmla="*/ 284085 h 535352"/>
              <a:gd name="connsiteX16" fmla="*/ 116773 w 651807"/>
              <a:gd name="connsiteY16" fmla="*/ 230819 h 535352"/>
              <a:gd name="connsiteX17" fmla="*/ 125651 w 651807"/>
              <a:gd name="connsiteY17" fmla="*/ 204186 h 535352"/>
              <a:gd name="connsiteX18" fmla="*/ 107895 w 651807"/>
              <a:gd name="connsiteY18" fmla="*/ 221942 h 535352"/>
              <a:gd name="connsiteX19" fmla="*/ 90140 w 651807"/>
              <a:gd name="connsiteY19" fmla="*/ 248575 h 535352"/>
              <a:gd name="connsiteX20" fmla="*/ 45752 w 651807"/>
              <a:gd name="connsiteY20" fmla="*/ 257452 h 535352"/>
              <a:gd name="connsiteX21" fmla="*/ 27996 w 651807"/>
              <a:gd name="connsiteY21" fmla="*/ 275208 h 535352"/>
              <a:gd name="connsiteX22" fmla="*/ 1363 w 651807"/>
              <a:gd name="connsiteY22" fmla="*/ 292963 h 535352"/>
              <a:gd name="connsiteX23" fmla="*/ 19119 w 651807"/>
              <a:gd name="connsiteY23" fmla="*/ 275208 h 535352"/>
              <a:gd name="connsiteX24" fmla="*/ 72385 w 651807"/>
              <a:gd name="connsiteY24" fmla="*/ 239697 h 535352"/>
              <a:gd name="connsiteX25" fmla="*/ 99018 w 651807"/>
              <a:gd name="connsiteY25" fmla="*/ 213064 h 535352"/>
              <a:gd name="connsiteX26" fmla="*/ 152284 w 651807"/>
              <a:gd name="connsiteY26" fmla="*/ 195309 h 535352"/>
              <a:gd name="connsiteX27" fmla="*/ 187795 w 651807"/>
              <a:gd name="connsiteY27" fmla="*/ 275208 h 535352"/>
              <a:gd name="connsiteX28" fmla="*/ 196672 w 651807"/>
              <a:gd name="connsiteY28" fmla="*/ 301841 h 535352"/>
              <a:gd name="connsiteX29" fmla="*/ 214428 w 651807"/>
              <a:gd name="connsiteY29" fmla="*/ 319596 h 535352"/>
              <a:gd name="connsiteX30" fmla="*/ 241061 w 651807"/>
              <a:gd name="connsiteY30" fmla="*/ 363984 h 535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51807" h="535352">
                <a:moveTo>
                  <a:pt x="445247" y="0"/>
                </a:moveTo>
                <a:cubicBezTo>
                  <a:pt x="474839" y="2959"/>
                  <a:pt x="504630" y="4356"/>
                  <a:pt x="534024" y="8878"/>
                </a:cubicBezTo>
                <a:cubicBezTo>
                  <a:pt x="543273" y="10301"/>
                  <a:pt x="553468" y="11764"/>
                  <a:pt x="560657" y="17755"/>
                </a:cubicBezTo>
                <a:cubicBezTo>
                  <a:pt x="572024" y="27227"/>
                  <a:pt x="577547" y="42131"/>
                  <a:pt x="587290" y="53266"/>
                </a:cubicBezTo>
                <a:cubicBezTo>
                  <a:pt x="647570" y="122158"/>
                  <a:pt x="602535" y="58381"/>
                  <a:pt x="640556" y="115410"/>
                </a:cubicBezTo>
                <a:cubicBezTo>
                  <a:pt x="656750" y="180188"/>
                  <a:pt x="654317" y="154244"/>
                  <a:pt x="640556" y="257452"/>
                </a:cubicBezTo>
                <a:cubicBezTo>
                  <a:pt x="639319" y="266728"/>
                  <a:pt x="636223" y="275905"/>
                  <a:pt x="631678" y="284085"/>
                </a:cubicBezTo>
                <a:cubicBezTo>
                  <a:pt x="621315" y="302739"/>
                  <a:pt x="596167" y="337351"/>
                  <a:pt x="596167" y="337351"/>
                </a:cubicBezTo>
                <a:cubicBezTo>
                  <a:pt x="571664" y="410862"/>
                  <a:pt x="588794" y="375043"/>
                  <a:pt x="542901" y="443883"/>
                </a:cubicBezTo>
                <a:cubicBezTo>
                  <a:pt x="525146" y="470516"/>
                  <a:pt x="528105" y="473476"/>
                  <a:pt x="498513" y="488272"/>
                </a:cubicBezTo>
                <a:cubicBezTo>
                  <a:pt x="473807" y="500625"/>
                  <a:pt x="425718" y="515496"/>
                  <a:pt x="400859" y="523782"/>
                </a:cubicBezTo>
                <a:lnTo>
                  <a:pt x="374226" y="532660"/>
                </a:lnTo>
                <a:cubicBezTo>
                  <a:pt x="67076" y="520374"/>
                  <a:pt x="178191" y="598600"/>
                  <a:pt x="143406" y="355107"/>
                </a:cubicBezTo>
                <a:cubicBezTo>
                  <a:pt x="142222" y="346821"/>
                  <a:pt x="131569" y="343270"/>
                  <a:pt x="125651" y="337351"/>
                </a:cubicBezTo>
                <a:cubicBezTo>
                  <a:pt x="122692" y="328473"/>
                  <a:pt x="120958" y="319088"/>
                  <a:pt x="116773" y="310718"/>
                </a:cubicBezTo>
                <a:cubicBezTo>
                  <a:pt x="112001" y="301175"/>
                  <a:pt x="99018" y="294755"/>
                  <a:pt x="99018" y="284085"/>
                </a:cubicBezTo>
                <a:cubicBezTo>
                  <a:pt x="99018" y="265369"/>
                  <a:pt x="110855" y="248574"/>
                  <a:pt x="116773" y="230819"/>
                </a:cubicBezTo>
                <a:cubicBezTo>
                  <a:pt x="119732" y="221941"/>
                  <a:pt x="132268" y="197569"/>
                  <a:pt x="125651" y="204186"/>
                </a:cubicBezTo>
                <a:cubicBezTo>
                  <a:pt x="119732" y="210105"/>
                  <a:pt x="113124" y="215406"/>
                  <a:pt x="107895" y="221942"/>
                </a:cubicBezTo>
                <a:cubicBezTo>
                  <a:pt x="101230" y="230274"/>
                  <a:pt x="99404" y="243281"/>
                  <a:pt x="90140" y="248575"/>
                </a:cubicBezTo>
                <a:cubicBezTo>
                  <a:pt x="77039" y="256061"/>
                  <a:pt x="60548" y="254493"/>
                  <a:pt x="45752" y="257452"/>
                </a:cubicBezTo>
                <a:cubicBezTo>
                  <a:pt x="39833" y="263371"/>
                  <a:pt x="34532" y="269979"/>
                  <a:pt x="27996" y="275208"/>
                </a:cubicBezTo>
                <a:cubicBezTo>
                  <a:pt x="19664" y="281873"/>
                  <a:pt x="-6182" y="300507"/>
                  <a:pt x="1363" y="292963"/>
                </a:cubicBezTo>
                <a:cubicBezTo>
                  <a:pt x="7282" y="287045"/>
                  <a:pt x="12423" y="280230"/>
                  <a:pt x="19119" y="275208"/>
                </a:cubicBezTo>
                <a:cubicBezTo>
                  <a:pt x="36191" y="262404"/>
                  <a:pt x="57296" y="254786"/>
                  <a:pt x="72385" y="239697"/>
                </a:cubicBezTo>
                <a:cubicBezTo>
                  <a:pt x="81263" y="230819"/>
                  <a:pt x="88043" y="219161"/>
                  <a:pt x="99018" y="213064"/>
                </a:cubicBezTo>
                <a:cubicBezTo>
                  <a:pt x="115379" y="203975"/>
                  <a:pt x="152284" y="195309"/>
                  <a:pt x="152284" y="195309"/>
                </a:cubicBezTo>
                <a:cubicBezTo>
                  <a:pt x="180420" y="237513"/>
                  <a:pt x="166666" y="211822"/>
                  <a:pt x="187795" y="275208"/>
                </a:cubicBezTo>
                <a:cubicBezTo>
                  <a:pt x="190754" y="284086"/>
                  <a:pt x="190055" y="295224"/>
                  <a:pt x="196672" y="301841"/>
                </a:cubicBezTo>
                <a:cubicBezTo>
                  <a:pt x="202591" y="307759"/>
                  <a:pt x="209199" y="313060"/>
                  <a:pt x="214428" y="319596"/>
                </a:cubicBezTo>
                <a:cubicBezTo>
                  <a:pt x="228709" y="337447"/>
                  <a:pt x="231842" y="345547"/>
                  <a:pt x="241061" y="363984"/>
                </a:cubicBezTo>
              </a:path>
            </a:pathLst>
          </a:custGeom>
          <a:ln w="38100">
            <a:solidFill>
              <a:srgbClr val="0000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918229" y="4314548"/>
            <a:ext cx="248575" cy="248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854722" y="4947554"/>
                <a:ext cx="3687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722" y="4947554"/>
                <a:ext cx="368754" cy="276999"/>
              </a:xfrm>
              <a:prstGeom prst="rect">
                <a:avLst/>
              </a:prstGeom>
              <a:blipFill>
                <a:blip r:embed="rId3"/>
                <a:stretch>
                  <a:fillRect l="-13115" r="-3279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578353" y="2220001"/>
                <a:ext cx="23170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If Target is EAST of SSP,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&lt;180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353" y="2220001"/>
                <a:ext cx="2317072" cy="646331"/>
              </a:xfrm>
              <a:prstGeom prst="rect">
                <a:avLst/>
              </a:prstGeom>
              <a:blipFill>
                <a:blip r:embed="rId4"/>
                <a:stretch>
                  <a:fillRect l="-2105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6578353" y="3102889"/>
                <a:ext cx="231707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If Target is WEST of SSP,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&gt;180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353" y="3102889"/>
                <a:ext cx="2317072" cy="646331"/>
              </a:xfrm>
              <a:prstGeom prst="rect">
                <a:avLst/>
              </a:prstGeom>
              <a:blipFill>
                <a:blip r:embed="rId5"/>
                <a:stretch>
                  <a:fillRect l="-2105" t="-4717" r="-26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58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Note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/>
                  <a:t>Can express target location 3 different ways</a:t>
                </a:r>
              </a:p>
              <a:p>
                <a:pPr marL="0" indent="0">
                  <a:buNone/>
                </a:pPr>
                <a:r>
                  <a:rPr lang="en-US" sz="2400"/>
                  <a:t>1)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baseline="-25000" err="1"/>
                  <a:t>tgt</a:t>
                </a:r>
                <a:r>
                  <a:rPr lang="en-US" sz="2400"/>
                  <a:t>, </a:t>
                </a:r>
                <a:r>
                  <a:rPr lang="en-US" sz="2400" err="1"/>
                  <a:t>L</a:t>
                </a:r>
                <a:r>
                  <a:rPr lang="en-US" sz="2400" baseline="-25000" err="1"/>
                  <a:t>tgt</a:t>
                </a:r>
                <a:r>
                  <a:rPr lang="en-US" sz="2400"/>
                  <a:t> (latitude and longitude)</a:t>
                </a:r>
              </a:p>
              <a:p>
                <a:pPr marL="0" indent="0">
                  <a:buNone/>
                </a:pPr>
                <a:r>
                  <a:rPr lang="en-US" sz="2400"/>
                  <a:t>2)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400"/>
                  <a:t> (from SSP on Earth-centered sphere)</a:t>
                </a:r>
              </a:p>
              <a:p>
                <a:pPr marL="0" indent="0">
                  <a:buNone/>
                </a:pPr>
                <a:r>
                  <a:rPr lang="en-US" sz="2400"/>
                  <a:t>3) 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4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400"/>
                  <a:t> (from SSP on S/C-centered sphere)</a:t>
                </a:r>
              </a:p>
              <a:p>
                <a:endParaRPr lang="en-US" sz="360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6221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280" y="-151509"/>
            <a:ext cx="7886700" cy="1325563"/>
          </a:xfrm>
        </p:spPr>
        <p:txBody>
          <a:bodyPr/>
          <a:lstStyle/>
          <a:p>
            <a:r>
              <a:rPr lang="en-US"/>
              <a:t>Equations (</a:t>
            </a:r>
            <a:r>
              <a:rPr lang="en-US" err="1"/>
              <a:t>pt</a:t>
            </a:r>
            <a:r>
              <a:rPr lang="en-US"/>
              <a:t> 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6083251"/>
                  </p:ext>
                </p:extLst>
              </p:nvPr>
            </p:nvGraphicFramePr>
            <p:xfrm>
              <a:off x="2665494" y="770563"/>
              <a:ext cx="6285779" cy="616246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142309">
                      <a:extLst>
                        <a:ext uri="{9D8B030D-6E8A-4147-A177-3AD203B41FA5}">
                          <a16:colId xmlns:a16="http://schemas.microsoft.com/office/drawing/2014/main" val="1922968485"/>
                        </a:ext>
                      </a:extLst>
                    </a:gridCol>
                    <a:gridCol w="1143470">
                      <a:extLst>
                        <a:ext uri="{9D8B030D-6E8A-4147-A177-3AD203B41FA5}">
                          <a16:colId xmlns:a16="http://schemas.microsoft.com/office/drawing/2014/main" val="2450874325"/>
                        </a:ext>
                      </a:extLst>
                    </a:gridCol>
                  </a:tblGrid>
                  <a:tr h="94661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40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𝜆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=</m:t>
                                    </m:r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𝑆𝑆𝑃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𝑡𝑔𝑡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+</m:t>
                                    </m:r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𝑆𝑆𝑃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𝑡𝑔𝑡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Δ</m:t>
                                        </m:r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𝐿</m:t>
                                        </m:r>
                                      </m:e>
                                    </m:func>
                                  </m:e>
                                </m:func>
                              </m:oMath>
                            </m:oMathPara>
                          </a14:m>
                          <a:endParaRPr lang="en-US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where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𝑆𝑆𝑃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𝑡𝑔𝑡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12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:endParaRPr lang="en-US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/>
                              <a:ea typeface="Times New Roman" panose="02020603050405020304" pitchFamily="18" charset="0"/>
                            </a:rPr>
                            <a:t>5-19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74814441"/>
                      </a:ext>
                    </a:extLst>
                  </a:tr>
                  <a:tr h="10464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40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Φ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𝐸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𝑡𝑔𝑡</m:t>
                                            </m:r>
                                          </m:sub>
                                        </m:sSub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func>
                                          <m:func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</m:func>
                                        <m:func>
                                          <m:func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sin</m:t>
                                            </m:r>
                                          </m:fNam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𝛿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𝑆𝑆𝑃</m:t>
                                                </m:r>
                                              </m:sub>
                                            </m:sSub>
                                          </m:e>
                                        </m:func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𝜆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𝑆𝑆𝑃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US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   where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i="1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&lt; 180° if </a:t>
                          </a:r>
                          <a:r>
                            <a:rPr lang="en-US" sz="110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tgt</a:t>
                          </a: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is east of SSP</a:t>
                          </a: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100">
                              <a:effectLst/>
                              <a:ea typeface="Times New Roman" panose="02020603050405020304" pitchFamily="18" charset="0"/>
                            </a:rPr>
                            <a:t>  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i="1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𝐸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&gt; 180° if </a:t>
                          </a:r>
                          <a:r>
                            <a:rPr lang="en-US" sz="110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tgt</a:t>
                          </a:r>
                          <a:r>
                            <a:rPr lang="en-US" sz="11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is west of SSP</a:t>
                          </a: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/>
                              <a:ea typeface="Times New Roman" panose="02020603050405020304" pitchFamily="18" charset="0"/>
                            </a:rPr>
                            <a:t>5-20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61552401"/>
                      </a:ext>
                    </a:extLst>
                  </a:tr>
                  <a:tr h="4949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  <m:sSubSup>
                                      <m:sSubSup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𝑡𝑔𝑡</m:t>
                                        </m:r>
                                      </m:sub>
                                      <m:sup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fName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=</m:t>
                                    </m:r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𝜆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𝑆𝑆𝑃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+</m:t>
                                    </m:r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𝜆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𝑆𝑆𝑃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Φ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𝐸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e>
                                </m:func>
                              </m:oMath>
                            </m:oMathPara>
                          </a14:m>
                          <a:endParaRPr lang="en-US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5-21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68081629"/>
                      </a:ext>
                    </a:extLst>
                  </a:tr>
                  <a:tr h="5586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Δ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𝐿</m:t>
                                    </m:r>
                                  </m:e>
                                </m:func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𝜆</m:t>
                                        </m:r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func>
                                          <m:func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sin</m:t>
                                            </m:r>
                                          </m:fNam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𝛿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𝑆𝑆𝑃</m:t>
                                                </m:r>
                                              </m:sub>
                                            </m:sSub>
                                          </m:e>
                                        </m:func>
                                        <m:func>
                                          <m:func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sin</m:t>
                                            </m:r>
                                          </m:fNam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4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𝛿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𝑡𝑔𝑡</m:t>
                                                </m:r>
                                              </m:sub>
                                            </m:sSub>
                                          </m:e>
                                        </m:func>
                                      </m:e>
                                    </m:func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𝑆𝑆𝑃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𝑡𝑔𝑡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US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/>
                              <a:ea typeface="Times New Roman" panose="02020603050405020304" pitchFamily="18" charset="0"/>
                            </a:rPr>
                            <a:t>5-22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17975027"/>
                      </a:ext>
                    </a:extLst>
                  </a:tr>
                  <a:tr h="53780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𝜌</m:t>
                                    </m:r>
                                  </m:e>
                                </m:func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⊕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⊕</m:t>
                                        </m:r>
                                      </m:sub>
                                    </m:sSub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𝐻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/>
                              <a:ea typeface="Times New Roman" panose="02020603050405020304" pitchFamily="18" charset="0"/>
                            </a:rPr>
                            <a:t>5-24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20400202"/>
                      </a:ext>
                    </a:extLst>
                  </a:tr>
                  <a:tr h="52712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tan</m:t>
                                    </m:r>
                                  </m:fName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𝜂</m:t>
                                    </m:r>
                                  </m:e>
                                </m:func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𝜌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𝜆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1−</m:t>
                                    </m:r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𝜌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𝜆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US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/>
                              <a:ea typeface="Times New Roman" panose="02020603050405020304" pitchFamily="18" charset="0"/>
                            </a:rPr>
                            <a:t>5-25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43317471"/>
                      </a:ext>
                    </a:extLst>
                  </a:tr>
                  <a:tr h="4949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𝜂</m:t>
                                    </m:r>
                                  </m:e>
                                </m:func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𝜀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4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𝜌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/>
                              <a:ea typeface="Times New Roman" panose="02020603050405020304" pitchFamily="18" charset="0"/>
                            </a:rPr>
                            <a:t>5-26b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83491036"/>
                      </a:ext>
                    </a:extLst>
                  </a:tr>
                  <a:tr h="4949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𝜂</m:t>
                                </m:r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𝜆</m:t>
                                </m:r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𝜀</m:t>
                                </m:r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=90°</m:t>
                                </m:r>
                              </m:oMath>
                            </m:oMathPara>
                          </a14:m>
                          <a:endParaRPr lang="en-US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5-27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10335924"/>
                      </a:ext>
                    </a:extLst>
                  </a:tr>
                  <a:tr h="56594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n-US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⨁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func>
                                          <m:func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sin</m:t>
                                            </m:r>
                                          </m:fName>
                                          <m:e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</m:func>
                                      </m:num>
                                      <m:den>
                                        <m:func>
                                          <m:funcPr>
                                            <m:ctrlP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4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sin</m:t>
                                            </m:r>
                                          </m:fName>
                                          <m:e>
                                            <m:r>
                                              <a:rPr lang="en-US" sz="14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𝜂</m:t>
                                            </m:r>
                                          </m:e>
                                        </m:func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/>
                              <a:ea typeface="Times New Roman" panose="02020603050405020304" pitchFamily="18" charset="0"/>
                            </a:rPr>
                            <a:t>5-28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98430880"/>
                      </a:ext>
                    </a:extLst>
                  </a:tr>
                  <a:tr h="49497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𝑡𝑔𝑡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sz="1600" i="1" smtClea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90</m:t>
                                    </m:r>
                                    <m:r>
                                      <a:rPr lang="en-US" sz="16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°</m:t>
                                    </m:r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𝑡𝑔𝑡</m:t>
                                    </m:r>
                                  </m:sub>
                                  <m:sup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p. 112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913596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6083251"/>
                  </p:ext>
                </p:extLst>
              </p:nvPr>
            </p:nvGraphicFramePr>
            <p:xfrm>
              <a:off x="2665494" y="770563"/>
              <a:ext cx="6285779" cy="616246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142309">
                      <a:extLst>
                        <a:ext uri="{9D8B030D-6E8A-4147-A177-3AD203B41FA5}">
                          <a16:colId xmlns:a16="http://schemas.microsoft.com/office/drawing/2014/main" val="1922968485"/>
                        </a:ext>
                      </a:extLst>
                    </a:gridCol>
                    <a:gridCol w="1143470">
                      <a:extLst>
                        <a:ext uri="{9D8B030D-6E8A-4147-A177-3AD203B41FA5}">
                          <a16:colId xmlns:a16="http://schemas.microsoft.com/office/drawing/2014/main" val="2450874325"/>
                        </a:ext>
                      </a:extLst>
                    </a:gridCol>
                  </a:tblGrid>
                  <a:tr h="9466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6452" r="-22275" b="-55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/>
                              <a:ea typeface="Times New Roman" panose="02020603050405020304" pitchFamily="18" charset="0"/>
                            </a:rPr>
                            <a:t>5-19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74814441"/>
                      </a:ext>
                    </a:extLst>
                  </a:tr>
                  <a:tr h="10464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95930" r="-22275" b="-398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/>
                              <a:ea typeface="Times New Roman" panose="02020603050405020304" pitchFamily="18" charset="0"/>
                            </a:rPr>
                            <a:t>5-20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61552401"/>
                      </a:ext>
                    </a:extLst>
                  </a:tr>
                  <a:tr h="4949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10976" r="-22275" b="-735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5-21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68081629"/>
                      </a:ext>
                    </a:extLst>
                  </a:tr>
                  <a:tr h="5586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60440" r="-22275" b="-562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/>
                              <a:ea typeface="Times New Roman" panose="02020603050405020304" pitchFamily="18" charset="0"/>
                            </a:rPr>
                            <a:t>5-22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17975027"/>
                      </a:ext>
                    </a:extLst>
                  </a:tr>
                  <a:tr h="5378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73034" r="-22275" b="-4752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/>
                              <a:ea typeface="Times New Roman" panose="02020603050405020304" pitchFamily="18" charset="0"/>
                            </a:rPr>
                            <a:t>5-24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20400202"/>
                      </a:ext>
                    </a:extLst>
                  </a:tr>
                  <a:tr h="5271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696512" r="-22275" b="-3918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/>
                              <a:ea typeface="Times New Roman" panose="02020603050405020304" pitchFamily="18" charset="0"/>
                            </a:rPr>
                            <a:t>5-25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43317471"/>
                      </a:ext>
                    </a:extLst>
                  </a:tr>
                  <a:tr h="4949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845679" r="-22275" b="-316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/>
                              <a:ea typeface="Times New Roman" panose="02020603050405020304" pitchFamily="18" charset="0"/>
                            </a:rPr>
                            <a:t>5-26b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83491036"/>
                      </a:ext>
                    </a:extLst>
                  </a:tr>
                  <a:tr h="4949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934146" r="-22275" b="-212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5-27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10335924"/>
                      </a:ext>
                    </a:extLst>
                  </a:tr>
                  <a:tr h="5659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911828" r="-22275" b="-870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/>
                              <a:ea typeface="Times New Roman" panose="02020603050405020304" pitchFamily="18" charset="0"/>
                            </a:rPr>
                            <a:t>5-28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598430880"/>
                      </a:ext>
                    </a:extLst>
                  </a:tr>
                  <a:tr h="4949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161728" r="-222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p. 112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9135969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80" y="1464532"/>
            <a:ext cx="2962058" cy="23713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80" y="4278703"/>
            <a:ext cx="3776854" cy="223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42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Geometry of Satellite Relative to an Earth Observer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652" y="6044577"/>
            <a:ext cx="6910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Fig 5-17   Geometry of Satellite Ground Track Relative to an Observer on the Earth’s Surface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5937">
            <a:off x="2078410" y="1754567"/>
            <a:ext cx="5329343" cy="422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694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142" y="-89167"/>
            <a:ext cx="7886700" cy="1325563"/>
          </a:xfrm>
        </p:spPr>
        <p:txBody>
          <a:bodyPr/>
          <a:lstStyle/>
          <a:p>
            <a:pPr>
              <a:tabLst>
                <a:tab pos="1598613" algn="l"/>
              </a:tabLst>
            </a:pPr>
            <a:r>
              <a:rPr lang="en-US"/>
              <a:t>Equations (</a:t>
            </a:r>
            <a:r>
              <a:rPr lang="en-US" err="1"/>
              <a:t>pt</a:t>
            </a:r>
            <a:r>
              <a:rPr lang="en-US"/>
              <a:t> 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35948" y="915146"/>
                <a:ext cx="5339930" cy="58452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sz="1600">
                    <a:ea typeface="SimSun" panose="02010600030101010101" pitchFamily="2" charset="-122"/>
                    <a:cs typeface="Arial" panose="020B0604020202020204" pitchFamily="34" charset="0"/>
                  </a:rPr>
                  <a:t>If we are looking for maximum or minimum angles, we need to add appropriate subscripts to equations (ref Fig 5-17):</a:t>
                </a:r>
                <a:endParaRPr lang="en-US" sz="140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func>
                    <m:r>
                      <a:rPr lang="en-US" sz="1400" i="1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</m:func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𝑚𝑖𝑛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140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		</a:t>
                </a:r>
                <a:r>
                  <a:rPr lang="en-US" sz="14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(5-36)</a:t>
                </a:r>
              </a:p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400">
                    <a:ea typeface="Calibri" panose="020F0502020204030204" pitchFamily="34" charset="0"/>
                    <a:cs typeface="Arial" panose="020B0604020202020204" pitchFamily="34" charset="0"/>
                  </a:rPr>
                  <a:t> </a:t>
                </a:r>
                <a:endParaRPr lang="en-US" sz="140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90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140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		</a:t>
                </a:r>
                <a:r>
                  <a:rPr lang="en-US" sz="14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(5-37)</a:t>
                </a:r>
              </a:p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400">
                    <a:ea typeface="Calibri" panose="020F0502020204030204" pitchFamily="34" charset="0"/>
                    <a:cs typeface="Arial" panose="020B0604020202020204" pitchFamily="34" charset="0"/>
                  </a:rPr>
                  <a:t> </a:t>
                </a:r>
                <a:endParaRPr lang="en-US" sz="1400">
                  <a:effectLst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⨁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40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40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e>
                            </m:func>
                          </m:den>
                        </m:f>
                      </m:e>
                    </m:d>
                  </m:oMath>
                </a14:m>
                <a:r>
                  <a:rPr lang="en-US" sz="1400">
                    <a:effectLst/>
                    <a:ea typeface="Calibri" panose="020F0502020204030204" pitchFamily="34" charset="0"/>
                    <a:cs typeface="Arial" panose="020B0604020202020204" pitchFamily="34" charset="0"/>
                  </a:rPr>
                  <a:t>		</a:t>
                </a:r>
                <a:r>
                  <a:rPr lang="en-US" sz="14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(5-38)</a:t>
                </a:r>
              </a:p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140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 fontAlgn="base"/>
                <a:r>
                  <a:rPr lang="en-US" sz="1600">
                    <a:cs typeface="Times New Roman" panose="02020603050405020304" pitchFamily="18" charset="0"/>
                  </a:rPr>
                  <a:t>Pass duration and max elevation angle depend on how close G/S is to ground track:</a:t>
                </a:r>
              </a:p>
              <a:p>
                <a:r>
                  <a:rPr lang="en-US" sz="1400">
                    <a:cs typeface="Times New Roman" panose="02020603050405020304" pitchFamily="18" charset="0"/>
                  </a:rPr>
                  <a:t> 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e>
                    </m:func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func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𝑔𝑠</m:t>
                            </m:r>
                          </m:sub>
                        </m:sSub>
                      </m:e>
                    </m:func>
                    <m:r>
                      <a:rPr lang="en-US" sz="140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func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𝑔𝑠</m:t>
                            </m:r>
                          </m:sub>
                        </m:sSub>
                      </m:e>
                    </m:func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func>
                  </m:oMath>
                </a14:m>
                <a:r>
                  <a:rPr lang="en-US" sz="1400">
                    <a:cs typeface="Times New Roman" panose="02020603050405020304" pitchFamily="18" charset="0"/>
                  </a:rPr>
                  <a:t>	(from 5-43 w/ 5-39 				substitution)</a:t>
                </a:r>
              </a:p>
              <a:p>
                <a:r>
                  <a:rPr lang="en-US" sz="1400">
                    <a:cs typeface="Times New Roman" panose="02020603050405020304" pitchFamily="18" charset="0"/>
                  </a:rPr>
                  <a:t>		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𝑔𝑠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𝑛𝑜𝑑𝑒</m:t>
                        </m:r>
                      </m:sub>
                    </m:sSub>
                  </m:oMath>
                </a14:m>
                <a:endParaRPr lang="en-US" sz="1400">
                  <a:cs typeface="Times New Roman" panose="02020603050405020304" pitchFamily="18" charset="0"/>
                </a:endParaRPr>
              </a:p>
              <a:p>
                <a:r>
                  <a:rPr lang="en-US" sz="1400"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140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e>
                    </m:func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func>
                        <m:func>
                          <m:func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e>
                        </m:func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func>
                        <m:func>
                          <m:func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e>
                        </m:func>
                      </m:den>
                    </m:f>
                  </m:oMath>
                </a14:m>
                <a:r>
                  <a:rPr lang="en-US" sz="1400">
                    <a:cs typeface="Times New Roman" panose="02020603050405020304" pitchFamily="18" charset="0"/>
                  </a:rPr>
                  <a:t>		(5-44)</a:t>
                </a:r>
              </a:p>
              <a:p>
                <a:r>
                  <a:rPr lang="en-US" sz="1400"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14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1400">
                    <a:cs typeface="Times New Roman" panose="02020603050405020304" pitchFamily="18" charset="0"/>
                  </a:rPr>
                  <a:t>	(5-45)</a:t>
                </a:r>
              </a:p>
              <a:p>
                <a:r>
                  <a:rPr lang="en-US" sz="1400"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14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⨁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4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4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e>
                            </m:func>
                          </m:den>
                        </m:f>
                      </m:e>
                    </m:d>
                  </m:oMath>
                </a14:m>
                <a:r>
                  <a:rPr lang="en-US">
                    <a:cs typeface="Times New Roman" panose="02020603050405020304" pitchFamily="18" charset="0"/>
                  </a:rPr>
                  <a:t>		</a:t>
                </a:r>
                <a:r>
                  <a:rPr lang="en-US" sz="1400">
                    <a:cs typeface="Times New Roman" panose="02020603050405020304" pitchFamily="18" charset="0"/>
                  </a:rPr>
                  <a:t>(5-46)</a:t>
                </a:r>
              </a:p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14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48" y="915146"/>
                <a:ext cx="5339930" cy="5845255"/>
              </a:xfrm>
              <a:prstGeom prst="rect">
                <a:avLst/>
              </a:prstGeom>
              <a:blipFill>
                <a:blip r:embed="rId2"/>
                <a:stretch>
                  <a:fillRect l="-685" r="-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5937">
            <a:off x="5284686" y="1661140"/>
            <a:ext cx="3914193" cy="31039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58597" y="4718237"/>
            <a:ext cx="390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/>
              <a:t>Fig 5-17   Geometry of Satellite Ground Track Relative to an Observer on the Earth’s Surface</a:t>
            </a:r>
          </a:p>
        </p:txBody>
      </p:sp>
    </p:spTree>
    <p:extLst>
      <p:ext uri="{BB962C8B-B14F-4D97-AF65-F5344CB8AC3E}">
        <p14:creationId xmlns:p14="http://schemas.microsoft.com/office/powerpoint/2010/main" val="180352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Equations (</a:t>
            </a:r>
            <a:r>
              <a:rPr lang="en-US" err="1"/>
              <a:t>pt</a:t>
            </a:r>
            <a:r>
              <a:rPr lang="en-US"/>
              <a:t> 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>
                    <a:cs typeface="Times New Roman" panose="02020603050405020304" pitchFamily="18" charset="0"/>
                  </a:rPr>
                  <a:t>In addition to assumptions of circular orbits and spherical earth, add LEO orbits so we can assume earth isn’t rotating</a:t>
                </a:r>
              </a:p>
              <a:p>
                <a:pPr marL="0" lvl="0" indent="0" fontAlgn="base">
                  <a:buNone/>
                </a:pPr>
                <a:r>
                  <a:rPr lang="en-US" sz="1800">
                    <a:cs typeface="Times New Roman" panose="02020603050405020304" pitchFamily="18" charset="0"/>
                  </a:rPr>
                  <a:t>-  time S/C in view of G/S</a:t>
                </a:r>
              </a:p>
              <a:p>
                <a:pPr marL="0" indent="0">
                  <a:buNone/>
                </a:pPr>
                <a:r>
                  <a:rPr lang="en-US" sz="1800"/>
                  <a:t>			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180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p>
                            </m:sSup>
                          </m:den>
                        </m:f>
                      </m:e>
                    </m:d>
                    <m:func>
                      <m:func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𝑚𝑎𝑥</m:t>
                                        </m:r>
                                      </m:sub>
                                    </m:sSub>
                                  </m:e>
                                </m:func>
                              </m:num>
                              <m:den>
                                <m:func>
                                  <m:func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e>
                                </m:func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sz="1800">
                    <a:cs typeface="Times New Roman" panose="02020603050405020304" pitchFamily="18" charset="0"/>
                  </a:rPr>
                  <a:t>		</a:t>
                </a:r>
                <a:r>
                  <a:rPr lang="en-US" sz="1600">
                    <a:cs typeface="Times New Roman" panose="02020603050405020304" pitchFamily="18" charset="0"/>
                  </a:rPr>
                  <a:t>(5-49)</a:t>
                </a:r>
              </a:p>
              <a:p>
                <a:pPr marL="0" lvl="0" indent="0" fontAlgn="base">
                  <a:buNone/>
                </a:pPr>
                <a:r>
                  <a:rPr lang="en-US" sz="1800">
                    <a:cs typeface="Times New Roman" panose="02020603050405020304" pitchFamily="18" charset="0"/>
                  </a:rPr>
                  <a:t>- maximum pass time occurs when S/C passes directly overhead</a:t>
                </a:r>
              </a:p>
              <a:p>
                <a:pPr marL="0" indent="0">
                  <a:buNone/>
                </a:pPr>
                <a:r>
                  <a:rPr lang="en-US" sz="180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180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1800">
                    <a:cs typeface="Times New Roman" panose="02020603050405020304" pitchFamily="18" charset="0"/>
                  </a:rPr>
                  <a:t>			</a:t>
                </a:r>
                <a:r>
                  <a:rPr lang="en-US" sz="1600">
                    <a:cs typeface="Times New Roman" panose="02020603050405020304" pitchFamily="18" charset="0"/>
                  </a:rPr>
                  <a:t>(5-52)</a:t>
                </a:r>
              </a:p>
              <a:p>
                <a:pPr marL="0" lvl="0" indent="0" fontAlgn="base">
                  <a:buNone/>
                </a:pPr>
                <a:r>
                  <a:rPr lang="en-US" sz="1800">
                    <a:cs typeface="Times New Roman" panose="02020603050405020304" pitchFamily="18" charset="0"/>
                  </a:rPr>
                  <a:t>Rules of thumb</a:t>
                </a:r>
              </a:p>
              <a:p>
                <a:pPr marL="0" lvl="0" indent="0" fontAlgn="base">
                  <a:buNone/>
                </a:pPr>
                <a:r>
                  <a:rPr lang="en-US" sz="1800">
                    <a:cs typeface="Times New Roman" panose="02020603050405020304" pitchFamily="18" charset="0"/>
                  </a:rPr>
                  <a:t> - average pass duration is about 80% of </a:t>
                </a:r>
                <a:r>
                  <a:rPr lang="en-US" sz="1800" err="1">
                    <a:cs typeface="Times New Roman" panose="02020603050405020304" pitchFamily="18" charset="0"/>
                  </a:rPr>
                  <a:t>T</a:t>
                </a:r>
                <a:r>
                  <a:rPr lang="en-US" sz="1800" baseline="-25000" err="1">
                    <a:cs typeface="Times New Roman" panose="02020603050405020304" pitchFamily="18" charset="0"/>
                  </a:rPr>
                  <a:t>max</a:t>
                </a:r>
                <a:r>
                  <a:rPr lang="en-US" sz="1800">
                    <a:cs typeface="Times New Roman" panose="02020603050405020304" pitchFamily="18" charset="0"/>
                  </a:rPr>
                  <a:t> </a:t>
                </a:r>
              </a:p>
              <a:p>
                <a:pPr marL="0" lvl="0" indent="0" fontAlgn="base">
                  <a:buNone/>
                </a:pPr>
                <a:r>
                  <a:rPr lang="en-US" sz="1800">
                    <a:cs typeface="Times New Roman" panose="02020603050405020304" pitchFamily="18" charset="0"/>
                  </a:rPr>
                  <a:t>- 86% of passes will be longer than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20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618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895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/>
                  <a:t>Given:	a = 7,100 km</a:t>
                </a:r>
              </a:p>
              <a:p>
                <a:pPr marL="0" indent="0">
                  <a:buNone/>
                </a:pPr>
                <a:r>
                  <a:rPr lang="en-US" sz="2000"/>
                  <a:t>	e = 0</a:t>
                </a:r>
              </a:p>
              <a:p>
                <a:pPr marL="0" indent="0">
                  <a:buNone/>
                </a:pPr>
                <a:r>
                  <a:rPr lang="en-US" sz="2000"/>
                  <a:t>	i = 24</a:t>
                </a:r>
                <a:r>
                  <a:rPr lang="en-US" sz="2000" baseline="30000"/>
                  <a:t>o</a:t>
                </a:r>
                <a:r>
                  <a:rPr lang="en-US" sz="2000"/>
                  <a:t> </a:t>
                </a:r>
              </a:p>
              <a:p>
                <a:pPr marL="0" indent="0">
                  <a:buNone/>
                </a:pPr>
                <a:r>
                  <a:rPr lang="en-US" sz="2000"/>
                  <a:t>	Instrument FOV = 50</a:t>
                </a:r>
                <a:r>
                  <a:rPr lang="en-US" sz="2000" baseline="30000"/>
                  <a:t>o</a:t>
                </a:r>
                <a:r>
                  <a:rPr lang="en-US" sz="2000"/>
                  <a:t> </a:t>
                </a:r>
              </a:p>
              <a:p>
                <a:pPr marL="0" indent="0">
                  <a:buNone/>
                </a:pPr>
                <a:r>
                  <a:rPr lang="en-US" sz="2000"/>
                  <a:t>	Instrument is nadir pointing</a:t>
                </a:r>
              </a:p>
              <a:p>
                <a:pPr marL="0" indent="0">
                  <a:buNone/>
                </a:pPr>
                <a:r>
                  <a:rPr lang="en-US" sz="2000"/>
                  <a:t>	Target latitude,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baseline="-25000" err="1"/>
                  <a:t>tgt</a:t>
                </a:r>
                <a:r>
                  <a:rPr lang="en-US" sz="2000"/>
                  <a:t> = 39</a:t>
                </a:r>
                <a:r>
                  <a:rPr lang="en-US" sz="2000" baseline="30000"/>
                  <a:t>o</a:t>
                </a:r>
                <a:endParaRPr lang="en-US" sz="2000"/>
              </a:p>
              <a:p>
                <a:pPr marL="0" indent="0">
                  <a:buNone/>
                </a:pPr>
                <a:r>
                  <a:rPr lang="en-US" sz="2000"/>
                  <a:t>	Target longitude, </a:t>
                </a:r>
                <a:r>
                  <a:rPr lang="en-US" sz="2000" err="1"/>
                  <a:t>L</a:t>
                </a:r>
                <a:r>
                  <a:rPr lang="en-US" sz="2000" baseline="-25000" err="1"/>
                  <a:t>tgt</a:t>
                </a:r>
                <a:r>
                  <a:rPr lang="en-US" sz="2000"/>
                  <a:t> = 104.9</a:t>
                </a:r>
                <a:r>
                  <a:rPr lang="en-US" sz="2000" baseline="30000"/>
                  <a:t>o</a:t>
                </a:r>
                <a:r>
                  <a:rPr lang="en-US" sz="2000"/>
                  <a:t> W</a:t>
                </a:r>
              </a:p>
              <a:p>
                <a:pPr marL="0" indent="0">
                  <a:buNone/>
                </a:pPr>
                <a:endParaRPr lang="en-US" sz="2000"/>
              </a:p>
              <a:p>
                <a:pPr marL="0" indent="0">
                  <a:buNone/>
                </a:pPr>
                <a:r>
                  <a:rPr lang="en-US" sz="2000"/>
                  <a:t>Find: Will the instrument be able to see the target at any point in its orbit? (HINT: Drawing a picture is a good start!)</a:t>
                </a:r>
              </a:p>
              <a:p>
                <a:endParaRPr lang="en-US" sz="360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4626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174483"/>
          </a:xfrm>
        </p:spPr>
        <p:txBody>
          <a:bodyPr/>
          <a:lstStyle/>
          <a:p>
            <a:r>
              <a:rPr lang="en-US">
                <a:solidFill>
                  <a:srgbClr val="0000FF"/>
                </a:solidFill>
              </a:rPr>
              <a:t>There are (at least) two approaches: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09" y="2659386"/>
            <a:ext cx="3971307" cy="3741413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436" y="2659386"/>
            <a:ext cx="4705563" cy="37414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99239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(2/3)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81148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2000">
                    <a:solidFill>
                      <a:srgbClr val="0000FF"/>
                    </a:solidFill>
                  </a:rPr>
                  <a:t>Used for both solutions: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func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⨁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⨁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6378.137 </m:t>
                          </m:r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𝑘𝑚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7100 </m:t>
                          </m:r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=63.939 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𝑑𝑒𝑔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:endParaRPr lang="en-US" sz="2000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000">
                    <a:solidFill>
                      <a:srgbClr val="0000FF"/>
                    </a:solidFill>
                  </a:rPr>
                  <a:t>First approach: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𝑡𝑔𝑡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𝑡𝑔𝑡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39−24=15 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𝑑𝑒𝑔</m:t>
                      </m:r>
                    </m:oMath>
                  </m:oMathPara>
                </a14:m>
                <a:endParaRPr lang="en-US" sz="2000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:endParaRPr lang="en-US" sz="200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𝑡𝑔𝑡</m:t>
                              </m:r>
                            </m:sub>
                          </m:sSub>
                        </m:e>
                      </m:func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𝑡𝑔𝑡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𝑡𝑔𝑡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63.939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63.939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en-US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1600" i="1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sz="1600" i="1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𝑡𝑔𝑡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=60.363 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𝑑𝑒𝑔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</m:oMath>
                  </m:oMathPara>
                </a14:m>
                <a:endParaRPr lang="en-US" sz="2000" i="1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sz="2000" i="1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𝑡𝑔𝑡</m:t>
                          </m:r>
                        </m:sub>
                      </m:sSub>
                      <m:r>
                        <a:rPr lang="en-US" sz="2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en-US" sz="2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𝐹𝑂𝑉</m:t>
                          </m:r>
                        </m:num>
                        <m:den>
                          <m:r>
                            <a:rPr lang="en-US" sz="2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n-US" sz="2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60.363&gt;25</m:t>
                          </m:r>
                        </m:e>
                      </m:d>
                    </m:oMath>
                  </m:oMathPara>
                </a14:m>
                <a:endParaRPr lang="en-US" sz="2200" i="1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000">
                    <a:solidFill>
                      <a:srgbClr val="0000FF"/>
                    </a:solidFill>
                  </a:rPr>
                  <a:t> Instrument can NOT see the target</a:t>
                </a:r>
              </a:p>
              <a:p>
                <a:pPr marL="0" indent="0">
                  <a:buNone/>
                </a:pP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811481"/>
              </a:xfrm>
              <a:blipFill>
                <a:blip r:embed="rId2"/>
                <a:stretch>
                  <a:fillRect l="-696" t="-1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8817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(3/3)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38382"/>
                <a:ext cx="7886700" cy="5419617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 algn="ctr">
                  <a:buNone/>
                </a:pPr>
                <a:r>
                  <a:rPr lang="en-US">
                    <a:solidFill>
                      <a:srgbClr val="0000FF"/>
                    </a:solidFill>
                  </a:rPr>
                  <a:t>Second approach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𝐹𝑂𝑉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=25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𝑑𝑒𝑔</m:t>
                      </m:r>
                    </m:oMath>
                  </m:oMathPara>
                </a14:m>
                <a:endParaRPr lang="en-US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:endParaRPr lang="en-US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func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func>
                    <m:func>
                      <m:func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>
                    <a:solidFill>
                      <a:srgbClr val="0000FF"/>
                    </a:solidFill>
                  </a:rPr>
                  <a:t>  (rearrange 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>
                    <a:solidFill>
                      <a:srgbClr val="0000FF"/>
                    </a:solidFill>
                  </a:rPr>
                  <a:t>)</a:t>
                </a:r>
              </a:p>
              <a:p>
                <a:pPr marL="0" indent="0" algn="ctr">
                  <a:buNone/>
                </a:pPr>
                <a:endParaRPr lang="en-US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func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func>
                        </m:den>
                      </m:f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63.939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:endParaRPr lang="en-US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=61.937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𝑑𝑒𝑔</m:t>
                      </m:r>
                    </m:oMath>
                  </m:oMathPara>
                </a14:m>
                <a:endParaRPr lang="en-US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:endParaRPr lang="en-US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=90−25−61.937=3.063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𝑑𝑒𝑔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:endParaRPr lang="en-US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=24+3.063=27.063</m:t>
                      </m:r>
                    </m:oMath>
                  </m:oMathPara>
                </a14:m>
                <a:endParaRPr lang="en-US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:endParaRPr lang="en-US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𝑡𝑔𝑡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39&gt;27.063</m:t>
                          </m:r>
                        </m:e>
                      </m:d>
                    </m:oMath>
                  </m:oMathPara>
                </a14:m>
                <a:endParaRPr lang="en-US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:endParaRPr lang="en-US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>
                    <a:solidFill>
                      <a:srgbClr val="0000FF"/>
                    </a:solidFill>
                  </a:rPr>
                  <a:t> Instrument can NOT see the target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38382"/>
                <a:ext cx="7886700" cy="5419617"/>
              </a:xfrm>
              <a:blipFill>
                <a:blip r:embed="rId2"/>
                <a:stretch>
                  <a:fillRect t="-7987" b="-2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30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57294A-BB39-4E02-804C-AC3E780A69DB}">
  <ds:schemaRefs>
    <ds:schemaRef ds:uri="723aa48c-73f2-40da-86b1-f1ae286477fe"/>
    <ds:schemaRef ds:uri="7584c457-6b5a-4caa-be47-be979cbe655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F01151A-3D3A-40E7-BB91-AEBE51BDB388}"/>
</file>

<file path=customXml/itemProps3.xml><?xml version="1.0" encoding="utf-8"?>
<ds:datastoreItem xmlns:ds="http://schemas.openxmlformats.org/officeDocument/2006/customXml" ds:itemID="{9746C754-FB93-400E-BD52-DA8DC66B5D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Lesson Objectives</vt:lpstr>
      <vt:lpstr>Terms Definitions</vt:lpstr>
      <vt:lpstr>Earth Geometry Viewed from Space (2D)</vt:lpstr>
      <vt:lpstr>Earth Geometry Viewed from Space (3D)</vt:lpstr>
      <vt:lpstr>Earth Geometry Viewed from Space (3D)</vt:lpstr>
      <vt:lpstr>Note</vt:lpstr>
      <vt:lpstr>Equations (pt 1)</vt:lpstr>
      <vt:lpstr>Geometry of Satellite Relative to an Earth Observer</vt:lpstr>
      <vt:lpstr>Equations (pt 2)</vt:lpstr>
      <vt:lpstr>Equations (pt 3)</vt:lpstr>
      <vt:lpstr>Example</vt:lpstr>
      <vt:lpstr>Solution (1/3)</vt:lpstr>
      <vt:lpstr>Solution (2/3)</vt:lpstr>
      <vt:lpstr>Solution (3/3)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revision>1</cp:revision>
  <cp:lastPrinted>2019-06-26T13:32:34Z</cp:lastPrinted>
  <dcterms:created xsi:type="dcterms:W3CDTF">2019-06-13T20:36:51Z</dcterms:created>
  <dcterms:modified xsi:type="dcterms:W3CDTF">2023-01-13T21:22:00Z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