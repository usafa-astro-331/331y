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258" r:id="rId5"/>
    <p:sldId id="297" r:id="rId6"/>
    <p:sldId id="298" r:id="rId7"/>
    <p:sldId id="321" r:id="rId8"/>
    <p:sldId id="308" r:id="rId9"/>
    <p:sldId id="314" r:id="rId10"/>
    <p:sldId id="312" r:id="rId11"/>
    <p:sldId id="307" r:id="rId12"/>
    <p:sldId id="300" r:id="rId13"/>
    <p:sldId id="316" r:id="rId14"/>
    <p:sldId id="318" r:id="rId15"/>
    <p:sldId id="323" r:id="rId16"/>
    <p:sldId id="309" r:id="rId17"/>
    <p:sldId id="315" r:id="rId18"/>
    <p:sldId id="304" r:id="rId19"/>
    <p:sldId id="305" r:id="rId20"/>
    <p:sldId id="310" r:id="rId21"/>
    <p:sldId id="311" r:id="rId22"/>
    <p:sldId id="324" r:id="rId23"/>
    <p:sldId id="306" r:id="rId24"/>
    <p:sldId id="325" r:id="rId25"/>
    <p:sldId id="326" r:id="rId26"/>
    <p:sldId id="302" r:id="rId27"/>
    <p:sldId id="327" r:id="rId28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34EF6-945B-45CB-8F5A-3B3FE946C6F2}" v="1" dt="2021-11-15T04:33:58.637"/>
    <p1510:client id="{20E584C0-8338-4A9D-825E-AB685C838F85}" v="1" dt="2021-08-20T18:40:26.686"/>
    <p1510:client id="{2DCE9A75-2472-48B3-9564-D6D6BDC185E7}" v="1" dt="2021-09-09T17:37:21.864"/>
    <p1510:client id="{4A04F3BD-7BCF-DEFC-9060-37683C146E50}" v="2" dt="2023-01-23T17:50:16.787"/>
    <p1510:client id="{A22F006F-859A-4120-84AC-DAFEC2A5396B}" v="1" dt="2021-08-20T17:57:59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rdett, Jared T C2C USAF USAFA CW/CS14" userId="S::c23jared.burdett@afacademy.af.edu::5d4bd8d1-7506-4eed-b5d9-6e138817d681" providerId="AD" clId="Web-{1B034EF6-945B-45CB-8F5A-3B3FE946C6F2}"/>
    <pc:docChg chg="sldOrd">
      <pc:chgData name="Burdett, Jared T C2C USAF USAFA CW/CS14" userId="S::c23jared.burdett@afacademy.af.edu::5d4bd8d1-7506-4eed-b5d9-6e138817d681" providerId="AD" clId="Web-{1B034EF6-945B-45CB-8F5A-3B3FE946C6F2}" dt="2021-11-15T04:33:58.637" v="0"/>
      <pc:docMkLst>
        <pc:docMk/>
      </pc:docMkLst>
      <pc:sldChg chg="ord">
        <pc:chgData name="Burdett, Jared T C2C USAF USAFA CW/CS14" userId="S::c23jared.burdett@afacademy.af.edu::5d4bd8d1-7506-4eed-b5d9-6e138817d681" providerId="AD" clId="Web-{1B034EF6-945B-45CB-8F5A-3B3FE946C6F2}" dt="2021-11-15T04:33:58.637" v="0"/>
        <pc:sldMkLst>
          <pc:docMk/>
          <pc:sldMk cId="3360953521" sldId="326"/>
        </pc:sldMkLst>
      </pc:sldChg>
    </pc:docChg>
  </pc:docChgLst>
  <pc:docChgLst>
    <pc:chgData name="Crowson, Colt D C2C USAF USAFA CW/CS38" userId="S::c23colt.crowson@afacademy.af.edu::60b05c81-e6f2-4248-b508-38b3142a8213" providerId="AD" clId="Web-{20E584C0-8338-4A9D-825E-AB685C838F85}"/>
    <pc:docChg chg="modSld">
      <pc:chgData name="Crowson, Colt D C2C USAF USAFA CW/CS38" userId="S::c23colt.crowson@afacademy.af.edu::60b05c81-e6f2-4248-b508-38b3142a8213" providerId="AD" clId="Web-{20E584C0-8338-4A9D-825E-AB685C838F85}" dt="2021-08-20T18:40:26.686" v="0" actId="14100"/>
      <pc:docMkLst>
        <pc:docMk/>
      </pc:docMkLst>
      <pc:sldChg chg="modSp">
        <pc:chgData name="Crowson, Colt D C2C USAF USAFA CW/CS38" userId="S::c23colt.crowson@afacademy.af.edu::60b05c81-e6f2-4248-b508-38b3142a8213" providerId="AD" clId="Web-{20E584C0-8338-4A9D-825E-AB685C838F85}" dt="2021-08-20T18:40:26.686" v="0" actId="14100"/>
        <pc:sldMkLst>
          <pc:docMk/>
          <pc:sldMk cId="1612487478" sldId="308"/>
        </pc:sldMkLst>
        <pc:picChg chg="mod">
          <ac:chgData name="Crowson, Colt D C2C USAF USAFA CW/CS38" userId="S::c23colt.crowson@afacademy.af.edu::60b05c81-e6f2-4248-b508-38b3142a8213" providerId="AD" clId="Web-{20E584C0-8338-4A9D-825E-AB685C838F85}" dt="2021-08-20T18:40:26.686" v="0" actId="14100"/>
          <ac:picMkLst>
            <pc:docMk/>
            <pc:sldMk cId="1612487478" sldId="308"/>
            <ac:picMk id="4" creationId="{00000000-0000-0000-0000-000000000000}"/>
          </ac:picMkLst>
        </pc:picChg>
      </pc:sldChg>
    </pc:docChg>
  </pc:docChgLst>
  <pc:docChgLst>
    <pc:chgData name="Ohlson, Connor E C2C USAF USAFA CW/CS22" userId="S::c24connor.ohlson@afacademy.af.edu::03a57a0d-e1c1-46ca-b555-c66b590f4f15" providerId="AD" clId="Web-{4A04F3BD-7BCF-DEFC-9060-37683C146E50}"/>
    <pc:docChg chg="modSld">
      <pc:chgData name="Ohlson, Connor E C2C USAF USAFA CW/CS22" userId="S::c24connor.ohlson@afacademy.af.edu::03a57a0d-e1c1-46ca-b555-c66b590f4f15" providerId="AD" clId="Web-{4A04F3BD-7BCF-DEFC-9060-37683C146E50}" dt="2023-01-23T17:50:16.787" v="1" actId="1076"/>
      <pc:docMkLst>
        <pc:docMk/>
      </pc:docMkLst>
      <pc:sldChg chg="modSp">
        <pc:chgData name="Ohlson, Connor E C2C USAF USAFA CW/CS22" userId="S::c24connor.ohlson@afacademy.af.edu::03a57a0d-e1c1-46ca-b555-c66b590f4f15" providerId="AD" clId="Web-{4A04F3BD-7BCF-DEFC-9060-37683C146E50}" dt="2023-01-23T17:50:16.787" v="1" actId="1076"/>
        <pc:sldMkLst>
          <pc:docMk/>
          <pc:sldMk cId="3929336758" sldId="304"/>
        </pc:sldMkLst>
        <pc:picChg chg="mod">
          <ac:chgData name="Ohlson, Connor E C2C USAF USAFA CW/CS22" userId="S::c24connor.ohlson@afacademy.af.edu::03a57a0d-e1c1-46ca-b555-c66b590f4f15" providerId="AD" clId="Web-{4A04F3BD-7BCF-DEFC-9060-37683C146E50}" dt="2023-01-23T17:50:16.787" v="1" actId="1076"/>
          <ac:picMkLst>
            <pc:docMk/>
            <pc:sldMk cId="3929336758" sldId="304"/>
            <ac:picMk id="2" creationId="{00000000-0000-0000-0000-000000000000}"/>
          </ac:picMkLst>
        </pc:picChg>
      </pc:sldChg>
    </pc:docChg>
  </pc:docChgLst>
  <pc:docChgLst>
    <pc:chgData name="Burdett, Jared T C2C USAF USAFA CW/CS14" userId="S::c23jared.burdett@afacademy.af.edu::5d4bd8d1-7506-4eed-b5d9-6e138817d681" providerId="AD" clId="Web-{2DCE9A75-2472-48B3-9564-D6D6BDC185E7}"/>
    <pc:docChg chg="modSld">
      <pc:chgData name="Burdett, Jared T C2C USAF USAFA CW/CS14" userId="S::c23jared.burdett@afacademy.af.edu::5d4bd8d1-7506-4eed-b5d9-6e138817d681" providerId="AD" clId="Web-{2DCE9A75-2472-48B3-9564-D6D6BDC185E7}" dt="2021-09-09T17:37:21.864" v="0"/>
      <pc:docMkLst>
        <pc:docMk/>
      </pc:docMkLst>
      <pc:sldChg chg="addSp">
        <pc:chgData name="Burdett, Jared T C2C USAF USAFA CW/CS14" userId="S::c23jared.burdett@afacademy.af.edu::5d4bd8d1-7506-4eed-b5d9-6e138817d681" providerId="AD" clId="Web-{2DCE9A75-2472-48B3-9564-D6D6BDC185E7}" dt="2021-09-09T17:37:21.864" v="0"/>
        <pc:sldMkLst>
          <pc:docMk/>
          <pc:sldMk cId="1321450072" sldId="258"/>
        </pc:sldMkLst>
        <pc:spChg chg="add">
          <ac:chgData name="Burdett, Jared T C2C USAF USAFA CW/CS14" userId="S::c23jared.burdett@afacademy.af.edu::5d4bd8d1-7506-4eed-b5d9-6e138817d681" providerId="AD" clId="Web-{2DCE9A75-2472-48B3-9564-D6D6BDC185E7}" dt="2021-09-09T17:37:21.864" v="0"/>
          <ac:spMkLst>
            <pc:docMk/>
            <pc:sldMk cId="1321450072" sldId="258"/>
            <ac:spMk id="2" creationId="{E969D54B-45EB-4FBB-855C-C05CBF3F5E80}"/>
          </ac:spMkLst>
        </pc:spChg>
      </pc:sldChg>
    </pc:docChg>
  </pc:docChgLst>
  <pc:docChgLst>
    <pc:chgData name="Payton, Gary E Civ USAF USAFA DF/DFAS" userId="S::gary.payton@afacademy.af.edu::aaa9b543-cdb9-4ba7-b997-49e027a0439f" providerId="AD" clId="Web-{A22F006F-859A-4120-84AC-DAFEC2A5396B}"/>
    <pc:docChg chg="modSld">
      <pc:chgData name="Payton, Gary E Civ USAF USAFA DF/DFAS" userId="S::gary.payton@afacademy.af.edu::aaa9b543-cdb9-4ba7-b997-49e027a0439f" providerId="AD" clId="Web-{A22F006F-859A-4120-84AC-DAFEC2A5396B}" dt="2021-08-20T17:57:59.391" v="0"/>
      <pc:docMkLst>
        <pc:docMk/>
      </pc:docMkLst>
      <pc:sldChg chg="delSp">
        <pc:chgData name="Payton, Gary E Civ USAF USAFA DF/DFAS" userId="S::gary.payton@afacademy.af.edu::aaa9b543-cdb9-4ba7-b997-49e027a0439f" providerId="AD" clId="Web-{A22F006F-859A-4120-84AC-DAFEC2A5396B}" dt="2021-08-20T17:57:59.391" v="0"/>
        <pc:sldMkLst>
          <pc:docMk/>
          <pc:sldMk cId="1943954501" sldId="320"/>
        </pc:sldMkLst>
        <pc:spChg chg="del">
          <ac:chgData name="Payton, Gary E Civ USAF USAFA DF/DFAS" userId="S::gary.payton@afacademy.af.edu::aaa9b543-cdb9-4ba7-b997-49e027a0439f" providerId="AD" clId="Web-{A22F006F-859A-4120-84AC-DAFEC2A5396B}" dt="2021-08-20T17:57:59.391" v="0"/>
          <ac:spMkLst>
            <pc:docMk/>
            <pc:sldMk cId="1943954501" sldId="320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4AB18-DDE2-4A0D-8B6C-9FCC6D33A9D4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876300"/>
            <a:ext cx="31527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73438"/>
            <a:ext cx="7435850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A449F-C941-4360-AC30-D677A9647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8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SBIRS</a:t>
            </a:r>
            <a:r>
              <a:rPr lang="en-US" baseline="0"/>
              <a:t> constellation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A449F-C941-4360-AC30-D677A9647A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39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Starlink</a:t>
            </a:r>
            <a:r>
              <a:rPr lang="en-US"/>
              <a:t> constellation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A449F-C941-4360-AC30-D677A9647A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0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Sirius XM radio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A449F-C941-4360-AC30-D677A9647A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16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Astro 331 Lesson 5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/>
              <a:t>Orbit and Constellation Design</a:t>
            </a:r>
          </a:p>
          <a:p>
            <a:pPr marL="0" indent="0" algn="ctr">
              <a:buNone/>
            </a:pPr>
            <a:r>
              <a:rPr lang="en-US" sz="3200"/>
              <a:t>SMAD </a:t>
            </a:r>
            <a:r>
              <a:rPr lang="en-US" sz="3200" err="1"/>
              <a:t>Ch</a:t>
            </a:r>
            <a:r>
              <a:rPr lang="en-US" sz="3200"/>
              <a:t> 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9549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/>
              <a:t>Describe the different orbits used throughout a spacecraft’s mission lifetime</a:t>
            </a:r>
          </a:p>
          <a:p>
            <a:pPr>
              <a:lnSpc>
                <a:spcPct val="110000"/>
              </a:lnSpc>
            </a:pPr>
            <a:r>
              <a:rPr lang="en-US"/>
              <a:t>Name commonly used mission orbits, describe their characteristics, and identify common missions that use those orbits</a:t>
            </a:r>
          </a:p>
          <a:p>
            <a:pPr>
              <a:lnSpc>
                <a:spcPct val="110000"/>
              </a:lnSpc>
            </a:pPr>
            <a:r>
              <a:rPr lang="en-US"/>
              <a:t>Describe the tradeoffs between performing a mission using a single satellite versus a constellation of satellites</a:t>
            </a:r>
          </a:p>
          <a:p>
            <a:pPr>
              <a:lnSpc>
                <a:spcPct val="110000"/>
              </a:lnSpc>
            </a:pPr>
            <a:r>
              <a:rPr lang="en-US"/>
              <a:t>Describe factors influencing the development of a spacecraft constellation</a:t>
            </a:r>
          </a:p>
          <a:p>
            <a:pPr>
              <a:lnSpc>
                <a:spcPct val="110000"/>
              </a:lnSpc>
            </a:pPr>
            <a:r>
              <a:rPr lang="en-US"/>
              <a:t>Define spacecraft orbital elements for a Walker Delta Pattern constellation and vice versa</a:t>
            </a:r>
          </a:p>
        </p:txBody>
      </p:sp>
    </p:spTree>
    <p:extLst>
      <p:ext uri="{BB962C8B-B14F-4D97-AF65-F5344CB8AC3E}">
        <p14:creationId xmlns:p14="http://schemas.microsoft.com/office/powerpoint/2010/main" val="3588052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Orbit &amp; Constellation Design Process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Insert Table 7-1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8938962" cy="490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1: Establish Orbit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20502"/>
          </a:xfrm>
        </p:spPr>
        <p:txBody>
          <a:bodyPr>
            <a:normAutofit/>
          </a:bodyPr>
          <a:lstStyle/>
          <a:p>
            <a:pPr lvl="0" fontAlgn="base"/>
            <a:r>
              <a:rPr lang="en-US" dirty="0"/>
              <a:t>There are different orbits needed at different times during mission lifetime</a:t>
            </a:r>
          </a:p>
          <a:p>
            <a:pPr lvl="1" fontAlgn="base"/>
            <a:r>
              <a:rPr lang="en-US" dirty="0"/>
              <a:t>Parking orbit:  safe &amp; convenient temporary orbit for S/C checkout</a:t>
            </a:r>
          </a:p>
          <a:p>
            <a:pPr lvl="1" fontAlgn="base"/>
            <a:r>
              <a:rPr lang="en-US" dirty="0"/>
              <a:t>Transfer orbit</a:t>
            </a:r>
          </a:p>
          <a:p>
            <a:pPr lvl="1" fontAlgn="base"/>
            <a:r>
              <a:rPr lang="en-US" dirty="0"/>
              <a:t>Operational orbit</a:t>
            </a:r>
          </a:p>
          <a:p>
            <a:pPr lvl="2"/>
            <a:r>
              <a:rPr lang="en-US" dirty="0"/>
              <a:t>earth-based:  coverage of Earth’s surface or near-Earth space (</a:t>
            </a:r>
            <a:r>
              <a:rPr lang="en-US" b="1" dirty="0"/>
              <a:t>ex</a:t>
            </a:r>
            <a:r>
              <a:rPr lang="en-US" dirty="0"/>
              <a:t> GEO, LEO.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space-referenced:  principal characteristic is a specific location in space (</a:t>
            </a:r>
            <a:r>
              <a:rPr lang="en-US" b="1" dirty="0"/>
              <a:t>ex</a:t>
            </a:r>
            <a:r>
              <a:rPr lang="en-US" dirty="0"/>
              <a:t> Lagrange points)</a:t>
            </a:r>
          </a:p>
          <a:p>
            <a:pPr lvl="1" fontAlgn="base"/>
            <a:r>
              <a:rPr lang="en-US" dirty="0"/>
              <a:t>Disposal orbit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1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494" y="0"/>
            <a:ext cx="5890195" cy="67341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80" y="100853"/>
            <a:ext cx="3035673" cy="4215653"/>
          </a:xfrm>
        </p:spPr>
        <p:txBody>
          <a:bodyPr>
            <a:normAutofit/>
          </a:bodyPr>
          <a:lstStyle/>
          <a:p>
            <a:r>
              <a:rPr lang="en-US"/>
              <a:t>Step 2: Determine Orbit-Related Mission </a:t>
            </a:r>
            <a:r>
              <a:rPr lang="en-US" err="1"/>
              <a:t>Reqts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8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303" y="55844"/>
            <a:ext cx="8259856" cy="1325563"/>
          </a:xfrm>
        </p:spPr>
        <p:txBody>
          <a:bodyPr/>
          <a:lstStyle/>
          <a:p>
            <a:r>
              <a:rPr lang="en-US"/>
              <a:t>Step 3: Assess Standard Orbits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379" y="1296170"/>
            <a:ext cx="6996362" cy="421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33" y="5512970"/>
            <a:ext cx="6792808" cy="8231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506" y="5601385"/>
            <a:ext cx="1298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Table 7-8</a:t>
            </a:r>
          </a:p>
        </p:txBody>
      </p:sp>
    </p:spTree>
    <p:extLst>
      <p:ext uri="{BB962C8B-B14F-4D97-AF65-F5344CB8AC3E}">
        <p14:creationId xmlns:p14="http://schemas.microsoft.com/office/powerpoint/2010/main" val="128038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403838" cy="1325563"/>
          </a:xfrm>
        </p:spPr>
        <p:txBody>
          <a:bodyPr/>
          <a:lstStyle/>
          <a:p>
            <a:r>
              <a:rPr lang="en-US" dirty="0"/>
              <a:t>What is a satellite constellation?</a:t>
            </a:r>
          </a:p>
        </p:txBody>
      </p:sp>
    </p:spTree>
    <p:extLst>
      <p:ext uri="{BB962C8B-B14F-4D97-AF65-F5344CB8AC3E}">
        <p14:creationId xmlns:p14="http://schemas.microsoft.com/office/powerpoint/2010/main" val="57296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0"/>
            <a:ext cx="8277225" cy="6619875"/>
          </a:xfrm>
          <a:prstGeom prst="rect">
            <a:avLst/>
          </a:prstGeom>
        </p:spPr>
      </p:pic>
      <p:sp>
        <p:nvSpPr>
          <p:cNvPr id="5" name="Rectangle 72"/>
          <p:cNvSpPr>
            <a:spLocks/>
          </p:cNvSpPr>
          <p:nvPr/>
        </p:nvSpPr>
        <p:spPr bwMode="auto">
          <a:xfrm>
            <a:off x="2743200" y="6477000"/>
            <a:ext cx="615077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Presentation Slide S5-3: Orbit Design - 12 </a:t>
            </a:r>
          </a:p>
        </p:txBody>
      </p:sp>
    </p:spTree>
    <p:extLst>
      <p:ext uri="{BB962C8B-B14F-4D97-AF65-F5344CB8AC3E}">
        <p14:creationId xmlns:p14="http://schemas.microsoft.com/office/powerpoint/2010/main" val="2374783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85" y="0"/>
            <a:ext cx="7298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40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6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" y="63165"/>
            <a:ext cx="9180095" cy="68850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6832" y="84221"/>
            <a:ext cx="1130968" cy="4211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5063" y="6448926"/>
            <a:ext cx="1856874" cy="3007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0315" y="111292"/>
            <a:ext cx="2923673" cy="3940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3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4: Single Satellite vs Constellation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fontAlgn="base"/>
            <a:r>
              <a:rPr lang="en-US"/>
              <a:t>key trade is usually single, large S/C w/complex instruments vs constellation of smaller, simpler S/C</a:t>
            </a:r>
          </a:p>
          <a:p>
            <a:pPr lvl="0" fontAlgn="base"/>
            <a:r>
              <a:rPr lang="en-US"/>
              <a:t>single S/C reduces cost by minimizing mission overhead</a:t>
            </a:r>
          </a:p>
          <a:p>
            <a:pPr lvl="0" fontAlgn="base"/>
            <a:r>
              <a:rPr lang="en-US"/>
              <a:t>constellations provide</a:t>
            </a:r>
          </a:p>
          <a:p>
            <a:pPr lvl="1"/>
            <a:r>
              <a:rPr lang="en-US"/>
              <a:t>better temporal or spatial coverage</a:t>
            </a:r>
          </a:p>
          <a:p>
            <a:pPr lvl="1"/>
            <a:r>
              <a:rPr lang="en-US"/>
              <a:t>more robust </a:t>
            </a:r>
            <a:r>
              <a:rPr lang="en-US" err="1"/>
              <a:t>comm</a:t>
            </a:r>
            <a:r>
              <a:rPr lang="en-US"/>
              <a:t> links</a:t>
            </a:r>
          </a:p>
          <a:p>
            <a:pPr lvl="1"/>
            <a:r>
              <a:rPr lang="en-US"/>
              <a:t>on-orbit spares offer higher system reliability if a S/C is lost</a:t>
            </a:r>
          </a:p>
          <a:p>
            <a:pPr lvl="1"/>
            <a:r>
              <a:rPr lang="en-US"/>
              <a:t>more survivability</a:t>
            </a:r>
          </a:p>
          <a:p>
            <a:pPr lvl="1"/>
            <a:r>
              <a:rPr lang="en-US"/>
              <a:t>multiple environmental conditions or geometries to carry out mission</a:t>
            </a:r>
          </a:p>
          <a:p>
            <a:r>
              <a:rPr lang="en-US"/>
              <a:t>Consider principal factors in designing a constellation (Table 7-10)</a:t>
            </a:r>
          </a:p>
        </p:txBody>
      </p:sp>
    </p:spTree>
    <p:extLst>
      <p:ext uri="{BB962C8B-B14F-4D97-AF65-F5344CB8AC3E}">
        <p14:creationId xmlns:p14="http://schemas.microsoft.com/office/powerpoint/2010/main" val="3429106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Principal Factors to 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Insert Table 7-10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77144"/>
            <a:ext cx="753427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01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Insert Table 7-10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556" r="1404"/>
          <a:stretch/>
        </p:blipFill>
        <p:spPr>
          <a:xfrm>
            <a:off x="413497" y="329452"/>
            <a:ext cx="7494170" cy="3879683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13497" y="4625786"/>
            <a:ext cx="7886700" cy="18783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/>
              <a:t>Constellation options</a:t>
            </a:r>
          </a:p>
          <a:p>
            <a:pPr lvl="1" fontAlgn="base"/>
            <a:r>
              <a:rPr lang="en-US"/>
              <a:t>Walker Delta</a:t>
            </a:r>
          </a:p>
          <a:p>
            <a:pPr lvl="1" fontAlgn="base"/>
            <a:r>
              <a:rPr lang="en-US"/>
              <a:t>Two-Plane Polar</a:t>
            </a:r>
          </a:p>
          <a:p>
            <a:pPr lvl="1" fontAlgn="base"/>
            <a:r>
              <a:rPr lang="en-US"/>
              <a:t>Three mutually perpendicular planes</a:t>
            </a:r>
          </a:p>
          <a:p>
            <a:pPr lvl="1" fontAlgn="base"/>
            <a:r>
              <a:rPr lang="en-US"/>
              <a:t>Two perpendicular non-polar planes</a:t>
            </a:r>
          </a:p>
          <a:p>
            <a:pPr lvl="1" fontAlgn="base"/>
            <a:r>
              <a:rPr lang="en-US"/>
              <a:t>Five-plane polar “streets of coverage”</a:t>
            </a:r>
          </a:p>
        </p:txBody>
      </p:sp>
    </p:spTree>
    <p:extLst>
      <p:ext uri="{BB962C8B-B14F-4D97-AF65-F5344CB8AC3E}">
        <p14:creationId xmlns:p14="http://schemas.microsoft.com/office/powerpoint/2010/main" val="4189676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3" y="663801"/>
            <a:ext cx="8582025" cy="59912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4351" y="-246716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/>
              <a:t>Walker Delta Constellation</a:t>
            </a:r>
          </a:p>
        </p:txBody>
      </p:sp>
    </p:spTree>
    <p:extLst>
      <p:ext uri="{BB962C8B-B14F-4D97-AF65-F5344CB8AC3E}">
        <p14:creationId xmlns:p14="http://schemas.microsoft.com/office/powerpoint/2010/main" val="3929336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504825"/>
            <a:ext cx="7230091" cy="61864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69456" y="135493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Fig 7-14 in SMAD</a:t>
            </a:r>
          </a:p>
        </p:txBody>
      </p:sp>
    </p:spTree>
    <p:extLst>
      <p:ext uri="{BB962C8B-B14F-4D97-AF65-F5344CB8AC3E}">
        <p14:creationId xmlns:p14="http://schemas.microsoft.com/office/powerpoint/2010/main" val="999955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Perform Mission Design Trades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Footprint area (F</a:t>
            </a:r>
            <a:r>
              <a:rPr lang="en-US" baseline="-25000"/>
              <a:t>A</a:t>
            </a:r>
            <a:r>
              <a:rPr lang="en-US"/>
              <a:t> or FOV area)</a:t>
            </a:r>
          </a:p>
          <a:p>
            <a:pPr lvl="1"/>
            <a:r>
              <a:rPr lang="en-US" sz="2600"/>
              <a:t>area that a specific instrument or antenna can see at any instant</a:t>
            </a:r>
          </a:p>
          <a:p>
            <a:r>
              <a:rPr lang="en-US"/>
              <a:t>Instantaneous access area (IAA)</a:t>
            </a:r>
          </a:p>
          <a:p>
            <a:pPr lvl="1"/>
            <a:r>
              <a:rPr lang="en-US"/>
              <a:t>all the area that an instrument or antenna could potentially see at any instant if it were scanned through  its normal range of orientations</a:t>
            </a:r>
          </a:p>
          <a:p>
            <a:r>
              <a:rPr lang="en-US"/>
              <a:t>Area coverage rate (ACR)</a:t>
            </a:r>
          </a:p>
          <a:p>
            <a:pPr lvl="1"/>
            <a:r>
              <a:rPr lang="en-US"/>
              <a:t>the rate at which the instrument or antenna is sensing or accessing new land</a:t>
            </a:r>
          </a:p>
          <a:p>
            <a:r>
              <a:rPr lang="en-US"/>
              <a:t>Area access rate (AAR)</a:t>
            </a:r>
          </a:p>
          <a:p>
            <a:pPr lvl="1"/>
            <a:r>
              <a:rPr lang="en-US"/>
              <a:t>the rate at which new land is coming into the spacecraft’s access area</a:t>
            </a:r>
          </a:p>
        </p:txBody>
      </p:sp>
    </p:spTree>
    <p:extLst>
      <p:ext uri="{BB962C8B-B14F-4D97-AF65-F5344CB8AC3E}">
        <p14:creationId xmlns:p14="http://schemas.microsoft.com/office/powerpoint/2010/main" val="1741379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Coverage Figures of Merit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490954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Percent coverage</a:t>
            </a:r>
          </a:p>
          <a:p>
            <a:pPr lvl="1"/>
            <a:r>
              <a:rPr lang="en-US"/>
              <a:t># of times a point was covered by one or more satellites divided by the total number of simulation time steps</a:t>
            </a:r>
          </a:p>
          <a:p>
            <a:r>
              <a:rPr lang="en-US"/>
              <a:t>Maximum coverage gap</a:t>
            </a:r>
          </a:p>
          <a:p>
            <a:pPr lvl="1"/>
            <a:r>
              <a:rPr lang="en-US"/>
              <a:t>The longest coverage gap of an individual point</a:t>
            </a:r>
          </a:p>
          <a:p>
            <a:r>
              <a:rPr lang="en-US"/>
              <a:t>Mean coverage gap</a:t>
            </a:r>
          </a:p>
          <a:p>
            <a:pPr lvl="1"/>
            <a:r>
              <a:rPr lang="en-US"/>
              <a:t>Average length of breaks in coverage for a given point on a grid</a:t>
            </a:r>
          </a:p>
          <a:p>
            <a:r>
              <a:rPr lang="en-US"/>
              <a:t>Time average gap</a:t>
            </a:r>
          </a:p>
          <a:p>
            <a:pPr lvl="1"/>
            <a:r>
              <a:rPr lang="en-US"/>
              <a:t>Mean gap duration averaged over time</a:t>
            </a:r>
          </a:p>
          <a:p>
            <a:r>
              <a:rPr lang="en-US"/>
              <a:t>Mean response time</a:t>
            </a:r>
          </a:p>
          <a:p>
            <a:pPr lvl="1"/>
            <a:r>
              <a:rPr lang="en-US"/>
              <a:t>Average time from receipt of a request to observe a particular point until we can observe it</a:t>
            </a:r>
          </a:p>
        </p:txBody>
      </p:sp>
    </p:spTree>
    <p:extLst>
      <p:ext uri="{BB962C8B-B14F-4D97-AF65-F5344CB8AC3E}">
        <p14:creationId xmlns:p14="http://schemas.microsoft.com/office/powerpoint/2010/main" val="4259882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149973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/>
              <a:t>Constellation Design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82" y="1351428"/>
            <a:ext cx="8320368" cy="5372757"/>
          </a:xfrm>
        </p:spPr>
        <p:txBody>
          <a:bodyPr>
            <a:normAutofit fontScale="85000" lnSpcReduction="10000"/>
          </a:bodyPr>
          <a:lstStyle/>
          <a:p>
            <a:pPr lvl="1" fontAlgn="base"/>
            <a:r>
              <a:rPr lang="en-US" dirty="0"/>
              <a:t>coverage (look at coverage (performance) vs number of S/C (cost))</a:t>
            </a:r>
          </a:p>
          <a:p>
            <a:pPr lvl="1" fontAlgn="base"/>
            <a:r>
              <a:rPr lang="en-US" dirty="0"/>
              <a:t>maneuvers</a:t>
            </a:r>
          </a:p>
          <a:p>
            <a:pPr lvl="2"/>
            <a:r>
              <a:rPr lang="en-US" dirty="0"/>
              <a:t>avoid switching orbital planes</a:t>
            </a:r>
          </a:p>
          <a:p>
            <a:pPr lvl="2"/>
            <a:r>
              <a:rPr lang="en-US" dirty="0"/>
              <a:t>limit number of planes to limit number of launches</a:t>
            </a:r>
          </a:p>
          <a:p>
            <a:pPr lvl="2"/>
            <a:r>
              <a:rPr lang="en-US" dirty="0" err="1"/>
              <a:t>rephasing</a:t>
            </a:r>
            <a:r>
              <a:rPr lang="en-US" dirty="0"/>
              <a:t> S/C w/in orbital plane uses very little propellant</a:t>
            </a:r>
          </a:p>
          <a:p>
            <a:pPr lvl="1" fontAlgn="base"/>
            <a:r>
              <a:rPr lang="en-US" dirty="0"/>
              <a:t>number of orbit planes</a:t>
            </a:r>
          </a:p>
          <a:p>
            <a:pPr lvl="2"/>
            <a:r>
              <a:rPr lang="en-US" dirty="0"/>
              <a:t>#planes determines #times a given surface area can be accesses</a:t>
            </a:r>
          </a:p>
          <a:p>
            <a:pPr lvl="2"/>
            <a:r>
              <a:rPr lang="en-US" dirty="0"/>
              <a:t>#S/C in a plane determine gaps in coverage</a:t>
            </a:r>
          </a:p>
          <a:p>
            <a:pPr lvl="1" fontAlgn="base"/>
            <a:r>
              <a:rPr lang="en-US" dirty="0"/>
              <a:t>plateaus and degradation</a:t>
            </a:r>
          </a:p>
          <a:p>
            <a:pPr lvl="2"/>
            <a:r>
              <a:rPr lang="en-US" dirty="0"/>
              <a:t>each additional S/C adds performance</a:t>
            </a:r>
          </a:p>
          <a:p>
            <a:pPr lvl="2"/>
            <a:r>
              <a:rPr lang="en-US" dirty="0"/>
              <a:t>graceful degradation means if one S/C fails, remaining S/C  provide needed service at reduced level rather than total loss of service</a:t>
            </a:r>
          </a:p>
          <a:p>
            <a:pPr lvl="2"/>
            <a:r>
              <a:rPr lang="en-US" dirty="0"/>
              <a:t>use computer modeling to assess performance</a:t>
            </a:r>
          </a:p>
          <a:p>
            <a:pPr lvl="1" fontAlgn="base"/>
            <a:r>
              <a:rPr lang="en-US" dirty="0"/>
              <a:t>launch vehicle selection</a:t>
            </a:r>
          </a:p>
          <a:p>
            <a:pPr lvl="2"/>
            <a:r>
              <a:rPr lang="en-US" dirty="0"/>
              <a:t>try to match #orbit planes and S/C in each plane to number of S/C that can be launched on one L/V</a:t>
            </a:r>
          </a:p>
          <a:p>
            <a:pPr lvl="1" fontAlgn="base"/>
            <a:r>
              <a:rPr lang="en-US" dirty="0"/>
              <a:t>reasonable to begin constellation design assuming all S/C in circular orbits at same altitude and inclination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40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Plateaus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13" y="2762249"/>
            <a:ext cx="8554774" cy="2209801"/>
          </a:xfrm>
          <a:prstGeom prst="rect">
            <a:avLst/>
          </a:prstGeom>
        </p:spPr>
      </p:pic>
      <p:sp>
        <p:nvSpPr>
          <p:cNvPr id="5" name="Rectangle 72"/>
          <p:cNvSpPr>
            <a:spLocks/>
          </p:cNvSpPr>
          <p:nvPr/>
        </p:nvSpPr>
        <p:spPr bwMode="auto">
          <a:xfrm>
            <a:off x="2743200" y="6477000"/>
            <a:ext cx="615077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Presentation Slide S5-3: Orbit Design - 16 </a:t>
            </a:r>
          </a:p>
        </p:txBody>
      </p:sp>
    </p:spTree>
    <p:extLst>
      <p:ext uri="{BB962C8B-B14F-4D97-AF65-F5344CB8AC3E}">
        <p14:creationId xmlns:p14="http://schemas.microsoft.com/office/powerpoint/2010/main" val="2755147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3366433"/>
          </a:xfrm>
        </p:spPr>
        <p:txBody>
          <a:bodyPr>
            <a:normAutofit fontScale="90000"/>
          </a:bodyPr>
          <a:lstStyle/>
          <a:p>
            <a:r>
              <a:rPr lang="en-US" sz="4000"/>
              <a:t>Step 6: Assess Orbital Transfer, Launch, and Retrieval/Disposal Options</a:t>
            </a:r>
            <a:br>
              <a:rPr lang="en-US"/>
            </a:br>
            <a:br>
              <a:rPr lang="en-US"/>
            </a:br>
            <a:r>
              <a:rPr lang="en-US" sz="4000"/>
              <a:t>Step 7: Evaluate Constellation Growth and Satellite Replenishment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19418" y="3731559"/>
            <a:ext cx="7795932" cy="2344551"/>
          </a:xfrm>
        </p:spPr>
        <p:txBody>
          <a:bodyPr>
            <a:normAutofit fontScale="85000" lnSpcReduction="20000"/>
          </a:bodyPr>
          <a:lstStyle/>
          <a:p>
            <a:pPr lvl="0" fontAlgn="base"/>
            <a:r>
              <a:rPr lang="en-US"/>
              <a:t>often requires numerical </a:t>
            </a:r>
            <a:r>
              <a:rPr lang="en-US" err="1"/>
              <a:t>solns</a:t>
            </a:r>
            <a:r>
              <a:rPr lang="en-US"/>
              <a:t> to evaluate coverage Figures of Merit</a:t>
            </a:r>
          </a:p>
          <a:p>
            <a:pPr lvl="0" fontAlgn="base"/>
            <a:r>
              <a:rPr lang="en-US"/>
              <a:t>performance tends to come in plateaus </a:t>
            </a:r>
            <a:r>
              <a:rPr lang="en-US" i="1"/>
              <a:t>(flip side is graceful degradation)</a:t>
            </a:r>
            <a:r>
              <a:rPr lang="en-US"/>
              <a:t> </a:t>
            </a:r>
          </a:p>
          <a:p>
            <a:pPr lvl="0" fontAlgn="base"/>
            <a:r>
              <a:rPr lang="en-US"/>
              <a:t>generally some performance benefit with first S/C</a:t>
            </a:r>
          </a:p>
          <a:p>
            <a:pPr lvl="0" fontAlgn="base"/>
            <a:r>
              <a:rPr lang="en-US"/>
              <a:t>major performance plateau may not occur next until plane is populated or each plane has at least one S/C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34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28" y="385297"/>
            <a:ext cx="7886700" cy="3366433"/>
          </a:xfrm>
        </p:spPr>
        <p:txBody>
          <a:bodyPr>
            <a:normAutofit fontScale="90000"/>
          </a:bodyPr>
          <a:lstStyle/>
          <a:p>
            <a:r>
              <a:rPr lang="en-US" sz="4000"/>
              <a:t>Step 8: Create a ΔV Budget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4000"/>
              <a:t>Step 9: Iterate &amp; Document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7712" y="981636"/>
            <a:ext cx="7795932" cy="1600200"/>
          </a:xfrm>
        </p:spPr>
        <p:txBody>
          <a:bodyPr>
            <a:normAutofit/>
          </a:bodyPr>
          <a:lstStyle/>
          <a:p>
            <a:pPr lvl="0" fontAlgn="base"/>
            <a:r>
              <a:rPr lang="en-US"/>
              <a:t>Account for </a:t>
            </a:r>
            <a:r>
              <a:rPr lang="el-GR"/>
              <a:t>Δ</a:t>
            </a:r>
            <a:r>
              <a:rPr lang="en-US"/>
              <a:t>Vs needed</a:t>
            </a:r>
          </a:p>
          <a:p>
            <a:pPr lvl="1" fontAlgn="base"/>
            <a:r>
              <a:rPr lang="en-US"/>
              <a:t>Think perturbations, station-keeping, momentum dumping, </a:t>
            </a:r>
            <a:r>
              <a:rPr lang="en-US" err="1"/>
              <a:t>etc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53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Walker-Delta Constellation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825625"/>
            <a:ext cx="4267200" cy="4351338"/>
          </a:xfrm>
        </p:spPr>
        <p:txBody>
          <a:bodyPr>
            <a:normAutofit/>
          </a:bodyPr>
          <a:lstStyle/>
          <a:p>
            <a:r>
              <a:rPr lang="en-US" sz="2400" b="1"/>
              <a:t>Example</a:t>
            </a:r>
            <a:r>
              <a:rPr lang="en-US" sz="2400"/>
              <a:t>:  15/5/2 Walker Delta Constellation</a:t>
            </a:r>
          </a:p>
          <a:p>
            <a:r>
              <a:rPr lang="en-US" sz="2400"/>
              <a:t>Given:  COEs for 1</a:t>
            </a:r>
            <a:r>
              <a:rPr lang="en-US" sz="2400" baseline="30000"/>
              <a:t>st</a:t>
            </a:r>
            <a:r>
              <a:rPr lang="en-US" sz="2400"/>
              <a:t> S/C:</a:t>
            </a:r>
          </a:p>
          <a:p>
            <a:pPr lvl="1"/>
            <a:r>
              <a:rPr lang="en-US" sz="2000"/>
              <a:t>a = X km</a:t>
            </a:r>
          </a:p>
          <a:p>
            <a:pPr lvl="1"/>
            <a:r>
              <a:rPr lang="en-US" sz="2000"/>
              <a:t>e = 0</a:t>
            </a:r>
          </a:p>
          <a:p>
            <a:pPr lvl="1"/>
            <a:r>
              <a:rPr lang="en-US" sz="2000"/>
              <a:t>i = Y </a:t>
            </a:r>
            <a:r>
              <a:rPr lang="en-US" sz="2000" err="1"/>
              <a:t>deg</a:t>
            </a:r>
            <a:endParaRPr lang="en-US" sz="2000"/>
          </a:p>
          <a:p>
            <a:pPr lvl="1"/>
            <a:r>
              <a:rPr lang="el-GR" sz="2000"/>
              <a:t>Ω</a:t>
            </a:r>
            <a:r>
              <a:rPr lang="en-US" sz="2000"/>
              <a:t> = 10 </a:t>
            </a:r>
            <a:r>
              <a:rPr lang="en-US" sz="2000" err="1"/>
              <a:t>deg</a:t>
            </a:r>
            <a:endParaRPr lang="en-US" sz="2000"/>
          </a:p>
          <a:p>
            <a:pPr lvl="1"/>
            <a:r>
              <a:rPr lang="en-US" sz="2000"/>
              <a:t>u = 0 </a:t>
            </a:r>
            <a:r>
              <a:rPr lang="en-US" sz="2000" err="1"/>
              <a:t>deg</a:t>
            </a:r>
            <a:endParaRPr lang="en-US" sz="2000"/>
          </a:p>
          <a:p>
            <a:r>
              <a:rPr lang="en-US" sz="2400"/>
              <a:t>Find:  COEs for remaining S/C in constellation</a:t>
            </a:r>
          </a:p>
          <a:p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052637"/>
            <a:ext cx="3943350" cy="36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24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171" y="-114377"/>
            <a:ext cx="7886700" cy="1325563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63569"/>
              </p:ext>
            </p:extLst>
          </p:nvPr>
        </p:nvGraphicFramePr>
        <p:xfrm>
          <a:off x="372171" y="2511974"/>
          <a:ext cx="8492364" cy="4023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5394">
                  <a:extLst>
                    <a:ext uri="{9D8B030D-6E8A-4147-A177-3AD203B41FA5}">
                      <a16:colId xmlns:a16="http://schemas.microsoft.com/office/drawing/2014/main" val="100895369"/>
                    </a:ext>
                  </a:extLst>
                </a:gridCol>
                <a:gridCol w="1415394">
                  <a:extLst>
                    <a:ext uri="{9D8B030D-6E8A-4147-A177-3AD203B41FA5}">
                      <a16:colId xmlns:a16="http://schemas.microsoft.com/office/drawing/2014/main" val="1437523744"/>
                    </a:ext>
                  </a:extLst>
                </a:gridCol>
                <a:gridCol w="1415394">
                  <a:extLst>
                    <a:ext uri="{9D8B030D-6E8A-4147-A177-3AD203B41FA5}">
                      <a16:colId xmlns:a16="http://schemas.microsoft.com/office/drawing/2014/main" val="1502472105"/>
                    </a:ext>
                  </a:extLst>
                </a:gridCol>
                <a:gridCol w="1415394">
                  <a:extLst>
                    <a:ext uri="{9D8B030D-6E8A-4147-A177-3AD203B41FA5}">
                      <a16:colId xmlns:a16="http://schemas.microsoft.com/office/drawing/2014/main" val="1371635184"/>
                    </a:ext>
                  </a:extLst>
                </a:gridCol>
                <a:gridCol w="1415394">
                  <a:extLst>
                    <a:ext uri="{9D8B030D-6E8A-4147-A177-3AD203B41FA5}">
                      <a16:colId xmlns:a16="http://schemas.microsoft.com/office/drawing/2014/main" val="788356714"/>
                    </a:ext>
                  </a:extLst>
                </a:gridCol>
                <a:gridCol w="1415394">
                  <a:extLst>
                    <a:ext uri="{9D8B030D-6E8A-4147-A177-3AD203B41FA5}">
                      <a16:colId xmlns:a16="http://schemas.microsoft.com/office/drawing/2014/main" val="171821523"/>
                    </a:ext>
                  </a:extLst>
                </a:gridCol>
              </a:tblGrid>
              <a:tr h="5748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Orbit Plane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655173"/>
                  </a:ext>
                </a:extLst>
              </a:tr>
              <a:tr h="5748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4055148"/>
                  </a:ext>
                </a:extLst>
              </a:tr>
              <a:tr h="5748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(km)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255148"/>
                  </a:ext>
                </a:extLst>
              </a:tr>
              <a:tr h="5748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449310"/>
                  </a:ext>
                </a:extLst>
              </a:tr>
              <a:tr h="5748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 (deg)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73250"/>
                  </a:ext>
                </a:extLst>
              </a:tr>
              <a:tr h="5748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Symbol" panose="05050102010706020507" pitchFamily="18" charset="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(deg)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5466398"/>
                  </a:ext>
                </a:extLst>
              </a:tr>
              <a:tr h="5748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 (deg)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9322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45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D0314C-AFB3-4762-ADEE-E749B7264184}"/>
</file>

<file path=customXml/itemProps2.xml><?xml version="1.0" encoding="utf-8"?>
<ds:datastoreItem xmlns:ds="http://schemas.openxmlformats.org/officeDocument/2006/customXml" ds:itemID="{F1D33394-194A-4393-AD8E-12E2AD2EAE9D}">
  <ds:schemaRefs>
    <ds:schemaRef ds:uri="http://purl.org/dc/terms/"/>
    <ds:schemaRef ds:uri="http://www.w3.org/XML/1998/namespace"/>
    <ds:schemaRef ds:uri="http://schemas.microsoft.com/office/2006/documentManagement/types"/>
    <ds:schemaRef ds:uri="be436b32-2fd7-4fcb-a957-ab7bcd56f25c"/>
    <ds:schemaRef ds:uri="http://schemas.microsoft.com/office/2006/metadata/properties"/>
    <ds:schemaRef ds:uri="http://purl.org/dc/elements/1.1/"/>
    <ds:schemaRef ds:uri="358bc032-0ba9-4d1f-a989-0754d16b57dd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9C2D8CF-972F-4CBB-AE25-2DCAD6A6BF9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821</Words>
  <Application>Microsoft Office PowerPoint</Application>
  <PresentationFormat>On-screen Show (4:3)</PresentationFormat>
  <Paragraphs>115</Paragraphs>
  <Slides>24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Lesson Objectives</vt:lpstr>
      <vt:lpstr>Orbit &amp; Constellation Design Process</vt:lpstr>
      <vt:lpstr>Step 1: Establish Orbit Types</vt:lpstr>
      <vt:lpstr>Step 2: Determine Orbit-Related Mission Reqts</vt:lpstr>
      <vt:lpstr>Step 3: Assess Standard Orbits</vt:lpstr>
      <vt:lpstr>What is a satellite constellation?</vt:lpstr>
      <vt:lpstr>PowerPoint Presentation</vt:lpstr>
      <vt:lpstr>PowerPoint Presentation</vt:lpstr>
      <vt:lpstr>PowerPoint Presentation</vt:lpstr>
      <vt:lpstr>PowerPoint Presentation</vt:lpstr>
      <vt:lpstr>Step 4: Single Satellite vs Constellation</vt:lpstr>
      <vt:lpstr>Principal Factors to Consider</vt:lpstr>
      <vt:lpstr>PowerPoint Presentation</vt:lpstr>
      <vt:lpstr>Walker Delta Constellation</vt:lpstr>
      <vt:lpstr>PowerPoint Presentation</vt:lpstr>
      <vt:lpstr>Step 5: Perform Mission Design Trades</vt:lpstr>
      <vt:lpstr>Coverage Figures of Merit</vt:lpstr>
      <vt:lpstr>Constellation Design Issues</vt:lpstr>
      <vt:lpstr>Performance Plateaus</vt:lpstr>
      <vt:lpstr>Step 6: Assess Orbital Transfer, Launch, and Retrieval/Disposal Options  Step 7: Evaluate Constellation Growth and Satellite Replenishment</vt:lpstr>
      <vt:lpstr>Step 8: Create a ΔV Budget     Step 9: Iterate &amp; Document</vt:lpstr>
      <vt:lpstr>Example: Walker-Delta Constellation</vt:lpstr>
      <vt:lpstr>Solution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Quadrino, Meghan K Capt USAF USAFA USAFA/DFAS</cp:lastModifiedBy>
  <cp:revision>7</cp:revision>
  <cp:lastPrinted>2020-01-21T16:02:26Z</cp:lastPrinted>
  <dcterms:created xsi:type="dcterms:W3CDTF">2019-06-13T20:36:51Z</dcterms:created>
  <dcterms:modified xsi:type="dcterms:W3CDTF">2023-01-23T17:50:24Z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