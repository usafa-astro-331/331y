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8" r:id="rId5"/>
    <p:sldId id="302" r:id="rId6"/>
    <p:sldId id="305" r:id="rId7"/>
    <p:sldId id="306" r:id="rId8"/>
    <p:sldId id="303" r:id="rId9"/>
    <p:sldId id="304" r:id="rId10"/>
    <p:sldId id="323" r:id="rId11"/>
    <p:sldId id="307" r:id="rId12"/>
    <p:sldId id="308" r:id="rId13"/>
    <p:sldId id="309" r:id="rId14"/>
    <p:sldId id="312" r:id="rId15"/>
    <p:sldId id="310" r:id="rId16"/>
    <p:sldId id="311" r:id="rId17"/>
    <p:sldId id="325" r:id="rId18"/>
    <p:sldId id="313" r:id="rId19"/>
    <p:sldId id="294" r:id="rId20"/>
    <p:sldId id="320" r:id="rId21"/>
    <p:sldId id="315" r:id="rId22"/>
    <p:sldId id="321" r:id="rId23"/>
    <p:sldId id="316" r:id="rId24"/>
    <p:sldId id="317" r:id="rId25"/>
    <p:sldId id="284" r:id="rId26"/>
    <p:sldId id="318" r:id="rId27"/>
    <p:sldId id="319" r:id="rId28"/>
    <p:sldId id="322" r:id="rId29"/>
    <p:sldId id="324" r:id="rId30"/>
  </p:sldIdLst>
  <p:sldSz cx="9144000" cy="6858000" type="screen4x3"/>
  <p:notesSz cx="9448800" cy="7162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8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095336" cy="359608"/>
          </a:xfrm>
          <a:prstGeom prst="rect">
            <a:avLst/>
          </a:prstGeom>
        </p:spPr>
        <p:txBody>
          <a:bodyPr vert="horz" lIns="93141" tIns="46570" rIns="93141" bIns="465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51326" y="1"/>
            <a:ext cx="4095336" cy="359608"/>
          </a:xfrm>
          <a:prstGeom prst="rect">
            <a:avLst/>
          </a:prstGeom>
        </p:spPr>
        <p:txBody>
          <a:bodyPr vert="horz" lIns="93141" tIns="46570" rIns="93141" bIns="4657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803193"/>
            <a:ext cx="4095336" cy="359608"/>
          </a:xfrm>
          <a:prstGeom prst="rect">
            <a:avLst/>
          </a:prstGeom>
        </p:spPr>
        <p:txBody>
          <a:bodyPr vert="horz" lIns="93141" tIns="46570" rIns="93141" bIns="465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51326" y="6803193"/>
            <a:ext cx="4095336" cy="359608"/>
          </a:xfrm>
          <a:prstGeom prst="rect">
            <a:avLst/>
          </a:prstGeom>
        </p:spPr>
        <p:txBody>
          <a:bodyPr vert="horz" lIns="93141" tIns="46570" rIns="93141" bIns="4657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95125" cy="358465"/>
          </a:xfrm>
          <a:prstGeom prst="rect">
            <a:avLst/>
          </a:prstGeom>
        </p:spPr>
        <p:txBody>
          <a:bodyPr vert="horz" lIns="93141" tIns="46570" rIns="93141" bIns="4657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52062" y="0"/>
            <a:ext cx="4095125" cy="358465"/>
          </a:xfrm>
          <a:prstGeom prst="rect">
            <a:avLst/>
          </a:prstGeom>
        </p:spPr>
        <p:txBody>
          <a:bodyPr vert="horz" lIns="93141" tIns="46570" rIns="93141" bIns="46570" rtlCol="0"/>
          <a:lstStyle>
            <a:lvl1pPr algn="r">
              <a:defRPr sz="1200"/>
            </a:lvl1pPr>
          </a:lstStyle>
          <a:p>
            <a:fld id="{EB1DDF33-71C8-4842-B392-D949B730C8D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14675" y="895350"/>
            <a:ext cx="3219450" cy="24161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41" tIns="46570" rIns="93141" bIns="4657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45526" y="3446774"/>
            <a:ext cx="7557749" cy="2820676"/>
          </a:xfrm>
          <a:prstGeom prst="rect">
            <a:avLst/>
          </a:prstGeom>
        </p:spPr>
        <p:txBody>
          <a:bodyPr vert="horz" lIns="93141" tIns="46570" rIns="93141" bIns="4657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804337"/>
            <a:ext cx="4095125" cy="358464"/>
          </a:xfrm>
          <a:prstGeom prst="rect">
            <a:avLst/>
          </a:prstGeom>
        </p:spPr>
        <p:txBody>
          <a:bodyPr vert="horz" lIns="93141" tIns="46570" rIns="93141" bIns="4657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52062" y="6804337"/>
            <a:ext cx="4095125" cy="358464"/>
          </a:xfrm>
          <a:prstGeom prst="rect">
            <a:avLst/>
          </a:prstGeom>
        </p:spPr>
        <p:txBody>
          <a:bodyPr vert="horz" lIns="93141" tIns="46570" rIns="93141" bIns="46570" rtlCol="0" anchor="b"/>
          <a:lstStyle>
            <a:lvl1pPr algn="r">
              <a:defRPr sz="1200"/>
            </a:lvl1pPr>
          </a:lstStyle>
          <a:p>
            <a:fld id="{74A7B313-BA6E-43D8-82ED-E89E5B0FF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1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4DC13-96E0-4ED6-9A3E-C7D918E4D0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88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Astro 331 Lesson 4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/>
              <a:t>Introduction to Astrodynamics</a:t>
            </a:r>
          </a:p>
          <a:p>
            <a:pPr marL="0" indent="0" algn="ctr">
              <a:buNone/>
            </a:pPr>
            <a:r>
              <a:rPr lang="en-US" sz="3200"/>
              <a:t>SMAD </a:t>
            </a:r>
            <a:r>
              <a:rPr lang="en-US" sz="3200" err="1"/>
              <a:t>Ch</a:t>
            </a:r>
            <a:r>
              <a:rPr lang="en-US" sz="3200"/>
              <a:t> 6.2, 6.5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17044"/>
            <a:ext cx="7886700" cy="4559919"/>
          </a:xfrm>
        </p:spPr>
        <p:txBody>
          <a:bodyPr>
            <a:normAutofit lnSpcReduction="10000"/>
          </a:bodyPr>
          <a:lstStyle/>
          <a:p>
            <a:pPr lvl="0" fontAlgn="base"/>
            <a:r>
              <a:rPr lang="en-US"/>
              <a:t>Describe the limitations of the assumptions of the restricted two-body equation of motion</a:t>
            </a:r>
          </a:p>
          <a:p>
            <a:pPr lvl="0" fontAlgn="base"/>
            <a:r>
              <a:rPr lang="en-US"/>
              <a:t>Identify common orbital perturbations and the orbital regimes in which they apply</a:t>
            </a:r>
          </a:p>
          <a:p>
            <a:pPr fontAlgn="base"/>
            <a:r>
              <a:rPr lang="en-US"/>
              <a:t>Describe the unique features of sun-synchronous and </a:t>
            </a:r>
            <a:r>
              <a:rPr lang="en-US" err="1"/>
              <a:t>Molniya</a:t>
            </a:r>
            <a:r>
              <a:rPr lang="en-US"/>
              <a:t> orbits</a:t>
            </a:r>
          </a:p>
          <a:p>
            <a:pPr lvl="0" fontAlgn="base"/>
            <a:r>
              <a:rPr lang="en-US"/>
              <a:t>Calculate perturbations to orbital elements caused by the sun, the moon, Earth’s oblateness, and atmospheric drag</a:t>
            </a:r>
          </a:p>
          <a:p>
            <a:pPr lvl="0" fontAlgn="base"/>
            <a:r>
              <a:rPr lang="en-US"/>
              <a:t>Estimate orbital maintenance requirements necessary to compensate for perturbations</a:t>
            </a:r>
          </a:p>
          <a:p>
            <a:pPr fontAlgn="base"/>
            <a:r>
              <a:rPr lang="en-US"/>
              <a:t>Describe end-of-life disposal options for spacecraft and understand which mission types utilize which option</a:t>
            </a:r>
          </a:p>
        </p:txBody>
      </p:sp>
    </p:spTree>
    <p:extLst>
      <p:ext uri="{BB962C8B-B14F-4D97-AF65-F5344CB8AC3E}">
        <p14:creationId xmlns:p14="http://schemas.microsoft.com/office/powerpoint/2010/main" val="134952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" t="12018" b="20478"/>
          <a:stretch/>
        </p:blipFill>
        <p:spPr>
          <a:xfrm>
            <a:off x="1583422" y="3232231"/>
            <a:ext cx="4887985" cy="1905000"/>
          </a:xfrm>
          <a:prstGeom prst="rect">
            <a:avLst/>
          </a:prstGeom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9464" y="29816"/>
            <a:ext cx="79248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Equation of Motion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5090161" y="2555368"/>
            <a:ext cx="472439" cy="624712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" name="Straight Arrow Connector 4"/>
          <p:cNvCxnSpPr/>
          <p:nvPr/>
        </p:nvCxnSpPr>
        <p:spPr bwMode="auto">
          <a:xfrm flipH="1" flipV="1">
            <a:off x="1310640" y="2092960"/>
            <a:ext cx="1188720" cy="108712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611447" y="4358870"/>
            <a:ext cx="1526616" cy="435587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V="1">
            <a:off x="6523603" y="3270594"/>
            <a:ext cx="1557467" cy="41695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3962400" y="5181600"/>
            <a:ext cx="0" cy="1065531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67080" y="4996934"/>
            <a:ext cx="108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Drag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0288" y="5889010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Gravity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7608" y="2599737"/>
            <a:ext cx="108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79" y="2371708"/>
            <a:ext cx="141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3</a:t>
            </a:r>
            <a:r>
              <a:rPr lang="en-US" baseline="30000">
                <a:solidFill>
                  <a:srgbClr val="0000FF"/>
                </a:solidFill>
              </a:rPr>
              <a:t>rd</a:t>
            </a:r>
            <a:r>
              <a:rPr lang="en-US">
                <a:solidFill>
                  <a:srgbClr val="0000FF"/>
                </a:solidFill>
              </a:rPr>
              <a:t>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2336" y="3542763"/>
            <a:ext cx="108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Thrust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/>
              <p:cNvSpPr txBox="1">
                <a:spLocks/>
              </p:cNvSpPr>
              <p:nvPr/>
            </p:nvSpPr>
            <p:spPr>
              <a:xfrm>
                <a:off x="0" y="1361757"/>
                <a:ext cx="9144000" cy="4530725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 spc="3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 spc="3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 spc="3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 spc="3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 spc="3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Font typeface="Arial" pitchFamily="34" charset="0"/>
                  <a:buChar char="•"/>
                  <a:defRPr sz="1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fontAlgn="auto">
                  <a:buFont typeface="Arial" pitchFamily="34" charset="0"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/>
                        <a:ea typeface="Cambria Math"/>
                      </a:rPr>
                      <m:t>Σ</m:t>
                    </m:r>
                    <m:r>
                      <a:rPr lang="en-US" sz="2800" i="1" smtClean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280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</a:rPr>
                          <m:t>𝑡h𝑟𝑢𝑠𝑡</m:t>
                        </m:r>
                      </m:sub>
                    </m:sSub>
                    <m:r>
                      <a:rPr lang="en-US" sz="280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</a:rPr>
                          <m:t>𝑑𝑟𝑎𝑔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</a:rPr>
                          <m:t>𝑔𝑟𝑎𝑣𝑖𝑡𝑦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</a:rPr>
                          <m:t>3</m:t>
                        </m:r>
                        <m:r>
                          <a:rPr lang="en-US" sz="2800" i="1" smtClean="0">
                            <a:latin typeface="Cambria Math"/>
                          </a:rPr>
                          <m:t>𝑟𝑑</m:t>
                        </m:r>
                        <m:r>
                          <a:rPr lang="en-US" sz="2800" i="1" smtClean="0">
                            <a:latin typeface="Cambria Math"/>
                          </a:rPr>
                          <m:t> </m:t>
                        </m:r>
                        <m:r>
                          <a:rPr lang="en-US" sz="2800" i="1" smtClean="0">
                            <a:latin typeface="Cambria Math"/>
                          </a:rPr>
                          <m:t>𝑏𝑜𝑑𝑦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</a:rPr>
                          <m:t>𝑜𝑡h𝑒𝑟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 fontAlgn="auto"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61757"/>
                <a:ext cx="9144000" cy="4530725"/>
              </a:xfrm>
              <a:prstGeom prst="rect">
                <a:avLst/>
              </a:prstGeom>
              <a:blipFill>
                <a:blip r:embed="rId4"/>
                <a:stretch>
                  <a:fillRect t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1510301" y="1458930"/>
            <a:ext cx="708917" cy="5239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19218" y="1048244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9384" y="99589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957815" y="1465569"/>
            <a:ext cx="708917" cy="5239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138720" y="1511021"/>
            <a:ext cx="708917" cy="5239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7649021" y="1511021"/>
            <a:ext cx="708917" cy="5239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47637" y="1054827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4264" y="10812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71404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5751"/>
            <a:ext cx="79248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Restricted 2-Body EOM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13915" y="1343806"/>
                <a:ext cx="3829638" cy="545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/>
                        <a:ea typeface="Cambria Math"/>
                      </a:rPr>
                      <m:t>Σ</m:t>
                    </m:r>
                    <m:sSub>
                      <m:sSubPr>
                        <m:ctrlPr>
                          <a:rPr lang="el-GR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l-GR" sz="24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𝑒𝑥𝑡𝑒𝑟𝑛𝑎𝑙</m:t>
                        </m:r>
                      </m:sub>
                    </m:sSub>
                    <m:r>
                      <a:rPr lang="en-US" sz="240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l-GR" sz="24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⃑"/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𝑔𝑟𝑎𝑣𝑖𝑡𝑦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𝑚</m:t>
                    </m:r>
                    <m:acc>
                      <m:accPr>
                        <m:chr m:val="⃑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915" y="1343806"/>
                <a:ext cx="3829638" cy="545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03151" y="2610116"/>
            <a:ext cx="2519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FF"/>
                </a:solidFill>
              </a:rPr>
              <a:t>Apply Newton’s Universal Law of Gravitation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54298" y="2392651"/>
                <a:ext cx="3562707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𝑔𝑟𝑎𝑣𝑖𝑡𝑦</m:t>
                          </m:r>
                        </m:sub>
                      </m:sSub>
                      <m:r>
                        <a:rPr lang="en-US" sz="2400" i="1" smtClean="0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</m:acc>
                        </m:num>
                        <m:den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𝑅</m:t>
                          </m:r>
                        </m:den>
                      </m:f>
                      <m:r>
                        <a:rPr lang="en-US" sz="2400" b="0" i="0" smtClean="0">
                          <a:latin typeface="Cambria Math"/>
                          <a:ea typeface="Cambria Math"/>
                        </a:rPr>
                        <m:t>= </m:t>
                      </m:r>
                      <m:r>
                        <a:rPr lang="en-US" sz="2400" i="1">
                          <a:latin typeface="Cambria Math"/>
                          <a:ea typeface="Cambria Math"/>
                        </a:rPr>
                        <m:t>𝑚</m:t>
                      </m:r>
                      <m:acc>
                        <m:accPr>
                          <m:chr m:val="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298" y="2392651"/>
                <a:ext cx="3562707" cy="876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43562" y="3737650"/>
                <a:ext cx="3520964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l-GR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𝑔𝑟𝑎𝑣𝑖𝑡𝑦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 smtClean="0"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</m:acc>
                        </m:num>
                        <m:den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𝑅</m:t>
                          </m:r>
                        </m:den>
                      </m:f>
                      <m:r>
                        <a:rPr lang="en-US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acc>
                            <m:accPr>
                              <m:chr m:val="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</m:acc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62" y="3737650"/>
                <a:ext cx="3520964" cy="8769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 bwMode="auto">
          <a:xfrm flipV="1">
            <a:off x="4531360" y="3840480"/>
            <a:ext cx="264160" cy="400994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>
            <a:cxnSpLocks/>
          </p:cNvCxnSpPr>
          <p:nvPr/>
        </p:nvCxnSpPr>
        <p:spPr bwMode="auto">
          <a:xfrm flipV="1">
            <a:off x="5405860" y="4065155"/>
            <a:ext cx="209506" cy="35560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FF33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38681" y="5118381"/>
                <a:ext cx="3657038" cy="71994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acc>
                            <m:accPr>
                              <m:chr m:val="⃑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</m:acc>
                        </m:e>
                      </m:acc>
                      <m:r>
                        <a:rPr lang="en-US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acc>
                        <m:accPr>
                          <m:chr m:val="̂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acc>
                      <m:r>
                        <a:rPr lang="en-US" sz="2400" b="0" i="0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681" y="5118381"/>
                <a:ext cx="3657038" cy="719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30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1371" y="799861"/>
                <a:ext cx="7886700" cy="4738581"/>
              </a:xfrm>
            </p:spPr>
            <p:txBody>
              <a:bodyPr>
                <a:normAutofit/>
              </a:bodyPr>
              <a:lstStyle/>
              <a:p>
                <a:pPr lvl="0" fontAlgn="base"/>
                <a:r>
                  <a:rPr lang="en-US" dirty="0"/>
                  <a:t>Recall there were a number of assumptions we made to get to the R2BEOM, including</a:t>
                </a:r>
              </a:p>
              <a:p>
                <a:pPr lvl="1" fontAlgn="base"/>
                <a:r>
                  <a:rPr lang="en-US" sz="2000" dirty="0"/>
                  <a:t>All forces acting on the S/C except gravity were negligible</a:t>
                </a:r>
              </a:p>
              <a:p>
                <a:pPr lvl="1"/>
                <a:r>
                  <a:rPr lang="en-US" sz="2000" dirty="0"/>
                  <a:t>The mass of the Earth is much, much larger than the mass of the satellite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</a:p>
              <a:p>
                <a:pPr lvl="1"/>
                <a:r>
                  <a:rPr lang="en-US" sz="2000" dirty="0"/>
                  <a:t>The Earth is spherically symmetrical with uniform density,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∴</m:t>
                    </m:r>
                  </m:oMath>
                </a14:m>
                <a:r>
                  <a:rPr lang="en-US" sz="2000" dirty="0"/>
                  <a:t> we can treat it as a point mass</a:t>
                </a:r>
              </a:p>
              <a:p>
                <a:pPr lvl="1"/>
                <a:r>
                  <a:rPr lang="en-US" sz="2000" dirty="0"/>
                  <a:t>The spacecraft’s mass is constant,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∴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/>
                        <a:ea typeface="Cambria Math"/>
                      </a:rPr>
                      <m:t>Δ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𝑚</m:t>
                    </m:r>
                    <m:r>
                      <a:rPr lang="en-US" sz="2000" i="1">
                        <a:latin typeface="Cambria Math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lvl="1" fontAlgn="base"/>
                <a:endParaRPr lang="en-US" dirty="0"/>
              </a:p>
              <a:p>
                <a:pPr lvl="0" fontAlgn="base"/>
                <a:r>
                  <a:rPr lang="en-US" dirty="0"/>
                  <a:t>Restricted 2-body motion results in a, e, i, </a:t>
                </a:r>
                <a:r>
                  <a:rPr lang="el-GR" dirty="0"/>
                  <a:t>Ω</a:t>
                </a:r>
                <a:r>
                  <a:rPr lang="en-US" dirty="0"/>
                  <a:t> and </a:t>
                </a:r>
                <a:r>
                  <a:rPr lang="el-GR" dirty="0"/>
                  <a:t>ω</a:t>
                </a:r>
                <a:r>
                  <a:rPr lang="en-US" dirty="0"/>
                  <a:t> being constants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dirty="0"/>
                  <a:t> is only time varying orbit element)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371" y="799861"/>
                <a:ext cx="7886700" cy="4738581"/>
              </a:xfrm>
              <a:blipFill>
                <a:blip r:embed="rId2"/>
                <a:stretch>
                  <a:fillRect l="-1083" t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533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114" y="97311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Perturbations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1947"/>
            <a:ext cx="7886700" cy="10274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en-US" sz="2000" dirty="0"/>
              <a:t>Perturbations are forces that cause S/C motion to deviate from ideal 2-body motion</a:t>
            </a:r>
            <a:endParaRPr lang="en-US" sz="2000" dirty="0"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" y="2599363"/>
            <a:ext cx="42416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Perturbation classifications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secular:  non periodic 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short-period:  &lt; 1 orbit period</a:t>
            </a:r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000" dirty="0"/>
              <a:t>long-period:  &gt; 1 orbit period</a:t>
            </a:r>
          </a:p>
          <a:p>
            <a:pPr lvl="1" fontAlgn="base"/>
            <a:endParaRPr lang="en-US" sz="2000" dirty="0"/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Common perturbations: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 body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non-spherical Earth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atmospheric drag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000" dirty="0"/>
              <a:t>solar radiation pressure</a:t>
            </a:r>
          </a:p>
          <a:p>
            <a:endParaRPr lang="en-US"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743" y="2460396"/>
            <a:ext cx="4138892" cy="3776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0282" y="6097608"/>
            <a:ext cx="3891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 6-6 Secular and Periodic Variations of an Orbital Element</a:t>
            </a:r>
          </a:p>
        </p:txBody>
      </p:sp>
    </p:spTree>
    <p:extLst>
      <p:ext uri="{BB962C8B-B14F-4D97-AF65-F5344CB8AC3E}">
        <p14:creationId xmlns:p14="http://schemas.microsoft.com/office/powerpoint/2010/main" val="761347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78" y="0"/>
            <a:ext cx="6722298" cy="61331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2167" y="6075327"/>
            <a:ext cx="7895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Fig 6-6 Secular and Periodic Variations of an Orbital Element</a:t>
            </a:r>
          </a:p>
        </p:txBody>
      </p:sp>
    </p:spTree>
    <p:extLst>
      <p:ext uri="{BB962C8B-B14F-4D97-AF65-F5344CB8AC3E}">
        <p14:creationId xmlns:p14="http://schemas.microsoft.com/office/powerpoint/2010/main" val="188702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Third Body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9594"/>
            <a:ext cx="7886700" cy="4351338"/>
          </a:xfrm>
        </p:spPr>
        <p:txBody>
          <a:bodyPr/>
          <a:lstStyle/>
          <a:p>
            <a:pPr lvl="0" fontAlgn="base"/>
            <a:r>
              <a:rPr lang="en-US"/>
              <a:t>Sun and moon are dominant 3</a:t>
            </a:r>
            <a:r>
              <a:rPr lang="en-US" baseline="30000"/>
              <a:t>rd</a:t>
            </a:r>
            <a:r>
              <a:rPr lang="en-US"/>
              <a:t>-body effects for Earth orbiting S/C</a:t>
            </a:r>
          </a:p>
          <a:p>
            <a:pPr lvl="1" fontAlgn="base"/>
            <a:r>
              <a:rPr lang="en-US"/>
              <a:t>periodic effects on all COEs</a:t>
            </a:r>
          </a:p>
          <a:p>
            <a:pPr lvl="1" fontAlgn="base"/>
            <a:r>
              <a:rPr lang="en-US"/>
              <a:t>secular variations in </a:t>
            </a:r>
            <a:r>
              <a:rPr lang="el-GR"/>
              <a:t>Ω</a:t>
            </a:r>
            <a:r>
              <a:rPr lang="en-US"/>
              <a:t> and </a:t>
            </a:r>
            <a:r>
              <a:rPr lang="el-GR"/>
              <a:t>ω</a:t>
            </a:r>
            <a:endParaRPr lang="en-US"/>
          </a:p>
          <a:p>
            <a:pPr marL="457200" lvl="1" indent="0" fontAlgn="base">
              <a:buNone/>
            </a:pPr>
            <a:endParaRPr lang="en-US"/>
          </a:p>
          <a:p>
            <a:pPr marL="457200" lvl="1" indent="0" fontAlgn="base">
              <a:buNone/>
            </a:pPr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62115" y="6121105"/>
            <a:ext cx="4352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/>
              <a:t>n = mean motion (rev/day)</a:t>
            </a:r>
            <a:r>
              <a:rPr lang="en-US" sz="1600"/>
              <a:t> for 3</a:t>
            </a:r>
            <a:r>
              <a:rPr lang="en-US" sz="1600" baseline="30000"/>
              <a:t>rd</a:t>
            </a:r>
            <a:r>
              <a:rPr lang="en-US" sz="1600"/>
              <a:t> body </a:t>
            </a:r>
            <a:r>
              <a:rPr lang="en-US" sz="1600" err="1"/>
              <a:t>calcs</a:t>
            </a:r>
            <a:endParaRPr 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581750"/>
                  </p:ext>
                </p:extLst>
              </p:nvPr>
            </p:nvGraphicFramePr>
            <p:xfrm>
              <a:off x="1288211" y="3226280"/>
              <a:ext cx="7412966" cy="26051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232329">
                      <a:extLst>
                        <a:ext uri="{9D8B030D-6E8A-4147-A177-3AD203B41FA5}">
                          <a16:colId xmlns:a16="http://schemas.microsoft.com/office/drawing/2014/main" val="2377634156"/>
                        </a:ext>
                      </a:extLst>
                    </a:gridCol>
                    <a:gridCol w="1180637">
                      <a:extLst>
                        <a:ext uri="{9D8B030D-6E8A-4147-A177-3AD203B41FA5}">
                          <a16:colId xmlns:a16="http://schemas.microsoft.com/office/drawing/2014/main" val="660027839"/>
                        </a:ext>
                      </a:extLst>
                    </a:gridCol>
                  </a:tblGrid>
                  <a:tr h="56569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endPara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𝑀𝑜𝑜𝑛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=−0.00338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13708071"/>
                      </a:ext>
                    </a:extLst>
                  </a:tr>
                  <a:tr h="56569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endParaRPr lang="en-US" sz="1800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𝑆𝑢𝑛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=−0.00154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21624811"/>
                      </a:ext>
                    </a:extLst>
                  </a:tr>
                  <a:tr h="90809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endPara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𝑀𝑜𝑜𝑛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=0.00169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4−5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8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53449894"/>
                      </a:ext>
                    </a:extLst>
                  </a:tr>
                  <a:tr h="565693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:endParaRPr lang="en-US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  <a:tab pos="2686050" algn="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𝑆𝑢𝑛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=0.00077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4−5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8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24689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3581750"/>
                  </p:ext>
                </p:extLst>
              </p:nvPr>
            </p:nvGraphicFramePr>
            <p:xfrm>
              <a:off x="1288211" y="3226280"/>
              <a:ext cx="7412966" cy="260517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232329">
                      <a:extLst>
                        <a:ext uri="{9D8B030D-6E8A-4147-A177-3AD203B41FA5}">
                          <a16:colId xmlns:a16="http://schemas.microsoft.com/office/drawing/2014/main" val="2377634156"/>
                        </a:ext>
                      </a:extLst>
                    </a:gridCol>
                    <a:gridCol w="1180637">
                      <a:extLst>
                        <a:ext uri="{9D8B030D-6E8A-4147-A177-3AD203B41FA5}">
                          <a16:colId xmlns:a16="http://schemas.microsoft.com/office/drawing/2014/main" val="660027839"/>
                        </a:ext>
                      </a:extLst>
                    </a:gridCol>
                  </a:tblGrid>
                  <a:tr h="565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3978" r="-18964" b="-360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13708071"/>
                      </a:ext>
                    </a:extLst>
                  </a:tr>
                  <a:tr h="565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13978" r="-18964" b="-2602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21624811"/>
                      </a:ext>
                    </a:extLst>
                  </a:tr>
                  <a:tr h="9080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33557" r="-18964" b="-624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53449894"/>
                      </a:ext>
                    </a:extLst>
                  </a:tr>
                  <a:tr h="5656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74194" r="-189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24689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175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56" y="1"/>
            <a:ext cx="7886700" cy="1059366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Non-Spherical Earth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456" y="965629"/>
            <a:ext cx="8155754" cy="2734696"/>
          </a:xfrm>
        </p:spPr>
        <p:txBody>
          <a:bodyPr>
            <a:normAutofit/>
          </a:bodyPr>
          <a:lstStyle/>
          <a:p>
            <a:pPr lvl="0" fontAlgn="base"/>
            <a:r>
              <a:rPr lang="en-US" sz="2000" dirty="0"/>
              <a:t>largest non-spherical effect is the belt around the equator (oblateness aka J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</a:p>
          <a:p>
            <a:pPr lvl="0" fontAlgn="base"/>
            <a:r>
              <a:rPr lang="en-US" sz="2000" dirty="0"/>
              <a:t>periodic variation in all COEs</a:t>
            </a:r>
          </a:p>
          <a:p>
            <a:pPr lvl="0" fontAlgn="base"/>
            <a:r>
              <a:rPr lang="en-US" sz="2000" dirty="0"/>
              <a:t>dominant effects are secular variation in </a:t>
            </a:r>
            <a:r>
              <a:rPr lang="el-GR" sz="2000" dirty="0"/>
              <a:t>Ω</a:t>
            </a:r>
            <a:r>
              <a:rPr lang="en-US" sz="2000" dirty="0"/>
              <a:t> and </a:t>
            </a:r>
            <a:r>
              <a:rPr lang="el-GR" sz="2000" dirty="0"/>
              <a:t>ω</a:t>
            </a:r>
            <a:r>
              <a:rPr lang="en-US" sz="2000" dirty="0"/>
              <a:t> </a:t>
            </a:r>
          </a:p>
          <a:p>
            <a:pPr lvl="1" fontAlgn="base"/>
            <a:r>
              <a:rPr lang="en-US" sz="1600" dirty="0"/>
              <a:t>up to about GEO altitude, J</a:t>
            </a:r>
            <a:r>
              <a:rPr lang="en-US" sz="1600" baseline="-25000" dirty="0"/>
              <a:t>2</a:t>
            </a:r>
            <a:r>
              <a:rPr lang="en-US" sz="1600" dirty="0"/>
              <a:t> has a stronger impact than sun or moon perturbations</a:t>
            </a:r>
          </a:p>
          <a:p>
            <a:pPr lvl="1" fontAlgn="base"/>
            <a:r>
              <a:rPr lang="en-US" sz="1600" dirty="0"/>
              <a:t>beyond GEO, sun and moon perturbations are more dominant than J</a:t>
            </a:r>
            <a:r>
              <a:rPr lang="en-US" sz="1600" baseline="-25000" dirty="0"/>
              <a:t>2</a:t>
            </a:r>
            <a:endParaRPr lang="en-US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643944" y="6180207"/>
            <a:ext cx="46634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where J</a:t>
            </a:r>
            <a:r>
              <a:rPr lang="en-US" sz="1600" baseline="-25000" dirty="0"/>
              <a:t>2</a:t>
            </a:r>
            <a:r>
              <a:rPr lang="en-US" sz="1600" dirty="0"/>
              <a:t> = 0.00108263</a:t>
            </a:r>
            <a:endParaRPr lang="en-US" sz="1600" b="1" dirty="0"/>
          </a:p>
          <a:p>
            <a:r>
              <a:rPr lang="en-US" sz="1600" b="1" dirty="0"/>
              <a:t>n = mean motion (</a:t>
            </a:r>
            <a:r>
              <a:rPr lang="en-US" sz="1600" b="1" dirty="0" err="1"/>
              <a:t>deg</a:t>
            </a:r>
            <a:r>
              <a:rPr lang="en-US" sz="1600" b="1" dirty="0"/>
              <a:t>/day)</a:t>
            </a:r>
            <a:r>
              <a:rPr lang="en-US" sz="1600" dirty="0"/>
              <a:t> for oblateness </a:t>
            </a:r>
            <a:r>
              <a:rPr lang="en-US" sz="1600" dirty="0" err="1"/>
              <a:t>calcs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167677"/>
                  </p:ext>
                </p:extLst>
              </p:nvPr>
            </p:nvGraphicFramePr>
            <p:xfrm>
              <a:off x="1062200" y="3199580"/>
              <a:ext cx="7370956" cy="30825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197009">
                      <a:extLst>
                        <a:ext uri="{9D8B030D-6E8A-4147-A177-3AD203B41FA5}">
                          <a16:colId xmlns:a16="http://schemas.microsoft.com/office/drawing/2014/main" val="1093770916"/>
                        </a:ext>
                      </a:extLst>
                    </a:gridCol>
                    <a:gridCol w="1173947">
                      <a:extLst>
                        <a:ext uri="{9D8B030D-6E8A-4147-A177-3AD203B41FA5}">
                          <a16:colId xmlns:a16="http://schemas.microsoft.com/office/drawing/2014/main" val="2430425550"/>
                        </a:ext>
                      </a:extLst>
                    </a:gridCol>
                  </a:tblGrid>
                  <a:tr h="14847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−1.5</m:t>
                                    </m:r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</a:rPr>
                                                      <m:t>𝑅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</a:rPr>
                                                      <m:t>⊕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1−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                ≅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−2.065×</m:t>
                                    </m:r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14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type m:val="lin"/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−7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6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cos</m:t>
                                            </m:r>
                                          </m:fName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1−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69628852"/>
                      </a:ext>
                    </a:extLst>
                  </a:tr>
                  <a:tr h="148473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6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ω</m:t>
                                        </m:r>
                                      </m:e>
                                    </m:acc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0.75</m:t>
                                    </m:r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𝑛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𝐽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</a:rPr>
                                                      <m:t>𝑅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1600" i="1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Times New Roman" panose="02020603050405020304" pitchFamily="18" charset="0"/>
                                                      </a:rPr>
                                                      <m:t>⊕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4−5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𝑠𝑖𝑛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1−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                ≅</m:t>
                                </m:r>
                                <m:f>
                                  <m:fPr>
                                    <m:ctrlP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1.032×</m:t>
                                    </m:r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14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type m:val="lin"/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−7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4−5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6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sin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fName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func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1−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𝑒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endParaRPr lang="en-US" sz="16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6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064709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167677"/>
                  </p:ext>
                </p:extLst>
              </p:nvPr>
            </p:nvGraphicFramePr>
            <p:xfrm>
              <a:off x="1062200" y="3199580"/>
              <a:ext cx="7370956" cy="30825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197009">
                      <a:extLst>
                        <a:ext uri="{9D8B030D-6E8A-4147-A177-3AD203B41FA5}">
                          <a16:colId xmlns:a16="http://schemas.microsoft.com/office/drawing/2014/main" val="1093770916"/>
                        </a:ext>
                      </a:extLst>
                    </a:gridCol>
                    <a:gridCol w="1173947">
                      <a:extLst>
                        <a:ext uri="{9D8B030D-6E8A-4147-A177-3AD203B41FA5}">
                          <a16:colId xmlns:a16="http://schemas.microsoft.com/office/drawing/2014/main" val="2430425550"/>
                        </a:ext>
                      </a:extLst>
                    </a:gridCol>
                  </a:tblGrid>
                  <a:tr h="15412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937" r="-18977" b="-99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6-19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69628852"/>
                      </a:ext>
                    </a:extLst>
                  </a:tr>
                  <a:tr h="15412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4348" r="-18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6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064709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163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57" y="180191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Taking Advantage of Perturbations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69846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/>
                  <a:t>Sun-synchronous:</a:t>
                </a:r>
              </a:p>
              <a:p>
                <a:pPr lvl="1" fontAlgn="base"/>
                <a:r>
                  <a:rPr lang="en-US" sz="2000"/>
                  <a:t>want passes at the same local time each day (uniform lighting)</a:t>
                </a:r>
              </a:p>
              <a:p>
                <a:pPr lvl="1" fontAlgn="base"/>
                <a:r>
                  <a:rPr lang="en-US" sz="2000"/>
                  <a:t>pick COEs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𝑟𝑒𝑣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𝑦𝑟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=0.9856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2000"/>
              </a:p>
              <a:p>
                <a:pPr lvl="1" fontAlgn="base"/>
                <a:endParaRPr lang="en-US"/>
              </a:p>
              <a:p>
                <a:pPr marL="0" lvl="0" indent="0">
                  <a:buNone/>
                </a:pPr>
                <a:r>
                  <a:rPr lang="en-US"/>
                  <a:t>Molniya:</a:t>
                </a:r>
              </a:p>
              <a:p>
                <a:pPr lvl="1" fontAlgn="base"/>
                <a:r>
                  <a:rPr lang="en-US"/>
                  <a:t>provides long dwell time for communications or observation at high latitudes</a:t>
                </a:r>
              </a:p>
              <a:p>
                <a:pPr lvl="1" fontAlgn="base"/>
                <a:r>
                  <a:rPr lang="en-US"/>
                  <a:t>pick COEs to keep perigee from </a:t>
                </a:r>
                <a:r>
                  <a:rPr lang="en-US" err="1"/>
                  <a:t>precessing</a:t>
                </a:r>
                <a:r>
                  <a:rPr lang="en-US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/>
              </a:p>
              <a:p>
                <a:pPr lvl="1" fontAlgn="base"/>
                <a:r>
                  <a:rPr lang="en-US"/>
                  <a:t>two critical inclinations:  63.4</a:t>
                </a:r>
                <a:r>
                  <a:rPr lang="en-US" baseline="30000"/>
                  <a:t>o</a:t>
                </a:r>
                <a:r>
                  <a:rPr lang="en-US"/>
                  <a:t> and 116.6</a:t>
                </a:r>
                <a:r>
                  <a:rPr lang="en-US" baseline="30000"/>
                  <a:t>o</a:t>
                </a:r>
                <a:r>
                  <a:rPr lang="en-US"/>
                  <a:t>  </a:t>
                </a:r>
              </a:p>
              <a:p>
                <a:pPr lvl="1" fontAlgn="base"/>
                <a:endParaRPr lang="en-US" sz="20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698465"/>
              </a:xfrm>
              <a:blipFill>
                <a:blip r:embed="rId2"/>
                <a:stretch>
                  <a:fillRect l="-1159" t="-1686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742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1825625"/>
                <a:ext cx="7886700" cy="1471613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/>
                  <a:t>Sun-synchronous:</a:t>
                </a:r>
              </a:p>
              <a:p>
                <a:pPr lvl="1" fontAlgn="base"/>
                <a:r>
                  <a:rPr lang="en-US" sz="2000"/>
                  <a:t>want passes at the same local time each day (uniform lighting)</a:t>
                </a:r>
              </a:p>
              <a:p>
                <a:pPr lvl="1" fontAlgn="base"/>
                <a:r>
                  <a:rPr lang="en-US" sz="2000"/>
                  <a:t>pick COEs 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𝑟𝑒𝑣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𝑦𝑟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=0.9856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𝑑𝑒𝑔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𝑑𝑎𝑦</m:t>
                    </m:r>
                  </m:oMath>
                </a14:m>
                <a:endParaRPr lang="en-US" sz="20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1825625"/>
                <a:ext cx="7886700" cy="1471613"/>
              </a:xfrm>
              <a:blipFill>
                <a:blip r:embed="rId2"/>
                <a:stretch>
                  <a:fillRect l="-1546" t="-7025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7566" b="6666"/>
          <a:stretch/>
        </p:blipFill>
        <p:spPr>
          <a:xfrm>
            <a:off x="-174662" y="-1"/>
            <a:ext cx="9596063" cy="579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73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28914" b="7266"/>
          <a:stretch/>
        </p:blipFill>
        <p:spPr>
          <a:xfrm>
            <a:off x="-91685" y="0"/>
            <a:ext cx="9533636" cy="561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5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0973" y="-148582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Example – fill in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137408"/>
                  </p:ext>
                </p:extLst>
              </p:nvPr>
            </p:nvGraphicFramePr>
            <p:xfrm>
              <a:off x="273130" y="948689"/>
              <a:ext cx="8597739" cy="571758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77174">
                      <a:extLst>
                        <a:ext uri="{9D8B030D-6E8A-4147-A177-3AD203B41FA5}">
                          <a16:colId xmlns:a16="http://schemas.microsoft.com/office/drawing/2014/main" val="1961100700"/>
                        </a:ext>
                      </a:extLst>
                    </a:gridCol>
                    <a:gridCol w="2106855">
                      <a:extLst>
                        <a:ext uri="{9D8B030D-6E8A-4147-A177-3AD203B41FA5}">
                          <a16:colId xmlns:a16="http://schemas.microsoft.com/office/drawing/2014/main" val="2924232028"/>
                        </a:ext>
                      </a:extLst>
                    </a:gridCol>
                    <a:gridCol w="2106855">
                      <a:extLst>
                        <a:ext uri="{9D8B030D-6E8A-4147-A177-3AD203B41FA5}">
                          <a16:colId xmlns:a16="http://schemas.microsoft.com/office/drawing/2014/main" val="2950723741"/>
                        </a:ext>
                      </a:extLst>
                    </a:gridCol>
                    <a:gridCol w="2106855">
                      <a:extLst>
                        <a:ext uri="{9D8B030D-6E8A-4147-A177-3AD203B41FA5}">
                          <a16:colId xmlns:a16="http://schemas.microsoft.com/office/drawing/2014/main" val="2695509838"/>
                        </a:ext>
                      </a:extLst>
                    </a:gridCol>
                  </a:tblGrid>
                  <a:tr h="43111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Orbit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J2 Effect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</a:t>
                          </a:r>
                          <a:r>
                            <a:rPr lang="en-US" sz="1400" err="1">
                              <a:effectLst/>
                            </a:rPr>
                            <a:t>deg</a:t>
                          </a:r>
                          <a:r>
                            <a:rPr lang="en-US" sz="1400">
                              <a:effectLst/>
                            </a:rPr>
                            <a:t>/</a:t>
                          </a:r>
                          <a:r>
                            <a:rPr lang="en-US" sz="1400" err="1">
                              <a:effectLst/>
                            </a:rPr>
                            <a:t>dey</a:t>
                          </a:r>
                          <a:r>
                            <a:rPr lang="en-US" sz="1400">
                              <a:effectLst/>
                            </a:rPr>
                            <a:t>)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Moon Effect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</a:t>
                          </a:r>
                          <a:r>
                            <a:rPr lang="en-US" sz="1400" err="1">
                              <a:effectLst/>
                            </a:rPr>
                            <a:t>deg</a:t>
                          </a:r>
                          <a:r>
                            <a:rPr lang="en-US" sz="1400">
                              <a:effectLst/>
                            </a:rPr>
                            <a:t>/day)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Sun Effect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</a:t>
                          </a:r>
                          <a:r>
                            <a:rPr lang="en-US" sz="1400" err="1">
                              <a:effectLst/>
                            </a:rPr>
                            <a:t>deg</a:t>
                          </a:r>
                          <a:r>
                            <a:rPr lang="en-US" sz="1400">
                              <a:effectLst/>
                            </a:rPr>
                            <a:t>/day)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9889548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Shuttle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6700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28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r>
                            <a:rPr lang="en-US" sz="1600">
                              <a:effectLst/>
                            </a:rPr>
                            <a:t> 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90543240"/>
                      </a:ext>
                    </a:extLst>
                  </a:tr>
                  <a:tr h="44772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357758577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Sun-synchronous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6728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96.85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34917487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235743716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GPS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26,562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55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66369894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82948445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Molniya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26,562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0.75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63.4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83043634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86904587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Geostationary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42,160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0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0160554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869002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137408"/>
                  </p:ext>
                </p:extLst>
              </p:nvPr>
            </p:nvGraphicFramePr>
            <p:xfrm>
              <a:off x="273130" y="948689"/>
              <a:ext cx="8597739" cy="571758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277174">
                      <a:extLst>
                        <a:ext uri="{9D8B030D-6E8A-4147-A177-3AD203B41FA5}">
                          <a16:colId xmlns:a16="http://schemas.microsoft.com/office/drawing/2014/main" val="1961100700"/>
                        </a:ext>
                      </a:extLst>
                    </a:gridCol>
                    <a:gridCol w="2106855">
                      <a:extLst>
                        <a:ext uri="{9D8B030D-6E8A-4147-A177-3AD203B41FA5}">
                          <a16:colId xmlns:a16="http://schemas.microsoft.com/office/drawing/2014/main" val="2924232028"/>
                        </a:ext>
                      </a:extLst>
                    </a:gridCol>
                    <a:gridCol w="2106855">
                      <a:extLst>
                        <a:ext uri="{9D8B030D-6E8A-4147-A177-3AD203B41FA5}">
                          <a16:colId xmlns:a16="http://schemas.microsoft.com/office/drawing/2014/main" val="2950723741"/>
                        </a:ext>
                      </a:extLst>
                    </a:gridCol>
                    <a:gridCol w="2106855">
                      <a:extLst>
                        <a:ext uri="{9D8B030D-6E8A-4147-A177-3AD203B41FA5}">
                          <a16:colId xmlns:a16="http://schemas.microsoft.com/office/drawing/2014/main" val="2695509838"/>
                        </a:ext>
                      </a:extLst>
                    </a:gridCol>
                  </a:tblGrid>
                  <a:tr h="43111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Orbit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J2 Effect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</a:t>
                          </a:r>
                          <a:r>
                            <a:rPr lang="en-US" sz="1400" err="1">
                              <a:effectLst/>
                            </a:rPr>
                            <a:t>deg</a:t>
                          </a:r>
                          <a:r>
                            <a:rPr lang="en-US" sz="1400">
                              <a:effectLst/>
                            </a:rPr>
                            <a:t>/</a:t>
                          </a:r>
                          <a:r>
                            <a:rPr lang="en-US" sz="1400" err="1">
                              <a:effectLst/>
                            </a:rPr>
                            <a:t>dey</a:t>
                          </a:r>
                          <a:r>
                            <a:rPr lang="en-US" sz="1400">
                              <a:effectLst/>
                            </a:rPr>
                            <a:t>)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Moon Effect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</a:t>
                          </a:r>
                          <a:r>
                            <a:rPr lang="en-US" sz="1400" err="1">
                              <a:effectLst/>
                            </a:rPr>
                            <a:t>deg</a:t>
                          </a:r>
                          <a:r>
                            <a:rPr lang="en-US" sz="1400">
                              <a:effectLst/>
                            </a:rPr>
                            <a:t>/day)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Sun Effect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</a:rPr>
                            <a:t>(</a:t>
                          </a:r>
                          <a:r>
                            <a:rPr lang="en-US" sz="1400" err="1">
                              <a:effectLst/>
                            </a:rPr>
                            <a:t>deg</a:t>
                          </a:r>
                          <a:r>
                            <a:rPr lang="en-US" sz="1400">
                              <a:effectLst/>
                            </a:rPr>
                            <a:t>/day)</a:t>
                          </a:r>
                          <a:endParaRPr lang="en-US" sz="12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9889548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Shuttle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6700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28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r>
                            <a:rPr lang="en-US" sz="1600">
                              <a:effectLst/>
                            </a:rPr>
                            <a:t> 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382" t="-106667" r="-201156" b="-106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8382" t="-106667" r="-101156" b="-106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382" t="-106667" r="-1156" b="-106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0543240"/>
                      </a:ext>
                    </a:extLst>
                  </a:tr>
                  <a:tr h="51453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382" t="-182353" r="-201156" b="-83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8382" t="-182353" r="-101156" b="-83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8382" t="-182353" r="-1156" b="-83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7758577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Sun-synchronous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6728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96.85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382" t="-315789" r="-201156" b="-835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8382" t="-315789" r="-101156" b="-835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382" t="-315789" r="-1156" b="-8355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4917487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382" t="-312871" r="-201156" b="-5287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8382" t="-312871" r="-101156" b="-5287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8382" t="-312871" r="-1156" b="-5287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5743716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GPS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26,562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55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382" t="-548684" r="-201156" b="-6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8382" t="-548684" r="-101156" b="-6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382" t="-548684" r="-1156" b="-60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6369894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382" t="-488119" r="-201156" b="-353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8382" t="-488119" r="-101156" b="-353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8382" t="-488119" r="-1156" b="-3534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2948445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Molniya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26,562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0.75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63.4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382" t="-781579" r="-201156" b="-36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8382" t="-781579" r="-101156" b="-36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382" t="-781579" r="-1156" b="-369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3043634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382" t="-663366" r="-201156" b="-178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8382" t="-663366" r="-101156" b="-1782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8382" t="-663366" r="-1156" b="-1782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6904587"/>
                      </a:ext>
                    </a:extLst>
                  </a:tr>
                  <a:tr h="460826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Geostationary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a = 42,160 km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e = 0</a:t>
                          </a:r>
                          <a:endParaRPr lang="en-US" sz="14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effectLst/>
                            </a:rPr>
                            <a:t>i = 0</a:t>
                          </a:r>
                          <a:r>
                            <a:rPr lang="en-US" sz="1600" baseline="30000">
                              <a:effectLst/>
                            </a:rPr>
                            <a:t>o</a:t>
                          </a:r>
                          <a:endParaRPr lang="en-US" sz="14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382" t="-1014474" r="-201156" b="-13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8382" t="-1014474" r="-101156" b="-136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8382" t="-1014474" r="-1156" b="-13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160554"/>
                      </a:ext>
                    </a:extLst>
                  </a:tr>
                  <a:tr h="616953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382" t="-838614" r="-201156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8382" t="-838614" r="-101156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8382" t="-838614" r="-1156" b="-2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69002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6102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8383"/>
          </a:xfrm>
        </p:spPr>
        <p:txBody>
          <a:bodyPr/>
          <a:lstStyle/>
          <a:p>
            <a:r>
              <a:rPr lang="en-US" altLang="en-US" b="1" dirty="0">
                <a:solidFill>
                  <a:srgbClr val="0000FF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ANSWERS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558436"/>
                  </p:ext>
                </p:extLst>
              </p:nvPr>
            </p:nvGraphicFramePr>
            <p:xfrm>
              <a:off x="1348033" y="999242"/>
              <a:ext cx="6080288" cy="5755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10408">
                      <a:extLst>
                        <a:ext uri="{9D8B030D-6E8A-4147-A177-3AD203B41FA5}">
                          <a16:colId xmlns:a16="http://schemas.microsoft.com/office/drawing/2014/main" val="2303007549"/>
                        </a:ext>
                      </a:extLst>
                    </a:gridCol>
                    <a:gridCol w="1489960">
                      <a:extLst>
                        <a:ext uri="{9D8B030D-6E8A-4147-A177-3AD203B41FA5}">
                          <a16:colId xmlns:a16="http://schemas.microsoft.com/office/drawing/2014/main" val="198002413"/>
                        </a:ext>
                      </a:extLst>
                    </a:gridCol>
                    <a:gridCol w="1489960">
                      <a:extLst>
                        <a:ext uri="{9D8B030D-6E8A-4147-A177-3AD203B41FA5}">
                          <a16:colId xmlns:a16="http://schemas.microsoft.com/office/drawing/2014/main" val="3935965261"/>
                        </a:ext>
                      </a:extLst>
                    </a:gridCol>
                    <a:gridCol w="1489960">
                      <a:extLst>
                        <a:ext uri="{9D8B030D-6E8A-4147-A177-3AD203B41FA5}">
                          <a16:colId xmlns:a16="http://schemas.microsoft.com/office/drawing/2014/main" val="2078386755"/>
                        </a:ext>
                      </a:extLst>
                    </a:gridCol>
                  </a:tblGrid>
                  <a:tr h="43911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Orbit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J2 Effect (deg/dey)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Moon Effect (deg/day)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Sun Effect (deg/day)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50897950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Shuttle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6700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28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-7.406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-1.885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-8.589 x 10</a:t>
                          </a:r>
                          <a:r>
                            <a:rPr lang="en-US" sz="1200" baseline="30000">
                              <a:effectLst/>
                            </a:rPr>
                            <a:t>-5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2349512"/>
                      </a:ext>
                    </a:extLst>
                  </a:tr>
                  <a:tr h="4560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12.148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3.094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1.410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538418188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Sun-synchronous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6728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96.85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0.986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2.563 x 10</a:t>
                          </a:r>
                          <a:r>
                            <a:rPr lang="en-US" sz="1200" baseline="30000">
                              <a:effectLst/>
                            </a:rPr>
                            <a:t>-5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1.168 x 10</a:t>
                          </a:r>
                          <a:r>
                            <a:rPr lang="en-US" sz="1200" baseline="30000">
                              <a:effectLst/>
                            </a:rPr>
                            <a:t>-5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86797425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-3.837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-9.967 x 10</a:t>
                          </a:r>
                          <a:r>
                            <a:rPr lang="en-US" sz="1200" baseline="30000">
                              <a:effectLst/>
                            </a:rPr>
                            <a:t>-5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-4.546 x 10</a:t>
                          </a:r>
                          <a:r>
                            <a:rPr lang="en-US" sz="1200" baseline="30000">
                              <a:effectLst/>
                            </a:rPr>
                            <a:t>-5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32003219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GPS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26,562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55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-0.0388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-9.667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-4.405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10643719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0.0218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5.435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2.476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862600030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Molniya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26,562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0.75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63.4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-0.158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-7.547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-3.438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48811424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4.309 x 10</a:t>
                          </a:r>
                          <a:r>
                            <a:rPr lang="en-US" sz="1200" baseline="30000">
                              <a:effectLst/>
                            </a:rPr>
                            <a:t>-4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2.057 x 10</a:t>
                          </a:r>
                          <a:r>
                            <a:rPr lang="en-US" sz="1200" baseline="30000">
                              <a:effectLst/>
                            </a:rPr>
                            <a:t>-6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9.372 x 10</a:t>
                          </a:r>
                          <a:r>
                            <a:rPr lang="en-US" sz="1200" baseline="30000">
                              <a:effectLst/>
                            </a:rPr>
                            <a:t>-7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208290062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Geostationary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42,160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0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-0.0134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-3.370 x 10</a:t>
                          </a:r>
                          <a:r>
                            <a:rPr lang="en-US" sz="1200" baseline="30000">
                              <a:effectLst/>
                            </a:rPr>
                            <a:t>-3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-1.536 x 10</a:t>
                          </a:r>
                          <a:r>
                            <a:rPr lang="en-US" sz="1200" baseline="30000">
                              <a:effectLst/>
                            </a:rPr>
                            <a:t>-3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58528359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0.0268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6.741 x 10</a:t>
                          </a:r>
                          <a:r>
                            <a:rPr lang="en-US" sz="1200" baseline="30000">
                              <a:effectLst/>
                            </a:rPr>
                            <a:t>-3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sz="12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>
                              <a:effectLst/>
                            </a:rPr>
                            <a:t> </a:t>
                          </a:r>
                          <a:endParaRPr lang="en-US" sz="11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3.071 x 10</a:t>
                          </a:r>
                          <a:r>
                            <a:rPr lang="en-US" sz="1200" baseline="30000" dirty="0">
                              <a:effectLst/>
                            </a:rPr>
                            <a:t>-3</a:t>
                          </a:r>
                          <a:endParaRPr lang="en-US" sz="1100" dirty="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41897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558436"/>
                  </p:ext>
                </p:extLst>
              </p:nvPr>
            </p:nvGraphicFramePr>
            <p:xfrm>
              <a:off x="1348033" y="999242"/>
              <a:ext cx="6080288" cy="575572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610408">
                      <a:extLst>
                        <a:ext uri="{9D8B030D-6E8A-4147-A177-3AD203B41FA5}">
                          <a16:colId xmlns:a16="http://schemas.microsoft.com/office/drawing/2014/main" val="2303007549"/>
                        </a:ext>
                      </a:extLst>
                    </a:gridCol>
                    <a:gridCol w="1489960">
                      <a:extLst>
                        <a:ext uri="{9D8B030D-6E8A-4147-A177-3AD203B41FA5}">
                          <a16:colId xmlns:a16="http://schemas.microsoft.com/office/drawing/2014/main" val="198002413"/>
                        </a:ext>
                      </a:extLst>
                    </a:gridCol>
                    <a:gridCol w="1489960">
                      <a:extLst>
                        <a:ext uri="{9D8B030D-6E8A-4147-A177-3AD203B41FA5}">
                          <a16:colId xmlns:a16="http://schemas.microsoft.com/office/drawing/2014/main" val="3935965261"/>
                        </a:ext>
                      </a:extLst>
                    </a:gridCol>
                    <a:gridCol w="1489960">
                      <a:extLst>
                        <a:ext uri="{9D8B030D-6E8A-4147-A177-3AD203B41FA5}">
                          <a16:colId xmlns:a16="http://schemas.microsoft.com/office/drawing/2014/main" val="2078386755"/>
                        </a:ext>
                      </a:extLst>
                    </a:gridCol>
                  </a:tblGrid>
                  <a:tr h="43911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Orbit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 anchor="b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J2 Effect (deg/dey)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Moon Effect (deg/day)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Sun Effect (deg/day)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50897950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Shuttle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6700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28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r>
                            <a:rPr lang="en-US" sz="1200">
                              <a:effectLst/>
                            </a:rPr>
                            <a:t> 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163" t="-103896" r="-201224" b="-1037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9016" t="-103896" r="-102049" b="-1037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7755" t="-103896" r="-1633" b="-10376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349512"/>
                      </a:ext>
                    </a:extLst>
                  </a:tr>
                  <a:tr h="45604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63" t="-209333" r="-201224" b="-9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9016" t="-209333" r="-102049" b="-9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7755" t="-209333" r="-1633" b="-96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8418188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Sun-synchronous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6728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96.85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163" t="-301299" r="-201224" b="-8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9016" t="-301299" r="-102049" b="-8402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7755" t="-301299" r="-1633" b="-8402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6797425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63" t="-297115" r="-201224" b="-522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9016" t="-297115" r="-102049" b="-522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7755" t="-297115" r="-1633" b="-522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2003219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GPS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26,562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55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163" t="-536364" r="-201224" b="-6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9016" t="-536364" r="-102049" b="-6051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7755" t="-536364" r="-1633" b="-6051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0643719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63" t="-475728" r="-201224" b="-352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9016" t="-475728" r="-102049" b="-352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7755" t="-475728" r="-1633" b="-3524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2600030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Molniya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26,562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0.75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63.4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163" t="-770130" r="-201224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9016" t="-770130" r="-102049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7755" t="-770130" r="-1633" b="-3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8811424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63" t="-644231" r="-201224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9016" t="-644231" r="-102049" b="-17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7755" t="-644231" r="-1633" b="-17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8290062"/>
                      </a:ext>
                    </a:extLst>
                  </a:tr>
                  <a:tr h="469384">
                    <a:tc row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Geostationary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a = 42,160 km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e = 0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21399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i = 0</a:t>
                          </a:r>
                          <a:r>
                            <a:rPr lang="en-US" sz="1200" baseline="30000">
                              <a:effectLst/>
                            </a:rPr>
                            <a:t>o</a:t>
                          </a:r>
                          <a:endParaRPr lang="en-US" sz="1100">
                            <a:solidFill>
                              <a:srgbClr val="000000"/>
                            </a:solidFill>
                            <a:effectLst/>
                            <a:latin typeface="Helvetica" panose="020B0604020202020204" pitchFamily="34" charset="0"/>
                            <a:ea typeface="Arial Unicode MS" panose="020B0604020202020204" pitchFamily="34" charset="-128"/>
                            <a:cs typeface="Arial Unicode MS" panose="020B0604020202020204" pitchFamily="34" charset="-128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8163" t="-1005195" r="-201224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9016" t="-1005195" r="-102049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7755" t="-1005195" r="-1633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8528359"/>
                      </a:ext>
                    </a:extLst>
                  </a:tr>
                  <a:tr h="62841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08163" t="-826214" r="-201224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209016" t="-826214" r="-102049" b="-1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307755" t="-826214" r="-1633" b="-19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41897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2023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3147" y="596132"/>
            <a:ext cx="7886700" cy="587775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Atmospheric Drag Effects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3147" y="1498365"/>
            <a:ext cx="7886700" cy="4984627"/>
          </a:xfrm>
        </p:spPr>
        <p:txBody>
          <a:bodyPr>
            <a:normAutofit/>
          </a:bodyPr>
          <a:lstStyle/>
          <a:p>
            <a:r>
              <a:rPr lang="en-US" dirty="0"/>
              <a:t>Drag removes energy from the orbit, which causes the orbit to shrink in both semi-major axis and eccentricity</a:t>
            </a:r>
          </a:p>
          <a:p>
            <a:pPr lvl="0" fontAlgn="base"/>
            <a:r>
              <a:rPr lang="en-US" dirty="0"/>
              <a:t>Drag varies significantly as </a:t>
            </a:r>
            <a:r>
              <a:rPr lang="en-US" b="1" dirty="0"/>
              <a:t>atmospheric density</a:t>
            </a:r>
            <a:r>
              <a:rPr lang="en-US" dirty="0"/>
              <a:t> changes as a result of:</a:t>
            </a:r>
          </a:p>
          <a:p>
            <a:pPr lvl="1" fontAlgn="base"/>
            <a:r>
              <a:rPr lang="en-US" dirty="0"/>
              <a:t>11 </a:t>
            </a:r>
            <a:r>
              <a:rPr lang="en-US" dirty="0" err="1"/>
              <a:t>yr</a:t>
            </a:r>
            <a:r>
              <a:rPr lang="en-US" dirty="0"/>
              <a:t> sun spot cycle</a:t>
            </a:r>
          </a:p>
          <a:p>
            <a:pPr lvl="1" fontAlgn="base"/>
            <a:r>
              <a:rPr lang="en-US" dirty="0"/>
              <a:t>27 day solar rotation cycle</a:t>
            </a:r>
          </a:p>
          <a:p>
            <a:pPr lvl="1" fontAlgn="base"/>
            <a:r>
              <a:rPr lang="en-US" dirty="0"/>
              <a:t>diurnal variations (day/night)</a:t>
            </a:r>
          </a:p>
          <a:p>
            <a:pPr lvl="1" fontAlgn="base"/>
            <a:r>
              <a:rPr lang="en-US" dirty="0"/>
              <a:t>seasonal variations (sun latitude and distance)</a:t>
            </a:r>
          </a:p>
          <a:p>
            <a:pPr lvl="1" fontAlgn="base"/>
            <a:r>
              <a:rPr lang="en-US" dirty="0"/>
              <a:t>rotating atmosphere</a:t>
            </a:r>
          </a:p>
          <a:p>
            <a:pPr lvl="1" fontAlgn="base"/>
            <a:r>
              <a:rPr lang="en-US" dirty="0"/>
              <a:t>winds</a:t>
            </a:r>
          </a:p>
          <a:p>
            <a:pPr lvl="1" fontAlgn="base"/>
            <a:r>
              <a:rPr lang="en-US" dirty="0"/>
              <a:t>magnetic storms</a:t>
            </a:r>
          </a:p>
          <a:p>
            <a:pPr lvl="1" fontAlgn="base"/>
            <a:r>
              <a:rPr lang="en-US" dirty="0"/>
              <a:t>tides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751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07" y="1142524"/>
            <a:ext cx="8397240" cy="50368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78974" y="4858438"/>
            <a:ext cx="948930" cy="558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72"/>
          <p:cNvSpPr>
            <a:spLocks/>
          </p:cNvSpPr>
          <p:nvPr/>
        </p:nvSpPr>
        <p:spPr bwMode="auto">
          <a:xfrm>
            <a:off x="3618084" y="6345391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adapted from Designing Space Missions and Systems, Fig 8.2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ctr"/>
            <a:r>
              <a:rPr lang="en-US" sz="4000" dirty="0"/>
              <a:t>Hypothetical</a:t>
            </a:r>
            <a:r>
              <a:rPr lang="en-US" sz="3600" dirty="0"/>
              <a:t> S/C Lifetimes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294" y="5045725"/>
            <a:ext cx="1085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1956</a:t>
            </a:r>
          </a:p>
          <a:p>
            <a:r>
              <a:rPr lang="en-US" sz="1200"/>
              <a:t>BC =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5420" y="2412172"/>
            <a:ext cx="16183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1956; BC =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9108" y="2091105"/>
            <a:ext cx="1529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1962; BC = 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4838" y="5045725"/>
            <a:ext cx="925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1959</a:t>
            </a:r>
          </a:p>
          <a:p>
            <a:r>
              <a:rPr lang="en-US" sz="1200"/>
              <a:t>BC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0739" y="5045725"/>
            <a:ext cx="934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1962</a:t>
            </a:r>
          </a:p>
          <a:p>
            <a:r>
              <a:rPr lang="en-US" sz="1200"/>
              <a:t>BC =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5568" y="5045724"/>
            <a:ext cx="925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1956</a:t>
            </a:r>
          </a:p>
          <a:p>
            <a:r>
              <a:rPr lang="en-US" sz="1200"/>
              <a:t>BC = 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048" y="5045724"/>
            <a:ext cx="972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1959</a:t>
            </a:r>
          </a:p>
          <a:p>
            <a:r>
              <a:rPr lang="en-US" sz="1200"/>
              <a:t>BC = 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3807" y="5045724"/>
            <a:ext cx="912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1962</a:t>
            </a:r>
          </a:p>
          <a:p>
            <a:r>
              <a:rPr lang="en-US" sz="1200"/>
              <a:t>BC = 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594" y="4087851"/>
            <a:ext cx="1287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solar maximum years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954178" y="4491119"/>
            <a:ext cx="0" cy="301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836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9543" y="479034"/>
                <a:ext cx="8914690" cy="1047194"/>
              </a:xfrm>
            </p:spPr>
            <p:txBody>
              <a:bodyPr>
                <a:normAutofit/>
              </a:bodyPr>
              <a:lstStyle/>
              <a:p>
                <a:pPr lvl="0" fontAlgn="base"/>
                <a:r>
                  <a:rPr lang="en-US" sz="2300" dirty="0"/>
                  <a:t>The equation for acceleration due to drag (m/s</a:t>
                </a:r>
                <a:r>
                  <a:rPr lang="en-US" sz="2300" baseline="30000" dirty="0"/>
                  <a:t>2</a:t>
                </a:r>
                <a:r>
                  <a:rPr lang="en-US" sz="2300" dirty="0"/>
                  <a:t>) on a satellite is:</a:t>
                </a:r>
              </a:p>
              <a:p>
                <a:pPr marL="0" indent="0">
                  <a:buNone/>
                </a:pPr>
                <a:r>
                  <a:rPr lang="en-US" sz="23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300" i="1">
                        <a:latin typeface="Cambria Math" panose="02040503050406030204" pitchFamily="18" charset="0"/>
                      </a:rPr>
                      <m:t>=−0.5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3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r>
                              <a:rPr lang="en-US" sz="2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sz="23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600" dirty="0"/>
                  <a:t>	</a:t>
                </a:r>
                <a:r>
                  <a:rPr lang="en-US" sz="2300" dirty="0"/>
                  <a:t>		</a:t>
                </a:r>
                <a:r>
                  <a:rPr lang="en-US" sz="1800" dirty="0"/>
                  <a:t>6-21</a:t>
                </a:r>
              </a:p>
              <a:p>
                <a:pPr marL="0" indent="0">
                  <a:buNone/>
                </a:pPr>
                <a:r>
                  <a:rPr lang="en-US" sz="2300" dirty="0"/>
                  <a:t>     where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100" dirty="0"/>
                  <a:t> = atmospheric density (kg/m</a:t>
                </a:r>
                <a:r>
                  <a:rPr lang="en-US" sz="2100" baseline="30000" dirty="0"/>
                  <a:t>3</a:t>
                </a:r>
                <a:r>
                  <a:rPr lang="en-US" sz="2100" dirty="0"/>
                  <a:t>)</a:t>
                </a:r>
              </a:p>
              <a:p>
                <a:pPr lvl="3"/>
                <a:r>
                  <a:rPr lang="en-US" sz="1800" dirty="0"/>
                  <a:t>This is the element that varies the most in this equation – it is extremely difficult to model; we will use a look-up table with averages in this class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100" dirty="0"/>
                  <a:t> = coefficient of drag (</a:t>
                </a:r>
                <a:r>
                  <a:rPr lang="en-US" sz="2100" dirty="0" err="1"/>
                  <a:t>unitless</a:t>
                </a:r>
                <a:r>
                  <a:rPr lang="en-US" sz="21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100" dirty="0"/>
                  <a:t> = satellite’s cross-sectional area facing in the ram direction (m</a:t>
                </a:r>
                <a:r>
                  <a:rPr lang="en-US" sz="2100" baseline="30000" dirty="0"/>
                  <a:t>2</a:t>
                </a:r>
                <a:r>
                  <a:rPr lang="en-US" sz="21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100" dirty="0"/>
                  <a:t> = mass of satellite (kg)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100" dirty="0"/>
                  <a:t> = satellite’s velocity (will want to convert to m/s)</a:t>
                </a:r>
              </a:p>
              <a:p>
                <a:pPr lvl="2"/>
                <a:r>
                  <a:rPr lang="en-US" sz="2100" dirty="0"/>
                  <a:t>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BC</m:t>
                    </m:r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sz="2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sz="2100" dirty="0"/>
                  <a:t>= ballistic coefficient (kg/m</a:t>
                </a:r>
                <a:r>
                  <a:rPr lang="en-US" sz="2100" baseline="30000" dirty="0"/>
                  <a:t>2</a:t>
                </a:r>
                <a:r>
                  <a:rPr lang="en-US" sz="2100" dirty="0"/>
                  <a:t>)</a:t>
                </a:r>
              </a:p>
              <a:p>
                <a:pPr lvl="0" fontAlgn="base"/>
                <a:r>
                  <a:rPr lang="en-US" sz="2300" dirty="0"/>
                  <a:t>To calculate the force due to atmospheric drag (N)*: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𝑟𝑎𝑔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=−0.5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100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300" dirty="0"/>
              </a:p>
              <a:p>
                <a:pPr marL="914400" lvl="2" indent="0">
                  <a:buNone/>
                </a:pPr>
                <a:endParaRPr lang="en-US" sz="1800" dirty="0"/>
              </a:p>
              <a:p>
                <a:pPr marL="914400" lvl="2" indent="0">
                  <a:buNone/>
                </a:pPr>
                <a:r>
                  <a:rPr lang="en-US" sz="1800" dirty="0"/>
                  <a:t>*Note that this equation is in the ADCS section on your </a:t>
                </a:r>
                <a:r>
                  <a:rPr lang="en-US" sz="1800" dirty="0" err="1"/>
                  <a:t>Eqn</a:t>
                </a:r>
                <a:r>
                  <a:rPr lang="en-US" sz="1800" dirty="0"/>
                  <a:t> Sheet</a:t>
                </a:r>
              </a:p>
              <a:p>
                <a:pPr marL="914400" lvl="2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543" y="479034"/>
                <a:ext cx="8914690" cy="1047194"/>
              </a:xfrm>
              <a:blipFill>
                <a:blip r:embed="rId2"/>
                <a:stretch>
                  <a:fillRect l="-853" t="-5952" b="-488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257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02702"/>
                <a:ext cx="7665319" cy="6755297"/>
              </a:xfrm>
            </p:spPr>
            <p:txBody>
              <a:bodyPr>
                <a:normAutofit fontScale="92500" lnSpcReduction="10000"/>
              </a:bodyPr>
              <a:lstStyle/>
              <a:p>
                <a:pPr lvl="0" fontAlgn="base"/>
                <a:r>
                  <a:rPr lang="en-US" sz="2300" dirty="0"/>
                  <a:t>The impact of drag of near-circular orbits on </a:t>
                </a:r>
                <a:r>
                  <a:rPr lang="en-US" sz="2300" dirty="0" err="1"/>
                  <a:t>semimajor</a:t>
                </a:r>
                <a:r>
                  <a:rPr lang="en-US" sz="2300" dirty="0"/>
                  <a:t> axis and period: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100" dirty="0"/>
                  <a:t>	</a:t>
                </a:r>
              </a:p>
              <a:p>
                <a:pPr marL="0" indent="0">
                  <a:buNone/>
                </a:pPr>
                <a:r>
                  <a:rPr lang="en-US" sz="2100" dirty="0"/>
                  <a:t>	where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𝑟𝑒𝑣</m:t>
                        </m:r>
                      </m:sub>
                    </m:sSub>
                  </m:oMath>
                </a14:m>
                <a:r>
                  <a:rPr lang="en-US" sz="1800" dirty="0"/>
                  <a:t>= change in </a:t>
                </a:r>
                <a:r>
                  <a:rPr lang="en-US" sz="1800" dirty="0" err="1"/>
                  <a:t>semimajor</a:t>
                </a:r>
                <a:r>
                  <a:rPr lang="en-US" sz="1800" dirty="0"/>
                  <a:t> axis in one orbit (m)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 dirty="0"/>
                  <a:t> = </a:t>
                </a:r>
                <a:r>
                  <a:rPr lang="en-US" sz="1800" dirty="0" err="1"/>
                  <a:t>semimajor</a:t>
                </a:r>
                <a:r>
                  <a:rPr lang="en-US" sz="1800" dirty="0"/>
                  <a:t> axis (</a:t>
                </a:r>
                <a:r>
                  <a:rPr lang="en-US" sz="1800" i="1" dirty="0"/>
                  <a:t>want to convert to meters</a:t>
                </a:r>
                <a:r>
                  <a:rPr lang="en-US" sz="18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𝑟𝑒𝑣</m:t>
                        </m:r>
                      </m:sub>
                    </m:sSub>
                  </m:oMath>
                </a14:m>
                <a:r>
                  <a:rPr lang="en-US" sz="1800" dirty="0"/>
                  <a:t> = change in orbital period in one orbit (s)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equation describes a spacecraft’s lifetime due to drag: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	</a:t>
                </a:r>
              </a:p>
              <a:p>
                <a:pPr lvl="2"/>
                <a:r>
                  <a:rPr lang="en-US" sz="1800" dirty="0"/>
                  <a:t>L = S/C remaining lifetime (orbits remaining before re-entry due to drag)</a:t>
                </a:r>
              </a:p>
              <a:p>
                <a:pPr lvl="2"/>
                <a:r>
                  <a:rPr lang="en-US" sz="1800" dirty="0"/>
                  <a:t>H = atmospheric density scale height (km)  (H ≈ 8.5 km for Earth)</a:t>
                </a:r>
              </a:p>
              <a:p>
                <a:pPr lvl="0" fontAlgn="base"/>
                <a:r>
                  <a:rPr lang="en-US" sz="2000" dirty="0"/>
                  <a:t>Drag impacts for non-circular orbits are more complicated and we won’t cover them (see </a:t>
                </a:r>
                <a:r>
                  <a:rPr lang="en-US" sz="2000" dirty="0" err="1"/>
                  <a:t>Eqns</a:t>
                </a:r>
                <a:r>
                  <a:rPr lang="en-US" sz="2000" dirty="0"/>
                  <a:t> 6-22 &amp; 6-23 if you are interested)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02702"/>
                <a:ext cx="7665319" cy="6755297"/>
              </a:xfrm>
              <a:blipFill>
                <a:blip r:embed="rId2"/>
                <a:stretch>
                  <a:fillRect l="-795" t="-1534" r="-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076078"/>
                  </p:ext>
                </p:extLst>
              </p:nvPr>
            </p:nvGraphicFramePr>
            <p:xfrm>
              <a:off x="981307" y="4322015"/>
              <a:ext cx="7025269" cy="8521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906379">
                      <a:extLst>
                        <a:ext uri="{9D8B030D-6E8A-4147-A177-3AD203B41FA5}">
                          <a16:colId xmlns:a16="http://schemas.microsoft.com/office/drawing/2014/main" val="75723013"/>
                        </a:ext>
                      </a:extLst>
                    </a:gridCol>
                    <a:gridCol w="1118890">
                      <a:extLst>
                        <a:ext uri="{9D8B030D-6E8A-4147-A177-3AD203B41FA5}">
                          <a16:colId xmlns:a16="http://schemas.microsoft.com/office/drawing/2014/main" val="730359013"/>
                        </a:ext>
                      </a:extLst>
                    </a:gridCol>
                  </a:tblGrid>
                  <a:tr h="85215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≅−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𝑟𝑒𝑣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6-28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87757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8076078"/>
                  </p:ext>
                </p:extLst>
              </p:nvPr>
            </p:nvGraphicFramePr>
            <p:xfrm>
              <a:off x="981307" y="4322015"/>
              <a:ext cx="7025269" cy="8521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906379">
                      <a:extLst>
                        <a:ext uri="{9D8B030D-6E8A-4147-A177-3AD203B41FA5}">
                          <a16:colId xmlns:a16="http://schemas.microsoft.com/office/drawing/2014/main" val="75723013"/>
                        </a:ext>
                      </a:extLst>
                    </a:gridCol>
                    <a:gridCol w="1118890">
                      <a:extLst>
                        <a:ext uri="{9D8B030D-6E8A-4147-A177-3AD203B41FA5}">
                          <a16:colId xmlns:a16="http://schemas.microsoft.com/office/drawing/2014/main" val="730359013"/>
                        </a:ext>
                      </a:extLst>
                    </a:gridCol>
                  </a:tblGrid>
                  <a:tr h="8521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8511" r="-1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6-28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987757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194680"/>
                  </p:ext>
                </p:extLst>
              </p:nvPr>
            </p:nvGraphicFramePr>
            <p:xfrm>
              <a:off x="844106" y="902091"/>
              <a:ext cx="7162470" cy="13102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021729">
                      <a:extLst>
                        <a:ext uri="{9D8B030D-6E8A-4147-A177-3AD203B41FA5}">
                          <a16:colId xmlns:a16="http://schemas.microsoft.com/office/drawing/2014/main" val="3268605414"/>
                        </a:ext>
                      </a:extLst>
                    </a:gridCol>
                    <a:gridCol w="1140741">
                      <a:extLst>
                        <a:ext uri="{9D8B030D-6E8A-4147-A177-3AD203B41FA5}">
                          <a16:colId xmlns:a16="http://schemas.microsoft.com/office/drawing/2014/main" val="1545930436"/>
                        </a:ext>
                      </a:extLst>
                    </a:gridCol>
                  </a:tblGrid>
                  <a:tr h="61379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:endParaRPr lang="en-US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𝑟𝑒𝑣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=−2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𝐷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𝜌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6-24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21465664"/>
                      </a:ext>
                    </a:extLst>
                  </a:tr>
                  <a:tr h="69647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:endParaRPr lang="en-US" sz="1800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ts val="12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tabLst>
                              <a:tab pos="13716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𝑟𝑒𝑣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=−6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𝐷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𝜌</m:t>
                                    </m:r>
                                    <m:sSup>
                                      <m:sSup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 dirty="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6-25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416512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8194680"/>
                  </p:ext>
                </p:extLst>
              </p:nvPr>
            </p:nvGraphicFramePr>
            <p:xfrm>
              <a:off x="844106" y="902091"/>
              <a:ext cx="7162470" cy="13102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021729">
                      <a:extLst>
                        <a:ext uri="{9D8B030D-6E8A-4147-A177-3AD203B41FA5}">
                          <a16:colId xmlns:a16="http://schemas.microsoft.com/office/drawing/2014/main" val="3268605414"/>
                        </a:ext>
                      </a:extLst>
                    </a:gridCol>
                    <a:gridCol w="1140741">
                      <a:extLst>
                        <a:ext uri="{9D8B030D-6E8A-4147-A177-3AD203B41FA5}">
                          <a16:colId xmlns:a16="http://schemas.microsoft.com/office/drawing/2014/main" val="1545930436"/>
                        </a:ext>
                      </a:extLst>
                    </a:gridCol>
                  </a:tblGrid>
                  <a:tr h="6137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3762" r="-18908" b="-1138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6-24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21465664"/>
                      </a:ext>
                    </a:extLst>
                  </a:tr>
                  <a:tr h="6964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8696" r="-189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800">
                              <a:effectLst/>
                              <a:latin typeface="+mn-lt"/>
                              <a:ea typeface="Times New Roman" panose="02020603050405020304" pitchFamily="18" charset="0"/>
                            </a:rPr>
                            <a:t>6-25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416512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7961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1512" y="133367"/>
            <a:ext cx="8887521" cy="760485"/>
          </a:xfrm>
        </p:spPr>
        <p:txBody>
          <a:bodyPr>
            <a:noAutofit/>
          </a:bodyPr>
          <a:lstStyle/>
          <a:p>
            <a:pPr algn="ctr"/>
            <a:r>
              <a:rPr lang="en-US" sz="3800" dirty="0"/>
              <a:t>Solar Radiation Pressure (SRP)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546457" y="1047964"/>
                <a:ext cx="7886700" cy="59281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/>
                <a:r>
                  <a:rPr lang="en-US" sz="1900" dirty="0"/>
                  <a:t>Causes periodic variations in all COEs</a:t>
                </a:r>
              </a:p>
              <a:p>
                <a:pPr fontAlgn="base"/>
                <a:r>
                  <a:rPr lang="en-US" sz="1900" dirty="0"/>
                  <a:t>Impact is strongest for S/C with low ballistic coefficient</a:t>
                </a:r>
              </a:p>
              <a:p>
                <a:pPr fontAlgn="base"/>
                <a:r>
                  <a:rPr lang="en-US" sz="1900" dirty="0"/>
                  <a:t>Drag dominates below 800 km altitude; solar radiation pressure dominates above 800 km</a:t>
                </a:r>
              </a:p>
              <a:p>
                <a:pPr lvl="0" fontAlgn="base"/>
                <a:r>
                  <a:rPr lang="en-US" sz="1900" dirty="0"/>
                  <a:t>The equation for the force of solar radiation pressure on a satellite (from Table 11-9A*):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1900" dirty="0"/>
                  <a:t>    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𝑆𝑅𝑃</m:t>
                        </m:r>
                      </m:sub>
                    </m:sSub>
                  </m:oMath>
                </a14:m>
                <a:r>
                  <a:rPr lang="en-US" sz="1700" dirty="0"/>
                  <a:t>= force on satellite due to solar radiation pressure (N)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sz="1700" dirty="0"/>
                  <a:t> = solar constant: 1367 W/m</a:t>
                </a:r>
                <a:r>
                  <a:rPr lang="en-US" sz="1700" baseline="30000" dirty="0"/>
                  <a:t>2</a:t>
                </a:r>
                <a:endParaRPr lang="en-US" sz="17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700" dirty="0"/>
                  <a:t> = speed of light: 3.0 x 10</a:t>
                </a:r>
                <a:r>
                  <a:rPr lang="en-US" sz="1700" baseline="30000" dirty="0"/>
                  <a:t>8</a:t>
                </a:r>
                <a:r>
                  <a:rPr lang="en-US" sz="1700" dirty="0"/>
                  <a:t> m/s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700" dirty="0"/>
                  <a:t> = the surface area of the side of the satellite facing the Sun (m</a:t>
                </a:r>
                <a:r>
                  <a:rPr lang="en-US" sz="1700" baseline="30000" dirty="0"/>
                  <a:t>2</a:t>
                </a:r>
                <a:r>
                  <a:rPr lang="en-US" sz="17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700" dirty="0"/>
                  <a:t> = reflectance factor (ranging from 0 to 1, often use 0.6 as an estimate) (</a:t>
                </a:r>
                <a:r>
                  <a:rPr lang="en-US" sz="1700" dirty="0" err="1"/>
                  <a:t>unitless</a:t>
                </a:r>
                <a:r>
                  <a:rPr lang="en-US" sz="17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00" dirty="0"/>
                  <a:t> = the angle of incidence between the satellite and the Sun (</a:t>
                </a:r>
                <a:r>
                  <a:rPr lang="en-US" sz="1700" dirty="0" err="1"/>
                  <a:t>deg</a:t>
                </a:r>
                <a:r>
                  <a:rPr lang="en-US" sz="1700" dirty="0"/>
                  <a:t> or rad)</a:t>
                </a:r>
              </a:p>
              <a:p>
                <a:pPr lvl="1"/>
                <a:endParaRPr lang="en-US" sz="1900" dirty="0"/>
              </a:p>
              <a:p>
                <a:pPr marL="457200" lvl="1" indent="0">
                  <a:buNone/>
                </a:pPr>
                <a:r>
                  <a:rPr lang="en-US" sz="1900" dirty="0"/>
                  <a:t>*Note that this equation is in the ADCS section on your </a:t>
                </a:r>
                <a:r>
                  <a:rPr lang="en-US" sz="1900" dirty="0" err="1"/>
                  <a:t>Eqn</a:t>
                </a:r>
                <a:r>
                  <a:rPr lang="en-US" sz="1900" dirty="0"/>
                  <a:t> Sheet</a:t>
                </a:r>
              </a:p>
              <a:p>
                <a:pPr fontAlgn="base"/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57" y="1047964"/>
                <a:ext cx="7886700" cy="5928189"/>
              </a:xfrm>
              <a:prstGeom prst="rect">
                <a:avLst/>
              </a:prstGeom>
              <a:blipFill>
                <a:blip r:embed="rId2"/>
                <a:stretch>
                  <a:fillRect l="-619" t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883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226"/>
            <a:ext cx="7886700" cy="1325563"/>
          </a:xfrm>
        </p:spPr>
        <p:txBody>
          <a:bodyPr/>
          <a:lstStyle/>
          <a:p>
            <a:r>
              <a:rPr lang="en-US"/>
              <a:t>Orbit Maintenance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3789"/>
                <a:ext cx="7886700" cy="5178392"/>
              </a:xfrm>
            </p:spPr>
            <p:txBody>
              <a:bodyPr>
                <a:normAutofit/>
              </a:bodyPr>
              <a:lstStyle/>
              <a:p>
                <a:r>
                  <a:rPr lang="en-US" sz="2000"/>
                  <a:t>Orbit maintenance is performed to compensate for perturbations</a:t>
                </a:r>
              </a:p>
              <a:p>
                <a:pPr fontAlgn="base"/>
                <a:r>
                  <a:rPr lang="en-US" sz="2000"/>
                  <a:t>Geostationary Orbits</a:t>
                </a:r>
              </a:p>
              <a:p>
                <a:pPr lvl="1" fontAlgn="base"/>
                <a:r>
                  <a:rPr lang="en-US" sz="1800">
                    <a:solidFill>
                      <a:srgbClr val="0000FF"/>
                    </a:solidFill>
                  </a:rPr>
                  <a:t>Non-spherical earth </a:t>
                </a:r>
                <a:r>
                  <a:rPr lang="en-US" sz="1800"/>
                  <a:t>and </a:t>
                </a:r>
                <a:r>
                  <a:rPr lang="en-US" sz="1800">
                    <a:solidFill>
                      <a:srgbClr val="FF0000"/>
                    </a:solidFill>
                  </a:rPr>
                  <a:t>3</a:t>
                </a:r>
                <a:r>
                  <a:rPr lang="en-US" sz="1800" baseline="30000">
                    <a:solidFill>
                      <a:srgbClr val="FF0000"/>
                    </a:solidFill>
                  </a:rPr>
                  <a:t>rd</a:t>
                </a:r>
                <a:r>
                  <a:rPr lang="en-US" sz="1800">
                    <a:solidFill>
                      <a:srgbClr val="FF0000"/>
                    </a:solidFill>
                  </a:rPr>
                  <a:t> body effects from Sun &amp; Moon </a:t>
                </a:r>
                <a:r>
                  <a:rPr lang="en-US" sz="1800"/>
                  <a:t>cause drift in GEO S/C location</a:t>
                </a:r>
              </a:p>
              <a:p>
                <a:pPr lvl="2" fontAlgn="base"/>
                <a:r>
                  <a:rPr lang="en-US"/>
                  <a:t>B/c orbital period keeps S/C over same spot, creates resonance with J</a:t>
                </a:r>
                <a:r>
                  <a:rPr lang="en-US" baseline="-25000"/>
                  <a:t>22</a:t>
                </a:r>
                <a:r>
                  <a:rPr lang="en-US"/>
                  <a:t> geopotential term</a:t>
                </a:r>
              </a:p>
              <a:p>
                <a:pPr lvl="2"/>
                <a:r>
                  <a:rPr lang="en-US">
                    <a:solidFill>
                      <a:srgbClr val="0000FF"/>
                    </a:solidFill>
                  </a:rPr>
                  <a:t>Results in S/C drift in longitude (east-west)</a:t>
                </a:r>
              </a:p>
              <a:p>
                <a:pPr lvl="2"/>
                <a:r>
                  <a:rPr lang="en-US"/>
                  <a:t>Stable locations at 75</a:t>
                </a:r>
                <a:r>
                  <a:rPr lang="en-US" baseline="30000"/>
                  <a:t>o</a:t>
                </a:r>
                <a:r>
                  <a:rPr lang="en-US"/>
                  <a:t> and 255</a:t>
                </a:r>
                <a:r>
                  <a:rPr lang="en-US" baseline="30000"/>
                  <a:t>o</a:t>
                </a:r>
                <a:r>
                  <a:rPr lang="en-US"/>
                  <a:t> East longitude</a:t>
                </a:r>
              </a:p>
              <a:p>
                <a:pPr lvl="2"/>
                <a:r>
                  <a:rPr lang="en-US"/>
                  <a:t>Other locations will result in oscillation past closest stable longitude</a:t>
                </a:r>
              </a:p>
              <a:p>
                <a:pPr lvl="3" fontAlgn="base"/>
                <a:r>
                  <a:rPr lang="en-US"/>
                  <a:t>can have drift up to 180</a:t>
                </a:r>
                <a:r>
                  <a:rPr lang="en-US" baseline="30000"/>
                  <a:t>o</a:t>
                </a:r>
                <a:r>
                  <a:rPr lang="en-US"/>
                  <a:t> with periods up to 900 days</a:t>
                </a:r>
              </a:p>
              <a:p>
                <a:pPr lvl="2" fontAlgn="base"/>
                <a:r>
                  <a:rPr lang="en-US" err="1"/>
                  <a:t>Eqn</a:t>
                </a:r>
                <a:r>
                  <a:rPr lang="en-US"/>
                  <a:t> 6-53 shows velocity required for East-West orbit mx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𝐸𝑊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=1.715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n-US" sz="1900"/>
                  <a:t>where</a:t>
                </a:r>
                <a:r>
                  <a:rPr lang="en-US"/>
                  <a:t>	</a:t>
                </a:r>
              </a:p>
              <a:p>
                <a:pPr lvl="2"/>
                <a:r>
                  <a:rPr lang="en-US"/>
                  <a:t>ΔV</a:t>
                </a:r>
                <a:r>
                  <a:rPr lang="en-US" baseline="-25000"/>
                  <a:t>EW</a:t>
                </a:r>
                <a:r>
                  <a:rPr lang="en-US"/>
                  <a:t> = east-west orbit maintenance change in velocity (m/s/</a:t>
                </a:r>
                <a:r>
                  <a:rPr lang="en-US" err="1"/>
                  <a:t>yr</a:t>
                </a:r>
                <a:r>
                  <a:rPr lang="en-US"/>
                  <a:t>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/>
                  <a:t> = desired longitude (angle)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/>
                  <a:t> = closest stable longitude (angle)</a:t>
                </a:r>
              </a:p>
              <a:p>
                <a:pPr marL="914400" lvl="2" indent="0">
                  <a:buNone/>
                </a:pPr>
                <a:r>
                  <a:rPr lang="en-US"/>
                  <a:t>*Note: Western longitudes are written as negative!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3789"/>
                <a:ext cx="7886700" cy="5178392"/>
              </a:xfrm>
              <a:blipFill>
                <a:blip r:embed="rId2"/>
                <a:stretch>
                  <a:fillRect l="-696" t="-1178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830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9774" y="141202"/>
                <a:ext cx="7886700" cy="6716797"/>
              </a:xfrm>
            </p:spPr>
            <p:txBody>
              <a:bodyPr>
                <a:normAutofit fontScale="92500" lnSpcReduction="20000"/>
              </a:bodyPr>
              <a:lstStyle/>
              <a:p>
                <a:pPr lvl="1" fontAlgn="base"/>
                <a:r>
                  <a:rPr lang="en-US" dirty="0"/>
                  <a:t>Sun &amp; Moon perturbations are out of plane for geostationary S/C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Results in S/C drift in latitude (north-south)</a:t>
                </a:r>
              </a:p>
              <a:p>
                <a:pPr lvl="1"/>
                <a:r>
                  <a:rPr lang="en-US" dirty="0"/>
                  <a:t>Equations below take the average delta-V over an orbit, since the angle b/w the S/C and the Sun and moon will vary depending on the time of the year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r>
                  <a:rPr lang="en-US" sz="1900" dirty="0"/>
                  <a:t>      where</a:t>
                </a:r>
                <a:r>
                  <a:rPr lang="en-US" dirty="0"/>
                  <a:t>	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𝑀𝑜𝑜𝑛</m:t>
                        </m:r>
                      </m:sub>
                    </m:sSub>
                  </m:oMath>
                </a14:m>
                <a:r>
                  <a:rPr lang="en-US" sz="1900" dirty="0"/>
                  <a:t> = north-south orbit maintenance caused by Moon (m/s/</a:t>
                </a:r>
                <a:r>
                  <a:rPr lang="en-US" sz="1900" dirty="0" err="1"/>
                  <a:t>yr</a:t>
                </a:r>
                <a:r>
                  <a:rPr lang="en-US" sz="19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𝑆𝑢𝑛</m:t>
                        </m:r>
                      </m:sub>
                    </m:sSub>
                  </m:oMath>
                </a14:m>
                <a:r>
                  <a:rPr lang="en-US" sz="1900" dirty="0"/>
                  <a:t> = north-south orbit maintenance caused by Sun (m/s/</a:t>
                </a:r>
                <a:r>
                  <a:rPr lang="en-US" sz="1900" dirty="0" err="1"/>
                  <a:t>yr</a:t>
                </a:r>
                <a:r>
                  <a:rPr lang="en-US" sz="1900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9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900" dirty="0"/>
                  <a:t> = angle btw S/C orbital plane and Moon’s orbital plane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9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/>
                  <a:t>= angle btw S/C orbital plane and ecliptic plane</a:t>
                </a:r>
              </a:p>
              <a:p>
                <a:endParaRPr lang="en-US" sz="1500" dirty="0"/>
              </a:p>
              <a:p>
                <a:pPr lvl="0" fontAlgn="base"/>
                <a:r>
                  <a:rPr lang="en-US" dirty="0"/>
                  <a:t>Drag for circular orbits</a:t>
                </a:r>
              </a:p>
              <a:p>
                <a:pPr lvl="1" fontAlgn="base"/>
                <a:r>
                  <a:rPr lang="en-US" dirty="0"/>
                  <a:t>S/C is trying to maintain altitude:</a:t>
                </a:r>
              </a:p>
              <a:p>
                <a:pPr lvl="1" fontAlgn="base"/>
                <a:endParaRPr lang="en-US" dirty="0"/>
              </a:p>
              <a:p>
                <a:pPr lvl="1" fontAlgn="base"/>
                <a:endParaRPr lang="en-US" dirty="0"/>
              </a:p>
              <a:p>
                <a:pPr lvl="2"/>
                <a:endParaRPr lang="en-US" sz="1900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𝑟𝑒𝑣</m:t>
                        </m:r>
                      </m:sub>
                    </m:sSub>
                  </m:oMath>
                </a14:m>
                <a:r>
                  <a:rPr lang="en-US" sz="1900" dirty="0"/>
                  <a:t> = change in S/C speed needed to compensate for drag (m/s/orbit or km/s/orbit depending on input units)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774" y="141202"/>
                <a:ext cx="7886700" cy="6716797"/>
              </a:xfrm>
              <a:blipFill>
                <a:blip r:embed="rId2"/>
                <a:stretch>
                  <a:fillRect l="-850" t="-1724" r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200242"/>
                  </p:ext>
                </p:extLst>
              </p:nvPr>
            </p:nvGraphicFramePr>
            <p:xfrm>
              <a:off x="2259430" y="1483664"/>
              <a:ext cx="5506085" cy="12821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9150">
                      <a:extLst>
                        <a:ext uri="{9D8B030D-6E8A-4147-A177-3AD203B41FA5}">
                          <a16:colId xmlns:a16="http://schemas.microsoft.com/office/drawing/2014/main" val="2245336826"/>
                        </a:ext>
                      </a:extLst>
                    </a:gridCol>
                    <a:gridCol w="876935">
                      <a:extLst>
                        <a:ext uri="{9D8B030D-6E8A-4147-A177-3AD203B41FA5}">
                          <a16:colId xmlns:a16="http://schemas.microsoft.com/office/drawing/2014/main" val="2155465957"/>
                        </a:ext>
                      </a:extLst>
                    </a:gridCol>
                  </a:tblGrid>
                  <a:tr h="64107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𝑀𝑜𝑜𝑛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≅102.67</m:t>
                              </m:r>
                              <m:func>
                                <m:func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(m/s/</a:t>
                          </a:r>
                          <a:r>
                            <a:rPr lang="en-US" sz="18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yr</a:t>
                          </a: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    ≅36.93</m:t>
                              </m:r>
                            </m:oMath>
                          </a14:m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m/s/</a:t>
                          </a:r>
                          <a:r>
                            <a:rPr lang="en-US" sz="1800" dirty="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yr</a:t>
                          </a:r>
                          <a:r>
                            <a:rPr lang="en-US" sz="18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for i=0</a:t>
                          </a:r>
                          <a:r>
                            <a:rPr lang="en-US" sz="1800" baseline="30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o</a:t>
                          </a:r>
                          <a:endParaRPr lang="en-US" sz="18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6-51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29875914"/>
                      </a:ext>
                    </a:extLst>
                  </a:tr>
                  <a:tr h="64107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𝑆𝑢𝑛</m:t>
                                  </m:r>
                                </m:sub>
                              </m:s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≅40.17</m:t>
                              </m:r>
                              <m:func>
                                <m:func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𝛾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(m/s/</a:t>
                          </a:r>
                          <a:r>
                            <a:rPr lang="en-US" sz="180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yr</a:t>
                          </a: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≅14.45</m:t>
                              </m:r>
                            </m:oMath>
                          </a14:m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m/s/</a:t>
                          </a:r>
                          <a:r>
                            <a:rPr lang="en-US" sz="1800" err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yr</a:t>
                          </a:r>
                          <a:r>
                            <a:rPr lang="en-US" sz="18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for i=0</a:t>
                          </a:r>
                          <a:r>
                            <a:rPr lang="en-US" sz="1800" baseline="300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o</a:t>
                          </a:r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6-52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713508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200242"/>
                  </p:ext>
                </p:extLst>
              </p:nvPr>
            </p:nvGraphicFramePr>
            <p:xfrm>
              <a:off x="2259430" y="1483664"/>
              <a:ext cx="5506085" cy="12821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9150">
                      <a:extLst>
                        <a:ext uri="{9D8B030D-6E8A-4147-A177-3AD203B41FA5}">
                          <a16:colId xmlns:a16="http://schemas.microsoft.com/office/drawing/2014/main" val="2245336826"/>
                        </a:ext>
                      </a:extLst>
                    </a:gridCol>
                    <a:gridCol w="876935">
                      <a:extLst>
                        <a:ext uri="{9D8B030D-6E8A-4147-A177-3AD203B41FA5}">
                          <a16:colId xmlns:a16="http://schemas.microsoft.com/office/drawing/2014/main" val="2155465957"/>
                        </a:ext>
                      </a:extLst>
                    </a:gridCol>
                  </a:tblGrid>
                  <a:tr h="6410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2264" r="-18947" b="-1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6-51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29875914"/>
                      </a:ext>
                    </a:extLst>
                  </a:tr>
                  <a:tr h="6410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13333" r="-18947" b="-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6-52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713508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478362"/>
                  </p:ext>
                </p:extLst>
              </p:nvPr>
            </p:nvGraphicFramePr>
            <p:xfrm>
              <a:off x="2259430" y="5390433"/>
              <a:ext cx="5506085" cy="61633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9150">
                      <a:extLst>
                        <a:ext uri="{9D8B030D-6E8A-4147-A177-3AD203B41FA5}">
                          <a16:colId xmlns:a16="http://schemas.microsoft.com/office/drawing/2014/main" val="629287338"/>
                        </a:ext>
                      </a:extLst>
                    </a:gridCol>
                    <a:gridCol w="876935">
                      <a:extLst>
                        <a:ext uri="{9D8B030D-6E8A-4147-A177-3AD203B41FA5}">
                          <a16:colId xmlns:a16="http://schemas.microsoft.com/office/drawing/2014/main" val="31089015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𝑟𝑒𝑣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𝜋</m:t>
                                </m:r>
                                <m:d>
                                  <m:d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𝐷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𝐴</m:t>
                                        </m:r>
                                      </m:num>
                                      <m:den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𝜌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𝑎𝑉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202898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478362"/>
                  </p:ext>
                </p:extLst>
              </p:nvPr>
            </p:nvGraphicFramePr>
            <p:xfrm>
              <a:off x="2259430" y="5390433"/>
              <a:ext cx="5506085" cy="61633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29150">
                      <a:extLst>
                        <a:ext uri="{9D8B030D-6E8A-4147-A177-3AD203B41FA5}">
                          <a16:colId xmlns:a16="http://schemas.microsoft.com/office/drawing/2014/main" val="629287338"/>
                        </a:ext>
                      </a:extLst>
                    </a:gridCol>
                    <a:gridCol w="876935">
                      <a:extLst>
                        <a:ext uri="{9D8B030D-6E8A-4147-A177-3AD203B41FA5}">
                          <a16:colId xmlns:a16="http://schemas.microsoft.com/office/drawing/2014/main" val="3108901501"/>
                        </a:ext>
                      </a:extLst>
                    </a:gridCol>
                  </a:tblGrid>
                  <a:tr h="6163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8824" r="-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202898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685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9474" b="4842"/>
          <a:stretch/>
        </p:blipFill>
        <p:spPr>
          <a:xfrm>
            <a:off x="289789" y="1433143"/>
            <a:ext cx="8564421" cy="520828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Altitude Maintenance </a:t>
            </a:r>
            <a:r>
              <a:rPr lang="el-GR" sz="3200"/>
              <a:t>Δ</a:t>
            </a:r>
            <a:r>
              <a:rPr lang="en-US" sz="3200"/>
              <a:t>Vs for a Ballistic Coefficient of 100 kg/m</a:t>
            </a:r>
            <a:r>
              <a:rPr lang="en-US" sz="3200" baseline="30000"/>
              <a:t>2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043366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721" y="365126"/>
            <a:ext cx="8731405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End-of-Life Disposal Options for S/C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9251"/>
                <a:ext cx="7886700" cy="4486274"/>
              </a:xfrm>
            </p:spPr>
            <p:txBody>
              <a:bodyPr>
                <a:normAutofit/>
              </a:bodyPr>
              <a:lstStyle/>
              <a:p>
                <a:pPr lvl="0" fontAlgn="base"/>
                <a:r>
                  <a:rPr lang="en-US" sz="2000" dirty="0"/>
                  <a:t>Deorbit (LEO orbits)</a:t>
                </a:r>
              </a:p>
              <a:p>
                <a:pPr lvl="1"/>
                <a:r>
                  <a:rPr lang="en-US" sz="1800" dirty="0"/>
                  <a:t>For a circular orbit, approximate </a:t>
                </a:r>
                <a:r>
                  <a:rPr lang="en-US" sz="1800" dirty="0" err="1"/>
                  <a:t>ΔV</a:t>
                </a:r>
                <a:r>
                  <a:rPr lang="en-US" sz="1800" baseline="-25000" dirty="0" err="1"/>
                  <a:t>deorbit</a:t>
                </a:r>
                <a:r>
                  <a:rPr lang="en-US" sz="1800" dirty="0"/>
                  <a:t> as </a:t>
                </a:r>
                <a:r>
                  <a:rPr lang="el-GR" sz="1800" dirty="0"/>
                  <a:t>Δ</a:t>
                </a:r>
                <a:r>
                  <a:rPr lang="en-US" sz="1800" dirty="0"/>
                  <a:t>V to drop perigee altitude to an unsustainable altitude, </a:t>
                </a:r>
                <a:r>
                  <a:rPr lang="en-US" sz="1800" dirty="0" err="1"/>
                  <a:t>H</a:t>
                </a:r>
                <a:r>
                  <a:rPr lang="en-US" sz="1800" baseline="-25000" dirty="0" err="1"/>
                  <a:t>deorbit</a:t>
                </a:r>
                <a:r>
                  <a:rPr lang="en-US" sz="1800" dirty="0"/>
                  <a:t> (conservative value is </a:t>
                </a:r>
                <a:r>
                  <a:rPr lang="en-US" sz="1800" dirty="0" err="1"/>
                  <a:t>H</a:t>
                </a:r>
                <a:r>
                  <a:rPr lang="en-US" sz="1800" baseline="-25000" dirty="0" err="1"/>
                  <a:t>deorbit</a:t>
                </a:r>
                <a:r>
                  <a:rPr lang="en-US" sz="1800" dirty="0"/>
                  <a:t> = 0 km)</a:t>
                </a:r>
              </a:p>
              <a:p>
                <a:pPr lvl="1"/>
                <a:r>
                  <a:rPr lang="en-US" sz="1800" dirty="0"/>
                  <a:t>For a circular orbit, </a:t>
                </a:r>
                <a:r>
                  <a:rPr lang="en-US" sz="1800" dirty="0" err="1"/>
                  <a:t>Eqn</a:t>
                </a:r>
                <a:r>
                  <a:rPr lang="en-US" sz="1800" dirty="0"/>
                  <a:t> 6-54b describes the change in velocity needed to de-orbit: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1800" dirty="0"/>
                  <a:t>where 	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𝑑𝑒𝑜𝑟𝑏𝑖𝑡</m:t>
                        </m:r>
                      </m:sub>
                    </m:sSub>
                  </m:oMath>
                </a14:m>
                <a:r>
                  <a:rPr lang="en-US" sz="1800" dirty="0"/>
                  <a:t> = amount of delta-V required to de-orbit vehicle (km/s)</a:t>
                </a:r>
              </a:p>
              <a:p>
                <a:pPr lvl="1"/>
                <a:r>
                  <a:rPr lang="en-US" sz="1800" dirty="0"/>
                  <a:t>V = original circular orbit speed (km/s)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sz="1800" dirty="0"/>
                  <a:t> = radius of the Earth (km)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𝑜𝑟𝑏𝑖𝑡</m:t>
                        </m:r>
                      </m:sub>
                    </m:sSub>
                  </m:oMath>
                </a14:m>
                <a:r>
                  <a:rPr lang="en-US" sz="1800" dirty="0"/>
                  <a:t> = perigee altitude of desired orbit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= initial altitude of S/C</a:t>
                </a:r>
              </a:p>
              <a:p>
                <a:endParaRPr lang="en-US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9251"/>
                <a:ext cx="7886700" cy="4486274"/>
              </a:xfrm>
              <a:blipFill>
                <a:blip r:embed="rId2"/>
                <a:stretch>
                  <a:fillRect l="-696" t="-1359" b="-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8690969"/>
                  </p:ext>
                </p:extLst>
              </p:nvPr>
            </p:nvGraphicFramePr>
            <p:xfrm>
              <a:off x="1818957" y="3401122"/>
              <a:ext cx="5970170" cy="9534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19322">
                      <a:extLst>
                        <a:ext uri="{9D8B030D-6E8A-4147-A177-3AD203B41FA5}">
                          <a16:colId xmlns:a16="http://schemas.microsoft.com/office/drawing/2014/main" val="625403269"/>
                        </a:ext>
                      </a:extLst>
                    </a:gridCol>
                    <a:gridCol w="950848">
                      <a:extLst>
                        <a:ext uri="{9D8B030D-6E8A-4147-A177-3AD203B41FA5}">
                          <a16:colId xmlns:a16="http://schemas.microsoft.com/office/drawing/2014/main" val="612789127"/>
                        </a:ext>
                      </a:extLst>
                    </a:gridCol>
                  </a:tblGrid>
                  <a:tr h="95342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𝑑𝑒𝑜𝑟𝑏𝑖𝑡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≅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𝑑𝑒𝑜𝑟𝑏𝑖𝑡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𝑅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⨁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</a:rPr>
                                              <m:t>+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𝐻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</a:rPr>
                                                  <m:t>𝑑𝑒𝑜𝑟𝑏𝑖𝑡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6-54b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70963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8690969"/>
                  </p:ext>
                </p:extLst>
              </p:nvPr>
            </p:nvGraphicFramePr>
            <p:xfrm>
              <a:off x="1818957" y="3401122"/>
              <a:ext cx="5970170" cy="9534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019322">
                      <a:extLst>
                        <a:ext uri="{9D8B030D-6E8A-4147-A177-3AD203B41FA5}">
                          <a16:colId xmlns:a16="http://schemas.microsoft.com/office/drawing/2014/main" val="625403269"/>
                        </a:ext>
                      </a:extLst>
                    </a:gridCol>
                    <a:gridCol w="950848">
                      <a:extLst>
                        <a:ext uri="{9D8B030D-6E8A-4147-A177-3AD203B41FA5}">
                          <a16:colId xmlns:a16="http://schemas.microsoft.com/office/drawing/2014/main" val="612789127"/>
                        </a:ext>
                      </a:extLst>
                    </a:gridCol>
                  </a:tblGrid>
                  <a:tr h="9534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7595" r="-189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1371600" algn="l"/>
                            </a:tabLst>
                          </a:pPr>
                          <a:r>
                            <a:rPr lang="en-US" sz="20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6-54b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7096332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7670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6306"/>
            <a:ext cx="7886700" cy="652409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sz="3200"/>
              <a:t>Maneuver to a graveyard orbit (higher orbits)</a:t>
            </a:r>
          </a:p>
          <a:p>
            <a:pPr lvl="1"/>
            <a:r>
              <a:rPr lang="en-US" sz="2600"/>
              <a:t>Vacate popular orbits for use by subsequent S/C</a:t>
            </a:r>
          </a:p>
          <a:p>
            <a:pPr lvl="1"/>
            <a:r>
              <a:rPr lang="en-US" sz="2600"/>
              <a:t>Graveyard zones:</a:t>
            </a:r>
          </a:p>
          <a:p>
            <a:pPr lvl="2" fontAlgn="base"/>
            <a:r>
              <a:rPr lang="en-US" sz="2100"/>
              <a:t>perigee &gt; 2,000 km up to 500 km below semi synch altitude</a:t>
            </a:r>
          </a:p>
          <a:p>
            <a:pPr lvl="2" fontAlgn="base"/>
            <a:r>
              <a:rPr lang="en-US" sz="2100"/>
              <a:t>500 km above semi synch altitude up to 500 below geostationary altitude</a:t>
            </a:r>
          </a:p>
          <a:p>
            <a:pPr lvl="2" fontAlgn="base"/>
            <a:r>
              <a:rPr lang="en-US" sz="2100"/>
              <a:t>300 km above geostationary altitude or higher </a:t>
            </a:r>
            <a:r>
              <a:rPr lang="en-US" sz="2100" i="1"/>
              <a:t>(</a:t>
            </a:r>
            <a:r>
              <a:rPr lang="en-US" sz="2100" i="1" err="1"/>
              <a:t>rqd</a:t>
            </a:r>
            <a:r>
              <a:rPr lang="en-US" sz="2100" i="1"/>
              <a:t> by US gov’t regulations)</a:t>
            </a:r>
            <a:r>
              <a:rPr lang="en-US" sz="2100"/>
              <a:t> </a:t>
            </a:r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marL="0" lvl="0" indent="0">
              <a:buNone/>
            </a:pPr>
            <a:endParaRPr lang="en-US" sz="2000"/>
          </a:p>
          <a:p>
            <a:pPr lvl="0"/>
            <a:endParaRPr lang="en-US" sz="2000"/>
          </a:p>
          <a:p>
            <a:pPr lvl="0"/>
            <a:endParaRPr lang="en-US" sz="2000"/>
          </a:p>
          <a:p>
            <a:pPr lvl="0"/>
            <a:endParaRPr lang="en-US" sz="2900"/>
          </a:p>
          <a:p>
            <a:pPr lvl="0"/>
            <a:r>
              <a:rPr lang="en-US" sz="3200"/>
              <a:t>Retrieval (manned missions/sample return)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41" y="1891078"/>
            <a:ext cx="6231094" cy="39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50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total ΔV required by a satellite on a 5-year mission in a geosynchronous orbit at 105° W with an inclination of 50° to account for east-west </a:t>
            </a:r>
            <a:r>
              <a:rPr lang="en-US" dirty="0" err="1"/>
              <a:t>stationkeeping</a:t>
            </a:r>
            <a:r>
              <a:rPr lang="en-US" dirty="0"/>
              <a:t> and 3</a:t>
            </a:r>
            <a:r>
              <a:rPr lang="en-US" baseline="30000" dirty="0"/>
              <a:t>rd</a:t>
            </a:r>
            <a:r>
              <a:rPr lang="en-US" dirty="0"/>
              <a:t> body effects. Use the values in the table below to help you.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423025"/>
              </p:ext>
            </p:extLst>
          </p:nvPr>
        </p:nvGraphicFramePr>
        <p:xfrm>
          <a:off x="628650" y="3906022"/>
          <a:ext cx="7886700" cy="22156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28267">
                  <a:extLst>
                    <a:ext uri="{9D8B030D-6E8A-4147-A177-3AD203B41FA5}">
                      <a16:colId xmlns:a16="http://schemas.microsoft.com/office/drawing/2014/main" val="251752087"/>
                    </a:ext>
                  </a:extLst>
                </a:gridCol>
                <a:gridCol w="1958433">
                  <a:extLst>
                    <a:ext uri="{9D8B030D-6E8A-4147-A177-3AD203B41FA5}">
                      <a16:colId xmlns:a16="http://schemas.microsoft.com/office/drawing/2014/main" val="491785749"/>
                    </a:ext>
                  </a:extLst>
                </a:gridCol>
              </a:tblGrid>
              <a:tr h="4982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Angle between Earth’s equatorial plane and the Sun’s orbital plane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23.45°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4018913"/>
                  </a:ext>
                </a:extLst>
              </a:tr>
              <a:tr h="4982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Angle between Earth’s equatorial plane and the Moon’s orbital plane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5.1°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5988169"/>
                  </a:ext>
                </a:extLst>
              </a:tr>
              <a:tr h="4982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Spacecraft coefficient of drag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7060423"/>
                  </a:ext>
                </a:extLst>
              </a:tr>
              <a:tr h="49824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Stable longitudes at geostationary orbit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75° E and 225° 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881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25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56839" y="1690690"/>
                <a:ext cx="8787161" cy="49665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Convert 105° W to East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    </a:t>
                </a:r>
                <a:r>
                  <a:rPr lang="en-US" sz="2000" dirty="0">
                    <a:solidFill>
                      <a:srgbClr val="0000FF"/>
                    </a:solidFill>
                  </a:rPr>
                  <a:t>360°-105°=255°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Calculate ΔV due to </a:t>
                </a:r>
                <a:r>
                  <a:rPr lang="en-US" dirty="0" err="1">
                    <a:solidFill>
                      <a:srgbClr val="0000FF"/>
                    </a:solidFill>
                  </a:rPr>
                  <a:t>stationkeeping</a:t>
                </a: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9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𝐸𝑊</m:t>
                          </m:r>
                        </m:sub>
                      </m:sSub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=1.715</m:t>
                      </m:r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  <m:r>
                                <a:rPr lang="en-US" sz="19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9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=1.715</m:t>
                      </m:r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9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255°−225°</m:t>
                              </m:r>
                            </m:e>
                          </m:d>
                        </m:e>
                      </m:d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=1.485</m:t>
                      </m:r>
                      <m:f>
                        <m:fPr>
                          <m:ctrlP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9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9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𝑦𝑟</m:t>
                      </m:r>
                    </m:oMath>
                  </m:oMathPara>
                </a14:m>
                <a:endParaRPr lang="en-US" sz="19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Calculate ΔV due to Sun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𝑆𝑢𝑛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≅40.17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func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=40.17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50°−23.45°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50°−23.45°</m:t>
                              </m:r>
                            </m:e>
                          </m:d>
                        </m:e>
                      </m:func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=16.062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𝑦𝑟</m:t>
                      </m:r>
                    </m:oMath>
                  </m:oMathPara>
                </a14:m>
                <a:endParaRPr lang="en-US" sz="18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Calculate ΔV due to Moon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𝑀𝑜𝑜𝑛</m:t>
                          </m:r>
                        </m:sub>
                      </m:sSub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≅102.67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=102.67</m:t>
                      </m:r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50°−5.1°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50°−5.1°</m:t>
                              </m:r>
                            </m:e>
                          </m:d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=51.334</m:t>
                          </m:r>
                          <m:f>
                            <m:f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𝑦𝑟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Total ΔV over mission life: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1.485+16.062+51.334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×5=344.4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6839" y="1690690"/>
                <a:ext cx="8787161" cy="4966588"/>
              </a:xfrm>
              <a:blipFill>
                <a:blip r:embed="rId2"/>
                <a:stretch>
                  <a:fillRect l="-1110" t="-1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18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3B5ED8-6E5E-4EB4-8584-74451E6F7238}">
  <ds:schemaRefs>
    <ds:schemaRef ds:uri="http://schemas.microsoft.com/office/2006/metadata/properties"/>
    <ds:schemaRef ds:uri="http://www.w3.org/2000/xmlns/"/>
    <ds:schemaRef ds:uri="http://schemas.microsoft.com/office/infopath/2007/PartnerControls"/>
    <ds:schemaRef ds:uri="723aa48c-73f2-40da-86b1-f1ae286477fe"/>
    <ds:schemaRef ds:uri="7584c457-6b5a-4caa-be47-be979cbe655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E9616B6D-F5E3-428A-A670-0B8E3E7F22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2629B4-A62C-41F5-904B-17CB52EA63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1023</TotalTime>
  <Words>3342</Words>
  <Application>Microsoft Office PowerPoint</Application>
  <PresentationFormat>On-screen Show (4:3)</PresentationFormat>
  <Paragraphs>422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Lesson Objectives</vt:lpstr>
      <vt:lpstr>Equation of Motion</vt:lpstr>
      <vt:lpstr>Restricted 2-Body EOM</vt:lpstr>
      <vt:lpstr>PowerPoint Presentation</vt:lpstr>
      <vt:lpstr>Perturbations</vt:lpstr>
      <vt:lpstr>PowerPoint Presentation</vt:lpstr>
      <vt:lpstr>Third Body Effects</vt:lpstr>
      <vt:lpstr>Non-Spherical Earth Effects</vt:lpstr>
      <vt:lpstr>Taking Advantage of Perturbations</vt:lpstr>
      <vt:lpstr>PowerPoint Presentation</vt:lpstr>
      <vt:lpstr>PowerPoint Presentation</vt:lpstr>
      <vt:lpstr>Example – fill in the table</vt:lpstr>
      <vt:lpstr>ANSWERS</vt:lpstr>
      <vt:lpstr>Atmospheric Drag Effects</vt:lpstr>
      <vt:lpstr>Hypothetical S/C Lifetimes</vt:lpstr>
      <vt:lpstr>PowerPoint Presentation</vt:lpstr>
      <vt:lpstr>PowerPoint Presentation</vt:lpstr>
      <vt:lpstr>Solar Radiation Pressure (SRP) Effects</vt:lpstr>
      <vt:lpstr>Orbit Maintenance</vt:lpstr>
      <vt:lpstr>PowerPoint Presentation</vt:lpstr>
      <vt:lpstr>Altitude Maintenance ΔVs for a Ballistic Coefficient of 100 kg/m2</vt:lpstr>
      <vt:lpstr>End-of-Life Disposal Options for S/C</vt:lpstr>
      <vt:lpstr>PowerPoint Presentation</vt:lpstr>
      <vt:lpstr>Example</vt:lpstr>
      <vt:lpstr>Solution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Locricchio, Angelina M C2C USAF USAFA CW/CS27</cp:lastModifiedBy>
  <cp:revision>23</cp:revision>
  <cp:lastPrinted>2022-01-13T15:23:42Z</cp:lastPrinted>
  <dcterms:created xsi:type="dcterms:W3CDTF">2019-06-13T20:36:51Z</dcterms:created>
  <dcterms:modified xsi:type="dcterms:W3CDTF">2026-01-10T21:51:25Z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