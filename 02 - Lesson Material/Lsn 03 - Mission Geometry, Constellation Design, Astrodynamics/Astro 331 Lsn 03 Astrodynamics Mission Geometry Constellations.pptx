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63"/>
  </p:notesMasterIdLst>
  <p:sldIdLst>
    <p:sldId id="256" r:id="rId5"/>
    <p:sldId id="262" r:id="rId6"/>
    <p:sldId id="261" r:id="rId7"/>
    <p:sldId id="266" r:id="rId8"/>
    <p:sldId id="257" r:id="rId9"/>
    <p:sldId id="269" r:id="rId10"/>
    <p:sldId id="258" r:id="rId11"/>
    <p:sldId id="259" r:id="rId12"/>
    <p:sldId id="264" r:id="rId13"/>
    <p:sldId id="275" r:id="rId14"/>
    <p:sldId id="270" r:id="rId15"/>
    <p:sldId id="289" r:id="rId16"/>
    <p:sldId id="260" r:id="rId17"/>
    <p:sldId id="272" r:id="rId18"/>
    <p:sldId id="273" r:id="rId19"/>
    <p:sldId id="274" r:id="rId20"/>
    <p:sldId id="278" r:id="rId21"/>
    <p:sldId id="279" r:id="rId22"/>
    <p:sldId id="280" r:id="rId23"/>
    <p:sldId id="281" r:id="rId24"/>
    <p:sldId id="282" r:id="rId25"/>
    <p:sldId id="328" r:id="rId26"/>
    <p:sldId id="267" r:id="rId27"/>
    <p:sldId id="271" r:id="rId28"/>
    <p:sldId id="288" r:id="rId29"/>
    <p:sldId id="283" r:id="rId30"/>
    <p:sldId id="276" r:id="rId31"/>
    <p:sldId id="277" r:id="rId32"/>
    <p:sldId id="329" r:id="rId33"/>
    <p:sldId id="268" r:id="rId34"/>
    <p:sldId id="290" r:id="rId35"/>
    <p:sldId id="291" r:id="rId36"/>
    <p:sldId id="284" r:id="rId37"/>
    <p:sldId id="287" r:id="rId38"/>
    <p:sldId id="292" r:id="rId39"/>
    <p:sldId id="285" r:id="rId40"/>
    <p:sldId id="265" r:id="rId41"/>
    <p:sldId id="293" r:id="rId42"/>
    <p:sldId id="327" r:id="rId43"/>
    <p:sldId id="321" r:id="rId44"/>
    <p:sldId id="308" r:id="rId45"/>
    <p:sldId id="314" r:id="rId46"/>
    <p:sldId id="307" r:id="rId47"/>
    <p:sldId id="300" r:id="rId48"/>
    <p:sldId id="316" r:id="rId49"/>
    <p:sldId id="318" r:id="rId50"/>
    <p:sldId id="323" r:id="rId51"/>
    <p:sldId id="309" r:id="rId52"/>
    <p:sldId id="315" r:id="rId53"/>
    <p:sldId id="304" r:id="rId54"/>
    <p:sldId id="305" r:id="rId55"/>
    <p:sldId id="310" r:id="rId56"/>
    <p:sldId id="311" r:id="rId57"/>
    <p:sldId id="324" r:id="rId58"/>
    <p:sldId id="306" r:id="rId59"/>
    <p:sldId id="325" r:id="rId60"/>
    <p:sldId id="326" r:id="rId61"/>
    <p:sldId id="302" r:id="rId62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C15790-59E1-408A-B927-5783D23FFAE6}">
          <p14:sldIdLst>
            <p14:sldId id="256"/>
            <p14:sldId id="262"/>
            <p14:sldId id="261"/>
            <p14:sldId id="266"/>
            <p14:sldId id="257"/>
            <p14:sldId id="269"/>
            <p14:sldId id="258"/>
            <p14:sldId id="259"/>
            <p14:sldId id="264"/>
            <p14:sldId id="275"/>
            <p14:sldId id="270"/>
            <p14:sldId id="289"/>
            <p14:sldId id="260"/>
            <p14:sldId id="272"/>
            <p14:sldId id="273"/>
            <p14:sldId id="274"/>
            <p14:sldId id="278"/>
            <p14:sldId id="279"/>
            <p14:sldId id="280"/>
            <p14:sldId id="281"/>
            <p14:sldId id="282"/>
            <p14:sldId id="328"/>
            <p14:sldId id="267"/>
            <p14:sldId id="271"/>
            <p14:sldId id="288"/>
            <p14:sldId id="283"/>
            <p14:sldId id="276"/>
            <p14:sldId id="277"/>
            <p14:sldId id="329"/>
            <p14:sldId id="268"/>
            <p14:sldId id="290"/>
            <p14:sldId id="291"/>
            <p14:sldId id="284"/>
            <p14:sldId id="287"/>
            <p14:sldId id="292"/>
            <p14:sldId id="285"/>
            <p14:sldId id="265"/>
            <p14:sldId id="293"/>
          </p14:sldIdLst>
        </p14:section>
        <p14:section name="Constellation Design Steps" id="{9DEECB09-AD1B-484A-BE98-88E8B3F9C150}">
          <p14:sldIdLst>
            <p14:sldId id="327"/>
            <p14:sldId id="321"/>
            <p14:sldId id="308"/>
            <p14:sldId id="314"/>
            <p14:sldId id="307"/>
            <p14:sldId id="300"/>
            <p14:sldId id="316"/>
            <p14:sldId id="318"/>
            <p14:sldId id="323"/>
            <p14:sldId id="309"/>
            <p14:sldId id="315"/>
            <p14:sldId id="304"/>
            <p14:sldId id="305"/>
            <p14:sldId id="310"/>
            <p14:sldId id="311"/>
            <p14:sldId id="324"/>
            <p14:sldId id="306"/>
            <p14:sldId id="325"/>
            <p14:sldId id="326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FF7D5-A067-49E0-8BDD-99C1DCA82DD2}" v="17" dt="2026-01-12T04:18:11.4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5061" autoAdjust="0"/>
  </p:normalViewPr>
  <p:slideViewPr>
    <p:cSldViewPr snapToGrid="0">
      <p:cViewPr varScale="1">
        <p:scale>
          <a:sx n="113" d="100"/>
          <a:sy n="113" d="100"/>
        </p:scale>
        <p:origin x="322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Wyatt J Lt Col USAF USAFA DF/DFAS" userId="768bfb95-c272-4014-8fa2-010c15306053" providerId="ADAL" clId="{E18DAD13-4A53-44B8-9F3F-46E167733190}"/>
    <pc:docChg chg="modSld">
      <pc:chgData name="Harris, Wyatt J Lt Col USAF USAFA DF/DFAS" userId="768bfb95-c272-4014-8fa2-010c15306053" providerId="ADAL" clId="{E18DAD13-4A53-44B8-9F3F-46E167733190}" dt="2026-01-12T15:19:01.196" v="0" actId="729"/>
      <pc:docMkLst>
        <pc:docMk/>
      </pc:docMkLst>
      <pc:sldChg chg="mod modShow">
        <pc:chgData name="Harris, Wyatt J Lt Col USAF USAFA DF/DFAS" userId="768bfb95-c272-4014-8fa2-010c15306053" providerId="ADAL" clId="{E18DAD13-4A53-44B8-9F3F-46E167733190}" dt="2026-01-12T15:19:01.196" v="0" actId="729"/>
        <pc:sldMkLst>
          <pc:docMk/>
          <pc:sldMk cId="2349472807" sldId="277"/>
        </pc:sldMkLst>
      </pc:sldChg>
    </pc:docChg>
  </pc:docChgLst>
  <pc:docChgLst>
    <pc:chgData name="Harris, Wyatt J Lt Col USAF USAFA DF/DFAS" userId="768bfb95-c272-4014-8fa2-010c15306053" providerId="ADAL" clId="{95571437-1CDD-49A9-9F44-9267EE8F1204}"/>
    <pc:docChg chg="undo custSel addSld delSld modSld sldOrd addSection modSection">
      <pc:chgData name="Harris, Wyatt J Lt Col USAF USAFA DF/DFAS" userId="768bfb95-c272-4014-8fa2-010c15306053" providerId="ADAL" clId="{95571437-1CDD-49A9-9F44-9267EE8F1204}" dt="2026-01-12T04:18:39.962" v="539" actId="113"/>
      <pc:docMkLst>
        <pc:docMk/>
      </pc:docMkLst>
      <pc:sldChg chg="addSp delSp modSp mod addAnim delAnim modAnim modNotesTx">
        <pc:chgData name="Harris, Wyatt J Lt Col USAF USAFA DF/DFAS" userId="768bfb95-c272-4014-8fa2-010c15306053" providerId="ADAL" clId="{95571437-1CDD-49A9-9F44-9267EE8F1204}" dt="2026-01-10T21:10:27.023" v="49" actId="6549"/>
        <pc:sldMkLst>
          <pc:docMk/>
          <pc:sldMk cId="1123204529" sldId="259"/>
        </pc:sldMkLst>
        <pc:spChg chg="mod">
          <ac:chgData name="Harris, Wyatt J Lt Col USAF USAFA DF/DFAS" userId="768bfb95-c272-4014-8fa2-010c15306053" providerId="ADAL" clId="{95571437-1CDD-49A9-9F44-9267EE8F1204}" dt="2026-01-10T21:02:32.552" v="1" actId="1076"/>
          <ac:spMkLst>
            <pc:docMk/>
            <pc:sldMk cId="1123204529" sldId="259"/>
            <ac:spMk id="5" creationId="{517BD34E-B429-7064-DF28-034E7F125110}"/>
          </ac:spMkLst>
        </pc:spChg>
        <pc:spChg chg="add mod">
          <ac:chgData name="Harris, Wyatt J Lt Col USAF USAFA DF/DFAS" userId="768bfb95-c272-4014-8fa2-010c15306053" providerId="ADAL" clId="{95571437-1CDD-49A9-9F44-9267EE8F1204}" dt="2026-01-10T21:04:20.735" v="27" actId="1037"/>
          <ac:spMkLst>
            <pc:docMk/>
            <pc:sldMk cId="1123204529" sldId="259"/>
            <ac:spMk id="7" creationId="{1CB375ED-F63E-291E-AEE5-F60CB45095EB}"/>
          </ac:spMkLst>
        </pc:spChg>
        <pc:spChg chg="add mod">
          <ac:chgData name="Harris, Wyatt J Lt Col USAF USAFA DF/DFAS" userId="768bfb95-c272-4014-8fa2-010c15306053" providerId="ADAL" clId="{95571437-1CDD-49A9-9F44-9267EE8F1204}" dt="2026-01-10T21:04:18.513" v="25" actId="1076"/>
          <ac:spMkLst>
            <pc:docMk/>
            <pc:sldMk cId="1123204529" sldId="259"/>
            <ac:spMk id="10" creationId="{B445146C-FABB-281B-587C-8AB9E0D3CB0A}"/>
          </ac:spMkLst>
        </pc:spChg>
        <pc:spChg chg="mod">
          <ac:chgData name="Harris, Wyatt J Lt Col USAF USAFA DF/DFAS" userId="768bfb95-c272-4014-8fa2-010c15306053" providerId="ADAL" clId="{95571437-1CDD-49A9-9F44-9267EE8F1204}" dt="2026-01-10T21:02:32.552" v="1" actId="1076"/>
          <ac:spMkLst>
            <pc:docMk/>
            <pc:sldMk cId="1123204529" sldId="259"/>
            <ac:spMk id="15" creationId="{24E69B92-93E0-3C78-0E32-55A442A4F4BB}"/>
          </ac:spMkLst>
        </pc:spChg>
        <pc:picChg chg="mod">
          <ac:chgData name="Harris, Wyatt J Lt Col USAF USAFA DF/DFAS" userId="768bfb95-c272-4014-8fa2-010c15306053" providerId="ADAL" clId="{95571437-1CDD-49A9-9F44-9267EE8F1204}" dt="2026-01-10T21:04:11.149" v="22" actId="1076"/>
          <ac:picMkLst>
            <pc:docMk/>
            <pc:sldMk cId="1123204529" sldId="259"/>
            <ac:picMk id="11" creationId="{BFC26F3F-1819-7B06-EB1A-B07D53C19EDF}"/>
          </ac:picMkLst>
        </pc:picChg>
      </pc:sldChg>
      <pc:sldChg chg="addSp delSp modSp mod chgLayout">
        <pc:chgData name="Harris, Wyatt J Lt Col USAF USAFA DF/DFAS" userId="768bfb95-c272-4014-8fa2-010c15306053" providerId="ADAL" clId="{95571437-1CDD-49A9-9F44-9267EE8F1204}" dt="2026-01-12T04:12:39.724" v="461" actId="478"/>
        <pc:sldMkLst>
          <pc:docMk/>
          <pc:sldMk cId="3103005540" sldId="268"/>
        </pc:sldMkLst>
        <pc:spChg chg="add del mod ord">
          <ac:chgData name="Harris, Wyatt J Lt Col USAF USAFA DF/DFAS" userId="768bfb95-c272-4014-8fa2-010c15306053" providerId="ADAL" clId="{95571437-1CDD-49A9-9F44-9267EE8F1204}" dt="2026-01-12T04:12:38.626" v="460" actId="478"/>
          <ac:spMkLst>
            <pc:docMk/>
            <pc:sldMk cId="3103005540" sldId="268"/>
            <ac:spMk id="2" creationId="{3157BC78-7445-2B44-325E-7343A9C54EAF}"/>
          </ac:spMkLst>
        </pc:spChg>
        <pc:spChg chg="mod ord">
          <ac:chgData name="Harris, Wyatt J Lt Col USAF USAFA DF/DFAS" userId="768bfb95-c272-4014-8fa2-010c15306053" providerId="ADAL" clId="{95571437-1CDD-49A9-9F44-9267EE8F1204}" dt="2026-01-12T04:12:34.553" v="458" actId="700"/>
          <ac:spMkLst>
            <pc:docMk/>
            <pc:sldMk cId="3103005540" sldId="268"/>
            <ac:spMk id="4" creationId="{266E7FA2-209F-E140-CA5F-E3FE7C5771B7}"/>
          </ac:spMkLst>
        </pc:spChg>
        <pc:spChg chg="add del mod ord">
          <ac:chgData name="Harris, Wyatt J Lt Col USAF USAFA DF/DFAS" userId="768bfb95-c272-4014-8fa2-010c15306053" providerId="ADAL" clId="{95571437-1CDD-49A9-9F44-9267EE8F1204}" dt="2026-01-12T04:12:39.724" v="461" actId="478"/>
          <ac:spMkLst>
            <pc:docMk/>
            <pc:sldMk cId="3103005540" sldId="268"/>
            <ac:spMk id="8" creationId="{BDC3909F-A86C-9B5B-A67A-E8CD693D2C4C}"/>
          </ac:spMkLst>
        </pc:spChg>
        <pc:spChg chg="add del mod">
          <ac:chgData name="Harris, Wyatt J Lt Col USAF USAFA DF/DFAS" userId="768bfb95-c272-4014-8fa2-010c15306053" providerId="ADAL" clId="{95571437-1CDD-49A9-9F44-9267EE8F1204}" dt="2026-01-12T04:12:38.626" v="460" actId="478"/>
          <ac:spMkLst>
            <pc:docMk/>
            <pc:sldMk cId="3103005540" sldId="268"/>
            <ac:spMk id="10" creationId="{63500A5B-CEC9-06EC-60A4-BECD756CFEBE}"/>
          </ac:spMkLst>
        </pc:spChg>
        <pc:picChg chg="add del mod">
          <ac:chgData name="Harris, Wyatt J Lt Col USAF USAFA DF/DFAS" userId="768bfb95-c272-4014-8fa2-010c15306053" providerId="ADAL" clId="{95571437-1CDD-49A9-9F44-9267EE8F1204}" dt="2026-01-12T04:12:28.852" v="457" actId="21"/>
          <ac:picMkLst>
            <pc:docMk/>
            <pc:sldMk cId="3103005540" sldId="268"/>
            <ac:picMk id="5" creationId="{03368F33-F0A7-9EDB-6B1D-87C5196030E2}"/>
          </ac:picMkLst>
        </pc:picChg>
        <pc:picChg chg="add del mod">
          <ac:chgData name="Harris, Wyatt J Lt Col USAF USAFA DF/DFAS" userId="768bfb95-c272-4014-8fa2-010c15306053" providerId="ADAL" clId="{95571437-1CDD-49A9-9F44-9267EE8F1204}" dt="2026-01-12T04:12:28.852" v="457" actId="21"/>
          <ac:picMkLst>
            <pc:docMk/>
            <pc:sldMk cId="3103005540" sldId="268"/>
            <ac:picMk id="7" creationId="{F1D1F602-26A2-FFF9-EBD6-F94C279675F8}"/>
          </ac:picMkLst>
        </pc:picChg>
      </pc:sldChg>
      <pc:sldChg chg="modAnim modNotesTx">
        <pc:chgData name="Harris, Wyatt J Lt Col USAF USAFA DF/DFAS" userId="768bfb95-c272-4014-8fa2-010c15306053" providerId="ADAL" clId="{95571437-1CDD-49A9-9F44-9267EE8F1204}" dt="2026-01-10T21:41:17.176" v="216" actId="20577"/>
        <pc:sldMkLst>
          <pc:docMk/>
          <pc:sldMk cId="3966511571" sldId="275"/>
        </pc:sldMkLst>
      </pc:sldChg>
      <pc:sldChg chg="addSp delSp modSp mod">
        <pc:chgData name="Harris, Wyatt J Lt Col USAF USAFA DF/DFAS" userId="768bfb95-c272-4014-8fa2-010c15306053" providerId="ADAL" clId="{95571437-1CDD-49A9-9F44-9267EE8F1204}" dt="2026-01-10T21:20:53.164" v="85" actId="1076"/>
        <pc:sldMkLst>
          <pc:docMk/>
          <pc:sldMk cId="924378899" sldId="284"/>
        </pc:sldMkLst>
        <pc:spChg chg="mod">
          <ac:chgData name="Harris, Wyatt J Lt Col USAF USAFA DF/DFAS" userId="768bfb95-c272-4014-8fa2-010c15306053" providerId="ADAL" clId="{95571437-1CDD-49A9-9F44-9267EE8F1204}" dt="2026-01-10T21:20:48.689" v="84" actId="20577"/>
          <ac:spMkLst>
            <pc:docMk/>
            <pc:sldMk cId="924378899" sldId="284"/>
            <ac:spMk id="5" creationId="{760CF534-CC6F-54D6-8051-5FF159A66109}"/>
          </ac:spMkLst>
        </pc:spChg>
        <pc:graphicFrameChg chg="mod">
          <ac:chgData name="Harris, Wyatt J Lt Col USAF USAFA DF/DFAS" userId="768bfb95-c272-4014-8fa2-010c15306053" providerId="ADAL" clId="{95571437-1CDD-49A9-9F44-9267EE8F1204}" dt="2026-01-10T21:20:53.164" v="85" actId="1076"/>
          <ac:graphicFrameMkLst>
            <pc:docMk/>
            <pc:sldMk cId="924378899" sldId="284"/>
            <ac:graphicFrameMk id="11" creationId="{2EA58F14-AD0E-449A-8EC9-C3B54AF64AE8}"/>
          </ac:graphicFrameMkLst>
        </pc:graphicFrameChg>
      </pc:sldChg>
      <pc:sldChg chg="addSp delSp modSp mod modNotesTx">
        <pc:chgData name="Harris, Wyatt J Lt Col USAF USAFA DF/DFAS" userId="768bfb95-c272-4014-8fa2-010c15306053" providerId="ADAL" clId="{95571437-1CDD-49A9-9F44-9267EE8F1204}" dt="2026-01-12T04:18:39.962" v="539" actId="113"/>
        <pc:sldMkLst>
          <pc:docMk/>
          <pc:sldMk cId="833519711" sldId="287"/>
        </pc:sldMkLst>
        <pc:spChg chg="add del mod">
          <ac:chgData name="Harris, Wyatt J Lt Col USAF USAFA DF/DFAS" userId="768bfb95-c272-4014-8fa2-010c15306053" providerId="ADAL" clId="{95571437-1CDD-49A9-9F44-9267EE8F1204}" dt="2026-01-12T04:18:39.962" v="539" actId="113"/>
          <ac:spMkLst>
            <pc:docMk/>
            <pc:sldMk cId="833519711" sldId="287"/>
            <ac:spMk id="3" creationId="{7D444482-25AD-04F9-433F-64028EEA31CF}"/>
          </ac:spMkLst>
        </pc:spChg>
        <pc:spChg chg="mod">
          <ac:chgData name="Harris, Wyatt J Lt Col USAF USAFA DF/DFAS" userId="768bfb95-c272-4014-8fa2-010c15306053" providerId="ADAL" clId="{95571437-1CDD-49A9-9F44-9267EE8F1204}" dt="2026-01-12T04:16:27.602" v="517" actId="1076"/>
          <ac:spMkLst>
            <pc:docMk/>
            <pc:sldMk cId="833519711" sldId="287"/>
            <ac:spMk id="5" creationId="{94AA6573-F9BC-3666-0143-C3BD5B4816BA}"/>
          </ac:spMkLst>
        </pc:spChg>
        <pc:picChg chg="add mod">
          <ac:chgData name="Harris, Wyatt J Lt Col USAF USAFA DF/DFAS" userId="768bfb95-c272-4014-8fa2-010c15306053" providerId="ADAL" clId="{95571437-1CDD-49A9-9F44-9267EE8F1204}" dt="2026-01-12T04:14:54.873" v="502"/>
          <ac:picMkLst>
            <pc:docMk/>
            <pc:sldMk cId="833519711" sldId="287"/>
            <ac:picMk id="6" creationId="{8901771F-30EA-ED0C-5DEB-34D7BEB102AC}"/>
          </ac:picMkLst>
        </pc:picChg>
        <pc:picChg chg="add mod">
          <ac:chgData name="Harris, Wyatt J Lt Col USAF USAFA DF/DFAS" userId="768bfb95-c272-4014-8fa2-010c15306053" providerId="ADAL" clId="{95571437-1CDD-49A9-9F44-9267EE8F1204}" dt="2026-01-12T04:14:54.873" v="502"/>
          <ac:picMkLst>
            <pc:docMk/>
            <pc:sldMk cId="833519711" sldId="287"/>
            <ac:picMk id="7" creationId="{925357DF-A717-2159-1CC9-F9CE32EED995}"/>
          </ac:picMkLst>
        </pc:picChg>
        <pc:picChg chg="mod">
          <ac:chgData name="Harris, Wyatt J Lt Col USAF USAFA DF/DFAS" userId="768bfb95-c272-4014-8fa2-010c15306053" providerId="ADAL" clId="{95571437-1CDD-49A9-9F44-9267EE8F1204}" dt="2026-01-12T04:16:29.515" v="518" actId="1076"/>
          <ac:picMkLst>
            <pc:docMk/>
            <pc:sldMk cId="833519711" sldId="287"/>
            <ac:picMk id="10" creationId="{B90BCBCF-B3FB-518B-F8AD-80FA071D79D5}"/>
          </ac:picMkLst>
        </pc:picChg>
        <pc:picChg chg="add mod">
          <ac:chgData name="Harris, Wyatt J Lt Col USAF USAFA DF/DFAS" userId="768bfb95-c272-4014-8fa2-010c15306053" providerId="ADAL" clId="{95571437-1CDD-49A9-9F44-9267EE8F1204}" dt="2026-01-12T04:16:35.595" v="521" actId="1076"/>
          <ac:picMkLst>
            <pc:docMk/>
            <pc:sldMk cId="833519711" sldId="287"/>
            <ac:picMk id="1026" creationId="{3E1F2069-04F2-352E-085B-D02F6D4D7B11}"/>
          </ac:picMkLst>
        </pc:picChg>
      </pc:sldChg>
      <pc:sldChg chg="addSp delSp modSp new mod modClrScheme chgLayout">
        <pc:chgData name="Harris, Wyatt J Lt Col USAF USAFA DF/DFAS" userId="768bfb95-c272-4014-8fa2-010c15306053" providerId="ADAL" clId="{95571437-1CDD-49A9-9F44-9267EE8F1204}" dt="2026-01-10T21:42:35.245" v="237" actId="1076"/>
        <pc:sldMkLst>
          <pc:docMk/>
          <pc:sldMk cId="3496109568" sldId="290"/>
        </pc:sldMkLst>
        <pc:spChg chg="mod ord">
          <ac:chgData name="Harris, Wyatt J Lt Col USAF USAFA DF/DFAS" userId="768bfb95-c272-4014-8fa2-010c15306053" providerId="ADAL" clId="{95571437-1CDD-49A9-9F44-9267EE8F1204}" dt="2026-01-10T21:18:23.742" v="61" actId="700"/>
          <ac:spMkLst>
            <pc:docMk/>
            <pc:sldMk cId="3496109568" sldId="290"/>
            <ac:spMk id="4" creationId="{BE7C1965-4C02-4E69-2300-460157FEE6A9}"/>
          </ac:spMkLst>
        </pc:spChg>
        <pc:spChg chg="add mod ord">
          <ac:chgData name="Harris, Wyatt J Lt Col USAF USAFA DF/DFAS" userId="768bfb95-c272-4014-8fa2-010c15306053" providerId="ADAL" clId="{95571437-1CDD-49A9-9F44-9267EE8F1204}" dt="2026-01-10T21:18:27.558" v="62"/>
          <ac:spMkLst>
            <pc:docMk/>
            <pc:sldMk cId="3496109568" sldId="290"/>
            <ac:spMk id="5" creationId="{8B2AF001-39B3-7D84-2163-1AB6C82A9BF4}"/>
          </ac:spMkLst>
        </pc:spChg>
        <pc:spChg chg="add mod ord">
          <ac:chgData name="Harris, Wyatt J Lt Col USAF USAFA DF/DFAS" userId="768bfb95-c272-4014-8fa2-010c15306053" providerId="ADAL" clId="{95571437-1CDD-49A9-9F44-9267EE8F1204}" dt="2026-01-10T21:42:30.487" v="235" actId="20577"/>
          <ac:spMkLst>
            <pc:docMk/>
            <pc:sldMk cId="3496109568" sldId="290"/>
            <ac:spMk id="6" creationId="{AC92F473-2718-78BA-FDB0-323723C3F5AA}"/>
          </ac:spMkLst>
        </pc:spChg>
        <pc:picChg chg="add mod">
          <ac:chgData name="Harris, Wyatt J Lt Col USAF USAFA DF/DFAS" userId="768bfb95-c272-4014-8fa2-010c15306053" providerId="ADAL" clId="{95571437-1CDD-49A9-9F44-9267EE8F1204}" dt="2026-01-10T21:42:35.245" v="237" actId="1076"/>
          <ac:picMkLst>
            <pc:docMk/>
            <pc:sldMk cId="3496109568" sldId="290"/>
            <ac:picMk id="1026" creationId="{D42CCA83-6616-DA0D-5418-4C4E59EAECA9}"/>
          </ac:picMkLst>
        </pc:picChg>
      </pc:sldChg>
      <pc:sldChg chg="modSp new mod ord modAnim">
        <pc:chgData name="Harris, Wyatt J Lt Col USAF USAFA DF/DFAS" userId="768bfb95-c272-4014-8fa2-010c15306053" providerId="ADAL" clId="{95571437-1CDD-49A9-9F44-9267EE8F1204}" dt="2026-01-10T21:31:41.383" v="207"/>
        <pc:sldMkLst>
          <pc:docMk/>
          <pc:sldMk cId="1862608450" sldId="291"/>
        </pc:sldMkLst>
        <pc:spChg chg="mod">
          <ac:chgData name="Harris, Wyatt J Lt Col USAF USAFA DF/DFAS" userId="768bfb95-c272-4014-8fa2-010c15306053" providerId="ADAL" clId="{95571437-1CDD-49A9-9F44-9267EE8F1204}" dt="2026-01-10T21:31:28.258" v="201" actId="20577"/>
          <ac:spMkLst>
            <pc:docMk/>
            <pc:sldMk cId="1862608450" sldId="291"/>
            <ac:spMk id="2" creationId="{51BF6C9D-726F-DF29-FA72-B2D20764EFAF}"/>
          </ac:spMkLst>
        </pc:spChg>
        <pc:spChg chg="mod">
          <ac:chgData name="Harris, Wyatt J Lt Col USAF USAFA DF/DFAS" userId="768bfb95-c272-4014-8fa2-010c15306053" providerId="ADAL" clId="{95571437-1CDD-49A9-9F44-9267EE8F1204}" dt="2026-01-10T21:31:32.322" v="205" actId="6549"/>
          <ac:spMkLst>
            <pc:docMk/>
            <pc:sldMk cId="1862608450" sldId="291"/>
            <ac:spMk id="3" creationId="{9B806313-F5D7-22A9-B149-5B94F4F14D1D}"/>
          </ac:spMkLst>
        </pc:spChg>
      </pc:sldChg>
      <pc:sldChg chg="modSp new mod modAnim">
        <pc:chgData name="Harris, Wyatt J Lt Col USAF USAFA DF/DFAS" userId="768bfb95-c272-4014-8fa2-010c15306053" providerId="ADAL" clId="{95571437-1CDD-49A9-9F44-9267EE8F1204}" dt="2026-01-10T21:27:38.390" v="107"/>
        <pc:sldMkLst>
          <pc:docMk/>
          <pc:sldMk cId="3718811706" sldId="292"/>
        </pc:sldMkLst>
        <pc:spChg chg="mod">
          <ac:chgData name="Harris, Wyatt J Lt Col USAF USAFA DF/DFAS" userId="768bfb95-c272-4014-8fa2-010c15306053" providerId="ADAL" clId="{95571437-1CDD-49A9-9F44-9267EE8F1204}" dt="2026-01-10T21:22:56.375" v="87"/>
          <ac:spMkLst>
            <pc:docMk/>
            <pc:sldMk cId="3718811706" sldId="292"/>
            <ac:spMk id="2" creationId="{2FEA2457-5EDA-4CB1-87F4-A23ACABDCBB4}"/>
          </ac:spMkLst>
        </pc:spChg>
        <pc:spChg chg="mod">
          <ac:chgData name="Harris, Wyatt J Lt Col USAF USAFA DF/DFAS" userId="768bfb95-c272-4014-8fa2-010c15306053" providerId="ADAL" clId="{95571437-1CDD-49A9-9F44-9267EE8F1204}" dt="2026-01-10T21:27:35.383" v="106" actId="113"/>
          <ac:spMkLst>
            <pc:docMk/>
            <pc:sldMk cId="3718811706" sldId="292"/>
            <ac:spMk id="3" creationId="{2BE1B157-F589-EE29-7623-8C66003E8290}"/>
          </ac:spMkLst>
        </pc:spChg>
      </pc:sldChg>
      <pc:sldChg chg="addSp delSp modSp new mod modClrScheme chgLayout">
        <pc:chgData name="Harris, Wyatt J Lt Col USAF USAFA DF/DFAS" userId="768bfb95-c272-4014-8fa2-010c15306053" providerId="ADAL" clId="{95571437-1CDD-49A9-9F44-9267EE8F1204}" dt="2026-01-10T21:47:29.640" v="319" actId="478"/>
        <pc:sldMkLst>
          <pc:docMk/>
          <pc:sldMk cId="1621509189" sldId="293"/>
        </pc:sldMkLst>
        <pc:spChg chg="mod ord">
          <ac:chgData name="Harris, Wyatt J Lt Col USAF USAFA DF/DFAS" userId="768bfb95-c272-4014-8fa2-010c15306053" providerId="ADAL" clId="{95571437-1CDD-49A9-9F44-9267EE8F1204}" dt="2026-01-10T21:44:56.467" v="239" actId="700"/>
          <ac:spMkLst>
            <pc:docMk/>
            <pc:sldMk cId="1621509189" sldId="293"/>
            <ac:spMk id="4" creationId="{2221C873-0E74-C49B-DFCE-D4ACD0772A9F}"/>
          </ac:spMkLst>
        </pc:spChg>
        <pc:spChg chg="add mod ord">
          <ac:chgData name="Harris, Wyatt J Lt Col USAF USAFA DF/DFAS" userId="768bfb95-c272-4014-8fa2-010c15306053" providerId="ADAL" clId="{95571437-1CDD-49A9-9F44-9267EE8F1204}" dt="2026-01-10T21:47:27.831" v="318" actId="6549"/>
          <ac:spMkLst>
            <pc:docMk/>
            <pc:sldMk cId="1621509189" sldId="293"/>
            <ac:spMk id="5" creationId="{A861744D-98C0-58BC-70FB-573A21070230}"/>
          </ac:spMkLst>
        </pc:spChg>
      </pc:sldChg>
      <pc:sldChg chg="add">
        <pc:chgData name="Harris, Wyatt J Lt Col USAF USAFA DF/DFAS" userId="768bfb95-c272-4014-8fa2-010c15306053" providerId="ADAL" clId="{95571437-1CDD-49A9-9F44-9267EE8F1204}" dt="2026-01-10T21:45:08.958" v="254"/>
        <pc:sldMkLst>
          <pc:docMk/>
          <pc:sldMk cId="959040627" sldId="300"/>
        </pc:sldMkLst>
      </pc:sldChg>
      <pc:sldChg chg="add">
        <pc:chgData name="Harris, Wyatt J Lt Col USAF USAFA DF/DFAS" userId="768bfb95-c272-4014-8fa2-010c15306053" providerId="ADAL" clId="{95571437-1CDD-49A9-9F44-9267EE8F1204}" dt="2026-01-10T21:45:08.958" v="254"/>
        <pc:sldMkLst>
          <pc:docMk/>
          <pc:sldMk cId="3491124754" sldId="302"/>
        </pc:sldMkLst>
      </pc:sldChg>
      <pc:sldChg chg="modSp add mod">
        <pc:chgData name="Harris, Wyatt J Lt Col USAF USAFA DF/DFAS" userId="768bfb95-c272-4014-8fa2-010c15306053" providerId="ADAL" clId="{95571437-1CDD-49A9-9F44-9267EE8F1204}" dt="2026-01-10T21:46:16.957" v="270" actId="1076"/>
        <pc:sldMkLst>
          <pc:docMk/>
          <pc:sldMk cId="3929336758" sldId="304"/>
        </pc:sldMkLst>
        <pc:picChg chg="mod">
          <ac:chgData name="Harris, Wyatt J Lt Col USAF USAFA DF/DFAS" userId="768bfb95-c272-4014-8fa2-010c15306053" providerId="ADAL" clId="{95571437-1CDD-49A9-9F44-9267EE8F1204}" dt="2026-01-10T21:46:16.957" v="270" actId="1076"/>
          <ac:picMkLst>
            <pc:docMk/>
            <pc:sldMk cId="3929336758" sldId="304"/>
            <ac:picMk id="2" creationId="{00000000-0000-0000-0000-000000000000}"/>
          </ac:picMkLst>
        </pc:picChg>
      </pc:sldChg>
      <pc:sldChg chg="modSp add mod">
        <pc:chgData name="Harris, Wyatt J Lt Col USAF USAFA DF/DFAS" userId="768bfb95-c272-4014-8fa2-010c15306053" providerId="ADAL" clId="{95571437-1CDD-49A9-9F44-9267EE8F1204}" dt="2026-01-10T21:46:13.269" v="269" actId="1076"/>
        <pc:sldMkLst>
          <pc:docMk/>
          <pc:sldMk cId="999955189" sldId="305"/>
        </pc:sldMkLst>
        <pc:picChg chg="mod">
          <ac:chgData name="Harris, Wyatt J Lt Col USAF USAFA DF/DFAS" userId="768bfb95-c272-4014-8fa2-010c15306053" providerId="ADAL" clId="{95571437-1CDD-49A9-9F44-9267EE8F1204}" dt="2026-01-10T21:46:13.269" v="269" actId="1076"/>
          <ac:picMkLst>
            <pc:docMk/>
            <pc:sldMk cId="999955189" sldId="305"/>
            <ac:picMk id="4" creationId="{00000000-0000-0000-0000-000000000000}"/>
          </ac:picMkLst>
        </pc:picChg>
      </pc:sldChg>
      <pc:sldChg chg="add">
        <pc:chgData name="Harris, Wyatt J Lt Col USAF USAFA DF/DFAS" userId="768bfb95-c272-4014-8fa2-010c15306053" providerId="ADAL" clId="{95571437-1CDD-49A9-9F44-9267EE8F1204}" dt="2026-01-10T21:45:08.958" v="254"/>
        <pc:sldMkLst>
          <pc:docMk/>
          <pc:sldMk cId="2755147204" sldId="306"/>
        </pc:sldMkLst>
      </pc:sldChg>
      <pc:sldChg chg="modSp add mod">
        <pc:chgData name="Harris, Wyatt J Lt Col USAF USAFA DF/DFAS" userId="768bfb95-c272-4014-8fa2-010c15306053" providerId="ADAL" clId="{95571437-1CDD-49A9-9F44-9267EE8F1204}" dt="2026-01-10T21:46:59.046" v="285" actId="1076"/>
        <pc:sldMkLst>
          <pc:docMk/>
          <pc:sldMk cId="2374783132" sldId="307"/>
        </pc:sldMkLst>
        <pc:picChg chg="mod">
          <ac:chgData name="Harris, Wyatt J Lt Col USAF USAFA DF/DFAS" userId="768bfb95-c272-4014-8fa2-010c15306053" providerId="ADAL" clId="{95571437-1CDD-49A9-9F44-9267EE8F1204}" dt="2026-01-10T21:46:59.046" v="285" actId="1076"/>
          <ac:picMkLst>
            <pc:docMk/>
            <pc:sldMk cId="2374783132" sldId="307"/>
            <ac:picMk id="4" creationId="{00000000-0000-0000-0000-000000000000}"/>
          </ac:picMkLst>
        </pc:picChg>
      </pc:sldChg>
      <pc:sldChg chg="add">
        <pc:chgData name="Harris, Wyatt J Lt Col USAF USAFA DF/DFAS" userId="768bfb95-c272-4014-8fa2-010c15306053" providerId="ADAL" clId="{95571437-1CDD-49A9-9F44-9267EE8F1204}" dt="2026-01-10T21:45:08.958" v="254"/>
        <pc:sldMkLst>
          <pc:docMk/>
          <pc:sldMk cId="1612487478" sldId="308"/>
        </pc:sldMkLst>
      </pc:sldChg>
      <pc:sldChg chg="delSp modSp add mod">
        <pc:chgData name="Harris, Wyatt J Lt Col USAF USAFA DF/DFAS" userId="768bfb95-c272-4014-8fa2-010c15306053" providerId="ADAL" clId="{95571437-1CDD-49A9-9F44-9267EE8F1204}" dt="2026-01-10T21:46:45.396" v="282" actId="1076"/>
        <pc:sldMkLst>
          <pc:docMk/>
          <pc:sldMk cId="766701077" sldId="309"/>
        </pc:sldMkLst>
        <pc:picChg chg="mod">
          <ac:chgData name="Harris, Wyatt J Lt Col USAF USAFA DF/DFAS" userId="768bfb95-c272-4014-8fa2-010c15306053" providerId="ADAL" clId="{95571437-1CDD-49A9-9F44-9267EE8F1204}" dt="2026-01-10T21:46:45.396" v="282" actId="1076"/>
          <ac:picMkLst>
            <pc:docMk/>
            <pc:sldMk cId="766701077" sldId="309"/>
            <ac:picMk id="4" creationId="{00000000-0000-0000-0000-000000000000}"/>
          </ac:picMkLst>
        </pc:picChg>
      </pc:sldChg>
      <pc:sldChg chg="modSp add mod">
        <pc:chgData name="Harris, Wyatt J Lt Col USAF USAFA DF/DFAS" userId="768bfb95-c272-4014-8fa2-010c15306053" providerId="ADAL" clId="{95571437-1CDD-49A9-9F44-9267EE8F1204}" dt="2026-01-10T21:46:08.862" v="267" actId="1076"/>
        <pc:sldMkLst>
          <pc:docMk/>
          <pc:sldMk cId="1741379079" sldId="310"/>
        </pc:sldMkLst>
        <pc:spChg chg="mod">
          <ac:chgData name="Harris, Wyatt J Lt Col USAF USAFA DF/DFAS" userId="768bfb95-c272-4014-8fa2-010c15306053" providerId="ADAL" clId="{95571437-1CDD-49A9-9F44-9267EE8F1204}" dt="2026-01-10T21:46:08.862" v="267" actId="1076"/>
          <ac:spMkLst>
            <pc:docMk/>
            <pc:sldMk cId="1741379079" sldId="310"/>
            <ac:spMk id="3" creationId="{00000000-0000-0000-0000-000000000000}"/>
          </ac:spMkLst>
        </pc:spChg>
      </pc:sldChg>
      <pc:sldChg chg="add">
        <pc:chgData name="Harris, Wyatt J Lt Col USAF USAFA DF/DFAS" userId="768bfb95-c272-4014-8fa2-010c15306053" providerId="ADAL" clId="{95571437-1CDD-49A9-9F44-9267EE8F1204}" dt="2026-01-10T21:45:08.958" v="254"/>
        <pc:sldMkLst>
          <pc:docMk/>
          <pc:sldMk cId="4259882799" sldId="311"/>
        </pc:sldMkLst>
      </pc:sldChg>
      <pc:sldChg chg="modSp add mod">
        <pc:chgData name="Harris, Wyatt J Lt Col USAF USAFA DF/DFAS" userId="768bfb95-c272-4014-8fa2-010c15306053" providerId="ADAL" clId="{95571437-1CDD-49A9-9F44-9267EE8F1204}" dt="2026-01-10T21:48:03.799" v="349" actId="1076"/>
        <pc:sldMkLst>
          <pc:docMk/>
          <pc:sldMk cId="1280384629" sldId="314"/>
        </pc:sldMkLst>
        <pc:spChg chg="mod">
          <ac:chgData name="Harris, Wyatt J Lt Col USAF USAFA DF/DFAS" userId="768bfb95-c272-4014-8fa2-010c15306053" providerId="ADAL" clId="{95571437-1CDD-49A9-9F44-9267EE8F1204}" dt="2026-01-10T21:48:03.799" v="349" actId="1076"/>
          <ac:spMkLst>
            <pc:docMk/>
            <pc:sldMk cId="1280384629" sldId="314"/>
            <ac:spMk id="2" creationId="{00000000-0000-0000-0000-000000000000}"/>
          </ac:spMkLst>
        </pc:spChg>
      </pc:sldChg>
      <pc:sldChg chg="delSp modSp add mod">
        <pc:chgData name="Harris, Wyatt J Lt Col USAF USAFA DF/DFAS" userId="768bfb95-c272-4014-8fa2-010c15306053" providerId="ADAL" clId="{95571437-1CDD-49A9-9F44-9267EE8F1204}" dt="2026-01-10T21:46:34.467" v="279" actId="478"/>
        <pc:sldMkLst>
          <pc:docMk/>
          <pc:sldMk cId="4189676147" sldId="315"/>
        </pc:sldMkLst>
        <pc:spChg chg="mod">
          <ac:chgData name="Harris, Wyatt J Lt Col USAF USAFA DF/DFAS" userId="768bfb95-c272-4014-8fa2-010c15306053" providerId="ADAL" clId="{95571437-1CDD-49A9-9F44-9267EE8F1204}" dt="2026-01-10T21:45:09.080" v="256" actId="27636"/>
          <ac:spMkLst>
            <pc:docMk/>
            <pc:sldMk cId="4189676147" sldId="315"/>
            <ac:spMk id="8" creationId="{00000000-0000-0000-0000-000000000000}"/>
          </ac:spMkLst>
        </pc:spChg>
        <pc:picChg chg="mod">
          <ac:chgData name="Harris, Wyatt J Lt Col USAF USAFA DF/DFAS" userId="768bfb95-c272-4014-8fa2-010c15306053" providerId="ADAL" clId="{95571437-1CDD-49A9-9F44-9267EE8F1204}" dt="2026-01-10T21:46:33.418" v="278" actId="1036"/>
          <ac:picMkLst>
            <pc:docMk/>
            <pc:sldMk cId="4189676147" sldId="315"/>
            <ac:picMk id="5" creationId="{00000000-0000-0000-0000-000000000000}"/>
          </ac:picMkLst>
        </pc:picChg>
      </pc:sldChg>
      <pc:sldChg chg="add">
        <pc:chgData name="Harris, Wyatt J Lt Col USAF USAFA DF/DFAS" userId="768bfb95-c272-4014-8fa2-010c15306053" providerId="ADAL" clId="{95571437-1CDD-49A9-9F44-9267EE8F1204}" dt="2026-01-10T21:45:08.958" v="254"/>
        <pc:sldMkLst>
          <pc:docMk/>
          <pc:sldMk cId="3084161278" sldId="316"/>
        </pc:sldMkLst>
      </pc:sldChg>
      <pc:sldChg chg="add">
        <pc:chgData name="Harris, Wyatt J Lt Col USAF USAFA DF/DFAS" userId="768bfb95-c272-4014-8fa2-010c15306053" providerId="ADAL" clId="{95571437-1CDD-49A9-9F44-9267EE8F1204}" dt="2026-01-10T21:45:08.958" v="254"/>
        <pc:sldMkLst>
          <pc:docMk/>
          <pc:sldMk cId="1421134983" sldId="318"/>
        </pc:sldMkLst>
      </pc:sldChg>
      <pc:sldChg chg="modSp add mod">
        <pc:chgData name="Harris, Wyatt J Lt Col USAF USAFA DF/DFAS" userId="768bfb95-c272-4014-8fa2-010c15306053" providerId="ADAL" clId="{95571437-1CDD-49A9-9F44-9267EE8F1204}" dt="2026-01-10T21:47:45.326" v="347" actId="1076"/>
        <pc:sldMkLst>
          <pc:docMk/>
          <pc:sldMk cId="3690713414" sldId="321"/>
        </pc:sldMkLst>
        <pc:spChg chg="mod">
          <ac:chgData name="Harris, Wyatt J Lt Col USAF USAFA DF/DFAS" userId="768bfb95-c272-4014-8fa2-010c15306053" providerId="ADAL" clId="{95571437-1CDD-49A9-9F44-9267EE8F1204}" dt="2026-01-10T21:47:45.326" v="347" actId="1076"/>
          <ac:spMkLst>
            <pc:docMk/>
            <pc:sldMk cId="3690713414" sldId="321"/>
            <ac:spMk id="3" creationId="{00000000-0000-0000-0000-000000000000}"/>
          </ac:spMkLst>
        </pc:spChg>
      </pc:sldChg>
      <pc:sldChg chg="modSp add mod">
        <pc:chgData name="Harris, Wyatt J Lt Col USAF USAFA DF/DFAS" userId="768bfb95-c272-4014-8fa2-010c15306053" providerId="ADAL" clId="{95571437-1CDD-49A9-9F44-9267EE8F1204}" dt="2026-01-10T21:45:09.069" v="255" actId="27636"/>
        <pc:sldMkLst>
          <pc:docMk/>
          <pc:sldMk cId="3429106910" sldId="323"/>
        </pc:sldMkLst>
        <pc:spChg chg="mod">
          <ac:chgData name="Harris, Wyatt J Lt Col USAF USAFA DF/DFAS" userId="768bfb95-c272-4014-8fa2-010c15306053" providerId="ADAL" clId="{95571437-1CDD-49A9-9F44-9267EE8F1204}" dt="2026-01-10T21:45:09.069" v="255" actId="27636"/>
          <ac:spMkLst>
            <pc:docMk/>
            <pc:sldMk cId="3429106910" sldId="323"/>
            <ac:spMk id="3" creationId="{00000000-0000-0000-0000-000000000000}"/>
          </ac:spMkLst>
        </pc:spChg>
      </pc:sldChg>
      <pc:sldChg chg="modSp add mod">
        <pc:chgData name="Harris, Wyatt J Lt Col USAF USAFA DF/DFAS" userId="768bfb95-c272-4014-8fa2-010c15306053" providerId="ADAL" clId="{95571437-1CDD-49A9-9F44-9267EE8F1204}" dt="2026-01-10T21:46:02.293" v="266" actId="1076"/>
        <pc:sldMkLst>
          <pc:docMk/>
          <pc:sldMk cId="1703840000" sldId="324"/>
        </pc:sldMkLst>
        <pc:spChg chg="mod">
          <ac:chgData name="Harris, Wyatt J Lt Col USAF USAFA DF/DFAS" userId="768bfb95-c272-4014-8fa2-010c15306053" providerId="ADAL" clId="{95571437-1CDD-49A9-9F44-9267EE8F1204}" dt="2026-01-10T21:46:02.293" v="266" actId="1076"/>
          <ac:spMkLst>
            <pc:docMk/>
            <pc:sldMk cId="1703840000" sldId="324"/>
            <ac:spMk id="3" creationId="{00000000-0000-0000-0000-000000000000}"/>
          </ac:spMkLst>
        </pc:spChg>
        <pc:spChg chg="mod">
          <ac:chgData name="Harris, Wyatt J Lt Col USAF USAFA DF/DFAS" userId="768bfb95-c272-4014-8fa2-010c15306053" providerId="ADAL" clId="{95571437-1CDD-49A9-9F44-9267EE8F1204}" dt="2026-01-10T21:46:00.453" v="265" actId="1076"/>
          <ac:spMkLst>
            <pc:docMk/>
            <pc:sldMk cId="1703840000" sldId="324"/>
            <ac:spMk id="4" creationId="{00000000-0000-0000-0000-000000000000}"/>
          </ac:spMkLst>
        </pc:spChg>
      </pc:sldChg>
      <pc:sldChg chg="modSp add mod">
        <pc:chgData name="Harris, Wyatt J Lt Col USAF USAFA DF/DFAS" userId="768bfb95-c272-4014-8fa2-010c15306053" providerId="ADAL" clId="{95571437-1CDD-49A9-9F44-9267EE8F1204}" dt="2026-01-10T21:45:50.757" v="264" actId="1076"/>
        <pc:sldMkLst>
          <pc:docMk/>
          <pc:sldMk cId="3926634034" sldId="325"/>
        </pc:sldMkLst>
        <pc:spChg chg="mod">
          <ac:chgData name="Harris, Wyatt J Lt Col USAF USAFA DF/DFAS" userId="768bfb95-c272-4014-8fa2-010c15306053" providerId="ADAL" clId="{95571437-1CDD-49A9-9F44-9267EE8F1204}" dt="2026-01-10T21:45:47.380" v="263" actId="1076"/>
          <ac:spMkLst>
            <pc:docMk/>
            <pc:sldMk cId="3926634034" sldId="325"/>
            <ac:spMk id="2" creationId="{00000000-0000-0000-0000-000000000000}"/>
          </ac:spMkLst>
        </pc:spChg>
        <pc:spChg chg="mod">
          <ac:chgData name="Harris, Wyatt J Lt Col USAF USAFA DF/DFAS" userId="768bfb95-c272-4014-8fa2-010c15306053" providerId="ADAL" clId="{95571437-1CDD-49A9-9F44-9267EE8F1204}" dt="2026-01-10T21:45:50.757" v="264" actId="1076"/>
          <ac:spMkLst>
            <pc:docMk/>
            <pc:sldMk cId="3926634034" sldId="325"/>
            <ac:spMk id="4" creationId="{00000000-0000-0000-0000-000000000000}"/>
          </ac:spMkLst>
        </pc:spChg>
      </pc:sldChg>
      <pc:sldChg chg="modSp add mod">
        <pc:chgData name="Harris, Wyatt J Lt Col USAF USAFA DF/DFAS" userId="768bfb95-c272-4014-8fa2-010c15306053" providerId="ADAL" clId="{95571437-1CDD-49A9-9F44-9267EE8F1204}" dt="2026-01-10T21:45:37.341" v="262" actId="1076"/>
        <pc:sldMkLst>
          <pc:docMk/>
          <pc:sldMk cId="3360953521" sldId="326"/>
        </pc:sldMkLst>
        <pc:spChg chg="mod">
          <ac:chgData name="Harris, Wyatt J Lt Col USAF USAFA DF/DFAS" userId="768bfb95-c272-4014-8fa2-010c15306053" providerId="ADAL" clId="{95571437-1CDD-49A9-9F44-9267EE8F1204}" dt="2026-01-10T21:45:33.909" v="261" actId="1076"/>
          <ac:spMkLst>
            <pc:docMk/>
            <pc:sldMk cId="3360953521" sldId="326"/>
            <ac:spMk id="2" creationId="{00000000-0000-0000-0000-000000000000}"/>
          </ac:spMkLst>
        </pc:spChg>
        <pc:spChg chg="mod">
          <ac:chgData name="Harris, Wyatt J Lt Col USAF USAFA DF/DFAS" userId="768bfb95-c272-4014-8fa2-010c15306053" providerId="ADAL" clId="{95571437-1CDD-49A9-9F44-9267EE8F1204}" dt="2026-01-10T21:45:37.341" v="262" actId="1076"/>
          <ac:spMkLst>
            <pc:docMk/>
            <pc:sldMk cId="3360953521" sldId="326"/>
            <ac:spMk id="4" creationId="{00000000-0000-0000-0000-000000000000}"/>
          </ac:spMkLst>
        </pc:spChg>
      </pc:sldChg>
      <pc:sldChg chg="addSp delSp modSp new mod chgLayout">
        <pc:chgData name="Harris, Wyatt J Lt Col USAF USAFA DF/DFAS" userId="768bfb95-c272-4014-8fa2-010c15306053" providerId="ADAL" clId="{95571437-1CDD-49A9-9F44-9267EE8F1204}" dt="2026-01-10T21:48:43.470" v="393" actId="20577"/>
        <pc:sldMkLst>
          <pc:docMk/>
          <pc:sldMk cId="4070968161" sldId="327"/>
        </pc:sldMkLst>
        <pc:spChg chg="mod ord">
          <ac:chgData name="Harris, Wyatt J Lt Col USAF USAFA DF/DFAS" userId="768bfb95-c272-4014-8fa2-010c15306053" providerId="ADAL" clId="{95571437-1CDD-49A9-9F44-9267EE8F1204}" dt="2026-01-10T21:48:31.898" v="350" actId="700"/>
          <ac:spMkLst>
            <pc:docMk/>
            <pc:sldMk cId="4070968161" sldId="327"/>
            <ac:spMk id="2" creationId="{10184D2D-CBEA-39F2-5BEE-511392C7C4BE}"/>
          </ac:spMkLst>
        </pc:spChg>
        <pc:spChg chg="mod ord">
          <ac:chgData name="Harris, Wyatt J Lt Col USAF USAFA DF/DFAS" userId="768bfb95-c272-4014-8fa2-010c15306053" providerId="ADAL" clId="{95571437-1CDD-49A9-9F44-9267EE8F1204}" dt="2026-01-10T21:48:31.898" v="350" actId="700"/>
          <ac:spMkLst>
            <pc:docMk/>
            <pc:sldMk cId="4070968161" sldId="327"/>
            <ac:spMk id="4" creationId="{7AA5104B-619E-103B-D429-8ECED89E633F}"/>
          </ac:spMkLst>
        </pc:spChg>
        <pc:spChg chg="add mod ord">
          <ac:chgData name="Harris, Wyatt J Lt Col USAF USAFA DF/DFAS" userId="768bfb95-c272-4014-8fa2-010c15306053" providerId="ADAL" clId="{95571437-1CDD-49A9-9F44-9267EE8F1204}" dt="2026-01-10T21:48:43.470" v="393" actId="20577"/>
          <ac:spMkLst>
            <pc:docMk/>
            <pc:sldMk cId="4070968161" sldId="327"/>
            <ac:spMk id="5" creationId="{74D0328C-5945-3FEE-77B6-C111FF622270}"/>
          </ac:spMkLst>
        </pc:spChg>
      </pc:sldChg>
      <pc:sldChg chg="modSp add mod">
        <pc:chgData name="Harris, Wyatt J Lt Col USAF USAFA DF/DFAS" userId="768bfb95-c272-4014-8fa2-010c15306053" providerId="ADAL" clId="{95571437-1CDD-49A9-9F44-9267EE8F1204}" dt="2026-01-11T03:19:16.335" v="445" actId="20577"/>
        <pc:sldMkLst>
          <pc:docMk/>
          <pc:sldMk cId="1400883742" sldId="328"/>
        </pc:sldMkLst>
        <pc:spChg chg="mod">
          <ac:chgData name="Harris, Wyatt J Lt Col USAF USAFA DF/DFAS" userId="768bfb95-c272-4014-8fa2-010c15306053" providerId="ADAL" clId="{95571437-1CDD-49A9-9F44-9267EE8F1204}" dt="2026-01-10T21:51:44.534" v="401" actId="120"/>
          <ac:spMkLst>
            <pc:docMk/>
            <pc:sldMk cId="1400883742" sldId="328"/>
            <ac:spMk id="4" creationId="{00000000-0000-0000-0000-000000000000}"/>
          </ac:spMkLst>
        </pc:spChg>
        <pc:spChg chg="mod">
          <ac:chgData name="Harris, Wyatt J Lt Col USAF USAFA DF/DFAS" userId="768bfb95-c272-4014-8fa2-010c15306053" providerId="ADAL" clId="{95571437-1CDD-49A9-9F44-9267EE8F1204}" dt="2026-01-11T03:19:16.335" v="445" actId="20577"/>
          <ac:spMkLst>
            <pc:docMk/>
            <pc:sldMk cId="1400883742" sldId="328"/>
            <ac:spMk id="5" creationId="{00000000-0000-0000-0000-000000000000}"/>
          </ac:spMkLst>
        </pc:spChg>
      </pc:sldChg>
      <pc:sldChg chg="addSp delSp modSp new mod">
        <pc:chgData name="Harris, Wyatt J Lt Col USAF USAFA DF/DFAS" userId="768bfb95-c272-4014-8fa2-010c15306053" providerId="ADAL" clId="{95571437-1CDD-49A9-9F44-9267EE8F1204}" dt="2026-01-12T04:12:58.027" v="481" actId="20577"/>
        <pc:sldMkLst>
          <pc:docMk/>
          <pc:sldMk cId="1689729605" sldId="329"/>
        </pc:sldMkLst>
        <pc:spChg chg="mod">
          <ac:chgData name="Harris, Wyatt J Lt Col USAF USAFA DF/DFAS" userId="768bfb95-c272-4014-8fa2-010c15306053" providerId="ADAL" clId="{95571437-1CDD-49A9-9F44-9267EE8F1204}" dt="2026-01-12T04:12:58.027" v="481" actId="20577"/>
          <ac:spMkLst>
            <pc:docMk/>
            <pc:sldMk cId="1689729605" sldId="329"/>
            <ac:spMk id="2" creationId="{D6ED2343-6A1B-A1E9-D69F-255244C9D88B}"/>
          </ac:spMkLst>
        </pc:spChg>
        <pc:spChg chg="del">
          <ac:chgData name="Harris, Wyatt J Lt Col USAF USAFA DF/DFAS" userId="768bfb95-c272-4014-8fa2-010c15306053" providerId="ADAL" clId="{95571437-1CDD-49A9-9F44-9267EE8F1204}" dt="2026-01-12T04:12:43.373" v="463" actId="478"/>
          <ac:spMkLst>
            <pc:docMk/>
            <pc:sldMk cId="1689729605" sldId="329"/>
            <ac:spMk id="3" creationId="{D199151A-E3BE-AEA3-1DBF-7E06EBEAC602}"/>
          </ac:spMkLst>
        </pc:spChg>
        <pc:picChg chg="add mod">
          <ac:chgData name="Harris, Wyatt J Lt Col USAF USAFA DF/DFAS" userId="768bfb95-c272-4014-8fa2-010c15306053" providerId="ADAL" clId="{95571437-1CDD-49A9-9F44-9267EE8F1204}" dt="2026-01-12T04:12:51.378" v="467" actId="1076"/>
          <ac:picMkLst>
            <pc:docMk/>
            <pc:sldMk cId="1689729605" sldId="329"/>
            <ac:picMk id="5" creationId="{03368F33-F0A7-9EDB-6B1D-87C5196030E2}"/>
          </ac:picMkLst>
        </pc:picChg>
        <pc:picChg chg="add mod">
          <ac:chgData name="Harris, Wyatt J Lt Col USAF USAFA DF/DFAS" userId="768bfb95-c272-4014-8fa2-010c15306053" providerId="ADAL" clId="{95571437-1CDD-49A9-9F44-9267EE8F1204}" dt="2026-01-12T04:12:54.659" v="468" actId="1076"/>
          <ac:picMkLst>
            <pc:docMk/>
            <pc:sldMk cId="1689729605" sldId="329"/>
            <ac:picMk id="7" creationId="{F1D1F602-26A2-FFF9-EBD6-F94C279675F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4D2EC29-5E9A-49E8-BC12-73FDF630574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9EB4C982-825B-414E-ABB9-79AB2513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5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1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9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7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3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#1</a:t>
            </a:r>
          </a:p>
          <a:p>
            <a:r>
              <a:rPr lang="en-US" dirty="0"/>
              <a:t>Skills review</a:t>
            </a:r>
          </a:p>
          <a:p>
            <a:r>
              <a:rPr lang="en-US" dirty="0"/>
              <a:t>HW#1 posted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04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0" dirty="0"/>
              <a:t>space shuttle’s solid rocket boosters (SRBs) ended up being influenced, very indirectly, by the width of Roman chariot axles.</a:t>
            </a:r>
          </a:p>
          <a:p>
            <a:r>
              <a:rPr lang="en-US" dirty="0"/>
              <a:t>Here’s the chain:</a:t>
            </a:r>
          </a:p>
          <a:p>
            <a:r>
              <a:rPr lang="en-US" b="1" dirty="0"/>
              <a:t>Roman chariot axle width</a:t>
            </a:r>
            <a:r>
              <a:rPr lang="en-US" dirty="0"/>
              <a:t> → In the Roman Empire, the standard ruts in roads were about </a:t>
            </a:r>
            <a:r>
              <a:rPr lang="en-US" b="1" dirty="0"/>
              <a:t>4 feet 8½ inches</a:t>
            </a:r>
            <a:r>
              <a:rPr lang="en-US" dirty="0"/>
              <a:t> apart, matching the wheel spacing of war chariots. That spacing fit two horses side-by-side comfortably.</a:t>
            </a:r>
          </a:p>
          <a:p>
            <a:r>
              <a:rPr lang="en-US" b="1" dirty="0"/>
              <a:t>Standard wagon gauge</a:t>
            </a:r>
            <a:r>
              <a:rPr lang="en-US" dirty="0"/>
              <a:t> → Over centuries, wagon builders kept the same spacing so wheels would fit existing ruts.</a:t>
            </a:r>
          </a:p>
          <a:p>
            <a:r>
              <a:rPr lang="en-US" b="1" dirty="0"/>
              <a:t>Railroad track gauge</a:t>
            </a:r>
            <a:r>
              <a:rPr lang="en-US" dirty="0"/>
              <a:t> → When railroads were built in Britain, engineers used the same wheel spacing as wagons: 4′ 8½″ (1,435 mm). This became the “standard gauge” worldwide, including in the U.S.</a:t>
            </a:r>
          </a:p>
          <a:p>
            <a:r>
              <a:rPr lang="en-US" b="1" dirty="0"/>
              <a:t>Rocket booster transport</a:t>
            </a:r>
            <a:r>
              <a:rPr lang="en-US" dirty="0"/>
              <a:t> → The space shuttle’s SRBs were manufactured in Utah by Thiokol. They had to be shipped by train to Florida.</a:t>
            </a:r>
          </a:p>
          <a:p>
            <a:r>
              <a:rPr lang="en-US" b="1" dirty="0"/>
              <a:t>Width constraint</a:t>
            </a:r>
            <a:r>
              <a:rPr lang="en-US" dirty="0"/>
              <a:t> → The boosters had to fit through railroad tunnels, which were sized to accommodate trains built for standard-gauge track. This limited their diameter to something that could pass through those tunnels.</a:t>
            </a:r>
          </a:p>
          <a:p>
            <a:r>
              <a:rPr lang="en-US" b="1" dirty="0"/>
              <a:t>Result</a:t>
            </a:r>
            <a:r>
              <a:rPr lang="en-US" dirty="0"/>
              <a:t> → The SRB diameter ended up being about 12 feet — partially constrained by tunnel clearance — which traces back to that 4′ 8½″ Roman chariot gauge.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918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Problem Definition: R2BEOM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restricted two-body problem</a:t>
                </a:r>
                <a:r>
                  <a:rPr lang="en-US" dirty="0"/>
                  <a:t> assumes:</a:t>
                </a:r>
              </a:p>
              <a:p>
                <a:r>
                  <a:rPr lang="en-US" dirty="0"/>
                  <a:t>Two bodies interact only via Newtonian gravity</a:t>
                </a:r>
              </a:p>
              <a:p>
                <a:r>
                  <a:rPr lang="en-US" dirty="0"/>
                  <a:t>One body has negligible mass (spacecraft)</a:t>
                </a:r>
              </a:p>
              <a:p>
                <a:r>
                  <a:rPr lang="en-US" dirty="0"/>
                  <a:t>The central body is spherically symmetric</a:t>
                </a:r>
              </a:p>
              <a:p>
                <a:r>
                  <a:rPr lang="en-US" dirty="0"/>
                  <a:t>No perturbations (drag, J2, SRP, third bodies, thrust)</a:t>
                </a:r>
              </a:p>
              <a:p>
                <a:r>
                  <a:rPr lang="en-US" dirty="0"/>
                  <a:t>The equation of motion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ar-AE" sz="1200" b="1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lang="ar-AE" sz="1200" b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𝐫</m:t>
                          </m:r>
                        </m:e>
                      </m:acc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r>
                        <a:rPr 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𝜇</m:t>
                      </m:r>
                      <m:f>
                        <m:f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b="1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𝐫</m:t>
                          </m:r>
                        </m:num>
                        <m:den>
                          <m:sSup>
                            <m:sSupPr>
                              <m:ctrlPr>
                                <a:rPr lang="ar-AE" sz="1200" b="1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ar-AE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where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1200" b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𝐫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∈</m:t>
                    </m:r>
                    <m:sSup>
                      <m:sSupPr>
                        <m:ctrlP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ℝ</m:t>
                        </m:r>
                      </m:e>
                      <m:sup>
                        <m:r>
                          <a:rPr lang="ar-AE" sz="1200" b="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is the position vector and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𝜇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𝐺𝑀</m:t>
                    </m:r>
                  </m:oMath>
                </a14:m>
                <a:r>
                  <a:rPr lang="en-US" dirty="0"/>
                  <a:t>is the gravitational parameter of the central body.</a:t>
                </a:r>
              </a:p>
              <a:p>
                <a:r>
                  <a:rPr lang="en-US" dirty="0"/>
                  <a:t>This is a </a:t>
                </a:r>
                <a:r>
                  <a:rPr lang="en-US" b="1" dirty="0"/>
                  <a:t>second-order, nonlinear, autonomous ODE</a:t>
                </a:r>
                <a:r>
                  <a:rPr lang="en-US" dirty="0"/>
                  <a:t>, but it is </a:t>
                </a:r>
                <a:r>
                  <a:rPr lang="en-US" b="1" dirty="0"/>
                  <a:t>fully integrable</a:t>
                </a:r>
                <a:r>
                  <a:rPr lang="en-US" dirty="0"/>
                  <a:t>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2. Why a Closed-Form Solution Exists</a:t>
                </a:r>
              </a:p>
              <a:p>
                <a:r>
                  <a:rPr lang="en-US" dirty="0"/>
                  <a:t>The R2BEOM admits a closed-form solution because:</a:t>
                </a:r>
              </a:p>
              <a:p>
                <a:r>
                  <a:rPr lang="en-US" b="1" dirty="0"/>
                  <a:t>Central force field</a:t>
                </a:r>
                <a:r>
                  <a:rPr lang="en-US" dirty="0"/>
                  <a:t> → angular momentum is conserved</a:t>
                </a:r>
              </a:p>
              <a:p>
                <a:r>
                  <a:rPr lang="en-US" b="1" dirty="0"/>
                  <a:t>Time-invariant potential</a:t>
                </a:r>
                <a:r>
                  <a:rPr lang="en-US" dirty="0"/>
                  <a:t> → mechanical energy is conserved</a:t>
                </a:r>
              </a:p>
              <a:p>
                <a:r>
                  <a:rPr lang="en-US" dirty="0"/>
                  <a:t>The force is </a:t>
                </a:r>
                <a:r>
                  <a:rPr lang="en-US" b="1" dirty="0"/>
                  <a:t>inverse-square</a:t>
                </a:r>
                <a:r>
                  <a:rPr lang="en-US" dirty="0"/>
                  <a:t>, which leads to conic-section trajectories</a:t>
                </a:r>
              </a:p>
              <a:p>
                <a:r>
                  <a:rPr lang="en-US" dirty="0"/>
                  <a:t>As a result, the motion reduces to a </a:t>
                </a:r>
                <a:r>
                  <a:rPr lang="en-US" b="1" dirty="0"/>
                  <a:t>planar problem</a:t>
                </a:r>
                <a:r>
                  <a:rPr lang="en-US" dirty="0"/>
                  <a:t>, and the trajectory is a </a:t>
                </a:r>
                <a:r>
                  <a:rPr lang="en-US" b="1" dirty="0"/>
                  <a:t>conic section</a:t>
                </a:r>
                <a:r>
                  <a:rPr lang="en-US" dirty="0"/>
                  <a:t> (ellipse, parabola, or hyperbola).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3. First Integrals of Motion</a:t>
                </a:r>
              </a:p>
              <a:p>
                <a:r>
                  <a:rPr lang="en-US" b="1" dirty="0"/>
                  <a:t>Angular Momentum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𝐡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b="1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𝐫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acc>
                        <m:accPr>
                          <m:chr m:val="̇"/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lang="ar-AE" sz="1200" b="1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𝐫</m:t>
                          </m:r>
                        </m:e>
                      </m:acc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acc>
                        <m:accPr>
                          <m:chr m:val="̇"/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lang="ar-AE" sz="1200" b="1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𝐡</m:t>
                          </m:r>
                        </m:e>
                      </m:acc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This fixes the orbital plane.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Specific Mechanical Energy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ℰ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𝜇</m:t>
                          </m:r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ℰ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ar-AE" dirty="0"/>
                  <a:t>: </a:t>
                </a:r>
                <a:r>
                  <a:rPr lang="en-US" dirty="0"/>
                  <a:t>ellipse</a:t>
                </a:r>
              </a:p>
              <a:p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ℰ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en-US" dirty="0"/>
                  <a:t>: parabola</a:t>
                </a:r>
              </a:p>
              <a:p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ℰ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r>
                  <a:rPr lang="en-US" dirty="0"/>
                  <a:t>: hyperbola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Eccentricity Vector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𝐞</m:t>
                      </m:r>
                      <m:r>
                        <a:rPr lang="en-US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𝜇</m:t>
                          </m:r>
                        </m:den>
                      </m:f>
                      <m:d>
                        <m:d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lang="ar-AE" sz="1200" b="1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𝐫</m:t>
                              </m:r>
                            </m:e>
                          </m:acc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lang="ar-AE" sz="1200" b="1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𝐡</m:t>
                          </m:r>
                        </m:e>
                      </m:d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f>
                        <m:f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b="1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𝐫</m:t>
                          </m:r>
                        </m:num>
                        <m:den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Magnitude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𝑒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=∥</m:t>
                    </m:r>
                    <m:r>
                      <a:rPr lang="en-US" sz="1200" b="1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𝐞</m:t>
                    </m:r>
                    <m: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∥</m:t>
                    </m:r>
                  </m:oMath>
                </a14:m>
                <a:r>
                  <a:rPr lang="en-US" dirty="0"/>
                  <a:t>determines orbit shape</a:t>
                </a:r>
              </a:p>
              <a:p>
                <a:r>
                  <a:rPr lang="en-US" dirty="0"/>
                  <a:t>Direction points toward periapsis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4. Closed-Form Spatial Solution (Orbit Geometry)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trajectory equation</a:t>
                </a:r>
                <a:r>
                  <a:rPr lang="en-US" dirty="0"/>
                  <a:t> in polar coordinates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𝜈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num>
                        <m:den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  <m:func>
                            <m:func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𝜈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where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𝜈</m:t>
                    </m:r>
                  </m:oMath>
                </a14:m>
                <a:r>
                  <a:rPr lang="en-US" dirty="0"/>
                  <a:t>= true anomaly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h</m:t>
                            </m:r>
                          </m:e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𝜇</m:t>
                        </m:r>
                      </m:den>
                    </m:f>
                  </m:oMath>
                </a14:m>
                <a:r>
                  <a:rPr lang="ar-AE" dirty="0"/>
                  <a:t>= </a:t>
                </a:r>
                <a:r>
                  <a:rPr lang="en-US" dirty="0"/>
                  <a:t>semi-latus rectum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𝑒</m:t>
                    </m:r>
                  </m:oMath>
                </a14:m>
                <a:r>
                  <a:rPr lang="en-US" dirty="0"/>
                  <a:t>= eccentricity</a:t>
                </a:r>
              </a:p>
              <a:p>
                <a:r>
                  <a:rPr lang="en-US" dirty="0"/>
                  <a:t>This is an </a:t>
                </a:r>
                <a:r>
                  <a:rPr lang="en-US" b="1" dirty="0"/>
                  <a:t>exact, closed-form solution in space</a:t>
                </a:r>
                <a:r>
                  <a:rPr lang="en-US" dirty="0"/>
                  <a:t>, independent of time.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5. Time Parameterization (Kepler’s Equation)</a:t>
                </a:r>
              </a:p>
              <a:p>
                <a:r>
                  <a:rPr lang="en-US" dirty="0"/>
                  <a:t>The remaining challenge is relating </a:t>
                </a:r>
                <a:r>
                  <a:rPr lang="en-US" b="1" dirty="0"/>
                  <a:t>time</a:t>
                </a:r>
                <a:r>
                  <a:rPr lang="en-US" dirty="0"/>
                  <a:t> to </a:t>
                </a:r>
                <a:r>
                  <a:rPr lang="en-US" b="1" dirty="0"/>
                  <a:t>position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Elliptic Orbits (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≤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𝑒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/>
                  <a:t>)</a:t>
                </a:r>
              </a:p>
              <a:p>
                <a:r>
                  <a:rPr lang="en-US" dirty="0"/>
                  <a:t>Introduce </a:t>
                </a:r>
                <a:r>
                  <a:rPr lang="en-US" b="1" dirty="0"/>
                  <a:t>eccentric anomaly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</m:oMath>
                </a14:m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  <m:func>
                            <m:func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𝑒</m:t>
                      </m:r>
                      <m:func>
                        <m:func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sin</m:t>
                          </m:r>
                        </m:fName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𝐸</m:t>
                          </m:r>
                        </m:e>
                      </m:func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This transcendental equation (</a:t>
                </a:r>
                <a:r>
                  <a:rPr lang="en-US" b="1" dirty="0"/>
                  <a:t>Kepler’s Equation</a:t>
                </a:r>
                <a:r>
                  <a:rPr lang="en-US" dirty="0"/>
                  <a:t>) must be solved numerically, but:</a:t>
                </a:r>
              </a:p>
              <a:p>
                <a:r>
                  <a:rPr lang="en-US" dirty="0"/>
                  <a:t>The formulation itself is </a:t>
                </a:r>
                <a:r>
                  <a:rPr lang="en-US" b="1" dirty="0"/>
                  <a:t>closed-form</a:t>
                </a:r>
                <a:endParaRPr lang="en-US" dirty="0"/>
              </a:p>
              <a:p>
                <a:r>
                  <a:rPr lang="en-US" dirty="0"/>
                  <a:t>Only a scalar root-solve is required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Hyperbolic Orbits (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𝑒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/>
                  <a:t>)</a:t>
                </a:r>
              </a:p>
              <a:p>
                <a:r>
                  <a:rPr lang="en-US" dirty="0"/>
                  <a:t>Using </a:t>
                </a:r>
                <a:r>
                  <a:rPr lang="en-US" b="1" dirty="0"/>
                  <a:t>hyperbolic anomaly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𝐻</m:t>
                    </m:r>
                  </m:oMath>
                </a14:m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𝑎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  <m:func>
                            <m:func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cosh</m:t>
                              </m:r>
                            </m:fName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𝐻</m:t>
                              </m:r>
                            </m:e>
                          </m:func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𝑒</m:t>
                      </m:r>
                      <m:func>
                        <m:func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sinh</m:t>
                          </m:r>
                        </m:fName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</m:func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𝐻</m:t>
                      </m:r>
                    </m:oMath>
                  </m:oMathPara>
                </a14:m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US" b="1" dirty="0"/>
                  <a:t>Parabolic Orbits (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𝑒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/>
                  <a:t>)</a:t>
                </a:r>
              </a:p>
              <a:p>
                <a:r>
                  <a:rPr lang="en-US" dirty="0"/>
                  <a:t>Using </a:t>
                </a:r>
                <a:r>
                  <a:rPr lang="en-US" b="1" dirty="0"/>
                  <a:t>Barker’s Equation</a:t>
                </a:r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𝜇</m:t>
                              </m:r>
                            </m:den>
                          </m:f>
                        </m:e>
                      </m:rad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𝐷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</m:e>
                                <m:sup>
                                  <m:r>
                                    <a:rPr lang="ar-AE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where 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6. State Vector Closed-Form Solution</a:t>
                </a:r>
              </a:p>
              <a:p>
                <a:r>
                  <a:rPr lang="en-US" dirty="0"/>
                  <a:t>Given an initial state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200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200" b="1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b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𝐫</m:t>
                            </m:r>
                          </m:e>
                          <m:sub>
                            <m:r>
                              <a:rPr lang="ar-AE" sz="1200" b="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200" b="1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b="1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𝐯</m:t>
                            </m:r>
                          </m:e>
                          <m:sub>
                            <m:r>
                              <a:rPr lang="ar-AE" sz="1200" b="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:</a:t>
                </a:r>
              </a:p>
              <a:p>
                <a:r>
                  <a:rPr lang="en-US" dirty="0"/>
                  <a:t>Compute orbital elements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l-GR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Ω</m:t>
                        </m:r>
                      </m:e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𝜔</m:t>
                        </m:r>
                      </m:e>
                      <m:e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𝑀</m:t>
                            </m:r>
                          </m:e>
                          <m:sub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Propagate mean anomaly: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</m:t>
                          </m:r>
                        </m:e>
                        <m: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𝑛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Solve Kepler’s equation</a:t>
                </a:r>
              </a:p>
              <a:p>
                <a:r>
                  <a:rPr lang="en-US" dirty="0"/>
                  <a:t>Recover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𝜈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Compute </a:t>
                </a:r>
                <a14:m>
                  <m:oMath xmlns:m="http://schemas.openxmlformats.org/officeDocument/2006/math">
                    <m:r>
                      <a:rPr lang="en-US" sz="1200" b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𝐫</m:t>
                    </m:r>
                    <m:d>
                      <m:dPr>
                        <m:ctrlPr>
                          <a:rPr lang="ar-AE" sz="1200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ar-AE" sz="1200" b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𝐯</m:t>
                    </m:r>
                    <m:d>
                      <m:dPr>
                        <m:ctrlPr>
                          <a:rPr lang="ar-AE" sz="1200" b="1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analytically</a:t>
                </a:r>
              </a:p>
              <a:p>
                <a:r>
                  <a:rPr lang="en-US" dirty="0"/>
                  <a:t>This yields an </a:t>
                </a:r>
                <a:r>
                  <a:rPr lang="en-US" b="1" dirty="0"/>
                  <a:t>exact state transition</a:t>
                </a:r>
                <a:r>
                  <a:rPr lang="en-US" dirty="0"/>
                  <a:t>, often written 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𝐱</m:t>
                      </m:r>
                      <m:d>
                        <m:dPr>
                          <m:ctrlPr>
                            <a:rPr lang="ar-AE" sz="1200" b="1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Kepler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b="1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ar-AE" sz="1200" b="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endParaRPr lang="en-US" b="1" dirty="0"/>
              </a:p>
              <a:p>
                <a:r>
                  <a:rPr lang="en-US" b="1" dirty="0"/>
                  <a:t>7. Relationship to the State Transition Matrix (STM)</a:t>
                </a:r>
              </a:p>
              <a:p>
                <a:r>
                  <a:rPr lang="en-US" dirty="0"/>
                  <a:t>Although the </a:t>
                </a:r>
                <a:r>
                  <a:rPr lang="en-US" b="1" dirty="0"/>
                  <a:t>state solution is closed-form</a:t>
                </a:r>
                <a:r>
                  <a:rPr lang="en-US" dirty="0"/>
                  <a:t>, the </a:t>
                </a:r>
                <a:r>
                  <a:rPr lang="en-US" b="1" dirty="0"/>
                  <a:t>STM</a:t>
                </a:r>
                <a:r>
                  <a:rPr lang="en-US" dirty="0"/>
                  <a:t> is also analytically derivable (via Lagrange coefficients):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𝐫</m:t>
                      </m:r>
                      <m:d>
                        <m:dPr>
                          <m:ctrlPr>
                            <a:rPr lang="ar-AE" sz="1200" b="1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1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𝐫</m:t>
                          </m:r>
                        </m:e>
                        <m:sub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𝑔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1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𝐯</m:t>
                          </m:r>
                        </m:e>
                        <m:sub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ar-AE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𝐯</m:t>
                      </m:r>
                      <m:d>
                        <m:dPr>
                          <m:ctrlPr>
                            <a:rPr lang="ar-AE" sz="1200" b="1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</m:acc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1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𝐫</m:t>
                          </m:r>
                        </m:e>
                        <m:sub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e>
                      </m:acc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1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𝐯</m:t>
                          </m:r>
                        </m:e>
                        <m:sub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𝑔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acc>
                      <m:accPr>
                        <m:chr m:val="̇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</m:e>
                    </m:acc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acc>
                      <m:accPr>
                        <m:chr m:val="̇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𝑔</m:t>
                        </m:r>
                      </m:e>
                    </m:acc>
                  </m:oMath>
                </a14:m>
                <a:r>
                  <a:rPr lang="en-US" dirty="0"/>
                  <a:t>are exact scalar functions of time and orbital elements.</a:t>
                </a:r>
              </a:p>
              <a:p>
                <a:r>
                  <a:rPr lang="en-US" dirty="0"/>
                  <a:t>This is why R2BEOM is foundational for:</a:t>
                </a:r>
              </a:p>
              <a:p>
                <a:r>
                  <a:rPr lang="en-US" dirty="0"/>
                  <a:t>Lambert solvers</a:t>
                </a:r>
              </a:p>
              <a:p>
                <a:r>
                  <a:rPr lang="en-US" dirty="0"/>
                  <a:t>Orbit determination</a:t>
                </a:r>
              </a:p>
              <a:p>
                <a:r>
                  <a:rPr lang="en-US" dirty="0"/>
                  <a:t>EKF / UKF linearization baselines</a:t>
                </a:r>
              </a:p>
              <a:p>
                <a:r>
                  <a:rPr lang="en-US" dirty="0"/>
                  <a:t>Relative motion derivations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8. Key Limitations of the Closed-Form Solution</a:t>
                </a:r>
              </a:p>
              <a:p>
                <a:r>
                  <a:rPr lang="en-US" dirty="0"/>
                  <a:t>The closed-form solution </a:t>
                </a:r>
                <a:r>
                  <a:rPr lang="en-US" b="1" dirty="0"/>
                  <a:t>fails immediately</a:t>
                </a:r>
                <a:r>
                  <a:rPr lang="en-US" dirty="0"/>
                  <a:t> when:</a:t>
                </a:r>
              </a:p>
              <a:p>
                <a:r>
                  <a:rPr lang="en-US" dirty="0"/>
                  <a:t>Non-central forces exist (J2, drag, thrust)</a:t>
                </a:r>
              </a:p>
              <a:p>
                <a:r>
                  <a:rPr lang="en-US" dirty="0"/>
                  <a:t>Central body is non-spherical</a:t>
                </a:r>
              </a:p>
              <a:p>
                <a:r>
                  <a:rPr lang="en-US" dirty="0"/>
                  <a:t>Third-body gravity is included</a:t>
                </a:r>
              </a:p>
              <a:p>
                <a:r>
                  <a:rPr lang="en-US" dirty="0"/>
                  <a:t>Time-varying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𝜇</m:t>
                    </m:r>
                  </m:oMath>
                </a14:m>
                <a:r>
                  <a:rPr lang="en-US" dirty="0"/>
                  <a:t>or thrust acceleration is present</a:t>
                </a:r>
              </a:p>
              <a:p>
                <a:r>
                  <a:rPr lang="en-US" dirty="0"/>
                  <a:t>In those cases, </a:t>
                </a:r>
                <a:r>
                  <a:rPr lang="en-US" b="1" dirty="0"/>
                  <a:t>numerical integration or perturbation theory</a:t>
                </a:r>
                <a:r>
                  <a:rPr lang="en-US" dirty="0"/>
                  <a:t> is required.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9. Why R2BEOM Matters Pedagogically</a:t>
                </a:r>
              </a:p>
              <a:p>
                <a:r>
                  <a:rPr lang="en-US" dirty="0"/>
                  <a:t>The R2BEOM is unique because it is:</a:t>
                </a:r>
              </a:p>
              <a:p>
                <a:r>
                  <a:rPr lang="en-US" dirty="0"/>
                  <a:t>Nonlinear</a:t>
                </a:r>
              </a:p>
              <a:p>
                <a:r>
                  <a:rPr lang="en-US" dirty="0"/>
                  <a:t>Yet exactly integrable</a:t>
                </a:r>
              </a:p>
              <a:p>
                <a:r>
                  <a:rPr lang="en-US" dirty="0"/>
                  <a:t>With explicit constants of motion</a:t>
                </a:r>
              </a:p>
              <a:p>
                <a:r>
                  <a:rPr lang="en-US" dirty="0"/>
                  <a:t>And analytic time propagation</a:t>
                </a:r>
              </a:p>
              <a:p>
                <a:r>
                  <a:rPr lang="en-US" dirty="0"/>
                  <a:t>This makes it the </a:t>
                </a:r>
                <a:r>
                  <a:rPr lang="en-US" b="1" dirty="0"/>
                  <a:t>benchmark model</a:t>
                </a:r>
                <a:r>
                  <a:rPr lang="en-US" dirty="0"/>
                  <a:t> against which all real-world orbital dynamics are measured.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Summary Statement</a:t>
                </a:r>
              </a:p>
              <a:p>
                <a:r>
                  <a:rPr lang="en-US" dirty="0"/>
                  <a:t>The restricted two-body equations of motion admit a complete closed-form solution because the inverse-square gravitational force yields conserved energy, angular momentum, and eccentricity, reducing the dynamics to conic-section motion with analytically expressible time evolution via Kepler’s equation.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Problem Definition: R2BEOM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restricted two-body problem</a:t>
                </a:r>
                <a:r>
                  <a:rPr lang="en-US" dirty="0"/>
                  <a:t> assumes:</a:t>
                </a:r>
              </a:p>
              <a:p>
                <a:r>
                  <a:rPr lang="en-US" dirty="0"/>
                  <a:t>Two bodies interact only via Newtonian gravity</a:t>
                </a:r>
              </a:p>
              <a:p>
                <a:r>
                  <a:rPr lang="en-US" dirty="0"/>
                  <a:t>One body has negligible mass (spacecraft)</a:t>
                </a:r>
              </a:p>
              <a:p>
                <a:r>
                  <a:rPr lang="en-US" dirty="0"/>
                  <a:t>The central body is spherically symmetric</a:t>
                </a:r>
              </a:p>
              <a:p>
                <a:r>
                  <a:rPr lang="en-US" dirty="0"/>
                  <a:t>No perturbations (drag, J2, SRP, third bodies, thrust)</a:t>
                </a:r>
              </a:p>
              <a:p>
                <a:r>
                  <a:rPr lang="en-US" dirty="0"/>
                  <a:t>The equation of motion is</a:t>
                </a:r>
              </a:p>
              <a:p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 ̈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=−𝜇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𝐫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/𝑟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3 </a:t>
                </a:r>
                <a:endParaRPr lang="ar-AE" b="0" dirty="0"/>
              </a:p>
              <a:p>
                <a:r>
                  <a:rPr lang="en-US" dirty="0"/>
                  <a:t>where</a:t>
                </a:r>
                <a:br>
                  <a:rPr lang="en-US" dirty="0"/>
                </a:br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∈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ℝ^3</a:t>
                </a:r>
                <a:r>
                  <a:rPr lang="en-US" dirty="0"/>
                  <a:t>is the position vector and</a:t>
                </a:r>
                <a:br>
                  <a:rPr lang="en-US" dirty="0"/>
                </a:b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𝜇=𝐺𝑀</a:t>
                </a:r>
                <a:r>
                  <a:rPr lang="en-US" dirty="0"/>
                  <a:t>is the gravitational parameter of the central body.</a:t>
                </a:r>
              </a:p>
              <a:p>
                <a:r>
                  <a:rPr lang="en-US" dirty="0"/>
                  <a:t>This is a </a:t>
                </a:r>
                <a:r>
                  <a:rPr lang="en-US" b="1" dirty="0"/>
                  <a:t>second-order, nonlinear, autonomous ODE</a:t>
                </a:r>
                <a:r>
                  <a:rPr lang="en-US" dirty="0"/>
                  <a:t>, but it is </a:t>
                </a:r>
                <a:r>
                  <a:rPr lang="en-US" b="1" dirty="0"/>
                  <a:t>fully integrable</a:t>
                </a:r>
                <a:r>
                  <a:rPr lang="en-US" dirty="0"/>
                  <a:t>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2. Why a Closed-Form Solution Exists</a:t>
                </a:r>
              </a:p>
              <a:p>
                <a:r>
                  <a:rPr lang="en-US" dirty="0"/>
                  <a:t>The R2BEOM admits a closed-form solution because:</a:t>
                </a:r>
              </a:p>
              <a:p>
                <a:r>
                  <a:rPr lang="en-US" b="1" dirty="0"/>
                  <a:t>Central force field</a:t>
                </a:r>
                <a:r>
                  <a:rPr lang="en-US" dirty="0"/>
                  <a:t> → angular momentum is conserved</a:t>
                </a:r>
              </a:p>
              <a:p>
                <a:r>
                  <a:rPr lang="en-US" b="1" dirty="0"/>
                  <a:t>Time-invariant potential</a:t>
                </a:r>
                <a:r>
                  <a:rPr lang="en-US" dirty="0"/>
                  <a:t> → mechanical energy is conserved</a:t>
                </a:r>
              </a:p>
              <a:p>
                <a:r>
                  <a:rPr lang="en-US" dirty="0"/>
                  <a:t>The force is </a:t>
                </a:r>
                <a:r>
                  <a:rPr lang="en-US" b="1" dirty="0"/>
                  <a:t>inverse-square</a:t>
                </a:r>
                <a:r>
                  <a:rPr lang="en-US" dirty="0"/>
                  <a:t>, which leads to conic-section trajectories</a:t>
                </a:r>
              </a:p>
              <a:p>
                <a:r>
                  <a:rPr lang="en-US" dirty="0"/>
                  <a:t>As a result, the motion reduces to a </a:t>
                </a:r>
                <a:r>
                  <a:rPr lang="en-US" b="1" dirty="0"/>
                  <a:t>planar problem</a:t>
                </a:r>
                <a:r>
                  <a:rPr lang="en-US" dirty="0"/>
                  <a:t>, and the trajectory is a </a:t>
                </a:r>
                <a:r>
                  <a:rPr lang="en-US" b="1" dirty="0"/>
                  <a:t>conic section</a:t>
                </a:r>
                <a:r>
                  <a:rPr lang="en-US" dirty="0"/>
                  <a:t> (ellipse, parabola, or hyperbola).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3. First Integrals of Motion</a:t>
                </a:r>
              </a:p>
              <a:p>
                <a:r>
                  <a:rPr lang="en-US" b="1" dirty="0"/>
                  <a:t>Angular Momentum</a:t>
                </a:r>
              </a:p>
              <a:p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𝐡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×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 ̇,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𝐡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 ̇=0</a:t>
                </a:r>
                <a:endParaRPr lang="ar-AE" b="0" dirty="0"/>
              </a:p>
              <a:p>
                <a:r>
                  <a:rPr lang="en-US" dirty="0"/>
                  <a:t>This fixes the orbital plane.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Specific Mechanical Energy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ℰ=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𝑣^2/2−𝜇/𝑟</a:t>
                </a:r>
                <a:endParaRPr lang="ar-AE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ℰ&lt;0</a:t>
                </a:r>
                <a:r>
                  <a:rPr lang="ar-AE" dirty="0"/>
                  <a:t>: </a:t>
                </a:r>
                <a:r>
                  <a:rPr lang="en-US" dirty="0"/>
                  <a:t>ellipse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ℰ=0</a:t>
                </a:r>
                <a:r>
                  <a:rPr lang="en-US" dirty="0"/>
                  <a:t>: parabola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ℰ&gt;0</a:t>
                </a:r>
                <a:r>
                  <a:rPr lang="en-US" dirty="0"/>
                  <a:t>: hyperbola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Eccentricity Vector</a:t>
                </a:r>
              </a:p>
              <a:p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𝐞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1/𝜇 (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 ̇×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𝐡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)−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/𝑟</a:t>
                </a:r>
                <a:endParaRPr lang="ar-AE" b="0" dirty="0"/>
              </a:p>
              <a:p>
                <a:r>
                  <a:rPr lang="en-US" dirty="0"/>
                  <a:t>Magnitude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𝑒=∥</a:t>
                </a:r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𝐞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∥</a:t>
                </a:r>
                <a:r>
                  <a:rPr lang="en-US" dirty="0"/>
                  <a:t>determines orbit shape</a:t>
                </a:r>
              </a:p>
              <a:p>
                <a:r>
                  <a:rPr lang="en-US" dirty="0"/>
                  <a:t>Direction points toward periapsis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4. Closed-Form Spatial Solution (Orbit Geometry)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trajectory equation</a:t>
                </a:r>
                <a:r>
                  <a:rPr lang="en-US" dirty="0"/>
                  <a:t> in polar coordinates is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(𝜈)=𝑝/(1+𝑒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cos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⁡𝜈 )</a:t>
                </a:r>
                <a:endParaRPr lang="ar-AE" dirty="0"/>
              </a:p>
              <a:p>
                <a:r>
                  <a:rPr lang="en-US" dirty="0"/>
                  <a:t>where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𝜈</a:t>
                </a:r>
                <a:r>
                  <a:rPr lang="en-US" dirty="0"/>
                  <a:t>= true anomaly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ℎ^2/𝜇</a:t>
                </a:r>
                <a:r>
                  <a:rPr lang="ar-AE" dirty="0"/>
                  <a:t>= </a:t>
                </a:r>
                <a:r>
                  <a:rPr lang="en-US" dirty="0"/>
                  <a:t>semi-latus rectum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en-US" dirty="0"/>
                  <a:t>= eccentricity</a:t>
                </a:r>
              </a:p>
              <a:p>
                <a:r>
                  <a:rPr lang="en-US" dirty="0"/>
                  <a:t>This is an </a:t>
                </a:r>
                <a:r>
                  <a:rPr lang="en-US" b="1" dirty="0"/>
                  <a:t>exact, closed-form solution in space</a:t>
                </a:r>
                <a:r>
                  <a:rPr lang="en-US" dirty="0"/>
                  <a:t>, independent of time.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5. Time Parameterization (Kepler’s Equation)</a:t>
                </a:r>
              </a:p>
              <a:p>
                <a:r>
                  <a:rPr lang="en-US" dirty="0"/>
                  <a:t>The remaining challenge is relating </a:t>
                </a:r>
                <a:r>
                  <a:rPr lang="en-US" b="1" dirty="0"/>
                  <a:t>time</a:t>
                </a:r>
                <a:r>
                  <a:rPr lang="en-US" dirty="0"/>
                  <a:t> to </a:t>
                </a:r>
                <a:r>
                  <a:rPr lang="en-US" b="1" dirty="0"/>
                  <a:t>position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Elliptic Orbits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0≤𝑒&lt;1</a:t>
                </a:r>
                <a:r>
                  <a:rPr lang="en-US" b="1" dirty="0"/>
                  <a:t>)</a:t>
                </a:r>
              </a:p>
              <a:p>
                <a:r>
                  <a:rPr lang="en-US" dirty="0"/>
                  <a:t>Introduce </a:t>
                </a:r>
                <a:r>
                  <a:rPr lang="en-US" b="1" dirty="0"/>
                  <a:t>eccentric anomaly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</a:t>
                </a:r>
                <a:r>
                  <a:rPr lang="en-US" dirty="0"/>
                  <a:t>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𝑟=𝑎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(1−𝑒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cos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⁡𝐸 )</a:t>
                </a:r>
                <a:endParaRPr lang="ar-AE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𝑀=𝐸−𝑒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sin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⁡𝐸</a:t>
                </a:r>
                <a:endParaRPr lang="ar-AE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𝑀=𝑛(𝑡−𝑡_0 ), 𝑛=√(𝜇/𝑎^3 )</a:t>
                </a:r>
                <a:endParaRPr lang="ar-AE" dirty="0"/>
              </a:p>
              <a:p>
                <a:r>
                  <a:rPr lang="en-US" dirty="0"/>
                  <a:t>This transcendental equation (</a:t>
                </a:r>
                <a:r>
                  <a:rPr lang="en-US" b="1" dirty="0"/>
                  <a:t>Kepler’s Equation</a:t>
                </a:r>
                <a:r>
                  <a:rPr lang="en-US" dirty="0"/>
                  <a:t>) must be solved numerically, but:</a:t>
                </a:r>
              </a:p>
              <a:p>
                <a:r>
                  <a:rPr lang="en-US" dirty="0"/>
                  <a:t>The formulation itself is </a:t>
                </a:r>
                <a:r>
                  <a:rPr lang="en-US" b="1" dirty="0"/>
                  <a:t>closed-form</a:t>
                </a:r>
                <a:endParaRPr lang="en-US" dirty="0"/>
              </a:p>
              <a:p>
                <a:r>
                  <a:rPr lang="en-US" dirty="0"/>
                  <a:t>Only a scalar root-solve is required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Hyperbolic Orbits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𝑒&gt;1</a:t>
                </a:r>
                <a:r>
                  <a:rPr lang="en-US" b="1" dirty="0"/>
                  <a:t>)</a:t>
                </a:r>
              </a:p>
              <a:p>
                <a:r>
                  <a:rPr lang="en-US" dirty="0"/>
                  <a:t>Using </a:t>
                </a:r>
                <a:r>
                  <a:rPr lang="en-US" b="1" dirty="0"/>
                  <a:t>hyperbolic anomaly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𝐻</a:t>
                </a:r>
                <a:r>
                  <a:rPr lang="en-US" dirty="0"/>
                  <a:t>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𝑟=𝑎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(𝑒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cosh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⁡𝐻−1)</a:t>
                </a:r>
                <a:endParaRPr lang="ar-AE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𝑀=𝑒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sinh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⁡𝐻−𝐻</a:t>
                </a:r>
                <a:endParaRPr lang="ar-AE" dirty="0"/>
              </a:p>
              <a:p>
                <a:br>
                  <a:rPr lang="ar-AE" dirty="0"/>
                </a:br>
                <a:endParaRPr lang="ar-AE" dirty="0"/>
              </a:p>
              <a:p>
                <a:r>
                  <a:rPr lang="en-US" b="1" dirty="0"/>
                  <a:t>Parabolic Orbits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𝑒=1</a:t>
                </a:r>
                <a:r>
                  <a:rPr lang="en-US" b="1" dirty="0"/>
                  <a:t>)</a:t>
                </a:r>
              </a:p>
              <a:p>
                <a:r>
                  <a:rPr lang="en-US" dirty="0"/>
                  <a:t>Using </a:t>
                </a:r>
                <a:r>
                  <a:rPr lang="en-US" b="1" dirty="0"/>
                  <a:t>Barker’s Equation</a:t>
                </a:r>
                <a:r>
                  <a:rPr lang="en-US" dirty="0"/>
                  <a:t>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𝑡−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𝑡_𝑝=√(𝑝^3/2𝜇) (𝐷+𝐷^3/3)</a:t>
                </a:r>
                <a:endParaRPr lang="ar-AE" dirty="0"/>
              </a:p>
              <a:p>
                <a:r>
                  <a:rPr lang="en-US" dirty="0"/>
                  <a:t>where 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6. State Vector Closed-Form Solution</a:t>
                </a:r>
              </a:p>
              <a:p>
                <a:r>
                  <a:rPr lang="en-US" dirty="0"/>
                  <a:t>Given an initial state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ⓜ,𝐯_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)</a:t>
                </a:r>
                <a:r>
                  <a:rPr lang="ar-AE" dirty="0"/>
                  <a:t>:</a:t>
                </a:r>
              </a:p>
              <a:p>
                <a:r>
                  <a:rPr lang="en-US" dirty="0"/>
                  <a:t>Compute orbital elements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(𝑎ⓜ,𝑒ⓜ,𝑖ⓜ,</a:t>
                </a:r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Ω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ⓜ,𝜔ⓜ,𝑀_0 )</a:t>
                </a:r>
                <a:endParaRPr lang="ar-AE" dirty="0"/>
              </a:p>
              <a:p>
                <a:r>
                  <a:rPr lang="en-US" dirty="0"/>
                  <a:t>Propagate mean anomaly: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(𝑡)=𝑀_0+𝑛(𝑡−𝑡_0 )</a:t>
                </a:r>
                <a:endParaRPr lang="ar-AE" dirty="0"/>
              </a:p>
              <a:p>
                <a:r>
                  <a:rPr lang="en-US" dirty="0"/>
                  <a:t>Solve Kepler’s equation</a:t>
                </a:r>
              </a:p>
              <a:p>
                <a:r>
                  <a:rPr lang="en-US" dirty="0"/>
                  <a:t>Recover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𝜈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</a:t>
                </a:r>
                <a:endParaRPr lang="ar-AE" dirty="0"/>
              </a:p>
              <a:p>
                <a:r>
                  <a:rPr lang="en-US" dirty="0"/>
                  <a:t>Compute </a:t>
                </a:r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ar-AE" dirty="0"/>
                  <a:t>,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𝐯(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en-US" dirty="0"/>
                  <a:t>analytically</a:t>
                </a:r>
              </a:p>
              <a:p>
                <a:r>
                  <a:rPr lang="en-US" dirty="0"/>
                  <a:t>This yields an </a:t>
                </a:r>
                <a:r>
                  <a:rPr lang="en-US" b="1" dirty="0"/>
                  <a:t>exact state transition</a:t>
                </a:r>
                <a:r>
                  <a:rPr lang="en-US" dirty="0"/>
                  <a:t>, often written as</a:t>
                </a:r>
              </a:p>
              <a:p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𝐱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=𝑓_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"Kepler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 (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𝐱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_0ⓜ,𝑡)</a:t>
                </a:r>
                <a:endParaRPr lang="ar-AE" b="0" dirty="0"/>
              </a:p>
              <a:p>
                <a:endParaRPr lang="en-US" b="1" dirty="0"/>
              </a:p>
              <a:p>
                <a:r>
                  <a:rPr lang="en-US" b="1" dirty="0"/>
                  <a:t>7. Relationship to the State Transition Matrix (STM)</a:t>
                </a:r>
              </a:p>
              <a:p>
                <a:r>
                  <a:rPr lang="en-US" dirty="0"/>
                  <a:t>Although the </a:t>
                </a:r>
                <a:r>
                  <a:rPr lang="en-US" b="1" dirty="0"/>
                  <a:t>state solution is closed-form</a:t>
                </a:r>
                <a:r>
                  <a:rPr lang="en-US" dirty="0"/>
                  <a:t>, the </a:t>
                </a:r>
                <a:r>
                  <a:rPr lang="en-US" b="1" dirty="0"/>
                  <a:t>STM</a:t>
                </a:r>
                <a:r>
                  <a:rPr lang="en-US" dirty="0"/>
                  <a:t> is also analytically derivable (via Lagrange coefficients):</a:t>
                </a:r>
              </a:p>
              <a:p>
                <a:r>
                  <a:rPr 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=𝑓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_0+𝑔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𝐯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_0</a:t>
                </a:r>
                <a:endParaRPr lang="ar-AE" b="0" dirty="0"/>
              </a:p>
              <a:p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𝐯(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=𝑓 ̇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_0+𝑔 ̇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𝐯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_0</a:t>
                </a:r>
                <a:endParaRPr lang="ar-AE" b="0" dirty="0"/>
              </a:p>
              <a:p>
                <a:r>
                  <a:rPr lang="en-US" dirty="0"/>
                  <a:t>where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𝑓,𝑔,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 ̇,𝑔 ̇</a:t>
                </a:r>
                <a:r>
                  <a:rPr lang="en-US" dirty="0"/>
                  <a:t>are exact scalar functions of time and orbital elements.</a:t>
                </a:r>
              </a:p>
              <a:p>
                <a:r>
                  <a:rPr lang="en-US" dirty="0"/>
                  <a:t>This is why R2BEOM is foundational for:</a:t>
                </a:r>
              </a:p>
              <a:p>
                <a:r>
                  <a:rPr lang="en-US" dirty="0"/>
                  <a:t>Lambert solvers</a:t>
                </a:r>
              </a:p>
              <a:p>
                <a:r>
                  <a:rPr lang="en-US" dirty="0"/>
                  <a:t>Orbit determination</a:t>
                </a:r>
              </a:p>
              <a:p>
                <a:r>
                  <a:rPr lang="en-US" dirty="0"/>
                  <a:t>EKF / UKF linearization baselines</a:t>
                </a:r>
              </a:p>
              <a:p>
                <a:r>
                  <a:rPr lang="en-US" dirty="0"/>
                  <a:t>Relative motion derivations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8. Key Limitations of the Closed-Form Solution</a:t>
                </a:r>
              </a:p>
              <a:p>
                <a:r>
                  <a:rPr lang="en-US" dirty="0"/>
                  <a:t>The closed-form solution </a:t>
                </a:r>
                <a:r>
                  <a:rPr lang="en-US" b="1" dirty="0"/>
                  <a:t>fails immediately</a:t>
                </a:r>
                <a:r>
                  <a:rPr lang="en-US" dirty="0"/>
                  <a:t> when:</a:t>
                </a:r>
              </a:p>
              <a:p>
                <a:r>
                  <a:rPr lang="en-US" dirty="0"/>
                  <a:t>Non-central forces exist (J2, drag, thrust)</a:t>
                </a:r>
              </a:p>
              <a:p>
                <a:r>
                  <a:rPr lang="en-US" dirty="0"/>
                  <a:t>Central body is non-spherical</a:t>
                </a:r>
              </a:p>
              <a:p>
                <a:r>
                  <a:rPr lang="en-US" dirty="0"/>
                  <a:t>Third-body gravity is included</a:t>
                </a:r>
              </a:p>
              <a:p>
                <a:r>
                  <a:rPr lang="en-US" dirty="0"/>
                  <a:t>Time-varying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𝜇</a:t>
                </a:r>
                <a:r>
                  <a:rPr lang="en-US" dirty="0"/>
                  <a:t>or thrust acceleration is present</a:t>
                </a:r>
              </a:p>
              <a:p>
                <a:r>
                  <a:rPr lang="en-US" dirty="0"/>
                  <a:t>In those cases, </a:t>
                </a:r>
                <a:r>
                  <a:rPr lang="en-US" b="1" dirty="0"/>
                  <a:t>numerical integration or perturbation theory</a:t>
                </a:r>
                <a:r>
                  <a:rPr lang="en-US" dirty="0"/>
                  <a:t> is required.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9. Why R2BEOM Matters Pedagogically</a:t>
                </a:r>
              </a:p>
              <a:p>
                <a:r>
                  <a:rPr lang="en-US" dirty="0"/>
                  <a:t>The R2BEOM is unique because it is:</a:t>
                </a:r>
              </a:p>
              <a:p>
                <a:r>
                  <a:rPr lang="en-US" dirty="0"/>
                  <a:t>Nonlinear</a:t>
                </a:r>
              </a:p>
              <a:p>
                <a:r>
                  <a:rPr lang="en-US" dirty="0"/>
                  <a:t>Yet exactly integrable</a:t>
                </a:r>
              </a:p>
              <a:p>
                <a:r>
                  <a:rPr lang="en-US" dirty="0"/>
                  <a:t>With explicit constants of motion</a:t>
                </a:r>
              </a:p>
              <a:p>
                <a:r>
                  <a:rPr lang="en-US" dirty="0"/>
                  <a:t>And analytic time propagation</a:t>
                </a:r>
              </a:p>
              <a:p>
                <a:r>
                  <a:rPr lang="en-US" dirty="0"/>
                  <a:t>This makes it the </a:t>
                </a:r>
                <a:r>
                  <a:rPr lang="en-US" b="1" dirty="0"/>
                  <a:t>benchmark model</a:t>
                </a:r>
                <a:r>
                  <a:rPr lang="en-US" dirty="0"/>
                  <a:t> against which all real-world orbital dynamics are measured.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Summary Statement</a:t>
                </a:r>
              </a:p>
              <a:p>
                <a:r>
                  <a:rPr lang="en-US" dirty="0"/>
                  <a:t>The restricted two-body equations of motion admit a complete closed-form solution because the inverse-square gravitational force yields conserved energy, angular momentum, and eccentricity, reducing the dynamics to conic-section motion with analytically expressible time evolution via Kepler’s equation.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6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different orbits needed at different times during mission lifetime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Parking orbit: safe &amp; convenient temporary orbit for S/C checkout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 orbit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orbit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earth-based: coverage of Earth’s surface or near-Earth space (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GEO, LEO.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space-referenced: principal characteristic is a specific location in space (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Lagrange points)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Disposal orbit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91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drag equation, the density term is the hardest term to compute because it has several things that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drive its value: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Diurnal Variations (day/night)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27-day solar rotation cycle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11-year Sun spot cycles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Semi-annual variations (Sun latitude and distance)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Rotating Atmosphere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Winds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Magnetic- storms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Tides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Others…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44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Walker Delta (Walker Constellations)</a:t>
            </a:r>
          </a:p>
          <a:p>
            <a:r>
              <a:rPr lang="en-US" b="1" dirty="0"/>
              <a:t>Structure:</a:t>
            </a:r>
            <a:r>
              <a:rPr lang="en-US" dirty="0"/>
              <a:t> Satellites arranged evenly in multiple orbital planes with equal inclination.</a:t>
            </a:r>
          </a:p>
          <a:p>
            <a:r>
              <a:rPr lang="en-US" b="1" dirty="0"/>
              <a:t>Parameters:</a:t>
            </a:r>
            <a:r>
              <a:rPr lang="en-US" dirty="0"/>
              <a:t> Defined by the Walker notation i: t/p/f</a:t>
            </a:r>
          </a:p>
          <a:p>
            <a:pPr lvl="1"/>
            <a:r>
              <a:rPr lang="en-US" dirty="0"/>
              <a:t>i = inclination</a:t>
            </a:r>
          </a:p>
          <a:p>
            <a:pPr lvl="1"/>
            <a:r>
              <a:rPr lang="en-US" dirty="0"/>
              <a:t>t = total satellites</a:t>
            </a:r>
          </a:p>
          <a:p>
            <a:pPr lvl="1"/>
            <a:r>
              <a:rPr lang="en-US" dirty="0"/>
              <a:t>p = number of orbital planes</a:t>
            </a:r>
          </a:p>
          <a:p>
            <a:pPr lvl="1"/>
            <a:r>
              <a:rPr lang="en-US" dirty="0"/>
              <a:t>f = phasing factor</a:t>
            </a:r>
          </a:p>
          <a:p>
            <a:r>
              <a:rPr lang="en-US" b="1" dirty="0"/>
              <a:t>Uses:</a:t>
            </a:r>
            <a:r>
              <a:rPr lang="en-US" dirty="0"/>
              <a:t> GNSS (GPS, Galileo), some Earth observation systems.</a:t>
            </a:r>
          </a:p>
          <a:p>
            <a:r>
              <a:rPr lang="en-US" b="1" dirty="0"/>
              <a:t>Example:</a:t>
            </a:r>
            <a:r>
              <a:rPr lang="en-US" dirty="0"/>
              <a:t> Galileo (24 satellites, 3 planes, 56° inclination).</a:t>
            </a:r>
          </a:p>
          <a:p>
            <a:r>
              <a:rPr lang="en-US" b="1" dirty="0"/>
              <a:t>Advantages:</a:t>
            </a:r>
            <a:r>
              <a:rPr lang="en-US" dirty="0"/>
              <a:t> Uniform global coverage, predictable geometry.</a:t>
            </a:r>
          </a:p>
          <a:p>
            <a:r>
              <a:rPr lang="en-US" b="1" dirty="0"/>
              <a:t>2. Polar Constellations</a:t>
            </a:r>
          </a:p>
          <a:p>
            <a:r>
              <a:rPr lang="en-US" b="1" dirty="0"/>
              <a:t>Structure:</a:t>
            </a:r>
            <a:r>
              <a:rPr lang="en-US" dirty="0"/>
              <a:t> Orbits pass over or near both poles (90° inclination).</a:t>
            </a:r>
          </a:p>
          <a:p>
            <a:r>
              <a:rPr lang="en-US" b="1" dirty="0"/>
              <a:t>Coverage:</a:t>
            </a:r>
            <a:r>
              <a:rPr lang="en-US" dirty="0"/>
              <a:t> Global coverage as Earth rotates beneath the satellites.</a:t>
            </a:r>
          </a:p>
          <a:p>
            <a:r>
              <a:rPr lang="en-US" b="1" dirty="0"/>
              <a:t>Uses:</a:t>
            </a:r>
            <a:r>
              <a:rPr lang="en-US" dirty="0"/>
              <a:t> Earth observation, weather monitoring, reconnaissance.</a:t>
            </a:r>
          </a:p>
          <a:p>
            <a:r>
              <a:rPr lang="en-US" b="1" dirty="0"/>
              <a:t>Example:</a:t>
            </a:r>
            <a:r>
              <a:rPr lang="en-US" dirty="0"/>
              <a:t> NOAA POES satellites, RADARSAT.</a:t>
            </a:r>
          </a:p>
          <a:p>
            <a:r>
              <a:rPr lang="en-US" b="1" dirty="0"/>
              <a:t>Advantages:</a:t>
            </a:r>
            <a:r>
              <a:rPr lang="en-US" dirty="0"/>
              <a:t> Full Earth coverage with fewer satellites than equatorial orbits.</a:t>
            </a:r>
          </a:p>
          <a:p>
            <a:r>
              <a:rPr lang="en-US" b="1" dirty="0"/>
              <a:t>3. Sun-Synchronous Constellations</a:t>
            </a:r>
          </a:p>
          <a:p>
            <a:r>
              <a:rPr lang="en-US" b="1" dirty="0"/>
              <a:t>Structure:</a:t>
            </a:r>
            <a:r>
              <a:rPr lang="en-US" dirty="0"/>
              <a:t> Special polar orbit where the </a:t>
            </a:r>
            <a:r>
              <a:rPr lang="en-US" b="1" dirty="0"/>
              <a:t>orbital plane </a:t>
            </a:r>
            <a:r>
              <a:rPr lang="en-US" b="1" dirty="0" err="1"/>
              <a:t>precesses</a:t>
            </a:r>
            <a:r>
              <a:rPr lang="en-US" dirty="0"/>
              <a:t> at the same rate the Earth orbits the Sun.</a:t>
            </a:r>
          </a:p>
          <a:p>
            <a:r>
              <a:rPr lang="en-US" b="1" dirty="0"/>
              <a:t>Benefit:</a:t>
            </a:r>
            <a:r>
              <a:rPr lang="en-US" dirty="0"/>
              <a:t> Passes over each point on Earth at the same </a:t>
            </a:r>
            <a:r>
              <a:rPr lang="en-US" b="1" dirty="0"/>
              <a:t>local solar time</a:t>
            </a:r>
            <a:r>
              <a:rPr lang="en-US" dirty="0"/>
              <a:t> → consistent lighting for imaging.</a:t>
            </a:r>
          </a:p>
          <a:p>
            <a:r>
              <a:rPr lang="en-US" b="1" dirty="0"/>
              <a:t>Uses:</a:t>
            </a:r>
            <a:r>
              <a:rPr lang="en-US" dirty="0"/>
              <a:t> Imaging, mapping, climate monitoring.</a:t>
            </a:r>
          </a:p>
          <a:p>
            <a:r>
              <a:rPr lang="en-US" b="1" dirty="0"/>
              <a:t>Example:</a:t>
            </a:r>
            <a:r>
              <a:rPr lang="en-US" dirty="0"/>
              <a:t> Landsat, Sentinel-2.</a:t>
            </a:r>
          </a:p>
          <a:p>
            <a:r>
              <a:rPr lang="en-US" b="1" dirty="0"/>
              <a:t>Advantages:</a:t>
            </a:r>
            <a:r>
              <a:rPr lang="en-US" dirty="0"/>
              <a:t> Lighting consistency for long-term data comparison.</a:t>
            </a:r>
          </a:p>
          <a:p>
            <a:r>
              <a:rPr lang="en-US" b="1" dirty="0"/>
              <a:t>4. </a:t>
            </a:r>
            <a:r>
              <a:rPr lang="en-US" b="1" dirty="0" err="1"/>
              <a:t>Molniya</a:t>
            </a:r>
            <a:r>
              <a:rPr lang="en-US" b="1" dirty="0"/>
              <a:t> Constellations</a:t>
            </a:r>
          </a:p>
          <a:p>
            <a:r>
              <a:rPr lang="en-US" b="1" dirty="0"/>
              <a:t>Structure:</a:t>
            </a:r>
            <a:r>
              <a:rPr lang="en-US" dirty="0"/>
              <a:t> Highly elliptical orbits (HEO) with apogee over high latitudes.</a:t>
            </a:r>
          </a:p>
          <a:p>
            <a:r>
              <a:rPr lang="en-US" b="1" dirty="0"/>
              <a:t>Coverage:</a:t>
            </a:r>
            <a:r>
              <a:rPr lang="en-US" dirty="0"/>
              <a:t> Long dwell time over northern regions; suited for countries at high latitudes.</a:t>
            </a:r>
          </a:p>
          <a:p>
            <a:r>
              <a:rPr lang="en-US" b="1" dirty="0"/>
              <a:t>Uses:</a:t>
            </a:r>
            <a:r>
              <a:rPr lang="en-US" dirty="0"/>
              <a:t> Communications for high-latitude countries.</a:t>
            </a:r>
          </a:p>
          <a:p>
            <a:r>
              <a:rPr lang="en-US" b="1" dirty="0"/>
              <a:t>Example:</a:t>
            </a:r>
            <a:r>
              <a:rPr lang="en-US" dirty="0"/>
              <a:t> Russian </a:t>
            </a:r>
            <a:r>
              <a:rPr lang="en-US" dirty="0" err="1"/>
              <a:t>Molniya</a:t>
            </a:r>
            <a:r>
              <a:rPr lang="en-US" dirty="0"/>
              <a:t> network.</a:t>
            </a:r>
          </a:p>
          <a:p>
            <a:r>
              <a:rPr lang="en-US" b="1" dirty="0"/>
              <a:t>Advantages:</a:t>
            </a:r>
            <a:r>
              <a:rPr lang="en-US" dirty="0"/>
              <a:t> Better coverage for polar regions than GEO satellites.</a:t>
            </a:r>
          </a:p>
          <a:p>
            <a:r>
              <a:rPr lang="en-US" b="1" dirty="0"/>
              <a:t>5. Geostationary (GEO) Constellations</a:t>
            </a:r>
          </a:p>
          <a:p>
            <a:r>
              <a:rPr lang="en-US" b="1" dirty="0"/>
              <a:t>Structure:</a:t>
            </a:r>
            <a:r>
              <a:rPr lang="en-US" dirty="0"/>
              <a:t> Satellites placed in equatorial circular orbit at ~35,786 km altitude, matching Earth’s rotation.</a:t>
            </a:r>
          </a:p>
          <a:p>
            <a:r>
              <a:rPr lang="en-US" b="1" dirty="0"/>
              <a:t>Coverage:</a:t>
            </a:r>
            <a:r>
              <a:rPr lang="en-US" dirty="0"/>
              <a:t> Fixed coverage over one hemisphere.</a:t>
            </a:r>
          </a:p>
          <a:p>
            <a:r>
              <a:rPr lang="en-US" b="1" dirty="0"/>
              <a:t>Uses:</a:t>
            </a:r>
            <a:r>
              <a:rPr lang="en-US" dirty="0"/>
              <a:t> Communications, weather monitoring.</a:t>
            </a:r>
          </a:p>
          <a:p>
            <a:r>
              <a:rPr lang="en-US" b="1" dirty="0"/>
              <a:t>Example:</a:t>
            </a:r>
            <a:r>
              <a:rPr lang="en-US" dirty="0"/>
              <a:t> GOES weather satellites, Inmarsat.</a:t>
            </a:r>
          </a:p>
          <a:p>
            <a:r>
              <a:rPr lang="en-US" b="1" dirty="0"/>
              <a:t>Advantages:</a:t>
            </a:r>
            <a:r>
              <a:rPr lang="en-US" dirty="0"/>
              <a:t> Continuous coverage of a region, no ground antenna tracking needed.</a:t>
            </a:r>
          </a:p>
          <a:p>
            <a:r>
              <a:rPr lang="en-US" b="1" dirty="0"/>
              <a:t>6. Mega-Constellations</a:t>
            </a:r>
          </a:p>
          <a:p>
            <a:r>
              <a:rPr lang="en-US" b="1" dirty="0"/>
              <a:t>Structure:</a:t>
            </a:r>
            <a:r>
              <a:rPr lang="en-US" dirty="0"/>
              <a:t> Hundreds or thousands of satellites in LEO or MEO.</a:t>
            </a:r>
          </a:p>
          <a:p>
            <a:r>
              <a:rPr lang="en-US" b="1" dirty="0"/>
              <a:t>Uses:</a:t>
            </a:r>
            <a:r>
              <a:rPr lang="en-US" dirty="0"/>
              <a:t> Broadband internet, high-frequency Earth observation.</a:t>
            </a:r>
          </a:p>
          <a:p>
            <a:r>
              <a:rPr lang="en-US" b="1" dirty="0"/>
              <a:t>Example:</a:t>
            </a:r>
            <a:r>
              <a:rPr lang="en-US" dirty="0"/>
              <a:t> Starlink, OneWeb, Kuiper.</a:t>
            </a:r>
          </a:p>
          <a:p>
            <a:r>
              <a:rPr lang="en-US" b="1" dirty="0"/>
              <a:t>Advantages:</a:t>
            </a:r>
            <a:r>
              <a:rPr lang="en-US" dirty="0"/>
              <a:t> Low latency, high capacity, global reach.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25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The F Parameter in a Walker </a:t>
                </a:r>
                <a:r>
                  <a:rPr lang="el-GR" b="1" dirty="0"/>
                  <a:t>Δ (</a:t>
                </a:r>
                <a:r>
                  <a:rPr lang="en-US" b="1" dirty="0"/>
                  <a:t>Delta) Constellation</a:t>
                </a:r>
              </a:p>
              <a:p>
                <a:r>
                  <a:rPr lang="en-US" dirty="0"/>
                  <a:t>In a Walker Delta constellation, </a:t>
                </a:r>
                <a:r>
                  <a:rPr lang="en-US" b="1" dirty="0"/>
                  <a:t>F defines how satellites in adjacent orbital planes are shifted along their orbits to evenly distribute access in time and minimize revisit gaps.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1. Walker </a:t>
                </a:r>
                <a:r>
                  <a:rPr lang="el-GR" b="1" dirty="0"/>
                  <a:t>Δ </a:t>
                </a:r>
                <a:r>
                  <a:rPr lang="en-US" b="1" dirty="0"/>
                  <a:t>Notation Refresher</a:t>
                </a:r>
              </a:p>
              <a:p>
                <a:r>
                  <a:rPr lang="en-US" dirty="0"/>
                  <a:t>A Walker Delta constellation is written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/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/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</m:t>
                    </m:r>
                  </m:oMath>
                </a14:m>
                <a:r>
                  <a:rPr lang="en-US" dirty="0"/>
                  <a:t>= total number of satellites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</m:oMath>
                </a14:m>
                <a:r>
                  <a:rPr lang="en-US" dirty="0"/>
                  <a:t>= number of equally spaced orbital planes</a:t>
                </a:r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</m:t>
                    </m:r>
                  </m:oMath>
                </a14:m>
                <a:r>
                  <a:rPr lang="en-US" dirty="0"/>
                  <a:t>= relative phasing parameter</a:t>
                </a:r>
              </a:p>
              <a:p>
                <a:r>
                  <a:rPr lang="en-US" dirty="0"/>
                  <a:t>Each plane contains: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den>
                      </m:f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satellites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per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plane</m:t>
                      </m:r>
                    </m:oMath>
                  </m:oMathPara>
                </a14:m>
                <a:endParaRPr lang="en-US" b="0" dirty="0"/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2. What F Physically Represents</a:t>
                </a:r>
              </a:p>
              <a:p>
                <a:r>
                  <a:rPr lang="en-US" b="1" dirty="0"/>
                  <a:t>F is an integer that sets the along-track offset between satellites in neighboring planes.</a:t>
                </a:r>
                <a:endParaRPr lang="en-US" dirty="0"/>
              </a:p>
              <a:p>
                <a:r>
                  <a:rPr lang="en-US" dirty="0"/>
                  <a:t>Specifically:</a:t>
                </a:r>
              </a:p>
              <a:p>
                <a:r>
                  <a:rPr lang="en-US" dirty="0"/>
                  <a:t>When moving from plane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</m:oMath>
                </a14:m>
                <a:r>
                  <a:rPr lang="en-US" dirty="0"/>
                  <a:t> to plane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𝑘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dirty="0"/>
                  <a:t>, the satellites are shifted forward in true anomaly (or mean anomaly) by: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r>
                        <a:rPr lang="el-GR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𝜈</m:t>
                      </m:r>
                      <m:r>
                        <a:rPr lang="el-GR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360</m:t>
                              </m:r>
                            </m:e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∘</m:t>
                              </m:r>
                            </m:sup>
                          </m:sSup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den>
                      </m:f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 </m:t>
                      </m:r>
                      <m:r>
                        <a:rPr lang="ar-AE" sz="1200" b="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This shift is applied </a:t>
                </a:r>
                <a:r>
                  <a:rPr lang="en-US" b="1" dirty="0"/>
                  <a:t>cumulatively</a:t>
                </a:r>
                <a:r>
                  <a:rPr lang="en-US" dirty="0"/>
                  <a:t> across planes.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3. Why Phasing Matters</a:t>
                </a:r>
              </a:p>
              <a:p>
                <a:r>
                  <a:rPr lang="en-US" dirty="0"/>
                  <a:t>Without proper phasing:</a:t>
                </a:r>
              </a:p>
              <a:p>
                <a:r>
                  <a:rPr lang="en-US" dirty="0"/>
                  <a:t>Satellites in different planes pass over the </a:t>
                </a:r>
                <a:r>
                  <a:rPr lang="en-US" b="1" dirty="0"/>
                  <a:t>same longitude at nearly the same time</a:t>
                </a:r>
                <a:endParaRPr lang="en-US" dirty="0"/>
              </a:p>
              <a:p>
                <a:r>
                  <a:rPr lang="en-US" dirty="0"/>
                  <a:t>This creates </a:t>
                </a:r>
                <a:r>
                  <a:rPr lang="en-US" b="1" dirty="0"/>
                  <a:t>coverage gaps</a:t>
                </a:r>
                <a:r>
                  <a:rPr lang="en-US" dirty="0"/>
                  <a:t>, clustering, or redundant passes</a:t>
                </a:r>
              </a:p>
              <a:p>
                <a:r>
                  <a:rPr lang="en-US" dirty="0"/>
                  <a:t>With proper F:</a:t>
                </a:r>
              </a:p>
              <a:p>
                <a:r>
                  <a:rPr lang="en-US" dirty="0"/>
                  <a:t>Satellites are </a:t>
                </a:r>
                <a:r>
                  <a:rPr lang="en-US" b="1" dirty="0"/>
                  <a:t>evenly interleaved in time</a:t>
                </a:r>
                <a:endParaRPr lang="en-US" dirty="0"/>
              </a:p>
              <a:p>
                <a:r>
                  <a:rPr lang="en-US" dirty="0"/>
                  <a:t>Ground tracks are </a:t>
                </a:r>
                <a:r>
                  <a:rPr lang="en-US" b="1" dirty="0"/>
                  <a:t>uniformly distributed</a:t>
                </a:r>
                <a:endParaRPr lang="en-US" dirty="0"/>
              </a:p>
              <a:p>
                <a:r>
                  <a:rPr lang="en-US" dirty="0"/>
                  <a:t>Revisit time is minimized</a:t>
                </a:r>
              </a:p>
              <a:p>
                <a:r>
                  <a:rPr lang="en-US" dirty="0"/>
                  <a:t>In other words:</a:t>
                </a:r>
              </a:p>
              <a:p>
                <a:r>
                  <a:rPr lang="en-US" b="1" dirty="0"/>
                  <a:t>F controls temporal spacing, not spatial spacing.</a:t>
                </a:r>
                <a:endParaRPr lang="en-US" dirty="0"/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4. Interpretation Through Extremes</a:t>
                </a:r>
              </a:p>
              <a:p>
                <a:r>
                  <a:rPr lang="en-US" b="1" dirty="0"/>
                  <a:t>Case 1: F = 0</a:t>
                </a:r>
              </a:p>
              <a:p>
                <a:r>
                  <a:rPr lang="en-US" dirty="0"/>
                  <a:t>All planes are aligned in phase</a:t>
                </a:r>
              </a:p>
              <a:p>
                <a:r>
                  <a:rPr lang="en-US" dirty="0"/>
                  <a:t>Satellites in different planes cross the equator at nearly the same longitude and time</a:t>
                </a:r>
              </a:p>
              <a:p>
                <a:r>
                  <a:rPr lang="en-US" b="1" dirty="0"/>
                  <a:t>Worst-case revisit performance</a:t>
                </a:r>
                <a:endParaRPr lang="en-US" dirty="0"/>
              </a:p>
              <a:p>
                <a:r>
                  <a:rPr lang="en-US" b="1" dirty="0"/>
                  <a:t>Case 2: F = 1</a:t>
                </a:r>
              </a:p>
              <a:p>
                <a:r>
                  <a:rPr lang="en-US" dirty="0"/>
                  <a:t>Each adjacent plane is offset by one satellite spacing</a:t>
                </a:r>
              </a:p>
              <a:p>
                <a:r>
                  <a:rPr lang="en-US" dirty="0"/>
                  <a:t>Produces uniform temporal coverage</a:t>
                </a:r>
              </a:p>
              <a:p>
                <a:r>
                  <a:rPr lang="en-US" dirty="0"/>
                  <a:t>Very common choice</a:t>
                </a:r>
              </a:p>
              <a:p>
                <a:r>
                  <a:rPr lang="en-US" b="1" dirty="0"/>
                  <a:t>Case 3: F = P − 1</a:t>
                </a:r>
              </a:p>
              <a:p>
                <a:r>
                  <a:rPr lang="en-US" dirty="0"/>
                  <a:t>Maximum relative shift before symmetry repeats</a:t>
                </a:r>
              </a:p>
              <a:p>
                <a:r>
                  <a:rPr lang="en-US" dirty="0"/>
                  <a:t>Often equivalent (by symmetry) to a smaller F value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5. Constraint on F</a:t>
                </a:r>
              </a:p>
              <a:p>
                <a:r>
                  <a:rPr lang="en-US" dirty="0"/>
                  <a:t>Because the constellation is symmetric: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Larger values simply repeat earlier patterns.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6. Engineering Meaning </a:t>
                </a:r>
              </a:p>
              <a:p>
                <a:r>
                  <a:rPr lang="en-US" dirty="0"/>
                  <a:t>A helpful analogy:</a:t>
                </a:r>
              </a:p>
              <a:p>
                <a:r>
                  <a:rPr lang="en-US" dirty="0"/>
                  <a:t>Think of each orbital plane as a </a:t>
                </a:r>
                <a:r>
                  <a:rPr lang="en-US" b="1" dirty="0"/>
                  <a:t>lane on a circular track</a:t>
                </a:r>
                <a:endParaRPr lang="en-US" dirty="0"/>
              </a:p>
              <a:p>
                <a:r>
                  <a:rPr lang="en-US" dirty="0"/>
                  <a:t>Satellites in one lane are evenly spaced</a:t>
                </a:r>
              </a:p>
              <a:p>
                <a:r>
                  <a:rPr lang="en-US" b="1" dirty="0"/>
                  <a:t>F tells you how far you rotate the starting position of each lane relative to the previous one</a:t>
                </a:r>
                <a:endParaRPr lang="en-US" dirty="0"/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7. Why Walker </a:t>
                </a:r>
                <a:r>
                  <a:rPr lang="el-GR" b="1" dirty="0"/>
                  <a:t>Δ </a:t>
                </a:r>
                <a:r>
                  <a:rPr lang="en-US" b="1" dirty="0"/>
                  <a:t>Uses an Integer F</a:t>
                </a:r>
              </a:p>
              <a:p>
                <a:r>
                  <a:rPr lang="en-US" dirty="0"/>
                  <a:t>Using integer phasing:</a:t>
                </a:r>
              </a:p>
              <a:p>
                <a:r>
                  <a:rPr lang="en-US" dirty="0"/>
                  <a:t>Preserves symmetry</a:t>
                </a:r>
              </a:p>
              <a:p>
                <a:r>
                  <a:rPr lang="en-US" dirty="0"/>
                  <a:t>Simplifies operations and station-keeping</a:t>
                </a:r>
              </a:p>
              <a:p>
                <a:r>
                  <a:rPr lang="en-US" dirty="0"/>
                  <a:t>Produces repeatable ground tracks</a:t>
                </a:r>
              </a:p>
              <a:p>
                <a:r>
                  <a:rPr lang="en-US" dirty="0"/>
                  <a:t>This is why Walker constellations are easy to scale and analyze.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The F Parameter in a Walker </a:t>
                </a:r>
                <a:r>
                  <a:rPr lang="el-GR" b="1" dirty="0"/>
                  <a:t>Δ (</a:t>
                </a:r>
                <a:r>
                  <a:rPr lang="en-US" b="1" dirty="0"/>
                  <a:t>Delta) Constellation</a:t>
                </a:r>
              </a:p>
              <a:p>
                <a:r>
                  <a:rPr lang="en-US" dirty="0"/>
                  <a:t>In a Walker Delta constellation, </a:t>
                </a:r>
                <a:r>
                  <a:rPr lang="en-US" b="1" dirty="0"/>
                  <a:t>F defines how satellites in adjacent orbital planes are shifted along their orbits to evenly distribute access in time and minimize revisit gaps.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1. Walker </a:t>
                </a:r>
                <a:r>
                  <a:rPr lang="el-GR" b="1" dirty="0"/>
                  <a:t>Δ </a:t>
                </a:r>
                <a:r>
                  <a:rPr lang="en-US" b="1" dirty="0"/>
                  <a:t>Notation Refresher</a:t>
                </a:r>
              </a:p>
              <a:p>
                <a:r>
                  <a:rPr lang="en-US" dirty="0"/>
                  <a:t>A Walker Delta constellation is written as: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𝑇/𝑃/𝐹</a:t>
                </a:r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</a:t>
                </a:r>
                <a:r>
                  <a:rPr lang="en-US" dirty="0"/>
                  <a:t>= total number of satellites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en-US" dirty="0"/>
                  <a:t>= number of equally spaced orbital planes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𝐹</a:t>
                </a:r>
                <a:r>
                  <a:rPr lang="en-US" dirty="0"/>
                  <a:t>= relative phasing parameter</a:t>
                </a:r>
              </a:p>
              <a:p>
                <a:r>
                  <a:rPr lang="en-US" dirty="0"/>
                  <a:t>Each plane contains: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𝑆=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𝑇/𝑃 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"satellites per plane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endParaRPr lang="en-US" b="0" dirty="0"/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2. What F Physically Represents</a:t>
                </a:r>
              </a:p>
              <a:p>
                <a:r>
                  <a:rPr lang="en-US" b="1" dirty="0"/>
                  <a:t>F is an integer that sets the along-track offset between satellites in neighboring planes.</a:t>
                </a:r>
                <a:endParaRPr lang="en-US" dirty="0"/>
              </a:p>
              <a:p>
                <a:r>
                  <a:rPr lang="en-US" dirty="0"/>
                  <a:t>Specifically:</a:t>
                </a:r>
              </a:p>
              <a:p>
                <a:r>
                  <a:rPr lang="en-US" dirty="0"/>
                  <a:t>When moving from plane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</a:t>
                </a:r>
                <a:r>
                  <a:rPr lang="en-US" dirty="0"/>
                  <a:t> to plane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𝑘+1</a:t>
                </a:r>
                <a:r>
                  <a:rPr lang="en-US" dirty="0"/>
                  <a:t>, the satellites are shifted forward in true anomaly (or mean anomaly) by:</a:t>
                </a:r>
              </a:p>
              <a:p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Δ𝜈=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360^∘/𝑇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𝐹</a:t>
                </a:r>
                <a:endParaRPr lang="ar-AE" b="0" dirty="0"/>
              </a:p>
              <a:p>
                <a:r>
                  <a:rPr lang="en-US" dirty="0"/>
                  <a:t>This shift is applied </a:t>
                </a:r>
                <a:r>
                  <a:rPr lang="en-US" b="1" dirty="0"/>
                  <a:t>cumulatively</a:t>
                </a:r>
                <a:r>
                  <a:rPr lang="en-US" dirty="0"/>
                  <a:t> across planes.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3. Why Phasing Matters</a:t>
                </a:r>
              </a:p>
              <a:p>
                <a:r>
                  <a:rPr lang="en-US" dirty="0"/>
                  <a:t>Without proper phasing:</a:t>
                </a:r>
              </a:p>
              <a:p>
                <a:r>
                  <a:rPr lang="en-US" dirty="0"/>
                  <a:t>Satellites in different planes pass over the </a:t>
                </a:r>
                <a:r>
                  <a:rPr lang="en-US" b="1" dirty="0"/>
                  <a:t>same longitude at nearly the same time</a:t>
                </a:r>
                <a:endParaRPr lang="en-US" dirty="0"/>
              </a:p>
              <a:p>
                <a:r>
                  <a:rPr lang="en-US" dirty="0"/>
                  <a:t>This creates </a:t>
                </a:r>
                <a:r>
                  <a:rPr lang="en-US" b="1" dirty="0"/>
                  <a:t>coverage gaps</a:t>
                </a:r>
                <a:r>
                  <a:rPr lang="en-US" dirty="0"/>
                  <a:t>, clustering, or redundant passes</a:t>
                </a:r>
              </a:p>
              <a:p>
                <a:r>
                  <a:rPr lang="en-US" dirty="0"/>
                  <a:t>With proper F:</a:t>
                </a:r>
              </a:p>
              <a:p>
                <a:r>
                  <a:rPr lang="en-US" dirty="0"/>
                  <a:t>Satellites are </a:t>
                </a:r>
                <a:r>
                  <a:rPr lang="en-US" b="1" dirty="0"/>
                  <a:t>evenly interleaved in time</a:t>
                </a:r>
                <a:endParaRPr lang="en-US" dirty="0"/>
              </a:p>
              <a:p>
                <a:r>
                  <a:rPr lang="en-US" dirty="0"/>
                  <a:t>Ground tracks are </a:t>
                </a:r>
                <a:r>
                  <a:rPr lang="en-US" b="1" dirty="0"/>
                  <a:t>uniformly distributed</a:t>
                </a:r>
                <a:endParaRPr lang="en-US" dirty="0"/>
              </a:p>
              <a:p>
                <a:r>
                  <a:rPr lang="en-US" dirty="0"/>
                  <a:t>Revisit time is minimized</a:t>
                </a:r>
              </a:p>
              <a:p>
                <a:r>
                  <a:rPr lang="en-US" dirty="0"/>
                  <a:t>In other words:</a:t>
                </a:r>
              </a:p>
              <a:p>
                <a:r>
                  <a:rPr lang="en-US" b="1" dirty="0"/>
                  <a:t>F controls temporal spacing, not spatial spacing.</a:t>
                </a:r>
                <a:endParaRPr lang="en-US" dirty="0"/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4. Interpretation Through Extremes</a:t>
                </a:r>
              </a:p>
              <a:p>
                <a:r>
                  <a:rPr lang="en-US" b="1" dirty="0"/>
                  <a:t>Case 1: F = 0</a:t>
                </a:r>
              </a:p>
              <a:p>
                <a:r>
                  <a:rPr lang="en-US" dirty="0"/>
                  <a:t>All planes are aligned in phase</a:t>
                </a:r>
              </a:p>
              <a:p>
                <a:r>
                  <a:rPr lang="en-US" dirty="0"/>
                  <a:t>Satellites in different planes cross the equator at nearly the same longitude and time</a:t>
                </a:r>
              </a:p>
              <a:p>
                <a:r>
                  <a:rPr lang="en-US" b="1" dirty="0"/>
                  <a:t>Worst-case revisit performance</a:t>
                </a:r>
                <a:endParaRPr lang="en-US" dirty="0"/>
              </a:p>
              <a:p>
                <a:r>
                  <a:rPr lang="en-US" b="1" dirty="0"/>
                  <a:t>Case 2: F = 1</a:t>
                </a:r>
              </a:p>
              <a:p>
                <a:r>
                  <a:rPr lang="en-US" dirty="0"/>
                  <a:t>Each adjacent plane is offset by one satellite spacing</a:t>
                </a:r>
              </a:p>
              <a:p>
                <a:r>
                  <a:rPr lang="en-US" dirty="0"/>
                  <a:t>Produces uniform temporal coverage</a:t>
                </a:r>
              </a:p>
              <a:p>
                <a:r>
                  <a:rPr lang="en-US" dirty="0"/>
                  <a:t>Very common choice</a:t>
                </a:r>
              </a:p>
              <a:p>
                <a:r>
                  <a:rPr lang="en-US" b="1" dirty="0"/>
                  <a:t>Case 3: F = P − 1</a:t>
                </a:r>
              </a:p>
              <a:p>
                <a:r>
                  <a:rPr lang="en-US" dirty="0"/>
                  <a:t>Maximum relative shift before symmetry repeats</a:t>
                </a:r>
              </a:p>
              <a:p>
                <a:r>
                  <a:rPr lang="en-US" dirty="0"/>
                  <a:t>Often equivalent (by symmetry) to a smaller F value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5. Constraint on F</a:t>
                </a:r>
              </a:p>
              <a:p>
                <a:r>
                  <a:rPr lang="en-US" dirty="0"/>
                  <a:t>Because the constellation is symmetric: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0≤𝐹≤𝑃−1</a:t>
                </a:r>
                <a:endParaRPr lang="en-US" dirty="0"/>
              </a:p>
              <a:p>
                <a:r>
                  <a:rPr lang="en-US" dirty="0"/>
                  <a:t>Larger values simply repeat earlier patterns.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6. Engineering Meaning </a:t>
                </a:r>
              </a:p>
              <a:p>
                <a:r>
                  <a:rPr lang="en-US" dirty="0"/>
                  <a:t>A helpful analogy:</a:t>
                </a:r>
              </a:p>
              <a:p>
                <a:r>
                  <a:rPr lang="en-US" dirty="0"/>
                  <a:t>Think of each orbital plane as a </a:t>
                </a:r>
                <a:r>
                  <a:rPr lang="en-US" b="1" dirty="0"/>
                  <a:t>lane on a circular track</a:t>
                </a:r>
                <a:endParaRPr lang="en-US" dirty="0"/>
              </a:p>
              <a:p>
                <a:r>
                  <a:rPr lang="en-US" dirty="0"/>
                  <a:t>Satellites in one lane are evenly spaced</a:t>
                </a:r>
              </a:p>
              <a:p>
                <a:r>
                  <a:rPr lang="en-US" b="1" dirty="0"/>
                  <a:t>F tells you how far you rotate the starting position of each lane relative to the previous one</a:t>
                </a:r>
                <a:endParaRPr lang="en-US" dirty="0"/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7. Why Walker </a:t>
                </a:r>
                <a:r>
                  <a:rPr lang="el-GR" b="1" dirty="0"/>
                  <a:t>Δ </a:t>
                </a:r>
                <a:r>
                  <a:rPr lang="en-US" b="1" dirty="0"/>
                  <a:t>Uses an Integer F</a:t>
                </a:r>
              </a:p>
              <a:p>
                <a:r>
                  <a:rPr lang="en-US" dirty="0"/>
                  <a:t>Using integer phasing:</a:t>
                </a:r>
              </a:p>
              <a:p>
                <a:r>
                  <a:rPr lang="en-US" dirty="0"/>
                  <a:t>Preserves symmetry</a:t>
                </a:r>
              </a:p>
              <a:p>
                <a:r>
                  <a:rPr lang="en-US" dirty="0"/>
                  <a:t>Simplifies operations and station-keeping</a:t>
                </a:r>
              </a:p>
              <a:p>
                <a:r>
                  <a:rPr lang="en-US" dirty="0"/>
                  <a:t>Produces repeatable ground tracks</a:t>
                </a:r>
              </a:p>
              <a:p>
                <a:r>
                  <a:rPr lang="en-US" dirty="0"/>
                  <a:t>This is why Walker constellations are easy to scale and analyze.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99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SBIRS</a:t>
            </a:r>
            <a:r>
              <a:rPr lang="en-US" baseline="0"/>
              <a:t> constellation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A449F-C941-4360-AC30-D677A9647A9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39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Starlink</a:t>
            </a:r>
            <a:r>
              <a:rPr lang="en-US"/>
              <a:t> constellation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A449F-C941-4360-AC30-D677A9647A9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09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Sirius XM radio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A449F-C941-4360-AC30-D677A9647A9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16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7505" y="1287560"/>
            <a:ext cx="678899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81865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00E-A67F-4D2A-8A36-552C1EFBE963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1DE720-C36A-2EFC-0954-335249276F1A}"/>
              </a:ext>
            </a:extLst>
          </p:cNvPr>
          <p:cNvSpPr txBox="1">
            <a:spLocks/>
          </p:cNvSpPr>
          <p:nvPr userDrawn="1"/>
        </p:nvSpPr>
        <p:spPr>
          <a:xfrm>
            <a:off x="1028701" y="111639"/>
            <a:ext cx="7226780" cy="696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3600" dirty="0"/>
              <a:t>USAFA ASTRO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FD864A1-DC7B-C6C8-87CB-D0D681030469}"/>
              </a:ext>
            </a:extLst>
          </p:cNvPr>
          <p:cNvSpPr txBox="1">
            <a:spLocks/>
          </p:cNvSpPr>
          <p:nvPr userDrawn="1"/>
        </p:nvSpPr>
        <p:spPr>
          <a:xfrm>
            <a:off x="1143000" y="6288282"/>
            <a:ext cx="6858000" cy="501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 dirty="0"/>
              <a:t>ASTRO 331 – Space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65268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D194C-E731-4CF3-8F14-16F2CEB9B5CF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62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6FCA-E440-4A17-8C6B-54B65BC400EF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F287-72CA-49D4-A601-3B9D2E83EA05}" type="datetime1">
              <a:rPr lang="en-US" smtClean="0"/>
              <a:t>1/12/2026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B2832-1105-4FA1-AD49-3D1761459FB9}" type="datetime1">
              <a:rPr lang="en-US" smtClean="0"/>
              <a:t>1/12/2026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7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F9A-2345-4D36-85FA-49730D271487}" type="datetime1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4DED-4E37-473F-AD62-970655F2D578}" type="datetime1">
              <a:rPr lang="en-US" smtClean="0"/>
              <a:t>1/12/2026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5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4D36-2BA6-4632-B283-5D3E851C5410}" type="datetime1">
              <a:rPr lang="en-US" smtClean="0"/>
              <a:t>1/12/2026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CD72-2059-40BB-BF30-AF971560729B}" type="datetime1">
              <a:rPr lang="en-US" smtClean="0"/>
              <a:t>1/12/2026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0F733-755F-4A68-A044-3BB7487EA333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1D12-59AE-465C-A617-7D2534E388B9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91" y="646510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D194C-E731-4CF3-8F14-16F2CEB9B5CF}" type="datetime1">
              <a:rPr lang="en-US" smtClean="0"/>
              <a:t>1/12/2026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918AF-A31D-A49D-520C-D6A347912BFA}"/>
              </a:ext>
            </a:extLst>
          </p:cNvPr>
          <p:cNvSpPr txBox="1"/>
          <p:nvPr userDrawn="1"/>
        </p:nvSpPr>
        <p:spPr>
          <a:xfrm>
            <a:off x="8115301" y="72097"/>
            <a:ext cx="970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2025 Fall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FB5F7-9C45-8CB0-F5C4-6BF493EF4BCD}"/>
              </a:ext>
            </a:extLst>
          </p:cNvPr>
          <p:cNvSpPr/>
          <p:nvPr userDrawn="1"/>
        </p:nvSpPr>
        <p:spPr>
          <a:xfrm>
            <a:off x="46364" y="855395"/>
            <a:ext cx="9039409" cy="596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49DA28-CF7C-1CE3-C307-FC252DA9EB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65" y="18574"/>
            <a:ext cx="734686" cy="8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4qXsq7g6-k&amp;list=PLdanzm1LNngB_w_wZ8Mn_xixFQ68_NT8W&amp;index=33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gi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E2C4-BC94-2EEF-55E0-A1575A57F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Lesson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3E707-3906-1580-6A39-D3696F120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Astrodynamics</a:t>
            </a:r>
          </a:p>
          <a:p>
            <a:r>
              <a:rPr lang="en-US" b="1" dirty="0"/>
              <a:t>Mission Geometry</a:t>
            </a:r>
          </a:p>
          <a:p>
            <a:r>
              <a:rPr lang="en-US" b="1" dirty="0"/>
              <a:t>Constellation Design</a:t>
            </a:r>
          </a:p>
        </p:txBody>
      </p:sp>
    </p:spTree>
    <p:extLst>
      <p:ext uri="{BB962C8B-B14F-4D97-AF65-F5344CB8AC3E}">
        <p14:creationId xmlns:p14="http://schemas.microsoft.com/office/powerpoint/2010/main" val="318806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5E106-7986-EDF2-1C32-8F2CE28BC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How did horses constrain the design of the space shuttle? </a:t>
            </a:r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sz="2400" dirty="0"/>
              <a:t>Width of two horses side-by-side →				</a:t>
            </a:r>
          </a:p>
          <a:p>
            <a:pPr marL="0" indent="0" algn="r">
              <a:buNone/>
            </a:pPr>
            <a:r>
              <a:rPr lang="en-US" sz="2400" dirty="0"/>
              <a:t>	Roman chariot axle width →			 </a:t>
            </a:r>
          </a:p>
          <a:p>
            <a:pPr marL="0" indent="0" algn="r">
              <a:buNone/>
            </a:pPr>
            <a:r>
              <a:rPr lang="en-US" sz="2400" dirty="0"/>
              <a:t>		Standard wagon gauge →			 </a:t>
            </a:r>
          </a:p>
          <a:p>
            <a:pPr marL="0" indent="0" algn="r">
              <a:buNone/>
            </a:pPr>
            <a:r>
              <a:rPr lang="en-US" sz="2400" dirty="0"/>
              <a:t>			Railroad track gauge →		 </a:t>
            </a:r>
          </a:p>
          <a:p>
            <a:pPr marL="0" indent="0" algn="r">
              <a:buNone/>
            </a:pPr>
            <a:r>
              <a:rPr lang="en-US" sz="2400" dirty="0"/>
              <a:t>Rocket booster transport via train →	 </a:t>
            </a:r>
          </a:p>
          <a:p>
            <a:pPr marL="0" indent="0">
              <a:buNone/>
            </a:pPr>
            <a:r>
              <a:rPr lang="en-US" sz="2400" b="1" dirty="0"/>
              <a:t>					= SRB width constraint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40496-F2CF-932B-BA83-7245D936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2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0984A-8EA1-BAEC-BF4E-2D651E417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11874-4EF3-3F0A-F97B-7A533BE1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hlinkClick r:id="rId2"/>
              </a:rPr>
              <a:t>How Long Could You Live In The ISS If Earth Was Destroyed?</a:t>
            </a:r>
            <a:br>
              <a:rPr lang="en-US" dirty="0">
                <a:hlinkClick r:id="rId2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74F2D-1696-085C-584B-E78FCFB3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3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E19A9C-16F2-236E-84AB-EC4FF46B8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Astrodynamics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1FF57-0021-BE73-5B2A-6B2AC3359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6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8203-5706-D446-49B4-E07A3758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Frames of reference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67B6E-4BD8-CEAB-2E1A-40CFE787D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9DD8F-AED9-112A-C3B3-FD1933A4D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22" y="955258"/>
            <a:ext cx="3385850" cy="2828925"/>
          </a:xfrm>
          <a:prstGeom prst="rect">
            <a:avLst/>
          </a:prstGeom>
        </p:spPr>
      </p:pic>
      <p:pic>
        <p:nvPicPr>
          <p:cNvPr id="2050" name="Picture 2" descr="Comparison of Earth centered and Earth Inertial coordinates">
            <a:extLst>
              <a:ext uri="{FF2B5EF4-FFF2-40B4-BE49-F238E27FC236}">
                <a16:creationId xmlns:a16="http://schemas.microsoft.com/office/drawing/2014/main" id="{922E0CD8-FCDE-77A2-93BB-431E14D0D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224" y="4078994"/>
            <a:ext cx="2972339" cy="2522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078BB7-6457-2B8A-1CAD-124D00D7CE7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21119" y="955258"/>
            <a:ext cx="2546661" cy="27354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504F0-CC28-4ED5-FCAE-368697513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11639" y="4078994"/>
            <a:ext cx="4917666" cy="91009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Earth-Centered </a:t>
            </a:r>
          </a:p>
          <a:p>
            <a:pPr marL="0" indent="0" algn="ctr">
              <a:buNone/>
            </a:pPr>
            <a:r>
              <a:rPr lang="en-US" sz="2000" b="1" dirty="0"/>
              <a:t>Inertial (ECI)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5C5EDD-6D9B-1E53-4C3A-5B9955AFBB6A}"/>
              </a:ext>
            </a:extLst>
          </p:cNvPr>
          <p:cNvSpPr txBox="1">
            <a:spLocks/>
          </p:cNvSpPr>
          <p:nvPr/>
        </p:nvSpPr>
        <p:spPr>
          <a:xfrm>
            <a:off x="-1140990" y="5214024"/>
            <a:ext cx="4917666" cy="1286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/>
              <a:t>Earth-Centered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/>
              <a:t>Earth-Fixed (ECEF)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E6E7A77-C265-149F-9F76-20EFF740D1FA}"/>
              </a:ext>
            </a:extLst>
          </p:cNvPr>
          <p:cNvSpPr txBox="1">
            <a:spLocks/>
          </p:cNvSpPr>
          <p:nvPr/>
        </p:nvSpPr>
        <p:spPr>
          <a:xfrm>
            <a:off x="4316399" y="1230120"/>
            <a:ext cx="2546661" cy="2404136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/>
              <a:t>Radial In-track Cross-track (RIC)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/>
              <a:t>A.K.A.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/>
              <a:t>Local Vertical Local Horizontal (LVLH)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/>
              <a:t>A.K.A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/>
              <a:t>Radial Transverse Normal (RTN)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/>
              <a:t>A.K.A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 err="1"/>
              <a:t>Etc</a:t>
            </a:r>
            <a:r>
              <a:rPr lang="en-US" sz="2400" b="1" dirty="0"/>
              <a:t>…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3E39C6-9D1E-F2E8-9ADC-61BC302F036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5441" y="3359394"/>
            <a:ext cx="2972339" cy="231897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9668336-A38D-50AB-7AA8-70CBA2951883}"/>
              </a:ext>
            </a:extLst>
          </p:cNvPr>
          <p:cNvSpPr txBox="1">
            <a:spLocks/>
          </p:cNvSpPr>
          <p:nvPr/>
        </p:nvSpPr>
        <p:spPr>
          <a:xfrm>
            <a:off x="5911348" y="5819997"/>
            <a:ext cx="3057078" cy="910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/>
              <a:t>Spacecraft Body Frame</a:t>
            </a:r>
          </a:p>
        </p:txBody>
      </p:sp>
    </p:spTree>
    <p:extLst>
      <p:ext uri="{BB962C8B-B14F-4D97-AF65-F5344CB8AC3E}">
        <p14:creationId xmlns:p14="http://schemas.microsoft.com/office/powerpoint/2010/main" val="114495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0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EB5FAC2-5165-326B-6416-5A530758FD24}"/>
              </a:ext>
            </a:extLst>
          </p:cNvPr>
          <p:cNvSpPr/>
          <p:nvPr/>
        </p:nvSpPr>
        <p:spPr>
          <a:xfrm>
            <a:off x="0" y="1133340"/>
            <a:ext cx="9144000" cy="533176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DEC28-84CE-D05E-DD4F-2DC86180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Kepler’s Laws of Motion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7A952-A151-5A5C-6D0D-73121635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4D507A-CA81-30A2-928B-37373160D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17" y="1280631"/>
            <a:ext cx="2870152" cy="32835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4D86E7-4FFB-6126-7F96-297CB48FA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902" y="1259560"/>
            <a:ext cx="3084408" cy="374036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8124C32-E91C-7E7B-19E2-66260C80F9D6}"/>
              </a:ext>
            </a:extLst>
          </p:cNvPr>
          <p:cNvGrpSpPr/>
          <p:nvPr/>
        </p:nvGrpSpPr>
        <p:grpSpPr>
          <a:xfrm>
            <a:off x="2675724" y="3086485"/>
            <a:ext cx="4193708" cy="3378621"/>
            <a:chOff x="2583330" y="1146463"/>
            <a:chExt cx="4193708" cy="337862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DAA3483-FD5F-8201-99B1-6C29EDD58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83724" y="1146463"/>
              <a:ext cx="3153705" cy="3378621"/>
            </a:xfrm>
            <a:prstGeom prst="rect">
              <a:avLst/>
            </a:prstGeom>
          </p:spPr>
        </p:pic>
        <p:sp>
          <p:nvSpPr>
            <p:cNvPr id="9" name="Arc 8">
              <a:extLst>
                <a:ext uri="{FF2B5EF4-FFF2-40B4-BE49-F238E27FC236}">
                  <a16:creationId xmlns:a16="http://schemas.microsoft.com/office/drawing/2014/main" id="{AE31E72E-E7BF-B7F0-BC43-90005F30BEBC}"/>
                </a:ext>
              </a:extLst>
            </p:cNvPr>
            <p:cNvSpPr/>
            <p:nvPr/>
          </p:nvSpPr>
          <p:spPr>
            <a:xfrm flipV="1">
              <a:off x="5267326" y="2002632"/>
              <a:ext cx="286549" cy="583405"/>
            </a:xfrm>
            <a:prstGeom prst="arc">
              <a:avLst>
                <a:gd name="adj1" fmla="val 16698904"/>
                <a:gd name="adj2" fmla="val 0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30492A9-05F3-EE4D-8977-9BB9E09C4892}"/>
                </a:ext>
              </a:extLst>
            </p:cNvPr>
            <p:cNvCxnSpPr>
              <a:cxnSpLocks/>
            </p:cNvCxnSpPr>
            <p:nvPr/>
          </p:nvCxnSpPr>
          <p:spPr>
            <a:xfrm>
              <a:off x="5426869" y="2290763"/>
              <a:ext cx="3048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BEB8321-0BB0-6D09-CDE3-836540CE6293}"/>
                </a:ext>
              </a:extLst>
            </p:cNvPr>
            <p:cNvCxnSpPr>
              <a:cxnSpLocks/>
            </p:cNvCxnSpPr>
            <p:nvPr/>
          </p:nvCxnSpPr>
          <p:spPr>
            <a:xfrm>
              <a:off x="5382817" y="2569369"/>
              <a:ext cx="320278" cy="547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670E88-76EC-501E-03BE-7C84232A66D4}"/>
                </a:ext>
              </a:extLst>
            </p:cNvPr>
            <p:cNvSpPr txBox="1"/>
            <p:nvPr/>
          </p:nvSpPr>
          <p:spPr>
            <a:xfrm>
              <a:off x="5350670" y="2569369"/>
              <a:ext cx="142636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  <a:latin typeface="Aptos Black" panose="020F0502020204030204" pitchFamily="34" charset="0"/>
                </a:rPr>
                <a:t>40 days</a:t>
              </a: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1EEB19E1-7AC1-EDB1-95EF-5B75A3FF214B}"/>
                </a:ext>
              </a:extLst>
            </p:cNvPr>
            <p:cNvSpPr/>
            <p:nvPr/>
          </p:nvSpPr>
          <p:spPr>
            <a:xfrm>
              <a:off x="3019590" y="1633538"/>
              <a:ext cx="804863" cy="1236821"/>
            </a:xfrm>
            <a:prstGeom prst="arc">
              <a:avLst>
                <a:gd name="adj1" fmla="val 5649859"/>
                <a:gd name="adj2" fmla="val 15854550"/>
              </a:avLst>
            </a:prstGeom>
            <a:ln w="28575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CDDB101-8351-211D-319F-ED384E9860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12004" y="1469231"/>
              <a:ext cx="43190" cy="3357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D12BCFD-A9C5-B544-3F8B-841813EF481C}"/>
                </a:ext>
              </a:extLst>
            </p:cNvPr>
            <p:cNvSpPr txBox="1"/>
            <p:nvPr/>
          </p:nvSpPr>
          <p:spPr>
            <a:xfrm>
              <a:off x="2583330" y="2624138"/>
              <a:ext cx="142636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0070C0"/>
                  </a:solidFill>
                  <a:latin typeface="Aptos Black" panose="020F0502020204030204" pitchFamily="34" charset="0"/>
                </a:rPr>
                <a:t>40 days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4866B34-DE70-EF5A-FF1D-2BC1E601FD8F}"/>
                </a:ext>
              </a:extLst>
            </p:cNvPr>
            <p:cNvCxnSpPr>
              <a:cxnSpLocks/>
            </p:cNvCxnSpPr>
            <p:nvPr/>
          </p:nvCxnSpPr>
          <p:spPr>
            <a:xfrm>
              <a:off x="3412004" y="2702480"/>
              <a:ext cx="76527" cy="3574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4391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AE22A-33D4-CBE1-0B12-53766D787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Orbit Parameterization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C5D75-9F5A-38A8-12E5-ECB49BBA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6BEBB18-088A-5FBD-7196-AA091D5FEC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0025" y="1002506"/>
                <a:ext cx="8793015" cy="562689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400" b="1" dirty="0">
                    <a:latin typeface="Arial" panose="020B0604020202020204" pitchFamily="34" charset="0"/>
                  </a:rPr>
                  <a:t>Position and Velocity</a:t>
                </a:r>
                <a:endParaRPr lang="en-US" altLang="en-US" sz="2000" b="1" dirty="0">
                  <a:latin typeface="Arial" panose="020B0604020202020204" pitchFamily="34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b="1" dirty="0">
                    <a:latin typeface="Arial" panose="020B0604020202020204" pitchFamily="34" charset="0"/>
                  </a:rPr>
                  <a:t>R </a:t>
                </a:r>
                <a:r>
                  <a:rPr lang="en-US" altLang="en-US" sz="2000" dirty="0">
                    <a:latin typeface="Arial" panose="020B0604020202020204" pitchFamily="34" charset="0"/>
                  </a:rPr>
                  <a:t>– S/C position vector (more commonly </a:t>
                </a:r>
                <a14:m>
                  <m:oMath xmlns:m="http://schemas.openxmlformats.org/officeDocument/2006/math">
                    <m:r>
                      <a:rPr lang="en-US" altLang="en-US" sz="2000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en-US" sz="2000" dirty="0">
                    <a:latin typeface="Arial" panose="020B0604020202020204" pitchFamily="34" charset="0"/>
                  </a:rPr>
                  <a:t> in literature)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	</a:t>
                </a:r>
                <a:r>
                  <a:rPr lang="en-US" altLang="en-US" sz="2000" dirty="0">
                    <a:latin typeface="Arial" panose="020B0604020202020204" pitchFamily="34" charset="0"/>
                    <a:sym typeface="Wingdings" panose="05000000000000000000" pitchFamily="2" charset="2"/>
                  </a:rPr>
                  <a:t> Typically resolved WRT to ECI Frame</a:t>
                </a:r>
                <a:endParaRPr lang="en-US" altLang="en-US" sz="2000" dirty="0">
                  <a:latin typeface="Arial" panose="020B0604020202020204" pitchFamily="34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b="1" dirty="0">
                    <a:latin typeface="Arial" panose="020B0604020202020204" pitchFamily="34" charset="0"/>
                  </a:rPr>
                  <a:t>V</a:t>
                </a:r>
                <a:r>
                  <a:rPr lang="en-US" altLang="en-US" sz="2000" dirty="0">
                    <a:latin typeface="Arial" panose="020B0604020202020204" pitchFamily="34" charset="0"/>
                  </a:rPr>
                  <a:t> – S/C velocity vector (more commonly </a:t>
                </a:r>
                <a14:m>
                  <m:oMath xmlns:m="http://schemas.openxmlformats.org/officeDocument/2006/math">
                    <m:r>
                      <a:rPr lang="en-US" altLang="en-US" sz="2000" b="1" i="1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altLang="en-US" sz="2000" dirty="0">
                    <a:latin typeface="Arial" panose="020B0604020202020204" pitchFamily="34" charset="0"/>
                  </a:rPr>
                  <a:t> in literature)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dirty="0">
                    <a:latin typeface="Arial" panose="020B0604020202020204" pitchFamily="34" charset="0"/>
                    <a:sym typeface="Wingdings" panose="05000000000000000000" pitchFamily="2" charset="2"/>
                  </a:rPr>
                  <a:t>	 Typically resolved WRT to ECI Frame</a:t>
                </a:r>
                <a:endParaRPr lang="en-US" altLang="en-US" sz="2000" dirty="0">
                  <a:latin typeface="Arial" panose="020B0604020202020204" pitchFamily="34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endParaRPr lang="en-US" altLang="en-US" sz="2400" b="1" dirty="0">
                  <a:latin typeface="Arial" panose="020B0604020202020204" pitchFamily="34" charset="0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400" b="1" dirty="0">
                    <a:latin typeface="Arial" panose="020B0604020202020204" pitchFamily="34" charset="0"/>
                  </a:rPr>
                  <a:t>Classical Orbital Elements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a – Semi-major axis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	</a:t>
                </a:r>
                <a:r>
                  <a:rPr lang="en-US" altLang="en-US" sz="2000" dirty="0">
                    <a:latin typeface="Arial" panose="020B0604020202020204" pitchFamily="34" charset="0"/>
                    <a:sym typeface="Wingdings" panose="05000000000000000000" pitchFamily="2" charset="2"/>
                  </a:rPr>
                  <a:t> Orbital size</a:t>
                </a:r>
                <a:endParaRPr lang="en-US" altLang="en-US" sz="2000" dirty="0">
                  <a:latin typeface="Arial" panose="020B0604020202020204" pitchFamily="34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e – Eccentricity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b="1" dirty="0">
                    <a:latin typeface="Arial" panose="020B0604020202020204" pitchFamily="34" charset="0"/>
                  </a:rPr>
                  <a:t>	</a:t>
                </a:r>
                <a:r>
                  <a:rPr lang="en-US" altLang="en-US" sz="2000" b="1" dirty="0">
                    <a:latin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US" altLang="en-US" sz="2000" dirty="0">
                    <a:latin typeface="Arial" panose="020B0604020202020204" pitchFamily="34" charset="0"/>
                    <a:sym typeface="Wingdings" panose="05000000000000000000" pitchFamily="2" charset="2"/>
                  </a:rPr>
                  <a:t>Orbital shape</a:t>
                </a:r>
                <a:endParaRPr lang="en-US" altLang="en-US" sz="2000" dirty="0">
                  <a:latin typeface="Arial" panose="020B0604020202020204" pitchFamily="34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i – Inclination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	</a:t>
                </a:r>
                <a:r>
                  <a:rPr lang="en-US" altLang="en-US" sz="2000" dirty="0">
                    <a:latin typeface="Arial" panose="020B0604020202020204" pitchFamily="34" charset="0"/>
                    <a:sym typeface="Wingdings" panose="05000000000000000000" pitchFamily="2" charset="2"/>
                  </a:rPr>
                  <a:t> Orbital tilt</a:t>
                </a:r>
                <a:endParaRPr lang="en-US" altLang="en-US" sz="2000" dirty="0">
                  <a:latin typeface="Arial" panose="020B0604020202020204" pitchFamily="34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Ω – Right Ascension of the Ascending Node (RAAN)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	</a:t>
                </a:r>
                <a:r>
                  <a:rPr lang="en-US" altLang="en-US" sz="2000" dirty="0">
                    <a:latin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US" altLang="en-US" sz="2000" dirty="0">
                    <a:latin typeface="Arial" panose="020B0604020202020204" pitchFamily="34" charset="0"/>
                  </a:rPr>
                  <a:t>Orbital swivel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ω – Argument of Perigee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	</a:t>
                </a:r>
                <a:r>
                  <a:rPr lang="en-US" altLang="en-US" sz="2000" dirty="0">
                    <a:latin typeface="Arial" panose="020B0604020202020204" pitchFamily="34" charset="0"/>
                    <a:sym typeface="Wingdings" panose="05000000000000000000" pitchFamily="2" charset="2"/>
                  </a:rPr>
                  <a:t> Location of perigee WRT ascending node</a:t>
                </a:r>
                <a:endParaRPr lang="en-US" altLang="en-US" sz="1600" dirty="0">
                  <a:latin typeface="Arial" panose="020B0604020202020204" pitchFamily="34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</m:oMath>
                </a14:m>
                <a:r>
                  <a:rPr lang="en-US" altLang="en-US" sz="2000" dirty="0">
                    <a:latin typeface="Arial" panose="020B0604020202020204" pitchFamily="34" charset="0"/>
                  </a:rPr>
                  <a:t> – True Anomaly (more commonly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en-US" sz="2000" dirty="0">
                    <a:latin typeface="Arial" panose="020B0604020202020204" pitchFamily="34" charset="0"/>
                  </a:rPr>
                  <a:t> in literature)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	</a:t>
                </a:r>
                <a:r>
                  <a:rPr lang="en-US" altLang="en-US" sz="2000" dirty="0">
                    <a:latin typeface="Arial" panose="020B0604020202020204" pitchFamily="34" charset="0"/>
                    <a:sym typeface="Wingdings" panose="05000000000000000000" pitchFamily="2" charset="2"/>
                  </a:rPr>
                  <a:t> S/C angular position WRT to perigee</a:t>
                </a:r>
                <a:endParaRPr lang="en-US" altLang="en-US" sz="20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6BEBB18-088A-5FBD-7196-AA091D5FEC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025" y="1002506"/>
                <a:ext cx="8793015" cy="5626894"/>
              </a:xfrm>
              <a:blipFill>
                <a:blip r:embed="rId2"/>
                <a:stretch>
                  <a:fillRect l="-763" t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700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A710-5541-3CF2-4799-65889D15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2BEOM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0F7E6-9DA5-5456-2C9D-9A28FD621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482324"/>
            <a:ext cx="2983390" cy="793208"/>
          </a:xfrm>
        </p:spPr>
        <p:txBody>
          <a:bodyPr anchor="ctr">
            <a:normAutofit/>
          </a:bodyPr>
          <a:lstStyle/>
          <a:p>
            <a:pPr marL="0" indent="0" algn="r">
              <a:buNone/>
            </a:pPr>
            <a:r>
              <a:rPr lang="en-US" sz="2400" b="1" dirty="0"/>
              <a:t>Two-body motion: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AA9AD-1B12-71EB-58E9-3DEBB621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517BD34E-B429-7064-DF28-034E7F1251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13128" y="4772904"/>
                <a:ext cx="4194673" cy="1462260"/>
              </a:xfrm>
              <a:prstGeom prst="rect">
                <a:avLst/>
              </a:prstGeom>
              <a:noFill/>
            </p:spPr>
            <p:txBody>
              <a:bodyPr vert="horz" wrap="non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/>
                        </a:rPr>
                        <m:t>𝑅</m:t>
                      </m:r>
                      <m:r>
                        <a:rPr lang="en-US" sz="44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i="1" smtClean="0">
                              <a:latin typeface="Cambria Math"/>
                            </a:rPr>
                            <m:t>𝑎</m:t>
                          </m:r>
                          <m:r>
                            <a:rPr lang="en-US" sz="4400" i="1" smtClean="0">
                              <a:latin typeface="Cambria Math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4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40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440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4400" i="1" smtClean="0">
                              <a:latin typeface="Cambria Math"/>
                            </a:rPr>
                            <m:t>1+</m:t>
                          </m:r>
                          <m:r>
                            <a:rPr lang="en-US" sz="4400" i="1" smtClean="0">
                              <a:latin typeface="Cambria Math"/>
                            </a:rPr>
                            <m:t>𝑒</m:t>
                          </m:r>
                          <m:r>
                            <a:rPr lang="en-US" sz="440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4400" i="1" smtClean="0">
                              <a:latin typeface="Cambria Math"/>
                            </a:rPr>
                            <m:t>𝐶𝑜𝑠</m:t>
                          </m:r>
                          <m:r>
                            <a:rPr lang="en-US" sz="440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4400" i="1" smtClean="0">
                              <a:latin typeface="Cambria Math"/>
                              <a:ea typeface="Cambria Math"/>
                            </a:rPr>
                            <m:t>𝜈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517BD34E-B429-7064-DF28-034E7F125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3128" y="4772904"/>
                <a:ext cx="4194673" cy="14622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BFC26F3F-1819-7B06-EB1A-B07D53C19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762" y="2514307"/>
            <a:ext cx="4887408" cy="973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62602B-1B39-B51D-F750-564AD23D7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7266" y="1169391"/>
            <a:ext cx="5486400" cy="1342166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E2C7B9E-3A5F-CEFF-A12A-8D3B2A1204BA}"/>
              </a:ext>
            </a:extLst>
          </p:cNvPr>
          <p:cNvSpPr txBox="1">
            <a:spLocks/>
          </p:cNvSpPr>
          <p:nvPr/>
        </p:nvSpPr>
        <p:spPr>
          <a:xfrm>
            <a:off x="1" y="2635792"/>
            <a:ext cx="3267266" cy="793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 b="1" dirty="0"/>
              <a:t>Astro 310 nomenclature: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4E69B92-93E0-3C78-0E32-55A442A4F4BB}"/>
              </a:ext>
            </a:extLst>
          </p:cNvPr>
          <p:cNvSpPr txBox="1">
            <a:spLocks/>
          </p:cNvSpPr>
          <p:nvPr/>
        </p:nvSpPr>
        <p:spPr>
          <a:xfrm>
            <a:off x="0" y="5092502"/>
            <a:ext cx="3267265" cy="793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 b="1" dirty="0"/>
              <a:t>Closed-form solution: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B375ED-F63E-291E-AEE5-F60CB45095EB}"/>
              </a:ext>
            </a:extLst>
          </p:cNvPr>
          <p:cNvSpPr txBox="1"/>
          <p:nvPr/>
        </p:nvSpPr>
        <p:spPr>
          <a:xfrm>
            <a:off x="372498" y="4046707"/>
            <a:ext cx="6333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second-order, nonlinear, autonomous ODE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445146C-FABB-281B-587C-8AB9E0D3CB0A}"/>
              </a:ext>
            </a:extLst>
          </p:cNvPr>
          <p:cNvSpPr/>
          <p:nvPr/>
        </p:nvSpPr>
        <p:spPr>
          <a:xfrm rot="20747853">
            <a:off x="6099511" y="3668781"/>
            <a:ext cx="582855" cy="491320"/>
          </a:xfrm>
          <a:custGeom>
            <a:avLst/>
            <a:gdLst>
              <a:gd name="csX0" fmla="*/ 0 w 582855"/>
              <a:gd name="csY0" fmla="*/ 491320 h 491320"/>
              <a:gd name="csX1" fmla="*/ 504967 w 582855"/>
              <a:gd name="csY1" fmla="*/ 300251 h 491320"/>
              <a:gd name="csX2" fmla="*/ 573206 w 582855"/>
              <a:gd name="csY2" fmla="*/ 0 h 491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82855" h="491320">
                <a:moveTo>
                  <a:pt x="0" y="491320"/>
                </a:moveTo>
                <a:cubicBezTo>
                  <a:pt x="204716" y="436729"/>
                  <a:pt x="409433" y="382138"/>
                  <a:pt x="504967" y="300251"/>
                </a:cubicBezTo>
                <a:cubicBezTo>
                  <a:pt x="600501" y="218364"/>
                  <a:pt x="586853" y="109182"/>
                  <a:pt x="573206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0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4" grpId="0"/>
      <p:bldP spid="15" grpId="0"/>
      <p:bldP spid="7" grpId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755B-47A4-83D1-9E4F-B2DE8BE2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R2BEOM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B7389-C846-A47C-26EC-90BBB92804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defRPr/>
                </a:pPr>
                <a:r>
                  <a:rPr lang="en-US" dirty="0"/>
                  <a:t>Spacecraft is high enough to travel above Earth’s atmosphere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𝑑𝑟𝑎𝑔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≅</m:t>
                    </m:r>
                    <m:r>
                      <a:rPr lang="en-US" i="1">
                        <a:latin typeface="Cambria Math"/>
                      </a:rPr>
                      <m:t>0</m:t>
                    </m:r>
                  </m:oMath>
                </a14:m>
                <a:endParaRPr lang="en-US" dirty="0"/>
              </a:p>
              <a:p>
                <a:pPr>
                  <a:defRPr/>
                </a:pPr>
                <a:r>
                  <a:rPr lang="en-US" dirty="0"/>
                  <a:t>The spacecraft won’t maneuver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𝑡h𝑟𝑢𝑠𝑡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≅</m:t>
                    </m:r>
                    <m:r>
                      <a:rPr lang="en-US" i="1">
                        <a:latin typeface="Cambria Math"/>
                      </a:rPr>
                      <m:t>0</m:t>
                    </m:r>
                  </m:oMath>
                </a14:m>
                <a:endParaRPr lang="en-US" dirty="0"/>
              </a:p>
              <a:p>
                <a:pPr>
                  <a:defRPr/>
                </a:pPr>
                <a:r>
                  <a:rPr lang="en-US" dirty="0"/>
                  <a:t>The spacecraft is close enough to Earth that gravitational pull from other bodies is negligible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3</m:t>
                        </m:r>
                        <m:r>
                          <a:rPr lang="en-US" i="1">
                            <a:latin typeface="Cambria Math"/>
                          </a:rPr>
                          <m:t>𝑟𝑑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𝑏𝑜𝑑𝑦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≅</m:t>
                    </m:r>
                    <m:r>
                      <a:rPr lang="en-US" i="1">
                        <a:latin typeface="Cambria Math"/>
                      </a:rPr>
                      <m:t>0</m:t>
                    </m:r>
                  </m:oMath>
                </a14:m>
                <a:endParaRPr lang="en-US" dirty="0"/>
              </a:p>
              <a:p>
                <a:pPr>
                  <a:defRPr/>
                </a:pPr>
                <a:r>
                  <a:rPr lang="en-US" dirty="0"/>
                  <a:t>Earth’s gravity is much </a:t>
                </a:r>
                <a:r>
                  <a:rPr lang="en-US" dirty="0" err="1"/>
                  <a:t>much</a:t>
                </a:r>
                <a:r>
                  <a:rPr lang="en-US" dirty="0"/>
                  <a:t> larger than the forces of solar radiation, electromagnetic fields, etc.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𝑜𝑡h𝑒𝑟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≅</m:t>
                    </m:r>
                    <m:r>
                      <a:rPr lang="en-US" i="1">
                        <a:latin typeface="Cambria Math"/>
                      </a:rPr>
                      <m:t>0</m:t>
                    </m:r>
                  </m:oMath>
                </a14:m>
                <a:endParaRPr lang="en-US" dirty="0"/>
              </a:p>
              <a:p>
                <a:pPr>
                  <a:defRPr/>
                </a:pPr>
                <a:endParaRPr lang="en-US" dirty="0"/>
              </a:p>
              <a:p>
                <a:pPr marL="0" indent="0" algn="ctr"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200" i="1">
                        <a:latin typeface="Cambria Math"/>
                        <a:ea typeface="Cambria Math"/>
                      </a:rPr>
                      <m:t>Σ</m:t>
                    </m:r>
                    <m:r>
                      <a:rPr lang="en-US" sz="3200" i="1">
                        <a:latin typeface="Cambria Math"/>
                        <a:ea typeface="Cambria Math"/>
                      </a:rPr>
                      <m:t>𝐹</m:t>
                    </m:r>
                    <m:r>
                      <a:rPr lang="en-US" sz="32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3200" i="1">
                            <a:latin typeface="Cambria Math"/>
                          </a:rPr>
                          <m:t>𝑡h𝑟𝑢𝑠𝑡</m:t>
                        </m:r>
                      </m:sub>
                    </m:sSub>
                    <m:r>
                      <a:rPr lang="en-US" sz="32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3200" i="1">
                            <a:latin typeface="Cambria Math"/>
                          </a:rPr>
                          <m:t>𝑑𝑟𝑎𝑔</m:t>
                        </m:r>
                      </m:sub>
                    </m:sSub>
                  </m:oMath>
                </a14:m>
                <a:r>
                  <a:rPr lang="en-US" sz="3200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3200" i="1">
                            <a:latin typeface="Cambria Math"/>
                          </a:rPr>
                          <m:t>𝑔𝑟𝑎𝑣𝑖𝑡𝑦</m:t>
                        </m:r>
                      </m:sub>
                    </m:sSub>
                  </m:oMath>
                </a14:m>
                <a:r>
                  <a:rPr lang="en-US" sz="3200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3200" i="1">
                            <a:latin typeface="Cambria Math"/>
                          </a:rPr>
                          <m:t>3</m:t>
                        </m:r>
                        <m:r>
                          <a:rPr lang="en-US" sz="3200" i="1">
                            <a:latin typeface="Cambria Math"/>
                          </a:rPr>
                          <m:t>𝑟𝑑</m:t>
                        </m:r>
                        <m:r>
                          <a:rPr lang="en-US" sz="3200" i="1">
                            <a:latin typeface="Cambria Math"/>
                          </a:rPr>
                          <m:t> </m:t>
                        </m:r>
                        <m:r>
                          <a:rPr lang="en-US" sz="3200" i="1">
                            <a:latin typeface="Cambria Math"/>
                          </a:rPr>
                          <m:t>𝑏𝑜𝑑𝑦</m:t>
                        </m:r>
                      </m:sub>
                    </m:sSub>
                  </m:oMath>
                </a14:m>
                <a:r>
                  <a:rPr lang="en-US" sz="3200" dirty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3200" i="1">
                            <a:latin typeface="Cambria Math"/>
                          </a:rPr>
                          <m:t>𝑜𝑡h𝑒𝑟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sz="2400" dirty="0"/>
              </a:p>
              <a:p>
                <a:r>
                  <a:rPr lang="en-US" sz="2400" dirty="0"/>
                  <a:t>The mass of the Earth is much, much larger than the mass of the satellite</a:t>
                </a:r>
              </a:p>
              <a:p>
                <a:r>
                  <a:rPr lang="en-US" sz="2400" dirty="0"/>
                  <a:t>The Earth is spherically symmetrical with uniform density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∴</m:t>
                    </m:r>
                  </m:oMath>
                </a14:m>
                <a:r>
                  <a:rPr lang="en-US" sz="2400" dirty="0"/>
                  <a:t> we can treat it as a point mass</a:t>
                </a:r>
              </a:p>
              <a:p>
                <a:r>
                  <a:rPr lang="en-US" sz="2400" dirty="0"/>
                  <a:t>The spacecraft’s mass is constant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∴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>
                        <a:latin typeface="Cambria Math"/>
                        <a:ea typeface="Cambria Math"/>
                      </a:rPr>
                      <m:t>Δ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𝑚</m:t>
                    </m:r>
                    <m:r>
                      <a:rPr lang="en-US" sz="2400" i="1">
                        <a:latin typeface="Cambria Math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 marL="457200" lvl="1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	*** This allows us to use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𝐹</m:t>
                        </m:r>
                      </m:e>
                    </m:acc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</a:rPr>
                      <m:t>𝑚</m:t>
                    </m:r>
                    <m:acc>
                      <m:accPr>
                        <m:chr m:val="⃑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***</a:t>
                </a:r>
              </a:p>
              <a:p>
                <a:r>
                  <a:rPr lang="en-US" sz="2400" dirty="0"/>
                  <a:t>The geocentric equatorial coordinate frame is sufficiently inertial such that Newton’s Laws apply</a:t>
                </a:r>
              </a:p>
              <a:p>
                <a:pPr>
                  <a:defRPr/>
                </a:pPr>
                <a:endParaRPr lang="en-US" dirty="0"/>
              </a:p>
              <a:p>
                <a:pPr marL="0" indent="0">
                  <a:buNone/>
                  <a:defRPr/>
                </a:pPr>
                <a:endParaRPr lang="en-US" dirty="0"/>
              </a:p>
              <a:p>
                <a:pPr>
                  <a:defRPr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B7389-C846-A47C-26EC-90BBB9280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4" t="-1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207D2-256B-7603-80A2-B146BF90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9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833923B-A571-B2D9-56B9-85F40D4E6C8C}"/>
              </a:ext>
            </a:extLst>
          </p:cNvPr>
          <p:cNvCxnSpPr>
            <a:endCxn id="6" idx="2"/>
          </p:cNvCxnSpPr>
          <p:nvPr/>
        </p:nvCxnSpPr>
        <p:spPr bwMode="auto">
          <a:xfrm flipV="1">
            <a:off x="2449386" y="3215640"/>
            <a:ext cx="381000" cy="426720"/>
          </a:xfrm>
          <a:prstGeom prst="straightConnector1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97E096E-0767-35FC-7FF9-C91FA53B38FD}"/>
              </a:ext>
            </a:extLst>
          </p:cNvPr>
          <p:cNvSpPr txBox="1"/>
          <p:nvPr/>
        </p:nvSpPr>
        <p:spPr>
          <a:xfrm>
            <a:off x="2606866" y="2846308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FFAFD3-E23F-F0FC-1CF5-5E9C62839E73}"/>
              </a:ext>
            </a:extLst>
          </p:cNvPr>
          <p:cNvCxnSpPr>
            <a:endCxn id="8" idx="2"/>
          </p:cNvCxnSpPr>
          <p:nvPr/>
        </p:nvCxnSpPr>
        <p:spPr bwMode="auto">
          <a:xfrm flipV="1">
            <a:off x="6702807" y="3215640"/>
            <a:ext cx="381000" cy="426720"/>
          </a:xfrm>
          <a:prstGeom prst="straightConnector1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97C8501-AE17-F37A-8B7D-70E357474BA3}"/>
              </a:ext>
            </a:extLst>
          </p:cNvPr>
          <p:cNvSpPr txBox="1"/>
          <p:nvPr/>
        </p:nvSpPr>
        <p:spPr>
          <a:xfrm>
            <a:off x="6860287" y="2846308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40078C-849C-937B-0FA3-FD7D5B5448E5}"/>
              </a:ext>
            </a:extLst>
          </p:cNvPr>
          <p:cNvCxnSpPr>
            <a:endCxn id="10" idx="2"/>
          </p:cNvCxnSpPr>
          <p:nvPr/>
        </p:nvCxnSpPr>
        <p:spPr bwMode="auto">
          <a:xfrm flipV="1">
            <a:off x="5460747" y="3205981"/>
            <a:ext cx="381000" cy="426720"/>
          </a:xfrm>
          <a:prstGeom prst="straightConnector1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AB2C089-5A29-2F95-58ED-2F33317A5BAB}"/>
              </a:ext>
            </a:extLst>
          </p:cNvPr>
          <p:cNvSpPr txBox="1"/>
          <p:nvPr/>
        </p:nvSpPr>
        <p:spPr>
          <a:xfrm>
            <a:off x="5618227" y="2836649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915CFE-4EA3-C30A-75FA-47B06F29B87A}"/>
              </a:ext>
            </a:extLst>
          </p:cNvPr>
          <p:cNvCxnSpPr>
            <a:endCxn id="12" idx="2"/>
          </p:cNvCxnSpPr>
          <p:nvPr/>
        </p:nvCxnSpPr>
        <p:spPr bwMode="auto">
          <a:xfrm flipV="1">
            <a:off x="3691446" y="3205981"/>
            <a:ext cx="381000" cy="426720"/>
          </a:xfrm>
          <a:prstGeom prst="straightConnector1">
            <a:avLst/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rect">
              <a:fillToRect l="50000" t="50000" r="50000" b="50000"/>
            </a:path>
          </a:gra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32389A-3E7D-A296-2F62-E806B0382588}"/>
              </a:ext>
            </a:extLst>
          </p:cNvPr>
          <p:cNvSpPr txBox="1"/>
          <p:nvPr/>
        </p:nvSpPr>
        <p:spPr>
          <a:xfrm>
            <a:off x="3848926" y="2836649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58501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3EDC-72DF-D8F2-8552-BC0088A6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Common Orbits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3429A-23CC-9F02-295B-9A4740272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CEF70C6-4B3A-CA05-8EA5-0DB60DD822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462" y="989837"/>
            <a:ext cx="4965076" cy="318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3BA8CF-05EA-60DC-8C6A-0CF48AF8E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542707"/>
              </p:ext>
            </p:extLst>
          </p:nvPr>
        </p:nvGraphicFramePr>
        <p:xfrm>
          <a:off x="970200" y="4176814"/>
          <a:ext cx="7203600" cy="25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304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Attribute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050"/>
                        <a:t>LEO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050"/>
                        <a:t>MEO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050"/>
                        <a:t>GEO</a:t>
                      </a:r>
                    </a:p>
                  </a:txBody>
                  <a:tcPr>
                    <a:solidFill>
                      <a:srgbClr val="468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30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100" dirty="0"/>
                        <a:t>Altitude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300</a:t>
                      </a:r>
                      <a:r>
                        <a:rPr sz="1100" dirty="0"/>
                        <a:t>–2,000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~26,562</a:t>
                      </a:r>
                      <a:r>
                        <a:rPr sz="1100" dirty="0"/>
                        <a:t>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35,786 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30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100"/>
                        <a:t>Orbital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90 min – 2 </a:t>
                      </a:r>
                      <a:r>
                        <a:rPr sz="1100" dirty="0" err="1"/>
                        <a:t>hrs</a:t>
                      </a:r>
                      <a:endParaRPr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~</a:t>
                      </a:r>
                      <a:r>
                        <a:rPr sz="1100" dirty="0"/>
                        <a:t>12 </a:t>
                      </a:r>
                      <a:r>
                        <a:rPr sz="1100" dirty="0" err="1"/>
                        <a:t>hrs</a:t>
                      </a:r>
                      <a:endParaRPr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24 hrs (geostationary)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30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100" dirty="0"/>
                        <a:t>Signal </a:t>
                      </a:r>
                      <a:r>
                        <a:rPr sz="1100" dirty="0"/>
                        <a:t>Round Trip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~0.01–0.05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~0.15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~0.24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70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100"/>
                        <a:t>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Earth observation, ISS, imaging, some comms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Navigation (GPS, Galileo), some comms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Weather, TV broadcasting, long-range comms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27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10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Low latency, low cost, easier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Balanced coverage &amp;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Wide coverage, fixed position over Earth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541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sz="1100" dirty="0"/>
                        <a:t>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Small coverage, short dwell time, more satellites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Radiation exposure (Van Allen belts), higher cost than LEO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High latency, expensive, not ideal for polar regions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51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0392A-1E6D-29FC-6386-E031230E2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Orbital Maneuvers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A1966-9F20-D6D4-4C56-60E5CC77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11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66E2DF-FFFE-048A-F5C0-8359D5CDF82A}"/>
              </a:ext>
            </a:extLst>
          </p:cNvPr>
          <p:cNvGrpSpPr/>
          <p:nvPr/>
        </p:nvGrpSpPr>
        <p:grpSpPr>
          <a:xfrm>
            <a:off x="121982" y="1294143"/>
            <a:ext cx="3496394" cy="3476506"/>
            <a:chOff x="1371600" y="228600"/>
            <a:chExt cx="6400800" cy="6400800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2BA30243-6CAA-2386-23A2-B0F2908C6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5650" y="2209800"/>
              <a:ext cx="2552700" cy="2514600"/>
            </a:xfrm>
            <a:prstGeom prst="ellips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6" name="Oval 8">
              <a:extLst>
                <a:ext uri="{FF2B5EF4-FFF2-40B4-BE49-F238E27FC236}">
                  <a16:creationId xmlns:a16="http://schemas.microsoft.com/office/drawing/2014/main" id="{0853E88F-3FFC-16C7-7FD1-A07EA0712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228600"/>
              <a:ext cx="6400800" cy="6400800"/>
            </a:xfrm>
            <a:prstGeom prst="ellipse">
              <a:avLst/>
            </a:prstGeom>
            <a:noFill/>
            <a:ln w="5715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>
                  <a:solidFill>
                    <a:srgbClr val="000000"/>
                  </a:solidFill>
                </a:rPr>
                <a:t>2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2CEBF23-B6ED-18F2-91F6-836CCC06E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1519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5492" y="3228804"/>
              <a:ext cx="407616" cy="400392"/>
            </a:xfrm>
            <a:prstGeom prst="rect">
              <a:avLst/>
            </a:prstGeom>
          </p:spPr>
        </p:pic>
        <p:pic>
          <p:nvPicPr>
            <p:cNvPr id="8" name="Picture 4" descr="bluemarble">
              <a:extLst>
                <a:ext uri="{FF2B5EF4-FFF2-40B4-BE49-F238E27FC236}">
                  <a16:creationId xmlns:a16="http://schemas.microsoft.com/office/drawing/2014/main" id="{FB6E57E5-14BB-7862-0DB4-DD81441E6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0444" y="3106603"/>
              <a:ext cx="643112" cy="644793"/>
            </a:xfrm>
            <a:prstGeom prst="ellipse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6F66B0-9E2A-292A-800C-528405DA8802}"/>
              </a:ext>
            </a:extLst>
          </p:cNvPr>
          <p:cNvGrpSpPr/>
          <p:nvPr/>
        </p:nvGrpSpPr>
        <p:grpSpPr>
          <a:xfrm>
            <a:off x="5460015" y="1283680"/>
            <a:ext cx="3419216" cy="3481122"/>
            <a:chOff x="1371600" y="112713"/>
            <a:chExt cx="6400800" cy="6516687"/>
          </a:xfrm>
        </p:grpSpPr>
        <p:pic>
          <p:nvPicPr>
            <p:cNvPr id="10" name="Picture 2" descr="bluemarble">
              <a:extLst>
                <a:ext uri="{FF2B5EF4-FFF2-40B4-BE49-F238E27FC236}">
                  <a16:creationId xmlns:a16="http://schemas.microsoft.com/office/drawing/2014/main" id="{4747BCD2-48B1-42B7-8ED3-94FAA39C3D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7638" y="2819400"/>
              <a:ext cx="1216025" cy="1219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Oval 3">
              <a:extLst>
                <a:ext uri="{FF2B5EF4-FFF2-40B4-BE49-F238E27FC236}">
                  <a16:creationId xmlns:a16="http://schemas.microsoft.com/office/drawing/2014/main" id="{79E76B08-1D01-1494-5853-9935EA654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228600"/>
              <a:ext cx="6400800" cy="6400800"/>
            </a:xfrm>
            <a:prstGeom prst="ellips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12" name="Oval 4">
              <a:extLst>
                <a:ext uri="{FF2B5EF4-FFF2-40B4-BE49-F238E27FC236}">
                  <a16:creationId xmlns:a16="http://schemas.microsoft.com/office/drawing/2014/main" id="{2B841607-72DA-4027-CBEA-E0E458B5A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112713"/>
              <a:ext cx="228600" cy="228600"/>
            </a:xfrm>
            <a:prstGeom prst="ellipse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E8B24ACB-C10E-2B81-58B9-8C554A968B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902783">
              <a:off x="3103003" y="412465"/>
              <a:ext cx="228600" cy="2286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5" name="Picture 4">
            <a:extLst>
              <a:ext uri="{FF2B5EF4-FFF2-40B4-BE49-F238E27FC236}">
                <a16:creationId xmlns:a16="http://schemas.microsoft.com/office/drawing/2014/main" id="{2352590C-4963-169A-33AB-545AAA0CC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63" b="9563"/>
          <a:stretch>
            <a:fillRect/>
          </a:stretch>
        </p:blipFill>
        <p:spPr bwMode="auto">
          <a:xfrm>
            <a:off x="2407696" y="4318612"/>
            <a:ext cx="4286889" cy="253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4F174BA-88C5-0DA7-CBC3-449B48B0F98C}"/>
              </a:ext>
            </a:extLst>
          </p:cNvPr>
          <p:cNvSpPr txBox="1">
            <a:spLocks/>
          </p:cNvSpPr>
          <p:nvPr/>
        </p:nvSpPr>
        <p:spPr>
          <a:xfrm>
            <a:off x="234429" y="708533"/>
            <a:ext cx="3267266" cy="793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00B0F0"/>
                </a:solidFill>
              </a:rPr>
              <a:t>Hohmann Transfer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8DF8942-163E-A0CF-6B18-4C98E42DC4C8}"/>
              </a:ext>
            </a:extLst>
          </p:cNvPr>
          <p:cNvSpPr txBox="1">
            <a:spLocks/>
          </p:cNvSpPr>
          <p:nvPr/>
        </p:nvSpPr>
        <p:spPr>
          <a:xfrm>
            <a:off x="5532598" y="689590"/>
            <a:ext cx="3267266" cy="793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00B0F0"/>
                </a:solidFill>
              </a:rPr>
              <a:t>Co-orbital Rendezvous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FD62A4-6DEA-089D-3179-80ACF9CBBF62}"/>
              </a:ext>
            </a:extLst>
          </p:cNvPr>
          <p:cNvSpPr txBox="1">
            <a:spLocks/>
          </p:cNvSpPr>
          <p:nvPr/>
        </p:nvSpPr>
        <p:spPr>
          <a:xfrm>
            <a:off x="4887146" y="5854460"/>
            <a:ext cx="3267266" cy="793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rgbClr val="00B0F0"/>
                </a:solidFill>
              </a:rPr>
              <a:t>Plane Change</a:t>
            </a:r>
          </a:p>
        </p:txBody>
      </p:sp>
    </p:spTree>
    <p:extLst>
      <p:ext uri="{BB962C8B-B14F-4D97-AF65-F5344CB8AC3E}">
        <p14:creationId xmlns:p14="http://schemas.microsoft.com/office/powerpoint/2010/main" val="323605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D7C9-19E9-6344-21B5-6AD4AE10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Orbital Maneuvers: Low Thrust Spiral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7447E-3F03-871C-BB65-3BCC0EF4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82F231-AD35-DDE0-E6D8-6C072CB0B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944" y="1040437"/>
            <a:ext cx="5417184" cy="46641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B48414-FB94-53C5-B595-24288D0A6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944" y="5704561"/>
            <a:ext cx="4744112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61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303C-8E70-23E9-6A20-A8FA2DE38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Perturbations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A4D7-B6F8-AE43-B2E5-A6B697149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1095375"/>
            <a:ext cx="8793015" cy="54483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 disturbance to the motion of an orbiting body that causes its orbital parameters to vary over time from the idealized Keplerian motion.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/>
              <a:t>Drag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Changes orbit size and shape (a &amp; 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J2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Changes </a:t>
            </a:r>
            <a:r>
              <a:rPr lang="en-US" dirty="0"/>
              <a:t>RAAN</a:t>
            </a:r>
          </a:p>
          <a:p>
            <a:pPr marL="0" indent="0">
              <a:buNone/>
            </a:pPr>
            <a:r>
              <a:rPr lang="en-US" dirty="0"/>
              <a:t>	Ex orbit: Sun Synchronous (~98 deg)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Changes </a:t>
            </a:r>
            <a:r>
              <a:rPr lang="en-US" dirty="0"/>
              <a:t>Argument of Perigee</a:t>
            </a:r>
          </a:p>
          <a:p>
            <a:pPr marL="0" indent="0">
              <a:buNone/>
            </a:pPr>
            <a:r>
              <a:rPr lang="en-US" dirty="0"/>
              <a:t>	Ex orbit: </a:t>
            </a:r>
            <a:r>
              <a:rPr lang="en-US" dirty="0" err="1"/>
              <a:t>Molnyia</a:t>
            </a:r>
            <a:r>
              <a:rPr lang="en-US" dirty="0"/>
              <a:t> (63.4 deg)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Others:</a:t>
            </a:r>
          </a:p>
          <a:p>
            <a:pPr marL="0" indent="0">
              <a:buNone/>
            </a:pP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Body gravity (moon, sun)</a:t>
            </a:r>
          </a:p>
          <a:p>
            <a:pPr marL="0" indent="0">
              <a:buNone/>
            </a:pPr>
            <a:r>
              <a:rPr lang="en-US" dirty="0"/>
              <a:t>Solar radiation pressure</a:t>
            </a:r>
          </a:p>
          <a:p>
            <a:pPr marL="0" indent="0">
              <a:buNone/>
            </a:pPr>
            <a:r>
              <a:rPr lang="en-US" dirty="0"/>
              <a:t>Tides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3CBDC-CDC2-145B-ED04-87C76CFC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2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FD22-8539-A428-B3E8-6491C5632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Perturbations: Types of Variations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C6923-4923-CF3A-D83D-5584CFDC0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1557E45-363A-27B8-A70D-F54A449003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86" y="1112811"/>
            <a:ext cx="8146516" cy="435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4022EA-40CB-74AC-5CE1-20CA18750714}"/>
              </a:ext>
            </a:extLst>
          </p:cNvPr>
          <p:cNvSpPr txBox="1"/>
          <p:nvPr/>
        </p:nvSpPr>
        <p:spPr>
          <a:xfrm>
            <a:off x="1194029" y="5541776"/>
            <a:ext cx="72325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latin typeface="CIDFont+F1"/>
              </a:rPr>
              <a:t>Short Periodic </a:t>
            </a:r>
            <a:r>
              <a:rPr lang="en-US" sz="1800" b="0" i="0" u="none" strike="noStrike" baseline="0" dirty="0">
                <a:latin typeface="CIDFont+F1"/>
              </a:rPr>
              <a:t>– variations shorter than 1 orbital period</a:t>
            </a:r>
          </a:p>
          <a:p>
            <a:pPr algn="l"/>
            <a:r>
              <a:rPr lang="en-US" sz="1800" b="1" i="0" u="none" strike="noStrike" baseline="0" dirty="0">
                <a:latin typeface="CIDFont+F1"/>
              </a:rPr>
              <a:t>Long Periodic </a:t>
            </a:r>
            <a:r>
              <a:rPr lang="en-US" sz="1800" b="0" i="0" u="none" strike="noStrike" baseline="0" dirty="0">
                <a:latin typeface="CIDFont+F1"/>
              </a:rPr>
              <a:t>– variations longer than 1 orbital period</a:t>
            </a:r>
          </a:p>
          <a:p>
            <a:pPr algn="l"/>
            <a:r>
              <a:rPr lang="en-US" sz="1800" b="1" i="0" u="none" strike="noStrike" baseline="0" dirty="0">
                <a:latin typeface="CIDFont+F1"/>
              </a:rPr>
              <a:t>Secular</a:t>
            </a:r>
            <a:r>
              <a:rPr lang="en-US" sz="1800" b="0" i="0" u="none" strike="noStrike" baseline="0" dirty="0">
                <a:latin typeface="CIDFont+F1"/>
              </a:rPr>
              <a:t> – non-periodic variations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7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B24BB-B515-CE4F-69BF-BB1530D1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1B70F-4EBE-7FFD-A2EC-E4C2A84C8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Drag continually removes energy from orbits, causing them to decrease in size.</a:t>
            </a:r>
          </a:p>
          <a:p>
            <a:pPr marL="0" indent="0">
              <a:buNone/>
            </a:pPr>
            <a:r>
              <a:rPr lang="en-US" sz="1800" u="sng" dirty="0"/>
              <a:t>Acceleration due to drag: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926D1-D210-34B6-0EDF-C328B39E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9CD85-6811-F60D-F365-CD36BD3F3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1740509"/>
            <a:ext cx="8496300" cy="35179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BE3B6F-181B-1C86-9D08-EAC8AD53E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76" y="5624534"/>
            <a:ext cx="1686160" cy="8478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937DA6-194F-B934-0733-F8D57F61D8A6}"/>
              </a:ext>
            </a:extLst>
          </p:cNvPr>
          <p:cNvSpPr txBox="1"/>
          <p:nvPr/>
        </p:nvSpPr>
        <p:spPr>
          <a:xfrm>
            <a:off x="200025" y="5286493"/>
            <a:ext cx="4572000" cy="48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sz="1800" u="sng" dirty="0"/>
              <a:t>Ballistic Coefficient: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D93BD5-C255-7AC3-B343-962059B331D5}"/>
              </a:ext>
            </a:extLst>
          </p:cNvPr>
          <p:cNvSpPr txBox="1"/>
          <p:nvPr/>
        </p:nvSpPr>
        <p:spPr>
          <a:xfrm>
            <a:off x="2310532" y="581367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 </a:t>
            </a:r>
            <a:r>
              <a:rPr lang="en-US" b="1" dirty="0">
                <a:solidFill>
                  <a:srgbClr val="FF0000"/>
                </a:solidFill>
              </a:rPr>
              <a:t>Higher</a:t>
            </a:r>
            <a:r>
              <a:rPr lang="en-US" dirty="0">
                <a:solidFill>
                  <a:srgbClr val="FF0000"/>
                </a:solidFill>
              </a:rPr>
              <a:t> BC means drag affects sat </a:t>
            </a:r>
            <a:r>
              <a:rPr lang="en-US" b="1" dirty="0">
                <a:solidFill>
                  <a:srgbClr val="FF0000"/>
                </a:solidFill>
              </a:rPr>
              <a:t>less</a:t>
            </a:r>
          </a:p>
        </p:txBody>
      </p:sp>
    </p:spTree>
    <p:extLst>
      <p:ext uri="{BB962C8B-B14F-4D97-AF65-F5344CB8AC3E}">
        <p14:creationId xmlns:p14="http://schemas.microsoft.com/office/powerpoint/2010/main" val="305869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D3094-2CAB-E319-96AE-2FFDC215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5A045-918B-075E-44B4-3C99B90A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4635A4-3491-C979-A0C4-CD6DEBFDB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649" y="1112642"/>
            <a:ext cx="6242702" cy="553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258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CC46-E336-BC34-1969-DCF97489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Drag: Effect of Ballistic Coefficient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FE53D-C95C-B31C-58C3-6F0B6898E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C3D9429-81B6-6986-292C-948AAE929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1260"/>
            <a:ext cx="8991982" cy="5396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679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0EEE-698C-F690-1749-4F69ADA96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J2 &amp; 3</a:t>
            </a:r>
            <a:r>
              <a:rPr lang="en-US" baseline="30000" dirty="0"/>
              <a:t>rd</a:t>
            </a:r>
            <a:r>
              <a:rPr lang="en-US" dirty="0"/>
              <a:t> Body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ECF0E-A0B7-0500-6002-8F870D12F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304" y="4673600"/>
            <a:ext cx="8264362" cy="18672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Notes: </a:t>
            </a:r>
          </a:p>
          <a:p>
            <a:pPr marL="457200" indent="-457200">
              <a:buAutoNum type="arabicParenBoth"/>
            </a:pPr>
            <a:r>
              <a:rPr lang="en-US" sz="2000" dirty="0"/>
              <a:t>Angular rates in rad/s, distances in km</a:t>
            </a:r>
          </a:p>
          <a:p>
            <a:pPr marL="457200" indent="-457200">
              <a:buAutoNum type="arabicParenBoth"/>
            </a:pPr>
            <a:r>
              <a:rPr lang="en-US" sz="2000" dirty="0"/>
              <a:t>Dahlke text has different 3</a:t>
            </a:r>
            <a:r>
              <a:rPr lang="en-US" sz="2000" baseline="30000" dirty="0"/>
              <a:t>rd</a:t>
            </a:r>
            <a:r>
              <a:rPr lang="en-US" sz="2000" dirty="0"/>
              <a:t> body equations that depend on mean motion.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D44BC-947B-5CA0-2A44-D479B1F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66E2DF-3B37-1B4C-75DD-1D79714F6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6062"/>
            <a:ext cx="9144000" cy="220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9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9C00-02B7-A7FF-5B0B-81C9B371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J2 Effect of RAAN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E7FBC-1D92-719D-460C-25E1B354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2" descr="image-20230817161244239">
            <a:extLst>
              <a:ext uri="{FF2B5EF4-FFF2-40B4-BE49-F238E27FC236}">
                <a16:creationId xmlns:a16="http://schemas.microsoft.com/office/drawing/2014/main" id="{E2921575-65B6-A043-4FC3-FAB8EFF39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39" y="1132115"/>
            <a:ext cx="9046122" cy="5462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449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C734B-BD5B-B138-40FC-2A1EA879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2E8FC-A922-1FAD-EECB-5A32B92AB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J2 Effect of Argument of Perigee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FC1F5-956F-9AF9-1656-DFC4E39A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2" descr="image-20230817161254677">
            <a:extLst>
              <a:ext uri="{FF2B5EF4-FFF2-40B4-BE49-F238E27FC236}">
                <a16:creationId xmlns:a16="http://schemas.microsoft.com/office/drawing/2014/main" id="{1276EEB9-386E-6EE8-D0AF-3FD9F4CB4F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1023685"/>
            <a:ext cx="8793163" cy="518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338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250CB-F039-ADCB-DFB5-1B15C34E2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Radiation Pressure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80274-F449-C014-D204-FA52CC474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Solar Cycles: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F915C-8092-2054-FDE9-D728DAF41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985694A-CFF5-FCC7-B8C6-B57A6D51E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94" y="1492532"/>
            <a:ext cx="7828612" cy="515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250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92098" y="133367"/>
            <a:ext cx="8106935" cy="760485"/>
          </a:xfrm>
        </p:spPr>
        <p:txBody>
          <a:bodyPr>
            <a:noAutofit/>
          </a:bodyPr>
          <a:lstStyle/>
          <a:p>
            <a:r>
              <a:rPr lang="en-US" dirty="0"/>
              <a:t>Solar Radiation Pressure (SRP) Effects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628650" y="1060156"/>
                <a:ext cx="7886700" cy="592818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base"/>
                <a:r>
                  <a:rPr lang="en-US" sz="1900" dirty="0"/>
                  <a:t>Causes periodic variations in all COEs</a:t>
                </a:r>
              </a:p>
              <a:p>
                <a:pPr fontAlgn="base"/>
                <a:r>
                  <a:rPr lang="en-US" sz="1900" dirty="0"/>
                  <a:t>Impact is strongest for S/C with low ballistic coefficient</a:t>
                </a:r>
              </a:p>
              <a:p>
                <a:pPr fontAlgn="base"/>
                <a:r>
                  <a:rPr lang="en-US" sz="1900" dirty="0"/>
                  <a:t>Drag dominates below 800 km altitude; solar radiation pressure dominates above 800 km</a:t>
                </a:r>
              </a:p>
              <a:p>
                <a:pPr marL="0" lvl="0" indent="0" fontAlgn="base">
                  <a:buNone/>
                </a:pPr>
                <a:r>
                  <a:rPr lang="en-US" sz="1900" dirty="0"/>
                  <a:t>The equation for the force of solar radiation pressure on a satellite*: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𝑆𝑅𝑃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</m:num>
                        <m:den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1900" dirty="0"/>
                  <a:t>    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𝑆𝑅𝑃</m:t>
                        </m:r>
                      </m:sub>
                    </m:sSub>
                  </m:oMath>
                </a14:m>
                <a:r>
                  <a:rPr lang="en-US" sz="1700" dirty="0"/>
                  <a:t>= force on satellite due to solar radiation pressure (N)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</m:oMath>
                </a14:m>
                <a:r>
                  <a:rPr lang="en-US" sz="1700" dirty="0"/>
                  <a:t> = solar constant: 1367 W/m</a:t>
                </a:r>
                <a:r>
                  <a:rPr lang="en-US" sz="1700" baseline="30000" dirty="0"/>
                  <a:t>2</a:t>
                </a:r>
                <a:endParaRPr lang="en-US" sz="17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700" dirty="0"/>
                  <a:t> = speed of light: 3.0 x 10</a:t>
                </a:r>
                <a:r>
                  <a:rPr lang="en-US" sz="1700" baseline="30000" dirty="0"/>
                  <a:t>8</a:t>
                </a:r>
                <a:r>
                  <a:rPr lang="en-US" sz="1700" dirty="0"/>
                  <a:t> m/s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700" dirty="0"/>
                  <a:t> = the surface area of the side of the satellite facing the Sun (m</a:t>
                </a:r>
                <a:r>
                  <a:rPr lang="en-US" sz="1700" baseline="30000" dirty="0"/>
                  <a:t>2</a:t>
                </a:r>
                <a:r>
                  <a:rPr lang="en-US" sz="17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700" dirty="0"/>
                  <a:t> = reflectance factor (ranging from 0 to 1, often use 0.6 as an estimate) (</a:t>
                </a:r>
                <a:r>
                  <a:rPr lang="en-US" sz="1700" dirty="0" err="1"/>
                  <a:t>unitless</a:t>
                </a:r>
                <a:r>
                  <a:rPr lang="en-US" sz="1700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700" dirty="0"/>
                  <a:t> = the angle of incidence between the satellite and the Sun (</a:t>
                </a:r>
                <a:r>
                  <a:rPr lang="en-US" sz="1700" dirty="0" err="1"/>
                  <a:t>deg</a:t>
                </a:r>
                <a:r>
                  <a:rPr lang="en-US" sz="1700" dirty="0"/>
                  <a:t> or rad)</a:t>
                </a:r>
              </a:p>
              <a:p>
                <a:pPr lvl="1"/>
                <a:endParaRPr lang="en-US" sz="1900" dirty="0"/>
              </a:p>
              <a:p>
                <a:pPr marL="457200" lvl="1" indent="0">
                  <a:buNone/>
                </a:pPr>
                <a:r>
                  <a:rPr lang="en-US" sz="1900" dirty="0"/>
                  <a:t>*Note that this equation is in the ADCS section on your </a:t>
                </a:r>
                <a:r>
                  <a:rPr lang="en-US" sz="1900" dirty="0" err="1"/>
                  <a:t>Eqn</a:t>
                </a:r>
                <a:r>
                  <a:rPr lang="en-US" sz="1900" dirty="0"/>
                  <a:t> Sheet</a:t>
                </a:r>
              </a:p>
              <a:p>
                <a:pPr fontAlgn="base"/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060156"/>
                <a:ext cx="7886700" cy="5928189"/>
              </a:xfrm>
              <a:prstGeom prst="rect">
                <a:avLst/>
              </a:prstGeom>
              <a:blipFill>
                <a:blip r:embed="rId2"/>
                <a:stretch>
                  <a:fillRect l="-696" t="-1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0883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B93477-E4B1-B009-1D01-C80D2DDA2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Geometry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35AEC-BD6B-74A2-9923-3C5A2041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38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2BB6D3-A3C0-B7A0-0FDE-A7149465F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Geometry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41151DB-1C5C-EF04-EA81-800A6806E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812" y="1125431"/>
            <a:ext cx="8268854" cy="330563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9B18A-1C82-1D6E-DC34-A84BCFF0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24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F08CC0-0A02-0B09-D411-47174BB248AB}"/>
              </a:ext>
            </a:extLst>
          </p:cNvPr>
          <p:cNvGrpSpPr/>
          <p:nvPr/>
        </p:nvGrpSpPr>
        <p:grpSpPr>
          <a:xfrm>
            <a:off x="1011544" y="4431068"/>
            <a:ext cx="7120912" cy="2432848"/>
            <a:chOff x="1011544" y="4431068"/>
            <a:chExt cx="7120912" cy="243284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122DA8F-679F-80C2-19C2-9D318AB70A43}"/>
                </a:ext>
              </a:extLst>
            </p:cNvPr>
            <p:cNvGrpSpPr/>
            <p:nvPr/>
          </p:nvGrpSpPr>
          <p:grpSpPr>
            <a:xfrm>
              <a:off x="1011544" y="4431068"/>
              <a:ext cx="7120912" cy="2432848"/>
              <a:chOff x="1011544" y="4431068"/>
              <a:chExt cx="7120912" cy="2432848"/>
            </a:xfrm>
          </p:grpSpPr>
          <p:pic>
            <p:nvPicPr>
              <p:cNvPr id="10" name="Picture 9" descr="A screenshot of a computer&#10;&#10;Description automatically generated">
                <a:extLst>
                  <a:ext uri="{FF2B5EF4-FFF2-40B4-BE49-F238E27FC236}">
                    <a16:creationId xmlns:a16="http://schemas.microsoft.com/office/drawing/2014/main" id="{630B75AB-BD8C-1608-8CC8-0565E24AB9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1544" y="4431068"/>
                <a:ext cx="7120912" cy="2432848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72D372E-C493-28DF-1394-2A4A3994168E}"/>
                  </a:ext>
                </a:extLst>
              </p:cNvPr>
              <p:cNvSpPr/>
              <p:nvPr/>
            </p:nvSpPr>
            <p:spPr>
              <a:xfrm>
                <a:off x="4826000" y="5953609"/>
                <a:ext cx="315785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333333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69335E-6316-50D1-2B10-DBA2E28DFF21}"/>
                </a:ext>
              </a:extLst>
            </p:cNvPr>
            <p:cNvSpPr/>
            <p:nvPr/>
          </p:nvSpPr>
          <p:spPr>
            <a:xfrm>
              <a:off x="1206500" y="5991709"/>
              <a:ext cx="315785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33333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4908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BB71F-25D4-9C78-CEFF-92652FE2C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Geometry 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A7E0D9-74EB-924C-F03C-050076F74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440" y="994553"/>
            <a:ext cx="5823120" cy="58634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ED9DB-90E6-D6CB-0559-570B1367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67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161E-345A-6723-2FD8-FB764B5D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Geometry (cont.)</a:t>
            </a:r>
          </a:p>
        </p:txBody>
      </p:sp>
      <p:pic>
        <p:nvPicPr>
          <p:cNvPr id="6" name="Content Placeholder 5" descr="A diagram of the earth's core&#10;&#10;AI-generated content may be incorrect.">
            <a:extLst>
              <a:ext uri="{FF2B5EF4-FFF2-40B4-BE49-F238E27FC236}">
                <a16:creationId xmlns:a16="http://schemas.microsoft.com/office/drawing/2014/main" id="{B3B98C87-96E9-57A6-DD89-DF7403B9F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456" y="939377"/>
            <a:ext cx="7357888" cy="589304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24EA9-C4B5-B270-310F-9F9EDCCD6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46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418A9-0F8E-155B-8F0E-751CC3C2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Geometry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D0029-11B7-742F-713D-6BB4DAE46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34B2A2-7BA9-3B8D-269C-469636E06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86" y="1985312"/>
            <a:ext cx="8766628" cy="288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2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3ECD-20C6-03A6-4A3E-36BED5272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61FE6-1341-958A-6FA4-48B978F45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If a ground station is at a lower latitude than the inclination of a satellite in a circular orbit, the maximum pass time (i.e. the time s/c is in view of ground station) can be estimated as: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664FF-9BAD-646D-98A6-6687534EF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D6862A-1C7A-0073-E341-FF9E5CF9F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102" y="2311652"/>
            <a:ext cx="3905795" cy="1743318"/>
          </a:xfrm>
          <a:prstGeom prst="rect">
            <a:avLst/>
          </a:prstGeom>
        </p:spPr>
      </p:pic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931BD2D-B268-2A12-1C74-5CB8B8DDC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102" y="4054970"/>
            <a:ext cx="2810754" cy="6765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B5A0F3-D787-72EF-D7CF-7E3EDA60C684}"/>
              </a:ext>
            </a:extLst>
          </p:cNvPr>
          <p:cNvSpPr txBox="1"/>
          <p:nvPr/>
        </p:nvSpPr>
        <p:spPr>
          <a:xfrm>
            <a:off x="420361" y="5140334"/>
            <a:ext cx="76485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latin typeface="Segoe UI" panose="020B0502040204020203" pitchFamily="34" charset="0"/>
                <a:cs typeface="Segoe UI" panose="020B0502040204020203" pitchFamily="34" charset="0"/>
              </a:rPr>
              <a:t>Rules of Thumb:</a:t>
            </a: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Average Pass = 80% of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Tmax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86% of passes will be longer than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Tmax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</a:p>
        </p:txBody>
      </p:sp>
    </p:spTree>
    <p:extLst>
      <p:ext uri="{BB962C8B-B14F-4D97-AF65-F5344CB8AC3E}">
        <p14:creationId xmlns:p14="http://schemas.microsoft.com/office/powerpoint/2010/main" val="2349472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2343-6A1B-A1E9-D69F-255244C9D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5B8C3-543A-DF47-B540-CC8B866A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368F33-F0A7-9EDB-6B1D-87C519603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05" y="1023119"/>
            <a:ext cx="3929806" cy="5441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D1F602-26A2-FFF9-EBD6-F94C27967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23119"/>
            <a:ext cx="3917179" cy="544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29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BC78-7445-2B44-325E-7343A9C54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Constellation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E7FA2-209F-E140-CA5F-E3FE7C57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055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AF001-39B3-7D84-2163-1AB6C82A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Satellite Constellation?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2F473-2718-78BA-FDB0-323723C3F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 coordinated set of satellites whose collective behavior delivers a service that a single satellite cannot provide reliably or continuously.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Typical mission drivers:</a:t>
            </a:r>
          </a:p>
          <a:p>
            <a:r>
              <a:rPr lang="en-US" sz="2000" dirty="0"/>
              <a:t>Global or regional coverage</a:t>
            </a:r>
          </a:p>
          <a:p>
            <a:r>
              <a:rPr lang="en-US" sz="2000" dirty="0"/>
              <a:t>Persistence (revisit time)</a:t>
            </a:r>
          </a:p>
          <a:p>
            <a:r>
              <a:rPr lang="en-US" sz="2000" dirty="0"/>
              <a:t>Redundancy and resilience</a:t>
            </a:r>
          </a:p>
          <a:p>
            <a:r>
              <a:rPr lang="en-US" sz="2000" dirty="0"/>
              <a:t>Latency reduction</a:t>
            </a:r>
          </a:p>
          <a:p>
            <a:r>
              <a:rPr lang="en-US" sz="2000" dirty="0"/>
              <a:t>Capacity scaling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C1965-4C02-4E69-2300-460157FE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31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2CCA83-6616-DA0D-5418-4C4E59EAEC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04" r="14010"/>
          <a:stretch>
            <a:fillRect/>
          </a:stretch>
        </p:blipFill>
        <p:spPr bwMode="auto">
          <a:xfrm>
            <a:off x="4197573" y="1844403"/>
            <a:ext cx="4556093" cy="429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109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F6C9D-726F-DF29-FA72-B2D20764E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Constellation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06313-F5D7-22A9-B149-5B94F4F14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Coverage depends on:</a:t>
            </a:r>
          </a:p>
          <a:p>
            <a:r>
              <a:rPr lang="en-US" dirty="0"/>
              <a:t>Altitude</a:t>
            </a:r>
          </a:p>
          <a:p>
            <a:r>
              <a:rPr lang="en-US" dirty="0"/>
              <a:t>Sensor or antenna field of view</a:t>
            </a:r>
          </a:p>
          <a:p>
            <a:r>
              <a:rPr lang="en-US" dirty="0"/>
              <a:t>Minimum elevation angle</a:t>
            </a:r>
          </a:p>
          <a:p>
            <a:r>
              <a:rPr lang="en-US" dirty="0"/>
              <a:t>Earth rotation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Constellation design is not just orbital mechanics. </a:t>
            </a:r>
          </a:p>
          <a:p>
            <a:r>
              <a:rPr lang="en-US" dirty="0"/>
              <a:t>Ground station network</a:t>
            </a:r>
          </a:p>
          <a:p>
            <a:r>
              <a:rPr lang="en-US" dirty="0"/>
              <a:t>Inter-satellite links (ISL)</a:t>
            </a:r>
          </a:p>
          <a:p>
            <a:r>
              <a:rPr lang="en-US" dirty="0"/>
              <a:t>Data routing and latency</a:t>
            </a:r>
          </a:p>
          <a:p>
            <a:r>
              <a:rPr lang="en-US" dirty="0"/>
              <a:t>Command and control capacity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900" dirty="0"/>
              <a:t>For example:</a:t>
            </a:r>
          </a:p>
          <a:p>
            <a:pPr lvl="1"/>
            <a:r>
              <a:rPr lang="en-US" sz="2900" dirty="0"/>
              <a:t>LEO constellations often require ISLs to reduce ground latency</a:t>
            </a:r>
          </a:p>
          <a:p>
            <a:pPr lvl="1"/>
            <a:r>
              <a:rPr lang="en-US" sz="2900" dirty="0"/>
              <a:t>GEO systems rely heavily on ground infrastructure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21A13-0A83-8470-E6A6-5AA0A92BD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0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0CF534-CC6F-54D6-8051-5FF159A66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Constellations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58EE0-12A2-A7E0-E6B9-1A6172B3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33</a:t>
            </a:fld>
            <a:endParaRPr lang="en-US"/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2EA58F14-AD0E-449A-8EC9-C3B54AF64A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4947300"/>
              </p:ext>
            </p:extLst>
          </p:nvPr>
        </p:nvGraphicFramePr>
        <p:xfrm>
          <a:off x="175417" y="1870243"/>
          <a:ext cx="8793165" cy="3927695"/>
        </p:xfrm>
        <a:graphic>
          <a:graphicData uri="http://schemas.openxmlformats.org/drawingml/2006/table">
            <a:tbl>
              <a:tblPr/>
              <a:tblGrid>
                <a:gridCol w="1758633">
                  <a:extLst>
                    <a:ext uri="{9D8B030D-6E8A-4147-A177-3AD203B41FA5}">
                      <a16:colId xmlns:a16="http://schemas.microsoft.com/office/drawing/2014/main" val="1777093236"/>
                    </a:ext>
                  </a:extLst>
                </a:gridCol>
                <a:gridCol w="1336086">
                  <a:extLst>
                    <a:ext uri="{9D8B030D-6E8A-4147-A177-3AD203B41FA5}">
                      <a16:colId xmlns:a16="http://schemas.microsoft.com/office/drawing/2014/main" val="1139548248"/>
                    </a:ext>
                  </a:extLst>
                </a:gridCol>
                <a:gridCol w="1799771">
                  <a:extLst>
                    <a:ext uri="{9D8B030D-6E8A-4147-A177-3AD203B41FA5}">
                      <a16:colId xmlns:a16="http://schemas.microsoft.com/office/drawing/2014/main" val="792490327"/>
                    </a:ext>
                  </a:extLst>
                </a:gridCol>
                <a:gridCol w="2140042">
                  <a:extLst>
                    <a:ext uri="{9D8B030D-6E8A-4147-A177-3AD203B41FA5}">
                      <a16:colId xmlns:a16="http://schemas.microsoft.com/office/drawing/2014/main" val="3185868288"/>
                    </a:ext>
                  </a:extLst>
                </a:gridCol>
                <a:gridCol w="1758633">
                  <a:extLst>
                    <a:ext uri="{9D8B030D-6E8A-4147-A177-3AD203B41FA5}">
                      <a16:colId xmlns:a16="http://schemas.microsoft.com/office/drawing/2014/main" val="2506742666"/>
                    </a:ext>
                  </a:extLst>
                </a:gridCol>
              </a:tblGrid>
              <a:tr h="635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Constellation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Altitude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Inclination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/>
                        <a:t># Satellites for Global Coverage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Main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1775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Walker Delta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LEO/MEO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18–30+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GNSS, 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1795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Polar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LEO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90°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8–12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EO, weather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55938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Sun-Synchronous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LEO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~98°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8–12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Imaging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02919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Molniya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HEO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~63.4°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3–4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Comm at high latitudes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27022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GEO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0°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3–4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Comm, weather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78935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Mega-Constellation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LEO/MEO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Varies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100s–1000s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Broadband, 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36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378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E9CED-1840-72FF-FEEF-09D3F2ACA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Walker Delta Constellation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8F4E-729B-7A99-34CE-D4593CC2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0BCBCF-B3FB-518B-F8AD-80FA071D7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953" y="1142342"/>
            <a:ext cx="2603472" cy="3037384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4AA6573-F9BC-3666-0143-C3BD5B4816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7374" y="1218432"/>
            <a:ext cx="485527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Structure: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Satellites arranged evenly in multiple orbital planes with equal inclination.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Parameters: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Defined by the Walker notation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/>
              <a:t>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I: T/P/F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 = inclination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 = total satellites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 = number of orbital planes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 = phasing factor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GNSS (GPS, Galileo), some Earth observation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Galileo (24 satellites, 3 planes, 56° inclination).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Advantages: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Uniform global coverage, predictable geometry.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44482-25AD-04F9-433F-64028EEA31CF}"/>
              </a:ext>
            </a:extLst>
          </p:cNvPr>
          <p:cNvSpPr txBox="1"/>
          <p:nvPr/>
        </p:nvSpPr>
        <p:spPr>
          <a:xfrm>
            <a:off x="4962665" y="6049669"/>
            <a:ext cx="3106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Example: </a:t>
            </a:r>
            <a:r>
              <a:rPr lang="en-US" dirty="0">
                <a:solidFill>
                  <a:srgbClr val="00B0F0"/>
                </a:solidFill>
              </a:rPr>
              <a:t>Starlink Phase 1</a:t>
            </a:r>
          </a:p>
          <a:p>
            <a:r>
              <a:rPr lang="en-US" dirty="0">
                <a:solidFill>
                  <a:srgbClr val="00B0F0"/>
                </a:solidFill>
              </a:rPr>
              <a:t>53°:1,584/22/17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E1F2069-04F2-352E-085B-D02F6D4D7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483" y="3637122"/>
            <a:ext cx="2139143" cy="233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5197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2457-5EDA-4CB1-87F4-A23ACABDC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Resilience and Threat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1B157-F589-EE29-7623-8C66003E8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Modern constellation design must account for:</a:t>
            </a:r>
          </a:p>
          <a:p>
            <a:r>
              <a:rPr lang="en-US" dirty="0"/>
              <a:t>Single-satellite loss</a:t>
            </a:r>
          </a:p>
          <a:p>
            <a:r>
              <a:rPr lang="en-US" dirty="0"/>
              <a:t>Orbital debris</a:t>
            </a:r>
          </a:p>
          <a:p>
            <a:r>
              <a:rPr lang="en-US" dirty="0"/>
              <a:t>Jamming or interference</a:t>
            </a:r>
          </a:p>
          <a:p>
            <a:r>
              <a:rPr lang="en-US" dirty="0"/>
              <a:t>Kinetic and non-kinetic threats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drives trends toward:</a:t>
            </a:r>
          </a:p>
          <a:p>
            <a:r>
              <a:rPr lang="en-US" dirty="0"/>
              <a:t>Proliferated LEO</a:t>
            </a:r>
          </a:p>
          <a:p>
            <a:r>
              <a:rPr lang="en-US" dirty="0"/>
              <a:t>Smaller satellites</a:t>
            </a:r>
          </a:p>
          <a:p>
            <a:r>
              <a:rPr lang="en-US" dirty="0"/>
              <a:t>Rapid replenishment</a:t>
            </a:r>
          </a:p>
          <a:p>
            <a:r>
              <a:rPr lang="en-US" dirty="0"/>
              <a:t>Disaggregation of payloads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46DB4-DE5A-075C-7F88-8AC45D8E2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1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CA79-89E6-D060-344C-E22FFFF5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36B3-CC3D-32A8-58A7-BDC46A8D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13420-F5CB-207F-DA69-7114C27E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811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64D2-471C-2AB3-465F-C4E683169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526122-40E0-EB9F-1BA4-B9F322E3B8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0025" y="1132114"/>
                <a:ext cx="8793015" cy="5097945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Five Starlink spacecraft from the latest launch will join the operational spacecraft in a plane that is currently 5◦ behind the launch plane.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𝑝𝑎𝑟𝑘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=440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𝑚𝑠𝑛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=550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=53°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AutoNum type="arabicParenBoth"/>
                </a:pPr>
                <a:r>
                  <a:rPr lang="en-US" dirty="0"/>
                  <a:t>How does SpaceX launch Starlink spacecraft into multiple orbital planes from a single launch without using fuel for plane changes?</a:t>
                </a:r>
              </a:p>
              <a:p>
                <a:pPr marL="514350" indent="-514350">
                  <a:buAutoNum type="arabicParenBoth"/>
                </a:pPr>
                <a:endParaRPr lang="en-US" dirty="0"/>
              </a:p>
              <a:p>
                <a:pPr marL="514350" indent="-514350">
                  <a:buAutoNum type="arabicParenBoth"/>
                </a:pPr>
                <a:endParaRPr lang="en-US" dirty="0"/>
              </a:p>
              <a:p>
                <a:pPr marL="514350" indent="-514350">
                  <a:buAutoNum type="arabicParenBoth"/>
                </a:pPr>
                <a:r>
                  <a:rPr lang="en-US" dirty="0"/>
                  <a:t>How long should these spacecraft wait to begin raising their orbit?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  <a:p>
                <a:pPr marL="0" indent="0">
                  <a:buNone/>
                </a:pPr>
                <a:r>
                  <a:rPr lang="en-US" b="1" dirty="0">
                    <a:sym typeface="Wingdings" panose="05000000000000000000" pitchFamily="2" charset="2"/>
                  </a:rPr>
                  <a:t>	</a:t>
                </a:r>
                <a:r>
                  <a:rPr lang="en-US" b="1" dirty="0"/>
                  <a:t>List your assumptions &amp; solve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526122-40E0-EB9F-1BA4-B9F322E3B8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025" y="1132114"/>
                <a:ext cx="8793015" cy="5097945"/>
              </a:xfrm>
              <a:blipFill>
                <a:blip r:embed="rId2"/>
                <a:stretch>
                  <a:fillRect l="-1179" t="-2632" r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4258A-026E-9A0A-F6E1-433B118F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534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61744D-98C0-58BC-70FB-573A21070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MATERIAL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1C873-0E74-C49B-DFCE-D4ACD0772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5091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4D2D-CBEA-39F2-5BEE-511392C7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Constellation Design Steps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D0328C-5945-3FEE-77B6-C111FF622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(Taken from previous semester slides)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5104B-619E-103B-D429-8ECED89E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681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1: Establish Orbit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01878"/>
            <a:ext cx="7886700" cy="4820502"/>
          </a:xfrm>
        </p:spPr>
        <p:txBody>
          <a:bodyPr>
            <a:normAutofit/>
          </a:bodyPr>
          <a:lstStyle/>
          <a:p>
            <a:pPr lvl="0" fontAlgn="base"/>
            <a:r>
              <a:rPr lang="en-US" dirty="0"/>
              <a:t>There are different orbits needed at different times during mission lifetime</a:t>
            </a:r>
          </a:p>
          <a:p>
            <a:pPr lvl="1" fontAlgn="base"/>
            <a:r>
              <a:rPr lang="en-US" dirty="0"/>
              <a:t>Parking orbit:  safe &amp; convenient temporary orbit for S/C checkout</a:t>
            </a:r>
          </a:p>
          <a:p>
            <a:pPr lvl="1" fontAlgn="base"/>
            <a:r>
              <a:rPr lang="en-US" dirty="0"/>
              <a:t>Transfer orbit</a:t>
            </a:r>
          </a:p>
          <a:p>
            <a:pPr lvl="1" fontAlgn="base"/>
            <a:r>
              <a:rPr lang="en-US" dirty="0"/>
              <a:t>Operational orbit</a:t>
            </a:r>
          </a:p>
          <a:p>
            <a:pPr lvl="2"/>
            <a:r>
              <a:rPr lang="en-US" dirty="0"/>
              <a:t>earth-based:  coverage of Earth’s surface or near-Earth space (</a:t>
            </a:r>
            <a:r>
              <a:rPr lang="en-US" b="1" dirty="0"/>
              <a:t>ex</a:t>
            </a:r>
            <a:r>
              <a:rPr lang="en-US" dirty="0"/>
              <a:t> GEO, LEO.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space-referenced:  principal characteristic is a specific location in space (</a:t>
            </a:r>
            <a:r>
              <a:rPr lang="en-US" b="1" dirty="0"/>
              <a:t>ex</a:t>
            </a:r>
            <a:r>
              <a:rPr lang="en-US" dirty="0"/>
              <a:t> Lagrange points)</a:t>
            </a:r>
          </a:p>
          <a:p>
            <a:pPr lvl="1" fontAlgn="base"/>
            <a:r>
              <a:rPr lang="en-US" dirty="0"/>
              <a:t>Disposal orbit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7134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494" y="0"/>
            <a:ext cx="5890195" cy="67341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280" y="100853"/>
            <a:ext cx="3035673" cy="4215653"/>
          </a:xfrm>
        </p:spPr>
        <p:txBody>
          <a:bodyPr>
            <a:normAutofit/>
          </a:bodyPr>
          <a:lstStyle/>
          <a:p>
            <a:r>
              <a:rPr lang="en-US"/>
              <a:t>Step 2: Determine Orbit-Related Mission </a:t>
            </a:r>
            <a:r>
              <a:rPr lang="en-US" err="1"/>
              <a:t>Reqts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874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190" y="-189773"/>
            <a:ext cx="8259856" cy="1325563"/>
          </a:xfrm>
        </p:spPr>
        <p:txBody>
          <a:bodyPr/>
          <a:lstStyle/>
          <a:p>
            <a:r>
              <a:rPr lang="en-US" dirty="0"/>
              <a:t>Step 3: Assess Standard Orbits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379" y="1296170"/>
            <a:ext cx="6996362" cy="421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933" y="5512970"/>
            <a:ext cx="6792808" cy="8231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506" y="5601385"/>
            <a:ext cx="1298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From Table 7-8</a:t>
            </a:r>
          </a:p>
        </p:txBody>
      </p:sp>
    </p:spTree>
    <p:extLst>
      <p:ext uri="{BB962C8B-B14F-4D97-AF65-F5344CB8AC3E}">
        <p14:creationId xmlns:p14="http://schemas.microsoft.com/office/powerpoint/2010/main" val="12803846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30" y="17056"/>
            <a:ext cx="8553641" cy="6840944"/>
          </a:xfrm>
          <a:prstGeom prst="rect">
            <a:avLst/>
          </a:prstGeom>
        </p:spPr>
      </p:pic>
      <p:sp>
        <p:nvSpPr>
          <p:cNvPr id="5" name="Rectangle 72"/>
          <p:cNvSpPr>
            <a:spLocks/>
          </p:cNvSpPr>
          <p:nvPr/>
        </p:nvSpPr>
        <p:spPr bwMode="auto">
          <a:xfrm>
            <a:off x="2743200" y="6477000"/>
            <a:ext cx="615077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Presentation Slide S5-3: Orbit Design - 12 </a:t>
            </a:r>
          </a:p>
        </p:txBody>
      </p:sp>
    </p:spTree>
    <p:extLst>
      <p:ext uri="{BB962C8B-B14F-4D97-AF65-F5344CB8AC3E}">
        <p14:creationId xmlns:p14="http://schemas.microsoft.com/office/powerpoint/2010/main" val="23747831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85" y="0"/>
            <a:ext cx="7298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406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612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1" y="63165"/>
            <a:ext cx="9180095" cy="68850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26832" y="84221"/>
            <a:ext cx="1130968" cy="4211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05063" y="6448926"/>
            <a:ext cx="1856874" cy="3007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0315" y="111292"/>
            <a:ext cx="2923673" cy="3940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349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4: Single Satellite vs Constellation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fontAlgn="base"/>
            <a:r>
              <a:rPr lang="en-US" dirty="0"/>
              <a:t>key trade is usually single, large S/C w/complex instruments vs constellation of smaller, simpler S/C</a:t>
            </a:r>
          </a:p>
          <a:p>
            <a:pPr lvl="0" fontAlgn="base"/>
            <a:r>
              <a:rPr lang="en-US" dirty="0"/>
              <a:t>single S/C reduces cost by minimizing mission overhead</a:t>
            </a:r>
          </a:p>
          <a:p>
            <a:pPr lvl="0" fontAlgn="base"/>
            <a:r>
              <a:rPr lang="en-US" dirty="0"/>
              <a:t>constellations provide</a:t>
            </a:r>
          </a:p>
          <a:p>
            <a:pPr lvl="1"/>
            <a:r>
              <a:rPr lang="en-US" dirty="0"/>
              <a:t>better temporal or spatial coverage</a:t>
            </a:r>
          </a:p>
          <a:p>
            <a:pPr lvl="1"/>
            <a:r>
              <a:rPr lang="en-US" dirty="0"/>
              <a:t>more robust comm links</a:t>
            </a:r>
          </a:p>
          <a:p>
            <a:pPr lvl="1"/>
            <a:r>
              <a:rPr lang="en-US" dirty="0"/>
              <a:t>on-orbit spares offer higher system reliability if a S/C is lost</a:t>
            </a:r>
          </a:p>
          <a:p>
            <a:pPr lvl="1"/>
            <a:r>
              <a:rPr lang="en-US" dirty="0"/>
              <a:t>more survivability</a:t>
            </a:r>
          </a:p>
          <a:p>
            <a:pPr lvl="1"/>
            <a:r>
              <a:rPr lang="en-US" dirty="0"/>
              <a:t>multiple environmental conditions or geometries to carry out mission</a:t>
            </a:r>
          </a:p>
          <a:p>
            <a:r>
              <a:rPr lang="en-US" dirty="0"/>
              <a:t>Consider principal factors in designing a constellation (Table 7-10)</a:t>
            </a:r>
          </a:p>
        </p:txBody>
      </p:sp>
    </p:spTree>
    <p:extLst>
      <p:ext uri="{BB962C8B-B14F-4D97-AF65-F5344CB8AC3E}">
        <p14:creationId xmlns:p14="http://schemas.microsoft.com/office/powerpoint/2010/main" val="34291069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Principal Factors to Consider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62" y="1031817"/>
            <a:ext cx="753427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010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2556" r="1404"/>
          <a:stretch/>
        </p:blipFill>
        <p:spPr>
          <a:xfrm>
            <a:off x="1392057" y="1047110"/>
            <a:ext cx="6359885" cy="3292471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13497" y="4625786"/>
            <a:ext cx="7886700" cy="18783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/>
              <a:t>Constellation options</a:t>
            </a:r>
          </a:p>
          <a:p>
            <a:pPr lvl="1" fontAlgn="base"/>
            <a:r>
              <a:rPr lang="en-US"/>
              <a:t>Walker Delta</a:t>
            </a:r>
          </a:p>
          <a:p>
            <a:pPr lvl="1" fontAlgn="base"/>
            <a:r>
              <a:rPr lang="en-US"/>
              <a:t>Two-Plane Polar</a:t>
            </a:r>
          </a:p>
          <a:p>
            <a:pPr lvl="1" fontAlgn="base"/>
            <a:r>
              <a:rPr lang="en-US"/>
              <a:t>Three mutually perpendicular planes</a:t>
            </a:r>
          </a:p>
          <a:p>
            <a:pPr lvl="1" fontAlgn="base"/>
            <a:r>
              <a:rPr lang="en-US"/>
              <a:t>Two perpendicular non-polar planes</a:t>
            </a:r>
          </a:p>
          <a:p>
            <a:pPr lvl="1" fontAlgn="base"/>
            <a:r>
              <a:rPr lang="en-US"/>
              <a:t>Five-plane polar “streets of coverage”</a:t>
            </a:r>
          </a:p>
        </p:txBody>
      </p:sp>
    </p:spTree>
    <p:extLst>
      <p:ext uri="{BB962C8B-B14F-4D97-AF65-F5344CB8AC3E}">
        <p14:creationId xmlns:p14="http://schemas.microsoft.com/office/powerpoint/2010/main" val="41896761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4" y="866775"/>
            <a:ext cx="8582025" cy="599122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4351" y="-246716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/>
              <a:t>Walker Delta Constellation</a:t>
            </a:r>
          </a:p>
        </p:txBody>
      </p:sp>
    </p:spTree>
    <p:extLst>
      <p:ext uri="{BB962C8B-B14F-4D97-AF65-F5344CB8AC3E}">
        <p14:creationId xmlns:p14="http://schemas.microsoft.com/office/powerpoint/2010/main" val="39293367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722" y="1158542"/>
            <a:ext cx="6502555" cy="556396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69456" y="135493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Fig 7-14 in SMAD</a:t>
            </a:r>
          </a:p>
        </p:txBody>
      </p:sp>
    </p:spTree>
    <p:extLst>
      <p:ext uri="{BB962C8B-B14F-4D97-AF65-F5344CB8AC3E}">
        <p14:creationId xmlns:p14="http://schemas.microsoft.com/office/powerpoint/2010/main" val="9999551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5: Perform Mission Design Trades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492" y="1270136"/>
            <a:ext cx="8793015" cy="522755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Footprint area (F</a:t>
            </a:r>
            <a:r>
              <a:rPr lang="en-US" baseline="-25000" dirty="0"/>
              <a:t>A</a:t>
            </a:r>
            <a:r>
              <a:rPr lang="en-US" dirty="0"/>
              <a:t> or FOV area)</a:t>
            </a:r>
          </a:p>
          <a:p>
            <a:pPr lvl="1"/>
            <a:r>
              <a:rPr lang="en-US" sz="2600" dirty="0"/>
              <a:t>area that a specific instrument or antenna can see at any instant</a:t>
            </a:r>
          </a:p>
          <a:p>
            <a:r>
              <a:rPr lang="en-US" dirty="0"/>
              <a:t>Instantaneous access area (IAA)</a:t>
            </a:r>
          </a:p>
          <a:p>
            <a:pPr lvl="1"/>
            <a:r>
              <a:rPr lang="en-US" dirty="0"/>
              <a:t>all the area that an instrument or antenna could potentially see at any instant if it were scanned through  its normal range of orientations</a:t>
            </a:r>
          </a:p>
          <a:p>
            <a:r>
              <a:rPr lang="en-US" dirty="0"/>
              <a:t>Area coverage rate (ACR)</a:t>
            </a:r>
          </a:p>
          <a:p>
            <a:pPr lvl="1"/>
            <a:r>
              <a:rPr lang="en-US" dirty="0"/>
              <a:t>the rate at which the instrument or antenna is sensing or accessing new land</a:t>
            </a:r>
          </a:p>
          <a:p>
            <a:r>
              <a:rPr lang="en-US" dirty="0"/>
              <a:t>Area access rate (AAR)</a:t>
            </a:r>
          </a:p>
          <a:p>
            <a:pPr lvl="1"/>
            <a:r>
              <a:rPr lang="en-US" dirty="0"/>
              <a:t>the rate at which new land is coming into the spacecraft’s access area</a:t>
            </a:r>
          </a:p>
        </p:txBody>
      </p:sp>
    </p:spTree>
    <p:extLst>
      <p:ext uri="{BB962C8B-B14F-4D97-AF65-F5344CB8AC3E}">
        <p14:creationId xmlns:p14="http://schemas.microsoft.com/office/powerpoint/2010/main" val="17413790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Coverage Figures of Merit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49095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Percent coverage</a:t>
            </a:r>
          </a:p>
          <a:p>
            <a:pPr lvl="1"/>
            <a:r>
              <a:rPr lang="en-US" dirty="0"/>
              <a:t># of times a point was covered by one or more satellites divided by the total number of simulation time steps</a:t>
            </a:r>
          </a:p>
          <a:p>
            <a:r>
              <a:rPr lang="en-US" dirty="0"/>
              <a:t>Maximum coverage gap</a:t>
            </a:r>
          </a:p>
          <a:p>
            <a:pPr lvl="1"/>
            <a:r>
              <a:rPr lang="en-US" dirty="0"/>
              <a:t>The longest coverage gap of an individual point</a:t>
            </a:r>
          </a:p>
          <a:p>
            <a:r>
              <a:rPr lang="en-US" dirty="0"/>
              <a:t>Mean coverage gap</a:t>
            </a:r>
          </a:p>
          <a:p>
            <a:pPr lvl="1"/>
            <a:r>
              <a:rPr lang="en-US" dirty="0"/>
              <a:t>Average length of breaks in coverage for a given point on a grid</a:t>
            </a:r>
          </a:p>
          <a:p>
            <a:r>
              <a:rPr lang="en-US" dirty="0"/>
              <a:t>Time average gap</a:t>
            </a:r>
          </a:p>
          <a:p>
            <a:pPr lvl="1"/>
            <a:r>
              <a:rPr lang="en-US" dirty="0"/>
              <a:t>Mean gap duration averaged over time</a:t>
            </a:r>
          </a:p>
          <a:p>
            <a:r>
              <a:rPr lang="en-US" dirty="0"/>
              <a:t>Mean response time</a:t>
            </a:r>
          </a:p>
          <a:p>
            <a:pPr lvl="1"/>
            <a:r>
              <a:rPr lang="en-US" dirty="0"/>
              <a:t>Average time from receipt of a request to observe a particular point until we can observe it</a:t>
            </a:r>
          </a:p>
        </p:txBody>
      </p:sp>
    </p:spTree>
    <p:extLst>
      <p:ext uri="{BB962C8B-B14F-4D97-AF65-F5344CB8AC3E}">
        <p14:creationId xmlns:p14="http://schemas.microsoft.com/office/powerpoint/2010/main" val="42598827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767" y="-184564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Constellation Design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099" y="1140999"/>
            <a:ext cx="8320368" cy="5372757"/>
          </a:xfrm>
        </p:spPr>
        <p:txBody>
          <a:bodyPr>
            <a:normAutofit fontScale="92500" lnSpcReduction="20000"/>
          </a:bodyPr>
          <a:lstStyle/>
          <a:p>
            <a:pPr lvl="1" fontAlgn="base"/>
            <a:r>
              <a:rPr lang="en-US" dirty="0"/>
              <a:t>coverage (look at coverage (performance) vs number of S/C (cost))</a:t>
            </a:r>
          </a:p>
          <a:p>
            <a:pPr lvl="1" fontAlgn="base"/>
            <a:r>
              <a:rPr lang="en-US" dirty="0"/>
              <a:t>maneuvers</a:t>
            </a:r>
          </a:p>
          <a:p>
            <a:pPr lvl="2"/>
            <a:r>
              <a:rPr lang="en-US" dirty="0"/>
              <a:t>avoid switching orbital planes</a:t>
            </a:r>
          </a:p>
          <a:p>
            <a:pPr lvl="2"/>
            <a:r>
              <a:rPr lang="en-US" dirty="0"/>
              <a:t>limit number of planes to limit number of launches</a:t>
            </a:r>
          </a:p>
          <a:p>
            <a:pPr lvl="2"/>
            <a:r>
              <a:rPr lang="en-US" dirty="0" err="1"/>
              <a:t>rephasing</a:t>
            </a:r>
            <a:r>
              <a:rPr lang="en-US" dirty="0"/>
              <a:t> S/C w/in orbital plane uses very little propellant</a:t>
            </a:r>
          </a:p>
          <a:p>
            <a:pPr lvl="1" fontAlgn="base"/>
            <a:r>
              <a:rPr lang="en-US" dirty="0"/>
              <a:t>number of orbit planes</a:t>
            </a:r>
          </a:p>
          <a:p>
            <a:pPr lvl="2"/>
            <a:r>
              <a:rPr lang="en-US" dirty="0"/>
              <a:t>#planes determines #times a given surface area can be accesses</a:t>
            </a:r>
          </a:p>
          <a:p>
            <a:pPr lvl="2"/>
            <a:r>
              <a:rPr lang="en-US" dirty="0"/>
              <a:t>#S/C in a plane determine gaps in coverage</a:t>
            </a:r>
          </a:p>
          <a:p>
            <a:pPr lvl="1" fontAlgn="base"/>
            <a:r>
              <a:rPr lang="en-US" dirty="0"/>
              <a:t>plateaus and degradation</a:t>
            </a:r>
          </a:p>
          <a:p>
            <a:pPr lvl="2"/>
            <a:r>
              <a:rPr lang="en-US" dirty="0"/>
              <a:t>each additional S/C adds performance</a:t>
            </a:r>
          </a:p>
          <a:p>
            <a:pPr lvl="2"/>
            <a:r>
              <a:rPr lang="en-US" dirty="0"/>
              <a:t>graceful degradation means if one S/C fails, remaining S/C  provide needed service at reduced level rather than total loss of service</a:t>
            </a:r>
          </a:p>
          <a:p>
            <a:pPr lvl="2"/>
            <a:r>
              <a:rPr lang="en-US" dirty="0"/>
              <a:t>use computer modeling to assess performance</a:t>
            </a:r>
          </a:p>
          <a:p>
            <a:pPr lvl="1" fontAlgn="base"/>
            <a:r>
              <a:rPr lang="en-US" dirty="0"/>
              <a:t>launch vehicle selection</a:t>
            </a:r>
          </a:p>
          <a:p>
            <a:pPr lvl="2"/>
            <a:r>
              <a:rPr lang="en-US" dirty="0"/>
              <a:t>try to match #orbit planes and S/C in each plane to number of S/C that can be launched on one L/V</a:t>
            </a:r>
          </a:p>
          <a:p>
            <a:pPr lvl="1" fontAlgn="base"/>
            <a:r>
              <a:rPr lang="en-US" dirty="0"/>
              <a:t>reasonable to begin constellation design assuming all S/C in circular orbits at same altitude and inclination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400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Plateaus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13" y="2762249"/>
            <a:ext cx="8554774" cy="2209801"/>
          </a:xfrm>
          <a:prstGeom prst="rect">
            <a:avLst/>
          </a:prstGeom>
        </p:spPr>
      </p:pic>
      <p:sp>
        <p:nvSpPr>
          <p:cNvPr id="5" name="Rectangle 72"/>
          <p:cNvSpPr>
            <a:spLocks/>
          </p:cNvSpPr>
          <p:nvPr/>
        </p:nvSpPr>
        <p:spPr bwMode="auto">
          <a:xfrm>
            <a:off x="2743200" y="6477000"/>
            <a:ext cx="615077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Presentation Slide S5-3: Orbit Design - 16 </a:t>
            </a:r>
          </a:p>
        </p:txBody>
      </p:sp>
    </p:spTree>
    <p:extLst>
      <p:ext uri="{BB962C8B-B14F-4D97-AF65-F5344CB8AC3E}">
        <p14:creationId xmlns:p14="http://schemas.microsoft.com/office/powerpoint/2010/main" val="27551472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882" y="1123409"/>
            <a:ext cx="7886700" cy="336643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Step 6: Assess Orbital Transfer, Launch, and Retrieval/Disposal Options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Step 7: Evaluate Constellation Growth and Satellite Replenishment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74034" y="4489842"/>
            <a:ext cx="7795932" cy="2344551"/>
          </a:xfrm>
        </p:spPr>
        <p:txBody>
          <a:bodyPr>
            <a:normAutofit fontScale="85000" lnSpcReduction="20000"/>
          </a:bodyPr>
          <a:lstStyle/>
          <a:p>
            <a:pPr lvl="0" fontAlgn="base"/>
            <a:r>
              <a:rPr lang="en-US" dirty="0"/>
              <a:t>often requires numerical </a:t>
            </a:r>
            <a:r>
              <a:rPr lang="en-US" dirty="0" err="1"/>
              <a:t>solns</a:t>
            </a:r>
            <a:r>
              <a:rPr lang="en-US" dirty="0"/>
              <a:t> to evaluate coverage Figures of Merit</a:t>
            </a:r>
          </a:p>
          <a:p>
            <a:pPr lvl="0" fontAlgn="base"/>
            <a:r>
              <a:rPr lang="en-US" dirty="0"/>
              <a:t>performance tends to come in plateaus </a:t>
            </a:r>
            <a:r>
              <a:rPr lang="en-US" i="1" dirty="0"/>
              <a:t>(flip side is graceful degradation)</a:t>
            </a:r>
            <a:r>
              <a:rPr lang="en-US" dirty="0"/>
              <a:t> </a:t>
            </a:r>
          </a:p>
          <a:p>
            <a:pPr lvl="0" fontAlgn="base"/>
            <a:r>
              <a:rPr lang="en-US" dirty="0"/>
              <a:t>generally some performance benefit with first S/C</a:t>
            </a:r>
          </a:p>
          <a:p>
            <a:pPr lvl="0" fontAlgn="base"/>
            <a:r>
              <a:rPr lang="en-US" dirty="0"/>
              <a:t>major performance plateau may not occur next until plane is populated or each plane has at least one S/C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6340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44" y="1781736"/>
            <a:ext cx="7886700" cy="3366433"/>
          </a:xfrm>
        </p:spPr>
        <p:txBody>
          <a:bodyPr>
            <a:normAutofit/>
          </a:bodyPr>
          <a:lstStyle/>
          <a:p>
            <a:r>
              <a:rPr lang="en-US" sz="4000" dirty="0"/>
              <a:t>Step 8: Create a ΔV Budget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000" dirty="0"/>
              <a:t>Step 9: Iterate &amp; Document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26944" y="2664852"/>
            <a:ext cx="7795932" cy="1600200"/>
          </a:xfrm>
        </p:spPr>
        <p:txBody>
          <a:bodyPr>
            <a:normAutofit/>
          </a:bodyPr>
          <a:lstStyle/>
          <a:p>
            <a:pPr lvl="0" fontAlgn="base"/>
            <a:r>
              <a:rPr lang="en-US" dirty="0"/>
              <a:t>Account for </a:t>
            </a:r>
            <a:r>
              <a:rPr lang="el-GR" dirty="0"/>
              <a:t>Δ</a:t>
            </a:r>
            <a:r>
              <a:rPr lang="en-US" dirty="0"/>
              <a:t>Vs needed</a:t>
            </a:r>
          </a:p>
          <a:p>
            <a:pPr lvl="1" fontAlgn="base"/>
            <a:r>
              <a:rPr lang="en-US" dirty="0"/>
              <a:t>Think perturbations, station-keeping, momentum dumping,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9535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Walker-Delta Constellation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650" y="1825625"/>
            <a:ext cx="4267200" cy="4351338"/>
          </a:xfrm>
        </p:spPr>
        <p:txBody>
          <a:bodyPr>
            <a:normAutofit/>
          </a:bodyPr>
          <a:lstStyle/>
          <a:p>
            <a:r>
              <a:rPr lang="en-US" sz="2400" b="1"/>
              <a:t>Example</a:t>
            </a:r>
            <a:r>
              <a:rPr lang="en-US" sz="2400"/>
              <a:t>:  15/5/2 Walker Delta Constellation</a:t>
            </a:r>
          </a:p>
          <a:p>
            <a:r>
              <a:rPr lang="en-US" sz="2400"/>
              <a:t>Given:  COEs for 1</a:t>
            </a:r>
            <a:r>
              <a:rPr lang="en-US" sz="2400" baseline="30000"/>
              <a:t>st</a:t>
            </a:r>
            <a:r>
              <a:rPr lang="en-US" sz="2400"/>
              <a:t> S/C:</a:t>
            </a:r>
          </a:p>
          <a:p>
            <a:pPr lvl="1"/>
            <a:r>
              <a:rPr lang="en-US" sz="2000"/>
              <a:t>a = X km</a:t>
            </a:r>
          </a:p>
          <a:p>
            <a:pPr lvl="1"/>
            <a:r>
              <a:rPr lang="en-US" sz="2000"/>
              <a:t>e = 0</a:t>
            </a:r>
          </a:p>
          <a:p>
            <a:pPr lvl="1"/>
            <a:r>
              <a:rPr lang="en-US" sz="2000"/>
              <a:t>i = Y </a:t>
            </a:r>
            <a:r>
              <a:rPr lang="en-US" sz="2000" err="1"/>
              <a:t>deg</a:t>
            </a:r>
            <a:endParaRPr lang="en-US" sz="2000"/>
          </a:p>
          <a:p>
            <a:pPr lvl="1"/>
            <a:r>
              <a:rPr lang="el-GR" sz="2000"/>
              <a:t>Ω</a:t>
            </a:r>
            <a:r>
              <a:rPr lang="en-US" sz="2000"/>
              <a:t> = 10 </a:t>
            </a:r>
            <a:r>
              <a:rPr lang="en-US" sz="2000" err="1"/>
              <a:t>deg</a:t>
            </a:r>
            <a:endParaRPr lang="en-US" sz="2000"/>
          </a:p>
          <a:p>
            <a:pPr lvl="1"/>
            <a:r>
              <a:rPr lang="en-US" sz="2000"/>
              <a:t>u = 0 </a:t>
            </a:r>
            <a:r>
              <a:rPr lang="en-US" sz="2000" err="1"/>
              <a:t>deg</a:t>
            </a:r>
            <a:endParaRPr lang="en-US" sz="2000"/>
          </a:p>
          <a:p>
            <a:r>
              <a:rPr lang="en-US" sz="2400"/>
              <a:t>Find:  COEs for remaining S/C in constellation</a:t>
            </a:r>
          </a:p>
          <a:p>
            <a:endParaRPr lang="en-US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052637"/>
            <a:ext cx="3943350" cy="362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24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E1D07CD-9C37-4C98-BFBB-4AAE871632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6A67A4-7790-4DC0-91BA-F691D00302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584c457-6b5a-4caa-be47-be979cbe6555"/>
    <ds:schemaRef ds:uri="723aa48c-73f2-40da-86b1-f1ae28647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D4F09E-EA5A-4CDD-A994-E827545110FA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7584c457-6b5a-4caa-be47-be979cbe6555"/>
    <ds:schemaRef ds:uri="http://schemas.microsoft.com/sharepoint/v3"/>
    <ds:schemaRef ds:uri="http://purl.org/dc/terms/"/>
    <ds:schemaRef ds:uri="http://schemas.openxmlformats.org/package/2006/metadata/core-properties"/>
    <ds:schemaRef ds:uri="723aa48c-73f2-40da-86b1-f1ae286477fe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18081</TotalTime>
  <Words>4070</Words>
  <Application>Microsoft Office PowerPoint</Application>
  <PresentationFormat>Letter Paper (8.5x11 in)</PresentationFormat>
  <Paragraphs>652</Paragraphs>
  <Slides>58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7" baseType="lpstr">
      <vt:lpstr>Aptos</vt:lpstr>
      <vt:lpstr>Aptos Black</vt:lpstr>
      <vt:lpstr>Arial</vt:lpstr>
      <vt:lpstr>Cambria Math</vt:lpstr>
      <vt:lpstr>CIDFont+F1</vt:lpstr>
      <vt:lpstr>Segoe UI</vt:lpstr>
      <vt:lpstr>Times New Roman</vt:lpstr>
      <vt:lpstr>Wingdings</vt:lpstr>
      <vt:lpstr>Office Theme</vt:lpstr>
      <vt:lpstr>Lesson 3</vt:lpstr>
      <vt:lpstr>PowerPoint Presentation</vt:lpstr>
      <vt:lpstr>PowerPoint Presentation</vt:lpstr>
      <vt:lpstr>Astrodynamics</vt:lpstr>
      <vt:lpstr>Review: Frames of reference</vt:lpstr>
      <vt:lpstr>Review: Kepler’s Laws of Motion</vt:lpstr>
      <vt:lpstr>Review: Orbit Parameterization</vt:lpstr>
      <vt:lpstr>Review: 2BEOM</vt:lpstr>
      <vt:lpstr>Review: R2BEOM Assumptions</vt:lpstr>
      <vt:lpstr>Review: Common Orbits</vt:lpstr>
      <vt:lpstr>Review: Orbital Maneuvers</vt:lpstr>
      <vt:lpstr>Orbital Maneuvers: Low Thrust Spiral</vt:lpstr>
      <vt:lpstr>Perturbations</vt:lpstr>
      <vt:lpstr>Perturbations: Types of Variations</vt:lpstr>
      <vt:lpstr>Drag</vt:lpstr>
      <vt:lpstr>Drag (cont.)</vt:lpstr>
      <vt:lpstr>Drag: Effect of Ballistic Coefficient </vt:lpstr>
      <vt:lpstr>J2 &amp; 3rd Body Effects</vt:lpstr>
      <vt:lpstr>J2 Effect of RAAN</vt:lpstr>
      <vt:lpstr>J2 Effect of Argument of Perigee</vt:lpstr>
      <vt:lpstr>Solar Radiation Pressure</vt:lpstr>
      <vt:lpstr>Solar Radiation Pressure (SRP) Effects</vt:lpstr>
      <vt:lpstr>Mission Geometry</vt:lpstr>
      <vt:lpstr>Mission Geometry</vt:lpstr>
      <vt:lpstr>Mission Geometry (cont.)</vt:lpstr>
      <vt:lpstr>Mission Geometry (cont.)</vt:lpstr>
      <vt:lpstr>Mission Geometry (cont.)</vt:lpstr>
      <vt:lpstr>Pass Time</vt:lpstr>
      <vt:lpstr>What is this?</vt:lpstr>
      <vt:lpstr>Constellation Design</vt:lpstr>
      <vt:lpstr>What Is a Satellite Constellation?</vt:lpstr>
      <vt:lpstr>Constellation Considerations</vt:lpstr>
      <vt:lpstr>Common Constellations</vt:lpstr>
      <vt:lpstr>Walker Delta Constellation</vt:lpstr>
      <vt:lpstr>Resilience and Threat Considerations</vt:lpstr>
      <vt:lpstr>Example</vt:lpstr>
      <vt:lpstr>Example Problem</vt:lpstr>
      <vt:lpstr>EXTRA MATERIAL</vt:lpstr>
      <vt:lpstr>Constellation Design Steps</vt:lpstr>
      <vt:lpstr>Step 1: Establish Orbit Types</vt:lpstr>
      <vt:lpstr>Step 2: Determine Orbit-Related Mission Reqts</vt:lpstr>
      <vt:lpstr>Step 3: Assess Standard Orbits</vt:lpstr>
      <vt:lpstr>PowerPoint Presentation</vt:lpstr>
      <vt:lpstr>PowerPoint Presentation</vt:lpstr>
      <vt:lpstr>PowerPoint Presentation</vt:lpstr>
      <vt:lpstr>PowerPoint Presentation</vt:lpstr>
      <vt:lpstr>Step 4: Single Satellite vs Constellation</vt:lpstr>
      <vt:lpstr>Principal Factors to Consider</vt:lpstr>
      <vt:lpstr>PowerPoint Presentation</vt:lpstr>
      <vt:lpstr>Walker Delta Constellation</vt:lpstr>
      <vt:lpstr>PowerPoint Presentation</vt:lpstr>
      <vt:lpstr>Step 5: Perform Mission Design Trades</vt:lpstr>
      <vt:lpstr>Coverage Figures of Merit</vt:lpstr>
      <vt:lpstr>Constellation Design Issues</vt:lpstr>
      <vt:lpstr>Performance Plateaus</vt:lpstr>
      <vt:lpstr>Step 6: Assess Orbital Transfer, Launch, and Retrieval/Disposal Options  Step 7: Evaluate Constellation Growth and Satellite Replenishment</vt:lpstr>
      <vt:lpstr>Step 8: Create a ΔV Budget     Step 9: Iterate &amp; Document</vt:lpstr>
      <vt:lpstr>Example: Walker-Delta Constellation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Harris, Wyatt J Lt Col USAF USAFA DF/DFAS</dc:creator>
  <cp:lastModifiedBy>Harris, Wyatt J Lt Col USAF USAFA DF/DFAS</cp:lastModifiedBy>
  <cp:revision>2</cp:revision>
  <cp:lastPrinted>2025-08-01T16:37:26Z</cp:lastPrinted>
  <dcterms:created xsi:type="dcterms:W3CDTF">2025-07-17T17:53:42Z</dcterms:created>
  <dcterms:modified xsi:type="dcterms:W3CDTF">2026-01-12T15:19:12Z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