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9" r:id="rId7"/>
    <p:sldId id="266" r:id="rId8"/>
    <p:sldId id="258" r:id="rId9"/>
    <p:sldId id="267" r:id="rId10"/>
    <p:sldId id="260" r:id="rId11"/>
    <p:sldId id="259" r:id="rId12"/>
    <p:sldId id="268" r:id="rId13"/>
    <p:sldId id="270" r:id="rId14"/>
    <p:sldId id="271" r:id="rId15"/>
    <p:sldId id="261" r:id="rId16"/>
    <p:sldId id="272" r:id="rId17"/>
    <p:sldId id="273" r:id="rId18"/>
    <p:sldId id="262" r:id="rId19"/>
    <p:sldId id="263" r:id="rId20"/>
    <p:sldId id="264" r:id="rId21"/>
    <p:sldId id="265" r:id="rId22"/>
    <p:sldId id="27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58923E-5462-725A-8709-E008AC33DAEB}" v="2" dt="2021-11-19T16:53:39.591"/>
    <p1510:client id="{BD3C9C3A-2A46-4627-BFD2-106041BC5DB5}" v="1" dt="2021-09-22T21:01:40.5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136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well, Mikayla R C2C USAF USAFA CW/CS31" userId="S::c23mikayla.howell@afacademy.af.edu::3b691bd5-5eff-4de1-9b60-e47407c642cd" providerId="AD" clId="Web-{BD3C9C3A-2A46-4627-BFD2-106041BC5DB5}"/>
    <pc:docChg chg="modSld">
      <pc:chgData name="Howell, Mikayla R C2C USAF USAFA CW/CS31" userId="S::c23mikayla.howell@afacademy.af.edu::3b691bd5-5eff-4de1-9b60-e47407c642cd" providerId="AD" clId="Web-{BD3C9C3A-2A46-4627-BFD2-106041BC5DB5}" dt="2021-09-22T21:01:40.563" v="0" actId="1076"/>
      <pc:docMkLst>
        <pc:docMk/>
      </pc:docMkLst>
      <pc:sldChg chg="modSp">
        <pc:chgData name="Howell, Mikayla R C2C USAF USAFA CW/CS31" userId="S::c23mikayla.howell@afacademy.af.edu::3b691bd5-5eff-4de1-9b60-e47407c642cd" providerId="AD" clId="Web-{BD3C9C3A-2A46-4627-BFD2-106041BC5DB5}" dt="2021-09-22T21:01:40.563" v="0" actId="1076"/>
        <pc:sldMkLst>
          <pc:docMk/>
          <pc:sldMk cId="3313437532" sldId="262"/>
        </pc:sldMkLst>
        <pc:picChg chg="mod">
          <ac:chgData name="Howell, Mikayla R C2C USAF USAFA CW/CS31" userId="S::c23mikayla.howell@afacademy.af.edu::3b691bd5-5eff-4de1-9b60-e47407c642cd" providerId="AD" clId="Web-{BD3C9C3A-2A46-4627-BFD2-106041BC5DB5}" dt="2021-09-22T21:01:40.563" v="0" actId="1076"/>
          <ac:picMkLst>
            <pc:docMk/>
            <pc:sldMk cId="3313437532" sldId="262"/>
            <ac:picMk id="2" creationId="{00000000-0000-0000-0000-000000000000}"/>
          </ac:picMkLst>
        </pc:picChg>
      </pc:sldChg>
    </pc:docChg>
  </pc:docChgLst>
  <pc:docChgLst>
    <pc:chgData name="Henderson, James Q C2C USAF USAFA CW/CS15" userId="S::c23james.henderson@afacademy.af.edu::9b5f9214-c59d-44f4-88d7-d6ca157707f9" providerId="AD" clId="Web-{4E58923E-5462-725A-8709-E008AC33DAEB}"/>
    <pc:docChg chg="modSld">
      <pc:chgData name="Henderson, James Q C2C USAF USAFA CW/CS15" userId="S::c23james.henderson@afacademy.af.edu::9b5f9214-c59d-44f4-88d7-d6ca157707f9" providerId="AD" clId="Web-{4E58923E-5462-725A-8709-E008AC33DAEB}" dt="2021-11-19T16:53:39.591" v="1" actId="20577"/>
      <pc:docMkLst>
        <pc:docMk/>
      </pc:docMkLst>
      <pc:sldChg chg="modSp">
        <pc:chgData name="Henderson, James Q C2C USAF USAFA CW/CS15" userId="S::c23james.henderson@afacademy.af.edu::9b5f9214-c59d-44f4-88d7-d6ca157707f9" providerId="AD" clId="Web-{4E58923E-5462-725A-8709-E008AC33DAEB}" dt="2021-11-19T16:53:39.591" v="1" actId="20577"/>
        <pc:sldMkLst>
          <pc:docMk/>
          <pc:sldMk cId="423496178" sldId="271"/>
        </pc:sldMkLst>
        <pc:spChg chg="mod">
          <ac:chgData name="Henderson, James Q C2C USAF USAFA CW/CS15" userId="S::c23james.henderson@afacademy.af.edu::9b5f9214-c59d-44f4-88d7-d6ca157707f9" providerId="AD" clId="Web-{4E58923E-5462-725A-8709-E008AC33DAEB}" dt="2021-11-19T16:53:39.591" v="1" actId="20577"/>
          <ac:spMkLst>
            <pc:docMk/>
            <pc:sldMk cId="423496178" sldId="271"/>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235589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563109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62070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065750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612AC9-B41F-40DA-8427-1263C3E873DB}" type="datetimeFigureOut">
              <a:rPr lang="en-US" smtClean="0"/>
              <a:t>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19772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612AC9-B41F-40DA-8427-1263C3E873DB}" type="datetimeFigureOut">
              <a:rPr lang="en-US" smtClean="0"/>
              <a:t>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352238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612AC9-B41F-40DA-8427-1263C3E873DB}" type="datetimeFigureOut">
              <a:rPr lang="en-US" smtClean="0"/>
              <a:t>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62212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444548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2569587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4061464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332126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612AC9-B41F-40DA-8427-1263C3E873DB}" type="datetimeFigureOut">
              <a:rPr lang="en-US" smtClean="0"/>
              <a:t>1/3/2022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D5FAC3-9705-4372-874B-BA2073EE3E09}" type="slidenum">
              <a:rPr lang="en-US" smtClean="0"/>
              <a:t>‹#›</a:t>
            </a:fld>
            <a:endParaRPr lang="en-US"/>
          </a:p>
        </p:txBody>
      </p:sp>
    </p:spTree>
    <p:extLst>
      <p:ext uri="{BB962C8B-B14F-4D97-AF65-F5344CB8AC3E}">
        <p14:creationId xmlns:p14="http://schemas.microsoft.com/office/powerpoint/2010/main" val="64842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a:latin typeface="Arial" panose="020B0604020202020204" pitchFamily="34" charset="0"/>
                <a:cs typeface="Arial" panose="020B0604020202020204" pitchFamily="34" charset="0"/>
              </a:rPr>
              <a:t>Astro 331 Lesson 16</a:t>
            </a:r>
          </a:p>
        </p:txBody>
      </p:sp>
      <p:sp>
        <p:nvSpPr>
          <p:cNvPr id="3" name="Subtitle 2"/>
          <p:cNvSpPr>
            <a:spLocks noGrp="1"/>
          </p:cNvSpPr>
          <p:nvPr>
            <p:ph type="subTitle" idx="1"/>
          </p:nvPr>
        </p:nvSpPr>
        <p:spPr>
          <a:xfrm>
            <a:off x="33688" y="4304682"/>
            <a:ext cx="9076623" cy="1655762"/>
          </a:xfrm>
        </p:spPr>
        <p:txBody>
          <a:bodyPr>
            <a:normAutofit/>
          </a:bodyPr>
          <a:lstStyle/>
          <a:p>
            <a:r>
              <a:rPr lang="en-US" sz="3200" dirty="0">
                <a:latin typeface="Arial" panose="020B0604020202020204" pitchFamily="34" charset="0"/>
                <a:cs typeface="Arial" panose="020B0604020202020204" pitchFamily="34" charset="0"/>
              </a:rPr>
              <a:t>Spacecraft Software / Fault Management</a:t>
            </a:r>
          </a:p>
          <a:p>
            <a:r>
              <a:rPr lang="en-US" sz="2000" dirty="0">
                <a:latin typeface="Arial" panose="020B0604020202020204" pitchFamily="34" charset="0"/>
                <a:cs typeface="Arial" panose="020B0604020202020204" pitchFamily="34" charset="0"/>
              </a:rPr>
              <a:t>SMAD 16.1.3-16.2.1, </a:t>
            </a:r>
            <a:r>
              <a:rPr lang="en-US" sz="2000" dirty="0" err="1">
                <a:latin typeface="Arial" panose="020B0604020202020204" pitchFamily="34" charset="0"/>
                <a:cs typeface="Arial" panose="020B0604020202020204" pitchFamily="34" charset="0"/>
              </a:rPr>
              <a:t>Supp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Crs</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Mtl</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924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Lesson Objectives</a:t>
            </a:r>
          </a:p>
        </p:txBody>
      </p:sp>
      <p:sp>
        <p:nvSpPr>
          <p:cNvPr id="3" name="Content Placeholder 2"/>
          <p:cNvSpPr>
            <a:spLocks noGrp="1"/>
          </p:cNvSpPr>
          <p:nvPr>
            <p:ph idx="1"/>
          </p:nvPr>
        </p:nvSpPr>
        <p:spPr>
          <a:xfrm>
            <a:off x="628649" y="1825625"/>
            <a:ext cx="8005211" cy="4351338"/>
          </a:xfrm>
        </p:spPr>
        <p:txBody>
          <a:bodyPr>
            <a:noAutofit/>
          </a:bodyPr>
          <a:lstStyle/>
          <a:p>
            <a:pPr lvl="0" fontAlgn="base"/>
            <a:r>
              <a:rPr lang="en-US" sz="2000"/>
              <a:t>Understand the terms firmware, assembly language, higher-level language and EDAC</a:t>
            </a:r>
          </a:p>
          <a:p>
            <a:pPr lvl="0" fontAlgn="base"/>
            <a:r>
              <a:rPr lang="en-US" sz="2000"/>
              <a:t>Describe and understand the difference between the two main methods for tolerating faults</a:t>
            </a:r>
          </a:p>
          <a:p>
            <a:pPr lvl="0" fontAlgn="base"/>
            <a:r>
              <a:rPr lang="en-US" sz="2000"/>
              <a:t>List and describe the four principal classes of software for onboard processing</a:t>
            </a:r>
          </a:p>
          <a:p>
            <a:pPr lvl="0" fontAlgn="base"/>
            <a:r>
              <a:rPr lang="en-US" sz="2000"/>
              <a:t>Understand that flight software is embedded within each subsystem</a:t>
            </a:r>
          </a:p>
          <a:p>
            <a:pPr lvl="0" fontAlgn="base"/>
            <a:r>
              <a:rPr lang="en-US" sz="2000"/>
              <a:t>Describe the terms fault, fault tolerance, fault mitigation, and fault protection</a:t>
            </a:r>
          </a:p>
          <a:p>
            <a:pPr lvl="0" fontAlgn="base"/>
            <a:r>
              <a:rPr lang="en-US" sz="2000"/>
              <a:t>Understand the four areas that fault management is not suitable for addressing</a:t>
            </a:r>
          </a:p>
          <a:p>
            <a:pPr lvl="0" fontAlgn="base"/>
            <a:r>
              <a:rPr lang="en-US" sz="2000"/>
              <a:t>Understand and describe the top three causes of spacecraft systematic faults</a:t>
            </a:r>
          </a:p>
        </p:txBody>
      </p:sp>
    </p:spTree>
    <p:extLst>
      <p:ext uri="{BB962C8B-B14F-4D97-AF65-F5344CB8AC3E}">
        <p14:creationId xmlns:p14="http://schemas.microsoft.com/office/powerpoint/2010/main" val="3520851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Flight Software</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4005812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Terms</a:t>
            </a:r>
          </a:p>
        </p:txBody>
      </p:sp>
      <p:sp>
        <p:nvSpPr>
          <p:cNvPr id="3" name="Content Placeholder 2"/>
          <p:cNvSpPr>
            <a:spLocks noGrp="1"/>
          </p:cNvSpPr>
          <p:nvPr>
            <p:ph idx="1"/>
          </p:nvPr>
        </p:nvSpPr>
        <p:spPr>
          <a:xfrm>
            <a:off x="628650" y="1597572"/>
            <a:ext cx="7886700" cy="5260428"/>
          </a:xfrm>
        </p:spPr>
        <p:txBody>
          <a:bodyPr>
            <a:normAutofit fontScale="62500" lnSpcReduction="20000"/>
          </a:bodyPr>
          <a:lstStyle/>
          <a:p>
            <a:pPr lvl="0">
              <a:lnSpc>
                <a:spcPct val="120000"/>
              </a:lnSpc>
            </a:pPr>
            <a:r>
              <a:rPr lang="en-US" b="1" dirty="0"/>
              <a:t>Firmware</a:t>
            </a:r>
            <a:r>
              <a:rPr lang="en-US" dirty="0"/>
              <a:t>: the software which resides permanently in nonvolatile memory; reduces the susceptibility to upset, but cannot be modified after launch</a:t>
            </a:r>
            <a:endParaRPr lang="en-US" sz="2400" dirty="0"/>
          </a:p>
          <a:p>
            <a:pPr lvl="1">
              <a:lnSpc>
                <a:spcPct val="120000"/>
              </a:lnSpc>
            </a:pPr>
            <a:r>
              <a:rPr lang="en-US" dirty="0"/>
              <a:t>Used for critical processes such as initialization or contingency operations</a:t>
            </a:r>
            <a:endParaRPr lang="en-US" sz="2000" dirty="0"/>
          </a:p>
          <a:p>
            <a:pPr lvl="1">
              <a:lnSpc>
                <a:spcPct val="120000"/>
              </a:lnSpc>
            </a:pPr>
            <a:r>
              <a:rPr lang="en-US" dirty="0"/>
              <a:t>Often executes out of programmable read only memory (PROM)</a:t>
            </a:r>
            <a:endParaRPr lang="en-US" sz="2000" dirty="0"/>
          </a:p>
          <a:p>
            <a:pPr lvl="0">
              <a:lnSpc>
                <a:spcPct val="120000"/>
              </a:lnSpc>
            </a:pPr>
            <a:r>
              <a:rPr lang="en-US" b="1" dirty="0"/>
              <a:t>Assembly language</a:t>
            </a:r>
            <a:r>
              <a:rPr lang="en-US" dirty="0"/>
              <a:t>: contains the basic symbols and expressions used to program a specific computer</a:t>
            </a:r>
            <a:endParaRPr lang="en-US" sz="2400" dirty="0"/>
          </a:p>
          <a:p>
            <a:pPr lvl="1">
              <a:lnSpc>
                <a:spcPct val="120000"/>
              </a:lnSpc>
            </a:pPr>
            <a:r>
              <a:rPr lang="en-US" dirty="0"/>
              <a:t>More efficient and compact than software written in higher-level language, but often takes longer to generate</a:t>
            </a:r>
            <a:endParaRPr lang="en-US" sz="2000" dirty="0"/>
          </a:p>
          <a:p>
            <a:pPr lvl="0">
              <a:lnSpc>
                <a:spcPct val="120000"/>
              </a:lnSpc>
            </a:pPr>
            <a:r>
              <a:rPr lang="en-US" b="1" dirty="0"/>
              <a:t>Higher-level language</a:t>
            </a:r>
            <a:r>
              <a:rPr lang="en-US" dirty="0"/>
              <a:t>: also has symbols and expressions, but provides more sophisticated operations and adds a level of abstraction</a:t>
            </a:r>
            <a:endParaRPr lang="en-US" sz="2400" dirty="0"/>
          </a:p>
          <a:p>
            <a:pPr lvl="1">
              <a:lnSpc>
                <a:spcPct val="120000"/>
              </a:lnSpc>
            </a:pPr>
            <a:r>
              <a:rPr lang="en-US" dirty="0"/>
              <a:t>Examples: C, C++, Ada, </a:t>
            </a:r>
            <a:r>
              <a:rPr lang="en-US" dirty="0" err="1"/>
              <a:t>etc</a:t>
            </a:r>
            <a:endParaRPr lang="en-US" sz="2000" dirty="0"/>
          </a:p>
          <a:p>
            <a:pPr lvl="1">
              <a:lnSpc>
                <a:spcPct val="120000"/>
              </a:lnSpc>
            </a:pPr>
            <a:r>
              <a:rPr lang="en-US" dirty="0"/>
              <a:t>Preferred for maintenance, testability, and life-cycle costs</a:t>
            </a:r>
            <a:endParaRPr lang="en-US" sz="2000" dirty="0"/>
          </a:p>
          <a:p>
            <a:pPr lvl="0">
              <a:lnSpc>
                <a:spcPct val="120000"/>
              </a:lnSpc>
            </a:pPr>
            <a:r>
              <a:rPr lang="en-US" b="1" dirty="0"/>
              <a:t>EDAC (error detection and correction): </a:t>
            </a:r>
            <a:r>
              <a:rPr lang="en-US" dirty="0"/>
              <a:t>circuitry that provides tolerance of a bit error in a memory word; corrects a single-bit error in a word when it reads that word</a:t>
            </a:r>
            <a:endParaRPr lang="en-US" sz="2400" dirty="0"/>
          </a:p>
        </p:txBody>
      </p:sp>
    </p:spTree>
    <p:extLst>
      <p:ext uri="{BB962C8B-B14F-4D97-AF65-F5344CB8AC3E}">
        <p14:creationId xmlns:p14="http://schemas.microsoft.com/office/powerpoint/2010/main" val="3418677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5474" y="1852536"/>
            <a:ext cx="8847426" cy="4852336"/>
          </a:xfrm>
          <a:prstGeom prst="rect">
            <a:avLst/>
          </a:prstGeom>
        </p:spPr>
      </p:pic>
      <p:sp>
        <p:nvSpPr>
          <p:cNvPr id="2" name="Title 1"/>
          <p:cNvSpPr>
            <a:spLocks noGrp="1"/>
          </p:cNvSpPr>
          <p:nvPr>
            <p:ph type="title"/>
          </p:nvPr>
        </p:nvSpPr>
        <p:spPr/>
        <p:txBody>
          <a:bodyPr/>
          <a:lstStyle/>
          <a:p>
            <a:r>
              <a:rPr lang="en-US"/>
              <a:t>Methods for Tolerating Faults</a:t>
            </a:r>
          </a:p>
        </p:txBody>
      </p:sp>
    </p:spTree>
    <p:extLst>
      <p:ext uri="{BB962C8B-B14F-4D97-AF65-F5344CB8AC3E}">
        <p14:creationId xmlns:p14="http://schemas.microsoft.com/office/powerpoint/2010/main" val="3034602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Four Principal Classes of Flight Software</a:t>
            </a:r>
          </a:p>
        </p:txBody>
      </p:sp>
      <p:sp>
        <p:nvSpPr>
          <p:cNvPr id="3" name="Content Placeholder 2"/>
          <p:cNvSpPr>
            <a:spLocks noGrp="1"/>
          </p:cNvSpPr>
          <p:nvPr>
            <p:ph idx="1"/>
          </p:nvPr>
        </p:nvSpPr>
        <p:spPr>
          <a:xfrm>
            <a:off x="712733" y="2186151"/>
            <a:ext cx="7886700" cy="4480467"/>
          </a:xfrm>
        </p:spPr>
        <p:txBody>
          <a:bodyPr>
            <a:normAutofit fontScale="85000" lnSpcReduction="20000"/>
          </a:bodyPr>
          <a:lstStyle/>
          <a:p>
            <a:pPr lvl="0"/>
            <a:r>
              <a:rPr lang="en-US" b="1" dirty="0"/>
              <a:t>Control system software</a:t>
            </a:r>
            <a:r>
              <a:rPr lang="en-US" dirty="0"/>
              <a:t>: software that requires and input and responds by changing the state of the system (ADCS); mathematically intensive, requires high accuracy and strict timeliness</a:t>
            </a:r>
            <a:endParaRPr lang="en-US" sz="2400" dirty="0"/>
          </a:p>
          <a:p>
            <a:pPr lvl="0"/>
            <a:r>
              <a:rPr lang="en-US" b="1" dirty="0"/>
              <a:t>System management software</a:t>
            </a:r>
            <a:r>
              <a:rPr lang="en-US" dirty="0"/>
              <a:t>: includes such items as fault detection and correction, long duration event schedulers, and payload system management; logic intensive</a:t>
            </a:r>
            <a:endParaRPr lang="en-US" sz="2400" dirty="0"/>
          </a:p>
          <a:p>
            <a:pPr lvl="0"/>
            <a:r>
              <a:rPr lang="en-US" b="1" dirty="0"/>
              <a:t>Mission-data software</a:t>
            </a:r>
            <a:r>
              <a:rPr lang="en-US" dirty="0"/>
              <a:t>: manipulates and compacts large quantities of data as it is collected; requires large storage capacity</a:t>
            </a:r>
            <a:endParaRPr lang="en-US" sz="2400" dirty="0"/>
          </a:p>
          <a:p>
            <a:pPr lvl="0"/>
            <a:r>
              <a:rPr lang="en-US" b="1" dirty="0"/>
              <a:t>Operating system software</a:t>
            </a:r>
            <a:r>
              <a:rPr lang="en-US" dirty="0"/>
              <a:t>: directly manages computer resources and controls allocation of tasks</a:t>
            </a:r>
            <a:endParaRPr lang="en-US" sz="2400" dirty="0"/>
          </a:p>
          <a:p>
            <a:pPr lvl="1"/>
            <a:r>
              <a:rPr lang="en-US" dirty="0" err="1"/>
              <a:t>Supp</a:t>
            </a:r>
            <a:r>
              <a:rPr lang="en-US" dirty="0"/>
              <a:t> </a:t>
            </a:r>
            <a:r>
              <a:rPr lang="en-US" dirty="0" err="1"/>
              <a:t>Crs</a:t>
            </a:r>
            <a:r>
              <a:rPr lang="en-US" dirty="0"/>
              <a:t> </a:t>
            </a:r>
            <a:r>
              <a:rPr lang="en-US" dirty="0" err="1"/>
              <a:t>Mtl</a:t>
            </a:r>
            <a:r>
              <a:rPr lang="en-US" dirty="0"/>
              <a:t> calls it “executive software”</a:t>
            </a:r>
            <a:endParaRPr lang="en-US" sz="2000" dirty="0"/>
          </a:p>
          <a:p>
            <a:endParaRPr lang="en-US" dirty="0"/>
          </a:p>
        </p:txBody>
      </p:sp>
    </p:spTree>
    <p:extLst>
      <p:ext uri="{BB962C8B-B14F-4D97-AF65-F5344CB8AC3E}">
        <p14:creationId xmlns:p14="http://schemas.microsoft.com/office/powerpoint/2010/main" val="215949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87817" y="2499061"/>
            <a:ext cx="5523197" cy="4358939"/>
          </a:xfrm>
          <a:prstGeom prst="rect">
            <a:avLst/>
          </a:prstGeom>
        </p:spPr>
      </p:pic>
      <p:sp>
        <p:nvSpPr>
          <p:cNvPr id="3" name="Title 2"/>
          <p:cNvSpPr>
            <a:spLocks noGrp="1"/>
          </p:cNvSpPr>
          <p:nvPr>
            <p:ph type="title"/>
          </p:nvPr>
        </p:nvSpPr>
        <p:spPr/>
        <p:txBody>
          <a:bodyPr>
            <a:normAutofit fontScale="90000"/>
          </a:bodyPr>
          <a:lstStyle/>
          <a:p>
            <a:r>
              <a:rPr lang="en-US"/>
              <a:t>Flight Software as a System (</a:t>
            </a:r>
            <a:r>
              <a:rPr lang="en-US" err="1"/>
              <a:t>Supp</a:t>
            </a:r>
            <a:r>
              <a:rPr lang="en-US"/>
              <a:t> </a:t>
            </a:r>
            <a:r>
              <a:rPr lang="en-US" err="1"/>
              <a:t>Crs</a:t>
            </a:r>
            <a:r>
              <a:rPr lang="en-US"/>
              <a:t> </a:t>
            </a:r>
            <a:r>
              <a:rPr lang="en-US" err="1"/>
              <a:t>Mtl</a:t>
            </a:r>
            <a:r>
              <a:rPr lang="en-US"/>
              <a:t>)</a:t>
            </a:r>
            <a:br>
              <a:rPr lang="en-US"/>
            </a:br>
            <a:endParaRPr lang="en-US"/>
          </a:p>
        </p:txBody>
      </p:sp>
      <p:sp>
        <p:nvSpPr>
          <p:cNvPr id="4" name="Content Placeholder 3"/>
          <p:cNvSpPr>
            <a:spLocks noGrp="1"/>
          </p:cNvSpPr>
          <p:nvPr>
            <p:ph idx="1"/>
          </p:nvPr>
        </p:nvSpPr>
        <p:spPr>
          <a:xfrm>
            <a:off x="628649" y="1399497"/>
            <a:ext cx="7886700" cy="1015229"/>
          </a:xfrm>
        </p:spPr>
        <p:txBody>
          <a:bodyPr>
            <a:normAutofit fontScale="70000" lnSpcReduction="20000"/>
          </a:bodyPr>
          <a:lstStyle/>
          <a:p>
            <a:pPr lvl="0"/>
            <a:r>
              <a:rPr lang="en-US"/>
              <a:t>Flight software will usually be found embedded in most subsystems</a:t>
            </a:r>
            <a:endParaRPr lang="en-US" sz="2400"/>
          </a:p>
          <a:p>
            <a:pPr lvl="1"/>
            <a:r>
              <a:rPr lang="en-US"/>
              <a:t>Software often physically resides in the spacecraft computer, but architectural view can be helpful to see different types of software</a:t>
            </a:r>
            <a:endParaRPr lang="en-US" sz="2000"/>
          </a:p>
          <a:p>
            <a:endParaRPr lang="en-US"/>
          </a:p>
        </p:txBody>
      </p:sp>
    </p:spTree>
    <p:extLst>
      <p:ext uri="{BB962C8B-B14F-4D97-AF65-F5344CB8AC3E}">
        <p14:creationId xmlns:p14="http://schemas.microsoft.com/office/powerpoint/2010/main" val="3787831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19764" y="192505"/>
            <a:ext cx="7815713" cy="6554853"/>
          </a:xfrm>
          <a:prstGeom prst="rect">
            <a:avLst/>
          </a:prstGeom>
        </p:spPr>
      </p:pic>
    </p:spTree>
    <p:extLst>
      <p:ext uri="{BB962C8B-B14F-4D97-AF65-F5344CB8AC3E}">
        <p14:creationId xmlns:p14="http://schemas.microsoft.com/office/powerpoint/2010/main" val="4084707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Commercial Flight Software vs Custom Flight Software</a:t>
            </a:r>
          </a:p>
        </p:txBody>
      </p:sp>
      <p:sp>
        <p:nvSpPr>
          <p:cNvPr id="3" name="Content Placeholder 2"/>
          <p:cNvSpPr>
            <a:spLocks noGrp="1"/>
          </p:cNvSpPr>
          <p:nvPr>
            <p:ph idx="1"/>
          </p:nvPr>
        </p:nvSpPr>
        <p:spPr>
          <a:xfrm>
            <a:off x="628650" y="2003179"/>
            <a:ext cx="7886700" cy="4351338"/>
          </a:xfrm>
        </p:spPr>
        <p:txBody>
          <a:bodyPr/>
          <a:lstStyle/>
          <a:p>
            <a:pPr lvl="0"/>
            <a:r>
              <a:rPr lang="en-US"/>
              <a:t>“Custom” flight software is developed specifically for the mission</a:t>
            </a:r>
          </a:p>
          <a:p>
            <a:pPr lvl="0"/>
            <a:r>
              <a:rPr lang="en-US"/>
              <a:t>Commercial (COTS) flight software has been used for other missions</a:t>
            </a:r>
          </a:p>
          <a:p>
            <a:pPr lvl="0"/>
            <a:r>
              <a:rPr lang="en-US"/>
              <a:t>Regardless of the source of the SW, keep in mind that it is “new” SW in the sense that it’s new for the current mission and must be developed/integrated properly and thoroughly tested</a:t>
            </a:r>
          </a:p>
          <a:p>
            <a:pPr marL="0" indent="0">
              <a:buNone/>
            </a:pPr>
            <a:endParaRPr lang="en-US"/>
          </a:p>
        </p:txBody>
      </p:sp>
    </p:spTree>
    <p:extLst>
      <p:ext uri="{BB962C8B-B14F-4D97-AF65-F5344CB8AC3E}">
        <p14:creationId xmlns:p14="http://schemas.microsoft.com/office/powerpoint/2010/main" val="1730196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Fault Management</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68926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Terms Definitions</a:t>
            </a:r>
          </a:p>
        </p:txBody>
      </p:sp>
      <p:sp>
        <p:nvSpPr>
          <p:cNvPr id="5" name="Content Placeholder 4"/>
          <p:cNvSpPr>
            <a:spLocks noGrp="1"/>
          </p:cNvSpPr>
          <p:nvPr>
            <p:ph idx="1"/>
          </p:nvPr>
        </p:nvSpPr>
        <p:spPr>
          <a:xfrm>
            <a:off x="628650" y="1825625"/>
            <a:ext cx="7886700" cy="4699462"/>
          </a:xfrm>
        </p:spPr>
        <p:txBody>
          <a:bodyPr vert="horz" lIns="91440" tIns="45720" rIns="91440" bIns="45720" rtlCol="0" anchor="t">
            <a:normAutofit fontScale="70000" lnSpcReduction="20000"/>
          </a:bodyPr>
          <a:lstStyle/>
          <a:p>
            <a:pPr lvl="0"/>
            <a:r>
              <a:rPr lang="en-US" b="1" dirty="0"/>
              <a:t>Fault</a:t>
            </a:r>
            <a:r>
              <a:rPr lang="en-US" dirty="0"/>
              <a:t>: an unexpected response whereby the function is recoverable, either by fixing it, managing around it, or by redundancy</a:t>
            </a:r>
            <a:endParaRPr lang="en-US" sz="2400" dirty="0"/>
          </a:p>
          <a:p>
            <a:pPr lvl="0"/>
            <a:r>
              <a:rPr lang="en-US" b="1" dirty="0"/>
              <a:t>Fault tolerance</a:t>
            </a:r>
            <a:r>
              <a:rPr lang="en-US" dirty="0"/>
              <a:t>: the number of faults that the system must tolerate to meet its specifications</a:t>
            </a:r>
            <a:endParaRPr lang="en-US" sz="2400" dirty="0"/>
          </a:p>
          <a:p>
            <a:pPr lvl="0"/>
            <a:r>
              <a:rPr lang="en-US" b="1" dirty="0"/>
              <a:t>Fault mitigation</a:t>
            </a:r>
            <a:r>
              <a:rPr lang="en-US" dirty="0"/>
              <a:t>: the passive mitigation of faults through design</a:t>
            </a:r>
            <a:endParaRPr lang="en-US" sz="2400" dirty="0"/>
          </a:p>
          <a:p>
            <a:pPr lvl="1"/>
            <a:r>
              <a:rPr lang="en-US" dirty="0"/>
              <a:t>Examples: ARM/EXECUTE command pairs for hazardous commands, extra solar array strings</a:t>
            </a:r>
            <a:endParaRPr lang="en-US" sz="2000" dirty="0"/>
          </a:p>
          <a:p>
            <a:pPr lvl="0"/>
            <a:r>
              <a:rPr lang="en-US" b="1" dirty="0"/>
              <a:t>Fault protection</a:t>
            </a:r>
            <a:r>
              <a:rPr lang="en-US" dirty="0"/>
              <a:t>: the implementation of design intended to actively control the effects of a fault</a:t>
            </a:r>
            <a:endParaRPr lang="en-US" sz="2400" dirty="0"/>
          </a:p>
          <a:p>
            <a:pPr lvl="1"/>
            <a:r>
              <a:rPr lang="en-US" dirty="0"/>
              <a:t>Limited to detecting and responding to discrete defects which may arise in the operation of an otherwise healthy space vehicle</a:t>
            </a:r>
            <a:endParaRPr lang="en-US" sz="2000" dirty="0"/>
          </a:p>
          <a:p>
            <a:pPr lvl="1"/>
            <a:r>
              <a:rPr lang="en-US" dirty="0"/>
              <a:t>Intended to detect faults (or the effect of a fault) and intervene so that the fault does not permanently affect the safety of the space vehicle</a:t>
            </a:r>
            <a:endParaRPr lang="en-US" sz="2000" dirty="0"/>
          </a:p>
          <a:p>
            <a:pPr lvl="0"/>
            <a:r>
              <a:rPr lang="en-US" b="1" dirty="0"/>
              <a:t>Fault management</a:t>
            </a:r>
            <a:r>
              <a:rPr lang="en-US" dirty="0"/>
              <a:t>: an engineering discipline that addresses the occurrence of faults on the space vehicle and provides a means for reducing their effect through cooperative design of both the space vehicle and ground elements and operator actions; includes fault tolerance, fault mitigation and fault protection</a:t>
            </a:r>
            <a:endParaRPr lang="en-US" sz="2400" dirty="0"/>
          </a:p>
        </p:txBody>
      </p:sp>
    </p:spTree>
    <p:extLst>
      <p:ext uri="{BB962C8B-B14F-4D97-AF65-F5344CB8AC3E}">
        <p14:creationId xmlns:p14="http://schemas.microsoft.com/office/powerpoint/2010/main" val="423496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85524" y="368815"/>
            <a:ext cx="7159241" cy="6055697"/>
          </a:xfrm>
          <a:prstGeom prst="rect">
            <a:avLst/>
          </a:prstGeom>
        </p:spPr>
      </p:pic>
    </p:spTree>
    <p:extLst>
      <p:ext uri="{BB962C8B-B14F-4D97-AF65-F5344CB8AC3E}">
        <p14:creationId xmlns:p14="http://schemas.microsoft.com/office/powerpoint/2010/main" val="274908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Four areas that fault management is </a:t>
            </a:r>
            <a:r>
              <a:rPr lang="en-US" b="1"/>
              <a:t>NOT</a:t>
            </a:r>
            <a:r>
              <a:rPr lang="en-US"/>
              <a:t> suitable for addressing</a:t>
            </a:r>
          </a:p>
        </p:txBody>
      </p:sp>
      <p:sp>
        <p:nvSpPr>
          <p:cNvPr id="3" name="Content Placeholder 2"/>
          <p:cNvSpPr>
            <a:spLocks noGrp="1"/>
          </p:cNvSpPr>
          <p:nvPr>
            <p:ph idx="1"/>
          </p:nvPr>
        </p:nvSpPr>
        <p:spPr>
          <a:xfrm>
            <a:off x="628650" y="1887768"/>
            <a:ext cx="7886700" cy="4903649"/>
          </a:xfrm>
        </p:spPr>
        <p:txBody>
          <a:bodyPr>
            <a:normAutofit fontScale="70000" lnSpcReduction="20000"/>
          </a:bodyPr>
          <a:lstStyle/>
          <a:p>
            <a:pPr lvl="0"/>
            <a:r>
              <a:rPr lang="en-US"/>
              <a:t>Defects in space vehicle unit design</a:t>
            </a:r>
            <a:endParaRPr lang="en-US" sz="2400"/>
          </a:p>
          <a:p>
            <a:pPr lvl="1"/>
            <a:r>
              <a:rPr lang="en-US" err="1"/>
              <a:t>Eg</a:t>
            </a:r>
            <a:r>
              <a:rPr lang="en-US"/>
              <a:t>: reaction wheel bearing failure due to being incorrectly sized, software coding error</a:t>
            </a:r>
            <a:endParaRPr lang="en-US" sz="2000"/>
          </a:p>
          <a:p>
            <a:pPr lvl="1"/>
            <a:r>
              <a:rPr lang="en-US"/>
              <a:t>Prevention of design errors must be addressed by a thorough analysis, design review and validation program</a:t>
            </a:r>
            <a:endParaRPr lang="en-US" sz="2000"/>
          </a:p>
          <a:p>
            <a:pPr lvl="0"/>
            <a:r>
              <a:rPr lang="en-US"/>
              <a:t>Defects in the space vehicle or unit architecture</a:t>
            </a:r>
            <a:endParaRPr lang="en-US" sz="2400"/>
          </a:p>
          <a:p>
            <a:pPr lvl="1"/>
            <a:r>
              <a:rPr lang="en-US"/>
              <a:t>Fault protection relies on a redundant function being available in the event that the primary has been impacted by a fault</a:t>
            </a:r>
            <a:endParaRPr lang="en-US" sz="2000"/>
          </a:p>
          <a:p>
            <a:pPr lvl="0"/>
            <a:r>
              <a:rPr lang="en-US"/>
              <a:t>Defects in the space vehicle assembly, either design or manufacturing related</a:t>
            </a:r>
            <a:endParaRPr lang="en-US" sz="2400"/>
          </a:p>
          <a:p>
            <a:pPr lvl="1"/>
            <a:r>
              <a:rPr lang="en-US" err="1"/>
              <a:t>Eg</a:t>
            </a:r>
            <a:r>
              <a:rPr lang="en-US"/>
              <a:t>: reaction wheel being installed with incorrect polarity</a:t>
            </a:r>
            <a:endParaRPr lang="en-US" sz="2000"/>
          </a:p>
          <a:p>
            <a:pPr lvl="1"/>
            <a:r>
              <a:rPr lang="en-US"/>
              <a:t>These errors should be addressed by a thorough ground test program</a:t>
            </a:r>
            <a:endParaRPr lang="en-US" sz="2000"/>
          </a:p>
          <a:p>
            <a:pPr lvl="0"/>
            <a:r>
              <a:rPr lang="en-US"/>
              <a:t>Common cause defects</a:t>
            </a:r>
            <a:endParaRPr lang="en-US" sz="2400"/>
          </a:p>
          <a:p>
            <a:pPr lvl="1"/>
            <a:r>
              <a:rPr lang="en-US"/>
              <a:t>Where a process, practice or material results in a component that is deficient</a:t>
            </a:r>
            <a:endParaRPr lang="en-US" sz="2000"/>
          </a:p>
          <a:p>
            <a:pPr lvl="1"/>
            <a:r>
              <a:rPr lang="en-US" err="1"/>
              <a:t>Eg</a:t>
            </a:r>
            <a:r>
              <a:rPr lang="en-US"/>
              <a:t>: part is overstressed during ground tests due to procedure and thus all parts are impacted and redundancy is no longer helpful</a:t>
            </a:r>
            <a:endParaRPr lang="en-US" sz="2000"/>
          </a:p>
        </p:txBody>
      </p:sp>
    </p:spTree>
    <p:extLst>
      <p:ext uri="{BB962C8B-B14F-4D97-AF65-F5344CB8AC3E}">
        <p14:creationId xmlns:p14="http://schemas.microsoft.com/office/powerpoint/2010/main" val="2661848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Causes of Spacecraft Failures</a:t>
            </a:r>
          </a:p>
        </p:txBody>
      </p:sp>
      <p:sp>
        <p:nvSpPr>
          <p:cNvPr id="3" name="Content Placeholder 2"/>
          <p:cNvSpPr>
            <a:spLocks noGrp="1"/>
          </p:cNvSpPr>
          <p:nvPr>
            <p:ph idx="1"/>
          </p:nvPr>
        </p:nvSpPr>
        <p:spPr>
          <a:xfrm>
            <a:off x="628650" y="1690689"/>
            <a:ext cx="7886700" cy="5167311"/>
          </a:xfrm>
        </p:spPr>
        <p:txBody>
          <a:bodyPr>
            <a:normAutofit fontScale="70000" lnSpcReduction="20000"/>
          </a:bodyPr>
          <a:lstStyle/>
          <a:p>
            <a:pPr lvl="0">
              <a:lnSpc>
                <a:spcPct val="120000"/>
              </a:lnSpc>
              <a:spcBef>
                <a:spcPts val="0"/>
              </a:spcBef>
            </a:pPr>
            <a:r>
              <a:rPr lang="en-US" dirty="0"/>
              <a:t>All space vehicles are subject to the hazards of their environment, handling practices, hardware and software failures as well as threats from adversaries (link denial). </a:t>
            </a:r>
            <a:endParaRPr lang="en-US" sz="2400" dirty="0"/>
          </a:p>
          <a:p>
            <a:pPr lvl="0">
              <a:lnSpc>
                <a:spcPct val="120000"/>
              </a:lnSpc>
              <a:spcBef>
                <a:spcPts val="0"/>
              </a:spcBef>
            </a:pPr>
            <a:r>
              <a:rPr lang="en-US" dirty="0"/>
              <a:t>Understanding why and how satellites fail allows for selection of appropriate mitigation efforts, including architectural design choices and appropriate fault management techniques in order to maximize the chance of space vehicle survival.</a:t>
            </a:r>
            <a:endParaRPr lang="en-US" sz="2400" dirty="0"/>
          </a:p>
          <a:p>
            <a:pPr lvl="0">
              <a:lnSpc>
                <a:spcPct val="120000"/>
              </a:lnSpc>
              <a:spcBef>
                <a:spcPts val="0"/>
              </a:spcBef>
            </a:pPr>
            <a:r>
              <a:rPr lang="en-US" dirty="0"/>
              <a:t>Faults may occur in any component of the space vehicle, or in the connections or interfaces between system components. These faults fall into two main categories: </a:t>
            </a:r>
            <a:endParaRPr lang="en-US" sz="2400" dirty="0"/>
          </a:p>
          <a:p>
            <a:pPr marL="457200" lvl="1" indent="0">
              <a:lnSpc>
                <a:spcPct val="120000"/>
              </a:lnSpc>
              <a:spcBef>
                <a:spcPts val="0"/>
              </a:spcBef>
              <a:buNone/>
            </a:pPr>
            <a:r>
              <a:rPr lang="en-US" dirty="0"/>
              <a:t>1) Random hardware faults, assumed to occur with a constant random failure rate. </a:t>
            </a:r>
            <a:endParaRPr lang="en-US" sz="2000" dirty="0"/>
          </a:p>
          <a:p>
            <a:pPr marL="457200" lvl="1" indent="0">
              <a:lnSpc>
                <a:spcPct val="120000"/>
              </a:lnSpc>
              <a:spcBef>
                <a:spcPts val="0"/>
              </a:spcBef>
              <a:buNone/>
            </a:pPr>
            <a:r>
              <a:rPr lang="en-US" dirty="0"/>
              <a:t>2) Common mode faults (including specification, design errors, improper parts and materials for the space environment, and workmanship errors).</a:t>
            </a:r>
            <a:endParaRPr lang="en-US" sz="2000" dirty="0"/>
          </a:p>
          <a:p>
            <a:endParaRPr lang="en-US" dirty="0"/>
          </a:p>
        </p:txBody>
      </p:sp>
    </p:spTree>
    <p:extLst>
      <p:ext uri="{BB962C8B-B14F-4D97-AF65-F5344CB8AC3E}">
        <p14:creationId xmlns:p14="http://schemas.microsoft.com/office/powerpoint/2010/main" val="2616358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5506" y="418071"/>
            <a:ext cx="5636394" cy="6458000"/>
          </a:xfrm>
          <a:prstGeom prst="rect">
            <a:avLst/>
          </a:prstGeom>
        </p:spPr>
      </p:pic>
      <p:pic>
        <p:nvPicPr>
          <p:cNvPr id="3" name="Picture 2"/>
          <p:cNvPicPr>
            <a:picLocks noChangeAspect="1"/>
          </p:cNvPicPr>
          <p:nvPr/>
        </p:nvPicPr>
        <p:blipFill>
          <a:blip r:embed="rId3"/>
          <a:stretch>
            <a:fillRect/>
          </a:stretch>
        </p:blipFill>
        <p:spPr>
          <a:xfrm>
            <a:off x="3630228" y="142825"/>
            <a:ext cx="2266950" cy="257175"/>
          </a:xfrm>
          <a:prstGeom prst="rect">
            <a:avLst/>
          </a:prstGeom>
        </p:spPr>
      </p:pic>
    </p:spTree>
    <p:extLst>
      <p:ext uri="{BB962C8B-B14F-4D97-AF65-F5344CB8AC3E}">
        <p14:creationId xmlns:p14="http://schemas.microsoft.com/office/powerpoint/2010/main" val="3313437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577" y="1619260"/>
            <a:ext cx="8812209" cy="3712133"/>
          </a:xfrm>
          <a:prstGeom prst="rect">
            <a:avLst/>
          </a:prstGeom>
        </p:spPr>
      </p:pic>
      <p:pic>
        <p:nvPicPr>
          <p:cNvPr id="3" name="Picture 2"/>
          <p:cNvPicPr>
            <a:picLocks noChangeAspect="1"/>
          </p:cNvPicPr>
          <p:nvPr/>
        </p:nvPicPr>
        <p:blipFill>
          <a:blip r:embed="rId3"/>
          <a:stretch>
            <a:fillRect/>
          </a:stretch>
        </p:blipFill>
        <p:spPr>
          <a:xfrm>
            <a:off x="2827129" y="1247785"/>
            <a:ext cx="3629025" cy="371475"/>
          </a:xfrm>
          <a:prstGeom prst="rect">
            <a:avLst/>
          </a:prstGeom>
        </p:spPr>
      </p:pic>
      <p:pic>
        <p:nvPicPr>
          <p:cNvPr id="4" name="Picture 3"/>
          <p:cNvPicPr>
            <a:picLocks noChangeAspect="1"/>
          </p:cNvPicPr>
          <p:nvPr/>
        </p:nvPicPr>
        <p:blipFill>
          <a:blip r:embed="rId4"/>
          <a:stretch>
            <a:fillRect/>
          </a:stretch>
        </p:blipFill>
        <p:spPr>
          <a:xfrm>
            <a:off x="162577" y="213311"/>
            <a:ext cx="8721542" cy="665702"/>
          </a:xfrm>
          <a:prstGeom prst="rect">
            <a:avLst/>
          </a:prstGeom>
        </p:spPr>
      </p:pic>
    </p:spTree>
    <p:extLst>
      <p:ext uri="{BB962C8B-B14F-4D97-AF65-F5344CB8AC3E}">
        <p14:creationId xmlns:p14="http://schemas.microsoft.com/office/powerpoint/2010/main" val="2638917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0898" y="1029903"/>
            <a:ext cx="8665366" cy="4863565"/>
          </a:xfrm>
          <a:prstGeom prst="rect">
            <a:avLst/>
          </a:prstGeom>
        </p:spPr>
      </p:pic>
    </p:spTree>
    <p:extLst>
      <p:ext uri="{BB962C8B-B14F-4D97-AF65-F5344CB8AC3E}">
        <p14:creationId xmlns:p14="http://schemas.microsoft.com/office/powerpoint/2010/main" val="2697176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390" y="702644"/>
            <a:ext cx="9077610" cy="5574632"/>
          </a:xfrm>
          <a:prstGeom prst="rect">
            <a:avLst/>
          </a:prstGeom>
        </p:spPr>
      </p:pic>
    </p:spTree>
    <p:extLst>
      <p:ext uri="{BB962C8B-B14F-4D97-AF65-F5344CB8AC3E}">
        <p14:creationId xmlns:p14="http://schemas.microsoft.com/office/powerpoint/2010/main" val="3745458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3540"/>
            <a:ext cx="7886700" cy="1325563"/>
          </a:xfrm>
        </p:spPr>
        <p:txBody>
          <a:bodyPr/>
          <a:lstStyle/>
          <a:p>
            <a:r>
              <a:rPr lang="en-US"/>
              <a:t>So what?</a:t>
            </a:r>
          </a:p>
        </p:txBody>
      </p:sp>
      <p:sp>
        <p:nvSpPr>
          <p:cNvPr id="3" name="Content Placeholder 2"/>
          <p:cNvSpPr>
            <a:spLocks noGrp="1"/>
          </p:cNvSpPr>
          <p:nvPr>
            <p:ph idx="1"/>
          </p:nvPr>
        </p:nvSpPr>
        <p:spPr>
          <a:xfrm>
            <a:off x="628650" y="1349406"/>
            <a:ext cx="7886700" cy="5406501"/>
          </a:xfrm>
        </p:spPr>
        <p:txBody>
          <a:bodyPr>
            <a:normAutofit fontScale="62500" lnSpcReduction="20000"/>
          </a:bodyPr>
          <a:lstStyle/>
          <a:p>
            <a:pPr marL="0" indent="0">
              <a:buNone/>
            </a:pPr>
            <a:r>
              <a:rPr lang="en-US" dirty="0"/>
              <a:t>So, what are the main causes of </a:t>
            </a:r>
            <a:r>
              <a:rPr lang="en-US" dirty="0" smtClean="0"/>
              <a:t>Systematic </a:t>
            </a:r>
            <a:r>
              <a:rPr lang="en-US" dirty="0"/>
              <a:t>Faults in spacecraft failures? </a:t>
            </a:r>
          </a:p>
          <a:p>
            <a:pPr marL="0" lvl="0" indent="0">
              <a:buNone/>
            </a:pPr>
            <a:r>
              <a:rPr lang="en-US" dirty="0"/>
              <a:t>1. Manufacturing Faults (Workmanship): 36%</a:t>
            </a:r>
          </a:p>
          <a:p>
            <a:pPr marL="0" lvl="0" indent="0">
              <a:buNone/>
            </a:pPr>
            <a:r>
              <a:rPr lang="en-US" dirty="0"/>
              <a:t>2. Engineering Faults (Design): 24%</a:t>
            </a:r>
          </a:p>
          <a:p>
            <a:pPr marL="0" lvl="0" indent="0">
              <a:buNone/>
            </a:pPr>
            <a:r>
              <a:rPr lang="en-US" dirty="0"/>
              <a:t>3. Launch Vehicle Failure: 21%</a:t>
            </a:r>
          </a:p>
          <a:p>
            <a:pPr marL="0" lvl="0" indent="0">
              <a:buNone/>
            </a:pPr>
            <a:r>
              <a:rPr lang="en-US" dirty="0"/>
              <a:t>4. Engineering Faults (Parts &amp; Materials): 8%</a:t>
            </a:r>
          </a:p>
          <a:p>
            <a:pPr marL="0" lvl="0" indent="0">
              <a:buNone/>
            </a:pPr>
            <a:r>
              <a:rPr lang="en-US" dirty="0"/>
              <a:t>5. Natural Space Environment: 7%</a:t>
            </a:r>
          </a:p>
          <a:p>
            <a:pPr marL="0" lvl="0" indent="0">
              <a:buNone/>
            </a:pPr>
            <a:r>
              <a:rPr lang="en-US" dirty="0"/>
              <a:t>6. Limited Engineering Knowledge: 4%</a:t>
            </a:r>
          </a:p>
          <a:p>
            <a:pPr marL="0" lvl="0" indent="0">
              <a:buNone/>
            </a:pPr>
            <a:endParaRPr lang="en-US" dirty="0"/>
          </a:p>
          <a:p>
            <a:pPr lvl="0"/>
            <a:r>
              <a:rPr lang="en-US" dirty="0"/>
              <a:t>The space vehicle hazard analysis shows that most space vehicle failures are due to common cause, or systematic faults rather than random hardware faults. To maximize the chance of space vehicle survival, fault management systems should encompass both robust space vehicle design, as well as a fault management system. </a:t>
            </a:r>
          </a:p>
          <a:p>
            <a:pPr lvl="0"/>
            <a:r>
              <a:rPr lang="en-US" b="1" dirty="0"/>
              <a:t>Conclusion</a:t>
            </a:r>
            <a:r>
              <a:rPr lang="en-US" dirty="0"/>
              <a:t>: There should be a focused effort on preventing common cause failure mechanisms. Analysis of the space vehicle failure data reveals that 60% of the failures are due to systematic faults relating to design errors (and it could be argued that the space environment failures could be considered design faults), component, and workmanship issues that fault management systems are not intended to address. To ensure mission success, it is imperative that the space vehicle be designed and built to withstand the effects of the space environment.</a:t>
            </a:r>
          </a:p>
        </p:txBody>
      </p:sp>
    </p:spTree>
    <p:extLst>
      <p:ext uri="{BB962C8B-B14F-4D97-AF65-F5344CB8AC3E}">
        <p14:creationId xmlns:p14="http://schemas.microsoft.com/office/powerpoint/2010/main" val="36479346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6D43CB2-79B4-4186-8829-C15EE19FBE78}">
  <ds:schemaRefs>
    <ds:schemaRef ds:uri="http://schemas.microsoft.com/sharepoint/v3/contenttype/forms"/>
  </ds:schemaRefs>
</ds:datastoreItem>
</file>

<file path=customXml/itemProps2.xml><?xml version="1.0" encoding="utf-8"?>
<ds:datastoreItem xmlns:ds="http://schemas.openxmlformats.org/officeDocument/2006/customXml" ds:itemID="{2ECD01A5-25CE-42FF-90BC-2C8E844C118C}"/>
</file>

<file path=customXml/itemProps3.xml><?xml version="1.0" encoding="utf-8"?>
<ds:datastoreItem xmlns:ds="http://schemas.openxmlformats.org/officeDocument/2006/customXml" ds:itemID="{FE866C9D-AACC-4904-8EE9-D8BE2CD6637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7</TotalTime>
  <Words>1146</Words>
  <Application>Microsoft Office PowerPoint</Application>
  <PresentationFormat>On-screen Show (4:3)</PresentationFormat>
  <Paragraphs>75</Paragraphs>
  <Slides>19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Astro 331 Lesson 16</vt:lpstr>
      <vt:lpstr>Lesson Objectives</vt:lpstr>
      <vt:lpstr>Flight Software</vt:lpstr>
      <vt:lpstr>Terms</vt:lpstr>
      <vt:lpstr>Methods for Tolerating Faults</vt:lpstr>
      <vt:lpstr>Four Principal Classes of Flight Software</vt:lpstr>
      <vt:lpstr>Flight Software as a System (Supp Crs Mtl) </vt:lpstr>
      <vt:lpstr>PowerPoint Presentation</vt:lpstr>
      <vt:lpstr>Commercial Flight Software vs Custom Flight Software</vt:lpstr>
      <vt:lpstr>Fault Management</vt:lpstr>
      <vt:lpstr>Terms Definitions</vt:lpstr>
      <vt:lpstr>PowerPoint Presentation</vt:lpstr>
      <vt:lpstr>Four areas that fault management is NOT suitable for addressing</vt:lpstr>
      <vt:lpstr>Causes of Spacecraft Failures</vt:lpstr>
      <vt:lpstr>PowerPoint Presentation</vt:lpstr>
      <vt:lpstr>PowerPoint Presentation</vt:lpstr>
      <vt:lpstr>PowerPoint Presentation</vt:lpstr>
      <vt:lpstr>PowerPoint Presentation</vt:lpstr>
      <vt:lpstr>So what?</vt:lpstr>
    </vt:vector>
  </TitlesOfParts>
  <Company>USAFA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 331 Lesson 13</dc:title>
  <dc:creator>Quadrino, Meghan K Capt USAF USAFA USAFA/DFAS</dc:creator>
  <cp:lastModifiedBy>Quadrino, Meghan K Capt USAF USAFA USAFA/DFAS</cp:lastModifiedBy>
  <cp:revision>7</cp:revision>
  <dcterms:created xsi:type="dcterms:W3CDTF">2021-02-08T21:13:09Z</dcterms:created>
  <dcterms:modified xsi:type="dcterms:W3CDTF">2022-01-04T04:58:22Z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ies>
</file>