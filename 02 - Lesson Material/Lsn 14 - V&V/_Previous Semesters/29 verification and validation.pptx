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3"/>
  </p:notesMasterIdLst>
  <p:handoutMasterIdLst>
    <p:handoutMasterId r:id="rId34"/>
  </p:handoutMasterIdLst>
  <p:sldIdLst>
    <p:sldId id="258" r:id="rId5"/>
    <p:sldId id="312" r:id="rId6"/>
    <p:sldId id="339" r:id="rId7"/>
    <p:sldId id="313" r:id="rId8"/>
    <p:sldId id="325" r:id="rId9"/>
    <p:sldId id="327" r:id="rId10"/>
    <p:sldId id="336" r:id="rId11"/>
    <p:sldId id="326" r:id="rId12"/>
    <p:sldId id="316" r:id="rId13"/>
    <p:sldId id="314" r:id="rId14"/>
    <p:sldId id="328" r:id="rId15"/>
    <p:sldId id="329" r:id="rId16"/>
    <p:sldId id="318" r:id="rId17"/>
    <p:sldId id="330" r:id="rId18"/>
    <p:sldId id="317" r:id="rId19"/>
    <p:sldId id="331" r:id="rId20"/>
    <p:sldId id="337" r:id="rId21"/>
    <p:sldId id="332" r:id="rId22"/>
    <p:sldId id="319" r:id="rId23"/>
    <p:sldId id="338" r:id="rId24"/>
    <p:sldId id="333" r:id="rId25"/>
    <p:sldId id="320" r:id="rId26"/>
    <p:sldId id="321" r:id="rId27"/>
    <p:sldId id="322" r:id="rId28"/>
    <p:sldId id="323" r:id="rId29"/>
    <p:sldId id="335" r:id="rId30"/>
    <p:sldId id="334" r:id="rId31"/>
    <p:sldId id="324" r:id="rId32"/>
  </p:sldIdLst>
  <p:sldSz cx="9144000" cy="6858000" type="screen4x3"/>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920639-D9E3-4CDB-B126-D82A87CEBF2B}" v="1" dt="2022-11-04T14:07:41.4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4" autoAdjust="0"/>
    <p:restoredTop sz="94660"/>
  </p:normalViewPr>
  <p:slideViewPr>
    <p:cSldViewPr snapToGrid="0">
      <p:cViewPr varScale="1">
        <p:scale>
          <a:sx n="63" d="100"/>
          <a:sy n="63" d="100"/>
        </p:scale>
        <p:origin x="1278"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yton, Gary E Civ USAF USAFA DF/DFAS" userId="S::gary.payton@afacademy.af.edu::aaa9b543-cdb9-4ba7-b997-49e027a0439f" providerId="AD" clId="Web-{A8920639-D9E3-4CDB-B126-D82A87CEBF2B}"/>
    <pc:docChg chg="modSld">
      <pc:chgData name="Payton, Gary E Civ USAF USAFA DF/DFAS" userId="S::gary.payton@afacademy.af.edu::aaa9b543-cdb9-4ba7-b997-49e027a0439f" providerId="AD" clId="Web-{A8920639-D9E3-4CDB-B126-D82A87CEBF2B}" dt="2022-11-04T14:07:41.441" v="0"/>
      <pc:docMkLst>
        <pc:docMk/>
      </pc:docMkLst>
      <pc:sldChg chg="delSp">
        <pc:chgData name="Payton, Gary E Civ USAF USAFA DF/DFAS" userId="S::gary.payton@afacademy.af.edu::aaa9b543-cdb9-4ba7-b997-49e027a0439f" providerId="AD" clId="Web-{A8920639-D9E3-4CDB-B126-D82A87CEBF2B}" dt="2022-11-04T14:07:41.441" v="0"/>
        <pc:sldMkLst>
          <pc:docMk/>
          <pc:sldMk cId="3820058620" sldId="339"/>
        </pc:sldMkLst>
        <pc:spChg chg="del">
          <ac:chgData name="Payton, Gary E Civ USAF USAFA DF/DFAS" userId="S::gary.payton@afacademy.af.edu::aaa9b543-cdb9-4ba7-b997-49e027a0439f" providerId="AD" clId="Web-{A8920639-D9E3-4CDB-B126-D82A87CEBF2B}" dt="2022-11-04T14:07:41.441" v="0"/>
          <ac:spMkLst>
            <pc:docMk/>
            <pc:sldMk cId="3820058620" sldId="339"/>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029282" cy="35195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265014" y="0"/>
            <a:ext cx="4029282" cy="351957"/>
          </a:xfrm>
          <a:prstGeom prst="rect">
            <a:avLst/>
          </a:prstGeom>
        </p:spPr>
        <p:txBody>
          <a:bodyPr vert="horz" lIns="91440" tIns="45720" rIns="91440" bIns="45720" rtlCol="0"/>
          <a:lstStyle>
            <a:lvl1pPr algn="r">
              <a:defRPr sz="1200"/>
            </a:lvl1pPr>
          </a:lstStyle>
          <a:p>
            <a:fld id="{6ABBA195-A930-461F-9F68-63674CBC1F57}" type="datetimeFigureOut">
              <a:rPr lang="en-US" smtClean="0"/>
              <a:t>11/4/2022</a:t>
            </a:fld>
            <a:endParaRPr lang="en-US"/>
          </a:p>
        </p:txBody>
      </p:sp>
      <p:sp>
        <p:nvSpPr>
          <p:cNvPr id="4" name="Footer Placeholder 3"/>
          <p:cNvSpPr>
            <a:spLocks noGrp="1"/>
          </p:cNvSpPr>
          <p:nvPr>
            <p:ph type="ftr" sz="quarter" idx="2"/>
          </p:nvPr>
        </p:nvSpPr>
        <p:spPr>
          <a:xfrm>
            <a:off x="1" y="6658444"/>
            <a:ext cx="4029282" cy="35195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265014" y="6658444"/>
            <a:ext cx="4029282" cy="351957"/>
          </a:xfrm>
          <a:prstGeom prst="rect">
            <a:avLst/>
          </a:prstGeom>
        </p:spPr>
        <p:txBody>
          <a:bodyPr vert="horz" lIns="91440" tIns="45720" rIns="91440" bIns="45720" rtlCol="0" anchor="b"/>
          <a:lstStyle>
            <a:lvl1pPr algn="r">
              <a:defRPr sz="1200"/>
            </a:lvl1pPr>
          </a:lstStyle>
          <a:p>
            <a:fld id="{A185C700-0AF4-4EE1-AD5E-8E73BEF584FA}" type="slidenum">
              <a:rPr lang="en-US" smtClean="0"/>
              <a:t>‹#›</a:t>
            </a:fld>
            <a:endParaRPr lang="en-US"/>
          </a:p>
        </p:txBody>
      </p:sp>
    </p:spTree>
    <p:extLst>
      <p:ext uri="{BB962C8B-B14F-4D97-AF65-F5344CB8AC3E}">
        <p14:creationId xmlns:p14="http://schemas.microsoft.com/office/powerpoint/2010/main" val="2773722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29075" cy="350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265738" y="0"/>
            <a:ext cx="4029075" cy="350838"/>
          </a:xfrm>
          <a:prstGeom prst="rect">
            <a:avLst/>
          </a:prstGeom>
        </p:spPr>
        <p:txBody>
          <a:bodyPr vert="horz" lIns="91440" tIns="45720" rIns="91440" bIns="45720" rtlCol="0"/>
          <a:lstStyle>
            <a:lvl1pPr algn="r">
              <a:defRPr sz="1200"/>
            </a:lvl1pPr>
          </a:lstStyle>
          <a:p>
            <a:fld id="{3CBFA975-85A1-44C6-B324-592D950BD05D}" type="datetimeFigureOut">
              <a:rPr lang="en-US" smtClean="0"/>
              <a:t>11/4/2022</a:t>
            </a:fld>
            <a:endParaRPr lang="en-US"/>
          </a:p>
        </p:txBody>
      </p:sp>
      <p:sp>
        <p:nvSpPr>
          <p:cNvPr id="4" name="Slide Image Placeholder 3"/>
          <p:cNvSpPr>
            <a:spLocks noGrp="1" noRot="1" noChangeAspect="1"/>
          </p:cNvSpPr>
          <p:nvPr>
            <p:ph type="sldImg" idx="2"/>
          </p:nvPr>
        </p:nvSpPr>
        <p:spPr>
          <a:xfrm>
            <a:off x="3071813" y="876300"/>
            <a:ext cx="3152775" cy="23653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30275" y="3373438"/>
            <a:ext cx="7435850" cy="2760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9563"/>
            <a:ext cx="4029075" cy="3508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265738" y="6659563"/>
            <a:ext cx="4029075" cy="350837"/>
          </a:xfrm>
          <a:prstGeom prst="rect">
            <a:avLst/>
          </a:prstGeom>
        </p:spPr>
        <p:txBody>
          <a:bodyPr vert="horz" lIns="91440" tIns="45720" rIns="91440" bIns="45720" rtlCol="0" anchor="b"/>
          <a:lstStyle>
            <a:lvl1pPr algn="r">
              <a:defRPr sz="1200"/>
            </a:lvl1pPr>
          </a:lstStyle>
          <a:p>
            <a:fld id="{98774E78-36D7-4A68-A7BE-41514770105B}" type="slidenum">
              <a:rPr lang="en-US" smtClean="0"/>
              <a:t>‹#›</a:t>
            </a:fld>
            <a:endParaRPr lang="en-US"/>
          </a:p>
        </p:txBody>
      </p:sp>
    </p:spTree>
    <p:extLst>
      <p:ext uri="{BB962C8B-B14F-4D97-AF65-F5344CB8AC3E}">
        <p14:creationId xmlns:p14="http://schemas.microsoft.com/office/powerpoint/2010/main" val="2626175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473106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29920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B8F1D6-D3DC-40BB-BF42-45511740934C}"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693720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B8F1D6-D3DC-40BB-BF42-45511740934C}" type="datetimeFigureOut">
              <a:rPr lang="en-US" smtClean="0"/>
              <a:t>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4214743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B8F1D6-D3DC-40BB-BF42-45511740934C}" type="datetimeFigureOut">
              <a:rPr lang="en-US" smtClean="0"/>
              <a:t>11/4/2022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9256555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B8F1D6-D3DC-40BB-BF42-45511740934C}" type="datetimeFigureOut">
              <a:rPr lang="en-US" smtClean="0"/>
              <a:t>11/4/2022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57688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B8F1D6-D3DC-40BB-BF42-45511740934C}" type="datetimeFigureOut">
              <a:rPr lang="en-US" smtClean="0"/>
              <a:t>11/4/2022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99062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B8F1D6-D3DC-40BB-BF42-45511740934C}" type="datetimeFigureOut">
              <a:rPr lang="en-US" smtClean="0"/>
              <a:t>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3291654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BB8F1D6-D3DC-40BB-BF42-45511740934C}" type="datetimeFigureOut">
              <a:rPr lang="en-US" smtClean="0"/>
              <a:t>11/4/2022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213019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283247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B8F1D6-D3DC-40BB-BF42-45511740934C}" type="datetimeFigureOut">
              <a:rPr lang="en-US" smtClean="0"/>
              <a:t>11/4/2022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EF813A-C95A-49A4-BB2C-19388EC38802}" type="slidenum">
              <a:rPr lang="en-US" smtClean="0"/>
              <a:t>‹#›</a:t>
            </a:fld>
            <a:endParaRPr lang="en-US"/>
          </a:p>
        </p:txBody>
      </p:sp>
    </p:spTree>
    <p:extLst>
      <p:ext uri="{BB962C8B-B14F-4D97-AF65-F5344CB8AC3E}">
        <p14:creationId xmlns:p14="http://schemas.microsoft.com/office/powerpoint/2010/main" val="179799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B8F1D6-D3DC-40BB-BF42-45511740934C}" type="datetimeFigureOut">
              <a:rPr lang="en-US" smtClean="0"/>
              <a:t>11/4/2022</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EF813A-C95A-49A4-BB2C-19388EC38802}" type="slidenum">
              <a:rPr lang="en-US" smtClean="0"/>
              <a:t>‹#›</a:t>
            </a:fld>
            <a:endParaRPr lang="en-US"/>
          </a:p>
        </p:txBody>
      </p:sp>
    </p:spTree>
    <p:extLst>
      <p:ext uri="{BB962C8B-B14F-4D97-AF65-F5344CB8AC3E}">
        <p14:creationId xmlns:p14="http://schemas.microsoft.com/office/powerpoint/2010/main" val="2632336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85800" y="2130425"/>
            <a:ext cx="7772400" cy="147002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Astro 331 Lesson 30</a:t>
            </a:r>
          </a:p>
        </p:txBody>
      </p:sp>
      <p:sp>
        <p:nvSpPr>
          <p:cNvPr id="5" name="Subtitle 2"/>
          <p:cNvSpPr txBox="1">
            <a:spLocks/>
          </p:cNvSpPr>
          <p:nvPr/>
        </p:nvSpPr>
        <p:spPr>
          <a:xfrm>
            <a:off x="1371600" y="3886200"/>
            <a:ext cx="6400800" cy="175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Verification &amp; Validation (V&amp;V)</a:t>
            </a:r>
          </a:p>
          <a:p>
            <a:pPr marL="0" indent="0" algn="ctr">
              <a:buNone/>
            </a:pPr>
            <a:r>
              <a:rPr lang="en-US" dirty="0" err="1"/>
              <a:t>Supp</a:t>
            </a:r>
            <a:r>
              <a:rPr lang="en-US" dirty="0"/>
              <a:t> </a:t>
            </a:r>
            <a:r>
              <a:rPr lang="en-US" dirty="0" err="1"/>
              <a:t>Crs</a:t>
            </a:r>
            <a:r>
              <a:rPr lang="en-US" dirty="0"/>
              <a:t> </a:t>
            </a:r>
            <a:r>
              <a:rPr lang="en-US" dirty="0" err="1"/>
              <a:t>Mtl</a:t>
            </a:r>
            <a:endParaRPr lang="en-US" sz="2400" dirty="0"/>
          </a:p>
        </p:txBody>
      </p:sp>
    </p:spTree>
    <p:extLst>
      <p:ext uri="{BB962C8B-B14F-4D97-AF65-F5344CB8AC3E}">
        <p14:creationId xmlns:p14="http://schemas.microsoft.com/office/powerpoint/2010/main" val="1321450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024" y="243357"/>
            <a:ext cx="7886700" cy="1325563"/>
          </a:xfrm>
        </p:spPr>
        <p:txBody>
          <a:bodyPr/>
          <a:lstStyle/>
          <a:p>
            <a:pPr algn="ctr"/>
            <a:r>
              <a:rPr lang="en-US" dirty="0"/>
              <a:t>Lesson Objectives</a:t>
            </a:r>
          </a:p>
        </p:txBody>
      </p:sp>
      <p:sp>
        <p:nvSpPr>
          <p:cNvPr id="3" name="Content Placeholder 2"/>
          <p:cNvSpPr>
            <a:spLocks noGrp="1"/>
          </p:cNvSpPr>
          <p:nvPr>
            <p:ph idx="1"/>
          </p:nvPr>
        </p:nvSpPr>
        <p:spPr>
          <a:xfrm>
            <a:off x="566690" y="1568920"/>
            <a:ext cx="7991368" cy="4697128"/>
          </a:xfrm>
        </p:spPr>
        <p:txBody>
          <a:bodyPr>
            <a:normAutofit/>
          </a:bodyPr>
          <a:lstStyle/>
          <a:p>
            <a:pPr lvl="0" fontAlgn="base">
              <a:lnSpc>
                <a:spcPct val="120000"/>
              </a:lnSpc>
              <a:spcBef>
                <a:spcPts val="0"/>
              </a:spcBef>
            </a:pPr>
            <a:r>
              <a:rPr lang="en-US" sz="2200" dirty="0"/>
              <a:t>Understand the difference between verification and validation</a:t>
            </a:r>
          </a:p>
          <a:p>
            <a:pPr lvl="0" fontAlgn="base">
              <a:lnSpc>
                <a:spcPct val="120000"/>
              </a:lnSpc>
              <a:spcBef>
                <a:spcPts val="0"/>
              </a:spcBef>
            </a:pPr>
            <a:r>
              <a:rPr lang="en-US" sz="2200" dirty="0"/>
              <a:t>Describe the objective of the product verification process</a:t>
            </a:r>
          </a:p>
          <a:p>
            <a:pPr lvl="0" fontAlgn="base">
              <a:lnSpc>
                <a:spcPct val="120000"/>
              </a:lnSpc>
              <a:spcBef>
                <a:spcPts val="0"/>
              </a:spcBef>
            </a:pPr>
            <a:r>
              <a:rPr lang="en-US" sz="2200" dirty="0"/>
              <a:t>List and describe the four types of verification</a:t>
            </a:r>
          </a:p>
          <a:p>
            <a:pPr lvl="0" fontAlgn="base">
              <a:lnSpc>
                <a:spcPct val="120000"/>
              </a:lnSpc>
              <a:spcBef>
                <a:spcPts val="0"/>
              </a:spcBef>
            </a:pPr>
            <a:r>
              <a:rPr lang="en-US" sz="2200" dirty="0"/>
              <a:t>Understand that any anomalies or discrepancies with test data must be captured in verification evidence, along with any corrective actions that result from those findings</a:t>
            </a:r>
          </a:p>
          <a:p>
            <a:pPr lvl="0" fontAlgn="base">
              <a:lnSpc>
                <a:spcPct val="120000"/>
              </a:lnSpc>
              <a:spcBef>
                <a:spcPts val="0"/>
              </a:spcBef>
            </a:pPr>
            <a:r>
              <a:rPr lang="en-US" sz="2200" dirty="0"/>
              <a:t>Describe the objective of end-to-end system testing</a:t>
            </a:r>
          </a:p>
          <a:p>
            <a:pPr lvl="0" fontAlgn="base">
              <a:lnSpc>
                <a:spcPct val="120000"/>
              </a:lnSpc>
              <a:spcBef>
                <a:spcPts val="0"/>
              </a:spcBef>
            </a:pPr>
            <a:r>
              <a:rPr lang="en-US" sz="2200" dirty="0"/>
              <a:t>Describe the objectives of the product validation process</a:t>
            </a:r>
          </a:p>
          <a:p>
            <a:pPr lvl="0" fontAlgn="base">
              <a:lnSpc>
                <a:spcPct val="120000"/>
              </a:lnSpc>
              <a:spcBef>
                <a:spcPts val="0"/>
              </a:spcBef>
            </a:pPr>
            <a:r>
              <a:rPr lang="en-US" sz="2200" dirty="0"/>
              <a:t>Understand the term “root cause analysis,” interpret an Ishikawa (“fishbone”) diagram and explain when it would be used</a:t>
            </a:r>
          </a:p>
        </p:txBody>
      </p:sp>
    </p:spTree>
    <p:extLst>
      <p:ext uri="{BB962C8B-B14F-4D97-AF65-F5344CB8AC3E}">
        <p14:creationId xmlns:p14="http://schemas.microsoft.com/office/powerpoint/2010/main" val="694369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5400" dirty="0"/>
              <a:t>Verification &amp; Validation</a:t>
            </a:r>
          </a:p>
        </p:txBody>
      </p:sp>
    </p:spTree>
    <p:extLst>
      <p:ext uri="{BB962C8B-B14F-4D97-AF65-F5344CB8AC3E}">
        <p14:creationId xmlns:p14="http://schemas.microsoft.com/office/powerpoint/2010/main" val="3820058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000" dirty="0"/>
              <a:t>Systems Engineering “V” Model</a:t>
            </a:r>
          </a:p>
        </p:txBody>
      </p:sp>
      <p:pic>
        <p:nvPicPr>
          <p:cNvPr id="5" name="Picture 4"/>
          <p:cNvPicPr>
            <a:picLocks noChangeAspect="1"/>
          </p:cNvPicPr>
          <p:nvPr/>
        </p:nvPicPr>
        <p:blipFill>
          <a:blip r:embed="rId2"/>
          <a:stretch>
            <a:fillRect/>
          </a:stretch>
        </p:blipFill>
        <p:spPr>
          <a:xfrm>
            <a:off x="439626" y="1764319"/>
            <a:ext cx="8264748" cy="4595385"/>
          </a:xfrm>
          <a:prstGeom prst="rect">
            <a:avLst/>
          </a:prstGeom>
        </p:spPr>
      </p:pic>
    </p:spTree>
    <p:extLst>
      <p:ext uri="{BB962C8B-B14F-4D97-AF65-F5344CB8AC3E}">
        <p14:creationId xmlns:p14="http://schemas.microsoft.com/office/powerpoint/2010/main" val="2401441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Definitions</a:t>
            </a:r>
          </a:p>
        </p:txBody>
      </p:sp>
      <p:sp>
        <p:nvSpPr>
          <p:cNvPr id="3" name="Content Placeholder 2"/>
          <p:cNvSpPr>
            <a:spLocks noGrp="1"/>
          </p:cNvSpPr>
          <p:nvPr>
            <p:ph idx="1"/>
          </p:nvPr>
        </p:nvSpPr>
        <p:spPr>
          <a:xfrm>
            <a:off x="628650" y="1825624"/>
            <a:ext cx="7886700" cy="4704571"/>
          </a:xfrm>
        </p:spPr>
        <p:txBody>
          <a:bodyPr>
            <a:normAutofit fontScale="92500"/>
          </a:bodyPr>
          <a:lstStyle/>
          <a:p>
            <a:pPr lvl="0" fontAlgn="base"/>
            <a:r>
              <a:rPr lang="en-US" b="1" dirty="0"/>
              <a:t>Verification</a:t>
            </a:r>
            <a:r>
              <a:rPr lang="en-US" dirty="0"/>
              <a:t>: process that proves that a realized product conforms to its requirements</a:t>
            </a:r>
            <a:endParaRPr lang="en-US" sz="2400" dirty="0"/>
          </a:p>
          <a:p>
            <a:pPr lvl="1" fontAlgn="base"/>
            <a:r>
              <a:rPr lang="en-US" dirty="0"/>
              <a:t>Asks the question: “Was the end product realized right?”</a:t>
            </a:r>
            <a:endParaRPr lang="en-US" sz="2200" dirty="0"/>
          </a:p>
          <a:p>
            <a:pPr lvl="0" fontAlgn="base"/>
            <a:r>
              <a:rPr lang="en-US" b="1" dirty="0"/>
              <a:t>Validation</a:t>
            </a:r>
            <a:r>
              <a:rPr lang="en-US" dirty="0"/>
              <a:t>: process that confirms that the realized end products conform to stakeholder expectations </a:t>
            </a:r>
            <a:endParaRPr lang="en-US" sz="2400" dirty="0"/>
          </a:p>
          <a:p>
            <a:pPr lvl="1" fontAlgn="base"/>
            <a:r>
              <a:rPr lang="en-US" dirty="0"/>
              <a:t>Asks the question: “Was the right end product realized?”</a:t>
            </a:r>
            <a:endParaRPr lang="en-US" sz="2200" dirty="0"/>
          </a:p>
          <a:p>
            <a:pPr lvl="0" fontAlgn="base"/>
            <a:r>
              <a:rPr lang="en-US" dirty="0"/>
              <a:t>Key Differences:</a:t>
            </a:r>
            <a:endParaRPr lang="en-US" sz="2400" dirty="0"/>
          </a:p>
          <a:p>
            <a:pPr lvl="1" fontAlgn="base"/>
            <a:r>
              <a:rPr lang="en-US" dirty="0"/>
              <a:t>Verification derives test standards from requirements document</a:t>
            </a:r>
            <a:endParaRPr lang="en-US" sz="2200" dirty="0"/>
          </a:p>
          <a:p>
            <a:pPr lvl="1" fontAlgn="base"/>
            <a:r>
              <a:rPr lang="en-US" dirty="0"/>
              <a:t>Validation derives test standards from </a:t>
            </a:r>
            <a:r>
              <a:rPr lang="en-US" dirty="0" err="1"/>
              <a:t>ConOps</a:t>
            </a:r>
            <a:r>
              <a:rPr lang="en-US" dirty="0"/>
              <a:t> document</a:t>
            </a:r>
            <a:endParaRPr lang="en-US" sz="2200" dirty="0"/>
          </a:p>
          <a:p>
            <a:endParaRPr lang="en-US" dirty="0"/>
          </a:p>
        </p:txBody>
      </p:sp>
    </p:spTree>
    <p:extLst>
      <p:ext uri="{BB962C8B-B14F-4D97-AF65-F5344CB8AC3E}">
        <p14:creationId xmlns:p14="http://schemas.microsoft.com/office/powerpoint/2010/main" val="802816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Verification Process (1/2)</a:t>
            </a:r>
          </a:p>
        </p:txBody>
      </p:sp>
      <p:sp>
        <p:nvSpPr>
          <p:cNvPr id="3" name="Content Placeholder 2"/>
          <p:cNvSpPr>
            <a:spLocks noGrp="1"/>
          </p:cNvSpPr>
          <p:nvPr>
            <p:ph idx="1"/>
          </p:nvPr>
        </p:nvSpPr>
        <p:spPr/>
        <p:txBody>
          <a:bodyPr/>
          <a:lstStyle/>
          <a:p>
            <a:r>
              <a:rPr lang="en-US" dirty="0"/>
              <a:t>Objective: to generate evidence necessary to confirm that end products, from the lowest level of the system structure to the highest, conform to the specified requirements</a:t>
            </a:r>
          </a:p>
          <a:p>
            <a:r>
              <a:rPr lang="en-US" dirty="0"/>
              <a:t>Key Outputs:</a:t>
            </a:r>
          </a:p>
          <a:p>
            <a:pPr lvl="1"/>
            <a:r>
              <a:rPr lang="en-US" dirty="0"/>
              <a:t>Discrepancy reports and identified corrective actions</a:t>
            </a:r>
          </a:p>
          <a:p>
            <a:pPr lvl="1"/>
            <a:r>
              <a:rPr lang="en-US" dirty="0"/>
              <a:t>Verified product to validation or integration</a:t>
            </a:r>
          </a:p>
          <a:p>
            <a:pPr lvl="1"/>
            <a:r>
              <a:rPr lang="en-US" dirty="0"/>
              <a:t>Verification report and any required updates to requirements/compliance documentation</a:t>
            </a:r>
          </a:p>
          <a:p>
            <a:endParaRPr lang="en-US" dirty="0"/>
          </a:p>
        </p:txBody>
      </p:sp>
    </p:spTree>
    <p:extLst>
      <p:ext uri="{BB962C8B-B14F-4D97-AF65-F5344CB8AC3E}">
        <p14:creationId xmlns:p14="http://schemas.microsoft.com/office/powerpoint/2010/main" val="2897578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Verification Process (2/2)</a:t>
            </a:r>
          </a:p>
        </p:txBody>
      </p:sp>
      <p:sp>
        <p:nvSpPr>
          <p:cNvPr id="3" name="Content Placeholder 2"/>
          <p:cNvSpPr>
            <a:spLocks noGrp="1"/>
          </p:cNvSpPr>
          <p:nvPr>
            <p:ph idx="1"/>
          </p:nvPr>
        </p:nvSpPr>
        <p:spPr/>
        <p:txBody>
          <a:bodyPr/>
          <a:lstStyle/>
          <a:p>
            <a:r>
              <a:rPr lang="en-US" dirty="0"/>
              <a:t>Success criteria:</a:t>
            </a:r>
          </a:p>
          <a:p>
            <a:pPr lvl="1"/>
            <a:r>
              <a:rPr lang="en-US" dirty="0"/>
              <a:t>Documented objective evidence of compliance (or waiver, as appropriate) of each requirement</a:t>
            </a:r>
          </a:p>
          <a:p>
            <a:pPr lvl="1"/>
            <a:r>
              <a:rPr lang="en-US" dirty="0"/>
              <a:t>Closure of all discrepancy reports</a:t>
            </a:r>
          </a:p>
          <a:p>
            <a:endParaRPr lang="en-US" dirty="0"/>
          </a:p>
        </p:txBody>
      </p:sp>
    </p:spTree>
    <p:extLst>
      <p:ext uri="{BB962C8B-B14F-4D97-AF65-F5344CB8AC3E}">
        <p14:creationId xmlns:p14="http://schemas.microsoft.com/office/powerpoint/2010/main" val="4180451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Verification Methods</a:t>
            </a:r>
          </a:p>
        </p:txBody>
      </p:sp>
      <p:sp>
        <p:nvSpPr>
          <p:cNvPr id="3" name="Content Placeholder 2"/>
          <p:cNvSpPr>
            <a:spLocks noGrp="1"/>
          </p:cNvSpPr>
          <p:nvPr>
            <p:ph idx="1"/>
          </p:nvPr>
        </p:nvSpPr>
        <p:spPr>
          <a:xfrm>
            <a:off x="628650" y="1587260"/>
            <a:ext cx="7886700" cy="4908431"/>
          </a:xfrm>
        </p:spPr>
        <p:txBody>
          <a:bodyPr>
            <a:normAutofit fontScale="92500" lnSpcReduction="20000"/>
          </a:bodyPr>
          <a:lstStyle/>
          <a:p>
            <a:r>
              <a:rPr lang="en-US" dirty="0"/>
              <a:t>Four verification methods:</a:t>
            </a:r>
            <a:endParaRPr lang="en-US" sz="2400" dirty="0"/>
          </a:p>
          <a:p>
            <a:pPr lvl="1" fontAlgn="base"/>
            <a:r>
              <a:rPr lang="en-US" b="1" dirty="0"/>
              <a:t>Analysis</a:t>
            </a:r>
            <a:r>
              <a:rPr lang="en-US" dirty="0"/>
              <a:t>: use of modeling &amp; simulation</a:t>
            </a:r>
            <a:endParaRPr lang="en-US" sz="2000" dirty="0"/>
          </a:p>
          <a:p>
            <a:pPr lvl="2" fontAlgn="base"/>
            <a:r>
              <a:rPr lang="en-US" dirty="0"/>
              <a:t>Often used for ADCS, Structures and TCS</a:t>
            </a:r>
            <a:endParaRPr lang="en-US" sz="1800" dirty="0"/>
          </a:p>
          <a:p>
            <a:pPr lvl="1" fontAlgn="base"/>
            <a:r>
              <a:rPr lang="en-US" b="1" dirty="0"/>
              <a:t>Demonstration</a:t>
            </a:r>
            <a:r>
              <a:rPr lang="en-US" dirty="0"/>
              <a:t>: showing that use of product achieves requirement</a:t>
            </a:r>
            <a:endParaRPr lang="en-US" sz="2000" dirty="0"/>
          </a:p>
          <a:p>
            <a:pPr lvl="2" fontAlgn="base"/>
            <a:r>
              <a:rPr lang="en-US" dirty="0"/>
              <a:t>Used for requirements that do not require intense data gathering (“shall be able to rotate 90 degrees”)</a:t>
            </a:r>
            <a:endParaRPr lang="en-US" sz="1800" dirty="0"/>
          </a:p>
          <a:p>
            <a:pPr lvl="1" fontAlgn="base"/>
            <a:r>
              <a:rPr lang="en-US" b="1" dirty="0"/>
              <a:t>Inspection</a:t>
            </a:r>
            <a:r>
              <a:rPr lang="en-US" dirty="0"/>
              <a:t>: visual examination</a:t>
            </a:r>
            <a:endParaRPr lang="en-US" sz="2000" dirty="0"/>
          </a:p>
          <a:p>
            <a:pPr lvl="2" fontAlgn="base"/>
            <a:r>
              <a:rPr lang="en-US" dirty="0"/>
              <a:t>Used to verify simple requirements (“shall have a RBF tag”)</a:t>
            </a:r>
            <a:endParaRPr lang="en-US" sz="1800" dirty="0"/>
          </a:p>
          <a:p>
            <a:pPr lvl="1" fontAlgn="base"/>
            <a:r>
              <a:rPr lang="en-US" b="1" dirty="0"/>
              <a:t>Test</a:t>
            </a:r>
            <a:r>
              <a:rPr lang="en-US" dirty="0"/>
              <a:t>: obtaining detailed performance data</a:t>
            </a:r>
            <a:endParaRPr lang="en-US" sz="2000" dirty="0"/>
          </a:p>
          <a:p>
            <a:pPr lvl="2" fontAlgn="base"/>
            <a:r>
              <a:rPr lang="en-US" dirty="0"/>
              <a:t>Most requirements </a:t>
            </a:r>
          </a:p>
          <a:p>
            <a:pPr lvl="2" fontAlgn="base"/>
            <a:endParaRPr lang="en-US" sz="1800" dirty="0"/>
          </a:p>
          <a:p>
            <a:r>
              <a:rPr lang="en-US" dirty="0"/>
              <a:t>*Can use a combination of verification methods to verify a requirement</a:t>
            </a:r>
            <a:endParaRPr lang="en-US" sz="2400" dirty="0"/>
          </a:p>
          <a:p>
            <a:pPr lvl="1"/>
            <a:r>
              <a:rPr lang="en-US" dirty="0" err="1"/>
              <a:t>eg</a:t>
            </a:r>
            <a:r>
              <a:rPr lang="en-US" dirty="0"/>
              <a:t>: Structures performs static loading, vibe and acoustic tests and then correlates those results back to detailed models</a:t>
            </a:r>
            <a:endParaRPr lang="en-US" sz="2000" dirty="0"/>
          </a:p>
          <a:p>
            <a:endParaRPr lang="en-US" dirty="0"/>
          </a:p>
        </p:txBody>
      </p:sp>
    </p:spTree>
    <p:extLst>
      <p:ext uri="{BB962C8B-B14F-4D97-AF65-F5344CB8AC3E}">
        <p14:creationId xmlns:p14="http://schemas.microsoft.com/office/powerpoint/2010/main" val="1100968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0072" y="1546717"/>
            <a:ext cx="8763856" cy="4522917"/>
          </a:xfrm>
          <a:prstGeom prst="rect">
            <a:avLst/>
          </a:prstGeom>
        </p:spPr>
      </p:pic>
      <p:sp>
        <p:nvSpPr>
          <p:cNvPr id="3" name="Title 2"/>
          <p:cNvSpPr>
            <a:spLocks noGrp="1"/>
          </p:cNvSpPr>
          <p:nvPr>
            <p:ph type="title"/>
          </p:nvPr>
        </p:nvSpPr>
        <p:spPr/>
        <p:txBody>
          <a:bodyPr>
            <a:normAutofit/>
          </a:bodyPr>
          <a:lstStyle/>
          <a:p>
            <a:r>
              <a:rPr lang="en-US" sz="4000" dirty="0"/>
              <a:t>Types of Verification Tests</a:t>
            </a:r>
          </a:p>
        </p:txBody>
      </p:sp>
    </p:spTree>
    <p:extLst>
      <p:ext uri="{BB962C8B-B14F-4D97-AF65-F5344CB8AC3E}">
        <p14:creationId xmlns:p14="http://schemas.microsoft.com/office/powerpoint/2010/main" val="1898113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39198" y="100664"/>
            <a:ext cx="7602877" cy="6481141"/>
          </a:xfrm>
          <a:prstGeom prst="rect">
            <a:avLst/>
          </a:prstGeom>
        </p:spPr>
      </p:pic>
    </p:spTree>
    <p:extLst>
      <p:ext uri="{BB962C8B-B14F-4D97-AF65-F5344CB8AC3E}">
        <p14:creationId xmlns:p14="http://schemas.microsoft.com/office/powerpoint/2010/main" val="3714180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the Verification Process (1/2)</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82345508"/>
              </p:ext>
            </p:extLst>
          </p:nvPr>
        </p:nvGraphicFramePr>
        <p:xfrm>
          <a:off x="628650" y="1825625"/>
          <a:ext cx="7886700" cy="3937000"/>
        </p:xfrm>
        <a:graphic>
          <a:graphicData uri="http://schemas.openxmlformats.org/drawingml/2006/table">
            <a:tbl>
              <a:tblPr firstRow="1" bandRow="1">
                <a:tableStyleId>{5C22544A-7EE6-4342-B048-85BDC9FD1C3A}</a:tableStyleId>
              </a:tblPr>
              <a:tblGrid>
                <a:gridCol w="1829878">
                  <a:extLst>
                    <a:ext uri="{9D8B030D-6E8A-4147-A177-3AD203B41FA5}">
                      <a16:colId xmlns:a16="http://schemas.microsoft.com/office/drawing/2014/main" val="2360215815"/>
                    </a:ext>
                  </a:extLst>
                </a:gridCol>
                <a:gridCol w="6056822">
                  <a:extLst>
                    <a:ext uri="{9D8B030D-6E8A-4147-A177-3AD203B41FA5}">
                      <a16:colId xmlns:a16="http://schemas.microsoft.com/office/drawing/2014/main" val="62472079"/>
                    </a:ext>
                  </a:extLst>
                </a:gridCol>
              </a:tblGrid>
              <a:tr h="370840">
                <a:tc>
                  <a:txBody>
                    <a:bodyPr/>
                    <a:lstStyle/>
                    <a:p>
                      <a:r>
                        <a:rPr lang="en-US" dirty="0"/>
                        <a:t>Step</a:t>
                      </a:r>
                    </a:p>
                  </a:txBody>
                  <a:tcPr/>
                </a:tc>
                <a:tc>
                  <a:txBody>
                    <a:bodyPr/>
                    <a:lstStyle/>
                    <a:p>
                      <a:r>
                        <a:rPr lang="en-US" dirty="0"/>
                        <a:t>Outcomes</a:t>
                      </a:r>
                    </a:p>
                  </a:txBody>
                  <a:tcPr/>
                </a:tc>
                <a:extLst>
                  <a:ext uri="{0D108BD9-81ED-4DB2-BD59-A6C34878D82A}">
                    <a16:rowId xmlns:a16="http://schemas.microsoft.com/office/drawing/2014/main" val="24697193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sz="1800" kern="1200" dirty="0">
                          <a:solidFill>
                            <a:schemeClr val="dk1"/>
                          </a:solidFill>
                          <a:effectLst/>
                          <a:latin typeface="+mn-lt"/>
                          <a:ea typeface="+mn-ea"/>
                          <a:cs typeface="+mn-cs"/>
                        </a:rPr>
                        <a:t>Verification Planning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Verification method(s) for each requirement is/are selected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Procedures for each type of verification are written &amp; success criteria is clear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Facilities/test equipment are available (vibe table, TVAC chamber, </a:t>
                      </a:r>
                      <a:r>
                        <a:rPr lang="en-US" sz="1800" u="none" strike="noStrike" kern="1200" dirty="0" err="1">
                          <a:solidFill>
                            <a:schemeClr val="dk1"/>
                          </a:solidFill>
                          <a:effectLst/>
                          <a:latin typeface="+mn-lt"/>
                          <a:ea typeface="+mn-ea"/>
                          <a:cs typeface="+mn-cs"/>
                        </a:rPr>
                        <a:t>etc</a:t>
                      </a:r>
                      <a:r>
                        <a:rPr lang="en-US" sz="1800" u="none" strike="noStrike" kern="1200" dirty="0">
                          <a:solidFill>
                            <a:schemeClr val="dk1"/>
                          </a:solidFill>
                          <a:effectLst/>
                          <a:latin typeface="+mn-lt"/>
                          <a:ea typeface="+mn-ea"/>
                          <a:cs typeface="+mn-cs"/>
                        </a:rPr>
                        <a:t>)</a:t>
                      </a:r>
                    </a:p>
                  </a:txBody>
                  <a:tcPr/>
                </a:tc>
                <a:extLst>
                  <a:ext uri="{0D108BD9-81ED-4DB2-BD59-A6C34878D82A}">
                    <a16:rowId xmlns:a16="http://schemas.microsoft.com/office/drawing/2014/main" val="3600515598"/>
                  </a:ext>
                </a:extLst>
              </a:tr>
              <a:tr h="370840">
                <a:tc>
                  <a:txBody>
                    <a:bodyPr/>
                    <a:lstStyle/>
                    <a:p>
                      <a:r>
                        <a:rPr lang="en-US" dirty="0"/>
                        <a:t>2. Verification Preparation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Requirements for the product are identified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Test articles are identified and ready (don’t always test flight unit, can test engineering units)</a:t>
                      </a:r>
                    </a:p>
                  </a:txBody>
                  <a:tcPr/>
                </a:tc>
                <a:extLst>
                  <a:ext uri="{0D108BD9-81ED-4DB2-BD59-A6C34878D82A}">
                    <a16:rowId xmlns:a16="http://schemas.microsoft.com/office/drawing/2014/main" val="4056638611"/>
                  </a:ext>
                </a:extLst>
              </a:tr>
              <a:tr h="370840">
                <a:tc>
                  <a:txBody>
                    <a:bodyPr/>
                    <a:lstStyle/>
                    <a:p>
                      <a:r>
                        <a:rPr lang="en-US" dirty="0"/>
                        <a:t>3. Conduct Verification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Verification data is collected for each requirement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(Initial) determination about whether the product meets all requirements (may require further analysis to be sure)</a:t>
                      </a:r>
                    </a:p>
                  </a:txBody>
                  <a:tcPr/>
                </a:tc>
                <a:extLst>
                  <a:ext uri="{0D108BD9-81ED-4DB2-BD59-A6C34878D82A}">
                    <a16:rowId xmlns:a16="http://schemas.microsoft.com/office/drawing/2014/main" val="1876663496"/>
                  </a:ext>
                </a:extLst>
              </a:tr>
            </a:tbl>
          </a:graphicData>
        </a:graphic>
      </p:graphicFrame>
    </p:spTree>
    <p:extLst>
      <p:ext uri="{BB962C8B-B14F-4D97-AF65-F5344CB8AC3E}">
        <p14:creationId xmlns:p14="http://schemas.microsoft.com/office/powerpoint/2010/main" val="2679535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the Verification Process (2/2)</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13951569"/>
              </p:ext>
            </p:extLst>
          </p:nvPr>
        </p:nvGraphicFramePr>
        <p:xfrm>
          <a:off x="628650" y="1825625"/>
          <a:ext cx="7886700" cy="4394200"/>
        </p:xfrm>
        <a:graphic>
          <a:graphicData uri="http://schemas.openxmlformats.org/drawingml/2006/table">
            <a:tbl>
              <a:tblPr firstRow="1" bandRow="1">
                <a:tableStyleId>{5C22544A-7EE6-4342-B048-85BDC9FD1C3A}</a:tableStyleId>
              </a:tblPr>
              <a:tblGrid>
                <a:gridCol w="1829878">
                  <a:extLst>
                    <a:ext uri="{9D8B030D-6E8A-4147-A177-3AD203B41FA5}">
                      <a16:colId xmlns:a16="http://schemas.microsoft.com/office/drawing/2014/main" val="2360215815"/>
                    </a:ext>
                  </a:extLst>
                </a:gridCol>
                <a:gridCol w="6056822">
                  <a:extLst>
                    <a:ext uri="{9D8B030D-6E8A-4147-A177-3AD203B41FA5}">
                      <a16:colId xmlns:a16="http://schemas.microsoft.com/office/drawing/2014/main" val="62472079"/>
                    </a:ext>
                  </a:extLst>
                </a:gridCol>
              </a:tblGrid>
              <a:tr h="370840">
                <a:tc>
                  <a:txBody>
                    <a:bodyPr/>
                    <a:lstStyle/>
                    <a:p>
                      <a:r>
                        <a:rPr lang="en-US" dirty="0"/>
                        <a:t>Step</a:t>
                      </a:r>
                    </a:p>
                  </a:txBody>
                  <a:tcPr/>
                </a:tc>
                <a:tc>
                  <a:txBody>
                    <a:bodyPr/>
                    <a:lstStyle/>
                    <a:p>
                      <a:r>
                        <a:rPr lang="en-US" dirty="0"/>
                        <a:t>Outcomes</a:t>
                      </a:r>
                    </a:p>
                  </a:txBody>
                  <a:tcPr/>
                </a:tc>
                <a:extLst>
                  <a:ext uri="{0D108BD9-81ED-4DB2-BD59-A6C34878D82A}">
                    <a16:rowId xmlns:a16="http://schemas.microsoft.com/office/drawing/2014/main" val="24697193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4. </a:t>
                      </a:r>
                      <a:r>
                        <a:rPr lang="en-US" sz="1800" kern="1200" dirty="0">
                          <a:solidFill>
                            <a:schemeClr val="dk1"/>
                          </a:solidFill>
                          <a:effectLst/>
                          <a:latin typeface="+mn-lt"/>
                          <a:ea typeface="+mn-ea"/>
                          <a:cs typeface="+mn-cs"/>
                        </a:rPr>
                        <a:t>Analyze Verification Results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kern="1200" dirty="0">
                        <a:solidFill>
                          <a:schemeClr val="dk1"/>
                        </a:solidFill>
                        <a:effectLst/>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Anomalies or out-of-compliance conditions identified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Determination on discrepancies (waiver, re-test, re-work, </a:t>
                      </a:r>
                      <a:r>
                        <a:rPr lang="en-US" sz="1800" u="none" strike="noStrike" kern="1200" dirty="0" err="1">
                          <a:solidFill>
                            <a:schemeClr val="dk1"/>
                          </a:solidFill>
                          <a:effectLst/>
                          <a:latin typeface="+mn-lt"/>
                          <a:ea typeface="+mn-ea"/>
                          <a:cs typeface="+mn-cs"/>
                        </a:rPr>
                        <a:t>etc</a:t>
                      </a:r>
                      <a:r>
                        <a:rPr lang="en-US" sz="1800" u="none" strike="noStrike" kern="1200" dirty="0">
                          <a:solidFill>
                            <a:schemeClr val="dk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a:r>
                      <a:r>
                        <a:rPr lang="en-US" sz="1800" u="none" strike="noStrike" kern="1200" dirty="0">
                          <a:solidFill>
                            <a:schemeClr val="dk1"/>
                          </a:solidFill>
                          <a:effectLst/>
                          <a:latin typeface="+mn-lt"/>
                          <a:ea typeface="+mn-ea"/>
                          <a:cs typeface="+mn-cs"/>
                        </a:rPr>
                        <a:t>Corrective actions (as required)</a:t>
                      </a:r>
                    </a:p>
                  </a:txBody>
                  <a:tcPr/>
                </a:tc>
                <a:extLst>
                  <a:ext uri="{0D108BD9-81ED-4DB2-BD59-A6C34878D82A}">
                    <a16:rowId xmlns:a16="http://schemas.microsoft.com/office/drawing/2014/main" val="3600515598"/>
                  </a:ext>
                </a:extLst>
              </a:tr>
              <a:tr h="370840">
                <a:tc>
                  <a:txBody>
                    <a:bodyPr/>
                    <a:lstStyle/>
                    <a:p>
                      <a:r>
                        <a:rPr lang="en-US" dirty="0"/>
                        <a:t>5. Capture Verification Work Products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Verification report is developed and includes: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u="none" strike="noStrike" kern="1200" dirty="0">
                          <a:solidFill>
                            <a:schemeClr val="dk1"/>
                          </a:solidFill>
                          <a:effectLst/>
                          <a:latin typeface="+mn-lt"/>
                          <a:ea typeface="+mn-ea"/>
                          <a:cs typeface="+mn-cs"/>
                        </a:rPr>
                        <a:t>Assumptions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u="none" strike="noStrike" kern="1200" dirty="0">
                          <a:solidFill>
                            <a:schemeClr val="dk1"/>
                          </a:solidFill>
                          <a:effectLst/>
                          <a:latin typeface="+mn-lt"/>
                          <a:ea typeface="+mn-ea"/>
                          <a:cs typeface="+mn-cs"/>
                        </a:rPr>
                        <a:t>Set</a:t>
                      </a:r>
                      <a:r>
                        <a:rPr lang="en-US" sz="1800" u="none" strike="noStrike" kern="1200" baseline="0" dirty="0">
                          <a:solidFill>
                            <a:schemeClr val="dk1"/>
                          </a:solidFill>
                          <a:effectLst/>
                          <a:latin typeface="+mn-lt"/>
                          <a:ea typeface="+mn-ea"/>
                          <a:cs typeface="+mn-cs"/>
                        </a:rPr>
                        <a:t> of requirements to be verified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u="none" strike="noStrike" kern="1200" baseline="0" dirty="0">
                          <a:solidFill>
                            <a:schemeClr val="dk1"/>
                          </a:solidFill>
                          <a:effectLst/>
                          <a:latin typeface="+mn-lt"/>
                          <a:ea typeface="+mn-ea"/>
                          <a:cs typeface="+mn-cs"/>
                        </a:rPr>
                        <a:t>Test description, details on test configuration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u="none" strike="noStrike" kern="1200" baseline="0" dirty="0">
                          <a:solidFill>
                            <a:schemeClr val="dk1"/>
                          </a:solidFill>
                          <a:effectLst/>
                          <a:latin typeface="+mn-lt"/>
                          <a:ea typeface="+mn-ea"/>
                          <a:cs typeface="+mn-cs"/>
                        </a:rPr>
                        <a:t>Test data</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u="none" strike="noStrike" kern="1200" baseline="0" dirty="0">
                          <a:solidFill>
                            <a:schemeClr val="dk1"/>
                          </a:solidFill>
                          <a:effectLst/>
                          <a:latin typeface="+mn-lt"/>
                          <a:ea typeface="+mn-ea"/>
                          <a:cs typeface="+mn-cs"/>
                        </a:rPr>
                        <a:t>Results of each requirement verification, including pass/fail adjudication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u="none" strike="noStrike" kern="1200" baseline="0" dirty="0">
                          <a:solidFill>
                            <a:schemeClr val="dk1"/>
                          </a:solidFill>
                          <a:effectLst/>
                          <a:latin typeface="+mn-lt"/>
                          <a:ea typeface="+mn-ea"/>
                          <a:cs typeface="+mn-cs"/>
                        </a:rPr>
                        <a:t>Comments on anomalies, corrective actions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u="none" strike="noStrike" kern="1200" baseline="0" dirty="0">
                          <a:solidFill>
                            <a:schemeClr val="dk1"/>
                          </a:solidFill>
                          <a:effectLst/>
                          <a:latin typeface="+mn-lt"/>
                          <a:ea typeface="+mn-ea"/>
                          <a:cs typeface="+mn-cs"/>
                        </a:rPr>
                        <a:t>Lessons learned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800" u="none" strike="noStrike" kern="1200" baseline="0" dirty="0">
                          <a:solidFill>
                            <a:schemeClr val="dk1"/>
                          </a:solidFill>
                          <a:effectLst/>
                          <a:latin typeface="+mn-lt"/>
                          <a:ea typeface="+mn-ea"/>
                          <a:cs typeface="+mn-cs"/>
                        </a:rPr>
                        <a:t>- </a:t>
                      </a:r>
                      <a:r>
                        <a:rPr lang="en-US" sz="1800" u="none" strike="noStrike" kern="1200" dirty="0">
                          <a:solidFill>
                            <a:schemeClr val="dk1"/>
                          </a:solidFill>
                          <a:effectLst/>
                          <a:latin typeface="+mn-lt"/>
                          <a:ea typeface="+mn-ea"/>
                          <a:cs typeface="+mn-cs"/>
                        </a:rPr>
                        <a:t>Complete any other supporting documentation</a:t>
                      </a:r>
                    </a:p>
                  </a:txBody>
                  <a:tcPr/>
                </a:tc>
                <a:extLst>
                  <a:ext uri="{0D108BD9-81ED-4DB2-BD59-A6C34878D82A}">
                    <a16:rowId xmlns:a16="http://schemas.microsoft.com/office/drawing/2014/main" val="4056638611"/>
                  </a:ext>
                </a:extLst>
              </a:tr>
            </a:tbl>
          </a:graphicData>
        </a:graphic>
      </p:graphicFrame>
    </p:spTree>
    <p:extLst>
      <p:ext uri="{BB962C8B-B14F-4D97-AF65-F5344CB8AC3E}">
        <p14:creationId xmlns:p14="http://schemas.microsoft.com/office/powerpoint/2010/main" val="742716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8498"/>
            <a:ext cx="7886700" cy="1325563"/>
          </a:xfrm>
        </p:spPr>
        <p:txBody>
          <a:bodyPr>
            <a:normAutofit/>
          </a:bodyPr>
          <a:lstStyle/>
          <a:p>
            <a:r>
              <a:rPr lang="en-US" sz="4000" dirty="0"/>
              <a:t>Requirements </a:t>
            </a:r>
            <a:r>
              <a:rPr lang="en-US" sz="4000" dirty="0" err="1"/>
              <a:t>Flowdown</a:t>
            </a:r>
            <a:endParaRPr lang="en-US" sz="4000" dirty="0"/>
          </a:p>
        </p:txBody>
      </p:sp>
      <p:pic>
        <p:nvPicPr>
          <p:cNvPr id="3" name="Picture 2"/>
          <p:cNvPicPr>
            <a:picLocks noChangeAspect="1"/>
          </p:cNvPicPr>
          <p:nvPr/>
        </p:nvPicPr>
        <p:blipFill>
          <a:blip r:embed="rId2"/>
          <a:stretch>
            <a:fillRect/>
          </a:stretch>
        </p:blipFill>
        <p:spPr>
          <a:xfrm>
            <a:off x="1117443" y="1527258"/>
            <a:ext cx="6909114" cy="4979420"/>
          </a:xfrm>
          <a:prstGeom prst="rect">
            <a:avLst/>
          </a:prstGeom>
        </p:spPr>
      </p:pic>
    </p:spTree>
    <p:extLst>
      <p:ext uri="{BB962C8B-B14F-4D97-AF65-F5344CB8AC3E}">
        <p14:creationId xmlns:p14="http://schemas.microsoft.com/office/powerpoint/2010/main" val="3091501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End-to-End System Testing</a:t>
            </a:r>
          </a:p>
        </p:txBody>
      </p:sp>
      <p:sp>
        <p:nvSpPr>
          <p:cNvPr id="3" name="Content Placeholder 2"/>
          <p:cNvSpPr>
            <a:spLocks noGrp="1"/>
          </p:cNvSpPr>
          <p:nvPr>
            <p:ph idx="1"/>
          </p:nvPr>
        </p:nvSpPr>
        <p:spPr>
          <a:xfrm>
            <a:off x="628650" y="1825625"/>
            <a:ext cx="7886700" cy="4678692"/>
          </a:xfrm>
        </p:spPr>
        <p:txBody>
          <a:bodyPr>
            <a:normAutofit fontScale="92500" lnSpcReduction="10000"/>
          </a:bodyPr>
          <a:lstStyle/>
          <a:p>
            <a:r>
              <a:rPr lang="en-US" dirty="0"/>
              <a:t>Objective: to demonstrate interface compatibility and desired total functionality among different elements of a system, between systems, and within a system as a whole </a:t>
            </a:r>
          </a:p>
          <a:p>
            <a:pPr lvl="0" fontAlgn="base"/>
            <a:r>
              <a:rPr lang="en-US" dirty="0"/>
              <a:t>Includes:</a:t>
            </a:r>
            <a:endParaRPr lang="en-US" sz="2400" dirty="0"/>
          </a:p>
          <a:p>
            <a:pPr lvl="1" fontAlgn="base"/>
            <a:r>
              <a:rPr lang="en-US" dirty="0"/>
              <a:t>Testing all elements of the architecture (to the extent feasible), to include the spacecraft, communications architecture, ground system software, command &amp; control system, appropriate stimulation, and data processing</a:t>
            </a:r>
            <a:endParaRPr lang="en-US" sz="2200" dirty="0"/>
          </a:p>
          <a:p>
            <a:pPr lvl="1" fontAlgn="base"/>
            <a:r>
              <a:rPr lang="en-US" dirty="0"/>
              <a:t>Executing operational scenarios, to ensure the entire system meets mission requirements (a level up from spacecraft requirements)</a:t>
            </a:r>
            <a:endParaRPr lang="en-US" sz="2200" dirty="0"/>
          </a:p>
          <a:p>
            <a:pPr lvl="1" fontAlgn="base"/>
            <a:r>
              <a:rPr lang="en-US" dirty="0"/>
              <a:t>Idea is to Test Like You Fly</a:t>
            </a:r>
            <a:endParaRPr lang="en-US" sz="2200" dirty="0"/>
          </a:p>
        </p:txBody>
      </p:sp>
    </p:spTree>
    <p:extLst>
      <p:ext uri="{BB962C8B-B14F-4D97-AF65-F5344CB8AC3E}">
        <p14:creationId xmlns:p14="http://schemas.microsoft.com/office/powerpoint/2010/main" val="2829269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End-to-End System Test Example</a:t>
            </a:r>
          </a:p>
        </p:txBody>
      </p:sp>
      <p:pic>
        <p:nvPicPr>
          <p:cNvPr id="4" name="Picture 3"/>
          <p:cNvPicPr>
            <a:picLocks noChangeAspect="1"/>
          </p:cNvPicPr>
          <p:nvPr/>
        </p:nvPicPr>
        <p:blipFill>
          <a:blip r:embed="rId2"/>
          <a:stretch>
            <a:fillRect/>
          </a:stretch>
        </p:blipFill>
        <p:spPr>
          <a:xfrm>
            <a:off x="162765" y="1690689"/>
            <a:ext cx="8818469" cy="4760669"/>
          </a:xfrm>
          <a:prstGeom prst="rect">
            <a:avLst/>
          </a:prstGeom>
        </p:spPr>
      </p:pic>
    </p:spTree>
    <p:extLst>
      <p:ext uri="{BB962C8B-B14F-4D97-AF65-F5344CB8AC3E}">
        <p14:creationId xmlns:p14="http://schemas.microsoft.com/office/powerpoint/2010/main" val="38467093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Process (1/2)</a:t>
            </a:r>
          </a:p>
        </p:txBody>
      </p:sp>
      <p:sp>
        <p:nvSpPr>
          <p:cNvPr id="3" name="Content Placeholder 2"/>
          <p:cNvSpPr>
            <a:spLocks noGrp="1"/>
          </p:cNvSpPr>
          <p:nvPr>
            <p:ph idx="1"/>
          </p:nvPr>
        </p:nvSpPr>
        <p:spPr/>
        <p:txBody>
          <a:bodyPr>
            <a:normAutofit fontScale="92500"/>
          </a:bodyPr>
          <a:lstStyle/>
          <a:p>
            <a:pPr lvl="0" fontAlgn="base"/>
            <a:r>
              <a:rPr lang="en-US" dirty="0"/>
              <a:t>Objective: confirms that realized end product was realized, can be used by intended operators/users, and measures of effectiveness (MOEs) are satisfied</a:t>
            </a:r>
          </a:p>
          <a:p>
            <a:pPr lvl="0" fontAlgn="base"/>
            <a:r>
              <a:rPr lang="en-US" dirty="0"/>
              <a:t>Key Outputs:</a:t>
            </a:r>
          </a:p>
          <a:p>
            <a:pPr lvl="1" fontAlgn="base"/>
            <a:r>
              <a:rPr lang="en-US" dirty="0"/>
              <a:t>Validated product</a:t>
            </a:r>
          </a:p>
          <a:p>
            <a:pPr lvl="1" fontAlgn="base"/>
            <a:r>
              <a:rPr lang="en-US" dirty="0"/>
              <a:t>Discrepancy reports and identified corrective actions</a:t>
            </a:r>
          </a:p>
          <a:p>
            <a:pPr lvl="1" fontAlgn="base"/>
            <a:r>
              <a:rPr lang="en-US" dirty="0"/>
              <a:t>Validation report</a:t>
            </a:r>
          </a:p>
          <a:p>
            <a:pPr marL="0" lvl="0" indent="0" fontAlgn="base">
              <a:buNone/>
            </a:pPr>
            <a:endParaRPr lang="en-US" dirty="0"/>
          </a:p>
          <a:p>
            <a:pPr lvl="1"/>
            <a:r>
              <a:rPr lang="en-US" dirty="0"/>
              <a:t>*MOEs: measures of how well system meets its mission requirements, from stakeholder point of view</a:t>
            </a:r>
          </a:p>
          <a:p>
            <a:endParaRPr lang="en-US" dirty="0"/>
          </a:p>
        </p:txBody>
      </p:sp>
    </p:spTree>
    <p:extLst>
      <p:ext uri="{BB962C8B-B14F-4D97-AF65-F5344CB8AC3E}">
        <p14:creationId xmlns:p14="http://schemas.microsoft.com/office/powerpoint/2010/main" val="1443079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Process (2/2)</a:t>
            </a:r>
          </a:p>
        </p:txBody>
      </p:sp>
      <p:sp>
        <p:nvSpPr>
          <p:cNvPr id="3" name="Content Placeholder 2"/>
          <p:cNvSpPr>
            <a:spLocks noGrp="1"/>
          </p:cNvSpPr>
          <p:nvPr>
            <p:ph idx="1"/>
          </p:nvPr>
        </p:nvSpPr>
        <p:spPr/>
        <p:txBody>
          <a:bodyPr>
            <a:normAutofit/>
          </a:bodyPr>
          <a:lstStyle/>
          <a:p>
            <a:pPr lvl="0" fontAlgn="base"/>
            <a:r>
              <a:rPr lang="en-US" dirty="0"/>
              <a:t>Success Criteria:</a:t>
            </a:r>
          </a:p>
          <a:p>
            <a:pPr lvl="1" fontAlgn="base"/>
            <a:r>
              <a:rPr lang="en-US" dirty="0"/>
              <a:t>Objective evidence of performance and the results of each validation activity are documented</a:t>
            </a:r>
          </a:p>
          <a:p>
            <a:pPr lvl="1"/>
            <a:r>
              <a:rPr lang="en-US" dirty="0"/>
              <a:t>Closure of all discrepancy reports</a:t>
            </a:r>
          </a:p>
        </p:txBody>
      </p:sp>
    </p:spTree>
    <p:extLst>
      <p:ext uri="{BB962C8B-B14F-4D97-AF65-F5344CB8AC3E}">
        <p14:creationId xmlns:p14="http://schemas.microsoft.com/office/powerpoint/2010/main" val="35474332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Validation Process Steps</a:t>
            </a:r>
          </a:p>
        </p:txBody>
      </p:sp>
      <p:sp>
        <p:nvSpPr>
          <p:cNvPr id="3" name="Content Placeholder 2"/>
          <p:cNvSpPr>
            <a:spLocks noGrp="1"/>
          </p:cNvSpPr>
          <p:nvPr>
            <p:ph idx="1"/>
          </p:nvPr>
        </p:nvSpPr>
        <p:spPr/>
        <p:txBody>
          <a:bodyPr>
            <a:normAutofit lnSpcReduction="10000"/>
          </a:bodyPr>
          <a:lstStyle/>
          <a:p>
            <a:pPr lvl="0"/>
            <a:r>
              <a:rPr lang="en-US" dirty="0"/>
              <a:t>*Basically same as verification, just with validation in mind instead (comparing performance to MOEs and </a:t>
            </a:r>
            <a:r>
              <a:rPr lang="en-US" dirty="0" err="1"/>
              <a:t>ConOps</a:t>
            </a:r>
            <a:r>
              <a:rPr lang="en-US" dirty="0"/>
              <a:t> rather than specification requirements)</a:t>
            </a:r>
          </a:p>
          <a:p>
            <a:pPr lvl="0"/>
            <a:endParaRPr lang="en-US" dirty="0"/>
          </a:p>
          <a:p>
            <a:pPr marL="0" lvl="0" indent="0">
              <a:buNone/>
            </a:pPr>
            <a:r>
              <a:rPr lang="en-US" dirty="0"/>
              <a:t>1. Validation Planning</a:t>
            </a:r>
          </a:p>
          <a:p>
            <a:pPr marL="0" lvl="0" indent="0">
              <a:buNone/>
            </a:pPr>
            <a:r>
              <a:rPr lang="en-US" dirty="0"/>
              <a:t>2. Validation Preparation</a:t>
            </a:r>
          </a:p>
          <a:p>
            <a:pPr marL="0" lvl="0" indent="0">
              <a:buNone/>
            </a:pPr>
            <a:r>
              <a:rPr lang="en-US" dirty="0"/>
              <a:t>3. Conduct Validation</a:t>
            </a:r>
          </a:p>
          <a:p>
            <a:pPr marL="0" lvl="0" indent="0">
              <a:buNone/>
            </a:pPr>
            <a:r>
              <a:rPr lang="en-US" dirty="0"/>
              <a:t>4. Analyze Validation Results</a:t>
            </a:r>
          </a:p>
          <a:p>
            <a:pPr marL="0" lvl="0" indent="0">
              <a:buNone/>
            </a:pPr>
            <a:r>
              <a:rPr lang="en-US" dirty="0"/>
              <a:t>5. Capture Validation Work Products</a:t>
            </a:r>
          </a:p>
          <a:p>
            <a:endParaRPr lang="en-US" dirty="0"/>
          </a:p>
        </p:txBody>
      </p:sp>
    </p:spTree>
    <p:extLst>
      <p:ext uri="{BB962C8B-B14F-4D97-AF65-F5344CB8AC3E}">
        <p14:creationId xmlns:p14="http://schemas.microsoft.com/office/powerpoint/2010/main" val="2795922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80172" y="0"/>
            <a:ext cx="8111441" cy="6722677"/>
          </a:xfrm>
          <a:prstGeom prst="rect">
            <a:avLst/>
          </a:prstGeom>
        </p:spPr>
      </p:pic>
    </p:spTree>
    <p:extLst>
      <p:ext uri="{BB962C8B-B14F-4D97-AF65-F5344CB8AC3E}">
        <p14:creationId xmlns:p14="http://schemas.microsoft.com/office/powerpoint/2010/main" val="2039592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Root Cause </a:t>
            </a:r>
            <a:r>
              <a:rPr lang="en-US" dirty="0" err="1"/>
              <a:t>Anaylsis</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5047548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Root Cause Analysis</a:t>
            </a:r>
          </a:p>
        </p:txBody>
      </p:sp>
      <p:sp>
        <p:nvSpPr>
          <p:cNvPr id="3" name="Content Placeholder 2"/>
          <p:cNvSpPr>
            <a:spLocks noGrp="1"/>
          </p:cNvSpPr>
          <p:nvPr>
            <p:ph idx="1"/>
          </p:nvPr>
        </p:nvSpPr>
        <p:spPr/>
        <p:txBody>
          <a:bodyPr/>
          <a:lstStyle/>
          <a:p>
            <a:r>
              <a:rPr lang="en-US" dirty="0"/>
              <a:t>Definition: process of identifying all the causes (root causes and contributing causes) that may have generated an undesirable condition, nonconformity or failure</a:t>
            </a:r>
          </a:p>
          <a:p>
            <a:pPr lvl="0" fontAlgn="base"/>
            <a:r>
              <a:rPr lang="en-US" dirty="0"/>
              <a:t>Why?</a:t>
            </a:r>
            <a:endParaRPr lang="en-US" sz="2400" dirty="0"/>
          </a:p>
          <a:p>
            <a:pPr lvl="1" fontAlgn="base"/>
            <a:r>
              <a:rPr lang="en-US" dirty="0"/>
              <a:t>Helps prevent problems from re-</a:t>
            </a:r>
            <a:r>
              <a:rPr lang="en-US" dirty="0" err="1"/>
              <a:t>occuring</a:t>
            </a:r>
            <a:endParaRPr lang="en-US" sz="2200" dirty="0"/>
          </a:p>
          <a:p>
            <a:pPr lvl="0" fontAlgn="base"/>
            <a:r>
              <a:rPr lang="en-US" dirty="0"/>
              <a:t>When to use RCA?</a:t>
            </a:r>
            <a:endParaRPr lang="en-US" sz="2400" dirty="0"/>
          </a:p>
          <a:p>
            <a:pPr lvl="1" fontAlgn="base"/>
            <a:r>
              <a:rPr lang="en-US" dirty="0"/>
              <a:t>Undesirable condition, defect or failure is detected and cause is unknown</a:t>
            </a:r>
            <a:endParaRPr lang="en-US" sz="2200" dirty="0"/>
          </a:p>
        </p:txBody>
      </p:sp>
    </p:spTree>
    <p:extLst>
      <p:ext uri="{BB962C8B-B14F-4D97-AF65-F5344CB8AC3E}">
        <p14:creationId xmlns:p14="http://schemas.microsoft.com/office/powerpoint/2010/main" val="1896380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4052" y="182880"/>
            <a:ext cx="8999948" cy="6469480"/>
          </a:xfrm>
          <a:prstGeom prst="rect">
            <a:avLst/>
          </a:prstGeom>
        </p:spPr>
      </p:pic>
      <p:sp>
        <p:nvSpPr>
          <p:cNvPr id="3" name="Rectangle 2"/>
          <p:cNvSpPr/>
          <p:nvPr/>
        </p:nvSpPr>
        <p:spPr>
          <a:xfrm>
            <a:off x="6814686" y="182880"/>
            <a:ext cx="2127183" cy="8758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8697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3520" y="115503"/>
            <a:ext cx="9014980" cy="6521116"/>
          </a:xfrm>
          <a:prstGeom prst="rect">
            <a:avLst/>
          </a:prstGeom>
        </p:spPr>
      </p:pic>
      <p:sp>
        <p:nvSpPr>
          <p:cNvPr id="3" name="Rectangle 2"/>
          <p:cNvSpPr/>
          <p:nvPr/>
        </p:nvSpPr>
        <p:spPr>
          <a:xfrm>
            <a:off x="6015789" y="67378"/>
            <a:ext cx="2887579" cy="750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accent5">
                  <a:lumMod val="50000"/>
                </a:schemeClr>
              </a:solidFill>
            </a:endParaRPr>
          </a:p>
        </p:txBody>
      </p:sp>
    </p:spTree>
    <p:extLst>
      <p:ext uri="{BB962C8B-B14F-4D97-AF65-F5344CB8AC3E}">
        <p14:creationId xmlns:p14="http://schemas.microsoft.com/office/powerpoint/2010/main" val="4887976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4919" y="67380"/>
            <a:ext cx="8992456" cy="6426718"/>
          </a:xfrm>
          <a:prstGeom prst="rect">
            <a:avLst/>
          </a:prstGeom>
        </p:spPr>
      </p:pic>
      <p:sp>
        <p:nvSpPr>
          <p:cNvPr id="3" name="Rectangle 2"/>
          <p:cNvSpPr/>
          <p:nvPr/>
        </p:nvSpPr>
        <p:spPr>
          <a:xfrm>
            <a:off x="6015789" y="67378"/>
            <a:ext cx="2887579" cy="750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accent5">
                  <a:lumMod val="50000"/>
                </a:schemeClr>
              </a:solidFill>
            </a:endParaRPr>
          </a:p>
        </p:txBody>
      </p:sp>
    </p:spTree>
    <p:extLst>
      <p:ext uri="{BB962C8B-B14F-4D97-AF65-F5344CB8AC3E}">
        <p14:creationId xmlns:p14="http://schemas.microsoft.com/office/powerpoint/2010/main" val="3505462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2734" y="131122"/>
            <a:ext cx="8907261" cy="6368237"/>
          </a:xfrm>
          <a:prstGeom prst="rect">
            <a:avLst/>
          </a:prstGeom>
        </p:spPr>
      </p:pic>
      <p:sp>
        <p:nvSpPr>
          <p:cNvPr id="3" name="Rectangle 2"/>
          <p:cNvSpPr/>
          <p:nvPr/>
        </p:nvSpPr>
        <p:spPr>
          <a:xfrm>
            <a:off x="6015789" y="67378"/>
            <a:ext cx="2887579" cy="7507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b="1" dirty="0">
              <a:solidFill>
                <a:schemeClr val="accent5">
                  <a:lumMod val="50000"/>
                </a:schemeClr>
              </a:solidFill>
            </a:endParaRPr>
          </a:p>
        </p:txBody>
      </p:sp>
    </p:spTree>
    <p:extLst>
      <p:ext uri="{BB962C8B-B14F-4D97-AF65-F5344CB8AC3E}">
        <p14:creationId xmlns:p14="http://schemas.microsoft.com/office/powerpoint/2010/main" val="189413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interpret an Ishikawa Diagram?</a:t>
            </a:r>
          </a:p>
        </p:txBody>
      </p:sp>
      <p:sp>
        <p:nvSpPr>
          <p:cNvPr id="3" name="Content Placeholder 2"/>
          <p:cNvSpPr>
            <a:spLocks noGrp="1"/>
          </p:cNvSpPr>
          <p:nvPr>
            <p:ph idx="1"/>
          </p:nvPr>
        </p:nvSpPr>
        <p:spPr/>
        <p:txBody>
          <a:bodyPr/>
          <a:lstStyle/>
          <a:p>
            <a:pPr fontAlgn="base"/>
            <a:r>
              <a:rPr lang="en-US" dirty="0"/>
              <a:t>Look for causes that appear frequently</a:t>
            </a:r>
            <a:endParaRPr lang="en-US" sz="2600" dirty="0"/>
          </a:p>
          <a:p>
            <a:pPr fontAlgn="base"/>
            <a:r>
              <a:rPr lang="en-US" dirty="0"/>
              <a:t>Reach a team consensus</a:t>
            </a:r>
            <a:endParaRPr lang="en-US" sz="2600" dirty="0"/>
          </a:p>
          <a:p>
            <a:pPr fontAlgn="base"/>
            <a:r>
              <a:rPr lang="en-US" dirty="0"/>
              <a:t>Determine the relative frequencies of the different causes</a:t>
            </a:r>
          </a:p>
          <a:p>
            <a:pPr fontAlgn="base"/>
            <a:endParaRPr lang="en-US" sz="2600" dirty="0"/>
          </a:p>
          <a:p>
            <a:pPr lvl="0" fontAlgn="base"/>
            <a:r>
              <a:rPr lang="en-US" dirty="0"/>
              <a:t>Once you’ve identified a root cause(s), then what? </a:t>
            </a:r>
            <a:r>
              <a:rPr lang="en-US" dirty="0">
                <a:sym typeface="Wingdings" panose="05000000000000000000" pitchFamily="2" charset="2"/>
              </a:rPr>
              <a:t></a:t>
            </a:r>
            <a:r>
              <a:rPr lang="en-US" dirty="0"/>
              <a:t> Corrective Action</a:t>
            </a:r>
            <a:endParaRPr lang="en-US" sz="2400" dirty="0"/>
          </a:p>
          <a:p>
            <a:pPr lvl="1" fontAlgn="base"/>
            <a:r>
              <a:rPr lang="en-US" dirty="0"/>
              <a:t>Action taken to eliminate cause of nonconformance in order to prevent recurrence</a:t>
            </a:r>
            <a:endParaRPr lang="en-US" sz="2200" dirty="0"/>
          </a:p>
          <a:p>
            <a:pPr marL="0" indent="0" fontAlgn="base">
              <a:buNone/>
            </a:pPr>
            <a:endParaRPr lang="en-US" sz="2600" dirty="0"/>
          </a:p>
          <a:p>
            <a:endParaRPr lang="en-US" dirty="0"/>
          </a:p>
        </p:txBody>
      </p:sp>
    </p:spTree>
    <p:extLst>
      <p:ext uri="{BB962C8B-B14F-4D97-AF65-F5344CB8AC3E}">
        <p14:creationId xmlns:p14="http://schemas.microsoft.com/office/powerpoint/2010/main" val="2461410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Ishikawa “Fishbone” Diagram</a:t>
            </a:r>
          </a:p>
        </p:txBody>
      </p:sp>
      <p:sp>
        <p:nvSpPr>
          <p:cNvPr id="3" name="Content Placeholder 2"/>
          <p:cNvSpPr>
            <a:spLocks noGrp="1"/>
          </p:cNvSpPr>
          <p:nvPr>
            <p:ph idx="1"/>
          </p:nvPr>
        </p:nvSpPr>
        <p:spPr/>
        <p:txBody>
          <a:bodyPr/>
          <a:lstStyle/>
          <a:p>
            <a:r>
              <a:rPr lang="en-US" dirty="0"/>
              <a:t>One method of root cause analysis</a:t>
            </a:r>
          </a:p>
          <a:p>
            <a:endParaRPr lang="en-US" dirty="0"/>
          </a:p>
          <a:p>
            <a:pPr marL="0" indent="0">
              <a:buNone/>
            </a:pPr>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3248003655"/>
              </p:ext>
            </p:extLst>
          </p:nvPr>
        </p:nvGraphicFramePr>
        <p:xfrm>
          <a:off x="628650" y="2923876"/>
          <a:ext cx="7142670" cy="2382520"/>
        </p:xfrm>
        <a:graphic>
          <a:graphicData uri="http://schemas.openxmlformats.org/drawingml/2006/table">
            <a:tbl>
              <a:tblPr firstRow="1" bandRow="1">
                <a:tableStyleId>{5C22544A-7EE6-4342-B048-85BDC9FD1C3A}</a:tableStyleId>
              </a:tblPr>
              <a:tblGrid>
                <a:gridCol w="3571335">
                  <a:extLst>
                    <a:ext uri="{9D8B030D-6E8A-4147-A177-3AD203B41FA5}">
                      <a16:colId xmlns:a16="http://schemas.microsoft.com/office/drawing/2014/main" val="2982194387"/>
                    </a:ext>
                  </a:extLst>
                </a:gridCol>
                <a:gridCol w="3571335">
                  <a:extLst>
                    <a:ext uri="{9D8B030D-6E8A-4147-A177-3AD203B41FA5}">
                      <a16:colId xmlns:a16="http://schemas.microsoft.com/office/drawing/2014/main" val="4081539449"/>
                    </a:ext>
                  </a:extLst>
                </a:gridCol>
              </a:tblGrid>
              <a:tr h="370840">
                <a:tc>
                  <a:txBody>
                    <a:bodyPr/>
                    <a:lstStyle/>
                    <a:p>
                      <a:r>
                        <a:rPr lang="en-US" dirty="0"/>
                        <a:t>Advantages</a:t>
                      </a:r>
                    </a:p>
                  </a:txBody>
                  <a:tcPr/>
                </a:tc>
                <a:tc>
                  <a:txBody>
                    <a:bodyPr/>
                    <a:lstStyle/>
                    <a:p>
                      <a:r>
                        <a:rPr lang="en-US" dirty="0"/>
                        <a:t>Disadvantages</a:t>
                      </a:r>
                    </a:p>
                  </a:txBody>
                  <a:tcPr/>
                </a:tc>
                <a:extLst>
                  <a:ext uri="{0D108BD9-81ED-4DB2-BD59-A6C34878D82A}">
                    <a16:rowId xmlns:a16="http://schemas.microsoft.com/office/drawing/2014/main" val="2447538451"/>
                  </a:ext>
                </a:extLst>
              </a:tr>
              <a:tr h="370840">
                <a:tc>
                  <a:txBody>
                    <a:bodyPr/>
                    <a:lstStyle/>
                    <a:p>
                      <a:pPr lvl="0" fontAlgn="base"/>
                      <a:r>
                        <a:rPr lang="en-US" sz="1800" u="none" strike="noStrike" kern="1200" dirty="0">
                          <a:solidFill>
                            <a:schemeClr val="dk1"/>
                          </a:solidFill>
                          <a:effectLst/>
                          <a:latin typeface="+mn-lt"/>
                          <a:ea typeface="+mn-ea"/>
                          <a:cs typeface="+mn-cs"/>
                        </a:rPr>
                        <a:t>- Encourages brainstorming</a:t>
                      </a:r>
                    </a:p>
                    <a:p>
                      <a:r>
                        <a:rPr lang="en-US" sz="1800" kern="1200" dirty="0">
                          <a:solidFill>
                            <a:schemeClr val="dk1"/>
                          </a:solidFill>
                          <a:effectLst/>
                          <a:latin typeface="+mn-lt"/>
                          <a:ea typeface="+mn-ea"/>
                          <a:cs typeface="+mn-cs"/>
                        </a:rPr>
                        <a:t>- Helps organize many potential causes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May not capture all of causes that do not fit into a prescribed category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sz="1800" u="none" strike="noStrike" kern="1200" dirty="0">
                          <a:solidFill>
                            <a:schemeClr val="dk1"/>
                          </a:solidFill>
                          <a:effectLst/>
                          <a:latin typeface="+mn-lt"/>
                          <a:ea typeface="+mn-ea"/>
                          <a:cs typeface="+mn-cs"/>
                        </a:rPr>
                        <a:t>No guidance for prioritizing causes or developing solutions</a:t>
                      </a:r>
                    </a:p>
                    <a:p>
                      <a:r>
                        <a:rPr lang="en-US" dirty="0"/>
                        <a:t>- </a:t>
                      </a:r>
                      <a:r>
                        <a:rPr lang="en-US" sz="1800" kern="1200" dirty="0">
                          <a:solidFill>
                            <a:schemeClr val="dk1"/>
                          </a:solidFill>
                          <a:effectLst/>
                          <a:latin typeface="+mn-lt"/>
                          <a:ea typeface="+mn-ea"/>
                          <a:cs typeface="+mn-cs"/>
                        </a:rPr>
                        <a:t>Doesn’t delve into root cause of each cause</a:t>
                      </a:r>
                      <a:endParaRPr lang="en-US" dirty="0"/>
                    </a:p>
                  </a:txBody>
                  <a:tcPr/>
                </a:tc>
                <a:extLst>
                  <a:ext uri="{0D108BD9-81ED-4DB2-BD59-A6C34878D82A}">
                    <a16:rowId xmlns:a16="http://schemas.microsoft.com/office/drawing/2014/main" val="4117889931"/>
                  </a:ext>
                </a:extLst>
              </a:tr>
            </a:tbl>
          </a:graphicData>
        </a:graphic>
      </p:graphicFrame>
    </p:spTree>
    <p:extLst>
      <p:ext uri="{BB962C8B-B14F-4D97-AF65-F5344CB8AC3E}">
        <p14:creationId xmlns:p14="http://schemas.microsoft.com/office/powerpoint/2010/main" val="4689952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55" y="-105455"/>
            <a:ext cx="7886700" cy="1325563"/>
          </a:xfrm>
        </p:spPr>
        <p:txBody>
          <a:bodyPr/>
          <a:lstStyle/>
          <a:p>
            <a:r>
              <a:rPr lang="en-US" dirty="0"/>
              <a:t>Example</a:t>
            </a:r>
          </a:p>
        </p:txBody>
      </p:sp>
      <p:pic>
        <p:nvPicPr>
          <p:cNvPr id="4" name="Picture 3"/>
          <p:cNvPicPr/>
          <p:nvPr/>
        </p:nvPicPr>
        <p:blipFill>
          <a:blip r:embed="rId2"/>
          <a:stretch>
            <a:fillRect/>
          </a:stretch>
        </p:blipFill>
        <p:spPr>
          <a:xfrm>
            <a:off x="1" y="1049153"/>
            <a:ext cx="9057372" cy="5524901"/>
          </a:xfrm>
          <a:prstGeom prst="rect">
            <a:avLst/>
          </a:prstGeom>
        </p:spPr>
      </p:pic>
      <p:sp>
        <p:nvSpPr>
          <p:cNvPr id="5" name="Rectangle 4"/>
          <p:cNvSpPr/>
          <p:nvPr/>
        </p:nvSpPr>
        <p:spPr>
          <a:xfrm>
            <a:off x="7228573" y="2820202"/>
            <a:ext cx="1915427" cy="14726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Unexpected data from inertial measurement units</a:t>
            </a:r>
          </a:p>
        </p:txBody>
      </p:sp>
      <p:sp>
        <p:nvSpPr>
          <p:cNvPr id="3" name="TextBox 2"/>
          <p:cNvSpPr txBox="1"/>
          <p:nvPr/>
        </p:nvSpPr>
        <p:spPr>
          <a:xfrm>
            <a:off x="2734573" y="49494"/>
            <a:ext cx="6262415" cy="1015663"/>
          </a:xfrm>
          <a:prstGeom prst="rect">
            <a:avLst/>
          </a:prstGeom>
          <a:noFill/>
        </p:spPr>
        <p:txBody>
          <a:bodyPr wrap="square" rtlCol="0">
            <a:spAutoFit/>
          </a:bodyPr>
          <a:lstStyle/>
          <a:p>
            <a:r>
              <a:rPr lang="en-US" sz="1200" dirty="0">
                <a:solidFill>
                  <a:srgbClr val="0000FF"/>
                </a:solidFill>
              </a:rPr>
              <a:t>You are the lead test engineer executing a test for the ADCS subsystem of a new scientific mission for NASA. The test is in a clean room, at ambient temperature and pressure. You notice that the inertial measurement units are reporting unexpected data. You stop the test and call in the lead ADCS engineer for help in creating a fishbone diagram. After you complete the fishbone diagram, discuss your corrective actions. Support your conclusions.</a:t>
            </a:r>
          </a:p>
        </p:txBody>
      </p:sp>
    </p:spTree>
    <p:extLst>
      <p:ext uri="{BB962C8B-B14F-4D97-AF65-F5344CB8AC3E}">
        <p14:creationId xmlns:p14="http://schemas.microsoft.com/office/powerpoint/2010/main" val="13063419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23aa48c-73f2-40da-86b1-f1ae286477fe" xsi:nil="true"/>
    <lcf76f155ced4ddcb4097134ff3c332f xmlns="7584c457-6b5a-4caa-be47-be979cbe6555">
      <Terms xmlns="http://schemas.microsoft.com/office/infopath/2007/PartnerControls"/>
    </lcf76f155ced4ddcb4097134ff3c332f>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D64742-C1D9-4D7A-930D-A3648A9CD59C}">
  <ds:schemaRefs>
    <ds:schemaRef ds:uri="http://schemas.microsoft.com/sharepoint/v3/contenttype/forms"/>
  </ds:schemaRefs>
</ds:datastoreItem>
</file>

<file path=customXml/itemProps2.xml><?xml version="1.0" encoding="utf-8"?>
<ds:datastoreItem xmlns:ds="http://schemas.openxmlformats.org/officeDocument/2006/customXml" ds:itemID="{080D0C28-8281-4A5E-933E-6D55CB5DE211}">
  <ds:schemaRefs>
    <ds:schemaRef ds:uri="http://purl.org/dc/elements/1.1/"/>
    <ds:schemaRef ds:uri="http://schemas.microsoft.com/office/2006/metadata/properties"/>
    <ds:schemaRef ds:uri="http://schemas.microsoft.com/office/2006/documentManagement/types"/>
    <ds:schemaRef ds:uri="723aa48c-73f2-40da-86b1-f1ae286477fe"/>
    <ds:schemaRef ds:uri="http://purl.org/dc/terms/"/>
    <ds:schemaRef ds:uri="http://schemas.microsoft.com/sharepoint/v3"/>
    <ds:schemaRef ds:uri="http://purl.org/dc/dcmitype/"/>
    <ds:schemaRef ds:uri="http://schemas.openxmlformats.org/package/2006/metadata/core-properties"/>
    <ds:schemaRef ds:uri="http://schemas.microsoft.com/office/infopath/2007/PartnerControls"/>
    <ds:schemaRef ds:uri="7584c457-6b5a-4caa-be47-be979cbe6555"/>
    <ds:schemaRef ds:uri="http://www.w3.org/XML/1998/namespace"/>
  </ds:schemaRefs>
</ds:datastoreItem>
</file>

<file path=customXml/itemProps3.xml><?xml version="1.0" encoding="utf-8"?>
<ds:datastoreItem xmlns:ds="http://schemas.openxmlformats.org/officeDocument/2006/customXml" ds:itemID="{190AD1FE-72FC-4048-AA12-5CC3FC813120}"/>
</file>

<file path=docProps/app.xml><?xml version="1.0" encoding="utf-8"?>
<Properties xmlns="http://schemas.openxmlformats.org/officeDocument/2006/extended-properties" xmlns:vt="http://schemas.openxmlformats.org/officeDocument/2006/docPropsVTypes">
  <Template>Office Theme</Template>
  <TotalTime>5468</TotalTime>
  <Words>1070</Words>
  <Application>Microsoft Office PowerPoint</Application>
  <PresentationFormat>On-screen Show (4:3)</PresentationFormat>
  <Paragraphs>129</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PowerPoint Presentation</vt:lpstr>
      <vt:lpstr>Lesson Objectives</vt:lpstr>
      <vt:lpstr>Verification &amp; Validation</vt:lpstr>
      <vt:lpstr>Systems Engineering “V” Model</vt:lpstr>
      <vt:lpstr>Definitions</vt:lpstr>
      <vt:lpstr>Verification Process (1/2)</vt:lpstr>
      <vt:lpstr>Verification Process (2/2)</vt:lpstr>
      <vt:lpstr>Verification Methods</vt:lpstr>
      <vt:lpstr>Types of Verification Tests</vt:lpstr>
      <vt:lpstr>PowerPoint Presentation</vt:lpstr>
      <vt:lpstr>Steps of the Verification Process (1/2)</vt:lpstr>
      <vt:lpstr>Steps of the Verification Process (2/2)</vt:lpstr>
      <vt:lpstr>Requirements Flowdown</vt:lpstr>
      <vt:lpstr>End-to-End System Testing</vt:lpstr>
      <vt:lpstr>End-to-End System Test Example</vt:lpstr>
      <vt:lpstr>Validation Process (1/2)</vt:lpstr>
      <vt:lpstr>Validation Process (2/2)</vt:lpstr>
      <vt:lpstr>Validation Process Steps</vt:lpstr>
      <vt:lpstr>PowerPoint Presentation</vt:lpstr>
      <vt:lpstr>Root Cause Anaylsis</vt:lpstr>
      <vt:lpstr>Root Cause Analysis</vt:lpstr>
      <vt:lpstr>PowerPoint Presentation</vt:lpstr>
      <vt:lpstr>PowerPoint Presentation</vt:lpstr>
      <vt:lpstr>PowerPoint Presentation</vt:lpstr>
      <vt:lpstr>PowerPoint Presentation</vt:lpstr>
      <vt:lpstr>How to interpret an Ishikawa Diagram?</vt:lpstr>
      <vt:lpstr>Ishikawa “Fishbone” Diagram</vt:lpstr>
      <vt:lpstr>Example</vt:lpstr>
    </vt:vector>
  </TitlesOfParts>
  <Company>USAF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Yale, Gary E. Civ USAF USAFA USAFA/DFAS</dc:creator>
  <cp:lastModifiedBy>Quadrino, Meghan K Capt USAF USAFA USAFA/DFAS</cp:lastModifiedBy>
  <cp:revision>107</cp:revision>
  <cp:lastPrinted>2019-06-26T14:29:45Z</cp:lastPrinted>
  <dcterms:created xsi:type="dcterms:W3CDTF">2019-06-13T20:36:51Z</dcterms:created>
  <dcterms:modified xsi:type="dcterms:W3CDTF">2022-11-04T14:07:41Z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