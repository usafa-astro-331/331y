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29"/>
  </p:handoutMasterIdLst>
  <p:sldIdLst>
    <p:sldId id="258" r:id="rId5"/>
    <p:sldId id="300" r:id="rId6"/>
    <p:sldId id="325" r:id="rId7"/>
    <p:sldId id="313" r:id="rId8"/>
    <p:sldId id="314" r:id="rId9"/>
    <p:sldId id="315" r:id="rId10"/>
    <p:sldId id="326" r:id="rId11"/>
    <p:sldId id="301" r:id="rId12"/>
    <p:sldId id="302" r:id="rId13"/>
    <p:sldId id="303" r:id="rId14"/>
    <p:sldId id="310" r:id="rId15"/>
    <p:sldId id="317" r:id="rId16"/>
    <p:sldId id="316" r:id="rId17"/>
    <p:sldId id="318" r:id="rId18"/>
    <p:sldId id="319" r:id="rId19"/>
    <p:sldId id="306" r:id="rId20"/>
    <p:sldId id="320" r:id="rId21"/>
    <p:sldId id="307" r:id="rId22"/>
    <p:sldId id="321" r:id="rId23"/>
    <p:sldId id="308" r:id="rId24"/>
    <p:sldId id="322" r:id="rId25"/>
    <p:sldId id="323" r:id="rId26"/>
    <p:sldId id="309" r:id="rId27"/>
    <p:sldId id="324" r:id="rId28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01C28-FA57-4A13-8EDE-67ACA8E46ED8}" v="50" dt="2022-10-28T22:22:43.076"/>
    <p1510:client id="{8F4CA570-A5E6-42FB-BCFF-AD90816E6E09}" v="14" dt="2021-11-01T05:58:01.101"/>
    <p1510:client id="{A5CB2E58-114E-D537-2BB3-EE95D592DE62}" v="2" dt="2021-11-19T20:17:25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e, Connor D C2C USAF USAFA CW/CS08" userId="S::c23connor.rude@afacademy.af.edu::411921a6-884d-490b-a5b4-612f6607b260" providerId="AD" clId="Web-{8F4CA570-A5E6-42FB-BCFF-AD90816E6E09}"/>
    <pc:docChg chg="modSld">
      <pc:chgData name="Rude, Connor D C2C USAF USAFA CW/CS08" userId="S::c23connor.rude@afacademy.af.edu::411921a6-884d-490b-a5b4-612f6607b260" providerId="AD" clId="Web-{8F4CA570-A5E6-42FB-BCFF-AD90816E6E09}" dt="2021-11-01T05:58:01.101" v="13" actId="14100"/>
      <pc:docMkLst>
        <pc:docMk/>
      </pc:docMkLst>
      <pc:sldChg chg="modSp">
        <pc:chgData name="Rude, Connor D C2C USAF USAFA CW/CS08" userId="S::c23connor.rude@afacademy.af.edu::411921a6-884d-490b-a5b4-612f6607b260" providerId="AD" clId="Web-{8F4CA570-A5E6-42FB-BCFF-AD90816E6E09}" dt="2021-11-01T05:58:01.101" v="13" actId="14100"/>
        <pc:sldMkLst>
          <pc:docMk/>
          <pc:sldMk cId="3368287485" sldId="309"/>
        </pc:sldMkLst>
        <pc:picChg chg="ord">
          <ac:chgData name="Rude, Connor D C2C USAF USAFA CW/CS08" userId="S::c23connor.rude@afacademy.af.edu::411921a6-884d-490b-a5b4-612f6607b260" providerId="AD" clId="Web-{8F4CA570-A5E6-42FB-BCFF-AD90816E6E09}" dt="2021-11-01T05:16:35.363" v="2"/>
          <ac:picMkLst>
            <pc:docMk/>
            <pc:sldMk cId="3368287485" sldId="309"/>
            <ac:picMk id="4" creationId="{00000000-0000-0000-0000-000000000000}"/>
          </ac:picMkLst>
        </pc:picChg>
        <pc:picChg chg="mod">
          <ac:chgData name="Rude, Connor D C2C USAF USAFA CW/CS08" userId="S::c23connor.rude@afacademy.af.edu::411921a6-884d-490b-a5b4-612f6607b260" providerId="AD" clId="Web-{8F4CA570-A5E6-42FB-BCFF-AD90816E6E09}" dt="2021-11-01T05:58:01.101" v="13" actId="14100"/>
          <ac:picMkLst>
            <pc:docMk/>
            <pc:sldMk cId="3368287485" sldId="309"/>
            <ac:picMk id="1026" creationId="{00000000-0000-0000-0000-000000000000}"/>
          </ac:picMkLst>
        </pc:picChg>
      </pc:sldChg>
    </pc:docChg>
  </pc:docChgLst>
  <pc:docChgLst>
    <pc:chgData name="Quadrino, Meghan K Maj USAF USAFA DF/DFAS" userId="S::meghan.quadrino@afacademy.af.edu::2a5ddaa6-2cb9-4005-8cd3-253981a27296" providerId="AD" clId="Web-{7E301C28-FA57-4A13-8EDE-67ACA8E46ED8}"/>
    <pc:docChg chg="modSld">
      <pc:chgData name="Quadrino, Meghan K Maj USAF USAFA DF/DFAS" userId="S::meghan.quadrino@afacademy.af.edu::2a5ddaa6-2cb9-4005-8cd3-253981a27296" providerId="AD" clId="Web-{7E301C28-FA57-4A13-8EDE-67ACA8E46ED8}" dt="2022-10-28T22:22:43.076" v="51" actId="20577"/>
      <pc:docMkLst>
        <pc:docMk/>
      </pc:docMkLst>
      <pc:sldChg chg="modSp">
        <pc:chgData name="Quadrino, Meghan K Maj USAF USAFA DF/DFAS" userId="S::meghan.quadrino@afacademy.af.edu::2a5ddaa6-2cb9-4005-8cd3-253981a27296" providerId="AD" clId="Web-{7E301C28-FA57-4A13-8EDE-67ACA8E46ED8}" dt="2022-10-28T22:20:48.308" v="5" actId="20577"/>
        <pc:sldMkLst>
          <pc:docMk/>
          <pc:sldMk cId="2206304067" sldId="314"/>
        </pc:sldMkLst>
        <pc:spChg chg="mod">
          <ac:chgData name="Quadrino, Meghan K Maj USAF USAFA DF/DFAS" userId="S::meghan.quadrino@afacademy.af.edu::2a5ddaa6-2cb9-4005-8cd3-253981a27296" providerId="AD" clId="Web-{7E301C28-FA57-4A13-8EDE-67ACA8E46ED8}" dt="2022-10-28T22:20:48.308" v="5" actId="20577"/>
          <ac:spMkLst>
            <pc:docMk/>
            <pc:sldMk cId="2206304067" sldId="314"/>
            <ac:spMk id="2" creationId="{00000000-0000-0000-0000-000000000000}"/>
          </ac:spMkLst>
        </pc:spChg>
      </pc:sldChg>
      <pc:sldChg chg="modSp">
        <pc:chgData name="Quadrino, Meghan K Maj USAF USAFA DF/DFAS" userId="S::meghan.quadrino@afacademy.af.edu::2a5ddaa6-2cb9-4005-8cd3-253981a27296" providerId="AD" clId="Web-{7E301C28-FA57-4A13-8EDE-67ACA8E46ED8}" dt="2022-10-28T22:20:40.496" v="2" actId="20577"/>
        <pc:sldMkLst>
          <pc:docMk/>
          <pc:sldMk cId="2174485194" sldId="315"/>
        </pc:sldMkLst>
        <pc:spChg chg="mod">
          <ac:chgData name="Quadrino, Meghan K Maj USAF USAFA DF/DFAS" userId="S::meghan.quadrino@afacademy.af.edu::2a5ddaa6-2cb9-4005-8cd3-253981a27296" providerId="AD" clId="Web-{7E301C28-FA57-4A13-8EDE-67ACA8E46ED8}" dt="2022-10-28T22:20:40.496" v="2" actId="20577"/>
          <ac:spMkLst>
            <pc:docMk/>
            <pc:sldMk cId="2174485194" sldId="315"/>
            <ac:spMk id="2" creationId="{00000000-0000-0000-0000-000000000000}"/>
          </ac:spMkLst>
        </pc:spChg>
      </pc:sldChg>
      <pc:sldChg chg="modSp">
        <pc:chgData name="Quadrino, Meghan K Maj USAF USAFA DF/DFAS" userId="S::meghan.quadrino@afacademy.af.edu::2a5ddaa6-2cb9-4005-8cd3-253981a27296" providerId="AD" clId="Web-{7E301C28-FA57-4A13-8EDE-67ACA8E46ED8}" dt="2022-10-28T22:22:43.076" v="51" actId="20577"/>
        <pc:sldMkLst>
          <pc:docMk/>
          <pc:sldMk cId="3584739291" sldId="319"/>
        </pc:sldMkLst>
        <pc:spChg chg="mod">
          <ac:chgData name="Quadrino, Meghan K Maj USAF USAFA DF/DFAS" userId="S::meghan.quadrino@afacademy.af.edu::2a5ddaa6-2cb9-4005-8cd3-253981a27296" providerId="AD" clId="Web-{7E301C28-FA57-4A13-8EDE-67ACA8E46ED8}" dt="2022-10-28T22:22:25.216" v="45" actId="1076"/>
          <ac:spMkLst>
            <pc:docMk/>
            <pc:sldMk cId="3584739291" sldId="319"/>
            <ac:spMk id="2" creationId="{00000000-0000-0000-0000-000000000000}"/>
          </ac:spMkLst>
        </pc:spChg>
        <pc:spChg chg="mod">
          <ac:chgData name="Quadrino, Meghan K Maj USAF USAFA DF/DFAS" userId="S::meghan.quadrino@afacademy.af.edu::2a5ddaa6-2cb9-4005-8cd3-253981a27296" providerId="AD" clId="Web-{7E301C28-FA57-4A13-8EDE-67ACA8E46ED8}" dt="2022-10-28T22:22:43.076" v="51" actId="20577"/>
          <ac:spMkLst>
            <pc:docMk/>
            <pc:sldMk cId="3584739291" sldId="319"/>
            <ac:spMk id="3" creationId="{00000000-0000-0000-0000-000000000000}"/>
          </ac:spMkLst>
        </pc:spChg>
      </pc:sldChg>
    </pc:docChg>
  </pc:docChgLst>
  <pc:docChgLst>
    <pc:chgData clId="Web-{7E301C28-FA57-4A13-8EDE-67ACA8E46ED8}"/>
    <pc:docChg chg="modSld">
      <pc:chgData name="" userId="" providerId="" clId="Web-{7E301C28-FA57-4A13-8EDE-67ACA8E46ED8}" dt="2022-10-28T22:20:33.449" v="0" actId="20577"/>
      <pc:docMkLst>
        <pc:docMk/>
      </pc:docMkLst>
      <pc:sldChg chg="modSp">
        <pc:chgData name="" userId="" providerId="" clId="Web-{7E301C28-FA57-4A13-8EDE-67ACA8E46ED8}" dt="2022-10-28T22:20:33.449" v="0" actId="20577"/>
        <pc:sldMkLst>
          <pc:docMk/>
          <pc:sldMk cId="2206304067" sldId="314"/>
        </pc:sldMkLst>
        <pc:spChg chg="mod">
          <ac:chgData name="" userId="" providerId="" clId="Web-{7E301C28-FA57-4A13-8EDE-67ACA8E46ED8}" dt="2022-10-28T22:20:33.449" v="0" actId="20577"/>
          <ac:spMkLst>
            <pc:docMk/>
            <pc:sldMk cId="2206304067" sldId="314"/>
            <ac:spMk id="2" creationId="{00000000-0000-0000-0000-000000000000}"/>
          </ac:spMkLst>
        </pc:spChg>
      </pc:sldChg>
    </pc:docChg>
  </pc:docChgLst>
  <pc:docChgLst>
    <pc:chgData name="Rude, Connor D C2C USAF USAFA CW/CS08" userId="S::c23connor.rude@afacademy.af.edu::411921a6-884d-490b-a5b4-612f6607b260" providerId="AD" clId="Web-{A5CB2E58-114E-D537-2BB3-EE95D592DE62}"/>
    <pc:docChg chg="sldOrd">
      <pc:chgData name="Rude, Connor D C2C USAF USAFA CW/CS08" userId="S::c23connor.rude@afacademy.af.edu::411921a6-884d-490b-a5b4-612f6607b260" providerId="AD" clId="Web-{A5CB2E58-114E-D537-2BB3-EE95D592DE62}" dt="2021-11-19T20:17:25.822" v="1"/>
      <pc:docMkLst>
        <pc:docMk/>
      </pc:docMkLst>
      <pc:sldChg chg="ord">
        <pc:chgData name="Rude, Connor D C2C USAF USAFA CW/CS08" userId="S::c23connor.rude@afacademy.af.edu::411921a6-884d-490b-a5b4-612f6607b260" providerId="AD" clId="Web-{A5CB2E58-114E-D537-2BB3-EE95D592DE62}" dt="2021-11-19T20:17:25.822" v="1"/>
        <pc:sldMkLst>
          <pc:docMk/>
          <pc:sldMk cId="3603947273" sldId="3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Astro 331 Lesson 27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Assembly, Integration and Test (AI&amp;T)</a:t>
            </a:r>
          </a:p>
          <a:p>
            <a:pPr marL="0" indent="0" algn="ctr">
              <a:buNone/>
            </a:pPr>
            <a:r>
              <a:rPr lang="en-US" sz="2400" dirty="0"/>
              <a:t>SMAD </a:t>
            </a:r>
            <a:r>
              <a:rPr lang="en-US" sz="2400" dirty="0" err="1"/>
              <a:t>Ch</a:t>
            </a:r>
            <a:r>
              <a:rPr lang="en-US" sz="2400" dirty="0"/>
              <a:t> 12, </a:t>
            </a:r>
            <a:r>
              <a:rPr lang="en-US" sz="2400" dirty="0" err="1"/>
              <a:t>Supp</a:t>
            </a:r>
            <a:r>
              <a:rPr lang="en-US" sz="2400" dirty="0"/>
              <a:t> </a:t>
            </a:r>
            <a:r>
              <a:rPr lang="en-US" sz="2400" dirty="0" err="1"/>
              <a:t>Crs</a:t>
            </a:r>
            <a:r>
              <a:rPr lang="en-US" sz="2400" dirty="0"/>
              <a:t> </a:t>
            </a:r>
            <a:r>
              <a:rPr lang="en-US" sz="2400" dirty="0" err="1"/>
              <a:t>Mtl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0027"/>
            <a:ext cx="7886700" cy="5095981"/>
          </a:xfrm>
        </p:spPr>
        <p:txBody>
          <a:bodyPr>
            <a:normAutofit fontScale="85000" lnSpcReduction="20000"/>
          </a:bodyPr>
          <a:lstStyle/>
          <a:p>
            <a:pPr lvl="0" fontAlgn="base"/>
            <a:r>
              <a:rPr lang="en-US"/>
              <a:t>Understand common hardware nomenclature</a:t>
            </a:r>
          </a:p>
          <a:p>
            <a:pPr lvl="0" fontAlgn="base"/>
            <a:r>
              <a:rPr lang="en-US"/>
              <a:t>Understand why items are tested at the unit and subassembly level before integration into the vehicle</a:t>
            </a:r>
          </a:p>
          <a:p>
            <a:pPr lvl="0" fontAlgn="base"/>
            <a:r>
              <a:rPr lang="en-US"/>
              <a:t>Describe the differences in intent and application of qualification, </a:t>
            </a:r>
            <a:r>
              <a:rPr lang="en-US" err="1"/>
              <a:t>protoqualification</a:t>
            </a:r>
            <a:r>
              <a:rPr lang="en-US"/>
              <a:t>, and acceptance testing</a:t>
            </a:r>
          </a:p>
          <a:p>
            <a:pPr lvl="0" fontAlgn="base"/>
            <a:r>
              <a:rPr lang="en-US"/>
              <a:t>Understand and describe a flow chart of vehicle-level tests and explain why the tests are conducted in a particular order</a:t>
            </a:r>
          </a:p>
          <a:p>
            <a:pPr lvl="0" fontAlgn="base"/>
            <a:r>
              <a:rPr lang="en-US"/>
              <a:t>Explain the purpose of electromagnetic compatibility, shock, and thermal vacuum testing</a:t>
            </a:r>
          </a:p>
          <a:p>
            <a:pPr lvl="0" fontAlgn="base"/>
            <a:r>
              <a:rPr lang="en-US"/>
              <a:t>Understand the purpose of and differences between spacecraft acoustic tests, sinusoidal sweep vibration tests and random vibration tests</a:t>
            </a:r>
          </a:p>
          <a:p>
            <a:pPr lvl="0" fontAlgn="base"/>
            <a:r>
              <a:rPr lang="en-US"/>
              <a:t>Explain the phrase “test like you fly” and give examples of some test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277781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*Note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Most of the material from this lesson comes directly from MIL-STD-1540E, Test Requirements for Launch, Upper-Stage, and Space Vehicles</a:t>
            </a:r>
          </a:p>
          <a:p>
            <a:pPr lvl="1"/>
            <a:r>
              <a:rPr lang="en-US"/>
              <a:t>It would behoove you to read through it…</a:t>
            </a:r>
          </a:p>
          <a:p>
            <a:r>
              <a:rPr lang="en-US"/>
              <a:t>TYLF info comes from Aerospace Report</a:t>
            </a:r>
          </a:p>
        </p:txBody>
      </p:sp>
    </p:spTree>
    <p:extLst>
      <p:ext uri="{BB962C8B-B14F-4D97-AF65-F5344CB8AC3E}">
        <p14:creationId xmlns:p14="http://schemas.microsoft.com/office/powerpoint/2010/main" val="197600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Nomenclature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fontAlgn="base"/>
            <a:r>
              <a:rPr lang="en-US"/>
              <a:t>Piece part: individual part such as resistor, integrated circuit, bearing, circuit board or housing</a:t>
            </a:r>
          </a:p>
          <a:p>
            <a:pPr lvl="0" fontAlgn="base"/>
            <a:r>
              <a:rPr lang="en-US"/>
              <a:t>Component: complete functional unit such as a control electronics assembly, an antenna, a battery, or a power control unit</a:t>
            </a:r>
          </a:p>
          <a:p>
            <a:pPr lvl="0" fontAlgn="base"/>
            <a:r>
              <a:rPr lang="en-US"/>
              <a:t>Assembly: functional group of parts such as a hinge assembly, an antenna feed, or a deployment boom</a:t>
            </a:r>
          </a:p>
          <a:p>
            <a:pPr lvl="0" fontAlgn="base"/>
            <a:r>
              <a:rPr lang="en-US"/>
              <a:t>Subsystem: all of the components and assemblies that comprise a spacecraft subsystem</a:t>
            </a:r>
          </a:p>
          <a:p>
            <a:pPr lvl="0" fontAlgn="base"/>
            <a:r>
              <a:rPr lang="en-US"/>
              <a:t>Spacecraft: complete vehicle made up of all subsystems and the payload</a:t>
            </a:r>
          </a:p>
        </p:txBody>
      </p:sp>
    </p:spTree>
    <p:extLst>
      <p:ext uri="{BB962C8B-B14F-4D97-AF65-F5344CB8AC3E}">
        <p14:creationId xmlns:p14="http://schemas.microsoft.com/office/powerpoint/2010/main" val="257756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28441"/>
          </a:xfrm>
        </p:spPr>
        <p:txBody>
          <a:bodyPr>
            <a:normAutofit fontScale="92500" lnSpcReduction="10000"/>
          </a:bodyPr>
          <a:lstStyle/>
          <a:p>
            <a:pPr lvl="0" fontAlgn="base"/>
            <a:r>
              <a:rPr lang="en-US" b="1"/>
              <a:t>Unit Test</a:t>
            </a:r>
            <a:r>
              <a:rPr lang="en-US"/>
              <a:t>: testing a component before it is integrated into subsystem, to ensure it works as expected and meets all unit-level requirements</a:t>
            </a:r>
            <a:endParaRPr lang="en-US" sz="2400"/>
          </a:p>
          <a:p>
            <a:pPr lvl="1" fontAlgn="base"/>
            <a:r>
              <a:rPr lang="en-US"/>
              <a:t>Note: we expect that suppliers of piece parts test individual piece parts before sending to the contractor to build, so “unit test” refers to tests at the component level</a:t>
            </a:r>
            <a:endParaRPr lang="en-US" sz="2200"/>
          </a:p>
          <a:p>
            <a:pPr lvl="0" fontAlgn="base"/>
            <a:r>
              <a:rPr lang="en-US" b="1"/>
              <a:t>Subsystem Test</a:t>
            </a:r>
            <a:r>
              <a:rPr lang="en-US"/>
              <a:t>: testing a subsystem before it is integrated into the vehicle, to ensure all components work together as expected to meet subsystem-level requirements</a:t>
            </a:r>
            <a:endParaRPr lang="en-US" sz="2400"/>
          </a:p>
          <a:p>
            <a:pPr lvl="0" fontAlgn="base"/>
            <a:r>
              <a:rPr lang="en-US" b="1"/>
              <a:t>Vehicle Test</a:t>
            </a:r>
            <a:r>
              <a:rPr lang="en-US"/>
              <a:t>: testing all subsystems together, to ensure they all work together as expected across range of requirements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0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1449"/>
            <a:ext cx="7886700" cy="5193436"/>
          </a:xfrm>
        </p:spPr>
        <p:txBody>
          <a:bodyPr>
            <a:normAutofit fontScale="62500" lnSpcReduction="20000"/>
          </a:bodyPr>
          <a:lstStyle/>
          <a:p>
            <a:pPr lvl="0" fontAlgn="base"/>
            <a:r>
              <a:rPr lang="en-US" b="1"/>
              <a:t>Functional: </a:t>
            </a:r>
            <a:r>
              <a:rPr lang="en-US"/>
              <a:t>demonstrates all functional capabilities expected from an article (unit, subsystem, vehicle); </a:t>
            </a:r>
            <a:r>
              <a:rPr lang="en-US" err="1"/>
              <a:t>ie</a:t>
            </a:r>
            <a:r>
              <a:rPr lang="en-US"/>
              <a:t>, gives expected telemetry, receives expected commands, etc.</a:t>
            </a:r>
            <a:endParaRPr lang="en-US" sz="2400"/>
          </a:p>
          <a:p>
            <a:pPr lvl="0" fontAlgn="base"/>
            <a:r>
              <a:rPr lang="en-US" b="1"/>
              <a:t>Acceptance: </a:t>
            </a:r>
            <a:r>
              <a:rPr lang="en-US"/>
              <a:t>demonstrates acceptability of each deliverable item to meet performance specification and demonstrate error-free workmanship in manufacturing</a:t>
            </a:r>
            <a:endParaRPr lang="en-US" sz="2400"/>
          </a:p>
          <a:p>
            <a:pPr lvl="1" fontAlgn="base"/>
            <a:r>
              <a:rPr lang="en-US"/>
              <a:t>Lowest test level, required by all flight items </a:t>
            </a:r>
            <a:endParaRPr lang="en-US" sz="2200"/>
          </a:p>
          <a:p>
            <a:pPr lvl="1" fontAlgn="base"/>
            <a:r>
              <a:rPr lang="en-US"/>
              <a:t>Meets all requirements over expected ranges (temperatures, stress, </a:t>
            </a:r>
            <a:r>
              <a:rPr lang="en-US" err="1"/>
              <a:t>etc</a:t>
            </a:r>
            <a:r>
              <a:rPr lang="en-US"/>
              <a:t>)</a:t>
            </a:r>
            <a:endParaRPr lang="en-US" sz="2200"/>
          </a:p>
          <a:p>
            <a:pPr lvl="0" fontAlgn="base"/>
            <a:r>
              <a:rPr lang="en-US" b="1"/>
              <a:t>Qualification: </a:t>
            </a:r>
            <a:r>
              <a:rPr lang="en-US"/>
              <a:t>demonstrates that the design, manufacturing process and acceptance program produce hardware/software that meet specification requirements with adequate margin</a:t>
            </a:r>
            <a:endParaRPr lang="en-US" sz="2400"/>
          </a:p>
          <a:p>
            <a:pPr lvl="1" fontAlgn="base"/>
            <a:r>
              <a:rPr lang="en-US"/>
              <a:t>Highest test level, ensures that units will remain flight-worthy after surviving multiple acceptance tests</a:t>
            </a:r>
            <a:endParaRPr lang="en-US" sz="2200"/>
          </a:p>
          <a:p>
            <a:pPr lvl="1" fontAlgn="base"/>
            <a:r>
              <a:rPr lang="en-US"/>
              <a:t>Meets all requirements beyond expected ranges, intended to stress items</a:t>
            </a:r>
            <a:endParaRPr lang="en-US" sz="2200"/>
          </a:p>
          <a:p>
            <a:pPr lvl="1" fontAlgn="base"/>
            <a:r>
              <a:rPr lang="en-US"/>
              <a:t>Sometimes performed on test units, rather than flight units</a:t>
            </a:r>
            <a:endParaRPr lang="en-US" sz="2200"/>
          </a:p>
          <a:p>
            <a:pPr lvl="0" fontAlgn="base"/>
            <a:r>
              <a:rPr lang="en-US" b="1" err="1"/>
              <a:t>Protoqualification</a:t>
            </a:r>
            <a:r>
              <a:rPr lang="en-US" b="1"/>
              <a:t>: </a:t>
            </a:r>
            <a:r>
              <a:rPr lang="en-US"/>
              <a:t>hybrid of qualification and acceptance testing; applies reduced qualification-level testing to hardware</a:t>
            </a:r>
            <a:endParaRPr lang="en-US" sz="2400"/>
          </a:p>
          <a:p>
            <a:pPr lvl="1" fontAlgn="base"/>
            <a:r>
              <a:rPr lang="en-US"/>
              <a:t>Middle test level, would replace qualification</a:t>
            </a:r>
            <a:endParaRPr lang="en-US" sz="2200"/>
          </a:p>
          <a:p>
            <a:pPr lvl="1" fontAlgn="base"/>
            <a:r>
              <a:rPr lang="en-US"/>
              <a:t>Uses flight units for testing</a:t>
            </a:r>
            <a:endParaRPr lang="en-US" sz="2200"/>
          </a:p>
          <a:p>
            <a:pPr lvl="1" fontAlgn="base"/>
            <a:r>
              <a:rPr lang="en-US"/>
              <a:t>Compromise for qualification testing, when it is not practical/affordable to have a full engineering model to qualification test</a:t>
            </a:r>
            <a:endParaRPr lang="en-US" sz="2200"/>
          </a:p>
          <a:p>
            <a:pPr lvl="1" fontAlgn="base"/>
            <a:r>
              <a:rPr lang="en-US"/>
              <a:t>First unit is put through </a:t>
            </a:r>
            <a:r>
              <a:rPr lang="en-US" err="1"/>
              <a:t>protoqualification</a:t>
            </a:r>
            <a:r>
              <a:rPr lang="en-US"/>
              <a:t> test levels, subsequent vehicles are just acceptance tested (sometimes called “qualification by similarity”)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17448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Level Acceptance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95926" y="1423447"/>
            <a:ext cx="8418136" cy="52130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47934" y="199470"/>
            <a:ext cx="2970724" cy="1223977"/>
          </a:xfrm>
        </p:spPr>
        <p:txBody>
          <a:bodyPr>
            <a:normAutofit/>
          </a:bodyPr>
          <a:lstStyle/>
          <a:p>
            <a:r>
              <a:rPr lang="en-US" sz="1800" dirty="0"/>
              <a:t>Test is to expected on-orbit levels</a:t>
            </a:r>
          </a:p>
          <a:p>
            <a:r>
              <a:rPr lang="en-US" sz="1800" dirty="0"/>
              <a:t>Unit is flight-worthy</a:t>
            </a:r>
          </a:p>
        </p:txBody>
      </p:sp>
    </p:spTree>
    <p:extLst>
      <p:ext uri="{BB962C8B-B14F-4D97-AF65-F5344CB8AC3E}">
        <p14:creationId xmlns:p14="http://schemas.microsoft.com/office/powerpoint/2010/main" val="406980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67" y="1690689"/>
            <a:ext cx="8425066" cy="52006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5635" y="365126"/>
            <a:ext cx="5032450" cy="1223977"/>
          </a:xfrm>
        </p:spPr>
        <p:txBody>
          <a:bodyPr>
            <a:normAutofit/>
          </a:bodyPr>
          <a:lstStyle/>
          <a:p>
            <a:r>
              <a:rPr lang="en-US" sz="1800" dirty="0"/>
              <a:t>Qualified item is non-flight</a:t>
            </a:r>
          </a:p>
          <a:p>
            <a:r>
              <a:rPr lang="en-US" sz="1800" dirty="0"/>
              <a:t>Subsequent flight items are then acceptance tested</a:t>
            </a:r>
          </a:p>
        </p:txBody>
      </p:sp>
    </p:spTree>
    <p:extLst>
      <p:ext uri="{BB962C8B-B14F-4D97-AF65-F5344CB8AC3E}">
        <p14:creationId xmlns:p14="http://schemas.microsoft.com/office/powerpoint/2010/main" val="21760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39" y="1600011"/>
            <a:ext cx="8565646" cy="525798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Protoqualification</a:t>
            </a:r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27790" y="365126"/>
            <a:ext cx="3816210" cy="12239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err="1"/>
              <a:t>Protoqualified</a:t>
            </a:r>
            <a:r>
              <a:rPr lang="en-US" sz="1800"/>
              <a:t> item is flight</a:t>
            </a:r>
          </a:p>
          <a:p>
            <a:r>
              <a:rPr lang="en-US" sz="1800"/>
              <a:t>Subsequent flight items are then acceptance tested</a:t>
            </a:r>
          </a:p>
        </p:txBody>
      </p:sp>
    </p:spTree>
    <p:extLst>
      <p:ext uri="{BB962C8B-B14F-4D97-AF65-F5344CB8AC3E}">
        <p14:creationId xmlns:p14="http://schemas.microsoft.com/office/powerpoint/2010/main" val="1371995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008" y="0"/>
            <a:ext cx="6848475" cy="659293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900" y="338492"/>
            <a:ext cx="2343704" cy="3425640"/>
          </a:xfrm>
        </p:spPr>
        <p:txBody>
          <a:bodyPr>
            <a:normAutofit/>
          </a:bodyPr>
          <a:lstStyle/>
          <a:p>
            <a:r>
              <a:rPr lang="en-US" sz="3600"/>
              <a:t>Vehicle Level</a:t>
            </a:r>
            <a:br>
              <a:rPr lang="en-US" sz="3600"/>
            </a:br>
            <a:r>
              <a:rPr lang="en-US" sz="3600"/>
              <a:t>Test Summary</a:t>
            </a:r>
          </a:p>
        </p:txBody>
      </p:sp>
    </p:spTree>
    <p:extLst>
      <p:ext uri="{BB962C8B-B14F-4D97-AF65-F5344CB8AC3E}">
        <p14:creationId xmlns:p14="http://schemas.microsoft.com/office/powerpoint/2010/main" val="3658300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Integration &amp; Test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160" y="1788419"/>
            <a:ext cx="2640458" cy="739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Spacecraft Assembly &amp; Integration Complete</a:t>
            </a:r>
          </a:p>
        </p:txBody>
      </p:sp>
      <p:cxnSp>
        <p:nvCxnSpPr>
          <p:cNvPr id="5" name="Straight Arrow Connector 4"/>
          <p:cNvCxnSpPr>
            <a:stCxn id="3" idx="3"/>
            <a:endCxn id="6" idx="1"/>
          </p:cNvCxnSpPr>
          <p:nvPr/>
        </p:nvCxnSpPr>
        <p:spPr>
          <a:xfrm>
            <a:off x="3133618" y="2158332"/>
            <a:ext cx="8938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27470" y="1788420"/>
            <a:ext cx="1376737" cy="739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Inspection</a:t>
            </a:r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>
            <a:off x="5404207" y="2158333"/>
            <a:ext cx="1263721" cy="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67928" y="1818807"/>
            <a:ext cx="1777429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Full Functional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3541" y="2871854"/>
            <a:ext cx="2106202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Pressure/Leakage Test</a:t>
            </a:r>
          </a:p>
        </p:txBody>
      </p:sp>
      <p:cxnSp>
        <p:nvCxnSpPr>
          <p:cNvPr id="16" name="Straight Arrow Connector 15"/>
          <p:cNvCxnSpPr>
            <a:stCxn id="8" idx="2"/>
            <a:endCxn id="14" idx="0"/>
          </p:cNvCxnSpPr>
          <p:nvPr/>
        </p:nvCxnSpPr>
        <p:spPr>
          <a:xfrm flipH="1">
            <a:off x="7556642" y="2506025"/>
            <a:ext cx="1" cy="365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312578" y="2871854"/>
            <a:ext cx="137673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EMC</a:t>
            </a:r>
          </a:p>
        </p:txBody>
      </p:sp>
      <p:cxnSp>
        <p:nvCxnSpPr>
          <p:cNvPr id="21" name="Straight Arrow Connector 20"/>
          <p:cNvCxnSpPr>
            <a:stCxn id="14" idx="1"/>
            <a:endCxn id="19" idx="3"/>
          </p:cNvCxnSpPr>
          <p:nvPr/>
        </p:nvCxnSpPr>
        <p:spPr>
          <a:xfrm flipH="1">
            <a:off x="5689315" y="3215463"/>
            <a:ext cx="8142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227646" y="2871854"/>
            <a:ext cx="137673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Acoustic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160" y="2871854"/>
            <a:ext cx="971870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Vibe</a:t>
            </a:r>
          </a:p>
        </p:txBody>
      </p:sp>
      <p:cxnSp>
        <p:nvCxnSpPr>
          <p:cNvPr id="30" name="Straight Arrow Connector 29"/>
          <p:cNvCxnSpPr>
            <a:stCxn id="19" idx="1"/>
            <a:endCxn id="22" idx="3"/>
          </p:cNvCxnSpPr>
          <p:nvPr/>
        </p:nvCxnSpPr>
        <p:spPr>
          <a:xfrm flipH="1">
            <a:off x="3604383" y="3215463"/>
            <a:ext cx="708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2" idx="1"/>
            <a:endCxn id="28" idx="3"/>
          </p:cNvCxnSpPr>
          <p:nvPr/>
        </p:nvCxnSpPr>
        <p:spPr>
          <a:xfrm flipH="1">
            <a:off x="1465030" y="3215463"/>
            <a:ext cx="762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3160" y="4082492"/>
            <a:ext cx="233030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Shock/Deployment</a:t>
            </a:r>
          </a:p>
        </p:txBody>
      </p:sp>
      <p:cxnSp>
        <p:nvCxnSpPr>
          <p:cNvPr id="50" name="Straight Arrow Connector 49"/>
          <p:cNvCxnSpPr>
            <a:stCxn id="28" idx="2"/>
            <a:endCxn id="33" idx="0"/>
          </p:cNvCxnSpPr>
          <p:nvPr/>
        </p:nvCxnSpPr>
        <p:spPr>
          <a:xfrm>
            <a:off x="979095" y="3559072"/>
            <a:ext cx="679219" cy="523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391488" y="4084993"/>
            <a:ext cx="233030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Thermal Balance/TVAC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8899" y="4082492"/>
            <a:ext cx="2106202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Pressure/Leakage Test</a:t>
            </a:r>
          </a:p>
        </p:txBody>
      </p:sp>
      <p:cxnSp>
        <p:nvCxnSpPr>
          <p:cNvPr id="54" name="Straight Arrow Connector 53"/>
          <p:cNvCxnSpPr>
            <a:stCxn id="33" idx="3"/>
            <a:endCxn id="52" idx="1"/>
          </p:cNvCxnSpPr>
          <p:nvPr/>
        </p:nvCxnSpPr>
        <p:spPr>
          <a:xfrm>
            <a:off x="2823467" y="4426101"/>
            <a:ext cx="695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1" idx="1"/>
          </p:cNvCxnSpPr>
          <p:nvPr/>
        </p:nvCxnSpPr>
        <p:spPr>
          <a:xfrm>
            <a:off x="5625101" y="4426101"/>
            <a:ext cx="766387" cy="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503540" y="5298131"/>
            <a:ext cx="2106202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Pressure/Leakage Test</a:t>
            </a:r>
          </a:p>
        </p:txBody>
      </p:sp>
      <p:cxnSp>
        <p:nvCxnSpPr>
          <p:cNvPr id="61" name="Straight Arrow Connector 60"/>
          <p:cNvCxnSpPr>
            <a:stCxn id="51" idx="2"/>
            <a:endCxn id="57" idx="0"/>
          </p:cNvCxnSpPr>
          <p:nvPr/>
        </p:nvCxnSpPr>
        <p:spPr>
          <a:xfrm flipH="1">
            <a:off x="7556641" y="4772211"/>
            <a:ext cx="1" cy="525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683285" y="5302090"/>
            <a:ext cx="1777429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Full Functional Test</a:t>
            </a:r>
          </a:p>
        </p:txBody>
      </p:sp>
      <p:cxnSp>
        <p:nvCxnSpPr>
          <p:cNvPr id="64" name="Straight Arrow Connector 63"/>
          <p:cNvCxnSpPr>
            <a:stCxn id="57" idx="1"/>
            <a:endCxn id="62" idx="3"/>
          </p:cNvCxnSpPr>
          <p:nvPr/>
        </p:nvCxnSpPr>
        <p:spPr>
          <a:xfrm flipH="1">
            <a:off x="5460714" y="5641740"/>
            <a:ext cx="1042826" cy="3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930462" y="2281383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43351" y="2249973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66991" y="2239979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58989" y="3311181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18816" y="3310962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09078" y="3380588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24146" y="3370594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87963" y="4600186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40956" y="4529526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45357" y="4533054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98777" y="5743692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1975" y="5815088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4727" y="5266825"/>
            <a:ext cx="1376737" cy="739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Inspection</a:t>
            </a:r>
          </a:p>
        </p:txBody>
      </p:sp>
      <p:cxnSp>
        <p:nvCxnSpPr>
          <p:cNvPr id="79" name="Straight Arrow Connector 78"/>
          <p:cNvCxnSpPr>
            <a:stCxn id="62" idx="1"/>
            <a:endCxn id="77" idx="3"/>
          </p:cNvCxnSpPr>
          <p:nvPr/>
        </p:nvCxnSpPr>
        <p:spPr>
          <a:xfrm flipH="1" flipV="1">
            <a:off x="2341464" y="5636738"/>
            <a:ext cx="1341821" cy="8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981066" y="5821548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0026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72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561328"/>
          </a:xfrm>
        </p:spPr>
        <p:txBody>
          <a:bodyPr>
            <a:normAutofit fontScale="90000"/>
          </a:bodyPr>
          <a:lstStyle/>
          <a:p>
            <a:r>
              <a:rPr lang="en-US"/>
              <a:t>Specification Performance </a:t>
            </a:r>
            <a:br>
              <a:rPr lang="en-US"/>
            </a:br>
            <a:r>
              <a:rPr lang="en-US"/>
              <a:t>(“Full Functional”) Test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Verifies that the mechanical and electrical performance of the vehicle meets requirements, including compatibility with GSE (ground support equipment) and validates all test software and techniques</a:t>
            </a:r>
          </a:p>
          <a:p>
            <a:pPr lvl="0" fontAlgn="base"/>
            <a:r>
              <a:rPr lang="en-US"/>
              <a:t>Demonstrates operation of all redundant units</a:t>
            </a:r>
          </a:p>
        </p:txBody>
      </p:sp>
    </p:spTree>
    <p:extLst>
      <p:ext uri="{BB962C8B-B14F-4D97-AF65-F5344CB8AC3E}">
        <p14:creationId xmlns:p14="http://schemas.microsoft.com/office/powerpoint/2010/main" val="1406543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Pressure and Leakage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Demonstrate the capability of pressurized subsystems to meet specified flow, pressure and leakage rate requirements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85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720" y="20526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Electromagnetic Interference &amp; Compatibility (EMI &amp; EMC)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89743"/>
            <a:ext cx="7886700" cy="493574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fontAlgn="base"/>
            <a:r>
              <a:rPr lang="en-US" dirty="0">
                <a:ea typeface="+mn-lt"/>
                <a:cs typeface="+mn-lt"/>
              </a:rPr>
              <a:t>Demonstrates electromagnetic compatibility of vehicle to operating environment (launch is bigger concern – both LV and ground communicating w/ LV, on-orbit operations have less interference)</a:t>
            </a:r>
            <a:endParaRPr lang="en-US" sz="2400" dirty="0">
              <a:ea typeface="+mn-lt"/>
              <a:cs typeface="+mn-lt"/>
            </a:endParaRPr>
          </a:p>
          <a:p>
            <a:pPr lvl="0"/>
            <a:r>
              <a:rPr lang="en-US" dirty="0">
                <a:ea typeface="+mn-lt"/>
                <a:cs typeface="+mn-lt"/>
              </a:rPr>
              <a:t>Two major types: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Conducted &amp; Radiated </a:t>
            </a:r>
            <a:r>
              <a:rPr lang="en-US" u="sng" dirty="0">
                <a:ea typeface="+mn-lt"/>
                <a:cs typeface="+mn-lt"/>
              </a:rPr>
              <a:t>Emissions</a:t>
            </a:r>
            <a:r>
              <a:rPr lang="en-US" dirty="0">
                <a:ea typeface="+mn-lt"/>
                <a:cs typeface="+mn-lt"/>
              </a:rPr>
              <a:t>: </a:t>
            </a:r>
          </a:p>
          <a:p>
            <a:pPr lvl="2"/>
            <a:r>
              <a:rPr lang="en-US" sz="3000" dirty="0">
                <a:ea typeface="+mn-lt"/>
                <a:cs typeface="+mn-lt"/>
              </a:rPr>
              <a:t>Conducted: consists of electromagnetic interference in circuits that could create issues in delivered power quality due to interference caused by harmonics due to linear and non-linear loads present in the electrical power subsystem and harnessing</a:t>
            </a:r>
          </a:p>
          <a:p>
            <a:pPr lvl="2"/>
            <a:r>
              <a:rPr lang="en-US" sz="3000" dirty="0">
                <a:ea typeface="+mn-lt"/>
                <a:cs typeface="+mn-lt"/>
              </a:rPr>
              <a:t>Radiated: comes from antenna when it produces its waveform</a:t>
            </a:r>
            <a:endParaRPr lang="en-US" sz="3000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Conducted &amp; Radiated </a:t>
            </a:r>
            <a:r>
              <a:rPr lang="en-US" u="sng" dirty="0">
                <a:ea typeface="+mn-lt"/>
                <a:cs typeface="+mn-lt"/>
              </a:rPr>
              <a:t>Susceptibility</a:t>
            </a:r>
            <a:r>
              <a:rPr lang="en-US" dirty="0">
                <a:ea typeface="+mn-lt"/>
                <a:cs typeface="+mn-lt"/>
              </a:rPr>
              <a:t>: ability of a system to operate acceptably when subjected to electromagnetic interference (conducted) and radio frequency voltage or current (radiated)</a:t>
            </a:r>
            <a:endParaRPr lang="en-US">
              <a:cs typeface="Arial" panose="020B0604020202020204"/>
            </a:endParaRPr>
          </a:p>
          <a:p>
            <a:pPr lvl="2"/>
            <a:r>
              <a:rPr lang="en-US" sz="3000" dirty="0">
                <a:ea typeface="+mn-lt"/>
                <a:cs typeface="+mn-lt"/>
              </a:rPr>
              <a:t>Tested by having expected radio frequencies (from LV or ground) radiated at vehicle while performing nominal operations</a:t>
            </a:r>
          </a:p>
          <a:p>
            <a:endParaRPr lang="en-US" dirty="0">
              <a:cs typeface="Arial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39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Anechoic Chamber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2982" y="5621235"/>
            <a:ext cx="200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Image Courtesy of </a:t>
            </a:r>
          </a:p>
          <a:p>
            <a:r>
              <a:rPr lang="en-US" sz="1000" err="1"/>
              <a:t>Technische</a:t>
            </a:r>
            <a:r>
              <a:rPr lang="en-US" sz="1000"/>
              <a:t> </a:t>
            </a:r>
            <a:r>
              <a:rPr lang="en-US" sz="1000" err="1"/>
              <a:t>Universitat</a:t>
            </a:r>
            <a:r>
              <a:rPr lang="en-US" sz="1000"/>
              <a:t> Wien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81" y="1263548"/>
            <a:ext cx="6548438" cy="43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34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Shock/Deployment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Demonstrates the capability of the vehicle to withstand induced shock environments (</a:t>
            </a:r>
            <a:r>
              <a:rPr lang="en-US" err="1"/>
              <a:t>ie</a:t>
            </a:r>
            <a:r>
              <a:rPr lang="en-US"/>
              <a:t>, launch vehicle separation, solar array deployment,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00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4" y="2285886"/>
            <a:ext cx="3348419" cy="32095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051" y="2725214"/>
            <a:ext cx="4389120" cy="2468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32290" y="5495430"/>
            <a:ext cx="130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Image Courtesy of </a:t>
            </a:r>
          </a:p>
          <a:p>
            <a:r>
              <a:rPr lang="en-US" sz="1000"/>
              <a:t>pds-rings.seti.org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7739" y="5194094"/>
            <a:ext cx="130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Image Courtesy of </a:t>
            </a:r>
          </a:p>
          <a:p>
            <a:r>
              <a:rPr lang="en-US" sz="1000"/>
              <a:t>pds-rings.seti.org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5974" y="320738"/>
            <a:ext cx="8509450" cy="1325563"/>
          </a:xfrm>
        </p:spPr>
        <p:txBody>
          <a:bodyPr/>
          <a:lstStyle/>
          <a:p>
            <a:pPr algn="ctr"/>
            <a:r>
              <a:rPr lang="en-US" sz="3600"/>
              <a:t>Solar Array Deployment: </a:t>
            </a:r>
            <a:br>
              <a:rPr lang="en-US" sz="3600"/>
            </a:br>
            <a:r>
              <a:rPr lang="en-US" sz="3600"/>
              <a:t>Juno &amp; GOES-R</a:t>
            </a:r>
          </a:p>
        </p:txBody>
      </p:sp>
    </p:spTree>
    <p:extLst>
      <p:ext uri="{BB962C8B-B14F-4D97-AF65-F5344CB8AC3E}">
        <p14:creationId xmlns:p14="http://schemas.microsoft.com/office/powerpoint/2010/main" val="114526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Acoustic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Demonstrates ability of the vehicle to endure high-frequency (&gt;100 Hz) acoustic environment during launch and ascent</a:t>
            </a:r>
          </a:p>
          <a:p>
            <a:pPr lvl="0" fontAlgn="base"/>
            <a:r>
              <a:rPr lang="en-US"/>
              <a:t>Detects manufacturing and workmanship errors stimulated by higher frequencies</a:t>
            </a:r>
          </a:p>
        </p:txBody>
      </p:sp>
    </p:spTree>
    <p:extLst>
      <p:ext uri="{BB962C8B-B14F-4D97-AF65-F5344CB8AC3E}">
        <p14:creationId xmlns:p14="http://schemas.microsoft.com/office/powerpoint/2010/main" val="2230988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161" y="365126"/>
            <a:ext cx="8352888" cy="1325563"/>
          </a:xfrm>
        </p:spPr>
        <p:txBody>
          <a:bodyPr>
            <a:normAutofit/>
          </a:bodyPr>
          <a:lstStyle/>
          <a:p>
            <a:r>
              <a:rPr lang="en-US" sz="3200"/>
              <a:t>Acoustic Chamber (Orion Service Module)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1710" y="5912855"/>
            <a:ext cx="1653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Image Courtesy of </a:t>
            </a:r>
          </a:p>
          <a:p>
            <a:r>
              <a:rPr lang="en-US" sz="1000"/>
              <a:t>spaceflightinsider.com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454" y="1448964"/>
            <a:ext cx="6445091" cy="446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452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Vibration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4"/>
            <a:ext cx="8106977" cy="4637319"/>
          </a:xfrm>
        </p:spPr>
        <p:txBody>
          <a:bodyPr>
            <a:normAutofit fontScale="92500" lnSpcReduction="10000"/>
          </a:bodyPr>
          <a:lstStyle/>
          <a:p>
            <a:pPr lvl="0" fontAlgn="base"/>
            <a:r>
              <a:rPr lang="en-US"/>
              <a:t>Demonstrates ability of the vehicle to endure the low-to-mid frequency (0-100 Hz) launch environment and verify expected modes and damping</a:t>
            </a:r>
            <a:endParaRPr lang="en-US" sz="2400"/>
          </a:p>
          <a:p>
            <a:pPr lvl="0" fontAlgn="base"/>
            <a:r>
              <a:rPr lang="en-US"/>
              <a:t>Detects manufacturing and workmanship errors stimulated by low-to-mid frequencies</a:t>
            </a:r>
            <a:endParaRPr lang="en-US" sz="2400"/>
          </a:p>
          <a:p>
            <a:pPr lvl="0" fontAlgn="base"/>
            <a:r>
              <a:rPr lang="en-US"/>
              <a:t>Two approaches:</a:t>
            </a:r>
            <a:endParaRPr lang="en-US" sz="2400"/>
          </a:p>
          <a:p>
            <a:pPr lvl="1" fontAlgn="base"/>
            <a:r>
              <a:rPr lang="en-US" b="1"/>
              <a:t>Random</a:t>
            </a:r>
            <a:r>
              <a:rPr lang="en-US"/>
              <a:t>: derived to approximate sine vibration of launch vehicle, used with a force-limiting approach to limit loads</a:t>
            </a:r>
            <a:endParaRPr lang="en-US" sz="2200"/>
          </a:p>
          <a:p>
            <a:pPr lvl="1" fontAlgn="base"/>
            <a:r>
              <a:rPr lang="en-US" b="1"/>
              <a:t>Sinusoidal Sweep</a:t>
            </a:r>
            <a:r>
              <a:rPr lang="en-US"/>
              <a:t>: sweeps from low to mid-level frequencies at a levels based on expected interface acceleration levels from modelling</a:t>
            </a:r>
            <a:endParaRPr lang="en-US" sz="2200"/>
          </a:p>
          <a:p>
            <a:pPr lvl="1" fontAlgn="base"/>
            <a:r>
              <a:rPr lang="en-US"/>
              <a:t>Typically perform low-level sine sweeps before and after a random to verify no changes in response</a:t>
            </a:r>
          </a:p>
        </p:txBody>
      </p:sp>
    </p:spTree>
    <p:extLst>
      <p:ext uri="{BB962C8B-B14F-4D97-AF65-F5344CB8AC3E}">
        <p14:creationId xmlns:p14="http://schemas.microsoft.com/office/powerpoint/2010/main" val="2975845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Thermal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55074"/>
          </a:xfrm>
        </p:spPr>
        <p:txBody>
          <a:bodyPr>
            <a:normAutofit fontScale="92500" lnSpcReduction="20000"/>
          </a:bodyPr>
          <a:lstStyle/>
          <a:p>
            <a:r>
              <a:rPr lang="en-US" b="1"/>
              <a:t>Thermal Balance Test</a:t>
            </a:r>
          </a:p>
          <a:p>
            <a:pPr lvl="1" fontAlgn="base"/>
            <a:r>
              <a:rPr lang="en-US"/>
              <a:t>Provides the data necessary to verify the analytical thermal model and demonstrates the ability of the vehicle TCS to maintain specified temperature limits of all units for various operational scenarios</a:t>
            </a:r>
          </a:p>
          <a:p>
            <a:pPr lvl="1" fontAlgn="base"/>
            <a:r>
              <a:rPr lang="en-US"/>
              <a:t>Can be combined with TVAC</a:t>
            </a:r>
          </a:p>
          <a:p>
            <a:pPr marL="0" indent="0">
              <a:buNone/>
            </a:pPr>
            <a:endParaRPr lang="en-US"/>
          </a:p>
          <a:p>
            <a:r>
              <a:rPr lang="en-US" b="1"/>
              <a:t>Thermal Vacuum Test (TVAC)</a:t>
            </a:r>
          </a:p>
          <a:p>
            <a:pPr lvl="1" fontAlgn="base"/>
            <a:r>
              <a:rPr lang="en-US"/>
              <a:t>Demonstrates ability of vehicle to meet design requirements and establishes thermal design margin and vehicle performance under TVAC conditions and temperature extremes</a:t>
            </a:r>
          </a:p>
          <a:p>
            <a:pPr lvl="1" fontAlgn="base"/>
            <a:r>
              <a:rPr lang="en-US"/>
              <a:t>Detects material, process and workmanship defects that would respond to thermal vacuum and thermal stress conditions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10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thermal vacuum chamb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318797"/>
            <a:ext cx="67437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thermal vacuum profi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3" y="3980960"/>
            <a:ext cx="5347548" cy="2920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sz="3600"/>
              <a:t>Thermal Vacuum Test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81275" y="3985797"/>
            <a:ext cx="19310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Image Courtesy of </a:t>
            </a:r>
            <a:r>
              <a:rPr lang="en-US" sz="1000" err="1"/>
              <a:t>Huber+Suhner</a:t>
            </a:r>
            <a:endParaRPr lang="en-US" sz="1000"/>
          </a:p>
        </p:txBody>
      </p:sp>
      <p:sp>
        <p:nvSpPr>
          <p:cNvPr id="6" name="TextBox 5"/>
          <p:cNvSpPr txBox="1"/>
          <p:nvPr/>
        </p:nvSpPr>
        <p:spPr>
          <a:xfrm>
            <a:off x="5850357" y="6127016"/>
            <a:ext cx="1931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Image Courtesy of Scientific &amp; Academic Publishing</a:t>
            </a:r>
          </a:p>
        </p:txBody>
      </p:sp>
    </p:spTree>
    <p:extLst>
      <p:ext uri="{BB962C8B-B14F-4D97-AF65-F5344CB8AC3E}">
        <p14:creationId xmlns:p14="http://schemas.microsoft.com/office/powerpoint/2010/main" val="3368287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Like You Fly (TLYF)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90585"/>
          </a:xfrm>
        </p:spPr>
        <p:txBody>
          <a:bodyPr>
            <a:normAutofit fontScale="92500" lnSpcReduction="20000"/>
          </a:bodyPr>
          <a:lstStyle/>
          <a:p>
            <a:pPr lvl="0" fontAlgn="base"/>
            <a:r>
              <a:rPr lang="en-US"/>
              <a:t>Concept of testing a system in the same manner in which it will be used in an operational manner</a:t>
            </a:r>
            <a:endParaRPr lang="en-US" sz="2400"/>
          </a:p>
          <a:p>
            <a:pPr lvl="1" fontAlgn="base"/>
            <a:r>
              <a:rPr lang="en-US"/>
              <a:t>Very complicated to implement</a:t>
            </a:r>
            <a:endParaRPr lang="en-US" sz="2200"/>
          </a:p>
          <a:p>
            <a:pPr lvl="1" fontAlgn="base"/>
            <a:r>
              <a:rPr lang="en-US"/>
              <a:t>General considerations:</a:t>
            </a:r>
            <a:endParaRPr lang="en-US" sz="2200"/>
          </a:p>
          <a:p>
            <a:pPr lvl="2" fontAlgn="base"/>
            <a:r>
              <a:rPr lang="en-US"/>
              <a:t>Flight command &amp; telemetry tested with actual ground software</a:t>
            </a:r>
            <a:endParaRPr lang="en-US" sz="1800"/>
          </a:p>
          <a:p>
            <a:pPr lvl="2" fontAlgn="base"/>
            <a:r>
              <a:rPr lang="en-US"/>
              <a:t>Fault condition detection</a:t>
            </a:r>
            <a:endParaRPr lang="en-US" sz="1800"/>
          </a:p>
          <a:p>
            <a:pPr lvl="2" fontAlgn="base"/>
            <a:r>
              <a:rPr lang="en-US"/>
              <a:t>Mode/state changes</a:t>
            </a:r>
            <a:endParaRPr lang="en-US" sz="1800"/>
          </a:p>
          <a:p>
            <a:pPr lvl="2" fontAlgn="base"/>
            <a:r>
              <a:rPr lang="en-US"/>
              <a:t>Off-nominal condition responses</a:t>
            </a:r>
            <a:endParaRPr lang="en-US" sz="1800"/>
          </a:p>
          <a:p>
            <a:pPr lvl="2" fontAlgn="base"/>
            <a:r>
              <a:rPr lang="en-US"/>
              <a:t>Post-environmental test repairs tested</a:t>
            </a:r>
            <a:endParaRPr lang="en-US" sz="1800"/>
          </a:p>
          <a:p>
            <a:pPr lvl="2" fontAlgn="base"/>
            <a:r>
              <a:rPr lang="en-US"/>
              <a:t>Flight-like stimuli for responses, appropriate simulators</a:t>
            </a:r>
            <a:endParaRPr lang="en-US" sz="1800"/>
          </a:p>
          <a:p>
            <a:pPr lvl="2" fontAlgn="base"/>
            <a:r>
              <a:rPr lang="en-US"/>
              <a:t>Extended test time (DITL, WITL)</a:t>
            </a:r>
            <a:endParaRPr lang="en-US" sz="1800"/>
          </a:p>
          <a:p>
            <a:pPr lvl="2" fontAlgn="base"/>
            <a:r>
              <a:rPr lang="en-US"/>
              <a:t>Primary and redundant hardware</a:t>
            </a:r>
            <a:endParaRPr lang="en-US" sz="1800"/>
          </a:p>
          <a:p>
            <a:pPr lvl="2" fontAlgn="base"/>
            <a:r>
              <a:rPr lang="en-US"/>
              <a:t>Exercise at high, low, nominal voltages</a:t>
            </a:r>
            <a:endParaRPr lang="en-US" sz="1800"/>
          </a:p>
          <a:p>
            <a:r>
              <a:rPr lang="en-US"/>
              <a:t>Consider how to capture data that verifies that test objectives are met </a:t>
            </a:r>
          </a:p>
        </p:txBody>
      </p:sp>
    </p:spTree>
    <p:extLst>
      <p:ext uri="{BB962C8B-B14F-4D97-AF65-F5344CB8AC3E}">
        <p14:creationId xmlns:p14="http://schemas.microsoft.com/office/powerpoint/2010/main" val="360394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0D620B-3D57-49C8-A175-73F04236B1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76A769-7D89-4E22-B505-CC5C444474AD}">
  <ds:schemaRefs>
    <ds:schemaRef ds:uri="723aa48c-73f2-40da-86b1-f1ae286477fe"/>
    <ds:schemaRef ds:uri="7584c457-6b5a-4caa-be47-be979cbe65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DA1F312-6DAB-40A7-8344-819A52BDC91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1182</Words>
  <Application>Microsoft Office PowerPoint</Application>
  <PresentationFormat>On-screen Show (4:3)</PresentationFormat>
  <Paragraphs>138</Paragraphs>
  <Slides>24</Slides>
  <Notes>0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Lesson Objectives</vt:lpstr>
      <vt:lpstr>*Note</vt:lpstr>
      <vt:lpstr>Hardware Nomenclature</vt:lpstr>
      <vt:lpstr>Test Levels</vt:lpstr>
      <vt:lpstr>Test Categories</vt:lpstr>
      <vt:lpstr>Unit Level Acceptance</vt:lpstr>
      <vt:lpstr>Qualification</vt:lpstr>
      <vt:lpstr>Protoqualification</vt:lpstr>
      <vt:lpstr>Vehicle Level Test Summary</vt:lpstr>
      <vt:lpstr>Example Integration &amp; Test Flow</vt:lpstr>
      <vt:lpstr>Test Types</vt:lpstr>
      <vt:lpstr>Specification Performance  (“Full Functional”) Test </vt:lpstr>
      <vt:lpstr>Pressure and Leakage Tests</vt:lpstr>
      <vt:lpstr>Electromagnetic Interference &amp; Compatibility (EMI &amp; EMC) Test</vt:lpstr>
      <vt:lpstr>Anechoic Chamber</vt:lpstr>
      <vt:lpstr>Shock/Deployment Test</vt:lpstr>
      <vt:lpstr>Solar Array Deployment:  Juno &amp; GOES-R</vt:lpstr>
      <vt:lpstr>Acoustic Test</vt:lpstr>
      <vt:lpstr>Acoustic Chamber (Orion Service Module)</vt:lpstr>
      <vt:lpstr>Vibration Test</vt:lpstr>
      <vt:lpstr>Thermal Tests</vt:lpstr>
      <vt:lpstr>Thermal Vacuum Test</vt:lpstr>
      <vt:lpstr>Test Like You Fly (TLYF)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Quadrino, Meghan K Capt USAF USAFA USAFA/DFAS</cp:lastModifiedBy>
  <cp:revision>29</cp:revision>
  <cp:lastPrinted>2019-06-26T14:29:45Z</cp:lastPrinted>
  <dcterms:created xsi:type="dcterms:W3CDTF">2019-06-13T20:36:51Z</dcterms:created>
  <dcterms:modified xsi:type="dcterms:W3CDTF">2022-10-28T22:22:50Z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