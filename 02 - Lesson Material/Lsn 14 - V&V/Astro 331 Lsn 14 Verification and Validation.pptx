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44"/>
  </p:notesMasterIdLst>
  <p:sldIdLst>
    <p:sldId id="256" r:id="rId5"/>
    <p:sldId id="761" r:id="rId6"/>
    <p:sldId id="772" r:id="rId7"/>
    <p:sldId id="767" r:id="rId8"/>
    <p:sldId id="763" r:id="rId9"/>
    <p:sldId id="325" r:id="rId10"/>
    <p:sldId id="327" r:id="rId11"/>
    <p:sldId id="764" r:id="rId12"/>
    <p:sldId id="766" r:id="rId13"/>
    <p:sldId id="328" r:id="rId14"/>
    <p:sldId id="329" r:id="rId15"/>
    <p:sldId id="775" r:id="rId16"/>
    <p:sldId id="777" r:id="rId17"/>
    <p:sldId id="314" r:id="rId18"/>
    <p:sldId id="315" r:id="rId19"/>
    <p:sldId id="776" r:id="rId20"/>
    <p:sldId id="317" r:id="rId21"/>
    <p:sldId id="316" r:id="rId22"/>
    <p:sldId id="318" r:id="rId23"/>
    <p:sldId id="319" r:id="rId24"/>
    <p:sldId id="306" r:id="rId25"/>
    <p:sldId id="320" r:id="rId26"/>
    <p:sldId id="307" r:id="rId27"/>
    <p:sldId id="322" r:id="rId28"/>
    <p:sldId id="780" r:id="rId29"/>
    <p:sldId id="783" r:id="rId30"/>
    <p:sldId id="781" r:id="rId31"/>
    <p:sldId id="782" r:id="rId32"/>
    <p:sldId id="321" r:id="rId33"/>
    <p:sldId id="784" r:id="rId34"/>
    <p:sldId id="323" r:id="rId35"/>
    <p:sldId id="309" r:id="rId36"/>
    <p:sldId id="779" r:id="rId37"/>
    <p:sldId id="774" r:id="rId38"/>
    <p:sldId id="310" r:id="rId39"/>
    <p:sldId id="324" r:id="rId40"/>
    <p:sldId id="778" r:id="rId41"/>
    <p:sldId id="762" r:id="rId42"/>
    <p:sldId id="773" r:id="rId43"/>
  </p:sldIdLst>
  <p:sldSz cx="9144000" cy="6858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AA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31B72A-A327-4D1A-9AE4-DF820389ADB3}" v="34" dt="2026-03-13T14:34:34.231"/>
    <p1510:client id="{1C7AB20C-FE83-4C06-98A3-D02026F4831D}" v="20" dt="2026-03-13T02:48:00.8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29" autoAdjust="0"/>
    <p:restoredTop sz="89935" autoAdjust="0"/>
  </p:normalViewPr>
  <p:slideViewPr>
    <p:cSldViewPr snapToGrid="0">
      <p:cViewPr varScale="1">
        <p:scale>
          <a:sx n="62" d="100"/>
          <a:sy n="62" d="100"/>
        </p:scale>
        <p:origin x="2021" y="2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ris, Wyatt J Lt Col USAF USAFA DF/DFAS" userId="768bfb95-c272-4014-8fa2-010c15306053" providerId="ADAL" clId="{E18DAD13-4A53-44B8-9F3F-46E167733190}"/>
    <pc:docChg chg="undo custSel delSld modSld sldOrd">
      <pc:chgData name="Harris, Wyatt J Lt Col USAF USAFA DF/DFAS" userId="768bfb95-c272-4014-8fa2-010c15306053" providerId="ADAL" clId="{E18DAD13-4A53-44B8-9F3F-46E167733190}" dt="2026-03-13T14:34:46.846" v="596" actId="1076"/>
      <pc:docMkLst>
        <pc:docMk/>
      </pc:docMkLst>
      <pc:sldChg chg="modSp mod">
        <pc:chgData name="Harris, Wyatt J Lt Col USAF USAFA DF/DFAS" userId="768bfb95-c272-4014-8fa2-010c15306053" providerId="ADAL" clId="{E18DAD13-4A53-44B8-9F3F-46E167733190}" dt="2026-03-12T18:55:51.628" v="13" actId="113"/>
        <pc:sldMkLst>
          <pc:docMk/>
          <pc:sldMk cId="3188062351" sldId="256"/>
        </pc:sldMkLst>
        <pc:spChg chg="mod">
          <ac:chgData name="Harris, Wyatt J Lt Col USAF USAFA DF/DFAS" userId="768bfb95-c272-4014-8fa2-010c15306053" providerId="ADAL" clId="{E18DAD13-4A53-44B8-9F3F-46E167733190}" dt="2026-03-12T18:55:51.628" v="13" actId="113"/>
          <ac:spMkLst>
            <pc:docMk/>
            <pc:sldMk cId="3188062351" sldId="256"/>
            <ac:spMk id="3" creationId="{1D63E707-3906-1580-6A39-D3696F120305}"/>
          </ac:spMkLst>
        </pc:spChg>
      </pc:sldChg>
      <pc:sldChg chg="delSp modSp del mod">
        <pc:chgData name="Harris, Wyatt J Lt Col USAF USAFA DF/DFAS" userId="768bfb95-c272-4014-8fa2-010c15306053" providerId="ADAL" clId="{E18DAD13-4A53-44B8-9F3F-46E167733190}" dt="2026-03-12T19:28:27.623" v="587" actId="47"/>
        <pc:sldMkLst>
          <pc:docMk/>
          <pc:sldMk cId="1689452048" sldId="308"/>
        </pc:sldMkLst>
        <pc:spChg chg="mod">
          <ac:chgData name="Harris, Wyatt J Lt Col USAF USAFA DF/DFAS" userId="768bfb95-c272-4014-8fa2-010c15306053" providerId="ADAL" clId="{E18DAD13-4A53-44B8-9F3F-46E167733190}" dt="2026-03-12T19:27:40.542" v="574" actId="21"/>
          <ac:spMkLst>
            <pc:docMk/>
            <pc:sldMk cId="1689452048" sldId="308"/>
            <ac:spMk id="2" creationId="{00000000-0000-0000-0000-000000000000}"/>
          </ac:spMkLst>
        </pc:spChg>
        <pc:picChg chg="del">
          <ac:chgData name="Harris, Wyatt J Lt Col USAF USAFA DF/DFAS" userId="768bfb95-c272-4014-8fa2-010c15306053" providerId="ADAL" clId="{E18DAD13-4A53-44B8-9F3F-46E167733190}" dt="2026-03-12T19:27:13.883" v="562" actId="21"/>
          <ac:picMkLst>
            <pc:docMk/>
            <pc:sldMk cId="1689452048" sldId="308"/>
            <ac:picMk id="7" creationId="{00000000-0000-0000-0000-000000000000}"/>
          </ac:picMkLst>
        </pc:picChg>
      </pc:sldChg>
      <pc:sldChg chg="addSp modSp mod modAnim">
        <pc:chgData name="Harris, Wyatt J Lt Col USAF USAFA DF/DFAS" userId="768bfb95-c272-4014-8fa2-010c15306053" providerId="ADAL" clId="{E18DAD13-4A53-44B8-9F3F-46E167733190}" dt="2026-03-13T14:34:46.846" v="596" actId="1076"/>
        <pc:sldMkLst>
          <pc:docMk/>
          <pc:sldMk cId="2206304067" sldId="314"/>
        </pc:sldMkLst>
        <pc:spChg chg="mod">
          <ac:chgData name="Harris, Wyatt J Lt Col USAF USAFA DF/DFAS" userId="768bfb95-c272-4014-8fa2-010c15306053" providerId="ADAL" clId="{E18DAD13-4A53-44B8-9F3F-46E167733190}" dt="2026-03-13T14:34:39.158" v="593" actId="1076"/>
          <ac:spMkLst>
            <pc:docMk/>
            <pc:sldMk cId="2206304067" sldId="314"/>
            <ac:spMk id="3" creationId="{00000000-0000-0000-0000-000000000000}"/>
          </ac:spMkLst>
        </pc:spChg>
        <pc:spChg chg="add mod">
          <ac:chgData name="Harris, Wyatt J Lt Col USAF USAFA DF/DFAS" userId="768bfb95-c272-4014-8fa2-010c15306053" providerId="ADAL" clId="{E18DAD13-4A53-44B8-9F3F-46E167733190}" dt="2026-03-13T14:34:42.254" v="594" actId="14100"/>
          <ac:spMkLst>
            <pc:docMk/>
            <pc:sldMk cId="2206304067" sldId="314"/>
            <ac:spMk id="4" creationId="{91F6F320-E85B-090C-159B-88267373FDD8}"/>
          </ac:spMkLst>
        </pc:spChg>
        <pc:spChg chg="add mod">
          <ac:chgData name="Harris, Wyatt J Lt Col USAF USAFA DF/DFAS" userId="768bfb95-c272-4014-8fa2-010c15306053" providerId="ADAL" clId="{E18DAD13-4A53-44B8-9F3F-46E167733190}" dt="2026-03-13T14:34:46.846" v="596" actId="1076"/>
          <ac:spMkLst>
            <pc:docMk/>
            <pc:sldMk cId="2206304067" sldId="314"/>
            <ac:spMk id="5" creationId="{8D28A255-A5AA-5370-0173-6916D7F4C201}"/>
          </ac:spMkLst>
        </pc:spChg>
      </pc:sldChg>
      <pc:sldChg chg="modNotesTx">
        <pc:chgData name="Harris, Wyatt J Lt Col USAF USAFA DF/DFAS" userId="768bfb95-c272-4014-8fa2-010c15306053" providerId="ADAL" clId="{E18DAD13-4A53-44B8-9F3F-46E167733190}" dt="2026-03-12T19:06:16.400" v="422" actId="20577"/>
        <pc:sldMkLst>
          <pc:docMk/>
          <pc:sldMk cId="2174485194" sldId="315"/>
        </pc:sldMkLst>
      </pc:sldChg>
      <pc:sldChg chg="addSp modSp mod modAnim">
        <pc:chgData name="Harris, Wyatt J Lt Col USAF USAFA DF/DFAS" userId="768bfb95-c272-4014-8fa2-010c15306053" providerId="ADAL" clId="{E18DAD13-4A53-44B8-9F3F-46E167733190}" dt="2026-03-12T19:10:53.049" v="434" actId="404"/>
        <pc:sldMkLst>
          <pc:docMk/>
          <pc:sldMk cId="1054285446" sldId="318"/>
        </pc:sldMkLst>
        <pc:spChg chg="mod">
          <ac:chgData name="Harris, Wyatt J Lt Col USAF USAFA DF/DFAS" userId="768bfb95-c272-4014-8fa2-010c15306053" providerId="ADAL" clId="{E18DAD13-4A53-44B8-9F3F-46E167733190}" dt="2026-03-12T19:10:53.049" v="434" actId="404"/>
          <ac:spMkLst>
            <pc:docMk/>
            <pc:sldMk cId="1054285446" sldId="318"/>
            <ac:spMk id="3" creationId="{00000000-0000-0000-0000-000000000000}"/>
          </ac:spMkLst>
        </pc:spChg>
        <pc:picChg chg="add mod">
          <ac:chgData name="Harris, Wyatt J Lt Col USAF USAFA DF/DFAS" userId="768bfb95-c272-4014-8fa2-010c15306053" providerId="ADAL" clId="{E18DAD13-4A53-44B8-9F3F-46E167733190}" dt="2026-03-12T19:10:50.712" v="433" actId="1076"/>
          <ac:picMkLst>
            <pc:docMk/>
            <pc:sldMk cId="1054285446" sldId="318"/>
            <ac:picMk id="4" creationId="{81F71C49-0172-1B6C-99B6-ED5A822FF8CC}"/>
          </ac:picMkLst>
        </pc:picChg>
      </pc:sldChg>
      <pc:sldChg chg="modSp mod modNotesTx">
        <pc:chgData name="Harris, Wyatt J Lt Col USAF USAFA DF/DFAS" userId="768bfb95-c272-4014-8fa2-010c15306053" providerId="ADAL" clId="{E18DAD13-4A53-44B8-9F3F-46E167733190}" dt="2026-03-12T19:15:36.906" v="489" actId="6549"/>
        <pc:sldMkLst>
          <pc:docMk/>
          <pc:sldMk cId="3584739291" sldId="319"/>
        </pc:sldMkLst>
        <pc:spChg chg="mod">
          <ac:chgData name="Harris, Wyatt J Lt Col USAF USAFA DF/DFAS" userId="768bfb95-c272-4014-8fa2-010c15306053" providerId="ADAL" clId="{E18DAD13-4A53-44B8-9F3F-46E167733190}" dt="2026-03-12T19:15:36.906" v="489" actId="6549"/>
          <ac:spMkLst>
            <pc:docMk/>
            <pc:sldMk cId="3584739291" sldId="319"/>
            <ac:spMk id="3" creationId="{00000000-0000-0000-0000-000000000000}"/>
          </ac:spMkLst>
        </pc:spChg>
      </pc:sldChg>
      <pc:sldChg chg="modSp mod">
        <pc:chgData name="Harris, Wyatt J Lt Col USAF USAFA DF/DFAS" userId="768bfb95-c272-4014-8fa2-010c15306053" providerId="ADAL" clId="{E18DAD13-4A53-44B8-9F3F-46E167733190}" dt="2026-03-12T19:16:39.536" v="499" actId="1076"/>
        <pc:sldMkLst>
          <pc:docMk/>
          <pc:sldMk cId="3558000733" sldId="320"/>
        </pc:sldMkLst>
        <pc:spChg chg="mod">
          <ac:chgData name="Harris, Wyatt J Lt Col USAF USAFA DF/DFAS" userId="768bfb95-c272-4014-8fa2-010c15306053" providerId="ADAL" clId="{E18DAD13-4A53-44B8-9F3F-46E167733190}" dt="2026-03-12T19:16:29.604" v="496" actId="404"/>
          <ac:spMkLst>
            <pc:docMk/>
            <pc:sldMk cId="3558000733" sldId="320"/>
            <ac:spMk id="3" creationId="{00000000-0000-0000-0000-000000000000}"/>
          </ac:spMkLst>
        </pc:spChg>
        <pc:picChg chg="mod">
          <ac:chgData name="Harris, Wyatt J Lt Col USAF USAFA DF/DFAS" userId="768bfb95-c272-4014-8fa2-010c15306053" providerId="ADAL" clId="{E18DAD13-4A53-44B8-9F3F-46E167733190}" dt="2026-03-12T19:16:39.536" v="499" actId="1076"/>
          <ac:picMkLst>
            <pc:docMk/>
            <pc:sldMk cId="3558000733" sldId="320"/>
            <ac:picMk id="5" creationId="{A6A7DA50-69AC-773B-BFF6-55D065928241}"/>
          </ac:picMkLst>
        </pc:picChg>
      </pc:sldChg>
      <pc:sldChg chg="addSp modSp mod">
        <pc:chgData name="Harris, Wyatt J Lt Col USAF USAFA DF/DFAS" userId="768bfb95-c272-4014-8fa2-010c15306053" providerId="ADAL" clId="{E18DAD13-4A53-44B8-9F3F-46E167733190}" dt="2026-03-12T19:28:23.950" v="586" actId="1076"/>
        <pc:sldMkLst>
          <pc:docMk/>
          <pc:sldMk cId="2230988960" sldId="321"/>
        </pc:sldMkLst>
        <pc:spChg chg="mod">
          <ac:chgData name="Harris, Wyatt J Lt Col USAF USAFA DF/DFAS" userId="768bfb95-c272-4014-8fa2-010c15306053" providerId="ADAL" clId="{E18DAD13-4A53-44B8-9F3F-46E167733190}" dt="2026-03-12T19:27:58.262" v="580" actId="1076"/>
          <ac:spMkLst>
            <pc:docMk/>
            <pc:sldMk cId="2230988960" sldId="321"/>
            <ac:spMk id="3" creationId="{00000000-0000-0000-0000-000000000000}"/>
          </ac:spMkLst>
        </pc:spChg>
        <pc:spChg chg="add mod">
          <ac:chgData name="Harris, Wyatt J Lt Col USAF USAFA DF/DFAS" userId="768bfb95-c272-4014-8fa2-010c15306053" providerId="ADAL" clId="{E18DAD13-4A53-44B8-9F3F-46E167733190}" dt="2026-03-12T19:28:07.942" v="585" actId="113"/>
          <ac:spMkLst>
            <pc:docMk/>
            <pc:sldMk cId="2230988960" sldId="321"/>
            <ac:spMk id="5" creationId="{F963A23D-0FC1-1AF6-76D7-4932F4992801}"/>
          </ac:spMkLst>
        </pc:spChg>
        <pc:picChg chg="add mod">
          <ac:chgData name="Harris, Wyatt J Lt Col USAF USAFA DF/DFAS" userId="768bfb95-c272-4014-8fa2-010c15306053" providerId="ADAL" clId="{E18DAD13-4A53-44B8-9F3F-46E167733190}" dt="2026-03-12T19:28:23.950" v="586" actId="1076"/>
          <ac:picMkLst>
            <pc:docMk/>
            <pc:sldMk cId="2230988960" sldId="321"/>
            <ac:picMk id="7" creationId="{00000000-0000-0000-0000-000000000000}"/>
          </ac:picMkLst>
        </pc:picChg>
      </pc:sldChg>
      <pc:sldChg chg="modSp mod modNotesTx">
        <pc:chgData name="Harris, Wyatt J Lt Col USAF USAFA DF/DFAS" userId="768bfb95-c272-4014-8fa2-010c15306053" providerId="ADAL" clId="{E18DAD13-4A53-44B8-9F3F-46E167733190}" dt="2026-03-12T19:19:08.024" v="541" actId="20577"/>
        <pc:sldMkLst>
          <pc:docMk/>
          <pc:sldMk cId="2975845474" sldId="322"/>
        </pc:sldMkLst>
        <pc:spChg chg="mod">
          <ac:chgData name="Harris, Wyatt J Lt Col USAF USAFA DF/DFAS" userId="768bfb95-c272-4014-8fa2-010c15306053" providerId="ADAL" clId="{E18DAD13-4A53-44B8-9F3F-46E167733190}" dt="2026-03-12T19:19:08.024" v="541" actId="20577"/>
          <ac:spMkLst>
            <pc:docMk/>
            <pc:sldMk cId="2975845474" sldId="322"/>
            <ac:spMk id="3" creationId="{00000000-0000-0000-0000-000000000000}"/>
          </ac:spMkLst>
        </pc:spChg>
      </pc:sldChg>
      <pc:sldChg chg="modSp mod">
        <pc:chgData name="Harris, Wyatt J Lt Col USAF USAFA DF/DFAS" userId="768bfb95-c272-4014-8fa2-010c15306053" providerId="ADAL" clId="{E18DAD13-4A53-44B8-9F3F-46E167733190}" dt="2026-03-12T19:32:10.884" v="589" actId="113"/>
        <pc:sldMkLst>
          <pc:docMk/>
          <pc:sldMk cId="2990110272" sldId="323"/>
        </pc:sldMkLst>
        <pc:spChg chg="mod">
          <ac:chgData name="Harris, Wyatt J Lt Col USAF USAFA DF/DFAS" userId="768bfb95-c272-4014-8fa2-010c15306053" providerId="ADAL" clId="{E18DAD13-4A53-44B8-9F3F-46E167733190}" dt="2026-03-12T19:32:10.884" v="589" actId="113"/>
          <ac:spMkLst>
            <pc:docMk/>
            <pc:sldMk cId="2990110272" sldId="323"/>
            <ac:spMk id="3" creationId="{00000000-0000-0000-0000-000000000000}"/>
          </ac:spMkLst>
        </pc:spChg>
      </pc:sldChg>
      <pc:sldChg chg="mod modShow">
        <pc:chgData name="Harris, Wyatt J Lt Col USAF USAFA DF/DFAS" userId="768bfb95-c272-4014-8fa2-010c15306053" providerId="ADAL" clId="{E18DAD13-4A53-44B8-9F3F-46E167733190}" dt="2026-03-12T18:21:17.607" v="0" actId="729"/>
        <pc:sldMkLst>
          <pc:docMk/>
          <pc:sldMk cId="3603947273" sldId="324"/>
        </pc:sldMkLst>
      </pc:sldChg>
      <pc:sldChg chg="modSp mod modAnim">
        <pc:chgData name="Harris, Wyatt J Lt Col USAF USAFA DF/DFAS" userId="768bfb95-c272-4014-8fa2-010c15306053" providerId="ADAL" clId="{E18DAD13-4A53-44B8-9F3F-46E167733190}" dt="2026-03-12T18:57:21.796" v="51"/>
        <pc:sldMkLst>
          <pc:docMk/>
          <pc:sldMk cId="886011771" sldId="325"/>
        </pc:sldMkLst>
        <pc:spChg chg="mod">
          <ac:chgData name="Harris, Wyatt J Lt Col USAF USAFA DF/DFAS" userId="768bfb95-c272-4014-8fa2-010c15306053" providerId="ADAL" clId="{E18DAD13-4A53-44B8-9F3F-46E167733190}" dt="2026-03-12T18:57:07.756" v="49" actId="114"/>
          <ac:spMkLst>
            <pc:docMk/>
            <pc:sldMk cId="886011771" sldId="325"/>
            <ac:spMk id="3" creationId="{00000000-0000-0000-0000-000000000000}"/>
          </ac:spMkLst>
        </pc:spChg>
      </pc:sldChg>
      <pc:sldChg chg="del">
        <pc:chgData name="Harris, Wyatt J Lt Col USAF USAFA DF/DFAS" userId="768bfb95-c272-4014-8fa2-010c15306053" providerId="ADAL" clId="{E18DAD13-4A53-44B8-9F3F-46E167733190}" dt="2026-03-12T18:55:58.826" v="14" actId="47"/>
        <pc:sldMkLst>
          <pc:docMk/>
          <pc:sldMk cId="1848379534" sldId="339"/>
        </pc:sldMkLst>
      </pc:sldChg>
      <pc:sldChg chg="modSp mod modAnim modShow">
        <pc:chgData name="Harris, Wyatt J Lt Col USAF USAFA DF/DFAS" userId="768bfb95-c272-4014-8fa2-010c15306053" providerId="ADAL" clId="{E18DAD13-4A53-44B8-9F3F-46E167733190}" dt="2026-03-12T18:55:42.187" v="11" actId="729"/>
        <pc:sldMkLst>
          <pc:docMk/>
          <pc:sldMk cId="0" sldId="761"/>
        </pc:sldMkLst>
        <pc:spChg chg="mod">
          <ac:chgData name="Harris, Wyatt J Lt Col USAF USAFA DF/DFAS" userId="768bfb95-c272-4014-8fa2-010c15306053" providerId="ADAL" clId="{E18DAD13-4A53-44B8-9F3F-46E167733190}" dt="2026-03-12T18:53:38.289" v="10" actId="6549"/>
          <ac:spMkLst>
            <pc:docMk/>
            <pc:sldMk cId="0" sldId="761"/>
            <ac:spMk id="370692" creationId="{C86DF8F7-D924-09B2-270C-2B9ACA2BC00B}"/>
          </ac:spMkLst>
        </pc:spChg>
      </pc:sldChg>
      <pc:sldChg chg="modNotesTx">
        <pc:chgData name="Harris, Wyatt J Lt Col USAF USAFA DF/DFAS" userId="768bfb95-c272-4014-8fa2-010c15306053" providerId="ADAL" clId="{E18DAD13-4A53-44B8-9F3F-46E167733190}" dt="2026-03-12T18:56:47.024" v="47" actId="20577"/>
        <pc:sldMkLst>
          <pc:docMk/>
          <pc:sldMk cId="3807632263" sldId="767"/>
        </pc:sldMkLst>
      </pc:sldChg>
      <pc:sldChg chg="mod modShow">
        <pc:chgData name="Harris, Wyatt J Lt Col USAF USAFA DF/DFAS" userId="768bfb95-c272-4014-8fa2-010c15306053" providerId="ADAL" clId="{E18DAD13-4A53-44B8-9F3F-46E167733190}" dt="2026-03-12T18:55:42.187" v="11" actId="729"/>
        <pc:sldMkLst>
          <pc:docMk/>
          <pc:sldMk cId="0" sldId="772"/>
        </pc:sldMkLst>
      </pc:sldChg>
      <pc:sldChg chg="modSp mod">
        <pc:chgData name="Harris, Wyatt J Lt Col USAF USAFA DF/DFAS" userId="768bfb95-c272-4014-8fa2-010c15306053" providerId="ADAL" clId="{E18DAD13-4A53-44B8-9F3F-46E167733190}" dt="2026-03-12T19:00:14.303" v="69" actId="20577"/>
        <pc:sldMkLst>
          <pc:docMk/>
          <pc:sldMk cId="2746587502" sldId="775"/>
        </pc:sldMkLst>
        <pc:spChg chg="mod">
          <ac:chgData name="Harris, Wyatt J Lt Col USAF USAFA DF/DFAS" userId="768bfb95-c272-4014-8fa2-010c15306053" providerId="ADAL" clId="{E18DAD13-4A53-44B8-9F3F-46E167733190}" dt="2026-03-12T19:00:14.303" v="69" actId="20577"/>
          <ac:spMkLst>
            <pc:docMk/>
            <pc:sldMk cId="2746587502" sldId="775"/>
            <ac:spMk id="5" creationId="{942F1727-9E97-2F35-0E34-4A29E43C7CBA}"/>
          </ac:spMkLst>
        </pc:spChg>
      </pc:sldChg>
      <pc:sldChg chg="modSp mod">
        <pc:chgData name="Harris, Wyatt J Lt Col USAF USAFA DF/DFAS" userId="768bfb95-c272-4014-8fa2-010c15306053" providerId="ADAL" clId="{E18DAD13-4A53-44B8-9F3F-46E167733190}" dt="2026-03-12T19:24:10.084" v="559" actId="20577"/>
        <pc:sldMkLst>
          <pc:docMk/>
          <pc:sldMk cId="1223971747" sldId="777"/>
        </pc:sldMkLst>
        <pc:spChg chg="mod">
          <ac:chgData name="Harris, Wyatt J Lt Col USAF USAFA DF/DFAS" userId="768bfb95-c272-4014-8fa2-010c15306053" providerId="ADAL" clId="{E18DAD13-4A53-44B8-9F3F-46E167733190}" dt="2026-03-12T19:24:10.084" v="559" actId="20577"/>
          <ac:spMkLst>
            <pc:docMk/>
            <pc:sldMk cId="1223971747" sldId="777"/>
            <ac:spMk id="6" creationId="{7BDE8755-7194-5B42-B673-AD29AFD284C9}"/>
          </ac:spMkLst>
        </pc:spChg>
      </pc:sldChg>
      <pc:sldChg chg="ord">
        <pc:chgData name="Harris, Wyatt J Lt Col USAF USAFA DF/DFAS" userId="768bfb95-c272-4014-8fa2-010c15306053" providerId="ADAL" clId="{E18DAD13-4A53-44B8-9F3F-46E167733190}" dt="2026-03-12T19:26:46.586" v="561"/>
        <pc:sldMkLst>
          <pc:docMk/>
          <pc:sldMk cId="2107669157" sldId="782"/>
        </pc:sldMkLst>
      </pc:sldChg>
    </pc:docChg>
  </pc:docChgLst>
  <pc:docChgLst>
    <pc:chgData name="Harris, Wyatt J Lt Col USAF USAFA DF/DFAS" userId="768bfb95-c272-4014-8fa2-010c15306053" providerId="ADAL" clId="{95571437-1CDD-49A9-9F44-9267EE8F1204}"/>
    <pc:docChg chg="undo custSel modSld">
      <pc:chgData name="Harris, Wyatt J Lt Col USAF USAFA DF/DFAS" userId="768bfb95-c272-4014-8fa2-010c15306053" providerId="ADAL" clId="{95571437-1CDD-49A9-9F44-9267EE8F1204}" dt="2026-03-13T02:48:19.885" v="230" actId="1076"/>
      <pc:docMkLst>
        <pc:docMk/>
      </pc:docMkLst>
      <pc:sldChg chg="addSp delSp mod modNotesTx">
        <pc:chgData name="Harris, Wyatt J Lt Col USAF USAFA DF/DFAS" userId="768bfb95-c272-4014-8fa2-010c15306053" providerId="ADAL" clId="{95571437-1CDD-49A9-9F44-9267EE8F1204}" dt="2026-03-13T02:34:13.192" v="25" actId="12"/>
        <pc:sldMkLst>
          <pc:docMk/>
          <pc:sldMk cId="1905634804" sldId="306"/>
        </pc:sldMkLst>
        <pc:spChg chg="add del">
          <ac:chgData name="Harris, Wyatt J Lt Col USAF USAFA DF/DFAS" userId="768bfb95-c272-4014-8fa2-010c15306053" providerId="ADAL" clId="{95571437-1CDD-49A9-9F44-9267EE8F1204}" dt="2026-03-13T02:33:44.745" v="17" actId="22"/>
          <ac:spMkLst>
            <pc:docMk/>
            <pc:sldMk cId="1905634804" sldId="306"/>
            <ac:spMk id="5" creationId="{3B87A5A8-9A00-29FE-3719-D0B429195600}"/>
          </ac:spMkLst>
        </pc:spChg>
      </pc:sldChg>
      <pc:sldChg chg="modSp mod">
        <pc:chgData name="Harris, Wyatt J Lt Col USAF USAFA DF/DFAS" userId="768bfb95-c272-4014-8fa2-010c15306053" providerId="ADAL" clId="{95571437-1CDD-49A9-9F44-9267EE8F1204}" dt="2026-03-13T02:27:34.208" v="9" actId="115"/>
        <pc:sldMkLst>
          <pc:docMk/>
          <pc:sldMk cId="2174485194" sldId="315"/>
        </pc:sldMkLst>
        <pc:spChg chg="mod">
          <ac:chgData name="Harris, Wyatt J Lt Col USAF USAFA DF/DFAS" userId="768bfb95-c272-4014-8fa2-010c15306053" providerId="ADAL" clId="{95571437-1CDD-49A9-9F44-9267EE8F1204}" dt="2026-03-13T02:27:34.208" v="9" actId="115"/>
          <ac:spMkLst>
            <pc:docMk/>
            <pc:sldMk cId="2174485194" sldId="315"/>
            <ac:spMk id="3" creationId="{00000000-0000-0000-0000-000000000000}"/>
          </ac:spMkLst>
        </pc:spChg>
      </pc:sldChg>
      <pc:sldChg chg="delSp mod">
        <pc:chgData name="Harris, Wyatt J Lt Col USAF USAFA DF/DFAS" userId="768bfb95-c272-4014-8fa2-010c15306053" providerId="ADAL" clId="{95571437-1CDD-49A9-9F44-9267EE8F1204}" dt="2026-03-13T02:29:58.169" v="10" actId="478"/>
        <pc:sldMkLst>
          <pc:docMk/>
          <pc:sldMk cId="4231672628" sldId="317"/>
        </pc:sldMkLst>
        <pc:spChg chg="del">
          <ac:chgData name="Harris, Wyatt J Lt Col USAF USAFA DF/DFAS" userId="768bfb95-c272-4014-8fa2-010c15306053" providerId="ADAL" clId="{95571437-1CDD-49A9-9F44-9267EE8F1204}" dt="2026-03-13T02:29:58.169" v="10" actId="478"/>
          <ac:spMkLst>
            <pc:docMk/>
            <pc:sldMk cId="4231672628" sldId="317"/>
            <ac:spMk id="3" creationId="{00000000-0000-0000-0000-000000000000}"/>
          </ac:spMkLst>
        </pc:spChg>
      </pc:sldChg>
      <pc:sldChg chg="modSp mod">
        <pc:chgData name="Harris, Wyatt J Lt Col USAF USAFA DF/DFAS" userId="768bfb95-c272-4014-8fa2-010c15306053" providerId="ADAL" clId="{95571437-1CDD-49A9-9F44-9267EE8F1204}" dt="2026-03-13T02:31:55.599" v="15" actId="207"/>
        <pc:sldMkLst>
          <pc:docMk/>
          <pc:sldMk cId="3584739291" sldId="319"/>
        </pc:sldMkLst>
        <pc:spChg chg="mod">
          <ac:chgData name="Harris, Wyatt J Lt Col USAF USAFA DF/DFAS" userId="768bfb95-c272-4014-8fa2-010c15306053" providerId="ADAL" clId="{95571437-1CDD-49A9-9F44-9267EE8F1204}" dt="2026-03-13T02:31:55.599" v="15" actId="207"/>
          <ac:spMkLst>
            <pc:docMk/>
            <pc:sldMk cId="3584739291" sldId="319"/>
            <ac:spMk id="3" creationId="{00000000-0000-0000-0000-000000000000}"/>
          </ac:spMkLst>
        </pc:spChg>
      </pc:sldChg>
      <pc:sldChg chg="addSp modSp mod modNotesTx">
        <pc:chgData name="Harris, Wyatt J Lt Col USAF USAFA DF/DFAS" userId="768bfb95-c272-4014-8fa2-010c15306053" providerId="ADAL" clId="{95571437-1CDD-49A9-9F44-9267EE8F1204}" dt="2026-03-13T02:48:19.885" v="230" actId="1076"/>
        <pc:sldMkLst>
          <pc:docMk/>
          <pc:sldMk cId="0" sldId="774"/>
        </pc:sldMkLst>
        <pc:spChg chg="add mod">
          <ac:chgData name="Harris, Wyatt J Lt Col USAF USAFA DF/DFAS" userId="768bfb95-c272-4014-8fa2-010c15306053" providerId="ADAL" clId="{95571437-1CDD-49A9-9F44-9267EE8F1204}" dt="2026-03-13T02:48:05.062" v="228" actId="1076"/>
          <ac:spMkLst>
            <pc:docMk/>
            <pc:sldMk cId="0" sldId="774"/>
            <ac:spMk id="3" creationId="{F622919D-6C04-4C2E-BD29-EF7FF94921D3}"/>
          </ac:spMkLst>
        </pc:spChg>
        <pc:spChg chg="add mod">
          <ac:chgData name="Harris, Wyatt J Lt Col USAF USAFA DF/DFAS" userId="768bfb95-c272-4014-8fa2-010c15306053" providerId="ADAL" clId="{95571437-1CDD-49A9-9F44-9267EE8F1204}" dt="2026-03-13T02:48:19.885" v="230" actId="1076"/>
          <ac:spMkLst>
            <pc:docMk/>
            <pc:sldMk cId="0" sldId="774"/>
            <ac:spMk id="5" creationId="{2AB12C93-5199-8288-33B7-E429AF41EA01}"/>
          </ac:spMkLst>
        </pc:spChg>
        <pc:spChg chg="mod">
          <ac:chgData name="Harris, Wyatt J Lt Col USAF USAFA DF/DFAS" userId="768bfb95-c272-4014-8fa2-010c15306053" providerId="ADAL" clId="{95571437-1CDD-49A9-9F44-9267EE8F1204}" dt="2026-03-13T02:48:00.201" v="226"/>
          <ac:spMkLst>
            <pc:docMk/>
            <pc:sldMk cId="0" sldId="774"/>
            <ac:spMk id="382980" creationId="{1BA95298-ED4B-0874-D2B8-FF71FC0A7B22}"/>
          </ac:spMkLst>
        </pc:spChg>
        <pc:picChg chg="add mod">
          <ac:chgData name="Harris, Wyatt J Lt Col USAF USAFA DF/DFAS" userId="768bfb95-c272-4014-8fa2-010c15306053" providerId="ADAL" clId="{95571437-1CDD-49A9-9F44-9267EE8F1204}" dt="2026-03-13T02:47:20.488" v="199" actId="1076"/>
          <ac:picMkLst>
            <pc:docMk/>
            <pc:sldMk cId="0" sldId="774"/>
            <ac:picMk id="1026" creationId="{57A6E69C-285D-D8B2-B2E6-98390156A4AB}"/>
          </ac:picMkLst>
        </pc:picChg>
        <pc:picChg chg="add mod">
          <ac:chgData name="Harris, Wyatt J Lt Col USAF USAFA DF/DFAS" userId="768bfb95-c272-4014-8fa2-010c15306053" providerId="ADAL" clId="{95571437-1CDD-49A9-9F44-9267EE8F1204}" dt="2026-03-13T02:47:19.465" v="198" actId="1076"/>
          <ac:picMkLst>
            <pc:docMk/>
            <pc:sldMk cId="0" sldId="774"/>
            <ac:picMk id="1028" creationId="{89ADF197-07E0-475B-965B-BB446032B66C}"/>
          </ac:picMkLst>
        </pc:picChg>
      </pc:sldChg>
      <pc:sldChg chg="modSp mod">
        <pc:chgData name="Harris, Wyatt J Lt Col USAF USAFA DF/DFAS" userId="768bfb95-c272-4014-8fa2-010c15306053" providerId="ADAL" clId="{95571437-1CDD-49A9-9F44-9267EE8F1204}" dt="2026-03-13T02:25:45.219" v="0" actId="20577"/>
        <pc:sldMkLst>
          <pc:docMk/>
          <pc:sldMk cId="2746587502" sldId="775"/>
        </pc:sldMkLst>
        <pc:spChg chg="mod">
          <ac:chgData name="Harris, Wyatt J Lt Col USAF USAFA DF/DFAS" userId="768bfb95-c272-4014-8fa2-010c15306053" providerId="ADAL" clId="{95571437-1CDD-49A9-9F44-9267EE8F1204}" dt="2026-03-13T02:25:45.219" v="0" actId="20577"/>
          <ac:spMkLst>
            <pc:docMk/>
            <pc:sldMk cId="2746587502" sldId="775"/>
            <ac:spMk id="5" creationId="{942F1727-9E97-2F35-0E34-4A29E43C7CB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fld id="{94D2EC29-5E9A-49E8-BC12-73FDF6305747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2" tIns="45716" rIns="91432" bIns="4571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32" tIns="45716" rIns="91432" bIns="45716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r">
              <a:defRPr sz="1200"/>
            </a:lvl1pPr>
          </a:lstStyle>
          <a:p>
            <a:fld id="{9EB4C982-825B-414E-ABB9-79AB25139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321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1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58" algn="l" defTabSz="91431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15" algn="l" defTabSz="91431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74" algn="l" defTabSz="91431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631" algn="l" defTabSz="91431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89" algn="l" defTabSz="91431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947" algn="l" defTabSz="91431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104" algn="l" defTabSz="91431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263" algn="l" defTabSz="91431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4C982-825B-414E-ABB9-79AB251390A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2042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170" name="Slide Image Placeholder 1">
            <a:extLst>
              <a:ext uri="{FF2B5EF4-FFF2-40B4-BE49-F238E27FC236}">
                <a16:creationId xmlns:a16="http://schemas.microsoft.com/office/drawing/2014/main" id="{6E5B859F-736E-B5EE-DEA0-6DAA7451C7B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03171" name="Notes Placeholder 2">
            <a:extLst>
              <a:ext uri="{FF2B5EF4-FFF2-40B4-BE49-F238E27FC236}">
                <a16:creationId xmlns:a16="http://schemas.microsoft.com/office/drawing/2014/main" id="{FE56A066-F83F-8E9A-8872-A4AF054993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b="1" u="sng" dirty="0"/>
              <a:t>Assembly</a:t>
            </a:r>
          </a:p>
          <a:p>
            <a:r>
              <a:rPr lang="en-US" b="1" dirty="0"/>
              <a:t>Definition:</a:t>
            </a:r>
            <a:br>
              <a:rPr lang="en-US" dirty="0"/>
            </a:br>
            <a:r>
              <a:rPr lang="en-US" dirty="0"/>
              <a:t>The process of </a:t>
            </a:r>
            <a:r>
              <a:rPr lang="en-US" b="1" dirty="0"/>
              <a:t>physically building and connecting spacecraft components</a:t>
            </a:r>
            <a:r>
              <a:rPr lang="en-US" dirty="0"/>
              <a:t> (mechanical, electrical, and electronic parts) into subsystems and then into the complete spacecraft.</a:t>
            </a:r>
          </a:p>
          <a:p>
            <a:r>
              <a:rPr lang="en-US" b="1" dirty="0"/>
              <a:t>Goal:</a:t>
            </a:r>
            <a:r>
              <a:rPr lang="en-US" dirty="0"/>
              <a:t> Ensure all hardware elements are correctly installed, mechanically secured, and electrically connected according to engineering drawings and specifications.</a:t>
            </a:r>
          </a:p>
          <a:p>
            <a:r>
              <a:rPr lang="en-US" b="1" dirty="0"/>
              <a:t>Example:</a:t>
            </a:r>
            <a:r>
              <a:rPr lang="en-US" dirty="0"/>
              <a:t> Mounting solar panels, bolting reaction wheels, soldering harnesses, or installing avionics boards.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u="sng" dirty="0"/>
              <a:t>Integration</a:t>
            </a:r>
            <a:endParaRPr lang="en-US" b="1" dirty="0"/>
          </a:p>
          <a:p>
            <a:r>
              <a:rPr lang="en-US" b="1" dirty="0"/>
              <a:t>Definition:</a:t>
            </a:r>
            <a:br>
              <a:rPr lang="en-US" dirty="0"/>
            </a:br>
            <a:r>
              <a:rPr lang="en-US" dirty="0"/>
              <a:t>The process of </a:t>
            </a:r>
            <a:r>
              <a:rPr lang="en-US" b="1" dirty="0"/>
              <a:t>combining subsystems</a:t>
            </a:r>
            <a:r>
              <a:rPr lang="en-US" dirty="0"/>
              <a:t>—such as power, communications, ADCS, and payload—into a complete, functioning spacecraft system.</a:t>
            </a:r>
          </a:p>
          <a:p>
            <a:r>
              <a:rPr lang="en-US" b="1" dirty="0"/>
              <a:t>Goal:</a:t>
            </a:r>
            <a:r>
              <a:rPr lang="en-US" dirty="0"/>
              <a:t> Verify that subsystems </a:t>
            </a:r>
            <a:r>
              <a:rPr lang="en-US" b="1" dirty="0"/>
              <a:t>interface and communicate correctly</a:t>
            </a:r>
            <a:r>
              <a:rPr lang="en-US" dirty="0"/>
              <a:t>, both electrically and through software.</a:t>
            </a:r>
          </a:p>
          <a:p>
            <a:r>
              <a:rPr lang="en-US" b="1" dirty="0"/>
              <a:t>Example:</a:t>
            </a:r>
            <a:r>
              <a:rPr lang="en-US" dirty="0"/>
              <a:t> Connecting the avionics bus to the power subsystem and verifying telemetry and command flow.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u="sng" dirty="0"/>
              <a:t>Testing</a:t>
            </a:r>
            <a:endParaRPr lang="en-US" b="1" dirty="0"/>
          </a:p>
          <a:p>
            <a:r>
              <a:rPr lang="en-US" b="1" dirty="0"/>
              <a:t>Definition:</a:t>
            </a:r>
            <a:br>
              <a:rPr lang="en-US" dirty="0"/>
            </a:br>
            <a:r>
              <a:rPr lang="en-US" dirty="0"/>
              <a:t>The structured set of activities used to </a:t>
            </a:r>
            <a:r>
              <a:rPr lang="en-US" b="1" dirty="0"/>
              <a:t>verify and validate</a:t>
            </a:r>
            <a:r>
              <a:rPr lang="en-US" dirty="0"/>
              <a:t> that the assembled and integrated spacecraft meets its </a:t>
            </a:r>
            <a:r>
              <a:rPr lang="en-US" b="1" dirty="0"/>
              <a:t>design requirements</a:t>
            </a:r>
            <a:r>
              <a:rPr lang="en-US" dirty="0"/>
              <a:t> and can survive the </a:t>
            </a:r>
            <a:r>
              <a:rPr lang="en-US" b="1" dirty="0"/>
              <a:t>space environment</a:t>
            </a:r>
            <a:r>
              <a:rPr lang="en-US" dirty="0"/>
              <a:t>.</a:t>
            </a:r>
          </a:p>
          <a:p>
            <a:r>
              <a:rPr lang="en-US" b="1" dirty="0"/>
              <a:t>Goal:</a:t>
            </a:r>
            <a:r>
              <a:rPr lang="en-US" dirty="0"/>
              <a:t> Identify defects, confirm performance, and certify the spacecraft as flight-ready.</a:t>
            </a:r>
          </a:p>
          <a:p>
            <a:r>
              <a:rPr lang="en-US" b="1" dirty="0"/>
              <a:t>Includes:</a:t>
            </a:r>
            <a:endParaRPr lang="en-US" dirty="0"/>
          </a:p>
          <a:p>
            <a:pPr lvl="1"/>
            <a:r>
              <a:rPr lang="en-US" b="1" dirty="0"/>
              <a:t>Functional tests:</a:t>
            </a:r>
            <a:r>
              <a:rPr lang="en-US" dirty="0"/>
              <a:t> Check subsystem operations.</a:t>
            </a:r>
          </a:p>
          <a:p>
            <a:pPr lvl="1"/>
            <a:r>
              <a:rPr lang="en-US" b="1" dirty="0"/>
              <a:t>Performance tests:</a:t>
            </a:r>
            <a:r>
              <a:rPr lang="en-US" dirty="0"/>
              <a:t> Measure design specs (power draw, data rate, torque output).</a:t>
            </a:r>
          </a:p>
          <a:p>
            <a:pPr lvl="1"/>
            <a:r>
              <a:rPr lang="en-US" b="1" dirty="0"/>
              <a:t>Environmental tests:</a:t>
            </a:r>
            <a:r>
              <a:rPr lang="en-US" dirty="0"/>
              <a:t> Simulate launch and space conditions (vibration, thermal-vacuum, EMI/EMC).</a:t>
            </a:r>
          </a:p>
          <a:p>
            <a:pPr lvl="1"/>
            <a:r>
              <a:rPr lang="en-US" b="1" dirty="0"/>
              <a:t>Qualification vs. Acceptance testing:</a:t>
            </a:r>
            <a:r>
              <a:rPr lang="en-US" dirty="0"/>
              <a:t> Design-level vs. flight-unit validation.</a:t>
            </a:r>
          </a:p>
          <a:p>
            <a:endParaRPr lang="en-US" altLang="en-US" dirty="0"/>
          </a:p>
        </p:txBody>
      </p:sp>
      <p:sp>
        <p:nvSpPr>
          <p:cNvPr id="903172" name="Header Placeholder 3">
            <a:extLst>
              <a:ext uri="{FF2B5EF4-FFF2-40B4-BE49-F238E27FC236}">
                <a16:creationId xmlns:a16="http://schemas.microsoft.com/office/drawing/2014/main" id="{2F9D9AEE-F096-0F95-EAF0-0B716A56AEB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662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662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662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662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662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100">
                <a:latin typeface="Tahoma" panose="020B0604030504040204" pitchFamily="34" charset="0"/>
              </a:rPr>
              <a:t>Astro 331 - Space Systems Engineering</a:t>
            </a:r>
          </a:p>
        </p:txBody>
      </p:sp>
      <p:sp>
        <p:nvSpPr>
          <p:cNvPr id="903173" name="Slide Number Placeholder 4">
            <a:extLst>
              <a:ext uri="{FF2B5EF4-FFF2-40B4-BE49-F238E27FC236}">
                <a16:creationId xmlns:a16="http://schemas.microsoft.com/office/drawing/2014/main" id="{E2E0A3B6-8292-1D52-E1B6-31DFF0DB76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662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662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662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662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662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D6A4EA2-35B1-4BDF-A612-04A469666F6F}" type="slidenum">
              <a:rPr lang="en-US" altLang="en-US" sz="1100">
                <a:latin typeface="Tahoma" panose="020B0604030504040204" pitchFamily="34" charset="0"/>
              </a:rPr>
              <a:pPr/>
              <a:t>2</a:t>
            </a:fld>
            <a:endParaRPr lang="en-US" altLang="en-US" sz="1100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194" name="Slide Image Placeholder 1">
            <a:extLst>
              <a:ext uri="{FF2B5EF4-FFF2-40B4-BE49-F238E27FC236}">
                <a16:creationId xmlns:a16="http://schemas.microsoft.com/office/drawing/2014/main" id="{717497A0-F4F0-6A22-413A-4506FC7F67B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04195" name="Notes Placeholder 2">
            <a:extLst>
              <a:ext uri="{FF2B5EF4-FFF2-40B4-BE49-F238E27FC236}">
                <a16:creationId xmlns:a16="http://schemas.microsoft.com/office/drawing/2014/main" id="{5B50E000-A812-995A-3241-3AC9A2ED9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Interface Control Document (ICD) describes the interfaces between two systems. It should include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interfaces the system has with other systems. It can be either hardware or software. Some examples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are: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Bolt locations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Purpose of each wire in a connector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All possible commands that may be sent/received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Units of values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Thousands of more possibilities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the engineer cannot build the system to meet the interface definitions, all affected systems must meet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agree on any changes that are made.</a:t>
            </a:r>
            <a:endParaRPr lang="en-US" altLang="en-US" dirty="0"/>
          </a:p>
        </p:txBody>
      </p:sp>
      <p:sp>
        <p:nvSpPr>
          <p:cNvPr id="904196" name="Header Placeholder 3">
            <a:extLst>
              <a:ext uri="{FF2B5EF4-FFF2-40B4-BE49-F238E27FC236}">
                <a16:creationId xmlns:a16="http://schemas.microsoft.com/office/drawing/2014/main" id="{E275A73A-FA84-25CF-5FAB-B6068B88CFB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662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662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662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662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662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100">
                <a:latin typeface="Tahoma" panose="020B0604030504040204" pitchFamily="34" charset="0"/>
              </a:rPr>
              <a:t>Astro 331 - Space Systems Engineering</a:t>
            </a:r>
          </a:p>
        </p:txBody>
      </p:sp>
      <p:sp>
        <p:nvSpPr>
          <p:cNvPr id="904197" name="Slide Number Placeholder 4">
            <a:extLst>
              <a:ext uri="{FF2B5EF4-FFF2-40B4-BE49-F238E27FC236}">
                <a16:creationId xmlns:a16="http://schemas.microsoft.com/office/drawing/2014/main" id="{1995AC39-7BE9-4549-A983-AC0766C1CF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662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662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662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662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662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6ECB747-3A98-4CCA-B40B-50FA50CDF728}" type="slidenum">
              <a:rPr lang="en-US" altLang="en-US" sz="1100">
                <a:latin typeface="Tahoma" panose="020B0604030504040204" pitchFamily="34" charset="0"/>
              </a:rPr>
              <a:pPr/>
              <a:t>3</a:t>
            </a:fld>
            <a:endParaRPr lang="en-US" altLang="en-US" sz="1100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Interface Control Document (ICD) describes the interfaces between two systems. It should include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interfaces the system has with other systems. It can be either hardware or software. Some examples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are: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Bolt locations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Purpose of each wire in a connector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All possible commands that may be sent/received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Units of values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Thousands of more possibilities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the engineer cannot build the system to meet the interface definitions, all affected systems must meet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agree on any changes that are made.</a:t>
            </a: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4C982-825B-414E-ABB9-79AB251390A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6823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4C982-825B-414E-ABB9-79AB251390A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8519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u="sng" dirty="0"/>
              <a:t>Verification</a:t>
            </a:r>
          </a:p>
          <a:p>
            <a:r>
              <a:rPr lang="en-US" b="1" dirty="0"/>
              <a:t>Definition:</a:t>
            </a:r>
            <a:br>
              <a:rPr lang="en-US" dirty="0"/>
            </a:br>
            <a:r>
              <a:rPr lang="en-US" dirty="0"/>
              <a:t>The process of determining </a:t>
            </a:r>
            <a:r>
              <a:rPr lang="en-US" b="1" dirty="0"/>
              <a:t>whether the system was built correctly</a:t>
            </a:r>
            <a:r>
              <a:rPr lang="en-US" dirty="0"/>
              <a:t> — i.e., does it meet its </a:t>
            </a:r>
            <a:r>
              <a:rPr lang="en-US" b="1" dirty="0"/>
              <a:t>specified requirements</a:t>
            </a:r>
            <a:r>
              <a:rPr lang="en-US" dirty="0"/>
              <a:t>?</a:t>
            </a:r>
          </a:p>
          <a:p>
            <a:r>
              <a:rPr lang="en-US" b="1" dirty="0"/>
              <a:t>Question it answers:</a:t>
            </a:r>
            <a:endParaRPr lang="en-US" dirty="0"/>
          </a:p>
          <a:p>
            <a:r>
              <a:rPr lang="en-US" dirty="0"/>
              <a:t>“Did we build the system right?”</a:t>
            </a:r>
          </a:p>
          <a:p>
            <a:r>
              <a:rPr lang="en-US" b="1" dirty="0"/>
              <a:t>Purpose:</a:t>
            </a:r>
            <a:br>
              <a:rPr lang="en-US" dirty="0"/>
            </a:br>
            <a:r>
              <a:rPr lang="en-US" dirty="0"/>
              <a:t>To ensure the spacecraft’s design and implementation satisfy all technical and performance requirements.</a:t>
            </a:r>
          </a:p>
          <a:p>
            <a:endParaRPr lang="en-US" dirty="0"/>
          </a:p>
          <a:p>
            <a:r>
              <a:rPr lang="en-US" b="1" u="sng" dirty="0"/>
              <a:t>Validation</a:t>
            </a:r>
          </a:p>
          <a:p>
            <a:r>
              <a:rPr lang="en-US" b="1" dirty="0"/>
              <a:t>Definition:</a:t>
            </a:r>
            <a:br>
              <a:rPr lang="en-US" dirty="0"/>
            </a:br>
            <a:r>
              <a:rPr lang="en-US" dirty="0"/>
              <a:t>The process of determining </a:t>
            </a:r>
            <a:r>
              <a:rPr lang="en-US" b="1" dirty="0"/>
              <a:t>whether the right system was built</a:t>
            </a:r>
            <a:r>
              <a:rPr lang="en-US" dirty="0"/>
              <a:t> — i.e., does it </a:t>
            </a:r>
            <a:r>
              <a:rPr lang="en-US" b="1" dirty="0"/>
              <a:t>fulfill the mission’s intended purpose</a:t>
            </a:r>
            <a:r>
              <a:rPr lang="en-US" dirty="0"/>
              <a:t> and stakeholder needs?</a:t>
            </a:r>
          </a:p>
          <a:p>
            <a:r>
              <a:rPr lang="en-US" b="1" dirty="0"/>
              <a:t>Question it answers:</a:t>
            </a:r>
            <a:endParaRPr lang="en-US" dirty="0"/>
          </a:p>
          <a:p>
            <a:r>
              <a:rPr lang="en-US" dirty="0"/>
              <a:t>“Did we build the right system?”</a:t>
            </a:r>
          </a:p>
          <a:p>
            <a:r>
              <a:rPr lang="en-US" b="1" dirty="0"/>
              <a:t>Purpose:</a:t>
            </a:r>
            <a:br>
              <a:rPr lang="en-US" dirty="0"/>
            </a:br>
            <a:r>
              <a:rPr lang="en-US" dirty="0"/>
              <a:t>To ensure the spacecraft performs correctly in its </a:t>
            </a:r>
            <a:r>
              <a:rPr lang="en-US" b="1" dirty="0"/>
              <a:t>operational context</a:t>
            </a:r>
            <a:r>
              <a:rPr lang="en-US" dirty="0"/>
              <a:t> (mission environment, user expectations, goals).</a:t>
            </a:r>
          </a:p>
          <a:p>
            <a:endParaRPr lang="en-US" dirty="0"/>
          </a:p>
          <a:p>
            <a:r>
              <a:rPr lang="en-US" b="1" dirty="0"/>
              <a:t>Validation Activities</a:t>
            </a:r>
          </a:p>
          <a:p>
            <a:r>
              <a:rPr lang="en-US" dirty="0"/>
              <a:t>Conducted late in development or during early operations.</a:t>
            </a:r>
          </a:p>
          <a:p>
            <a:r>
              <a:rPr lang="en-US" dirty="0"/>
              <a:t>Confirm that the </a:t>
            </a:r>
            <a:r>
              <a:rPr lang="en-US" b="1" dirty="0"/>
              <a:t>integrated spacecraft</a:t>
            </a:r>
            <a:r>
              <a:rPr lang="en-US" dirty="0"/>
              <a:t> meets </a:t>
            </a:r>
            <a:r>
              <a:rPr lang="en-US" b="1" dirty="0"/>
              <a:t>mission-level objectives</a:t>
            </a:r>
            <a:r>
              <a:rPr lang="en-US" dirty="0"/>
              <a:t>.</a:t>
            </a:r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End-to-end communication test from ground to spacecraft.</a:t>
            </a:r>
          </a:p>
          <a:p>
            <a:pPr lvl="1"/>
            <a:r>
              <a:rPr lang="en-US" dirty="0"/>
              <a:t>Imaging the Earth to confirm payload performance matches science goals.</a:t>
            </a:r>
          </a:p>
          <a:p>
            <a:pPr lvl="1"/>
            <a:r>
              <a:rPr lang="en-US" dirty="0"/>
              <a:t>Functional rehearsal of a deployment sequence in relevant environment.\</a:t>
            </a:r>
            <a:br>
              <a:rPr lang="en-US" dirty="0"/>
            </a:br>
            <a:endParaRPr lang="en-US" dirty="0"/>
          </a:p>
          <a:p>
            <a:r>
              <a:rPr lang="en-US" b="1" u="sng" dirty="0"/>
              <a:t>Takeaway</a:t>
            </a:r>
          </a:p>
          <a:p>
            <a:r>
              <a:rPr lang="en-US" b="1" dirty="0"/>
              <a:t>Verification</a:t>
            </a:r>
            <a:r>
              <a:rPr lang="en-US" dirty="0"/>
              <a:t> ensures the spacecraft </a:t>
            </a:r>
            <a:r>
              <a:rPr lang="en-US" b="1" dirty="0"/>
              <a:t>meets its design specifications</a:t>
            </a:r>
            <a:r>
              <a:rPr lang="en-US" dirty="0"/>
              <a:t>.</a:t>
            </a:r>
          </a:p>
          <a:p>
            <a:r>
              <a:rPr lang="en-US" b="1" dirty="0"/>
              <a:t>Validation</a:t>
            </a:r>
            <a:r>
              <a:rPr lang="en-US" dirty="0"/>
              <a:t> ensures it </a:t>
            </a:r>
            <a:r>
              <a:rPr lang="en-US" b="1" dirty="0"/>
              <a:t>meets its mission purpose</a:t>
            </a:r>
            <a:r>
              <a:rPr lang="en-US" dirty="0"/>
              <a:t>.</a:t>
            </a:r>
          </a:p>
          <a:p>
            <a:r>
              <a:rPr lang="en-US" dirty="0"/>
              <a:t>Both are essential for </a:t>
            </a:r>
            <a:r>
              <a:rPr lang="en-US" b="1" dirty="0"/>
              <a:t>mission assurance</a:t>
            </a:r>
            <a:r>
              <a:rPr lang="en-US" dirty="0"/>
              <a:t> and are formally tracked in a </a:t>
            </a:r>
            <a:r>
              <a:rPr lang="en-US" b="1" dirty="0"/>
              <a:t>V&amp;V matrix</a:t>
            </a:r>
            <a:r>
              <a:rPr lang="en-US" dirty="0"/>
              <a:t>, which maps requirements to test or analysis results.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4C982-825B-414E-ABB9-79AB251390A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0017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1. Test</a:t>
            </a:r>
          </a:p>
          <a:p>
            <a:r>
              <a:rPr lang="en-US" b="1" dirty="0"/>
              <a:t>Definition:</a:t>
            </a:r>
            <a:r>
              <a:rPr lang="en-US" dirty="0"/>
              <a:t> Physically demonstrating that a hardware or software item meets its requirement by direct measurement or observation under controlled conditions.</a:t>
            </a:r>
          </a:p>
          <a:p>
            <a:r>
              <a:rPr lang="en-US" b="1" dirty="0"/>
              <a:t>Purpose:</a:t>
            </a:r>
            <a:r>
              <a:rPr lang="en-US" dirty="0"/>
              <a:t> Provides the </a:t>
            </a:r>
            <a:r>
              <a:rPr lang="en-US" b="1" dirty="0"/>
              <a:t>most conclusive verification</a:t>
            </a:r>
            <a:r>
              <a:rPr lang="en-US" dirty="0"/>
              <a:t>.</a:t>
            </a:r>
          </a:p>
          <a:p>
            <a:r>
              <a:rPr lang="en-US" b="1" dirty="0"/>
              <a:t>Examples:</a:t>
            </a:r>
            <a:endParaRPr lang="en-US" dirty="0"/>
          </a:p>
          <a:p>
            <a:pPr lvl="1"/>
            <a:r>
              <a:rPr lang="en-US" dirty="0"/>
              <a:t>Thermal-vacuum test to verify operation in space conditions.</a:t>
            </a:r>
          </a:p>
          <a:p>
            <a:pPr lvl="1"/>
            <a:r>
              <a:rPr lang="en-US" dirty="0"/>
              <a:t>Vibration test to verify launch survivability.</a:t>
            </a:r>
          </a:p>
          <a:p>
            <a:pPr lvl="1"/>
            <a:r>
              <a:rPr lang="en-US" dirty="0"/>
              <a:t>Software test executing command sequences.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2. Analysis</a:t>
            </a:r>
          </a:p>
          <a:p>
            <a:r>
              <a:rPr lang="en-US" b="1" dirty="0"/>
              <a:t>Definition:</a:t>
            </a:r>
            <a:r>
              <a:rPr lang="en-US" dirty="0"/>
              <a:t> Using </a:t>
            </a:r>
            <a:r>
              <a:rPr lang="en-US" b="1" dirty="0"/>
              <a:t>analytical or computational models</a:t>
            </a:r>
            <a:r>
              <a:rPr lang="en-US" dirty="0"/>
              <a:t> to demonstrate compliance when physical testing is impractical or unnecessary.</a:t>
            </a:r>
          </a:p>
          <a:p>
            <a:r>
              <a:rPr lang="en-US" b="1" dirty="0"/>
              <a:t>Purpose:</a:t>
            </a:r>
            <a:r>
              <a:rPr lang="en-US" dirty="0"/>
              <a:t> Verify performance using validated simulations or calculations.</a:t>
            </a:r>
          </a:p>
          <a:p>
            <a:r>
              <a:rPr lang="en-US" b="1" dirty="0"/>
              <a:t>Examples:</a:t>
            </a:r>
            <a:endParaRPr lang="en-US" dirty="0"/>
          </a:p>
          <a:p>
            <a:pPr lvl="1"/>
            <a:r>
              <a:rPr lang="en-US" dirty="0"/>
              <a:t>Structural finite element analysis (FEA) for stress verification.</a:t>
            </a:r>
          </a:p>
          <a:p>
            <a:pPr lvl="1"/>
            <a:r>
              <a:rPr lang="en-US" dirty="0"/>
              <a:t>Thermal modeling to confirm temperature margins.</a:t>
            </a:r>
          </a:p>
          <a:p>
            <a:pPr lvl="1"/>
            <a:r>
              <a:rPr lang="en-US" dirty="0"/>
              <a:t>RF link budget analysis to verify communications performance.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3. Inspection</a:t>
            </a:r>
          </a:p>
          <a:p>
            <a:r>
              <a:rPr lang="en-US" b="1" dirty="0"/>
              <a:t>Definition:</a:t>
            </a:r>
            <a:r>
              <a:rPr lang="en-US" dirty="0"/>
              <a:t> Physically </a:t>
            </a:r>
            <a:r>
              <a:rPr lang="en-US" b="1" dirty="0"/>
              <a:t>examining or measuring</a:t>
            </a:r>
            <a:r>
              <a:rPr lang="en-US" dirty="0"/>
              <a:t> hardware to verify it meets requirements such as materials, dimensions, workmanship, or labels.</a:t>
            </a:r>
          </a:p>
          <a:p>
            <a:r>
              <a:rPr lang="en-US" b="1" dirty="0"/>
              <a:t>Purpose:</a:t>
            </a:r>
            <a:r>
              <a:rPr lang="en-US" dirty="0"/>
              <a:t> Simple and quick verification of tangible properties.</a:t>
            </a:r>
          </a:p>
          <a:p>
            <a:r>
              <a:rPr lang="en-US" b="1" dirty="0"/>
              <a:t>Examples:</a:t>
            </a:r>
            <a:endParaRPr lang="en-US" dirty="0"/>
          </a:p>
          <a:p>
            <a:pPr lvl="1"/>
            <a:r>
              <a:rPr lang="en-US" dirty="0"/>
              <a:t>Checking part numbers and serial tags.</a:t>
            </a:r>
          </a:p>
          <a:p>
            <a:pPr lvl="1"/>
            <a:r>
              <a:rPr lang="en-US" dirty="0"/>
              <a:t>Measuring connector pin alignment or coating thickness.</a:t>
            </a:r>
          </a:p>
          <a:p>
            <a:pPr lvl="1"/>
            <a:r>
              <a:rPr lang="en-US" dirty="0"/>
              <a:t>Verifying presence of required components or safety features.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4. Demonstration</a:t>
            </a:r>
          </a:p>
          <a:p>
            <a:r>
              <a:rPr lang="en-US" b="1" dirty="0"/>
              <a:t>Definition:</a:t>
            </a:r>
            <a:r>
              <a:rPr lang="en-US" dirty="0"/>
              <a:t> Showing that an item performs its intended function in a </a:t>
            </a:r>
            <a:r>
              <a:rPr lang="en-US" b="1" dirty="0"/>
              <a:t>controlled, observable environment</a:t>
            </a:r>
            <a:r>
              <a:rPr lang="en-US" dirty="0"/>
              <a:t>, often without full instrumentation or formal data collection.</a:t>
            </a:r>
          </a:p>
          <a:p>
            <a:r>
              <a:rPr lang="en-US" b="1" dirty="0"/>
              <a:t>Purpose:</a:t>
            </a:r>
            <a:r>
              <a:rPr lang="en-US" dirty="0"/>
              <a:t> Verify functional or operational capabilities by example.</a:t>
            </a:r>
          </a:p>
          <a:p>
            <a:r>
              <a:rPr lang="en-US" b="1" dirty="0"/>
              <a:t>Examples:</a:t>
            </a:r>
            <a:endParaRPr lang="en-US" dirty="0"/>
          </a:p>
          <a:p>
            <a:pPr lvl="1"/>
            <a:r>
              <a:rPr lang="en-US" dirty="0"/>
              <a:t>Deploying solar panels in 1-g test setup.</a:t>
            </a:r>
          </a:p>
          <a:p>
            <a:pPr lvl="1"/>
            <a:r>
              <a:rPr lang="en-US" dirty="0"/>
              <a:t>Demonstrating command and telemetry sequences on a </a:t>
            </a:r>
            <a:r>
              <a:rPr lang="en-US" dirty="0" err="1"/>
              <a:t>flatsat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Power-on check for basic system functionality.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4C982-825B-414E-ABB9-79AB251390A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4672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fontAlgn="base">
              <a:buNone/>
            </a:pPr>
            <a:r>
              <a:rPr lang="en-US" b="1" dirty="0"/>
              <a:t>Unit Test</a:t>
            </a:r>
            <a:r>
              <a:rPr lang="en-US" dirty="0"/>
              <a:t>: testing a component before it is integrated into subsystem, to ensure it works as expected and meets all unit-level requirements</a:t>
            </a:r>
            <a:endParaRPr lang="en-US" sz="2400" dirty="0"/>
          </a:p>
          <a:p>
            <a:pPr lvl="1" fontAlgn="base"/>
            <a:r>
              <a:rPr lang="en-US" dirty="0"/>
              <a:t>Note: we expect that suppliers of piece parts test individual piece parts before sending to the contractor to build, so “unit test” refers to tests at the component level</a:t>
            </a:r>
            <a:endParaRPr lang="en-US" sz="2200" dirty="0"/>
          </a:p>
          <a:p>
            <a:pPr marL="0" lvl="0" indent="0" fontAlgn="base">
              <a:buNone/>
            </a:pPr>
            <a:endParaRPr lang="en-US" b="1" dirty="0"/>
          </a:p>
          <a:p>
            <a:pPr marL="0" lvl="0" indent="0" fontAlgn="base">
              <a:buNone/>
            </a:pPr>
            <a:r>
              <a:rPr lang="en-US" b="1" dirty="0"/>
              <a:t>Subsystem Test</a:t>
            </a:r>
            <a:r>
              <a:rPr lang="en-US" dirty="0"/>
              <a:t>: testing a subsystem before it is integrated into the vehicle, to ensure all components work together as expected to meet subsystem-level requirements</a:t>
            </a:r>
            <a:endParaRPr lang="en-US" sz="2400" dirty="0"/>
          </a:p>
          <a:p>
            <a:pPr marL="0" lvl="0" indent="0" fontAlgn="base">
              <a:buNone/>
            </a:pPr>
            <a:endParaRPr lang="en-US" b="1" dirty="0"/>
          </a:p>
          <a:p>
            <a:pPr marL="0" lvl="0" indent="0" fontAlgn="base">
              <a:buNone/>
            </a:pPr>
            <a:r>
              <a:rPr lang="en-US" b="1" dirty="0"/>
              <a:t>Vehicle Test</a:t>
            </a:r>
            <a:r>
              <a:rPr lang="en-US" dirty="0"/>
              <a:t>: testing all subsystems together, to ensure they all work together as expected across range of requirements</a:t>
            </a:r>
            <a:endParaRPr lang="en-US" sz="24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4C982-825B-414E-ABB9-79AB251390A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6155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fontAlgn="base">
              <a:buNone/>
            </a:pPr>
            <a:r>
              <a:rPr lang="en-US" b="1" dirty="0"/>
              <a:t>Functional: </a:t>
            </a:r>
            <a:r>
              <a:rPr lang="en-US" dirty="0"/>
              <a:t>demonstrates all functional capabilities expected from an article (unit, subsystem, vehicle); </a:t>
            </a:r>
            <a:r>
              <a:rPr lang="en-US" dirty="0" err="1"/>
              <a:t>ie</a:t>
            </a:r>
            <a:r>
              <a:rPr lang="en-US" dirty="0"/>
              <a:t>, gives expected telemetry, receives expected commands, etc.</a:t>
            </a:r>
          </a:p>
          <a:p>
            <a:pPr marL="0" lvl="0" indent="0" fontAlgn="base">
              <a:buNone/>
            </a:pPr>
            <a:endParaRPr lang="en-US" sz="2400" dirty="0"/>
          </a:p>
          <a:p>
            <a:pPr marL="0" lvl="0" indent="0" fontAlgn="base">
              <a:buNone/>
            </a:pPr>
            <a:r>
              <a:rPr lang="en-US" b="1" dirty="0"/>
              <a:t>Acceptance: </a:t>
            </a:r>
            <a:r>
              <a:rPr lang="en-US" dirty="0"/>
              <a:t>demonstrates acceptability of each deliverable item to meet performance specification and demonstrate error-free </a:t>
            </a:r>
            <a:r>
              <a:rPr lang="en-US" dirty="0">
                <a:solidFill>
                  <a:srgbClr val="FF0000"/>
                </a:solidFill>
              </a:rPr>
              <a:t>workmanship</a:t>
            </a:r>
            <a:r>
              <a:rPr lang="en-US" dirty="0"/>
              <a:t> in manufacturing</a:t>
            </a:r>
            <a:endParaRPr lang="en-US" sz="2400" dirty="0"/>
          </a:p>
          <a:p>
            <a:pPr lvl="1" fontAlgn="base"/>
            <a:r>
              <a:rPr lang="en-US" dirty="0"/>
              <a:t>Lowest test level, </a:t>
            </a:r>
            <a:r>
              <a:rPr lang="en-US" b="1" dirty="0"/>
              <a:t>required by all flight items </a:t>
            </a:r>
            <a:endParaRPr lang="en-US" sz="2200" b="1" dirty="0"/>
          </a:p>
          <a:p>
            <a:pPr lvl="1" fontAlgn="base"/>
            <a:r>
              <a:rPr lang="en-US" dirty="0"/>
              <a:t>Meets all requirements over expected ranges (temperatures, stress,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pPr lvl="1" fontAlgn="base"/>
            <a:endParaRPr lang="en-US" sz="2200" dirty="0"/>
          </a:p>
          <a:p>
            <a:pPr marL="0" lvl="0" indent="0" fontAlgn="base">
              <a:buNone/>
            </a:pPr>
            <a:r>
              <a:rPr lang="en-US" b="1" dirty="0"/>
              <a:t>Qualification: </a:t>
            </a:r>
            <a:r>
              <a:rPr lang="en-US" dirty="0"/>
              <a:t>demonstrates that the </a:t>
            </a:r>
            <a:r>
              <a:rPr lang="en-US" dirty="0">
                <a:solidFill>
                  <a:srgbClr val="FF0000"/>
                </a:solidFill>
              </a:rPr>
              <a:t>design</a:t>
            </a:r>
            <a:r>
              <a:rPr lang="en-US" dirty="0"/>
              <a:t>, manufacturing process and acceptance program produce hardware/software that meet specification requirements with adequate margin</a:t>
            </a:r>
            <a:endParaRPr lang="en-US" sz="2400" dirty="0"/>
          </a:p>
          <a:p>
            <a:pPr lvl="1" fontAlgn="base"/>
            <a:r>
              <a:rPr lang="en-US" dirty="0"/>
              <a:t>Most stringent test level, ensures that units will remain flight-worthy after surviving multiple acceptance tests</a:t>
            </a:r>
            <a:endParaRPr lang="en-US" sz="2200" dirty="0"/>
          </a:p>
          <a:p>
            <a:pPr lvl="1" fontAlgn="base"/>
            <a:r>
              <a:rPr lang="en-US" dirty="0"/>
              <a:t>Meets all requirements beyond expected ranges, intended to stress items</a:t>
            </a:r>
            <a:endParaRPr lang="en-US" sz="2200" dirty="0"/>
          </a:p>
          <a:p>
            <a:pPr lvl="1" fontAlgn="base"/>
            <a:r>
              <a:rPr lang="en-US" b="1" dirty="0"/>
              <a:t>Typically performed on test units</a:t>
            </a:r>
            <a:r>
              <a:rPr lang="en-US" dirty="0"/>
              <a:t>, rather than flight units</a:t>
            </a:r>
          </a:p>
          <a:p>
            <a:pPr lvl="1" fontAlgn="base"/>
            <a:endParaRPr lang="en-US" sz="2200" dirty="0"/>
          </a:p>
          <a:p>
            <a:pPr marL="0" lvl="0" indent="0" fontAlgn="base">
              <a:buNone/>
            </a:pPr>
            <a:r>
              <a:rPr lang="en-US" b="1" dirty="0" err="1"/>
              <a:t>Protoqualification</a:t>
            </a:r>
            <a:r>
              <a:rPr lang="en-US" b="1" dirty="0"/>
              <a:t>: </a:t>
            </a:r>
            <a:r>
              <a:rPr lang="en-US" dirty="0"/>
              <a:t>hybrid of qualification and acceptance testing; applies reduced qualification-level testing to hardware</a:t>
            </a:r>
            <a:endParaRPr lang="en-US" sz="2400" dirty="0"/>
          </a:p>
          <a:p>
            <a:pPr lvl="1" fontAlgn="base"/>
            <a:r>
              <a:rPr lang="en-US" dirty="0"/>
              <a:t>Middle test level, would replace qualification</a:t>
            </a:r>
            <a:endParaRPr lang="en-US" sz="2200" dirty="0"/>
          </a:p>
          <a:p>
            <a:pPr lvl="1" fontAlgn="base"/>
            <a:r>
              <a:rPr lang="en-US" b="1" dirty="0"/>
              <a:t>Uses flight units for testing</a:t>
            </a:r>
            <a:endParaRPr lang="en-US" sz="2200" b="1" dirty="0"/>
          </a:p>
          <a:p>
            <a:pPr lvl="1" fontAlgn="base"/>
            <a:r>
              <a:rPr lang="en-US" dirty="0"/>
              <a:t>Compromise for qualification testing, when it is not practical/affordable to have a full engineering model to qualification test</a:t>
            </a:r>
            <a:endParaRPr lang="en-US" sz="2200" dirty="0"/>
          </a:p>
          <a:p>
            <a:pPr lvl="1" fontAlgn="base"/>
            <a:r>
              <a:rPr lang="en-US" dirty="0"/>
              <a:t>First unit is put through </a:t>
            </a:r>
            <a:r>
              <a:rPr lang="en-US" dirty="0" err="1"/>
              <a:t>protoqualification</a:t>
            </a:r>
            <a:r>
              <a:rPr lang="en-US" dirty="0"/>
              <a:t> test levels, subsequent vehicles are just acceptance tested (sometimes called “qualification by similarity”)</a:t>
            </a:r>
            <a:endParaRPr lang="en-US" sz="2200" dirty="0"/>
          </a:p>
          <a:p>
            <a:endParaRPr lang="en-US" b="1" dirty="0"/>
          </a:p>
          <a:p>
            <a:r>
              <a:rPr lang="en-US" b="1" dirty="0"/>
              <a:t>----------------------------------------------------------------------------------------------------------------------------------------------------------------------------------------------------</a:t>
            </a:r>
          </a:p>
          <a:p>
            <a:endParaRPr lang="en-US" b="1" dirty="0"/>
          </a:p>
          <a:p>
            <a:r>
              <a:rPr lang="en-US" b="1" dirty="0"/>
              <a:t>Acceptance Testing</a:t>
            </a:r>
          </a:p>
          <a:p>
            <a:r>
              <a:rPr lang="en-US" b="1" dirty="0"/>
              <a:t>Purpose:</a:t>
            </a:r>
            <a:br>
              <a:rPr lang="en-US" dirty="0"/>
            </a:br>
            <a:r>
              <a:rPr lang="en-US" dirty="0"/>
              <a:t>To </a:t>
            </a:r>
            <a:r>
              <a:rPr lang="en-US" b="1" dirty="0"/>
              <a:t>prove the workmanship</a:t>
            </a:r>
            <a:r>
              <a:rPr lang="en-US" dirty="0"/>
              <a:t> — confirm that </a:t>
            </a:r>
            <a:r>
              <a:rPr lang="en-US" b="1" dirty="0"/>
              <a:t>each flight unit</a:t>
            </a:r>
            <a:r>
              <a:rPr lang="en-US" dirty="0"/>
              <a:t> (the actual spacecraft to be launched) was </a:t>
            </a:r>
            <a:r>
              <a:rPr lang="en-US" b="1" dirty="0"/>
              <a:t>built and assembled correctly</a:t>
            </a:r>
            <a:r>
              <a:rPr lang="en-US" dirty="0"/>
              <a:t>.</a:t>
            </a:r>
          </a:p>
          <a:p>
            <a:r>
              <a:rPr lang="en-US" b="1" dirty="0"/>
              <a:t>Scope:</a:t>
            </a:r>
            <a:br>
              <a:rPr lang="en-US" dirty="0"/>
            </a:br>
            <a:r>
              <a:rPr lang="en-US" dirty="0"/>
              <a:t>Conducted on </a:t>
            </a:r>
            <a:r>
              <a:rPr lang="en-US" b="1" dirty="0"/>
              <a:t>flight hardware</a:t>
            </a:r>
            <a:r>
              <a:rPr lang="en-US" dirty="0"/>
              <a:t>.</a:t>
            </a:r>
          </a:p>
          <a:p>
            <a:r>
              <a:rPr lang="en-US" b="1" dirty="0"/>
              <a:t>Stress Level:</a:t>
            </a:r>
            <a:endParaRPr lang="en-US" dirty="0"/>
          </a:p>
          <a:p>
            <a:pPr lvl="1"/>
            <a:r>
              <a:rPr lang="en-US" dirty="0"/>
              <a:t>Tests are run at </a:t>
            </a:r>
            <a:r>
              <a:rPr lang="en-US" b="1" dirty="0"/>
              <a:t>nominal mission levels</a:t>
            </a:r>
            <a:r>
              <a:rPr lang="en-US" dirty="0"/>
              <a:t> (not as severe as qualification).</a:t>
            </a:r>
          </a:p>
          <a:p>
            <a:pPr lvl="1"/>
            <a:r>
              <a:rPr lang="en-US" dirty="0"/>
              <a:t>Ensures the flight unit is free from defects introduced during manufacturing or assembly.</a:t>
            </a:r>
          </a:p>
          <a:p>
            <a:r>
              <a:rPr lang="en-US" b="1" dirty="0"/>
              <a:t>Outcome:</a:t>
            </a:r>
            <a:endParaRPr lang="en-US" dirty="0"/>
          </a:p>
          <a:p>
            <a:pPr lvl="1"/>
            <a:r>
              <a:rPr lang="en-US" dirty="0"/>
              <a:t>Confirms the </a:t>
            </a:r>
            <a:r>
              <a:rPr lang="en-US" b="1" dirty="0"/>
              <a:t>flight article is ready for launch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Any test failures trigger rework and retesting of that specific unit.</a:t>
            </a:r>
          </a:p>
          <a:p>
            <a:r>
              <a:rPr lang="en-US" dirty="0"/>
              <a:t>🛰️ </a:t>
            </a:r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An acceptance-level thermal-vacuum test might cycle between +60°C and –30°C for three orbits, verifying performance under normal mission extremes.</a:t>
            </a:r>
            <a:endParaRPr lang="en-US" b="1" dirty="0"/>
          </a:p>
          <a:p>
            <a:endParaRPr lang="en-US" b="1" dirty="0"/>
          </a:p>
          <a:p>
            <a:r>
              <a:rPr lang="en-US" b="1" dirty="0"/>
              <a:t>Qualification Testing</a:t>
            </a:r>
          </a:p>
          <a:p>
            <a:r>
              <a:rPr lang="en-US" b="1" dirty="0"/>
              <a:t>Purpose:</a:t>
            </a:r>
            <a:br>
              <a:rPr lang="en-US" dirty="0"/>
            </a:br>
            <a:r>
              <a:rPr lang="en-US" dirty="0"/>
              <a:t>To </a:t>
            </a:r>
            <a:r>
              <a:rPr lang="en-US" b="1" dirty="0"/>
              <a:t>prove the design</a:t>
            </a:r>
            <a:r>
              <a:rPr lang="en-US" dirty="0"/>
              <a:t> — demonstrate that the spacecraft’s design, materials, and manufacturing processes can survive and perform under the </a:t>
            </a:r>
            <a:r>
              <a:rPr lang="en-US" b="1" dirty="0"/>
              <a:t>worst-case environmental and operational conditions</a:t>
            </a:r>
            <a:r>
              <a:rPr lang="en-US" dirty="0"/>
              <a:t> expected during its mission.</a:t>
            </a:r>
          </a:p>
          <a:p>
            <a:r>
              <a:rPr lang="en-US" b="1" dirty="0"/>
              <a:t>Scope:</a:t>
            </a:r>
            <a:br>
              <a:rPr lang="en-US" dirty="0"/>
            </a:br>
            <a:r>
              <a:rPr lang="en-US" dirty="0"/>
              <a:t>Conducted on </a:t>
            </a:r>
            <a:r>
              <a:rPr lang="en-US" b="1" dirty="0"/>
              <a:t>qualification hardware</a:t>
            </a:r>
            <a:r>
              <a:rPr lang="en-US" dirty="0"/>
              <a:t> (non-flight or prototype units).</a:t>
            </a:r>
          </a:p>
          <a:p>
            <a:r>
              <a:rPr lang="en-US" b="1" dirty="0"/>
              <a:t>Stress Level:</a:t>
            </a:r>
            <a:endParaRPr lang="en-US" dirty="0"/>
          </a:p>
          <a:p>
            <a:pPr lvl="1"/>
            <a:r>
              <a:rPr lang="en-US" dirty="0"/>
              <a:t>Test levels and durations are typically </a:t>
            </a:r>
            <a:r>
              <a:rPr lang="en-US" b="1" dirty="0"/>
              <a:t>higher than flight levels</a:t>
            </a:r>
            <a:r>
              <a:rPr lang="en-US" dirty="0"/>
              <a:t> (e.g., +25% vibration amplitude or extended thermal cycles).</a:t>
            </a:r>
          </a:p>
          <a:p>
            <a:pPr lvl="1"/>
            <a:r>
              <a:rPr lang="en-US" dirty="0"/>
              <a:t>Ensures </a:t>
            </a:r>
            <a:r>
              <a:rPr lang="en-US" b="1" dirty="0"/>
              <a:t>margin and robustness</a:t>
            </a:r>
            <a:r>
              <a:rPr lang="en-US" dirty="0"/>
              <a:t> in the design.</a:t>
            </a:r>
          </a:p>
          <a:p>
            <a:r>
              <a:rPr lang="en-US" b="1" dirty="0"/>
              <a:t>Outcome:</a:t>
            </a:r>
            <a:endParaRPr lang="en-US" dirty="0"/>
          </a:p>
          <a:p>
            <a:pPr lvl="1"/>
            <a:r>
              <a:rPr lang="en-US" dirty="0"/>
              <a:t>Confirms the </a:t>
            </a:r>
            <a:r>
              <a:rPr lang="en-US" b="1" dirty="0"/>
              <a:t>design is sound</a:t>
            </a:r>
            <a:r>
              <a:rPr lang="en-US" dirty="0"/>
              <a:t> and the spacecraft can handle its mission environment.</a:t>
            </a:r>
          </a:p>
          <a:p>
            <a:pPr lvl="1"/>
            <a:r>
              <a:rPr lang="en-US" dirty="0"/>
              <a:t>Once qualified, the same design can be reused for future builds.</a:t>
            </a:r>
          </a:p>
          <a:p>
            <a:r>
              <a:rPr lang="en-US" dirty="0"/>
              <a:t>🛰️ </a:t>
            </a:r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A qualification vibration test may run at 12 g RMS for 3 minutes per axis — higher than the 8 g RMS expected for launch.</a:t>
            </a:r>
          </a:p>
          <a:p>
            <a:br>
              <a:rPr lang="en-US" dirty="0"/>
            </a:b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4C982-825B-414E-ABB9-79AB251390A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0576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1. Test Planning &amp; Preparation</a:t>
            </a:r>
          </a:p>
          <a:p>
            <a:r>
              <a:rPr lang="en-US" b="1" dirty="0"/>
              <a:t>Purpose:</a:t>
            </a:r>
            <a:r>
              <a:rPr lang="en-US" dirty="0"/>
              <a:t> Define what will be tested, how, and by whom.</a:t>
            </a:r>
          </a:p>
          <a:p>
            <a:r>
              <a:rPr lang="en-US" b="1" dirty="0"/>
              <a:t>Key Activities:</a:t>
            </a:r>
            <a:endParaRPr lang="en-US" dirty="0"/>
          </a:p>
          <a:p>
            <a:pPr lvl="1"/>
            <a:r>
              <a:rPr lang="en-US" dirty="0"/>
              <a:t>Develop </a:t>
            </a:r>
            <a:r>
              <a:rPr lang="en-US" b="1" dirty="0"/>
              <a:t>Test Plan</a:t>
            </a:r>
            <a:r>
              <a:rPr lang="en-US" dirty="0"/>
              <a:t> and </a:t>
            </a:r>
            <a:r>
              <a:rPr lang="en-US" b="1" dirty="0"/>
              <a:t>Test Procedures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Identify </a:t>
            </a:r>
            <a:r>
              <a:rPr lang="en-US" b="1" dirty="0"/>
              <a:t>requirements to be verified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Prepare </a:t>
            </a:r>
            <a:r>
              <a:rPr lang="en-US" b="1" dirty="0"/>
              <a:t>test configurations, hardware, and instrumentation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Schedule facility time (e.g., vibration table, thermal-vac chamber).</a:t>
            </a:r>
          </a:p>
          <a:p>
            <a:r>
              <a:rPr lang="en-US" b="1" dirty="0"/>
              <a:t>Deliverables:</a:t>
            </a:r>
            <a:r>
              <a:rPr lang="en-US" dirty="0"/>
              <a:t> Draft Test Plan, Equipment Lists, Review data packages.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2. Test Readiness Review (TRR)</a:t>
            </a:r>
          </a:p>
          <a:p>
            <a:r>
              <a:rPr lang="en-US" b="1" dirty="0"/>
              <a:t>Purpose:</a:t>
            </a:r>
            <a:r>
              <a:rPr lang="en-US" dirty="0"/>
              <a:t> Formal checkpoint to confirm that the test setup, hardware, and personnel are ready to proceed safely and correctly.</a:t>
            </a:r>
          </a:p>
          <a:p>
            <a:r>
              <a:rPr lang="en-US" b="1" dirty="0"/>
              <a:t>Key Questions:</a:t>
            </a:r>
            <a:endParaRPr lang="en-US" dirty="0"/>
          </a:p>
          <a:p>
            <a:pPr lvl="1"/>
            <a:r>
              <a:rPr lang="en-US" dirty="0"/>
              <a:t>Is the test article properly configured?</a:t>
            </a:r>
          </a:p>
          <a:p>
            <a:pPr lvl="1"/>
            <a:r>
              <a:rPr lang="en-US" dirty="0"/>
              <a:t>Are procedures and safety controls in place?</a:t>
            </a:r>
          </a:p>
          <a:p>
            <a:pPr lvl="1"/>
            <a:r>
              <a:rPr lang="en-US" dirty="0"/>
              <a:t>Are required resources and personnel available?</a:t>
            </a:r>
          </a:p>
          <a:p>
            <a:r>
              <a:rPr lang="en-US" b="1" dirty="0"/>
              <a:t>Outcome:</a:t>
            </a:r>
            <a:r>
              <a:rPr lang="en-US" dirty="0"/>
              <a:t> Authorization to begin testing.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3. Test Execution</a:t>
            </a:r>
          </a:p>
          <a:p>
            <a:r>
              <a:rPr lang="en-US" b="1" dirty="0"/>
              <a:t>Purpose:</a:t>
            </a:r>
            <a:r>
              <a:rPr lang="en-US" dirty="0"/>
              <a:t> Perform the test according to approved procedures.</a:t>
            </a:r>
          </a:p>
          <a:p>
            <a:r>
              <a:rPr lang="en-US" b="1" dirty="0"/>
              <a:t>Steps:</a:t>
            </a:r>
            <a:endParaRPr lang="en-US" dirty="0"/>
          </a:p>
          <a:p>
            <a:pPr lvl="1"/>
            <a:r>
              <a:rPr lang="en-US" dirty="0"/>
              <a:t>Pre-test setup and calibration.</a:t>
            </a:r>
          </a:p>
          <a:p>
            <a:pPr lvl="1"/>
            <a:r>
              <a:rPr lang="en-US" dirty="0"/>
              <a:t>Execute the test sequence (functional, performance, or environmental).</a:t>
            </a:r>
          </a:p>
          <a:p>
            <a:pPr lvl="1"/>
            <a:r>
              <a:rPr lang="en-US" dirty="0"/>
              <a:t>Record data and monitor real-time telemetry for anomalies.</a:t>
            </a:r>
          </a:p>
          <a:p>
            <a:r>
              <a:rPr lang="en-US" b="1" dirty="0"/>
              <a:t>Considerations:</a:t>
            </a:r>
            <a:endParaRPr lang="en-US" dirty="0"/>
          </a:p>
          <a:p>
            <a:pPr lvl="1"/>
            <a:r>
              <a:rPr lang="en-US" dirty="0"/>
              <a:t>Any test deviation or anomaly must be documented and approved before continuation.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4. Test Data Review</a:t>
            </a:r>
          </a:p>
          <a:p>
            <a:r>
              <a:rPr lang="en-US" b="1" dirty="0"/>
              <a:t>Purpose:</a:t>
            </a:r>
            <a:r>
              <a:rPr lang="en-US" dirty="0"/>
              <a:t> Verify data completeness, accuracy, and consistency.</a:t>
            </a:r>
          </a:p>
          <a:p>
            <a:r>
              <a:rPr lang="en-US" b="1" dirty="0"/>
              <a:t>Activities:</a:t>
            </a:r>
            <a:endParaRPr lang="en-US" dirty="0"/>
          </a:p>
          <a:p>
            <a:pPr lvl="1"/>
            <a:r>
              <a:rPr lang="en-US" dirty="0"/>
              <a:t>Post-test data reduction and plotting.</a:t>
            </a:r>
          </a:p>
          <a:p>
            <a:pPr lvl="1"/>
            <a:r>
              <a:rPr lang="en-US" dirty="0"/>
              <a:t>Compare measured results to acceptance or qualification criteria.</a:t>
            </a:r>
          </a:p>
          <a:p>
            <a:pPr lvl="1"/>
            <a:r>
              <a:rPr lang="en-US" dirty="0"/>
              <a:t>Identify any out-of-family results.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5. Test Report / Test Summary</a:t>
            </a:r>
          </a:p>
          <a:p>
            <a:r>
              <a:rPr lang="en-US" b="1" dirty="0"/>
              <a:t>Purpose:</a:t>
            </a:r>
            <a:r>
              <a:rPr lang="en-US" dirty="0"/>
              <a:t> Document the results and confirm compliance with requirements.</a:t>
            </a:r>
          </a:p>
          <a:p>
            <a:r>
              <a:rPr lang="en-US" b="1" dirty="0"/>
              <a:t>Contents:</a:t>
            </a:r>
            <a:endParaRPr lang="en-US" dirty="0"/>
          </a:p>
          <a:p>
            <a:pPr lvl="1"/>
            <a:r>
              <a:rPr lang="en-US" dirty="0"/>
              <a:t>Test setup and configuration.</a:t>
            </a:r>
          </a:p>
          <a:p>
            <a:pPr lvl="1"/>
            <a:r>
              <a:rPr lang="en-US" dirty="0"/>
              <a:t>Procedures and deviations.</a:t>
            </a:r>
          </a:p>
          <a:p>
            <a:pPr lvl="1"/>
            <a:r>
              <a:rPr lang="en-US" dirty="0"/>
              <a:t>Results, plots, and analysis.</a:t>
            </a:r>
          </a:p>
          <a:p>
            <a:pPr lvl="1"/>
            <a:r>
              <a:rPr lang="en-US" dirty="0"/>
              <a:t>Conclusions (Pass/Fail).</a:t>
            </a:r>
          </a:p>
          <a:p>
            <a:r>
              <a:rPr lang="en-US" b="1" dirty="0"/>
              <a:t>Outcome:</a:t>
            </a:r>
            <a:r>
              <a:rPr lang="en-US" dirty="0"/>
              <a:t> Final archived report for configuration and verification tracking.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6. Anomaly Resolution &amp; Re-Test (if needed)</a:t>
            </a:r>
          </a:p>
          <a:p>
            <a:r>
              <a:rPr lang="en-US" b="1" dirty="0"/>
              <a:t>Purpose:</a:t>
            </a:r>
            <a:r>
              <a:rPr lang="en-US" dirty="0"/>
              <a:t> Address issues or failures found during testing.</a:t>
            </a:r>
          </a:p>
          <a:p>
            <a:r>
              <a:rPr lang="en-US" b="1" dirty="0"/>
              <a:t>Activities:</a:t>
            </a:r>
            <a:endParaRPr lang="en-US" dirty="0"/>
          </a:p>
          <a:p>
            <a:pPr lvl="1"/>
            <a:r>
              <a:rPr lang="en-US" dirty="0"/>
              <a:t>Root-cause analysis and corrective action.</a:t>
            </a:r>
          </a:p>
          <a:p>
            <a:pPr lvl="1"/>
            <a:r>
              <a:rPr lang="en-US" dirty="0"/>
              <a:t>Repeat tests or partial re-tests if needed.</a:t>
            </a:r>
          </a:p>
          <a:p>
            <a:r>
              <a:rPr lang="en-US" b="1" dirty="0"/>
              <a:t>Deliverable:</a:t>
            </a:r>
            <a:r>
              <a:rPr lang="en-US" dirty="0"/>
              <a:t> Corrective Action Report and closure documentation.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7. Test Review Board / Test Closeout</a:t>
            </a:r>
          </a:p>
          <a:p>
            <a:r>
              <a:rPr lang="en-US" b="1" dirty="0"/>
              <a:t>Purpose:</a:t>
            </a:r>
            <a:r>
              <a:rPr lang="en-US" dirty="0"/>
              <a:t> Formally close the test activity and update the </a:t>
            </a:r>
            <a:r>
              <a:rPr lang="en-US" b="1" dirty="0"/>
              <a:t>Verification &amp; Validation (V&amp;V) Matrix</a:t>
            </a:r>
            <a:r>
              <a:rPr lang="en-US" dirty="0"/>
              <a:t>.</a:t>
            </a:r>
          </a:p>
          <a:p>
            <a:r>
              <a:rPr lang="en-US" b="1" dirty="0"/>
              <a:t>Outcome:</a:t>
            </a:r>
            <a:endParaRPr lang="en-US" dirty="0"/>
          </a:p>
          <a:p>
            <a:pPr lvl="1"/>
            <a:r>
              <a:rPr lang="en-US" dirty="0"/>
              <a:t>All test results reviewed and approved.</a:t>
            </a:r>
          </a:p>
          <a:p>
            <a:pPr lvl="1"/>
            <a:r>
              <a:rPr lang="en-US" dirty="0"/>
              <a:t>Test item cleared for next integration level or for flight.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4C982-825B-414E-ABB9-79AB251390A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084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000" dirty="0"/>
              <a:t>Test facility: RF or anechoic chamber	</a:t>
            </a:r>
          </a:p>
          <a:p>
            <a:r>
              <a:rPr lang="en-US" altLang="en-US" sz="2000" dirty="0"/>
              <a:t>Objectives</a:t>
            </a:r>
          </a:p>
          <a:p>
            <a:pPr lvl="1"/>
            <a:r>
              <a:rPr lang="en-US" altLang="en-US" sz="1800" dirty="0"/>
              <a:t>Verify S/C is not susceptible to (is compatible with) RF energy emitted by LV (and the opposite)</a:t>
            </a:r>
          </a:p>
          <a:p>
            <a:endParaRPr lang="en-US" dirty="0"/>
          </a:p>
          <a:p>
            <a:pPr marL="0" lvl="0" indent="0">
              <a:buNone/>
            </a:pPr>
            <a:r>
              <a:rPr lang="en-US" sz="3400" b="1" u="sng" dirty="0">
                <a:ea typeface="+mn-lt"/>
                <a:cs typeface="+mn-lt"/>
              </a:rPr>
              <a:t>Two major types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1. </a:t>
            </a:r>
            <a:r>
              <a:rPr lang="en-US" dirty="0">
                <a:solidFill>
                  <a:srgbClr val="FF0000"/>
                </a:solidFill>
                <a:ea typeface="+mn-lt"/>
                <a:cs typeface="+mn-lt"/>
              </a:rPr>
              <a:t>Conducted</a:t>
            </a:r>
            <a:r>
              <a:rPr lang="en-US" dirty="0">
                <a:ea typeface="+mn-lt"/>
                <a:cs typeface="+mn-lt"/>
              </a:rPr>
              <a:t> &amp; </a:t>
            </a:r>
            <a:r>
              <a:rPr lang="en-US" dirty="0">
                <a:solidFill>
                  <a:srgbClr val="00B0F0"/>
                </a:solidFill>
                <a:ea typeface="+mn-lt"/>
                <a:cs typeface="+mn-lt"/>
              </a:rPr>
              <a:t>Radiated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b="1" u="sng" dirty="0">
                <a:ea typeface="+mn-lt"/>
                <a:cs typeface="+mn-lt"/>
              </a:rPr>
              <a:t>Emissions</a:t>
            </a:r>
            <a:r>
              <a:rPr lang="en-US" dirty="0">
                <a:ea typeface="+mn-lt"/>
                <a:cs typeface="+mn-lt"/>
              </a:rPr>
              <a:t>: </a:t>
            </a:r>
          </a:p>
          <a:p>
            <a:pPr lvl="2"/>
            <a:endParaRPr lang="en-US" sz="3000" dirty="0">
              <a:solidFill>
                <a:srgbClr val="FF0000"/>
              </a:solidFill>
              <a:ea typeface="+mn-lt"/>
              <a:cs typeface="+mn-lt"/>
            </a:endParaRPr>
          </a:p>
          <a:p>
            <a:pPr lvl="2"/>
            <a:r>
              <a:rPr lang="en-US" sz="3000" dirty="0">
                <a:solidFill>
                  <a:srgbClr val="FF0000"/>
                </a:solidFill>
                <a:ea typeface="+mn-lt"/>
                <a:cs typeface="+mn-lt"/>
              </a:rPr>
              <a:t>Conducted</a:t>
            </a:r>
            <a:r>
              <a:rPr lang="en-US" sz="3000" dirty="0">
                <a:ea typeface="+mn-lt"/>
                <a:cs typeface="+mn-lt"/>
              </a:rPr>
              <a:t>: consists of electromagnetic interference in circuits that could create issues in delivered power quality due to interference caused by harmonics due to linear and non-linear loads present in the electrical power subsystem and harnessing</a:t>
            </a:r>
          </a:p>
          <a:p>
            <a:pPr lvl="2"/>
            <a:endParaRPr lang="en-US" sz="3000" dirty="0">
              <a:solidFill>
                <a:srgbClr val="00B0F0"/>
              </a:solidFill>
              <a:ea typeface="+mn-lt"/>
              <a:cs typeface="+mn-lt"/>
            </a:endParaRPr>
          </a:p>
          <a:p>
            <a:pPr lvl="2"/>
            <a:r>
              <a:rPr lang="en-US" sz="3000" dirty="0">
                <a:solidFill>
                  <a:srgbClr val="00B0F0"/>
                </a:solidFill>
                <a:ea typeface="+mn-lt"/>
                <a:cs typeface="+mn-lt"/>
              </a:rPr>
              <a:t>Radiated</a:t>
            </a:r>
            <a:r>
              <a:rPr lang="en-US" sz="3000" dirty="0">
                <a:ea typeface="+mn-lt"/>
                <a:cs typeface="+mn-lt"/>
              </a:rPr>
              <a:t>: comes from antenna when it produces its waveform</a:t>
            </a:r>
          </a:p>
          <a:p>
            <a:pPr lvl="2"/>
            <a:endParaRPr lang="en-US" sz="3000" dirty="0">
              <a:cs typeface="Arial"/>
            </a:endParaRP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2. </a:t>
            </a:r>
            <a:r>
              <a:rPr lang="en-US" dirty="0">
                <a:solidFill>
                  <a:srgbClr val="FF0000"/>
                </a:solidFill>
                <a:ea typeface="+mn-lt"/>
                <a:cs typeface="+mn-lt"/>
              </a:rPr>
              <a:t>Conducted</a:t>
            </a:r>
            <a:r>
              <a:rPr lang="en-US" dirty="0">
                <a:ea typeface="+mn-lt"/>
                <a:cs typeface="+mn-lt"/>
              </a:rPr>
              <a:t> &amp; </a:t>
            </a:r>
            <a:r>
              <a:rPr lang="en-US" dirty="0">
                <a:solidFill>
                  <a:srgbClr val="00B0F0"/>
                </a:solidFill>
                <a:ea typeface="+mn-lt"/>
                <a:cs typeface="+mn-lt"/>
              </a:rPr>
              <a:t>Radiated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b="1" u="sng" dirty="0">
                <a:ea typeface="+mn-lt"/>
                <a:cs typeface="+mn-lt"/>
              </a:rPr>
              <a:t>Susceptibility</a:t>
            </a:r>
            <a:r>
              <a:rPr lang="en-US" dirty="0">
                <a:ea typeface="+mn-lt"/>
                <a:cs typeface="+mn-lt"/>
              </a:rPr>
              <a:t>: ability of a system to operate acceptably when subjected to electromagnetic interference (conducted) and radio frequency voltage or current (radiated)</a:t>
            </a:r>
            <a:endParaRPr lang="en-US" dirty="0">
              <a:cs typeface="Arial" panose="020B0604020202020204"/>
            </a:endParaRPr>
          </a:p>
          <a:p>
            <a:pPr lvl="2"/>
            <a:endParaRPr lang="en-US" sz="3000" dirty="0">
              <a:ea typeface="+mn-lt"/>
              <a:cs typeface="+mn-lt"/>
            </a:endParaRPr>
          </a:p>
          <a:p>
            <a:pPr lvl="2"/>
            <a:r>
              <a:rPr lang="en-US" sz="3000" dirty="0">
                <a:ea typeface="+mn-lt"/>
                <a:cs typeface="+mn-lt"/>
              </a:rPr>
              <a:t>Tested by having expected radio frequencies (from LV or ground) radiated at vehicle while performing nominal operations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4C982-825B-414E-ABB9-79AB251390A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1304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An anechoic chamber is a specially designed room that absorbs electromagnetic waves or sound waves, preventing reflections from walls, ceiling, and floor so that measurements can be made in a reflection-free environment.</a:t>
            </a:r>
          </a:p>
          <a:p>
            <a:endParaRPr lang="en-US" b="0" dirty="0"/>
          </a:p>
          <a:p>
            <a:r>
              <a:rPr lang="en-US" dirty="0"/>
              <a:t>In </a:t>
            </a:r>
            <a:r>
              <a:rPr lang="en-US" b="1" dirty="0"/>
              <a:t>space systems and avionics testing</a:t>
            </a:r>
            <a:r>
              <a:rPr lang="en-US" dirty="0"/>
              <a:t>, an anechoic chamber is typically used for </a:t>
            </a:r>
            <a:r>
              <a:rPr lang="en-US" b="1" dirty="0"/>
              <a:t>RF testing</a:t>
            </a:r>
            <a:r>
              <a:rPr lang="en-US" dirty="0"/>
              <a:t>.</a:t>
            </a:r>
          </a:p>
          <a:p>
            <a:r>
              <a:rPr lang="en-US" b="1" dirty="0"/>
              <a:t>Purpose:</a:t>
            </a:r>
            <a:br>
              <a:rPr lang="en-US" dirty="0"/>
            </a:br>
            <a:r>
              <a:rPr lang="en-US" dirty="0"/>
              <a:t>Create an environment that simulates </a:t>
            </a:r>
            <a:r>
              <a:rPr lang="en-US" b="1" dirty="0"/>
              <a:t>free space</a:t>
            </a:r>
            <a:r>
              <a:rPr lang="en-US" dirty="0"/>
              <a:t>, allowing engineers to accurately measure antennas, radios, and electromagnetic emissions.</a:t>
            </a:r>
          </a:p>
          <a:p>
            <a:r>
              <a:rPr lang="en-US" dirty="0"/>
              <a:t>Typical tests include: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Antenna radiation patterns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Gain measurements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Satellite communication antennas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Radar cross-section testing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EMI/EMC testing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4C982-825B-414E-ABB9-79AB251390A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4402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fontAlgn="base"/>
            <a:r>
              <a:rPr lang="en-US" sz="2200" b="1" dirty="0"/>
              <a:t>Sinusoidal Sweep</a:t>
            </a:r>
            <a:r>
              <a:rPr lang="en-US" sz="2200" dirty="0"/>
              <a:t>: sweeps from low to mid-level frequencies at a levels based on expected interface acceleration levels from modelling</a:t>
            </a:r>
            <a:endParaRPr lang="en-US" sz="2200" b="1" dirty="0"/>
          </a:p>
          <a:p>
            <a:pPr lvl="0" fontAlgn="base"/>
            <a:r>
              <a:rPr lang="en-US" sz="2200" b="1" dirty="0"/>
              <a:t>Random</a:t>
            </a:r>
            <a:r>
              <a:rPr lang="en-US" sz="2200" dirty="0"/>
              <a:t>: derived to approximate sine vibration of launch vehicle, used with a force-limiting approach to limit loads</a:t>
            </a:r>
          </a:p>
          <a:p>
            <a:pPr lvl="0" fontAlgn="base"/>
            <a:r>
              <a:rPr lang="en-US" altLang="en-US" sz="2200" b="1" dirty="0"/>
              <a:t>Sine Burst/Shock: </a:t>
            </a:r>
            <a:r>
              <a:rPr lang="en-US" altLang="en-US" sz="2200" dirty="0"/>
              <a:t>simulated (or actual) shock used to create a static load to verify strength spacecraft/structure Lots of energy at many frequencies at once.</a:t>
            </a:r>
            <a:endParaRPr lang="en-US" sz="2200" dirty="0"/>
          </a:p>
          <a:p>
            <a:pPr marL="457243" lvl="1" indent="0" fontAlgn="base">
              <a:buNone/>
            </a:pP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</a:t>
            </a:r>
            <a:r>
              <a:rPr lang="en-US" dirty="0">
                <a:solidFill>
                  <a:srgbClr val="FF0000"/>
                </a:solidFill>
              </a:rPr>
              <a:t>Typically perform low-level sine sweeps before and after a random/burst to verify no changes in response</a:t>
            </a:r>
            <a:endParaRPr lang="en-US" b="1" u="sng" dirty="0"/>
          </a:p>
          <a:p>
            <a:endParaRPr lang="en-US" b="1" u="sng" dirty="0"/>
          </a:p>
          <a:p>
            <a:r>
              <a:rPr lang="en-US" b="1" u="sng" dirty="0"/>
              <a:t>Types of Vibration Tests</a:t>
            </a:r>
          </a:p>
          <a:p>
            <a:endParaRPr lang="en-US" b="1" dirty="0"/>
          </a:p>
          <a:p>
            <a:r>
              <a:rPr lang="en-US" b="1" dirty="0"/>
              <a:t>Sine (Sinusoidal) Vibration Test</a:t>
            </a:r>
          </a:p>
          <a:p>
            <a:r>
              <a:rPr lang="en-US" b="1" dirty="0"/>
              <a:t>Purpose:</a:t>
            </a:r>
            <a:r>
              <a:rPr lang="en-US" dirty="0"/>
              <a:t> Simulate low-frequency, steady vibrations caused by </a:t>
            </a:r>
            <a:r>
              <a:rPr lang="en-US" b="1" dirty="0"/>
              <a:t>engine thrust oscillations</a:t>
            </a:r>
            <a:r>
              <a:rPr lang="en-US" dirty="0"/>
              <a:t>, </a:t>
            </a:r>
            <a:r>
              <a:rPr lang="en-US" b="1" dirty="0"/>
              <a:t>gimbal motions</a:t>
            </a:r>
            <a:r>
              <a:rPr lang="en-US" dirty="0"/>
              <a:t>, and </a:t>
            </a:r>
            <a:r>
              <a:rPr lang="en-US" b="1" dirty="0"/>
              <a:t>stage separation events</a:t>
            </a:r>
            <a:r>
              <a:rPr lang="en-US" dirty="0"/>
              <a:t>.</a:t>
            </a:r>
          </a:p>
          <a:p>
            <a:r>
              <a:rPr lang="en-US" b="1" dirty="0"/>
              <a:t>Typical Range:</a:t>
            </a:r>
            <a:r>
              <a:rPr lang="en-US" dirty="0"/>
              <a:t> 5–100 Hz.</a:t>
            </a:r>
          </a:p>
          <a:p>
            <a:r>
              <a:rPr lang="en-US" b="1" dirty="0"/>
              <a:t>Use:</a:t>
            </a:r>
            <a:r>
              <a:rPr lang="en-US" dirty="0"/>
              <a:t> Identify </a:t>
            </a:r>
            <a:r>
              <a:rPr lang="en-US" b="1" dirty="0"/>
              <a:t>resonant frequencies</a:t>
            </a:r>
            <a:r>
              <a:rPr lang="en-US" dirty="0"/>
              <a:t> and verify that structural natural frequencies meet margin requirements.</a:t>
            </a:r>
          </a:p>
          <a:p>
            <a:r>
              <a:rPr lang="en-US" b="1" dirty="0"/>
              <a:t>Data Collected:</a:t>
            </a:r>
            <a:endParaRPr lang="en-US" dirty="0"/>
          </a:p>
          <a:p>
            <a:pPr lvl="1"/>
            <a:r>
              <a:rPr lang="en-US" dirty="0"/>
              <a:t>Frequency response (modes, resonances).</a:t>
            </a:r>
          </a:p>
          <a:p>
            <a:pPr lvl="1"/>
            <a:r>
              <a:rPr lang="en-US" dirty="0"/>
              <a:t>Amplification factors (Q-values).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Random Vibration Test</a:t>
            </a:r>
          </a:p>
          <a:p>
            <a:r>
              <a:rPr lang="en-US" b="1" dirty="0"/>
              <a:t>Purpose:</a:t>
            </a:r>
            <a:r>
              <a:rPr lang="en-US" dirty="0"/>
              <a:t> Simulate </a:t>
            </a:r>
            <a:r>
              <a:rPr lang="en-US" b="1" dirty="0"/>
              <a:t>broadband, high-frequency energy</a:t>
            </a:r>
            <a:r>
              <a:rPr lang="en-US" dirty="0"/>
              <a:t> produced by rocket engine combustion and aerodynamic turbulence.</a:t>
            </a:r>
          </a:p>
          <a:p>
            <a:r>
              <a:rPr lang="en-US" b="1" dirty="0"/>
              <a:t>Typical Range:</a:t>
            </a:r>
            <a:r>
              <a:rPr lang="en-US" dirty="0"/>
              <a:t> 20–2000 Hz (sometimes up to 2500 Hz).</a:t>
            </a:r>
          </a:p>
          <a:p>
            <a:r>
              <a:rPr lang="en-US" b="1" dirty="0"/>
              <a:t>Test Input:</a:t>
            </a:r>
            <a:r>
              <a:rPr lang="en-US" dirty="0"/>
              <a:t> Power Spectral Density (PSD) profile in </a:t>
            </a:r>
            <a:r>
              <a:rPr lang="en-US" b="1" dirty="0"/>
              <a:t>g²/Hz</a:t>
            </a:r>
            <a:r>
              <a:rPr lang="en-US" dirty="0"/>
              <a:t>, integrated to a specified overall RMS acceleration (e.g., 10 g RMS).</a:t>
            </a:r>
          </a:p>
          <a:p>
            <a:r>
              <a:rPr lang="en-US" b="1" dirty="0"/>
              <a:t>Use:</a:t>
            </a:r>
            <a:r>
              <a:rPr lang="en-US" dirty="0"/>
              <a:t> Primary qualification and acceptance test for most spacecraft components.</a:t>
            </a:r>
          </a:p>
          <a:p>
            <a:r>
              <a:rPr lang="en-US" b="1" dirty="0"/>
              <a:t>Outcome:</a:t>
            </a:r>
            <a:r>
              <a:rPr lang="en-US" dirty="0"/>
              <a:t> Ensures mechanical integrity, verifies mounting methods, and screens for workmanship defects.</a:t>
            </a:r>
          </a:p>
          <a:p>
            <a:br>
              <a:rPr lang="en-US" dirty="0"/>
            </a:br>
            <a:br>
              <a:rPr lang="en-US" dirty="0"/>
            </a:br>
            <a:endParaRPr lang="en-US" dirty="0"/>
          </a:p>
          <a:p>
            <a:r>
              <a:rPr lang="en-US" b="1" dirty="0"/>
              <a:t>Shock (</a:t>
            </a:r>
            <a:r>
              <a:rPr lang="en-US" b="1" dirty="0" err="1"/>
              <a:t>Pyroshock</a:t>
            </a:r>
            <a:r>
              <a:rPr lang="en-US" b="1" dirty="0"/>
              <a:t>) Test</a:t>
            </a:r>
          </a:p>
          <a:p>
            <a:r>
              <a:rPr lang="en-US" b="1" dirty="0"/>
              <a:t>Purpose:</a:t>
            </a:r>
            <a:r>
              <a:rPr lang="en-US" dirty="0"/>
              <a:t> Simulate high-frequency transients from </a:t>
            </a:r>
            <a:r>
              <a:rPr lang="en-US" b="1" dirty="0"/>
              <a:t>stage separation</a:t>
            </a:r>
            <a:r>
              <a:rPr lang="en-US" dirty="0"/>
              <a:t>, </a:t>
            </a:r>
            <a:r>
              <a:rPr lang="en-US" b="1" dirty="0"/>
              <a:t>pyrotechnic devices</a:t>
            </a:r>
            <a:r>
              <a:rPr lang="en-US" dirty="0"/>
              <a:t>, or </a:t>
            </a:r>
            <a:r>
              <a:rPr lang="en-US" b="1" dirty="0"/>
              <a:t>deployment mechanisms</a:t>
            </a:r>
            <a:r>
              <a:rPr lang="en-US" dirty="0"/>
              <a:t>.</a:t>
            </a:r>
          </a:p>
          <a:p>
            <a:r>
              <a:rPr lang="en-US" b="1" dirty="0"/>
              <a:t>Frequency Range:</a:t>
            </a:r>
            <a:r>
              <a:rPr lang="en-US" dirty="0"/>
              <a:t> Up to 10–20 kHz.</a:t>
            </a:r>
          </a:p>
          <a:p>
            <a:r>
              <a:rPr lang="en-US" b="1" dirty="0"/>
              <a:t>Use:</a:t>
            </a:r>
            <a:r>
              <a:rPr lang="en-US" dirty="0"/>
              <a:t> Ensures sensitive electronics and optical instruments survive shock loads.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4C982-825B-414E-ABB9-79AB251390A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4276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Acoustic Vibration Test (Reverberant Chamber)</a:t>
            </a:r>
          </a:p>
          <a:p>
            <a:r>
              <a:rPr lang="en-US" b="1" dirty="0"/>
              <a:t>Purpose:</a:t>
            </a:r>
            <a:r>
              <a:rPr lang="en-US" dirty="0"/>
              <a:t> Simulate </a:t>
            </a:r>
            <a:r>
              <a:rPr lang="en-US" b="1" dirty="0"/>
              <a:t>sound pressure levels (SPL)</a:t>
            </a:r>
            <a:r>
              <a:rPr lang="en-US" dirty="0"/>
              <a:t> inside the payload fairing during launch.</a:t>
            </a:r>
          </a:p>
          <a:p>
            <a:r>
              <a:rPr lang="en-US" b="1" dirty="0"/>
              <a:t>Frequency Range:</a:t>
            </a:r>
            <a:r>
              <a:rPr lang="en-US" dirty="0"/>
              <a:t> 20–10,000 Hz.</a:t>
            </a:r>
          </a:p>
          <a:p>
            <a:r>
              <a:rPr lang="en-US" b="1" dirty="0"/>
              <a:t>Environment:</a:t>
            </a:r>
            <a:r>
              <a:rPr lang="en-US" dirty="0"/>
              <a:t> Conducted in a large acoustic chamber using high-power speakers.</a:t>
            </a:r>
          </a:p>
          <a:p>
            <a:r>
              <a:rPr lang="en-US" b="1" dirty="0"/>
              <a:t>Use:</a:t>
            </a:r>
            <a:r>
              <a:rPr lang="en-US" dirty="0"/>
              <a:t> Test fully integrated spacecraft or large assemblies that cannot be mounted on a shaker table.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4C982-825B-414E-ABB9-79AB251390A5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9382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Purpose</a:t>
            </a:r>
          </a:p>
          <a:p>
            <a:r>
              <a:rPr lang="en-US" dirty="0"/>
              <a:t>Spacecraft thermal testing verifies that the </a:t>
            </a:r>
            <a:r>
              <a:rPr lang="en-US" b="0" dirty="0"/>
              <a:t>vehicle can survive and operate within the extreme temperature ranges and vacuum conditions of space.</a:t>
            </a:r>
            <a:br>
              <a:rPr lang="en-US" b="0" dirty="0"/>
            </a:br>
            <a:r>
              <a:rPr lang="en-US" b="0" dirty="0"/>
              <a:t>It ensures that:</a:t>
            </a:r>
          </a:p>
          <a:p>
            <a:pPr lvl="1"/>
            <a:r>
              <a:rPr lang="en-US" dirty="0"/>
              <a:t>All subsystems remain within allowable temperature limits.</a:t>
            </a:r>
          </a:p>
          <a:p>
            <a:pPr lvl="1"/>
            <a:r>
              <a:rPr lang="en-US" dirty="0"/>
              <a:t>Thermal control hardware (heaters, radiators, MLI, coatings) performs as designed.</a:t>
            </a:r>
          </a:p>
          <a:p>
            <a:pPr lvl="1"/>
            <a:r>
              <a:rPr lang="en-US" dirty="0"/>
              <a:t>The spacecraft functions properly during hot and cold extremes.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Space Thermal Environment</a:t>
            </a:r>
          </a:p>
          <a:p>
            <a:r>
              <a:rPr lang="en-US" dirty="0"/>
              <a:t>In orbit, spacecraft </a:t>
            </a:r>
            <a:r>
              <a:rPr lang="en-US" b="0" dirty="0"/>
              <a:t>experience rapid heating and cooling as they enter and exit sunlight.</a:t>
            </a:r>
          </a:p>
          <a:p>
            <a:r>
              <a:rPr lang="en-US" b="0" dirty="0"/>
              <a:t>No air convection — only radiation and conduction transfer heat.</a:t>
            </a:r>
          </a:p>
          <a:p>
            <a:r>
              <a:rPr lang="en-US" b="0" dirty="0"/>
              <a:t>Temperatures can range from –180 °C (shadow) to +150 °C (sunlit).</a:t>
            </a:r>
          </a:p>
          <a:p>
            <a:r>
              <a:rPr lang="en-US" dirty="0"/>
              <a:t>Thermal testing reproduces this environment on Earth to verify design margins and control logic.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u="sng" dirty="0"/>
              <a:t>Types of Thermal Tests</a:t>
            </a:r>
          </a:p>
          <a:p>
            <a:endParaRPr lang="en-US" b="1" u="sng" dirty="0"/>
          </a:p>
          <a:p>
            <a:r>
              <a:rPr lang="en-US" b="1" dirty="0"/>
              <a:t>1. Thermal-Vacuum (TVAC) Test</a:t>
            </a:r>
          </a:p>
          <a:p>
            <a:r>
              <a:rPr lang="en-US" b="1" dirty="0"/>
              <a:t>Purpose:</a:t>
            </a:r>
            <a:r>
              <a:rPr lang="en-US" dirty="0"/>
              <a:t> Simulates </a:t>
            </a:r>
            <a:r>
              <a:rPr lang="en-US" b="0" dirty="0"/>
              <a:t>space vacuum and temperature extremes.</a:t>
            </a:r>
          </a:p>
          <a:p>
            <a:r>
              <a:rPr lang="en-US" b="1" dirty="0"/>
              <a:t>Environment:</a:t>
            </a:r>
            <a:r>
              <a:rPr lang="en-US" dirty="0"/>
              <a:t> Chamber pumped to &lt;10⁻⁵ torr; walls act as blackbody radiators.</a:t>
            </a:r>
          </a:p>
          <a:p>
            <a:r>
              <a:rPr lang="en-US" b="1" dirty="0"/>
              <a:t>Process:</a:t>
            </a:r>
            <a:endParaRPr lang="en-US" dirty="0"/>
          </a:p>
          <a:p>
            <a:pPr lvl="1"/>
            <a:r>
              <a:rPr lang="en-US" dirty="0"/>
              <a:t>Spacecraft placed inside chamber.</a:t>
            </a:r>
          </a:p>
          <a:p>
            <a:pPr lvl="1"/>
            <a:r>
              <a:rPr lang="en-US" dirty="0"/>
              <a:t>Heaters and cold shrouds cycle temperatures through expected mission extremes.</a:t>
            </a:r>
          </a:p>
          <a:p>
            <a:pPr lvl="1"/>
            <a:r>
              <a:rPr lang="en-US" dirty="0"/>
              <a:t>Operate spacecraft in both hot and cold cases.</a:t>
            </a:r>
          </a:p>
          <a:p>
            <a:r>
              <a:rPr lang="en-US" b="1" dirty="0"/>
              <a:t>Outcome:</a:t>
            </a:r>
            <a:r>
              <a:rPr lang="en-US" dirty="0"/>
              <a:t> Confirms system performance, leak integrity, and thermal balance.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2. Thermal-Balance Test</a:t>
            </a:r>
          </a:p>
          <a:p>
            <a:r>
              <a:rPr lang="en-US" b="1" dirty="0"/>
              <a:t>Purpose:</a:t>
            </a:r>
            <a:r>
              <a:rPr lang="en-US" dirty="0"/>
              <a:t> Verify the </a:t>
            </a:r>
            <a:r>
              <a:rPr lang="en-US" b="1" dirty="0"/>
              <a:t>thermal model</a:t>
            </a:r>
            <a:r>
              <a:rPr lang="en-US" dirty="0"/>
              <a:t> (e.g., SINDA/FLUINT or Thermal Desktop).</a:t>
            </a:r>
          </a:p>
          <a:p>
            <a:r>
              <a:rPr lang="en-US" b="1" dirty="0"/>
              <a:t>Process:</a:t>
            </a:r>
            <a:endParaRPr lang="en-US" dirty="0"/>
          </a:p>
          <a:p>
            <a:pPr lvl="1"/>
            <a:r>
              <a:rPr lang="en-US" dirty="0"/>
              <a:t>Apply steady-state boundary conditions.</a:t>
            </a:r>
          </a:p>
          <a:p>
            <a:pPr lvl="1"/>
            <a:r>
              <a:rPr lang="en-US" dirty="0"/>
              <a:t>Compare measured hardware temperatures to model predictions.</a:t>
            </a:r>
          </a:p>
          <a:p>
            <a:pPr lvl="1"/>
            <a:r>
              <a:rPr lang="en-US" dirty="0"/>
              <a:t>Adjust model correlations (&lt; ±3 °C typical).</a:t>
            </a:r>
          </a:p>
          <a:p>
            <a:r>
              <a:rPr lang="en-US" b="1" dirty="0"/>
              <a:t>Outcome:</a:t>
            </a:r>
            <a:r>
              <a:rPr lang="en-US" dirty="0"/>
              <a:t> Validated thermal model for flight prediction and analysis.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3. Thermal-Cycle (Non-Vacuum) Test</a:t>
            </a:r>
          </a:p>
          <a:p>
            <a:r>
              <a:rPr lang="en-US" b="1" dirty="0"/>
              <a:t>Purpose:</a:t>
            </a:r>
            <a:r>
              <a:rPr lang="en-US" dirty="0"/>
              <a:t> Screen components for </a:t>
            </a:r>
            <a:r>
              <a:rPr lang="en-US" b="1" dirty="0"/>
              <a:t>thermal fatigue</a:t>
            </a:r>
            <a:r>
              <a:rPr lang="en-US" dirty="0"/>
              <a:t> and workmanship defects.</a:t>
            </a:r>
          </a:p>
          <a:p>
            <a:r>
              <a:rPr lang="en-US" b="1" dirty="0"/>
              <a:t>Environment:</a:t>
            </a:r>
            <a:r>
              <a:rPr lang="en-US" dirty="0"/>
              <a:t> Ambient-pressure chamber; repeatedly cycles between temperature extremes.</a:t>
            </a:r>
          </a:p>
          <a:p>
            <a:r>
              <a:rPr lang="en-US" b="1" dirty="0"/>
              <a:t>Application:</a:t>
            </a:r>
            <a:r>
              <a:rPr lang="en-US" dirty="0"/>
              <a:t> Common for electronics boxes or subsystems before integration.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Instrumentation &amp; Monitoring</a:t>
            </a:r>
          </a:p>
          <a:p>
            <a:r>
              <a:rPr lang="en-US" b="1" dirty="0"/>
              <a:t>Thermocouples / RTDs:</a:t>
            </a:r>
            <a:r>
              <a:rPr lang="en-US" dirty="0"/>
              <a:t> Measure key locations on structures, electronics, and radiators.</a:t>
            </a:r>
          </a:p>
          <a:p>
            <a:r>
              <a:rPr lang="en-US" b="1" dirty="0"/>
              <a:t>Pressure gauges:</a:t>
            </a:r>
            <a:r>
              <a:rPr lang="en-US" dirty="0"/>
              <a:t> Confirm vacuum integrity.</a:t>
            </a:r>
          </a:p>
          <a:p>
            <a:r>
              <a:rPr lang="en-US" b="1" dirty="0"/>
              <a:t>Heater controls:</a:t>
            </a:r>
            <a:r>
              <a:rPr lang="en-US" dirty="0"/>
              <a:t> Maintain desired profiles.</a:t>
            </a:r>
          </a:p>
          <a:p>
            <a:r>
              <a:rPr lang="en-US" b="1" dirty="0"/>
              <a:t>Data logging:</a:t>
            </a:r>
            <a:r>
              <a:rPr lang="en-US" dirty="0"/>
              <a:t> Continuous temperature, power, and functional telemetry monitoring.</a:t>
            </a:r>
          </a:p>
          <a:p>
            <a:endParaRPr lang="en-US" dirty="0"/>
          </a:p>
          <a:p>
            <a:r>
              <a:rPr lang="en-US" b="1" dirty="0"/>
              <a:t>Common Issues</a:t>
            </a:r>
          </a:p>
          <a:p>
            <a:r>
              <a:rPr lang="en-US" dirty="0"/>
              <a:t>Poor thermal contact between hardware and mounting fixtures.</a:t>
            </a:r>
          </a:p>
          <a:p>
            <a:r>
              <a:rPr lang="en-US" dirty="0"/>
              <a:t>Sensor calibration drift or wiring errors.</a:t>
            </a:r>
          </a:p>
          <a:p>
            <a:r>
              <a:rPr lang="en-US" dirty="0"/>
              <a:t>Chamber contamination (volatile residue on optics).</a:t>
            </a:r>
          </a:p>
          <a:p>
            <a:r>
              <a:rPr lang="en-US" dirty="0"/>
              <a:t>Incomplete correlation between model and test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4C982-825B-414E-ABB9-79AB251390A5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8180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Test facility: Thermal/Vacuum Chamber</a:t>
            </a:r>
          </a:p>
          <a:p>
            <a:r>
              <a:rPr lang="en-US" altLang="en-US" dirty="0"/>
              <a:t>Types of Tests</a:t>
            </a:r>
          </a:p>
          <a:p>
            <a:pPr lvl="1"/>
            <a:r>
              <a:rPr lang="en-US" altLang="en-US" dirty="0"/>
              <a:t>Hot/Cold Soak</a:t>
            </a:r>
          </a:p>
          <a:p>
            <a:pPr lvl="1"/>
            <a:r>
              <a:rPr lang="en-US" altLang="en-US" dirty="0"/>
              <a:t>Thermal Cycling</a:t>
            </a:r>
          </a:p>
          <a:p>
            <a:pPr lvl="1"/>
            <a:r>
              <a:rPr lang="en-US" altLang="en-US" dirty="0"/>
              <a:t>Sun Cage</a:t>
            </a:r>
          </a:p>
          <a:p>
            <a:r>
              <a:rPr lang="en-US" altLang="en-US" dirty="0"/>
              <a:t>Test objectives</a:t>
            </a:r>
          </a:p>
          <a:p>
            <a:pPr lvl="1"/>
            <a:r>
              <a:rPr lang="en-US" altLang="en-US" dirty="0"/>
              <a:t>Verify the S/C can function in the thermal/vacuum environment of space</a:t>
            </a:r>
          </a:p>
          <a:p>
            <a:pPr lvl="1"/>
            <a:r>
              <a:rPr lang="en-US" altLang="en-US" dirty="0"/>
              <a:t>Characterize S/C performance under nominal and extreme thermal/vac conditions</a:t>
            </a:r>
          </a:p>
          <a:p>
            <a:pPr lvl="1"/>
            <a:r>
              <a:rPr lang="en-US" altLang="en-US" dirty="0"/>
              <a:t>Validate thermal modeling results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4C982-825B-414E-ABB9-79AB251390A5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5769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Bake-Out Test</a:t>
            </a:r>
          </a:p>
          <a:p>
            <a:r>
              <a:rPr lang="en-US" b="1" dirty="0"/>
              <a:t>Purpose:</a:t>
            </a:r>
            <a:r>
              <a:rPr lang="en-US" dirty="0"/>
              <a:t> Remove </a:t>
            </a:r>
            <a:r>
              <a:rPr lang="en-US" b="1" dirty="0"/>
              <a:t>volatile contaminants</a:t>
            </a:r>
            <a:r>
              <a:rPr lang="en-US" dirty="0"/>
              <a:t> (moisture, outgassing compounds) before flight.</a:t>
            </a:r>
          </a:p>
          <a:p>
            <a:r>
              <a:rPr lang="en-US" b="1" dirty="0"/>
              <a:t>Process:</a:t>
            </a:r>
            <a:endParaRPr lang="en-US" dirty="0"/>
          </a:p>
          <a:p>
            <a:pPr lvl="1"/>
            <a:r>
              <a:rPr lang="en-US" dirty="0"/>
              <a:t>Heat spacecraft or parts in vacuum for 24–72 hours.</a:t>
            </a:r>
          </a:p>
          <a:p>
            <a:pPr lvl="1"/>
            <a:r>
              <a:rPr lang="en-US" dirty="0"/>
              <a:t>Collect outgassed materials on witness plates for contamination measurement.</a:t>
            </a:r>
          </a:p>
          <a:p>
            <a:r>
              <a:rPr lang="en-US" b="1" dirty="0"/>
              <a:t>Critical for:</a:t>
            </a:r>
            <a:r>
              <a:rPr lang="en-US" dirty="0"/>
              <a:t> Optical systems, detectors, and clean payloads.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4C982-825B-414E-ABB9-79AB251390A5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0136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1. Mass Measurement</a:t>
                </a:r>
              </a:p>
              <a:p>
                <a:r>
                  <a:rPr lang="en-US" b="1" dirty="0"/>
                  <a:t>Method:</a:t>
                </a:r>
                <a:endParaRPr lang="en-US" dirty="0"/>
              </a:p>
              <a:p>
                <a:pPr lvl="1"/>
                <a:r>
                  <a:rPr lang="en-US" dirty="0"/>
                  <a:t>Use </a:t>
                </a:r>
                <a:r>
                  <a:rPr lang="en-US" b="1" dirty="0"/>
                  <a:t>precision scales or load cells</a:t>
                </a:r>
                <a:r>
                  <a:rPr lang="en-US" dirty="0"/>
                  <a:t> under each mounting point.</a:t>
                </a:r>
              </a:p>
              <a:p>
                <a:pPr lvl="1"/>
                <a:r>
                  <a:rPr lang="en-US" dirty="0"/>
                  <a:t>Sum the readings to determine total mass.</a:t>
                </a:r>
              </a:p>
              <a:p>
                <a:r>
                  <a:rPr lang="en-US" b="1" dirty="0"/>
                  <a:t>Accuracy:</a:t>
                </a:r>
                <a:r>
                  <a:rPr lang="en-US" dirty="0"/>
                  <a:t> ±0.1% or better for spacecraft-level tests.</a:t>
                </a:r>
              </a:p>
              <a:p>
                <a:r>
                  <a:rPr lang="en-US" b="1" dirty="0"/>
                  <a:t>Considerations:</a:t>
                </a:r>
                <a:endParaRPr lang="en-US" dirty="0"/>
              </a:p>
              <a:p>
                <a:pPr lvl="1"/>
                <a:r>
                  <a:rPr lang="en-US" dirty="0"/>
                  <a:t>Include flight configuration (panels stowed or deployed).</a:t>
                </a:r>
              </a:p>
              <a:p>
                <a:pPr lvl="1"/>
                <a:r>
                  <a:rPr lang="en-US" dirty="0"/>
                  <a:t>Subtract fixtures and mounting adapters from total.</a:t>
                </a:r>
              </a:p>
              <a:p>
                <a:br>
                  <a:rPr lang="en-US" dirty="0"/>
                </a:br>
                <a:endParaRPr lang="en-US" dirty="0"/>
              </a:p>
              <a:p>
                <a:r>
                  <a:rPr lang="en-US" b="1" dirty="0"/>
                  <a:t>2. Center of Gravity (CG) Measurement</a:t>
                </a:r>
              </a:p>
              <a:p>
                <a:r>
                  <a:rPr lang="en-US" b="1" dirty="0"/>
                  <a:t>Purpose:</a:t>
                </a:r>
                <a:r>
                  <a:rPr lang="en-US" dirty="0"/>
                  <a:t> Verify actual CG against predicted location.</a:t>
                </a:r>
              </a:p>
              <a:p>
                <a:r>
                  <a:rPr lang="en-US" b="1" dirty="0"/>
                  <a:t>Methods:</a:t>
                </a:r>
                <a:endParaRPr lang="en-US" dirty="0"/>
              </a:p>
              <a:p>
                <a:pPr lvl="1"/>
                <a:r>
                  <a:rPr lang="en-US" b="1" dirty="0"/>
                  <a:t>Single-axis balance:</a:t>
                </a:r>
                <a:r>
                  <a:rPr lang="en-US" dirty="0"/>
                  <a:t> Rotate spacecraft on knife-edge or bearing until balanced.</a:t>
                </a:r>
              </a:p>
              <a:p>
                <a:pPr lvl="1"/>
                <a:r>
                  <a:rPr lang="en-US" b="1" dirty="0"/>
                  <a:t>Three-point weighing:</a:t>
                </a:r>
                <a:r>
                  <a:rPr lang="en-US" dirty="0"/>
                  <a:t> Use multiple load cells and geometry equations to calculate CG in 3D.</a:t>
                </a:r>
              </a:p>
              <a:p>
                <a:r>
                  <a:rPr lang="en-US" b="1" dirty="0"/>
                  <a:t>Accuracy:</a:t>
                </a:r>
                <a:r>
                  <a:rPr lang="en-US" dirty="0"/>
                  <a:t> Typically within ±1 mm for small satellites, ±5 mm for large spacecraft.</a:t>
                </a:r>
              </a:p>
              <a:p>
                <a:r>
                  <a:rPr lang="en-US" b="1" dirty="0"/>
                  <a:t>Applications:</a:t>
                </a:r>
                <a:endParaRPr lang="en-US" dirty="0"/>
              </a:p>
              <a:p>
                <a:pPr lvl="1"/>
                <a:r>
                  <a:rPr lang="en-US" dirty="0"/>
                  <a:t>Ensures proper alignment with launch vehicle interface.</a:t>
                </a:r>
              </a:p>
              <a:p>
                <a:pPr lvl="1"/>
                <a:r>
                  <a:rPr lang="en-US" dirty="0"/>
                  <a:t>Prevents unwanted torques during separation or spin-up.</a:t>
                </a:r>
              </a:p>
              <a:p>
                <a:br>
                  <a:rPr lang="en-US" dirty="0"/>
                </a:br>
                <a:endParaRPr lang="en-US" dirty="0"/>
              </a:p>
              <a:p>
                <a:r>
                  <a:rPr lang="en-US" b="1" dirty="0"/>
                  <a:t>3. Moment of Inertia (MOI) Measurement</a:t>
                </a:r>
              </a:p>
              <a:p>
                <a:r>
                  <a:rPr lang="en-US" b="1" dirty="0"/>
                  <a:t>Purpose:</a:t>
                </a:r>
                <a:r>
                  <a:rPr lang="en-US" dirty="0"/>
                  <a:t> Verify rotational inertia used for ADCS design.</a:t>
                </a:r>
              </a:p>
              <a:p>
                <a:r>
                  <a:rPr lang="en-US" b="1" dirty="0"/>
                  <a:t>Common Methods:</a:t>
                </a:r>
                <a:endParaRPr lang="en-US" dirty="0"/>
              </a:p>
              <a:p>
                <a:pPr lvl="1"/>
                <a:r>
                  <a:rPr lang="en-US" b="1" dirty="0"/>
                  <a:t>Bifilar Pendulum:</a:t>
                </a:r>
                <a:r>
                  <a:rPr lang="en-US" dirty="0"/>
                  <a:t> Suspend spacecraft on two wires, measure oscillation period → compute inertia.</a:t>
                </a:r>
              </a:p>
              <a:p>
                <a:pPr lvl="1"/>
                <a:r>
                  <a:rPr lang="en-US" b="1" dirty="0" err="1"/>
                  <a:t>Trifilar</a:t>
                </a:r>
                <a:r>
                  <a:rPr lang="en-US" b="1" dirty="0"/>
                  <a:t> Pendulum:</a:t>
                </a:r>
                <a:r>
                  <a:rPr lang="en-US" dirty="0"/>
                  <a:t> Adds third wire for measuring cross-axis coupling.</a:t>
                </a:r>
              </a:p>
              <a:p>
                <a:pPr lvl="1"/>
                <a:r>
                  <a:rPr lang="en-US" b="1" dirty="0"/>
                  <a:t>Torsion Pendulum:</a:t>
                </a:r>
                <a:r>
                  <a:rPr lang="en-US" dirty="0"/>
                  <a:t> Twist spacecraft and measure restoring torque.</a:t>
                </a:r>
              </a:p>
              <a:p>
                <a:r>
                  <a:rPr lang="en-US" b="1" dirty="0"/>
                  <a:t>Accuracy:</a:t>
                </a:r>
                <a:r>
                  <a:rPr lang="en-US" dirty="0"/>
                  <a:t> ±2–5% typical, depending on test geometry and damping.</a:t>
                </a:r>
              </a:p>
              <a:p>
                <a:endParaRPr lang="en-US" dirty="0"/>
              </a:p>
              <a:p>
                <a:r>
                  <a:rPr lang="en-US" dirty="0"/>
                  <a:t>------------------------------------------------------------------------------------------------------------------------------------------</a:t>
                </a:r>
              </a:p>
              <a:p>
                <a:r>
                  <a:rPr lang="en-US" b="1" dirty="0"/>
                  <a:t>Measuring a Satellite’s Moment of Inertia (MOI)</a:t>
                </a:r>
              </a:p>
              <a:p>
                <a:r>
                  <a:rPr lang="en-US" dirty="0"/>
                  <a:t>A </a:t>
                </a:r>
                <a:r>
                  <a:rPr lang="en-US" b="0" dirty="0"/>
                  <a:t>satellite’s moment of inertia (MOI) is typically measured using torsional pendulum methods or inertia measurement tables before launch. These t</a:t>
                </a:r>
                <a:r>
                  <a:rPr lang="en-US" dirty="0"/>
                  <a:t>ests determine how the spacecraft resists angular acceleration about its principal axes.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𝜏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lang="en-US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𝐼</m:t>
                      </m:r>
                      <m:r>
                        <a:rPr lang="en-US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𝛼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where</a:t>
                </a:r>
              </a:p>
              <a:p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𝜏</m:t>
                    </m:r>
                  </m:oMath>
                </a14:m>
                <a:r>
                  <a:rPr lang="en-US" dirty="0"/>
                  <a:t>= applied torque</a:t>
                </a:r>
              </a:p>
              <a:p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𝐼</m:t>
                    </m:r>
                  </m:oMath>
                </a14:m>
                <a:r>
                  <a:rPr lang="en-US" dirty="0"/>
                  <a:t>= moment of inertia</a:t>
                </a:r>
              </a:p>
              <a:p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𝛼</m:t>
                    </m:r>
                  </m:oMath>
                </a14:m>
                <a:r>
                  <a:rPr lang="en-US" dirty="0"/>
                  <a:t>= angular acceleration</a:t>
                </a:r>
              </a:p>
              <a:p>
                <a:r>
                  <a:rPr lang="en-US" dirty="0"/>
                  <a:t>Accurate MOI is critical for </a:t>
                </a:r>
                <a:r>
                  <a:rPr lang="en-US" b="1" dirty="0"/>
                  <a:t>attitude determination and control system (ADCS)</a:t>
                </a:r>
                <a:r>
                  <a:rPr lang="en-US" dirty="0"/>
                  <a:t> design because control algorithms (reaction wheels, magnetorquers, thrusters) rely on the spacecraft inertia matrix.</a:t>
                </a:r>
              </a:p>
              <a:p>
                <a:br>
                  <a:rPr lang="en-US" dirty="0"/>
                </a:br>
                <a:endParaRPr lang="en-US" dirty="0"/>
              </a:p>
              <a:p>
                <a:r>
                  <a:rPr lang="en-US" b="1" dirty="0"/>
                  <a:t>1. Torsional Pendulum Method (Most Common)</a:t>
                </a:r>
                <a:endParaRPr lang="en-US" dirty="0"/>
              </a:p>
              <a:p>
                <a:r>
                  <a:rPr lang="en-US" b="1" dirty="0"/>
                  <a:t>Principle</a:t>
                </a:r>
              </a:p>
              <a:p>
                <a:r>
                  <a:rPr lang="en-US" dirty="0"/>
                  <a:t>The spacecraft is suspended from a </a:t>
                </a:r>
                <a:r>
                  <a:rPr lang="en-US" b="1" dirty="0"/>
                  <a:t>thin torsion wire</a:t>
                </a:r>
                <a:r>
                  <a:rPr lang="en-US" dirty="0"/>
                  <a:t>. When twisted and released, it oscillates.</a:t>
                </a:r>
              </a:p>
              <a:p>
                <a:r>
                  <a:rPr lang="en-US" dirty="0"/>
                  <a:t>The oscillation period depends on the spacecraft’s inertia.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𝑇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2</m:t>
                      </m:r>
                      <m:r>
                        <a:rPr lang="en-US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𝜋</m:t>
                      </m:r>
                      <m:rad>
                        <m:radPr>
                          <m:degHide m:val="on"/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fPr>
                            <m:num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𝐼</m:t>
                              </m:r>
                            </m:num>
                            <m:den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𝑘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ar-AE" dirty="0"/>
              </a:p>
              <a:p>
                <a:r>
                  <a:rPr lang="en-US" dirty="0"/>
                  <a:t>where</a:t>
                </a:r>
              </a:p>
              <a:p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𝑇</m:t>
                    </m:r>
                  </m:oMath>
                </a14:m>
                <a:r>
                  <a:rPr lang="en-US" dirty="0"/>
                  <a:t>= oscillation period</a:t>
                </a:r>
              </a:p>
              <a:p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𝐼</m:t>
                    </m:r>
                  </m:oMath>
                </a14:m>
                <a:r>
                  <a:rPr lang="en-US" dirty="0"/>
                  <a:t>= moment of inertia</a:t>
                </a:r>
              </a:p>
              <a:p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𝑘</m:t>
                    </m:r>
                  </m:oMath>
                </a14:m>
                <a:r>
                  <a:rPr lang="en-US" dirty="0"/>
                  <a:t>= torsional stiffness of the wire</a:t>
                </a:r>
              </a:p>
              <a:p>
                <a:r>
                  <a:rPr lang="en-US" dirty="0"/>
                  <a:t>Rearranging: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𝐼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𝑘</m:t>
                          </m:r>
                          <m:sSup>
                            <m:sSup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ar-AE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4</m:t>
                          </m:r>
                          <m:sSup>
                            <m:sSup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ar-AE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ar-AE" dirty="0"/>
              </a:p>
              <a:p>
                <a:r>
                  <a:rPr lang="en-US" b="1" dirty="0"/>
                  <a:t>Procedure</a:t>
                </a:r>
              </a:p>
              <a:p>
                <a:r>
                  <a:rPr lang="en-US" dirty="0"/>
                  <a:t>Mount the spacecraft on a fixture attached to the torsion wire.</a:t>
                </a:r>
              </a:p>
              <a:p>
                <a:r>
                  <a:rPr lang="en-US" dirty="0"/>
                  <a:t>Twist slightly and release.</a:t>
                </a:r>
              </a:p>
              <a:p>
                <a:r>
                  <a:rPr lang="en-US" dirty="0"/>
                  <a:t>Measure oscillation period using sensors.</a:t>
                </a:r>
              </a:p>
              <a:p>
                <a:r>
                  <a:rPr lang="en-US" dirty="0"/>
                  <a:t>Repeat about </a:t>
                </a:r>
                <a:r>
                  <a:rPr lang="en-US" b="1" dirty="0"/>
                  <a:t>multiple axes</a:t>
                </a:r>
                <a:r>
                  <a:rPr lang="en-US" dirty="0"/>
                  <a:t> to determine the inertia tensor.</a:t>
                </a:r>
              </a:p>
              <a:p>
                <a:r>
                  <a:rPr lang="en-US" b="1" dirty="0"/>
                  <a:t>Advantages</a:t>
                </a:r>
              </a:p>
              <a:p>
                <a:r>
                  <a:rPr lang="en-US" dirty="0"/>
                  <a:t>Very accurate</a:t>
                </a:r>
              </a:p>
              <a:p>
                <a:r>
                  <a:rPr lang="en-US" dirty="0"/>
                  <a:t>Simple physics</a:t>
                </a:r>
              </a:p>
              <a:p>
                <a:r>
                  <a:rPr lang="en-US" dirty="0"/>
                  <a:t>Common for small satellites and CubeSats</a:t>
                </a:r>
              </a:p>
              <a:p>
                <a:br>
                  <a:rPr lang="en-US" dirty="0"/>
                </a:br>
                <a:endParaRPr lang="en-US" dirty="0"/>
              </a:p>
              <a:p>
                <a:r>
                  <a:rPr lang="en-US" b="1" dirty="0"/>
                  <a:t>2. Bifilar Pendulum Method</a:t>
                </a:r>
              </a:p>
              <a:p>
                <a:r>
                  <a:rPr lang="en-US" dirty="0"/>
                  <a:t>Another common approach uses </a:t>
                </a:r>
                <a:r>
                  <a:rPr lang="en-US" b="1" dirty="0"/>
                  <a:t>two parallel suspension wires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The spacecraft oscillates rotationally between the wires.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𝐼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𝑚𝑔</m:t>
                          </m:r>
                          <m:sSup>
                            <m:sSup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ar-AE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ar-AE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4</m:t>
                          </m:r>
                          <m:sSup>
                            <m:sSup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ar-AE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𝐿</m:t>
                          </m:r>
                        </m:den>
                      </m:f>
                    </m:oMath>
                  </m:oMathPara>
                </a14:m>
                <a:endParaRPr lang="ar-AE" dirty="0"/>
              </a:p>
              <a:p>
                <a:r>
                  <a:rPr lang="en-US" dirty="0"/>
                  <a:t>where</a:t>
                </a:r>
              </a:p>
              <a:p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𝑚</m:t>
                    </m:r>
                  </m:oMath>
                </a14:m>
                <a:r>
                  <a:rPr lang="en-US" dirty="0"/>
                  <a:t>= mass</a:t>
                </a:r>
              </a:p>
              <a:p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𝑔</m:t>
                    </m:r>
                  </m:oMath>
                </a14:m>
                <a:r>
                  <a:rPr lang="en-US" dirty="0"/>
                  <a:t>= gravity</a:t>
                </a:r>
              </a:p>
              <a:p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𝑑</m:t>
                    </m:r>
                  </m:oMath>
                </a14:m>
                <a:r>
                  <a:rPr lang="en-US" dirty="0"/>
                  <a:t>= wire separation</a:t>
                </a:r>
              </a:p>
              <a:p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𝐿</m:t>
                    </m:r>
                  </m:oMath>
                </a14:m>
                <a:r>
                  <a:rPr lang="en-US" dirty="0"/>
                  <a:t>= wire length</a:t>
                </a:r>
              </a:p>
              <a:p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𝑇</m:t>
                    </m:r>
                  </m:oMath>
                </a14:m>
                <a:r>
                  <a:rPr lang="en-US" dirty="0"/>
                  <a:t>= oscillation period</a:t>
                </a:r>
              </a:p>
              <a:p>
                <a:r>
                  <a:rPr lang="en-US" dirty="0"/>
                  <a:t>This method is often used when </a:t>
                </a:r>
                <a:r>
                  <a:rPr lang="en-US" b="1" dirty="0"/>
                  <a:t>torsion wires cannot support the spacecraft mass</a:t>
                </a:r>
                <a:r>
                  <a:rPr lang="en-US" dirty="0"/>
                  <a:t>.</a:t>
                </a:r>
              </a:p>
              <a:p>
                <a:br>
                  <a:rPr lang="en-US" dirty="0"/>
                </a:br>
                <a:endParaRPr lang="en-US" dirty="0"/>
              </a:p>
              <a:p>
                <a:r>
                  <a:rPr lang="en-US" b="1" dirty="0"/>
                  <a:t>3. Inertia Measurement Table (IMT)</a:t>
                </a:r>
              </a:p>
              <a:p>
                <a:r>
                  <a:rPr lang="en-US" dirty="0"/>
                  <a:t>Large satellites use </a:t>
                </a:r>
                <a:r>
                  <a:rPr lang="en-US" b="1" dirty="0"/>
                  <a:t>motorized inertia measurement systems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Procedure:</a:t>
                </a:r>
              </a:p>
              <a:p>
                <a:r>
                  <a:rPr lang="en-US" dirty="0"/>
                  <a:t>Spacecraft mounted on precision bearings.</a:t>
                </a:r>
              </a:p>
              <a:p>
                <a:r>
                  <a:rPr lang="en-US" dirty="0"/>
                  <a:t>Apply a known torque with a motor.</a:t>
                </a:r>
              </a:p>
              <a:p>
                <a:r>
                  <a:rPr lang="en-US" dirty="0"/>
                  <a:t>Measure resulting angular acceleration.</a:t>
                </a:r>
              </a:p>
              <a:p>
                <a:r>
                  <a:rPr lang="en-US" dirty="0"/>
                  <a:t>Using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𝐼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𝜏</m:t>
                          </m:r>
                        </m:num>
                        <m:den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𝛼</m:t>
                          </m:r>
                        </m:den>
                      </m:f>
                    </m:oMath>
                  </m:oMathPara>
                </a14:m>
                <a:endParaRPr lang="ar-AE" dirty="0"/>
              </a:p>
              <a:p>
                <a:r>
                  <a:rPr lang="en-US" dirty="0"/>
                  <a:t>These systems can measure:</a:t>
                </a:r>
              </a:p>
              <a:p>
                <a:r>
                  <a:rPr lang="en-US" dirty="0"/>
                  <a:t>principal moments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𝐼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sub>
                    </m:sSub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,</m:t>
                    </m:r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𝐼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𝑦</m:t>
                        </m:r>
                      </m:sub>
                    </m:sSub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,</m:t>
                    </m:r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𝐼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𝑧</m:t>
                        </m:r>
                      </m:sub>
                    </m:sSub>
                  </m:oMath>
                </a14:m>
                <a:endParaRPr lang="ar-AE" dirty="0"/>
              </a:p>
              <a:p>
                <a:r>
                  <a:rPr lang="en-US" dirty="0"/>
                  <a:t>cross products of inertia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𝐼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𝑥𝑦</m:t>
                        </m:r>
                      </m:sub>
                    </m:sSub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,</m:t>
                    </m:r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𝐼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𝑥𝑧</m:t>
                        </m:r>
                      </m:sub>
                    </m:sSub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,</m:t>
                    </m:r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𝐼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𝑦𝑧</m:t>
                        </m:r>
                      </m:sub>
                    </m:sSub>
                  </m:oMath>
                </a14:m>
                <a:endParaRPr lang="ar-AE" dirty="0"/>
              </a:p>
              <a:p>
                <a:br>
                  <a:rPr lang="ar-AE" dirty="0"/>
                </a:br>
                <a:endParaRPr lang="ar-AE" dirty="0"/>
              </a:p>
              <a:p>
                <a:r>
                  <a:rPr lang="ar-AE" b="1" dirty="0"/>
                  <a:t>4. </a:t>
                </a:r>
                <a:r>
                  <a:rPr lang="en-US" b="1" dirty="0"/>
                  <a:t>Why MOI Measurement Is Critical</a:t>
                </a:r>
              </a:p>
              <a:p>
                <a:r>
                  <a:rPr lang="en-US" dirty="0"/>
                  <a:t>The spacecraft inertia matrix: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𝐈</m:t>
                      </m:r>
                      <m:r>
                        <a:rPr lang="en-US" sz="1200" b="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ar-AE" sz="1200" b="0" i="1" kern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1200" b="0" i="1" kern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ar-AE" sz="1200" b="0" i="1" kern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ar-AE" sz="1200" b="0" i="0" kern="12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ar-AE" sz="1200" b="0" i="1" kern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1200" b="0" i="1" kern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ar-AE" sz="1200" b="0" i="1" kern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𝑥𝑦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ar-AE" sz="1200" b="0" i="0" kern="12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ar-AE" sz="1200" b="0" i="1" kern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1200" b="0" i="1" kern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ar-AE" sz="1200" b="0" i="1" kern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𝑥𝑧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ar-AE" sz="1200" b="0" i="0" kern="12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ar-AE" sz="1200" b="0" i="1" kern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1200" b="0" i="1" kern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ar-AE" sz="1200" b="0" i="1" kern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𝑥𝑦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ar-AE" sz="1200" b="0" i="1" kern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1200" b="0" i="1" kern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ar-AE" sz="1200" b="0" i="1" kern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ar-AE" sz="1200" b="0" i="0" kern="12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ar-AE" sz="1200" b="0" i="1" kern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1200" b="0" i="1" kern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ar-AE" sz="1200" b="0" i="1" kern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𝑦𝑧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ar-AE" sz="1200" b="0" i="0" kern="12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ar-AE" sz="1200" b="0" i="1" kern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1200" b="0" i="1" kern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ar-AE" sz="1200" b="0" i="1" kern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𝑥𝑧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ar-AE" sz="1200" b="0" i="0" kern="12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ar-AE" sz="1200" b="0" i="1" kern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1200" b="0" i="1" kern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ar-AE" sz="1200" b="0" i="1" kern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𝑦𝑧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ar-AE" sz="1200" b="0" i="1" kern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1200" b="0" i="1" kern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ar-AE" sz="1200" b="0" i="1" kern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b="0" dirty="0"/>
              </a:p>
              <a:p>
                <a:r>
                  <a:rPr lang="en-US" dirty="0"/>
                  <a:t>is required for:</a:t>
                </a:r>
              </a:p>
              <a:p>
                <a:r>
                  <a:rPr lang="en-US" b="1" dirty="0"/>
                  <a:t>ADCS simulations</a:t>
                </a:r>
                <a:endParaRPr lang="en-US" dirty="0"/>
              </a:p>
              <a:p>
                <a:r>
                  <a:rPr lang="en-US" b="1" dirty="0"/>
                  <a:t>reaction wheel sizing</a:t>
                </a:r>
                <a:endParaRPr lang="en-US" dirty="0"/>
              </a:p>
              <a:p>
                <a:r>
                  <a:rPr lang="en-US" b="1" dirty="0"/>
                  <a:t>control law design</a:t>
                </a:r>
                <a:endParaRPr lang="en-US" dirty="0"/>
              </a:p>
              <a:p>
                <a:r>
                  <a:rPr lang="en-US" b="1" dirty="0"/>
                  <a:t>maneuver planning</a:t>
                </a:r>
                <a:endParaRPr lang="en-US" dirty="0"/>
              </a:p>
              <a:p>
                <a:r>
                  <a:rPr lang="en-US" dirty="0"/>
                  <a:t>Even </a:t>
                </a:r>
                <a:r>
                  <a:rPr lang="en-US" b="1" dirty="0"/>
                  <a:t>5–10% errors</a:t>
                </a:r>
                <a:r>
                  <a:rPr lang="en-US" dirty="0"/>
                  <a:t> in inertia can significantly affect control performance.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1. Mass Measurement</a:t>
                </a:r>
              </a:p>
              <a:p>
                <a:r>
                  <a:rPr lang="en-US" b="1" dirty="0"/>
                  <a:t>Method:</a:t>
                </a:r>
                <a:endParaRPr lang="en-US" dirty="0"/>
              </a:p>
              <a:p>
                <a:pPr lvl="1"/>
                <a:r>
                  <a:rPr lang="en-US" dirty="0"/>
                  <a:t>Use </a:t>
                </a:r>
                <a:r>
                  <a:rPr lang="en-US" b="1" dirty="0"/>
                  <a:t>precision scales or load cells</a:t>
                </a:r>
                <a:r>
                  <a:rPr lang="en-US" dirty="0"/>
                  <a:t> under each mounting point.</a:t>
                </a:r>
              </a:p>
              <a:p>
                <a:pPr lvl="1"/>
                <a:r>
                  <a:rPr lang="en-US" dirty="0"/>
                  <a:t>Sum the readings to determine total mass.</a:t>
                </a:r>
              </a:p>
              <a:p>
                <a:r>
                  <a:rPr lang="en-US" b="1" dirty="0"/>
                  <a:t>Accuracy:</a:t>
                </a:r>
                <a:r>
                  <a:rPr lang="en-US" dirty="0"/>
                  <a:t> ±0.1% or better for spacecraft-level tests.</a:t>
                </a:r>
              </a:p>
              <a:p>
                <a:r>
                  <a:rPr lang="en-US" b="1" dirty="0"/>
                  <a:t>Considerations:</a:t>
                </a:r>
                <a:endParaRPr lang="en-US" dirty="0"/>
              </a:p>
              <a:p>
                <a:pPr lvl="1"/>
                <a:r>
                  <a:rPr lang="en-US" dirty="0"/>
                  <a:t>Include flight configuration (panels stowed or deployed).</a:t>
                </a:r>
              </a:p>
              <a:p>
                <a:pPr lvl="1"/>
                <a:r>
                  <a:rPr lang="en-US" dirty="0"/>
                  <a:t>Subtract fixtures and mounting adapters from total.</a:t>
                </a:r>
              </a:p>
              <a:p>
                <a:br>
                  <a:rPr lang="en-US" dirty="0"/>
                </a:br>
                <a:endParaRPr lang="en-US" dirty="0"/>
              </a:p>
              <a:p>
                <a:r>
                  <a:rPr lang="en-US" b="1" dirty="0"/>
                  <a:t>2. Center of Gravity (CG) Measurement</a:t>
                </a:r>
              </a:p>
              <a:p>
                <a:r>
                  <a:rPr lang="en-US" b="1" dirty="0"/>
                  <a:t>Purpose:</a:t>
                </a:r>
                <a:r>
                  <a:rPr lang="en-US" dirty="0"/>
                  <a:t> Verify actual CG against predicted location.</a:t>
                </a:r>
              </a:p>
              <a:p>
                <a:r>
                  <a:rPr lang="en-US" b="1" dirty="0"/>
                  <a:t>Methods:</a:t>
                </a:r>
                <a:endParaRPr lang="en-US" dirty="0"/>
              </a:p>
              <a:p>
                <a:pPr lvl="1"/>
                <a:r>
                  <a:rPr lang="en-US" b="1" dirty="0"/>
                  <a:t>Single-axis balance:</a:t>
                </a:r>
                <a:r>
                  <a:rPr lang="en-US" dirty="0"/>
                  <a:t> Rotate spacecraft on knife-edge or bearing until balanced.</a:t>
                </a:r>
              </a:p>
              <a:p>
                <a:pPr lvl="1"/>
                <a:r>
                  <a:rPr lang="en-US" b="1" dirty="0"/>
                  <a:t>Three-point weighing:</a:t>
                </a:r>
                <a:r>
                  <a:rPr lang="en-US" dirty="0"/>
                  <a:t> Use multiple load cells and geometry equations to calculate CG in 3D.</a:t>
                </a:r>
              </a:p>
              <a:p>
                <a:r>
                  <a:rPr lang="en-US" b="1" dirty="0"/>
                  <a:t>Accuracy:</a:t>
                </a:r>
                <a:r>
                  <a:rPr lang="en-US" dirty="0"/>
                  <a:t> Typically within ±1 mm for small satellites, ±5 mm for large spacecraft.</a:t>
                </a:r>
              </a:p>
              <a:p>
                <a:r>
                  <a:rPr lang="en-US" b="1" dirty="0"/>
                  <a:t>Applications:</a:t>
                </a:r>
                <a:endParaRPr lang="en-US" dirty="0"/>
              </a:p>
              <a:p>
                <a:pPr lvl="1"/>
                <a:r>
                  <a:rPr lang="en-US" dirty="0"/>
                  <a:t>Ensures proper alignment with launch vehicle interface.</a:t>
                </a:r>
              </a:p>
              <a:p>
                <a:pPr lvl="1"/>
                <a:r>
                  <a:rPr lang="en-US" dirty="0"/>
                  <a:t>Prevents unwanted torques during separation or spin-up.</a:t>
                </a:r>
              </a:p>
              <a:p>
                <a:br>
                  <a:rPr lang="en-US" dirty="0"/>
                </a:br>
                <a:endParaRPr lang="en-US" dirty="0"/>
              </a:p>
              <a:p>
                <a:r>
                  <a:rPr lang="en-US" b="1" dirty="0"/>
                  <a:t>3. Moment of Inertia (MOI) Measurement</a:t>
                </a:r>
              </a:p>
              <a:p>
                <a:r>
                  <a:rPr lang="en-US" b="1" dirty="0"/>
                  <a:t>Purpose:</a:t>
                </a:r>
                <a:r>
                  <a:rPr lang="en-US" dirty="0"/>
                  <a:t> Verify rotational inertia used for ADCS design.</a:t>
                </a:r>
              </a:p>
              <a:p>
                <a:r>
                  <a:rPr lang="en-US" b="1" dirty="0"/>
                  <a:t>Common Methods:</a:t>
                </a:r>
                <a:endParaRPr lang="en-US" dirty="0"/>
              </a:p>
              <a:p>
                <a:pPr lvl="1"/>
                <a:r>
                  <a:rPr lang="en-US" b="1" dirty="0"/>
                  <a:t>Bifilar Pendulum:</a:t>
                </a:r>
                <a:r>
                  <a:rPr lang="en-US" dirty="0"/>
                  <a:t> Suspend spacecraft on two wires, measure oscillation period → compute inertia.</a:t>
                </a:r>
              </a:p>
              <a:p>
                <a:pPr lvl="1"/>
                <a:r>
                  <a:rPr lang="en-US" b="1" dirty="0" err="1"/>
                  <a:t>Trifilar</a:t>
                </a:r>
                <a:r>
                  <a:rPr lang="en-US" b="1" dirty="0"/>
                  <a:t> Pendulum:</a:t>
                </a:r>
                <a:r>
                  <a:rPr lang="en-US" dirty="0"/>
                  <a:t> Adds third wire for measuring cross-axis coupling.</a:t>
                </a:r>
              </a:p>
              <a:p>
                <a:pPr lvl="1"/>
                <a:r>
                  <a:rPr lang="en-US" b="1" dirty="0"/>
                  <a:t>Torsion Pendulum:</a:t>
                </a:r>
                <a:r>
                  <a:rPr lang="en-US" dirty="0"/>
                  <a:t> Twist spacecraft and measure restoring torque.</a:t>
                </a:r>
              </a:p>
              <a:p>
                <a:r>
                  <a:rPr lang="en-US" b="1" dirty="0"/>
                  <a:t>Accuracy:</a:t>
                </a:r>
                <a:r>
                  <a:rPr lang="en-US" dirty="0"/>
                  <a:t> ±2–5% typical, depending on test geometry and damping.</a:t>
                </a:r>
              </a:p>
              <a:p>
                <a:endParaRPr lang="en-US" dirty="0"/>
              </a:p>
              <a:p>
                <a:r>
                  <a:rPr lang="en-US" dirty="0"/>
                  <a:t>------------------------------------------------------------------------------------------------------------------------------------------</a:t>
                </a:r>
              </a:p>
              <a:p>
                <a:r>
                  <a:rPr lang="en-US" b="1" dirty="0"/>
                  <a:t>Measuring a Satellite’s Moment of Inertia (MOI)</a:t>
                </a:r>
              </a:p>
              <a:p>
                <a:r>
                  <a:rPr lang="en-US" dirty="0"/>
                  <a:t>A </a:t>
                </a:r>
                <a:r>
                  <a:rPr lang="en-US" b="0" dirty="0"/>
                  <a:t>satellite’s moment of inertia (MOI) is typically measured using torsional pendulum methods or inertia measurement tables before launch. These t</a:t>
                </a:r>
                <a:r>
                  <a:rPr lang="en-US" dirty="0"/>
                  <a:t>ests determine how the spacecraft resists angular acceleration about its principal axes.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𝜏=𝐼𝛼</a:t>
                </a:r>
                <a:endParaRPr lang="en-US" dirty="0"/>
              </a:p>
              <a:p>
                <a:r>
                  <a:rPr lang="en-US" dirty="0"/>
                  <a:t>where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𝜏</a:t>
                </a:r>
                <a:r>
                  <a:rPr lang="en-US" dirty="0"/>
                  <a:t>= applied torque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𝐼</a:t>
                </a:r>
                <a:r>
                  <a:rPr lang="en-US" dirty="0"/>
                  <a:t>= moment of inertia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𝛼</a:t>
                </a:r>
                <a:r>
                  <a:rPr lang="en-US" dirty="0"/>
                  <a:t>= angular acceleration</a:t>
                </a:r>
              </a:p>
              <a:p>
                <a:r>
                  <a:rPr lang="en-US" dirty="0"/>
                  <a:t>Accurate MOI is critical for </a:t>
                </a:r>
                <a:r>
                  <a:rPr lang="en-US" b="1" dirty="0"/>
                  <a:t>attitude determination and control system (ADCS)</a:t>
                </a:r>
                <a:r>
                  <a:rPr lang="en-US" dirty="0"/>
                  <a:t> design because control algorithms (reaction wheels, magnetorquers, thrusters) rely on the spacecraft inertia matrix.</a:t>
                </a:r>
              </a:p>
              <a:p>
                <a:br>
                  <a:rPr lang="en-US" dirty="0"/>
                </a:br>
                <a:endParaRPr lang="en-US" dirty="0"/>
              </a:p>
              <a:p>
                <a:r>
                  <a:rPr lang="en-US" b="1" dirty="0"/>
                  <a:t>1. Torsional Pendulum Method (Most Common)</a:t>
                </a:r>
                <a:endParaRPr lang="en-US" dirty="0"/>
              </a:p>
              <a:p>
                <a:r>
                  <a:rPr lang="en-US" b="1" dirty="0"/>
                  <a:t>Principle</a:t>
                </a:r>
              </a:p>
              <a:p>
                <a:r>
                  <a:rPr lang="en-US" dirty="0"/>
                  <a:t>The spacecraft is suspended from a </a:t>
                </a:r>
                <a:r>
                  <a:rPr lang="en-US" b="1" dirty="0"/>
                  <a:t>thin torsion wire</a:t>
                </a:r>
                <a:r>
                  <a:rPr lang="en-US" dirty="0"/>
                  <a:t>. When twisted and released, it oscillates.</a:t>
                </a:r>
              </a:p>
              <a:p>
                <a:r>
                  <a:rPr lang="en-US" dirty="0"/>
                  <a:t>The oscillation period depends on the spacecraft’s inertia.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𝑇=2𝜋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√(𝐼/𝑘)</a:t>
                </a:r>
                <a:endParaRPr lang="ar-AE" dirty="0"/>
              </a:p>
              <a:p>
                <a:r>
                  <a:rPr lang="en-US" dirty="0"/>
                  <a:t>where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𝑇</a:t>
                </a:r>
                <a:r>
                  <a:rPr lang="en-US" dirty="0"/>
                  <a:t>= oscillation period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𝐼</a:t>
                </a:r>
                <a:r>
                  <a:rPr lang="en-US" dirty="0"/>
                  <a:t>= moment of inertia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𝑘</a:t>
                </a:r>
                <a:r>
                  <a:rPr lang="en-US" dirty="0"/>
                  <a:t>= torsional stiffness of the wire</a:t>
                </a:r>
              </a:p>
              <a:p>
                <a:r>
                  <a:rPr lang="en-US" dirty="0"/>
                  <a:t>Rearranging: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𝐼=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(𝑘𝑇^2)/(4𝜋^2 )</a:t>
                </a:r>
                <a:endParaRPr lang="ar-AE" dirty="0"/>
              </a:p>
              <a:p>
                <a:r>
                  <a:rPr lang="en-US" b="1" dirty="0"/>
                  <a:t>Procedure</a:t>
                </a:r>
              </a:p>
              <a:p>
                <a:r>
                  <a:rPr lang="en-US" dirty="0"/>
                  <a:t>Mount the spacecraft on a fixture attached to the torsion wire.</a:t>
                </a:r>
              </a:p>
              <a:p>
                <a:r>
                  <a:rPr lang="en-US" dirty="0"/>
                  <a:t>Twist slightly and release.</a:t>
                </a:r>
              </a:p>
              <a:p>
                <a:r>
                  <a:rPr lang="en-US" dirty="0"/>
                  <a:t>Measure oscillation period using sensors.</a:t>
                </a:r>
              </a:p>
              <a:p>
                <a:r>
                  <a:rPr lang="en-US" dirty="0"/>
                  <a:t>Repeat about </a:t>
                </a:r>
                <a:r>
                  <a:rPr lang="en-US" b="1" dirty="0"/>
                  <a:t>multiple axes</a:t>
                </a:r>
                <a:r>
                  <a:rPr lang="en-US" dirty="0"/>
                  <a:t> to determine the inertia tensor.</a:t>
                </a:r>
              </a:p>
              <a:p>
                <a:r>
                  <a:rPr lang="en-US" b="1" dirty="0"/>
                  <a:t>Advantages</a:t>
                </a:r>
              </a:p>
              <a:p>
                <a:r>
                  <a:rPr lang="en-US" dirty="0"/>
                  <a:t>Very accurate</a:t>
                </a:r>
              </a:p>
              <a:p>
                <a:r>
                  <a:rPr lang="en-US" dirty="0"/>
                  <a:t>Simple physics</a:t>
                </a:r>
              </a:p>
              <a:p>
                <a:r>
                  <a:rPr lang="en-US" dirty="0"/>
                  <a:t>Common for small satellites and CubeSats</a:t>
                </a:r>
              </a:p>
              <a:p>
                <a:br>
                  <a:rPr lang="en-US" dirty="0"/>
                </a:br>
                <a:endParaRPr lang="en-US" dirty="0"/>
              </a:p>
              <a:p>
                <a:r>
                  <a:rPr lang="en-US" b="1" dirty="0"/>
                  <a:t>2. Bifilar Pendulum Method</a:t>
                </a:r>
              </a:p>
              <a:p>
                <a:r>
                  <a:rPr lang="en-US" dirty="0"/>
                  <a:t>Another common approach uses </a:t>
                </a:r>
                <a:r>
                  <a:rPr lang="en-US" b="1" dirty="0"/>
                  <a:t>two parallel suspension wires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The spacecraft oscillates rotationally between the wires.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𝐼=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(𝑚𝑔𝑑^2 𝑇^2)/(4𝜋^2 𝐿)</a:t>
                </a:r>
                <a:endParaRPr lang="ar-AE" dirty="0"/>
              </a:p>
              <a:p>
                <a:r>
                  <a:rPr lang="en-US" dirty="0"/>
                  <a:t>where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𝑚</a:t>
                </a:r>
                <a:r>
                  <a:rPr lang="en-US" dirty="0"/>
                  <a:t>= mass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𝑔</a:t>
                </a:r>
                <a:r>
                  <a:rPr lang="en-US" dirty="0"/>
                  <a:t>= gravity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𝑑</a:t>
                </a:r>
                <a:r>
                  <a:rPr lang="en-US" dirty="0"/>
                  <a:t>= wire separation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𝐿</a:t>
                </a:r>
                <a:r>
                  <a:rPr lang="en-US" dirty="0"/>
                  <a:t>= wire length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𝑇</a:t>
                </a:r>
                <a:r>
                  <a:rPr lang="en-US" dirty="0"/>
                  <a:t>= oscillation period</a:t>
                </a:r>
              </a:p>
              <a:p>
                <a:r>
                  <a:rPr lang="en-US" dirty="0"/>
                  <a:t>This method is often used when </a:t>
                </a:r>
                <a:r>
                  <a:rPr lang="en-US" b="1" dirty="0"/>
                  <a:t>torsion wires cannot support the spacecraft mass</a:t>
                </a:r>
                <a:r>
                  <a:rPr lang="en-US" dirty="0"/>
                  <a:t>.</a:t>
                </a:r>
              </a:p>
              <a:p>
                <a:br>
                  <a:rPr lang="en-US" dirty="0"/>
                </a:br>
                <a:endParaRPr lang="en-US" dirty="0"/>
              </a:p>
              <a:p>
                <a:r>
                  <a:rPr lang="en-US" b="1" dirty="0"/>
                  <a:t>3. Inertia Measurement Table (IMT)</a:t>
                </a:r>
              </a:p>
              <a:p>
                <a:r>
                  <a:rPr lang="en-US" dirty="0"/>
                  <a:t>Large satellites use </a:t>
                </a:r>
                <a:r>
                  <a:rPr lang="en-US" b="1" dirty="0"/>
                  <a:t>motorized inertia measurement systems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Procedure:</a:t>
                </a:r>
              </a:p>
              <a:p>
                <a:r>
                  <a:rPr lang="en-US" dirty="0"/>
                  <a:t>Spacecraft mounted on precision bearings.</a:t>
                </a:r>
              </a:p>
              <a:p>
                <a:r>
                  <a:rPr lang="en-US" dirty="0"/>
                  <a:t>Apply a known torque with a motor.</a:t>
                </a:r>
              </a:p>
              <a:p>
                <a:r>
                  <a:rPr lang="en-US" dirty="0"/>
                  <a:t>Measure resulting angular acceleration.</a:t>
                </a:r>
              </a:p>
              <a:p>
                <a:r>
                  <a:rPr lang="en-US" dirty="0"/>
                  <a:t>Using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𝐼=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𝜏/𝛼</a:t>
                </a:r>
                <a:endParaRPr lang="ar-AE" dirty="0"/>
              </a:p>
              <a:p>
                <a:r>
                  <a:rPr lang="en-US" dirty="0"/>
                  <a:t>These systems can measure:</a:t>
                </a:r>
              </a:p>
              <a:p>
                <a:r>
                  <a:rPr lang="en-US" dirty="0"/>
                  <a:t>principal moments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𝐼_𝑥,𝐼_𝑦,𝐼_𝑧</a:t>
                </a:r>
                <a:endParaRPr lang="ar-AE" dirty="0"/>
              </a:p>
              <a:p>
                <a:r>
                  <a:rPr lang="en-US" dirty="0"/>
                  <a:t>cross products of inertia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𝐼_𝑥𝑦,𝐼_𝑥𝑧,𝐼_𝑦𝑧</a:t>
                </a:r>
                <a:endParaRPr lang="ar-AE" dirty="0"/>
              </a:p>
              <a:p>
                <a:br>
                  <a:rPr lang="ar-AE" dirty="0"/>
                </a:br>
                <a:endParaRPr lang="ar-AE" dirty="0"/>
              </a:p>
              <a:p>
                <a:r>
                  <a:rPr lang="ar-AE" b="1" dirty="0"/>
                  <a:t>4. </a:t>
                </a:r>
                <a:r>
                  <a:rPr lang="en-US" b="1" dirty="0"/>
                  <a:t>Why MOI Measurement Is Critical</a:t>
                </a:r>
              </a:p>
              <a:p>
                <a:r>
                  <a:rPr lang="en-US" dirty="0"/>
                  <a:t>The spacecraft inertia matrix:</a:t>
                </a:r>
              </a:p>
              <a:p>
                <a:r>
                  <a:rPr lang="en-US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𝐈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=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[■(𝐼_𝑥&amp;−𝐼_𝑥𝑦&amp;−𝐼_𝑥𝑧@−𝐼_𝑥𝑦&amp;𝐼_𝑦&amp;−𝐼_𝑦𝑧@−𝐼_𝑥𝑧&amp;−𝐼_𝑦𝑧&amp;𝐼_𝑧 )]</a:t>
                </a:r>
                <a:endParaRPr lang="ar-AE" b="0" dirty="0"/>
              </a:p>
              <a:p>
                <a:r>
                  <a:rPr lang="en-US" dirty="0"/>
                  <a:t>is required for:</a:t>
                </a:r>
              </a:p>
              <a:p>
                <a:r>
                  <a:rPr lang="en-US" b="1" dirty="0"/>
                  <a:t>ADCS simulations</a:t>
                </a:r>
                <a:endParaRPr lang="en-US" dirty="0"/>
              </a:p>
              <a:p>
                <a:r>
                  <a:rPr lang="en-US" b="1" dirty="0"/>
                  <a:t>reaction wheel sizing</a:t>
                </a:r>
                <a:endParaRPr lang="en-US" dirty="0"/>
              </a:p>
              <a:p>
                <a:r>
                  <a:rPr lang="en-US" b="1" dirty="0"/>
                  <a:t>control law design</a:t>
                </a:r>
                <a:endParaRPr lang="en-US" dirty="0"/>
              </a:p>
              <a:p>
                <a:r>
                  <a:rPr lang="en-US" b="1" dirty="0"/>
                  <a:t>maneuver planning</a:t>
                </a:r>
                <a:endParaRPr lang="en-US" dirty="0"/>
              </a:p>
              <a:p>
                <a:r>
                  <a:rPr lang="en-US" dirty="0"/>
                  <a:t>Even </a:t>
                </a:r>
                <a:r>
                  <a:rPr lang="en-US" b="1" dirty="0"/>
                  <a:t>5–10% errors</a:t>
                </a:r>
                <a:r>
                  <a:rPr lang="en-US" dirty="0"/>
                  <a:t> in inertia can significantly affect control performance.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4C982-825B-414E-ABB9-79AB251390A5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7015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242" name="Slide Image Placeholder 1">
            <a:extLst>
              <a:ext uri="{FF2B5EF4-FFF2-40B4-BE49-F238E27FC236}">
                <a16:creationId xmlns:a16="http://schemas.microsoft.com/office/drawing/2014/main" id="{98A5DD9A-AA6C-672E-4F35-DEEEA73C574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06243" name="Notes Placeholder 2">
            <a:extLst>
              <a:ext uri="{FF2B5EF4-FFF2-40B4-BE49-F238E27FC236}">
                <a16:creationId xmlns:a16="http://schemas.microsoft.com/office/drawing/2014/main" id="{5A27686E-0B7D-0343-4FA6-0FF9F75971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906244" name="Header Placeholder 3">
            <a:extLst>
              <a:ext uri="{FF2B5EF4-FFF2-40B4-BE49-F238E27FC236}">
                <a16:creationId xmlns:a16="http://schemas.microsoft.com/office/drawing/2014/main" id="{9C1C53CC-754A-4C37-E5BE-4DB81174F1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662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662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662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662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662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100">
                <a:latin typeface="Tahoma" panose="020B0604030504040204" pitchFamily="34" charset="0"/>
              </a:rPr>
              <a:t>Astro 331 - Space Systems Engineering</a:t>
            </a:r>
          </a:p>
        </p:txBody>
      </p:sp>
      <p:sp>
        <p:nvSpPr>
          <p:cNvPr id="906245" name="Slide Number Placeholder 4">
            <a:extLst>
              <a:ext uri="{FF2B5EF4-FFF2-40B4-BE49-F238E27FC236}">
                <a16:creationId xmlns:a16="http://schemas.microsoft.com/office/drawing/2014/main" id="{722E8CE1-7AC1-DE67-A677-C0A7681DE4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662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662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662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662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662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17A29FA-1050-4A70-ADA3-FC055332F5DC}" type="slidenum">
              <a:rPr lang="en-US" altLang="en-US" sz="1100">
                <a:latin typeface="Tahoma" panose="020B0604030504040204" pitchFamily="34" charset="0"/>
              </a:rPr>
              <a:pPr/>
              <a:t>39</a:t>
            </a:fld>
            <a:endParaRPr lang="en-US" altLang="en-US" sz="1100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7505" y="1287560"/>
            <a:ext cx="6788990" cy="2387600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781865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E600E-A67F-4D2A-8A36-552C1EFBE963}" type="datetime1">
              <a:rPr lang="en-US" smtClean="0"/>
              <a:t>3/13/2026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F1DE720-C36A-2EFC-0954-335249276F1A}"/>
              </a:ext>
            </a:extLst>
          </p:cNvPr>
          <p:cNvSpPr txBox="1">
            <a:spLocks/>
          </p:cNvSpPr>
          <p:nvPr userDrawn="1"/>
        </p:nvSpPr>
        <p:spPr>
          <a:xfrm>
            <a:off x="1028701" y="111639"/>
            <a:ext cx="7226780" cy="6963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pPr algn="ctr"/>
            <a:r>
              <a:rPr lang="en-US" sz="3600" dirty="0"/>
              <a:t>USAFA ASTRO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FD864A1-DC7B-C6C8-87CB-D0D681030469}"/>
              </a:ext>
            </a:extLst>
          </p:cNvPr>
          <p:cNvSpPr txBox="1">
            <a:spLocks/>
          </p:cNvSpPr>
          <p:nvPr userDrawn="1"/>
        </p:nvSpPr>
        <p:spPr>
          <a:xfrm>
            <a:off x="1143000" y="6288282"/>
            <a:ext cx="6858000" cy="5012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i="1" dirty="0"/>
              <a:t>ASTRO 331 – Space Systems Engineering</a:t>
            </a:r>
          </a:p>
        </p:txBody>
      </p:sp>
    </p:spTree>
    <p:extLst>
      <p:ext uri="{BB962C8B-B14F-4D97-AF65-F5344CB8AC3E}">
        <p14:creationId xmlns:p14="http://schemas.microsoft.com/office/powerpoint/2010/main" val="652688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D194C-E731-4CF3-8F14-16F2CEB9B5CF}" type="datetime1">
              <a:rPr lang="en-US" smtClean="0"/>
              <a:t>3/13/2026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006264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ctr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C6FCA-E440-4A17-8C6B-54B65BC400EF}" type="datetime1">
              <a:rPr lang="en-US" smtClean="0"/>
              <a:t>3/13/2026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90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EF287-72CA-49D4-A601-3B9D2E83EA05}" type="datetime1">
              <a:rPr lang="en-US" smtClean="0"/>
              <a:t>3/13/2026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566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B2832-1105-4FA1-AD49-3D1761459FB9}" type="datetime1">
              <a:rPr lang="en-US" smtClean="0"/>
              <a:t>3/13/2026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671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8DF9A-2345-4D36-85FA-49730D271487}" type="datetime1">
              <a:rPr lang="en-US" smtClean="0"/>
              <a:t>3/13/2026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501692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Astro 331 Lab #1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979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B4DED-4E37-473F-AD62-970655F2D578}" type="datetime1">
              <a:rPr lang="en-US" smtClean="0"/>
              <a:t>3/13/2026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856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4D36-2BA6-4632-B283-5D3E851C5410}" type="datetime1">
              <a:rPr lang="en-US" smtClean="0"/>
              <a:t>3/13/2026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36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9CD72-2059-40BB-BF30-AF971560729B}" type="datetime1">
              <a:rPr lang="en-US" smtClean="0"/>
              <a:t>3/13/2026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43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0F733-755F-4A68-A044-3BB7487EA333}" type="datetime1">
              <a:rPr lang="en-US" smtClean="0"/>
              <a:t>3/13/2026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221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81D12-59AE-465C-A617-7D2534E388B9}" type="datetime1">
              <a:rPr lang="en-US" smtClean="0"/>
              <a:t>3/13/2026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929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66966" y="133186"/>
            <a:ext cx="7886700" cy="6521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0025" y="1002506"/>
            <a:ext cx="8793015" cy="52275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291" y="646510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9D194C-E731-4CF3-8F14-16F2CEB9B5CF}" type="datetime1">
              <a:rPr lang="en-US" smtClean="0"/>
              <a:t>3/13/2026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40236" y="646510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2918AF-A31D-A49D-520C-D6A347912BFA}"/>
              </a:ext>
            </a:extLst>
          </p:cNvPr>
          <p:cNvSpPr txBox="1"/>
          <p:nvPr userDrawn="1"/>
        </p:nvSpPr>
        <p:spPr>
          <a:xfrm>
            <a:off x="8115301" y="72097"/>
            <a:ext cx="9704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2025 Fall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CFB5F7-9C45-8CB0-F5C4-6BF493EF4BCD}"/>
              </a:ext>
            </a:extLst>
          </p:cNvPr>
          <p:cNvSpPr/>
          <p:nvPr userDrawn="1"/>
        </p:nvSpPr>
        <p:spPr>
          <a:xfrm>
            <a:off x="46364" y="855395"/>
            <a:ext cx="9039409" cy="5961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F49DA28-CF7C-1CE3-C307-FC252DA9EBC7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6365" y="18574"/>
            <a:ext cx="734686" cy="827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01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Segoe UI" panose="020B0502040204020203" pitchFamily="34" charset="0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_7NiBD3KqkQ?start=311&amp;feature=oembed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1mkfyUHOw8s?feature=oembed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1O4PEqeXk5M?feature=oembed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udq2ZkrabrE?feature=oembed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T4PuCdtPEBc?feature=oembed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YNrz02GEQMM?feature=oembed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io3RarENz0I?feature=oembed" TargetMode="Externa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e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0E2C4-BC94-2EEF-55E0-A1575A57F5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Lesson 14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63E707-3906-1580-6A39-D3696F1203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Verification &amp; Validation</a:t>
            </a:r>
          </a:p>
        </p:txBody>
      </p:sp>
    </p:spTree>
    <p:extLst>
      <p:ext uri="{BB962C8B-B14F-4D97-AF65-F5344CB8AC3E}">
        <p14:creationId xmlns:p14="http://schemas.microsoft.com/office/powerpoint/2010/main" val="3188062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90" name="Slide Number Placeholder 5">
            <a:extLst>
              <a:ext uri="{FF2B5EF4-FFF2-40B4-BE49-F238E27FC236}">
                <a16:creationId xmlns:a16="http://schemas.microsoft.com/office/drawing/2014/main" id="{435E3D18-A595-FCD9-A242-5CB2290AA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67D6DDD-8896-452C-92D8-AB312A6958D2}" type="slidenum">
              <a:rPr lang="en-US" altLang="en-US" sz="1400"/>
              <a:pPr/>
              <a:t>2</a:t>
            </a:fld>
            <a:endParaRPr lang="en-US" altLang="en-US" sz="1400"/>
          </a:p>
        </p:txBody>
      </p:sp>
      <p:sp>
        <p:nvSpPr>
          <p:cNvPr id="370691" name="Rectangle 2">
            <a:extLst>
              <a:ext uri="{FF2B5EF4-FFF2-40B4-BE49-F238E27FC236}">
                <a16:creationId xmlns:a16="http://schemas.microsoft.com/office/drawing/2014/main" id="{99E9357C-6E27-7AC7-8F22-AA95479D12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 dirty="0"/>
              <a:t>Assembly, Integration, and Test (</a:t>
            </a:r>
            <a:r>
              <a:rPr lang="en-US" altLang="en-US" dirty="0"/>
              <a:t>AIT)</a:t>
            </a:r>
            <a:endParaRPr lang="en-US" altLang="en-US" sz="2800" dirty="0"/>
          </a:p>
        </p:txBody>
      </p:sp>
      <p:sp>
        <p:nvSpPr>
          <p:cNvPr id="370692" name="Rectangle 3">
            <a:extLst>
              <a:ext uri="{FF2B5EF4-FFF2-40B4-BE49-F238E27FC236}">
                <a16:creationId xmlns:a16="http://schemas.microsoft.com/office/drawing/2014/main" id="{C86DF8F7-D924-09B2-270C-2B9ACA2BC0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6532" y="1377344"/>
            <a:ext cx="8830936" cy="44958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en-US" b="1" dirty="0">
                <a:solidFill>
                  <a:srgbClr val="FF0000"/>
                </a:solidFill>
              </a:rPr>
              <a:t>Assembly</a:t>
            </a:r>
          </a:p>
          <a:p>
            <a:pPr marL="0" indent="0">
              <a:buNone/>
            </a:pPr>
            <a:endParaRPr lang="en-US" altLang="en-US" dirty="0">
              <a:solidFill>
                <a:schemeClr val="accent2"/>
              </a:solidFill>
            </a:endParaRPr>
          </a:p>
          <a:p>
            <a:pPr marL="0" indent="0">
              <a:buNone/>
            </a:pPr>
            <a:endParaRPr lang="en-US" altLang="en-US" dirty="0">
              <a:solidFill>
                <a:schemeClr val="accent2"/>
              </a:solidFill>
            </a:endParaRPr>
          </a:p>
          <a:p>
            <a:pPr marL="0" indent="0">
              <a:buNone/>
            </a:pPr>
            <a:endParaRPr lang="en-US" altLang="en-US" dirty="0">
              <a:solidFill>
                <a:schemeClr val="accent2"/>
              </a:solidFill>
            </a:endParaRPr>
          </a:p>
          <a:p>
            <a:pPr marL="0" indent="0">
              <a:buNone/>
            </a:pPr>
            <a:r>
              <a:rPr lang="en-US" altLang="en-US" b="1" dirty="0">
                <a:solidFill>
                  <a:srgbClr val="00B050"/>
                </a:solidFill>
              </a:rPr>
              <a:t>Integration</a:t>
            </a:r>
          </a:p>
          <a:p>
            <a:pPr marL="0" indent="0">
              <a:buNone/>
            </a:pPr>
            <a:endParaRPr lang="en-US" altLang="en-US" dirty="0">
              <a:solidFill>
                <a:schemeClr val="accent2"/>
              </a:solidFill>
            </a:endParaRPr>
          </a:p>
          <a:p>
            <a:pPr marL="0" indent="0">
              <a:buNone/>
            </a:pPr>
            <a:endParaRPr lang="en-US" altLang="en-US" dirty="0">
              <a:solidFill>
                <a:schemeClr val="accent2"/>
              </a:solidFill>
            </a:endParaRPr>
          </a:p>
          <a:p>
            <a:pPr marL="0" indent="0">
              <a:buNone/>
            </a:pPr>
            <a:endParaRPr lang="en-US" altLang="en-US" dirty="0">
              <a:solidFill>
                <a:schemeClr val="accent2"/>
              </a:solidFill>
            </a:endParaRPr>
          </a:p>
          <a:p>
            <a:pPr marL="0" indent="0">
              <a:buNone/>
            </a:pPr>
            <a:r>
              <a:rPr lang="en-US" altLang="en-US" b="1" dirty="0">
                <a:solidFill>
                  <a:srgbClr val="00B0F0"/>
                </a:solidFill>
              </a:rPr>
              <a:t>Test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714" name="Slide Number Placeholder 5">
            <a:extLst>
              <a:ext uri="{FF2B5EF4-FFF2-40B4-BE49-F238E27FC236}">
                <a16:creationId xmlns:a16="http://schemas.microsoft.com/office/drawing/2014/main" id="{3D9D63A3-9A15-05ED-39C3-632DD4077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ACBCDB1-4BFD-4BF1-A89A-64DCA5E333E4}" type="slidenum">
              <a:rPr lang="en-US" altLang="en-US" sz="1400"/>
              <a:pPr/>
              <a:t>3</a:t>
            </a:fld>
            <a:endParaRPr lang="en-US" altLang="en-US" sz="1400"/>
          </a:p>
        </p:txBody>
      </p:sp>
      <p:sp>
        <p:nvSpPr>
          <p:cNvPr id="371715" name="Rectangle 2">
            <a:extLst>
              <a:ext uri="{FF2B5EF4-FFF2-40B4-BE49-F238E27FC236}">
                <a16:creationId xmlns:a16="http://schemas.microsoft.com/office/drawing/2014/main" id="{9499E080-CA21-5E5D-6845-1D06ECB803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 altLang="en-US" sz="2800" dirty="0"/>
              <a:t>Steps in Design, Manufacturing, AIT</a:t>
            </a:r>
          </a:p>
        </p:txBody>
      </p:sp>
      <p:sp>
        <p:nvSpPr>
          <p:cNvPr id="371716" name="Rectangle 3">
            <a:extLst>
              <a:ext uri="{FF2B5EF4-FFF2-40B4-BE49-F238E27FC236}">
                <a16:creationId xmlns:a16="http://schemas.microsoft.com/office/drawing/2014/main" id="{EA394D90-88AC-CCD5-7DE9-01CCF6EDAD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1" y="1100138"/>
            <a:ext cx="8386762" cy="536496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altLang="en-US" dirty="0"/>
              <a:t>Prepare Engineering Data</a:t>
            </a:r>
          </a:p>
          <a:p>
            <a:pPr lvl="1"/>
            <a:r>
              <a:rPr lang="en-US" altLang="en-US" dirty="0"/>
              <a:t>ICDs, Specifications, drawings, schematics, processes needed to fabricate a part or component </a:t>
            </a:r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Fabrication/Manufacturing</a:t>
            </a:r>
          </a:p>
          <a:p>
            <a:pPr lvl="1"/>
            <a:r>
              <a:rPr lang="en-US" altLang="en-US" dirty="0"/>
              <a:t>Turn Engineering Data into a part or component</a:t>
            </a:r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Develop assembly, testing procedures</a:t>
            </a:r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Assemble parts into components</a:t>
            </a:r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Assemble components into assemblies</a:t>
            </a:r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Integrate assemblies to create whole S/C</a:t>
            </a:r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Verification/Testing</a:t>
            </a:r>
          </a:p>
          <a:p>
            <a:pPr lvl="1"/>
            <a:r>
              <a:rPr lang="en-US" altLang="en-US" dirty="0"/>
              <a:t>Done throughout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17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717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717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717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717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7171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7171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171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256" y="0"/>
            <a:ext cx="7746093" cy="856343"/>
          </a:xfrm>
        </p:spPr>
        <p:txBody>
          <a:bodyPr>
            <a:normAutofit/>
          </a:bodyPr>
          <a:lstStyle/>
          <a:p>
            <a:r>
              <a:rPr lang="en-US" sz="4000" dirty="0"/>
              <a:t>Requirements </a:t>
            </a:r>
            <a:r>
              <a:rPr lang="en-US" sz="4000" dirty="0" err="1"/>
              <a:t>Flowdown</a:t>
            </a:r>
            <a:endParaRPr lang="en-US" sz="40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952" y="1009374"/>
            <a:ext cx="7889397" cy="5499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632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Systems Engineering “V” Model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626" y="1764319"/>
            <a:ext cx="8264748" cy="4595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2930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278" y="1186996"/>
            <a:ext cx="8502387" cy="5431518"/>
          </a:xfrm>
        </p:spPr>
        <p:txBody>
          <a:bodyPr>
            <a:normAutofit lnSpcReduction="10000"/>
          </a:bodyPr>
          <a:lstStyle/>
          <a:p>
            <a:pPr marL="0" lvl="0" indent="0" fontAlgn="base">
              <a:buNone/>
            </a:pPr>
            <a:r>
              <a:rPr lang="en-US" b="1" dirty="0">
                <a:solidFill>
                  <a:srgbClr val="FF0000"/>
                </a:solidFill>
              </a:rPr>
              <a:t>Verification</a:t>
            </a:r>
            <a:r>
              <a:rPr lang="en-US" dirty="0">
                <a:solidFill>
                  <a:srgbClr val="FF0000"/>
                </a:solidFill>
              </a:rPr>
              <a:t>: process that proves that a realized product conforms to its requirements</a:t>
            </a:r>
            <a:endParaRPr lang="en-US" sz="2400" dirty="0">
              <a:solidFill>
                <a:srgbClr val="FF0000"/>
              </a:solidFill>
            </a:endParaRPr>
          </a:p>
          <a:p>
            <a:pPr lvl="1" fontAlgn="base"/>
            <a:r>
              <a:rPr lang="en-US" dirty="0">
                <a:solidFill>
                  <a:srgbClr val="FF0000"/>
                </a:solidFill>
              </a:rPr>
              <a:t>Asks the question:</a:t>
            </a:r>
            <a:r>
              <a:rPr lang="en-US" i="1" dirty="0">
                <a:solidFill>
                  <a:srgbClr val="FF0000"/>
                </a:solidFill>
              </a:rPr>
              <a:t> “Did we build the </a:t>
            </a:r>
            <a:r>
              <a:rPr lang="en-US" i="1" u="sng" dirty="0">
                <a:solidFill>
                  <a:srgbClr val="FF0000"/>
                </a:solidFill>
              </a:rPr>
              <a:t>thing right</a:t>
            </a:r>
            <a:r>
              <a:rPr lang="en-US" i="1" dirty="0">
                <a:solidFill>
                  <a:srgbClr val="FF0000"/>
                </a:solidFill>
              </a:rPr>
              <a:t>?”</a:t>
            </a:r>
            <a:endParaRPr lang="en-US" sz="2200" i="1" dirty="0">
              <a:solidFill>
                <a:srgbClr val="FF0000"/>
              </a:solidFill>
            </a:endParaRPr>
          </a:p>
          <a:p>
            <a:pPr marL="0" lvl="0" indent="0" fontAlgn="base">
              <a:buNone/>
            </a:pPr>
            <a:endParaRPr lang="en-US" b="1" dirty="0"/>
          </a:p>
          <a:p>
            <a:pPr marL="0" lvl="0" indent="0" fontAlgn="base">
              <a:buNone/>
            </a:pPr>
            <a:r>
              <a:rPr lang="en-US" b="1" dirty="0">
                <a:solidFill>
                  <a:srgbClr val="00B0F0"/>
                </a:solidFill>
              </a:rPr>
              <a:t>Validation</a:t>
            </a:r>
            <a:r>
              <a:rPr lang="en-US" dirty="0">
                <a:solidFill>
                  <a:srgbClr val="00B0F0"/>
                </a:solidFill>
              </a:rPr>
              <a:t>: process that confirms that the realized end products conform to stakeholder expectations </a:t>
            </a:r>
            <a:endParaRPr lang="en-US" sz="2400" dirty="0">
              <a:solidFill>
                <a:srgbClr val="00B0F0"/>
              </a:solidFill>
            </a:endParaRPr>
          </a:p>
          <a:p>
            <a:pPr lvl="1" fontAlgn="base"/>
            <a:r>
              <a:rPr lang="en-US" dirty="0">
                <a:solidFill>
                  <a:srgbClr val="00B0F0"/>
                </a:solidFill>
              </a:rPr>
              <a:t>Asks the question: </a:t>
            </a:r>
            <a:r>
              <a:rPr lang="en-US" i="1" dirty="0">
                <a:solidFill>
                  <a:srgbClr val="00B0F0"/>
                </a:solidFill>
              </a:rPr>
              <a:t>“Did we build the </a:t>
            </a:r>
            <a:r>
              <a:rPr lang="en-US" i="1" u="sng" dirty="0">
                <a:solidFill>
                  <a:srgbClr val="00B0F0"/>
                </a:solidFill>
              </a:rPr>
              <a:t>right thing</a:t>
            </a:r>
            <a:r>
              <a:rPr lang="en-US" i="1" dirty="0">
                <a:solidFill>
                  <a:srgbClr val="00B0F0"/>
                </a:solidFill>
              </a:rPr>
              <a:t>?”</a:t>
            </a:r>
            <a:endParaRPr lang="en-US" sz="2200" i="1" dirty="0">
              <a:solidFill>
                <a:srgbClr val="00B0F0"/>
              </a:solidFill>
            </a:endParaRPr>
          </a:p>
          <a:p>
            <a:pPr marL="0" lvl="0" indent="0" fontAlgn="base">
              <a:buNone/>
            </a:pPr>
            <a:endParaRPr lang="en-US" dirty="0"/>
          </a:p>
          <a:p>
            <a:pPr marL="0" lvl="0" indent="0" fontAlgn="base">
              <a:buNone/>
            </a:pPr>
            <a:r>
              <a:rPr lang="en-US" u="sng" dirty="0"/>
              <a:t>Key Differences:</a:t>
            </a:r>
            <a:endParaRPr lang="en-US" sz="2400" u="sng" dirty="0"/>
          </a:p>
          <a:p>
            <a:pPr lvl="1" fontAlgn="base"/>
            <a:r>
              <a:rPr lang="en-US" dirty="0">
                <a:solidFill>
                  <a:srgbClr val="FF0000"/>
                </a:solidFill>
              </a:rPr>
              <a:t>Verification</a:t>
            </a:r>
            <a:r>
              <a:rPr lang="en-US" dirty="0"/>
              <a:t> derives test standards from requirements document</a:t>
            </a:r>
            <a:endParaRPr lang="en-US" sz="2200" dirty="0"/>
          </a:p>
          <a:p>
            <a:pPr lvl="1" fontAlgn="base"/>
            <a:r>
              <a:rPr lang="en-US" dirty="0">
                <a:solidFill>
                  <a:srgbClr val="00B0F0"/>
                </a:solidFill>
              </a:rPr>
              <a:t>Validation</a:t>
            </a:r>
            <a:r>
              <a:rPr lang="en-US" dirty="0"/>
              <a:t> derives test standards from CONOPS document</a:t>
            </a:r>
            <a:endParaRPr lang="en-US" sz="22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6011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Verification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Objective</a:t>
            </a:r>
            <a:r>
              <a:rPr lang="en-US" dirty="0">
                <a:solidFill>
                  <a:srgbClr val="FF0000"/>
                </a:solidFill>
              </a:rPr>
              <a:t>: to generate evidence necessary to confirm that end products, from the lowest level of the system structure to the highest, conform to the specified requirements.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Key Outputs: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Discrepancy reports and identified corrective actions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Verified product to validation or integration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Verification report and any required updates to requirements/compliance documentation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Success criteria: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Documented </a:t>
            </a:r>
            <a:r>
              <a:rPr lang="en-US" u="sng" dirty="0">
                <a:solidFill>
                  <a:srgbClr val="FF0000"/>
                </a:solidFill>
              </a:rPr>
              <a:t>objective</a:t>
            </a:r>
            <a:r>
              <a:rPr lang="en-US" dirty="0">
                <a:solidFill>
                  <a:srgbClr val="FF0000"/>
                </a:solidFill>
              </a:rPr>
              <a:t> evidence of compliance (or waiver, as appropriate) of each requirement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Closure of all discrepancy reports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5483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Verification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229" y="1146629"/>
            <a:ext cx="8521437" cy="538479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u="sng" dirty="0">
                <a:solidFill>
                  <a:srgbClr val="FF0000"/>
                </a:solidFill>
              </a:rPr>
              <a:t>Four verification methods:</a:t>
            </a:r>
            <a:endParaRPr lang="en-US" sz="2400" b="1" u="sng" dirty="0">
              <a:solidFill>
                <a:srgbClr val="FF0000"/>
              </a:solidFill>
            </a:endParaRPr>
          </a:p>
          <a:p>
            <a:pPr marL="457200" lvl="1" indent="0" fontAlgn="base">
              <a:buNone/>
            </a:pPr>
            <a:r>
              <a:rPr lang="en-US" b="1" dirty="0">
                <a:solidFill>
                  <a:srgbClr val="FF0000"/>
                </a:solidFill>
              </a:rPr>
              <a:t>Demonstration</a:t>
            </a:r>
            <a:r>
              <a:rPr lang="en-US" dirty="0">
                <a:solidFill>
                  <a:srgbClr val="FF0000"/>
                </a:solidFill>
              </a:rPr>
              <a:t>: showing that use of product achieves requirement</a:t>
            </a:r>
            <a:endParaRPr lang="en-US" sz="2000" dirty="0">
              <a:solidFill>
                <a:srgbClr val="FF0000"/>
              </a:solidFill>
            </a:endParaRPr>
          </a:p>
          <a:p>
            <a:pPr lvl="2" fontAlgn="base"/>
            <a:r>
              <a:rPr lang="en-US" dirty="0">
                <a:solidFill>
                  <a:srgbClr val="FF0000"/>
                </a:solidFill>
              </a:rPr>
              <a:t>Used for requirements that do not require intense data gathering (“shall be able to rotate 90 degrees”)</a:t>
            </a:r>
            <a:endParaRPr lang="en-US" b="1" dirty="0">
              <a:solidFill>
                <a:srgbClr val="FF0000"/>
              </a:solidFill>
            </a:endParaRPr>
          </a:p>
          <a:p>
            <a:pPr marL="457200" lvl="1" indent="0" fontAlgn="base">
              <a:buNone/>
            </a:pPr>
            <a:r>
              <a:rPr lang="en-US" b="1" dirty="0">
                <a:solidFill>
                  <a:srgbClr val="FF0000"/>
                </a:solidFill>
              </a:rPr>
              <a:t>Test</a:t>
            </a:r>
            <a:r>
              <a:rPr lang="en-US" dirty="0">
                <a:solidFill>
                  <a:srgbClr val="FF0000"/>
                </a:solidFill>
              </a:rPr>
              <a:t>: obtaining detailed performance data</a:t>
            </a:r>
            <a:endParaRPr lang="en-US" sz="2000" dirty="0">
              <a:solidFill>
                <a:srgbClr val="FF0000"/>
              </a:solidFill>
            </a:endParaRPr>
          </a:p>
          <a:p>
            <a:pPr lvl="2" fontAlgn="base"/>
            <a:r>
              <a:rPr lang="en-US" dirty="0">
                <a:solidFill>
                  <a:srgbClr val="FF0000"/>
                </a:solidFill>
              </a:rPr>
              <a:t>Most requirements </a:t>
            </a:r>
            <a:endParaRPr lang="en-US" b="1" dirty="0">
              <a:solidFill>
                <a:srgbClr val="FF0000"/>
              </a:solidFill>
            </a:endParaRPr>
          </a:p>
          <a:p>
            <a:pPr marL="457200" lvl="1" indent="0" fontAlgn="base">
              <a:buNone/>
            </a:pPr>
            <a:r>
              <a:rPr lang="en-US" b="1" dirty="0">
                <a:solidFill>
                  <a:srgbClr val="FF0000"/>
                </a:solidFill>
              </a:rPr>
              <a:t>Analysis</a:t>
            </a:r>
            <a:r>
              <a:rPr lang="en-US" dirty="0">
                <a:solidFill>
                  <a:srgbClr val="FF0000"/>
                </a:solidFill>
              </a:rPr>
              <a:t>: use of modeling &amp; simulation</a:t>
            </a:r>
            <a:endParaRPr lang="en-US" sz="2000" dirty="0">
              <a:solidFill>
                <a:srgbClr val="FF0000"/>
              </a:solidFill>
            </a:endParaRPr>
          </a:p>
          <a:p>
            <a:pPr lvl="2" fontAlgn="base"/>
            <a:r>
              <a:rPr lang="en-US" dirty="0">
                <a:solidFill>
                  <a:srgbClr val="FF0000"/>
                </a:solidFill>
              </a:rPr>
              <a:t>Often used for ADCS, Structures and TCS</a:t>
            </a:r>
            <a:endParaRPr lang="en-US" sz="1800" dirty="0">
              <a:solidFill>
                <a:srgbClr val="FF0000"/>
              </a:solidFill>
            </a:endParaRPr>
          </a:p>
          <a:p>
            <a:pPr marL="457200" lvl="1" indent="0" fontAlgn="base">
              <a:buNone/>
            </a:pPr>
            <a:r>
              <a:rPr lang="en-US" b="1" dirty="0">
                <a:solidFill>
                  <a:srgbClr val="FF0000"/>
                </a:solidFill>
              </a:rPr>
              <a:t>Inspection</a:t>
            </a:r>
            <a:r>
              <a:rPr lang="en-US" dirty="0">
                <a:solidFill>
                  <a:srgbClr val="FF0000"/>
                </a:solidFill>
              </a:rPr>
              <a:t>: e.g. visual examination</a:t>
            </a:r>
            <a:endParaRPr lang="en-US" sz="2000" dirty="0">
              <a:solidFill>
                <a:srgbClr val="FF0000"/>
              </a:solidFill>
            </a:endParaRPr>
          </a:p>
          <a:p>
            <a:pPr lvl="2" fontAlgn="base"/>
            <a:r>
              <a:rPr lang="en-US" dirty="0">
                <a:solidFill>
                  <a:srgbClr val="FF0000"/>
                </a:solidFill>
              </a:rPr>
              <a:t>Used to verify simple requirements (“shall have an RBF tag”)</a:t>
            </a:r>
            <a:endParaRPr lang="en-US" sz="1800" dirty="0">
              <a:solidFill>
                <a:srgbClr val="FF0000"/>
              </a:solidFill>
            </a:endParaRPr>
          </a:p>
          <a:p>
            <a:pPr lvl="2" fontAlgn="base"/>
            <a:endParaRPr lang="en-US" sz="18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2600" dirty="0">
                <a:solidFill>
                  <a:srgbClr val="FF0000"/>
                </a:solidFill>
              </a:rPr>
              <a:t>*Can use a combination of verification methods to verify a requirement</a:t>
            </a:r>
            <a:endParaRPr lang="en-US" sz="2200" dirty="0">
              <a:solidFill>
                <a:srgbClr val="FF0000"/>
              </a:solidFill>
            </a:endParaRPr>
          </a:p>
          <a:p>
            <a:pPr lvl="1"/>
            <a:r>
              <a:rPr lang="en-US" sz="2200" dirty="0" err="1">
                <a:solidFill>
                  <a:srgbClr val="FF0000"/>
                </a:solidFill>
              </a:rPr>
              <a:t>eg</a:t>
            </a:r>
            <a:r>
              <a:rPr lang="en-US" sz="2200" dirty="0">
                <a:solidFill>
                  <a:srgbClr val="FF0000"/>
                </a:solidFill>
              </a:rPr>
              <a:t>: Structures performs static loading, vibe and acoustic tests and then correlates those results back to detailed models</a:t>
            </a:r>
            <a:endParaRPr lang="en-US" sz="1900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2466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928" y="188429"/>
            <a:ext cx="7602877" cy="6481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2637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of the Verification Process (1/2)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458057" y="1036954"/>
          <a:ext cx="8227886" cy="54895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9040">
                  <a:extLst>
                    <a:ext uri="{9D8B030D-6E8A-4147-A177-3AD203B41FA5}">
                      <a16:colId xmlns:a16="http://schemas.microsoft.com/office/drawing/2014/main" val="2360215815"/>
                    </a:ext>
                  </a:extLst>
                </a:gridCol>
                <a:gridCol w="6318846">
                  <a:extLst>
                    <a:ext uri="{9D8B030D-6E8A-4147-A177-3AD203B41FA5}">
                      <a16:colId xmlns:a16="http://schemas.microsoft.com/office/drawing/2014/main" val="62472079"/>
                    </a:ext>
                  </a:extLst>
                </a:gridCol>
              </a:tblGrid>
              <a:tr h="517083">
                <a:tc>
                  <a:txBody>
                    <a:bodyPr/>
                    <a:lstStyle/>
                    <a:p>
                      <a:r>
                        <a:rPr lang="en-US" dirty="0"/>
                        <a:t>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Outcomes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9719351"/>
                  </a:ext>
                </a:extLst>
              </a:tr>
              <a:tr h="242249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1. 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Verification Planning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- </a:t>
                      </a:r>
                      <a:r>
                        <a:rPr lang="en-US" sz="18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Verification method(s) for each requirement is/are selected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- </a:t>
                      </a:r>
                      <a:r>
                        <a:rPr lang="en-US" sz="18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Procedures for each type of verification are written &amp; success criteria is clear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- </a:t>
                      </a:r>
                      <a:r>
                        <a:rPr lang="en-US" sz="18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Facilities/test equipment are available (vibe table, TVAC chamber, etc.)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0515598"/>
                  </a:ext>
                </a:extLst>
              </a:tr>
              <a:tr h="1274998">
                <a:tc>
                  <a:txBody>
                    <a:bodyPr/>
                    <a:lstStyle/>
                    <a:p>
                      <a:r>
                        <a:rPr lang="en-US" dirty="0"/>
                        <a:t>2. Verification Preparation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- </a:t>
                      </a:r>
                      <a:r>
                        <a:rPr lang="en-US" sz="18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Requirements for the product are identified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- </a:t>
                      </a:r>
                      <a:r>
                        <a:rPr lang="en-US" sz="18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Test articles are identified and ready (don’t always test flight unit, can test engineering units)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6638611"/>
                  </a:ext>
                </a:extLst>
              </a:tr>
              <a:tr h="1274998">
                <a:tc>
                  <a:txBody>
                    <a:bodyPr/>
                    <a:lstStyle/>
                    <a:p>
                      <a:r>
                        <a:rPr lang="en-US" dirty="0"/>
                        <a:t>3. Conduct Verification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- </a:t>
                      </a:r>
                      <a:r>
                        <a:rPr lang="en-US" sz="18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Verification data is collected for each requirement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- </a:t>
                      </a:r>
                      <a:r>
                        <a:rPr lang="en-US" sz="18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(Initial) determination about whether the product meets all requirements (may require further analysis to be sure)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66634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34313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of the Verification Process (2/2)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628650" y="1059814"/>
          <a:ext cx="7886700" cy="55352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9878">
                  <a:extLst>
                    <a:ext uri="{9D8B030D-6E8A-4147-A177-3AD203B41FA5}">
                      <a16:colId xmlns:a16="http://schemas.microsoft.com/office/drawing/2014/main" val="2360215815"/>
                    </a:ext>
                  </a:extLst>
                </a:gridCol>
                <a:gridCol w="6056822">
                  <a:extLst>
                    <a:ext uri="{9D8B030D-6E8A-4147-A177-3AD203B41FA5}">
                      <a16:colId xmlns:a16="http://schemas.microsoft.com/office/drawing/2014/main" val="62472079"/>
                    </a:ext>
                  </a:extLst>
                </a:gridCol>
              </a:tblGrid>
              <a:tr h="467141">
                <a:tc>
                  <a:txBody>
                    <a:bodyPr/>
                    <a:lstStyle/>
                    <a:p>
                      <a:r>
                        <a:rPr lang="en-US" dirty="0"/>
                        <a:t>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Outcomes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9719351"/>
                  </a:ext>
                </a:extLst>
              </a:tr>
              <a:tr h="14974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4. 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Analyze Verification Results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- </a:t>
                      </a:r>
                      <a:r>
                        <a:rPr lang="en-US" sz="18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Anomalies or out-of-compliance conditions identified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- </a:t>
                      </a:r>
                      <a:r>
                        <a:rPr lang="en-US" sz="18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Determination on discrepancies (waiver, re-test, re-work, etc.)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-</a:t>
                      </a:r>
                      <a:r>
                        <a:rPr lang="en-US" sz="18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Corrective actions (as required)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0515598"/>
                  </a:ext>
                </a:extLst>
              </a:tr>
              <a:tr h="3570745">
                <a:tc>
                  <a:txBody>
                    <a:bodyPr/>
                    <a:lstStyle/>
                    <a:p>
                      <a:r>
                        <a:rPr lang="en-US" dirty="0"/>
                        <a:t>5. Capture Verification Work Products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- </a:t>
                      </a:r>
                      <a:r>
                        <a:rPr lang="en-US" sz="18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Verification report is developed and includes: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8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Assumptions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8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Set</a:t>
                      </a:r>
                      <a:r>
                        <a:rPr lang="en-US" sz="1800" u="none" strike="noStrike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of requirements to be verified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800" u="none" strike="noStrike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Test description, details on test configuration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800" u="none" strike="noStrike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Test data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800" u="none" strike="noStrike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Results of each requirement verification, including pass/fail adjudication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800" u="none" strike="noStrike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Comments on anomalies, corrective actions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800" u="none" strike="noStrike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Lessons learned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800" u="none" strike="noStrike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sz="18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Complete any other supporting documentation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66386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58610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42F1727-9E97-2F35-0E34-4A29E43C7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D6B0219-B665-B2D5-EDE4-B8D8194DE6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626553-32F5-FF29-681B-8C19D1EE0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5875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E5008A5-B528-983C-A06C-A7AC79A22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DE8755-7194-5B42-B673-AD29AFD284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Engineering Model / Test Unit</a:t>
            </a:r>
            <a:r>
              <a:rPr lang="en-US" dirty="0"/>
              <a:t>: representative, testable version of hardware.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Flight Unit</a:t>
            </a:r>
            <a:r>
              <a:rPr lang="en-US" dirty="0"/>
              <a:t>: Hardware that flies.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8288D5-1003-C2D7-A68D-8F79F9C34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9717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Levels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481" y="1115584"/>
            <a:ext cx="8301037" cy="5239627"/>
          </a:xfrm>
        </p:spPr>
        <p:txBody>
          <a:bodyPr>
            <a:noAutofit/>
          </a:bodyPr>
          <a:lstStyle/>
          <a:p>
            <a:pPr marL="0" lvl="0" indent="0" algn="ctr" fontAlgn="base">
              <a:buNone/>
            </a:pPr>
            <a:r>
              <a:rPr lang="en-US" sz="3600" b="1" dirty="0"/>
              <a:t>Unit Test</a:t>
            </a:r>
            <a:endParaRPr lang="en-US" dirty="0"/>
          </a:p>
          <a:p>
            <a:pPr marL="0" lvl="0" indent="0" algn="ctr" fontAlgn="base">
              <a:buNone/>
            </a:pPr>
            <a:endParaRPr lang="en-US" sz="3600" b="1" dirty="0"/>
          </a:p>
          <a:p>
            <a:pPr marL="0" lvl="0" indent="0" algn="ctr" fontAlgn="base">
              <a:buNone/>
            </a:pPr>
            <a:endParaRPr lang="en-US" sz="3600" b="1" dirty="0"/>
          </a:p>
          <a:p>
            <a:pPr marL="0" lvl="0" indent="0" algn="ctr" fontAlgn="base">
              <a:buNone/>
            </a:pPr>
            <a:endParaRPr lang="en-US" sz="3600" b="1" dirty="0"/>
          </a:p>
          <a:p>
            <a:pPr marL="0" lvl="0" indent="0" algn="ctr" fontAlgn="base">
              <a:buNone/>
            </a:pPr>
            <a:r>
              <a:rPr lang="en-US" sz="3600" b="1" dirty="0"/>
              <a:t>Subsystem Test</a:t>
            </a:r>
          </a:p>
          <a:p>
            <a:pPr marL="0" lvl="0" indent="0" algn="ctr" fontAlgn="base">
              <a:buNone/>
            </a:pPr>
            <a:endParaRPr lang="en-US" sz="3600" b="1" dirty="0"/>
          </a:p>
          <a:p>
            <a:pPr marL="0" lvl="0" indent="0" algn="ctr" fontAlgn="base">
              <a:buNone/>
            </a:pPr>
            <a:endParaRPr lang="en-US" sz="3600" b="1" dirty="0"/>
          </a:p>
          <a:p>
            <a:pPr marL="0" lvl="0" indent="0" algn="ctr" fontAlgn="base">
              <a:buNone/>
            </a:pPr>
            <a:endParaRPr lang="en-US" sz="3600" b="1" dirty="0"/>
          </a:p>
          <a:p>
            <a:pPr marL="0" lvl="0" indent="0" algn="ctr" fontAlgn="base">
              <a:buNone/>
            </a:pPr>
            <a:r>
              <a:rPr lang="en-US" sz="3600" b="1" dirty="0"/>
              <a:t>Vehicle Test</a:t>
            </a:r>
            <a:endParaRPr lang="en-US" sz="3600" dirty="0"/>
          </a:p>
        </p:txBody>
      </p:sp>
      <p:sp>
        <p:nvSpPr>
          <p:cNvPr id="4" name="Arrow: Striped Right 3">
            <a:extLst>
              <a:ext uri="{FF2B5EF4-FFF2-40B4-BE49-F238E27FC236}">
                <a16:creationId xmlns:a16="http://schemas.microsoft.com/office/drawing/2014/main" id="{91F6F320-E85B-090C-159B-88267373FDD8}"/>
              </a:ext>
            </a:extLst>
          </p:cNvPr>
          <p:cNvSpPr/>
          <p:nvPr/>
        </p:nvSpPr>
        <p:spPr>
          <a:xfrm rot="5400000">
            <a:off x="3553620" y="2088889"/>
            <a:ext cx="1567122" cy="1113103"/>
          </a:xfrm>
          <a:prstGeom prst="striped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Arrow: Striped Right 4">
            <a:extLst>
              <a:ext uri="{FF2B5EF4-FFF2-40B4-BE49-F238E27FC236}">
                <a16:creationId xmlns:a16="http://schemas.microsoft.com/office/drawing/2014/main" id="{8D28A255-A5AA-5370-0173-6916D7F4C201}"/>
              </a:ext>
            </a:extLst>
          </p:cNvPr>
          <p:cNvSpPr/>
          <p:nvPr/>
        </p:nvSpPr>
        <p:spPr>
          <a:xfrm rot="5400000">
            <a:off x="3544959" y="4591350"/>
            <a:ext cx="1584444" cy="1113103"/>
          </a:xfrm>
          <a:prstGeom prst="striped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304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Categories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5738" y="1114424"/>
            <a:ext cx="8843962" cy="5472114"/>
          </a:xfrm>
        </p:spPr>
        <p:txBody>
          <a:bodyPr>
            <a:normAutofit fontScale="62500" lnSpcReduction="20000"/>
          </a:bodyPr>
          <a:lstStyle/>
          <a:p>
            <a:pPr marL="0" lvl="0" indent="0" fontAlgn="base">
              <a:buNone/>
            </a:pPr>
            <a:r>
              <a:rPr lang="en-US" b="1" dirty="0"/>
              <a:t>Functional: </a:t>
            </a:r>
            <a:r>
              <a:rPr lang="en-US" dirty="0"/>
              <a:t>demonstrates all functional capabilities expected from an article (unit, subsystem, vehicle); </a:t>
            </a:r>
            <a:r>
              <a:rPr lang="en-US" dirty="0" err="1"/>
              <a:t>ie</a:t>
            </a:r>
            <a:r>
              <a:rPr lang="en-US" dirty="0"/>
              <a:t>, gives expected telemetry, receives expected commands, etc.</a:t>
            </a:r>
          </a:p>
          <a:p>
            <a:pPr marL="0" lvl="0" indent="0" fontAlgn="base">
              <a:buNone/>
            </a:pPr>
            <a:endParaRPr lang="en-US" sz="2400" dirty="0"/>
          </a:p>
          <a:p>
            <a:pPr marL="0" lvl="0" indent="0" fontAlgn="base">
              <a:buNone/>
            </a:pPr>
            <a:r>
              <a:rPr lang="en-US" b="1" dirty="0"/>
              <a:t>Acceptance: </a:t>
            </a:r>
            <a:r>
              <a:rPr lang="en-US" dirty="0"/>
              <a:t>demonstrates acceptability of each deliverable item to meet performance specification and demonstrate error-free </a:t>
            </a:r>
            <a:r>
              <a:rPr lang="en-US" dirty="0">
                <a:solidFill>
                  <a:srgbClr val="FF0000"/>
                </a:solidFill>
              </a:rPr>
              <a:t>workmanship</a:t>
            </a:r>
            <a:r>
              <a:rPr lang="en-US" dirty="0"/>
              <a:t> in manufacturing</a:t>
            </a:r>
            <a:endParaRPr lang="en-US" sz="2400" dirty="0"/>
          </a:p>
          <a:p>
            <a:pPr lvl="1" fontAlgn="base"/>
            <a:r>
              <a:rPr lang="en-US" b="1" u="sng" dirty="0"/>
              <a:t>Lowest test level, required by all flight items </a:t>
            </a:r>
            <a:endParaRPr lang="en-US" sz="2200" b="1" u="sng" dirty="0"/>
          </a:p>
          <a:p>
            <a:pPr lvl="1" fontAlgn="base"/>
            <a:r>
              <a:rPr lang="en-US" dirty="0"/>
              <a:t>Meets all requirements over expected ranges (temperatures, stress,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pPr lvl="1" fontAlgn="base"/>
            <a:endParaRPr lang="en-US" sz="2200" dirty="0"/>
          </a:p>
          <a:p>
            <a:pPr marL="0" lvl="0" indent="0" fontAlgn="base">
              <a:buNone/>
            </a:pPr>
            <a:r>
              <a:rPr lang="en-US" b="1" dirty="0"/>
              <a:t>Qualification: </a:t>
            </a:r>
            <a:r>
              <a:rPr lang="en-US" dirty="0"/>
              <a:t>demonstrates that the </a:t>
            </a:r>
            <a:r>
              <a:rPr lang="en-US" dirty="0">
                <a:solidFill>
                  <a:srgbClr val="FF0000"/>
                </a:solidFill>
              </a:rPr>
              <a:t>design</a:t>
            </a:r>
            <a:r>
              <a:rPr lang="en-US" dirty="0"/>
              <a:t>, manufacturing process and acceptance program produce hardware/software that meet specification requirements with adequate margin</a:t>
            </a:r>
            <a:endParaRPr lang="en-US" sz="2400" dirty="0"/>
          </a:p>
          <a:p>
            <a:pPr lvl="1" fontAlgn="base"/>
            <a:r>
              <a:rPr lang="en-US" b="1" u="sng" dirty="0"/>
              <a:t>Most stringent test level</a:t>
            </a:r>
            <a:r>
              <a:rPr lang="en-US" dirty="0"/>
              <a:t>, ensures that units will remain flight-worthy after surviving multiple acceptance tests</a:t>
            </a:r>
            <a:endParaRPr lang="en-US" sz="2200" dirty="0"/>
          </a:p>
          <a:p>
            <a:pPr lvl="1" fontAlgn="base"/>
            <a:r>
              <a:rPr lang="en-US" dirty="0"/>
              <a:t>Meets all requirements beyond expected ranges, intended to stress items</a:t>
            </a:r>
            <a:endParaRPr lang="en-US" sz="2200" dirty="0"/>
          </a:p>
          <a:p>
            <a:pPr lvl="1" fontAlgn="base"/>
            <a:r>
              <a:rPr lang="en-US" b="1" u="sng" dirty="0"/>
              <a:t>Typically performed on test units</a:t>
            </a:r>
            <a:r>
              <a:rPr lang="en-US" dirty="0"/>
              <a:t>, rather than flight units</a:t>
            </a:r>
          </a:p>
          <a:p>
            <a:pPr lvl="1" fontAlgn="base"/>
            <a:endParaRPr lang="en-US" sz="2200" dirty="0"/>
          </a:p>
          <a:p>
            <a:pPr marL="0" lvl="0" indent="0" fontAlgn="base">
              <a:buNone/>
            </a:pPr>
            <a:r>
              <a:rPr lang="en-US" b="1" dirty="0" err="1"/>
              <a:t>Protoqualification</a:t>
            </a:r>
            <a:r>
              <a:rPr lang="en-US" b="1" dirty="0"/>
              <a:t>: </a:t>
            </a:r>
            <a:r>
              <a:rPr lang="en-US" dirty="0"/>
              <a:t>hybrid of qualification and acceptance testing; applies reduced qualification-level testing to hardware</a:t>
            </a:r>
            <a:endParaRPr lang="en-US" sz="2400" dirty="0"/>
          </a:p>
          <a:p>
            <a:pPr lvl="1" fontAlgn="base"/>
            <a:r>
              <a:rPr lang="en-US" dirty="0"/>
              <a:t>Middle test level, would replace qualification</a:t>
            </a:r>
            <a:endParaRPr lang="en-US" sz="2200" dirty="0"/>
          </a:p>
          <a:p>
            <a:pPr lvl="1" fontAlgn="base"/>
            <a:r>
              <a:rPr lang="en-US" b="1" dirty="0"/>
              <a:t>Uses flight units for testing</a:t>
            </a:r>
            <a:endParaRPr lang="en-US" sz="2200" b="1" dirty="0"/>
          </a:p>
          <a:p>
            <a:pPr lvl="1" fontAlgn="base"/>
            <a:r>
              <a:rPr lang="en-US" dirty="0"/>
              <a:t>Compromise for qualification testing, when it is not practical/affordable to have a full engineering model to qualification test</a:t>
            </a:r>
            <a:endParaRPr lang="en-US" sz="2200" dirty="0"/>
          </a:p>
          <a:p>
            <a:pPr lvl="1" fontAlgn="base"/>
            <a:r>
              <a:rPr lang="en-US" dirty="0"/>
              <a:t>First unit is put through </a:t>
            </a:r>
            <a:r>
              <a:rPr lang="en-US" dirty="0" err="1"/>
              <a:t>protoqualification</a:t>
            </a:r>
            <a:r>
              <a:rPr lang="en-US" dirty="0"/>
              <a:t> test levels, subsequent vehicles are just acceptance tested (sometimes called “qualification by similarity”)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174485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B2392-989C-5F0D-E7B3-2C608DB29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Life of a 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3E0CAC-6EE6-BF5B-4FC7-C18164A799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u="sng" dirty="0"/>
              <a:t>Common milestones of a test campaign: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b="1" dirty="0"/>
              <a:t>Test planning and preparation</a:t>
            </a:r>
          </a:p>
          <a:p>
            <a:pPr lvl="1">
              <a:lnSpc>
                <a:spcPct val="160000"/>
              </a:lnSpc>
            </a:pPr>
            <a:r>
              <a:rPr lang="en-US" dirty="0"/>
              <a:t>Kickoff meeting, Test Concept Review (TCR), Test Design Review (TDR)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b="1" dirty="0"/>
              <a:t>Test Readiness Review (TRR)</a:t>
            </a:r>
          </a:p>
          <a:p>
            <a:pPr lvl="1">
              <a:lnSpc>
                <a:spcPct val="160000"/>
              </a:lnSpc>
            </a:pPr>
            <a:r>
              <a:rPr lang="en-US" dirty="0"/>
              <a:t>Formal checkpoint to confirm that the test setup, hardware, and personnel are ready to proceed safely and correctly.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b="1" dirty="0"/>
              <a:t>Test Execution</a:t>
            </a:r>
            <a:endParaRPr lang="en-US" b="1" dirty="0">
              <a:solidFill>
                <a:srgbClr val="FFFFFF"/>
              </a:solidFill>
              <a:latin typeface="ui-sans-serif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en-US" b="1" dirty="0"/>
              <a:t>Analysis / Test Report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b="1" dirty="0"/>
              <a:t>Anomaly Resolution &amp; Re-Test (if needed)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b="1" dirty="0"/>
              <a:t>Closeout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All test results reviewed and approved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5F2E2C-8A1D-A921-A043-158CCA0AB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782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Test Types</a:t>
            </a:r>
          </a:p>
        </p:txBody>
      </p:sp>
    </p:spTree>
    <p:extLst>
      <p:ext uri="{BB962C8B-B14F-4D97-AF65-F5344CB8AC3E}">
        <p14:creationId xmlns:p14="http://schemas.microsoft.com/office/powerpoint/2010/main" val="42316726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7908" y="-152723"/>
            <a:ext cx="7886700" cy="1561328"/>
          </a:xfrm>
        </p:spPr>
        <p:txBody>
          <a:bodyPr>
            <a:normAutofit/>
          </a:bodyPr>
          <a:lstStyle/>
          <a:p>
            <a:r>
              <a:rPr lang="en-US" dirty="0"/>
              <a:t>Specification Performance </a:t>
            </a:r>
            <a:br>
              <a:rPr lang="en-US" dirty="0"/>
            </a:br>
            <a:r>
              <a:rPr lang="en-US" dirty="0"/>
              <a:t>(“Full Functional”) Test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endParaRPr lang="en-US" dirty="0"/>
          </a:p>
          <a:p>
            <a:pPr lvl="0" fontAlgn="base"/>
            <a:r>
              <a:rPr lang="en-US" dirty="0"/>
              <a:t>Verifies that the mechanical and electrical performance of the vehicle meets requirements </a:t>
            </a:r>
          </a:p>
          <a:p>
            <a:pPr lvl="1" fontAlgn="base"/>
            <a:r>
              <a:rPr lang="en-US" dirty="0"/>
              <a:t>Including compatibility with GSE (ground support equipment)</a:t>
            </a:r>
          </a:p>
          <a:p>
            <a:pPr lvl="1" fontAlgn="base"/>
            <a:r>
              <a:rPr lang="en-US" dirty="0"/>
              <a:t>Confirms all test software and techniques work</a:t>
            </a:r>
          </a:p>
          <a:p>
            <a:pPr lvl="0" fontAlgn="base"/>
            <a:endParaRPr lang="en-US" dirty="0"/>
          </a:p>
          <a:p>
            <a:pPr lvl="0" fontAlgn="base"/>
            <a:r>
              <a:rPr lang="en-US" dirty="0"/>
              <a:t>Demonstrates operation of all redundant units</a:t>
            </a:r>
          </a:p>
        </p:txBody>
      </p:sp>
    </p:spTree>
    <p:extLst>
      <p:ext uri="{BB962C8B-B14F-4D97-AF65-F5344CB8AC3E}">
        <p14:creationId xmlns:p14="http://schemas.microsoft.com/office/powerpoint/2010/main" val="14065430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Pressure and Leakage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0025" y="1016000"/>
            <a:ext cx="8793015" cy="52140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Demonstrate the capability of pressurized subsystems to meet specified flow, pressure and leakage rate requirements</a:t>
            </a:r>
          </a:p>
          <a:p>
            <a:endParaRPr lang="en-US" sz="2400" dirty="0"/>
          </a:p>
        </p:txBody>
      </p:sp>
      <p:pic>
        <p:nvPicPr>
          <p:cNvPr id="4" name="Online Media 3" title="Full-Scale LIFE™ Inflatable Space Station Burst Test at NASA Marshall Space Flight Center">
            <a:hlinkClick r:id="" action="ppaction://media"/>
            <a:extLst>
              <a:ext uri="{FF2B5EF4-FFF2-40B4-BE49-F238E27FC236}">
                <a16:creationId xmlns:a16="http://schemas.microsoft.com/office/drawing/2014/main" id="{81F71C49-0172-1B6C-99B6-ED5A822FF8CC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1695450"/>
            <a:ext cx="9144000" cy="516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285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4482" y="0"/>
            <a:ext cx="7227385" cy="828675"/>
          </a:xfrm>
        </p:spPr>
        <p:txBody>
          <a:bodyPr>
            <a:normAutofit fontScale="90000"/>
          </a:bodyPr>
          <a:lstStyle/>
          <a:p>
            <a:r>
              <a:rPr lang="en-US" dirty="0"/>
              <a:t>Electromagnetic Interference &amp; Compatibility (EMI &amp; EMC)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6255" y="1080655"/>
            <a:ext cx="8828116" cy="5469774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 fontAlgn="base">
              <a:buNone/>
            </a:pPr>
            <a:r>
              <a:rPr lang="en-US" sz="2400" b="1" dirty="0">
                <a:ea typeface="+mn-lt"/>
                <a:cs typeface="+mn-lt"/>
              </a:rPr>
              <a:t>Demonstrates electromagnetic compatibility of vehicle to operating environment </a:t>
            </a:r>
          </a:p>
          <a:p>
            <a:pPr marL="0" indent="0" fontAlgn="base">
              <a:buNone/>
            </a:pPr>
            <a:r>
              <a:rPr lang="en-US" sz="2400" dirty="0">
                <a:ea typeface="+mn-lt"/>
                <a:cs typeface="+mn-lt"/>
              </a:rPr>
              <a:t>Launch is bigger concern – both LV and ground communicating w/ LV, on-orbit operations have less interference</a:t>
            </a:r>
            <a:endParaRPr lang="en-US" sz="2000" dirty="0">
              <a:ea typeface="+mn-lt"/>
              <a:cs typeface="+mn-lt"/>
            </a:endParaRPr>
          </a:p>
          <a:p>
            <a:pPr marL="0" lvl="0" indent="0">
              <a:buNone/>
            </a:pPr>
            <a:endParaRPr lang="en-US" sz="2400" dirty="0">
              <a:ea typeface="+mn-lt"/>
              <a:cs typeface="+mn-lt"/>
            </a:endParaRPr>
          </a:p>
          <a:p>
            <a:pPr marL="0" lvl="0" indent="0">
              <a:buNone/>
            </a:pPr>
            <a:r>
              <a:rPr lang="en-US" b="1" u="sng" dirty="0">
                <a:ea typeface="+mn-lt"/>
                <a:cs typeface="+mn-lt"/>
              </a:rPr>
              <a:t>Two types</a:t>
            </a:r>
          </a:p>
          <a:p>
            <a:pPr marL="0" indent="0">
              <a:buNone/>
            </a:pPr>
            <a:r>
              <a:rPr lang="en-US" sz="2400" dirty="0">
                <a:ea typeface="+mn-lt"/>
                <a:cs typeface="+mn-lt"/>
              </a:rPr>
              <a:t>1. </a:t>
            </a:r>
            <a:r>
              <a:rPr lang="en-US" sz="2400" b="1" dirty="0">
                <a:ea typeface="+mn-lt"/>
                <a:cs typeface="+mn-lt"/>
              </a:rPr>
              <a:t>Emissions</a:t>
            </a:r>
            <a:r>
              <a:rPr lang="en-US" sz="2400" dirty="0">
                <a:ea typeface="+mn-lt"/>
                <a:cs typeface="+mn-lt"/>
              </a:rPr>
              <a:t>: </a:t>
            </a:r>
            <a:endParaRPr lang="en-US" sz="2400" dirty="0">
              <a:solidFill>
                <a:srgbClr val="FF0000"/>
              </a:solidFill>
              <a:ea typeface="+mn-lt"/>
              <a:cs typeface="+mn-lt"/>
            </a:endParaRPr>
          </a:p>
          <a:p>
            <a:pPr lvl="2"/>
            <a:r>
              <a:rPr lang="en-US" sz="2400" dirty="0">
                <a:ea typeface="+mn-lt"/>
                <a:cs typeface="+mn-lt"/>
              </a:rPr>
              <a:t>Conducted</a:t>
            </a:r>
          </a:p>
          <a:p>
            <a:pPr lvl="2"/>
            <a:r>
              <a:rPr lang="en-US" sz="2400" dirty="0">
                <a:ea typeface="+mn-lt"/>
                <a:cs typeface="+mn-lt"/>
              </a:rPr>
              <a:t>Radiated</a:t>
            </a:r>
          </a:p>
          <a:p>
            <a:pPr lvl="2"/>
            <a:endParaRPr lang="en-US" sz="2400" dirty="0">
              <a:cs typeface="Arial"/>
            </a:endParaRPr>
          </a:p>
          <a:p>
            <a:pPr marL="0" indent="0">
              <a:buNone/>
            </a:pPr>
            <a:r>
              <a:rPr lang="en-US" sz="2400" dirty="0">
                <a:ea typeface="+mn-lt"/>
                <a:cs typeface="+mn-lt"/>
              </a:rPr>
              <a:t>2. </a:t>
            </a:r>
            <a:r>
              <a:rPr lang="en-US" sz="2400" b="1" dirty="0">
                <a:ea typeface="+mn-lt"/>
                <a:cs typeface="+mn-lt"/>
              </a:rPr>
              <a:t>Susceptibility</a:t>
            </a:r>
            <a:r>
              <a:rPr lang="en-US" sz="2400" dirty="0">
                <a:ea typeface="+mn-lt"/>
                <a:cs typeface="+mn-lt"/>
              </a:rPr>
              <a:t>:</a:t>
            </a:r>
          </a:p>
          <a:p>
            <a:pPr lvl="2"/>
            <a:r>
              <a:rPr lang="en-US" sz="2400" dirty="0">
                <a:ea typeface="+mn-lt"/>
                <a:cs typeface="+mn-lt"/>
              </a:rPr>
              <a:t>Conducted and Radiated. Tested by having expected radio frequencies (from LV or ground) radiated at vehicle while performing nominal operations.</a:t>
            </a:r>
          </a:p>
          <a:p>
            <a:endParaRPr lang="en-US" sz="2400" dirty="0">
              <a:cs typeface="Arial"/>
            </a:endParaRP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847392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/>
              <a:t>Anechoic Chamber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1030791"/>
            <a:ext cx="7886700" cy="5248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6348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Deployment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0025" y="1032933"/>
            <a:ext cx="8793015" cy="51971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Demonstrates the capability of the vehicle to withstand induced shock environments (</a:t>
            </a:r>
            <a:r>
              <a:rPr lang="en-US" sz="2000" dirty="0" err="1"/>
              <a:t>ie</a:t>
            </a:r>
            <a:r>
              <a:rPr lang="en-US" sz="2000" dirty="0"/>
              <a:t>, launch vehicle separation, solar array deployment, </a:t>
            </a:r>
            <a:r>
              <a:rPr lang="en-US" sz="2000" dirty="0" err="1"/>
              <a:t>etc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5" name="Online Media 4" title="PACE Satellite Deploys Solar Array">
            <a:hlinkClick r:id="" action="ppaction://media"/>
            <a:extLst>
              <a:ext uri="{FF2B5EF4-FFF2-40B4-BE49-F238E27FC236}">
                <a16:creationId xmlns:a16="http://schemas.microsoft.com/office/drawing/2014/main" id="{A6A7DA50-69AC-773B-BFF6-55D065928241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321367" y="1719497"/>
            <a:ext cx="8622608" cy="4868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000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974" y="2285886"/>
            <a:ext cx="3348419" cy="320954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7051" y="2477193"/>
            <a:ext cx="4830046" cy="2716901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798022" y="-61767"/>
            <a:ext cx="7738148" cy="1024227"/>
          </a:xfrm>
        </p:spPr>
        <p:txBody>
          <a:bodyPr>
            <a:normAutofit/>
          </a:bodyPr>
          <a:lstStyle/>
          <a:p>
            <a:r>
              <a:rPr lang="en-US" dirty="0"/>
              <a:t>Solar Array Deployment: Juno &amp; GOES-R</a:t>
            </a:r>
          </a:p>
        </p:txBody>
      </p:sp>
    </p:spTree>
    <p:extLst>
      <p:ext uri="{BB962C8B-B14F-4D97-AF65-F5344CB8AC3E}">
        <p14:creationId xmlns:p14="http://schemas.microsoft.com/office/powerpoint/2010/main" val="11452620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Vibration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0025" y="1042988"/>
            <a:ext cx="8535601" cy="5419955"/>
          </a:xfrm>
        </p:spPr>
        <p:txBody>
          <a:bodyPr>
            <a:noAutofit/>
          </a:bodyPr>
          <a:lstStyle/>
          <a:p>
            <a:pPr lvl="0" fontAlgn="base"/>
            <a:r>
              <a:rPr lang="en-US" sz="2400" b="1" dirty="0"/>
              <a:t>Demonstrates</a:t>
            </a:r>
            <a:r>
              <a:rPr lang="en-US" sz="2400" dirty="0"/>
              <a:t>:</a:t>
            </a:r>
          </a:p>
          <a:p>
            <a:pPr lvl="1" fontAlgn="base"/>
            <a:r>
              <a:rPr lang="en-US" dirty="0"/>
              <a:t>Ability of the vehicle to endure the low-to-mid frequency (0-100 Hz) launch environment</a:t>
            </a:r>
          </a:p>
          <a:p>
            <a:pPr lvl="1" fontAlgn="base"/>
            <a:r>
              <a:rPr lang="en-US" dirty="0"/>
              <a:t>Verify expected modes and damping</a:t>
            </a:r>
          </a:p>
          <a:p>
            <a:pPr lvl="1" fontAlgn="base"/>
            <a:endParaRPr lang="en-US" dirty="0"/>
          </a:p>
          <a:p>
            <a:pPr lvl="0" fontAlgn="base"/>
            <a:r>
              <a:rPr lang="en-US" sz="2400" b="1" dirty="0"/>
              <a:t>Detects</a:t>
            </a:r>
            <a:r>
              <a:rPr lang="en-US" sz="2400" dirty="0"/>
              <a:t> manufacturing and workmanship errors stimulated by low-to-mid frequencies</a:t>
            </a:r>
          </a:p>
          <a:p>
            <a:pPr lvl="0" fontAlgn="base"/>
            <a:endParaRPr lang="en-US" sz="2400" dirty="0"/>
          </a:p>
          <a:p>
            <a:pPr lvl="0" fontAlgn="base"/>
            <a:r>
              <a:rPr lang="en-US" sz="2400" b="1" dirty="0"/>
              <a:t>Approaches</a:t>
            </a:r>
            <a:r>
              <a:rPr lang="en-US" sz="2400" dirty="0"/>
              <a:t>:</a:t>
            </a:r>
          </a:p>
          <a:p>
            <a:pPr lvl="1" fontAlgn="base"/>
            <a:r>
              <a:rPr lang="en-US" dirty="0"/>
              <a:t>Sinusoidal Sweep</a:t>
            </a:r>
          </a:p>
          <a:p>
            <a:pPr lvl="1" fontAlgn="base"/>
            <a:r>
              <a:rPr lang="en-US" dirty="0"/>
              <a:t>Random</a:t>
            </a:r>
          </a:p>
          <a:p>
            <a:pPr lvl="1" fontAlgn="base"/>
            <a:r>
              <a:rPr lang="en-US" altLang="en-US" dirty="0"/>
              <a:t>Sine Burst/Shock</a:t>
            </a:r>
          </a:p>
          <a:p>
            <a:pPr marL="0" indent="0" fontAlgn="base">
              <a:buNone/>
            </a:pPr>
            <a:r>
              <a:rPr lang="en-US" sz="2400" dirty="0">
                <a:solidFill>
                  <a:srgbClr val="FF0000"/>
                </a:solidFill>
                <a:sym typeface="Wingdings" panose="05000000000000000000" pitchFamily="2" charset="2"/>
              </a:rPr>
              <a:t></a:t>
            </a:r>
            <a:r>
              <a:rPr lang="en-US" sz="2400" dirty="0">
                <a:solidFill>
                  <a:srgbClr val="FF0000"/>
                </a:solidFill>
              </a:rPr>
              <a:t>Perform low-level sine sweeps before and after a random/burst to verify no changes in response</a:t>
            </a:r>
          </a:p>
        </p:txBody>
      </p:sp>
    </p:spTree>
    <p:extLst>
      <p:ext uri="{BB962C8B-B14F-4D97-AF65-F5344CB8AC3E}">
        <p14:creationId xmlns:p14="http://schemas.microsoft.com/office/powerpoint/2010/main" val="29758454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B70E9-EB4A-5E4E-3BCD-11FD4930B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Vibration Testing – Sine Sweep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AC3E8C-A42B-E4D0-4084-25918A484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25</a:t>
            </a:fld>
            <a:endParaRPr lang="en-US"/>
          </a:p>
        </p:txBody>
      </p:sp>
      <p:pic>
        <p:nvPicPr>
          <p:cNvPr id="5" name="Online Media 4" title="Vibration test of the CHEOPS satellite">
            <a:hlinkClick r:id="" action="ppaction://media"/>
            <a:extLst>
              <a:ext uri="{FF2B5EF4-FFF2-40B4-BE49-F238E27FC236}">
                <a16:creationId xmlns:a16="http://schemas.microsoft.com/office/drawing/2014/main" id="{C9EBA7D6-D90F-1EB3-0DB9-1361E39341EB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1043969"/>
            <a:ext cx="9144000" cy="516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14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E3CF4-A621-BE8A-8BFF-30F2BE954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Vibration Testing - Random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0A9A81-AE19-57C8-0E93-681930428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26</a:t>
            </a:fld>
            <a:endParaRPr lang="en-US"/>
          </a:p>
        </p:txBody>
      </p:sp>
      <p:pic>
        <p:nvPicPr>
          <p:cNvPr id="5" name="Online Media 4" title="LightSail-A random vibration test">
            <a:hlinkClick r:id="" action="ppaction://media"/>
            <a:extLst>
              <a:ext uri="{FF2B5EF4-FFF2-40B4-BE49-F238E27FC236}">
                <a16:creationId xmlns:a16="http://schemas.microsoft.com/office/drawing/2014/main" id="{05366745-F6EF-0649-B76A-7D2775CB6594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1043969"/>
            <a:ext cx="9144000" cy="516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806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96957-0CBD-4575-CB99-D620E9819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Vibration Testing – Sine Burst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DD34E-90CE-1207-70C4-F85AC82EC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27</a:t>
            </a:fld>
            <a:endParaRPr lang="en-US"/>
          </a:p>
        </p:txBody>
      </p:sp>
      <p:pic>
        <p:nvPicPr>
          <p:cNvPr id="5" name="Online Media 4" title="Orbiter SN1 - Vibration Test (Sine burst)">
            <a:hlinkClick r:id="" action="ppaction://media"/>
            <a:extLst>
              <a:ext uri="{FF2B5EF4-FFF2-40B4-BE49-F238E27FC236}">
                <a16:creationId xmlns:a16="http://schemas.microsoft.com/office/drawing/2014/main" id="{C79C0953-C9D9-F25C-6684-54F598584F5E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1043969"/>
            <a:ext cx="9144000" cy="516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131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EF97C-2B2E-1444-E760-CBDF1B566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Vibration Testing - Comparison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DD2A50-44D5-BE60-CAF2-0C62E3B49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28</a:t>
            </a:fld>
            <a:endParaRPr lang="en-US"/>
          </a:p>
        </p:txBody>
      </p:sp>
      <p:pic>
        <p:nvPicPr>
          <p:cNvPr id="5" name="Online Media 4" title="Sine Random Shock Difference Visualized">
            <a:hlinkClick r:id="" action="ppaction://media"/>
            <a:extLst>
              <a:ext uri="{FF2B5EF4-FFF2-40B4-BE49-F238E27FC236}">
                <a16:creationId xmlns:a16="http://schemas.microsoft.com/office/drawing/2014/main" id="{9541CD7A-DFDD-CB21-6B75-CA48C1B4CAE3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1043969"/>
            <a:ext cx="9144000" cy="516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669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Acoustic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5492" y="912487"/>
            <a:ext cx="8793015" cy="5033026"/>
          </a:xfrm>
        </p:spPr>
        <p:txBody>
          <a:bodyPr>
            <a:normAutofit/>
          </a:bodyPr>
          <a:lstStyle/>
          <a:p>
            <a:pPr lvl="0" fontAlgn="base"/>
            <a:r>
              <a:rPr lang="en-US" sz="2000" b="1" dirty="0"/>
              <a:t>Demonstrates</a:t>
            </a:r>
            <a:r>
              <a:rPr lang="en-US" sz="2000" dirty="0"/>
              <a:t> ability of the vehicle to endure high-frequency acoustic environment during launch and ascent</a:t>
            </a:r>
          </a:p>
          <a:p>
            <a:pPr lvl="0" fontAlgn="base"/>
            <a:r>
              <a:rPr lang="en-US" sz="2000" b="1" dirty="0"/>
              <a:t>Detects</a:t>
            </a:r>
            <a:r>
              <a:rPr lang="en-US" sz="2000" dirty="0"/>
              <a:t> manufacturing and workmanship errors stimulated by higher frequencies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2598" y="2329951"/>
            <a:ext cx="6078801" cy="421019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963A23D-0FC1-1AF6-76D7-4932F4992801}"/>
              </a:ext>
            </a:extLst>
          </p:cNvPr>
          <p:cNvSpPr txBox="1"/>
          <p:nvPr/>
        </p:nvSpPr>
        <p:spPr>
          <a:xfrm>
            <a:off x="2285999" y="654014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Acoustic Chamber (Orion Service Module)</a:t>
            </a:r>
          </a:p>
        </p:txBody>
      </p:sp>
    </p:spTree>
    <p:extLst>
      <p:ext uri="{BB962C8B-B14F-4D97-AF65-F5344CB8AC3E}">
        <p14:creationId xmlns:p14="http://schemas.microsoft.com/office/powerpoint/2010/main" val="22309889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84639-1FA3-21EB-B8D8-282378D2D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Acoustic Testing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E26D37-B3D1-48D9-4192-701931A00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30</a:t>
            </a:fld>
            <a:endParaRPr lang="en-US"/>
          </a:p>
        </p:txBody>
      </p:sp>
      <p:pic>
        <p:nvPicPr>
          <p:cNvPr id="7" name="Online Media 6" title="Lockheed Martin Creates Acoustic Test on Orion">
            <a:hlinkClick r:id="" action="ppaction://media"/>
            <a:extLst>
              <a:ext uri="{FF2B5EF4-FFF2-40B4-BE49-F238E27FC236}">
                <a16:creationId xmlns:a16="http://schemas.microsoft.com/office/drawing/2014/main" id="{0900C118-D41E-F3F3-8DA9-678B84CE0539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1043969"/>
            <a:ext cx="9144000" cy="516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040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Thermal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2633" y="1147156"/>
            <a:ext cx="8232717" cy="5333543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Thermal Balance Test</a:t>
            </a:r>
          </a:p>
          <a:p>
            <a:pPr lvl="1" fontAlgn="base"/>
            <a:r>
              <a:rPr lang="en-US" dirty="0"/>
              <a:t>Provides the data necessary to verify the analytical thermal model and demonstrates the ability of the vehicle TCS to maintain specified temperature limits of all units for various operational scenarios</a:t>
            </a:r>
          </a:p>
          <a:p>
            <a:pPr lvl="1" fontAlgn="base"/>
            <a:r>
              <a:rPr lang="en-US" dirty="0"/>
              <a:t>Can be combined with TVAC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Thermal Vacuum Test (TVAC)</a:t>
            </a:r>
          </a:p>
          <a:p>
            <a:pPr lvl="1" fontAlgn="base"/>
            <a:r>
              <a:rPr lang="en-US" b="1" dirty="0"/>
              <a:t>Demonstrates</a:t>
            </a:r>
            <a:r>
              <a:rPr lang="en-US" dirty="0"/>
              <a:t> ability of vehicle to meet design requirements and establishes thermal design margin and vehicle performance under TVAC conditions and temperature extremes</a:t>
            </a:r>
          </a:p>
          <a:p>
            <a:pPr lvl="1" fontAlgn="base"/>
            <a:r>
              <a:rPr lang="en-US" b="1" dirty="0"/>
              <a:t>Detects</a:t>
            </a:r>
            <a:r>
              <a:rPr lang="en-US" dirty="0"/>
              <a:t> material, process and workmanship defects that would respond to thermal vacuum and thermal stress conditions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01102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mage result for thermal vacuum chamb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0150" y="1010990"/>
            <a:ext cx="6743700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Image result for thermal vacuum profil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1101" y="3846017"/>
            <a:ext cx="5347548" cy="2920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771525" y="0"/>
            <a:ext cx="7886700" cy="842963"/>
          </a:xfrm>
        </p:spPr>
        <p:txBody>
          <a:bodyPr/>
          <a:lstStyle/>
          <a:p>
            <a:r>
              <a:rPr lang="en-US" sz="3600" dirty="0"/>
              <a:t>Thermal Vacuum Test</a:t>
            </a:r>
          </a:p>
        </p:txBody>
      </p:sp>
    </p:spTree>
    <p:extLst>
      <p:ext uri="{BB962C8B-B14F-4D97-AF65-F5344CB8AC3E}">
        <p14:creationId xmlns:p14="http://schemas.microsoft.com/office/powerpoint/2010/main" val="33682874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E44C1-5A4F-896C-C1C9-95B164C4D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Bake-Out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5DC9E4-9A72-94C6-F694-51F5678C94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dirty="0"/>
              <a:t>Not an environmental test </a:t>
            </a:r>
            <a:r>
              <a:rPr lang="en-US" altLang="en-US" i="1" dirty="0"/>
              <a:t>per se</a:t>
            </a:r>
            <a:r>
              <a:rPr lang="en-US" altLang="en-US" dirty="0"/>
              <a:t> but can be done as part of the same test campaign:</a:t>
            </a:r>
            <a:endParaRPr lang="en-US" dirty="0"/>
          </a:p>
          <a:p>
            <a:pPr lvl="2"/>
            <a:endParaRPr lang="en-US" altLang="en-US" dirty="0"/>
          </a:p>
          <a:p>
            <a:pPr marL="0" indent="0">
              <a:buNone/>
            </a:pPr>
            <a:r>
              <a:rPr lang="en-US" altLang="en-US" b="1" dirty="0"/>
              <a:t>Bake-out</a:t>
            </a:r>
          </a:p>
          <a:p>
            <a:pPr lvl="1"/>
            <a:r>
              <a:rPr lang="en-US" altLang="en-US" dirty="0"/>
              <a:t>Facility: vacuum oven</a:t>
            </a:r>
          </a:p>
          <a:p>
            <a:pPr lvl="1"/>
            <a:r>
              <a:rPr lang="en-US" altLang="en-US" dirty="0"/>
              <a:t>Objective</a:t>
            </a:r>
          </a:p>
          <a:p>
            <a:pPr lvl="2"/>
            <a:r>
              <a:rPr lang="en-US" altLang="en-US" dirty="0"/>
              <a:t>Clean and/or verify cleanliness of S/C by putting it at elevated temperature (~40C) in vacuum for some number of hours</a:t>
            </a:r>
          </a:p>
          <a:p>
            <a:pPr lvl="2"/>
            <a:r>
              <a:rPr lang="en-US" altLang="en-US" dirty="0"/>
              <a:t>Record pressure changes or use cold fingers, witness plates to determine presents or extent of outgassing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8816BD-7931-99B6-7A9A-C65EF8740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207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978" name="Slide Number Placeholder 5">
            <a:extLst>
              <a:ext uri="{FF2B5EF4-FFF2-40B4-BE49-F238E27FC236}">
                <a16:creationId xmlns:a16="http://schemas.microsoft.com/office/drawing/2014/main" id="{16C1C35F-C6AE-3E47-8BF3-9EFE730E9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3605CA6-FE65-4E22-B51E-95E007B291B2}" type="slidenum">
              <a:rPr lang="en-US" altLang="en-US" sz="1400"/>
              <a:pPr/>
              <a:t>34</a:t>
            </a:fld>
            <a:endParaRPr lang="en-US" altLang="en-US" sz="1400"/>
          </a:p>
        </p:txBody>
      </p:sp>
      <p:sp>
        <p:nvSpPr>
          <p:cNvPr id="382979" name="Rectangle 2">
            <a:extLst>
              <a:ext uri="{FF2B5EF4-FFF2-40B4-BE49-F238E27FC236}">
                <a16:creationId xmlns:a16="http://schemas.microsoft.com/office/drawing/2014/main" id="{ABEE206B-A669-83B3-FAB6-17A595AFAC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2800" dirty="0"/>
              <a:t>Mass Properties Testing</a:t>
            </a:r>
          </a:p>
        </p:txBody>
      </p:sp>
      <p:sp>
        <p:nvSpPr>
          <p:cNvPr id="382980" name="Rectangle 3">
            <a:extLst>
              <a:ext uri="{FF2B5EF4-FFF2-40B4-BE49-F238E27FC236}">
                <a16:creationId xmlns:a16="http://schemas.microsoft.com/office/drawing/2014/main" id="{1BA95298-ED4B-0874-D2B8-FF71FC0A7B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074057"/>
            <a:ext cx="8448865" cy="5391049"/>
          </a:xfrm>
        </p:spPr>
        <p:txBody>
          <a:bodyPr>
            <a:normAutofit/>
          </a:bodyPr>
          <a:lstStyle/>
          <a:p>
            <a:pPr marL="0" lvl="2" indent="0">
              <a:lnSpc>
                <a:spcPct val="90000"/>
              </a:lnSpc>
              <a:buNone/>
            </a:pPr>
            <a:r>
              <a:rPr lang="en-US" altLang="en-US" sz="3600"/>
              <a:t>Verify spacecraft:</a:t>
            </a:r>
          </a:p>
          <a:p>
            <a:endParaRPr lang="en-US" altLang="en-US" sz="3600"/>
          </a:p>
          <a:p>
            <a:r>
              <a:rPr lang="en-US" altLang="en-US" sz="3600"/>
              <a:t>Mass</a:t>
            </a:r>
          </a:p>
          <a:p>
            <a:endParaRPr lang="en-US" altLang="en-US" sz="3600"/>
          </a:p>
          <a:p>
            <a:r>
              <a:rPr lang="en-US" altLang="en-US" sz="3600"/>
              <a:t>Center of Mass</a:t>
            </a:r>
          </a:p>
          <a:p>
            <a:endParaRPr lang="en-US" altLang="en-US" sz="3600"/>
          </a:p>
          <a:p>
            <a:r>
              <a:rPr lang="en-US" altLang="en-US" sz="3600"/>
              <a:t>Moment of Inertia</a:t>
            </a:r>
          </a:p>
          <a:p>
            <a:pPr lvl="1"/>
            <a:endParaRPr lang="en-US" altLang="en-US" sz="32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7A6E69C-285D-D8B2-B2E6-98390156A4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6658" y="1183845"/>
            <a:ext cx="2009775" cy="2276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 Doubly Suspended Pendulum | PhysLab">
            <a:extLst>
              <a:ext uri="{FF2B5EF4-FFF2-40B4-BE49-F238E27FC236}">
                <a16:creationId xmlns:a16="http://schemas.microsoft.com/office/drawing/2014/main" id="{89ADF197-07E0-475B-965B-BB446032B6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0768" y="3790169"/>
            <a:ext cx="2143125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622919D-6C04-4C2E-BD29-EF7FF94921D3}"/>
              </a:ext>
            </a:extLst>
          </p:cNvPr>
          <p:cNvSpPr txBox="1"/>
          <p:nvPr/>
        </p:nvSpPr>
        <p:spPr>
          <a:xfrm>
            <a:off x="4926330" y="618495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Bifilar Pendulum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B12C93-5199-8288-33B7-E429AF41EA01}"/>
              </a:ext>
            </a:extLst>
          </p:cNvPr>
          <p:cNvSpPr txBox="1"/>
          <p:nvPr/>
        </p:nvSpPr>
        <p:spPr>
          <a:xfrm>
            <a:off x="7040236" y="930566"/>
            <a:ext cx="47478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Torsion Pendulum</a:t>
            </a:r>
            <a:endParaRPr 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Integration &amp; Test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493160" y="1788419"/>
            <a:ext cx="2640458" cy="7398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Spacecraft Assembly &amp; Integration Complete</a:t>
            </a:r>
          </a:p>
        </p:txBody>
      </p:sp>
      <p:cxnSp>
        <p:nvCxnSpPr>
          <p:cNvPr id="5" name="Straight Arrow Connector 4"/>
          <p:cNvCxnSpPr>
            <a:stCxn id="3" idx="3"/>
            <a:endCxn id="6" idx="1"/>
          </p:cNvCxnSpPr>
          <p:nvPr/>
        </p:nvCxnSpPr>
        <p:spPr>
          <a:xfrm>
            <a:off x="3133618" y="2158332"/>
            <a:ext cx="89385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027470" y="1788420"/>
            <a:ext cx="1376737" cy="7398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Inspection</a:t>
            </a:r>
          </a:p>
        </p:txBody>
      </p:sp>
      <p:cxnSp>
        <p:nvCxnSpPr>
          <p:cNvPr id="7" name="Straight Arrow Connector 6"/>
          <p:cNvCxnSpPr>
            <a:stCxn id="6" idx="3"/>
            <a:endCxn id="8" idx="1"/>
          </p:cNvCxnSpPr>
          <p:nvPr/>
        </p:nvCxnSpPr>
        <p:spPr>
          <a:xfrm>
            <a:off x="5404207" y="2158333"/>
            <a:ext cx="1263721" cy="40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667928" y="1818807"/>
            <a:ext cx="1777429" cy="6872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Full Functional Test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03541" y="2871854"/>
            <a:ext cx="2106202" cy="6872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Pressure/Leakage Test</a:t>
            </a:r>
          </a:p>
        </p:txBody>
      </p:sp>
      <p:cxnSp>
        <p:nvCxnSpPr>
          <p:cNvPr id="16" name="Straight Arrow Connector 15"/>
          <p:cNvCxnSpPr>
            <a:stCxn id="8" idx="2"/>
            <a:endCxn id="14" idx="0"/>
          </p:cNvCxnSpPr>
          <p:nvPr/>
        </p:nvCxnSpPr>
        <p:spPr>
          <a:xfrm flipH="1">
            <a:off x="7556642" y="2506025"/>
            <a:ext cx="1" cy="3658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4312578" y="2871854"/>
            <a:ext cx="1376737" cy="6872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EMC</a:t>
            </a:r>
          </a:p>
        </p:txBody>
      </p:sp>
      <p:cxnSp>
        <p:nvCxnSpPr>
          <p:cNvPr id="21" name="Straight Arrow Connector 20"/>
          <p:cNvCxnSpPr>
            <a:stCxn id="14" idx="1"/>
            <a:endCxn id="19" idx="3"/>
          </p:cNvCxnSpPr>
          <p:nvPr/>
        </p:nvCxnSpPr>
        <p:spPr>
          <a:xfrm flipH="1">
            <a:off x="5689315" y="3215463"/>
            <a:ext cx="8142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2227646" y="2871854"/>
            <a:ext cx="1376737" cy="6872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Acoustic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3160" y="2871854"/>
            <a:ext cx="971870" cy="6872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Vibe</a:t>
            </a:r>
          </a:p>
        </p:txBody>
      </p:sp>
      <p:cxnSp>
        <p:nvCxnSpPr>
          <p:cNvPr id="30" name="Straight Arrow Connector 29"/>
          <p:cNvCxnSpPr>
            <a:stCxn id="19" idx="1"/>
            <a:endCxn id="22" idx="3"/>
          </p:cNvCxnSpPr>
          <p:nvPr/>
        </p:nvCxnSpPr>
        <p:spPr>
          <a:xfrm flipH="1">
            <a:off x="3604383" y="3215463"/>
            <a:ext cx="7081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22" idx="1"/>
            <a:endCxn id="28" idx="3"/>
          </p:cNvCxnSpPr>
          <p:nvPr/>
        </p:nvCxnSpPr>
        <p:spPr>
          <a:xfrm flipH="1">
            <a:off x="1465030" y="3215463"/>
            <a:ext cx="7626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493160" y="4082492"/>
            <a:ext cx="2330307" cy="6872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Shock/Deployment</a:t>
            </a:r>
          </a:p>
        </p:txBody>
      </p:sp>
      <p:cxnSp>
        <p:nvCxnSpPr>
          <p:cNvPr id="50" name="Straight Arrow Connector 49"/>
          <p:cNvCxnSpPr>
            <a:stCxn id="28" idx="2"/>
            <a:endCxn id="33" idx="0"/>
          </p:cNvCxnSpPr>
          <p:nvPr/>
        </p:nvCxnSpPr>
        <p:spPr>
          <a:xfrm>
            <a:off x="979095" y="3559072"/>
            <a:ext cx="679219" cy="5234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6391488" y="4084993"/>
            <a:ext cx="2330307" cy="6872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Thermal Balance/TVAC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518899" y="4082492"/>
            <a:ext cx="2106202" cy="6872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Pressure/Leakage Test</a:t>
            </a:r>
          </a:p>
        </p:txBody>
      </p:sp>
      <p:cxnSp>
        <p:nvCxnSpPr>
          <p:cNvPr id="54" name="Straight Arrow Connector 53"/>
          <p:cNvCxnSpPr>
            <a:stCxn id="33" idx="3"/>
            <a:endCxn id="52" idx="1"/>
          </p:cNvCxnSpPr>
          <p:nvPr/>
        </p:nvCxnSpPr>
        <p:spPr>
          <a:xfrm>
            <a:off x="2823467" y="4426101"/>
            <a:ext cx="6954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52" idx="3"/>
            <a:endCxn id="51" idx="1"/>
          </p:cNvCxnSpPr>
          <p:nvPr/>
        </p:nvCxnSpPr>
        <p:spPr>
          <a:xfrm>
            <a:off x="5625101" y="4426101"/>
            <a:ext cx="766387" cy="25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6503540" y="5298131"/>
            <a:ext cx="2106202" cy="6872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Pressure/Leakage Test</a:t>
            </a:r>
          </a:p>
        </p:txBody>
      </p:sp>
      <p:cxnSp>
        <p:nvCxnSpPr>
          <p:cNvPr id="61" name="Straight Arrow Connector 60"/>
          <p:cNvCxnSpPr>
            <a:stCxn id="51" idx="2"/>
            <a:endCxn id="57" idx="0"/>
          </p:cNvCxnSpPr>
          <p:nvPr/>
        </p:nvCxnSpPr>
        <p:spPr>
          <a:xfrm flipH="1">
            <a:off x="7556641" y="4772211"/>
            <a:ext cx="1" cy="5259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3683285" y="5302090"/>
            <a:ext cx="1777429" cy="6872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Full Functional Test</a:t>
            </a:r>
          </a:p>
        </p:txBody>
      </p:sp>
      <p:cxnSp>
        <p:nvCxnSpPr>
          <p:cNvPr id="64" name="Straight Arrow Connector 63"/>
          <p:cNvCxnSpPr>
            <a:stCxn id="57" idx="1"/>
            <a:endCxn id="62" idx="3"/>
          </p:cNvCxnSpPr>
          <p:nvPr/>
        </p:nvCxnSpPr>
        <p:spPr>
          <a:xfrm flipH="1">
            <a:off x="5460714" y="5641740"/>
            <a:ext cx="1042826" cy="39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ctangle 64"/>
          <p:cNvSpPr/>
          <p:nvPr/>
        </p:nvSpPr>
        <p:spPr>
          <a:xfrm>
            <a:off x="2930462" y="2281383"/>
            <a:ext cx="348359" cy="33904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243351" y="2249973"/>
            <a:ext cx="348359" cy="33904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166991" y="2239979"/>
            <a:ext cx="348359" cy="33904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358989" y="3311181"/>
            <a:ext cx="348359" cy="33904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418816" y="3310962"/>
            <a:ext cx="348359" cy="33904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309078" y="3380588"/>
            <a:ext cx="348359" cy="33904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224146" y="3370594"/>
            <a:ext cx="348359" cy="33904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587963" y="4600186"/>
            <a:ext cx="348359" cy="33904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340956" y="4529526"/>
            <a:ext cx="348359" cy="33904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445357" y="4533054"/>
            <a:ext cx="493160" cy="33551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198777" y="5743692"/>
            <a:ext cx="493160" cy="33551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021975" y="5815088"/>
            <a:ext cx="493160" cy="33551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64727" y="5266825"/>
            <a:ext cx="1376737" cy="7398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Inspection</a:t>
            </a:r>
          </a:p>
        </p:txBody>
      </p:sp>
      <p:cxnSp>
        <p:nvCxnSpPr>
          <p:cNvPr id="79" name="Straight Arrow Connector 78"/>
          <p:cNvCxnSpPr>
            <a:stCxn id="62" idx="1"/>
            <a:endCxn id="77" idx="3"/>
          </p:cNvCxnSpPr>
          <p:nvPr/>
        </p:nvCxnSpPr>
        <p:spPr>
          <a:xfrm flipH="1" flipV="1">
            <a:off x="2341464" y="5636738"/>
            <a:ext cx="1341821" cy="89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ectangle 79"/>
          <p:cNvSpPr/>
          <p:nvPr/>
        </p:nvSpPr>
        <p:spPr>
          <a:xfrm>
            <a:off x="1981066" y="5821548"/>
            <a:ext cx="493160" cy="33551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4700266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Test Like You Fly (TLYF)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0153" y="1103086"/>
            <a:ext cx="8863693" cy="5505614"/>
          </a:xfrm>
        </p:spPr>
        <p:txBody>
          <a:bodyPr>
            <a:normAutofit fontScale="92500" lnSpcReduction="10000"/>
          </a:bodyPr>
          <a:lstStyle/>
          <a:p>
            <a:pPr marL="0" lvl="0" indent="0" fontAlgn="base">
              <a:buNone/>
            </a:pPr>
            <a:r>
              <a:rPr lang="en-US" dirty="0"/>
              <a:t>Concept of testing a system in the same manner in which it will be used in an operational manner</a:t>
            </a:r>
            <a:endParaRPr lang="en-US" sz="2400" dirty="0"/>
          </a:p>
          <a:p>
            <a:pPr lvl="1" fontAlgn="base"/>
            <a:r>
              <a:rPr lang="en-US" dirty="0"/>
              <a:t>Very complicated to implement</a:t>
            </a:r>
            <a:endParaRPr lang="en-US" sz="2200" dirty="0"/>
          </a:p>
          <a:p>
            <a:pPr lvl="1" fontAlgn="base"/>
            <a:r>
              <a:rPr lang="en-US" dirty="0"/>
              <a:t>General considerations:</a:t>
            </a:r>
            <a:endParaRPr lang="en-US" sz="2200" dirty="0"/>
          </a:p>
          <a:p>
            <a:pPr lvl="2" fontAlgn="base"/>
            <a:r>
              <a:rPr lang="en-US" dirty="0"/>
              <a:t>Flight command &amp; telemetry tested with actual ground software</a:t>
            </a:r>
            <a:endParaRPr lang="en-US" sz="1800" dirty="0"/>
          </a:p>
          <a:p>
            <a:pPr lvl="2" fontAlgn="base"/>
            <a:r>
              <a:rPr lang="en-US" dirty="0"/>
              <a:t>Fault condition detection</a:t>
            </a:r>
            <a:endParaRPr lang="en-US" sz="1800" dirty="0"/>
          </a:p>
          <a:p>
            <a:pPr lvl="2" fontAlgn="base"/>
            <a:r>
              <a:rPr lang="en-US" dirty="0"/>
              <a:t>Mode/state changes</a:t>
            </a:r>
            <a:endParaRPr lang="en-US" sz="1800" dirty="0"/>
          </a:p>
          <a:p>
            <a:pPr lvl="2" fontAlgn="base"/>
            <a:r>
              <a:rPr lang="en-US" dirty="0"/>
              <a:t>Off-nominal condition responses</a:t>
            </a:r>
            <a:endParaRPr lang="en-US" sz="1800" dirty="0"/>
          </a:p>
          <a:p>
            <a:pPr lvl="2" fontAlgn="base"/>
            <a:r>
              <a:rPr lang="en-US" dirty="0"/>
              <a:t>Post-environmental test repairs tested</a:t>
            </a:r>
            <a:endParaRPr lang="en-US" sz="1800" dirty="0"/>
          </a:p>
          <a:p>
            <a:pPr lvl="2" fontAlgn="base"/>
            <a:r>
              <a:rPr lang="en-US" dirty="0"/>
              <a:t>Flight-like stimuli for responses, appropriate simulators</a:t>
            </a:r>
            <a:endParaRPr lang="en-US" sz="1800" dirty="0"/>
          </a:p>
          <a:p>
            <a:pPr lvl="2" fontAlgn="base"/>
            <a:r>
              <a:rPr lang="en-US" dirty="0"/>
              <a:t>Extended test time (DITL, WITL)</a:t>
            </a:r>
            <a:endParaRPr lang="en-US" sz="1800" dirty="0"/>
          </a:p>
          <a:p>
            <a:pPr lvl="2" fontAlgn="base"/>
            <a:r>
              <a:rPr lang="en-US" dirty="0"/>
              <a:t>Primary and redundant hardware</a:t>
            </a:r>
            <a:endParaRPr lang="en-US" sz="1800" dirty="0"/>
          </a:p>
          <a:p>
            <a:pPr lvl="2" fontAlgn="base"/>
            <a:r>
              <a:rPr lang="en-US" dirty="0"/>
              <a:t>Exercise at high, low, nominal voltages</a:t>
            </a:r>
            <a:endParaRPr lang="en-US" sz="18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Consider how to capture data that verifies that test objectives are met!</a:t>
            </a:r>
          </a:p>
        </p:txBody>
      </p:sp>
    </p:spTree>
    <p:extLst>
      <p:ext uri="{BB962C8B-B14F-4D97-AF65-F5344CB8AC3E}">
        <p14:creationId xmlns:p14="http://schemas.microsoft.com/office/powerpoint/2010/main" val="36039472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33BF4-DC23-A8A8-2999-C45270082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FalconSAT</a:t>
            </a:r>
            <a:r>
              <a:rPr lang="en-US" dirty="0"/>
              <a:t> Notes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FCBD4-FE6B-3894-B0A0-D515E8D745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400" dirty="0"/>
          </a:p>
          <a:p>
            <a:r>
              <a:rPr lang="en-US" sz="2400" dirty="0"/>
              <a:t>Capabilities-based vs. Requirements-based development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FS Xtra Solar Panels..</a:t>
            </a:r>
          </a:p>
          <a:p>
            <a:pPr marL="0" indent="0" algn="ctr">
              <a:buNone/>
            </a:pPr>
            <a:r>
              <a:rPr lang="en-US" sz="2400" b="1" dirty="0">
                <a:sym typeface="Wingdings" panose="05000000000000000000" pitchFamily="2" charset="2"/>
              </a:rPr>
              <a:t>Bottom Line  Attention to Detail! </a:t>
            </a:r>
            <a:endParaRPr lang="en-US" sz="2400" b="1" dirty="0"/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B1B244-4752-25AA-314D-21648CEAD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6849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C3020EC-21F3-5B9F-DE35-8B2CB1FE3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 Material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F857916-6286-D0F4-D9E6-51BC1B2259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F1AFDA-0239-D892-2418-4FC13C3C3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73295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762" name="Slide Number Placeholder 5">
            <a:extLst>
              <a:ext uri="{FF2B5EF4-FFF2-40B4-BE49-F238E27FC236}">
                <a16:creationId xmlns:a16="http://schemas.microsoft.com/office/drawing/2014/main" id="{C433CF57-F062-8CDD-3C8D-01331FE73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F7D38BF-9DA9-4CB8-BA88-F75E76FEEC9A}" type="slidenum">
              <a:rPr lang="en-US" altLang="en-US" sz="1400"/>
              <a:pPr/>
              <a:t>39</a:t>
            </a:fld>
            <a:endParaRPr lang="en-US" altLang="en-US" sz="1400"/>
          </a:p>
        </p:txBody>
      </p:sp>
      <p:sp>
        <p:nvSpPr>
          <p:cNvPr id="373763" name="Rectangle 2">
            <a:extLst>
              <a:ext uri="{FF2B5EF4-FFF2-40B4-BE49-F238E27FC236}">
                <a16:creationId xmlns:a16="http://schemas.microsoft.com/office/drawing/2014/main" id="{76FB3BA9-4AA0-28BE-51D0-62607ECC4B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2800" dirty="0"/>
              <a:t>Clean Rooms</a:t>
            </a:r>
          </a:p>
        </p:txBody>
      </p:sp>
      <p:sp>
        <p:nvSpPr>
          <p:cNvPr id="373764" name="Rectangle 3">
            <a:extLst>
              <a:ext uri="{FF2B5EF4-FFF2-40B4-BE49-F238E27FC236}">
                <a16:creationId xmlns:a16="http://schemas.microsoft.com/office/drawing/2014/main" id="{49A5DEAB-7815-A8AB-9F35-A6B64C671E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5588" y="1181100"/>
            <a:ext cx="8498078" cy="5284006"/>
          </a:xfrm>
        </p:spPr>
        <p:txBody>
          <a:bodyPr>
            <a:normAutofit/>
          </a:bodyPr>
          <a:lstStyle/>
          <a:p>
            <a:pPr marL="0" indent="0">
              <a:lnSpc>
                <a:spcPct val="80000"/>
              </a:lnSpc>
              <a:buNone/>
            </a:pPr>
            <a:r>
              <a:rPr lang="en-US" altLang="en-US" sz="2000" dirty="0"/>
              <a:t>Clean Rooms</a:t>
            </a:r>
          </a:p>
          <a:p>
            <a:pPr lvl="1">
              <a:lnSpc>
                <a:spcPct val="80000"/>
              </a:lnSpc>
            </a:pPr>
            <a:r>
              <a:rPr lang="en-US" altLang="en-US" sz="1800" dirty="0"/>
              <a:t>Eliminate/control particulate (dust) that may damage or degrade sensitive parts or components</a:t>
            </a:r>
          </a:p>
          <a:p>
            <a:pPr lvl="1">
              <a:lnSpc>
                <a:spcPct val="80000"/>
              </a:lnSpc>
            </a:pPr>
            <a:r>
              <a:rPr lang="en-US" altLang="en-US" sz="1800" dirty="0"/>
              <a:t>Help control static discharge</a:t>
            </a:r>
          </a:p>
          <a:p>
            <a:pPr lvl="1">
              <a:lnSpc>
                <a:spcPct val="80000"/>
              </a:lnSpc>
            </a:pPr>
            <a:r>
              <a:rPr lang="en-US" altLang="en-US" sz="1800" dirty="0"/>
              <a:t>Provide a controlled environment for sensitive AIT operations</a:t>
            </a:r>
          </a:p>
          <a:p>
            <a:pPr lvl="1">
              <a:lnSpc>
                <a:spcPct val="80000"/>
              </a:lnSpc>
            </a:pPr>
            <a:r>
              <a:rPr lang="en-US" altLang="en-US" sz="1800" dirty="0"/>
              <a:t>Focus the minds of engineers performing sensitive AIT operations</a:t>
            </a:r>
          </a:p>
          <a:p>
            <a:pPr>
              <a:lnSpc>
                <a:spcPct val="80000"/>
              </a:lnSpc>
            </a:pPr>
            <a:r>
              <a:rPr lang="en-US" altLang="en-US" sz="2000" dirty="0"/>
              <a:t>Classification</a:t>
            </a:r>
          </a:p>
          <a:p>
            <a:pPr lvl="1">
              <a:lnSpc>
                <a:spcPct val="80000"/>
              </a:lnSpc>
            </a:pPr>
            <a:r>
              <a:rPr lang="en-US" altLang="en-US" sz="1800" dirty="0"/>
              <a:t>“Class 10,000” means &lt; 10,000 particles greater than 0.5 </a:t>
            </a:r>
            <a:r>
              <a:rPr lang="en-US" altLang="en-US" sz="1800" dirty="0">
                <a:cs typeface="Arial" panose="020B0604020202020204" pitchFamily="34" charset="0"/>
              </a:rPr>
              <a:t>µm </a:t>
            </a:r>
            <a:r>
              <a:rPr lang="en-US" altLang="en-US" sz="1800" dirty="0"/>
              <a:t>per cubic foot</a:t>
            </a:r>
          </a:p>
          <a:p>
            <a:pPr lvl="1">
              <a:lnSpc>
                <a:spcPct val="80000"/>
              </a:lnSpc>
            </a:pPr>
            <a:r>
              <a:rPr lang="en-US" altLang="en-US" sz="1800" dirty="0"/>
              <a:t>Standard environment is 70</a:t>
            </a:r>
            <a:r>
              <a:rPr lang="en-US" altLang="en-US" sz="1800" dirty="0">
                <a:cs typeface="Arial" panose="020B0604020202020204" pitchFamily="34" charset="0"/>
              </a:rPr>
              <a:t>°</a:t>
            </a:r>
            <a:r>
              <a:rPr lang="en-US" altLang="en-US" sz="1800" dirty="0"/>
              <a:t>F and 45% RH</a:t>
            </a:r>
          </a:p>
          <a:p>
            <a:pPr>
              <a:lnSpc>
                <a:spcPct val="80000"/>
              </a:lnSpc>
            </a:pPr>
            <a:r>
              <a:rPr lang="en-US" altLang="en-US" sz="2000" dirty="0"/>
              <a:t>Uses</a:t>
            </a:r>
          </a:p>
          <a:p>
            <a:pPr lvl="1">
              <a:lnSpc>
                <a:spcPct val="80000"/>
              </a:lnSpc>
            </a:pPr>
            <a:r>
              <a:rPr lang="en-US" altLang="en-US" sz="1800" dirty="0"/>
              <a:t>Mechanical assembly: N/A</a:t>
            </a:r>
          </a:p>
          <a:p>
            <a:pPr lvl="1">
              <a:lnSpc>
                <a:spcPct val="80000"/>
              </a:lnSpc>
            </a:pPr>
            <a:r>
              <a:rPr lang="en-US" altLang="en-US" sz="1800" dirty="0"/>
              <a:t>Semiconductor manufacturing: Class 0.1—10 </a:t>
            </a:r>
          </a:p>
          <a:p>
            <a:pPr lvl="1">
              <a:lnSpc>
                <a:spcPct val="80000"/>
              </a:lnSpc>
            </a:pPr>
            <a:r>
              <a:rPr lang="en-US" altLang="en-US" sz="1800" dirty="0"/>
              <a:t>Optical assembly: Class 100</a:t>
            </a:r>
          </a:p>
          <a:p>
            <a:pPr lvl="1">
              <a:lnSpc>
                <a:spcPct val="80000"/>
              </a:lnSpc>
            </a:pPr>
            <a:r>
              <a:rPr lang="en-US" altLang="en-US" sz="1800" dirty="0"/>
              <a:t>Electronic assembly: Class 10,000</a:t>
            </a:r>
          </a:p>
          <a:p>
            <a:pPr lvl="1">
              <a:lnSpc>
                <a:spcPct val="80000"/>
              </a:lnSpc>
            </a:pPr>
            <a:r>
              <a:rPr lang="en-US" altLang="en-US" sz="1800" dirty="0"/>
              <a:t>S/C assembly &amp; testing: Class 100,000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0C902C3CBC54D4FA7075784AD88F5EC" ma:contentTypeVersion="21" ma:contentTypeDescription="Create a new document." ma:contentTypeScope="" ma:versionID="aab13084cbfb645f826f7dc6731109d6">
  <xsd:schema xmlns:xsd="http://www.w3.org/2001/XMLSchema" xmlns:xs="http://www.w3.org/2001/XMLSchema" xmlns:p="http://schemas.microsoft.com/office/2006/metadata/properties" xmlns:ns1="http://schemas.microsoft.com/sharepoint/v3" xmlns:ns2="7584c457-6b5a-4caa-be47-be979cbe6555" xmlns:ns3="723aa48c-73f2-40da-86b1-f1ae286477fe" targetNamespace="http://schemas.microsoft.com/office/2006/metadata/properties" ma:root="true" ma:fieldsID="2636cc15ff2f3d2629ecec77a65aea39" ns1:_="" ns2:_="" ns3:_="">
    <xsd:import namespace="http://schemas.microsoft.com/sharepoint/v3"/>
    <xsd:import namespace="7584c457-6b5a-4caa-be47-be979cbe6555"/>
    <xsd:import namespace="723aa48c-73f2-40da-86b1-f1ae286477f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1:_ip_UnifiedCompliancePolicyProperties" minOccurs="0"/>
                <xsd:element ref="ns1:_ip_UnifiedCompliancePolicyUIAction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84c457-6b5a-4caa-be47-be979cbe65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d16a427a-858a-487d-80a3-21f23792e06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3aa48c-73f2-40da-86b1-f1ae286477fe" elementFormDefault="qualified">
    <xsd:import namespace="http://schemas.microsoft.com/office/2006/documentManagement/types"/>
    <xsd:import namespace="http://schemas.microsoft.com/office/infopath/2007/PartnerControls"/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5" nillable="true" ma:displayName="Taxonomy Catch All Column" ma:hidden="true" ma:list="{18387b12-f69f-4719-8b38-c3231d645ace}" ma:internalName="TaxCatchAll" ma:showField="CatchAllData" ma:web="723aa48c-73f2-40da-86b1-f1ae286477f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723aa48c-73f2-40da-86b1-f1ae286477fe" xsi:nil="true"/>
    <lcf76f155ced4ddcb4097134ff3c332f xmlns="7584c457-6b5a-4caa-be47-be979cbe6555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7984A3A-9086-4807-8CEE-21BA5C2D64C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584c457-6b5a-4caa-be47-be979cbe6555"/>
    <ds:schemaRef ds:uri="723aa48c-73f2-40da-86b1-f1ae286477f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996DB7C-76B3-472D-8F6F-C8E69FE568F8}">
  <ds:schemaRefs>
    <ds:schemaRef ds:uri="http://schemas.microsoft.com/office/2006/metadata/properties"/>
    <ds:schemaRef ds:uri="7584c457-6b5a-4caa-be47-be979cbe6555"/>
    <ds:schemaRef ds:uri="http://schemas.microsoft.com/sharepoint/v3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723aa48c-73f2-40da-86b1-f1ae286477fe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3C286B8C-FFD3-47CE-9E8F-4104A49DEB88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7ab80a06-f029-45c0-84d1-7dad19ce3c61}" enabled="0" method="" siteId="{7ab80a06-f029-45c0-84d1-7dad19ce3c6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32706</TotalTime>
  <Words>5147</Words>
  <Application>Microsoft Office PowerPoint</Application>
  <PresentationFormat>Letter Paper (8.5x11 in)</PresentationFormat>
  <Paragraphs>716</Paragraphs>
  <Slides>39</Slides>
  <Notes>19</Notes>
  <HiddenSlides>7</HiddenSlides>
  <MMClips>7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7" baseType="lpstr">
      <vt:lpstr>Aptos</vt:lpstr>
      <vt:lpstr>Arial</vt:lpstr>
      <vt:lpstr>Cambria Math</vt:lpstr>
      <vt:lpstr>Segoe UI</vt:lpstr>
      <vt:lpstr>Tahoma</vt:lpstr>
      <vt:lpstr>ui-sans-serif</vt:lpstr>
      <vt:lpstr>Wingdings</vt:lpstr>
      <vt:lpstr>Office Theme</vt:lpstr>
      <vt:lpstr>Lesson 14</vt:lpstr>
      <vt:lpstr>Assembly, Integration, and Test (AIT)</vt:lpstr>
      <vt:lpstr>Steps in Design, Manufacturing, AIT</vt:lpstr>
      <vt:lpstr>Requirements Flowdown</vt:lpstr>
      <vt:lpstr>Systems Engineering “V” Model</vt:lpstr>
      <vt:lpstr>Definitions</vt:lpstr>
      <vt:lpstr>Verification Process</vt:lpstr>
      <vt:lpstr>Verification Methods</vt:lpstr>
      <vt:lpstr>PowerPoint Presentation</vt:lpstr>
      <vt:lpstr>Steps of the Verification Process (1/2)</vt:lpstr>
      <vt:lpstr>Steps of the Verification Process (2/2)</vt:lpstr>
      <vt:lpstr>Testing</vt:lpstr>
      <vt:lpstr>Definitions</vt:lpstr>
      <vt:lpstr>Test Levels</vt:lpstr>
      <vt:lpstr>Test Categories</vt:lpstr>
      <vt:lpstr>Life of a Test</vt:lpstr>
      <vt:lpstr>Test Types</vt:lpstr>
      <vt:lpstr>Specification Performance  (“Full Functional”) Test </vt:lpstr>
      <vt:lpstr>Pressure and Leakage Tests</vt:lpstr>
      <vt:lpstr>Electromagnetic Interference &amp; Compatibility (EMI &amp; EMC) Testing</vt:lpstr>
      <vt:lpstr>Anechoic Chamber</vt:lpstr>
      <vt:lpstr>Deployment Testing</vt:lpstr>
      <vt:lpstr>Solar Array Deployment: Juno &amp; GOES-R</vt:lpstr>
      <vt:lpstr>Vibration Testing</vt:lpstr>
      <vt:lpstr>Vibration Testing – Sine Sweep</vt:lpstr>
      <vt:lpstr>Vibration Testing - Random</vt:lpstr>
      <vt:lpstr>Vibration Testing – Sine Burst</vt:lpstr>
      <vt:lpstr>Vibration Testing - Comparison</vt:lpstr>
      <vt:lpstr>Acoustic Testing</vt:lpstr>
      <vt:lpstr>Acoustic Testing</vt:lpstr>
      <vt:lpstr>Thermal Tests</vt:lpstr>
      <vt:lpstr>Thermal Vacuum Test</vt:lpstr>
      <vt:lpstr>Bake-Out</vt:lpstr>
      <vt:lpstr>Mass Properties Testing</vt:lpstr>
      <vt:lpstr>Example Integration &amp; Test Flow</vt:lpstr>
      <vt:lpstr>Test Like You Fly (TLYF)</vt:lpstr>
      <vt:lpstr>FalconSAT Notes</vt:lpstr>
      <vt:lpstr>Extra Material</vt:lpstr>
      <vt:lpstr>Clean Rooms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Harris, Wyatt J Lt Col USAF USAFA DF/DFAS</dc:creator>
  <cp:lastModifiedBy>Harris, Wyatt J Lt Col USAF USAFA DF/DFAS</cp:lastModifiedBy>
  <cp:revision>4</cp:revision>
  <cp:lastPrinted>2025-08-01T16:37:26Z</cp:lastPrinted>
  <dcterms:created xsi:type="dcterms:W3CDTF">2025-07-17T17:53:42Z</dcterms:created>
  <dcterms:modified xsi:type="dcterms:W3CDTF">2026-03-13T14:34:49Z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0x010100E0C902C3CBC54D4FA7075784AD88F5EC</vt:lpwstr>
  </property>
  <property fmtid="{D5CDD505-2E9C-101B-9397-08002B2CF9AE}" pid="3" name="MediaServiceImageTags">
    <vt:lpwstr/>
  </property>
</Properties>
</file>