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2"/>
  </p:notesMasterIdLst>
  <p:sldIdLst>
    <p:sldId id="256" r:id="rId5"/>
    <p:sldId id="774" r:id="rId6"/>
    <p:sldId id="298" r:id="rId7"/>
    <p:sldId id="309" r:id="rId8"/>
    <p:sldId id="310" r:id="rId9"/>
    <p:sldId id="763" r:id="rId10"/>
    <p:sldId id="311" r:id="rId11"/>
    <p:sldId id="769" r:id="rId12"/>
    <p:sldId id="764" r:id="rId13"/>
    <p:sldId id="312" r:id="rId14"/>
    <p:sldId id="770" r:id="rId15"/>
    <p:sldId id="765" r:id="rId16"/>
    <p:sldId id="313" r:id="rId17"/>
    <p:sldId id="314" r:id="rId18"/>
    <p:sldId id="303" r:id="rId19"/>
    <p:sldId id="771" r:id="rId20"/>
    <p:sldId id="772" r:id="rId21"/>
    <p:sldId id="315" r:id="rId22"/>
    <p:sldId id="304" r:id="rId23"/>
    <p:sldId id="302" r:id="rId24"/>
    <p:sldId id="305" r:id="rId25"/>
    <p:sldId id="766" r:id="rId26"/>
    <p:sldId id="316" r:id="rId27"/>
    <p:sldId id="317" r:id="rId28"/>
    <p:sldId id="300" r:id="rId29"/>
    <p:sldId id="773" r:id="rId30"/>
    <p:sldId id="767" r:id="rId31"/>
    <p:sldId id="318" r:id="rId32"/>
    <p:sldId id="319" r:id="rId33"/>
    <p:sldId id="299" r:id="rId34"/>
    <p:sldId id="306" r:id="rId35"/>
    <p:sldId id="289" r:id="rId36"/>
    <p:sldId id="768" r:id="rId37"/>
    <p:sldId id="320" r:id="rId38"/>
    <p:sldId id="307" r:id="rId39"/>
    <p:sldId id="308" r:id="rId40"/>
    <p:sldId id="297" r:id="rId41"/>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AE76B6-D196-418C-99EF-5B77D6058295}" v="19" dt="2026-01-21T15:33:17.189"/>
    <p1510:client id="{ED8E713D-C269-484C-8960-9EDF304C6F7D}" v="325" dt="2026-01-21T04:47:21.7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95571437-1CDD-49A9-9F44-9267EE8F1204}"/>
    <pc:docChg chg="undo custSel addSld delSld modSld sldOrd modMainMaster">
      <pc:chgData name="Harris, Wyatt J Lt Col USAF USAFA DF/DFAS" userId="768bfb95-c272-4014-8fa2-010c15306053" providerId="ADAL" clId="{95571437-1CDD-49A9-9F44-9267EE8F1204}" dt="2026-01-21T04:48:37.146" v="6387" actId="14100"/>
      <pc:docMkLst>
        <pc:docMk/>
      </pc:docMkLst>
      <pc:sldChg chg="modSp mod">
        <pc:chgData name="Harris, Wyatt J Lt Col USAF USAFA DF/DFAS" userId="768bfb95-c272-4014-8fa2-010c15306053" providerId="ADAL" clId="{95571437-1CDD-49A9-9F44-9267EE8F1204}" dt="2026-01-21T03:20:49.153" v="5823" actId="20577"/>
        <pc:sldMkLst>
          <pc:docMk/>
          <pc:sldMk cId="3188062351" sldId="256"/>
        </pc:sldMkLst>
        <pc:spChg chg="mod">
          <ac:chgData name="Harris, Wyatt J Lt Col USAF USAFA DF/DFAS" userId="768bfb95-c272-4014-8fa2-010c15306053" providerId="ADAL" clId="{95571437-1CDD-49A9-9F44-9267EE8F1204}" dt="2026-01-21T03:20:49.153" v="5823" actId="20577"/>
          <ac:spMkLst>
            <pc:docMk/>
            <pc:sldMk cId="3188062351" sldId="256"/>
            <ac:spMk id="2" creationId="{1560E2C4-BC94-2EEF-55E0-A1575A57F58F}"/>
          </ac:spMkLst>
        </pc:spChg>
      </pc:sldChg>
      <pc:sldChg chg="delSp modSp mod modAnim">
        <pc:chgData name="Harris, Wyatt J Lt Col USAF USAFA DF/DFAS" userId="768bfb95-c272-4014-8fa2-010c15306053" providerId="ADAL" clId="{95571437-1CDD-49A9-9F44-9267EE8F1204}" dt="2026-01-21T03:37:04.662" v="5882" actId="113"/>
        <pc:sldMkLst>
          <pc:docMk/>
          <pc:sldMk cId="4086587340" sldId="298"/>
        </pc:sldMkLst>
        <pc:spChg chg="del mod">
          <ac:chgData name="Harris, Wyatt J Lt Col USAF USAFA DF/DFAS" userId="768bfb95-c272-4014-8fa2-010c15306053" providerId="ADAL" clId="{95571437-1CDD-49A9-9F44-9267EE8F1204}" dt="2026-01-21T03:35:09.300" v="5869" actId="478"/>
          <ac:spMkLst>
            <pc:docMk/>
            <pc:sldMk cId="4086587340" sldId="298"/>
            <ac:spMk id="12" creationId="{00000000-0000-0000-0000-000000000000}"/>
          </ac:spMkLst>
        </pc:spChg>
        <pc:spChg chg="mod">
          <ac:chgData name="Harris, Wyatt J Lt Col USAF USAFA DF/DFAS" userId="768bfb95-c272-4014-8fa2-010c15306053" providerId="ADAL" clId="{95571437-1CDD-49A9-9F44-9267EE8F1204}" dt="2026-01-21T03:37:04.662" v="5882" actId="113"/>
          <ac:spMkLst>
            <pc:docMk/>
            <pc:sldMk cId="4086587340" sldId="298"/>
            <ac:spMk id="54274" creationId="{00000000-0000-0000-0000-000000000000}"/>
          </ac:spMkLst>
        </pc:spChg>
        <pc:spChg chg="mod">
          <ac:chgData name="Harris, Wyatt J Lt Col USAF USAFA DF/DFAS" userId="768bfb95-c272-4014-8fa2-010c15306053" providerId="ADAL" clId="{95571437-1CDD-49A9-9F44-9267EE8F1204}" dt="2026-01-21T03:35:44.857" v="5880" actId="1076"/>
          <ac:spMkLst>
            <pc:docMk/>
            <pc:sldMk cId="4086587340" sldId="298"/>
            <ac:spMk id="54277" creationId="{00000000-0000-0000-0000-000000000000}"/>
          </ac:spMkLst>
        </pc:spChg>
        <pc:spChg chg="mod">
          <ac:chgData name="Harris, Wyatt J Lt Col USAF USAFA DF/DFAS" userId="768bfb95-c272-4014-8fa2-010c15306053" providerId="ADAL" clId="{95571437-1CDD-49A9-9F44-9267EE8F1204}" dt="2026-01-21T03:35:47.595" v="5881" actId="1076"/>
          <ac:spMkLst>
            <pc:docMk/>
            <pc:sldMk cId="4086587340" sldId="298"/>
            <ac:spMk id="54278" creationId="{00000000-0000-0000-0000-000000000000}"/>
          </ac:spMkLst>
        </pc:spChg>
        <pc:picChg chg="mod">
          <ac:chgData name="Harris, Wyatt J Lt Col USAF USAFA DF/DFAS" userId="768bfb95-c272-4014-8fa2-010c15306053" providerId="ADAL" clId="{95571437-1CDD-49A9-9F44-9267EE8F1204}" dt="2026-01-21T03:34:45.196" v="5861" actId="1076"/>
          <ac:picMkLst>
            <pc:docMk/>
            <pc:sldMk cId="4086587340" sldId="298"/>
            <ac:picMk id="2" creationId="{00000000-0000-0000-0000-000000000000}"/>
          </ac:picMkLst>
        </pc:picChg>
        <pc:picChg chg="mod">
          <ac:chgData name="Harris, Wyatt J Lt Col USAF USAFA DF/DFAS" userId="768bfb95-c272-4014-8fa2-010c15306053" providerId="ADAL" clId="{95571437-1CDD-49A9-9F44-9267EE8F1204}" dt="2026-01-21T03:35:42.945" v="5879" actId="1076"/>
          <ac:picMkLst>
            <pc:docMk/>
            <pc:sldMk cId="4086587340" sldId="298"/>
            <ac:picMk id="54280" creationId="{00000000-0000-0000-0000-000000000000}"/>
          </ac:picMkLst>
        </pc:picChg>
      </pc:sldChg>
      <pc:sldChg chg="modSp mod">
        <pc:chgData name="Harris, Wyatt J Lt Col USAF USAFA DF/DFAS" userId="768bfb95-c272-4014-8fa2-010c15306053" providerId="ADAL" clId="{95571437-1CDD-49A9-9F44-9267EE8F1204}" dt="2026-01-21T04:14:15.991" v="6164" actId="1076"/>
        <pc:sldMkLst>
          <pc:docMk/>
          <pc:sldMk cId="2918600253" sldId="302"/>
        </pc:sldMkLst>
        <pc:picChg chg="mod">
          <ac:chgData name="Harris, Wyatt J Lt Col USAF USAFA DF/DFAS" userId="768bfb95-c272-4014-8fa2-010c15306053" providerId="ADAL" clId="{95571437-1CDD-49A9-9F44-9267EE8F1204}" dt="2026-01-21T04:14:15.991" v="6164" actId="1076"/>
          <ac:picMkLst>
            <pc:docMk/>
            <pc:sldMk cId="2918600253" sldId="302"/>
            <ac:picMk id="3" creationId="{00000000-0000-0000-0000-000000000000}"/>
          </ac:picMkLst>
        </pc:picChg>
      </pc:sldChg>
      <pc:sldChg chg="modAnim">
        <pc:chgData name="Harris, Wyatt J Lt Col USAF USAFA DF/DFAS" userId="768bfb95-c272-4014-8fa2-010c15306053" providerId="ADAL" clId="{95571437-1CDD-49A9-9F44-9267EE8F1204}" dt="2026-01-21T03:37:21.761" v="5885"/>
        <pc:sldMkLst>
          <pc:docMk/>
          <pc:sldMk cId="1250796364" sldId="309"/>
        </pc:sldMkLst>
      </pc:sldChg>
      <pc:sldChg chg="modSp">
        <pc:chgData name="Harris, Wyatt J Lt Col USAF USAFA DF/DFAS" userId="768bfb95-c272-4014-8fa2-010c15306053" providerId="ADAL" clId="{95571437-1CDD-49A9-9F44-9267EE8F1204}" dt="2026-01-21T03:50:16.071" v="5946" actId="207"/>
        <pc:sldMkLst>
          <pc:docMk/>
          <pc:sldMk cId="4261757488" sldId="310"/>
        </pc:sldMkLst>
        <pc:spChg chg="mod">
          <ac:chgData name="Harris, Wyatt J Lt Col USAF USAFA DF/DFAS" userId="768bfb95-c272-4014-8fa2-010c15306053" providerId="ADAL" clId="{95571437-1CDD-49A9-9F44-9267EE8F1204}" dt="2026-01-21T03:50:16.071" v="5946" actId="207"/>
          <ac:spMkLst>
            <pc:docMk/>
            <pc:sldMk cId="4261757488" sldId="310"/>
            <ac:spMk id="3" creationId="{00000000-0000-0000-0000-000000000000}"/>
          </ac:spMkLst>
        </pc:spChg>
      </pc:sldChg>
      <pc:sldChg chg="addSp delSp modSp mod modAnim">
        <pc:chgData name="Harris, Wyatt J Lt Col USAF USAFA DF/DFAS" userId="768bfb95-c272-4014-8fa2-010c15306053" providerId="ADAL" clId="{95571437-1CDD-49A9-9F44-9267EE8F1204}" dt="2026-01-21T04:41:43.130" v="6350" actId="1076"/>
        <pc:sldMkLst>
          <pc:docMk/>
          <pc:sldMk cId="3301423435" sldId="311"/>
        </pc:sldMkLst>
        <pc:spChg chg="mod">
          <ac:chgData name="Harris, Wyatt J Lt Col USAF USAFA DF/DFAS" userId="768bfb95-c272-4014-8fa2-010c15306053" providerId="ADAL" clId="{95571437-1CDD-49A9-9F44-9267EE8F1204}" dt="2026-01-21T03:50:27.072" v="5949" actId="207"/>
          <ac:spMkLst>
            <pc:docMk/>
            <pc:sldMk cId="3301423435" sldId="311"/>
            <ac:spMk id="2" creationId="{00000000-0000-0000-0000-000000000000}"/>
          </ac:spMkLst>
        </pc:spChg>
        <pc:spChg chg="mod">
          <ac:chgData name="Harris, Wyatt J Lt Col USAF USAFA DF/DFAS" userId="768bfb95-c272-4014-8fa2-010c15306053" providerId="ADAL" clId="{95571437-1CDD-49A9-9F44-9267EE8F1204}" dt="2026-01-21T04:41:36.926" v="6347" actId="1076"/>
          <ac:spMkLst>
            <pc:docMk/>
            <pc:sldMk cId="3301423435" sldId="311"/>
            <ac:spMk id="3" creationId="{00000000-0000-0000-0000-000000000000}"/>
          </ac:spMkLst>
        </pc:spChg>
        <pc:spChg chg="add del">
          <ac:chgData name="Harris, Wyatt J Lt Col USAF USAFA DF/DFAS" userId="768bfb95-c272-4014-8fa2-010c15306053" providerId="ADAL" clId="{95571437-1CDD-49A9-9F44-9267EE8F1204}" dt="2026-01-21T03:49:29.636" v="5940" actId="478"/>
          <ac:spMkLst>
            <pc:docMk/>
            <pc:sldMk cId="3301423435" sldId="311"/>
            <ac:spMk id="5" creationId="{069B9F37-32A8-BCEE-1A8B-06934691A10D}"/>
          </ac:spMkLst>
        </pc:spChg>
        <pc:picChg chg="add mod">
          <ac:chgData name="Harris, Wyatt J Lt Col USAF USAFA DF/DFAS" userId="768bfb95-c272-4014-8fa2-010c15306053" providerId="ADAL" clId="{95571437-1CDD-49A9-9F44-9267EE8F1204}" dt="2026-01-21T04:41:43.130" v="6350" actId="1076"/>
          <ac:picMkLst>
            <pc:docMk/>
            <pc:sldMk cId="3301423435" sldId="311"/>
            <ac:picMk id="7" creationId="{B3DED40E-79DC-9AA7-5B30-9953312C34C3}"/>
          </ac:picMkLst>
        </pc:picChg>
        <pc:picChg chg="add del mod">
          <ac:chgData name="Harris, Wyatt J Lt Col USAF USAFA DF/DFAS" userId="768bfb95-c272-4014-8fa2-010c15306053" providerId="ADAL" clId="{95571437-1CDD-49A9-9F44-9267EE8F1204}" dt="2026-01-21T03:42:52.598" v="5889" actId="478"/>
          <ac:picMkLst>
            <pc:docMk/>
            <pc:sldMk cId="3301423435" sldId="311"/>
            <ac:picMk id="1026" creationId="{FBBCB8F4-DEF3-99A8-678C-5D42D780D507}"/>
          </ac:picMkLst>
        </pc:picChg>
      </pc:sldChg>
      <pc:sldChg chg="addSp delSp modSp mod modAnim">
        <pc:chgData name="Harris, Wyatt J Lt Col USAF USAFA DF/DFAS" userId="768bfb95-c272-4014-8fa2-010c15306053" providerId="ADAL" clId="{95571437-1CDD-49A9-9F44-9267EE8F1204}" dt="2026-01-21T04:02:22.255" v="6040" actId="1076"/>
        <pc:sldMkLst>
          <pc:docMk/>
          <pc:sldMk cId="522818464" sldId="312"/>
        </pc:sldMkLst>
        <pc:spChg chg="mod">
          <ac:chgData name="Harris, Wyatt J Lt Col USAF USAFA DF/DFAS" userId="768bfb95-c272-4014-8fa2-010c15306053" providerId="ADAL" clId="{95571437-1CDD-49A9-9F44-9267EE8F1204}" dt="2026-01-21T03:50:36.391" v="5952" actId="207"/>
          <ac:spMkLst>
            <pc:docMk/>
            <pc:sldMk cId="522818464" sldId="312"/>
            <ac:spMk id="2" creationId="{00000000-0000-0000-0000-000000000000}"/>
          </ac:spMkLst>
        </pc:spChg>
        <pc:spChg chg="mod">
          <ac:chgData name="Harris, Wyatt J Lt Col USAF USAFA DF/DFAS" userId="768bfb95-c272-4014-8fa2-010c15306053" providerId="ADAL" clId="{95571437-1CDD-49A9-9F44-9267EE8F1204}" dt="2026-01-21T03:56:55.104" v="6003" actId="20577"/>
          <ac:spMkLst>
            <pc:docMk/>
            <pc:sldMk cId="522818464" sldId="312"/>
            <ac:spMk id="3" creationId="{00000000-0000-0000-0000-000000000000}"/>
          </ac:spMkLst>
        </pc:spChg>
        <pc:picChg chg="add mod">
          <ac:chgData name="Harris, Wyatt J Lt Col USAF USAFA DF/DFAS" userId="768bfb95-c272-4014-8fa2-010c15306053" providerId="ADAL" clId="{95571437-1CDD-49A9-9F44-9267EE8F1204}" dt="2026-01-21T04:02:22.255" v="6040" actId="1076"/>
          <ac:picMkLst>
            <pc:docMk/>
            <pc:sldMk cId="522818464" sldId="312"/>
            <ac:picMk id="6" creationId="{DFCE066F-154C-F708-036B-B54DEDB24EAA}"/>
          </ac:picMkLst>
        </pc:picChg>
        <pc:picChg chg="add del mod">
          <ac:chgData name="Harris, Wyatt J Lt Col USAF USAFA DF/DFAS" userId="768bfb95-c272-4014-8fa2-010c15306053" providerId="ADAL" clId="{95571437-1CDD-49A9-9F44-9267EE8F1204}" dt="2026-01-21T04:02:09.778" v="6036" actId="478"/>
          <ac:picMkLst>
            <pc:docMk/>
            <pc:sldMk cId="522818464" sldId="312"/>
            <ac:picMk id="4098" creationId="{4C98BC58-A33C-D0BF-F33F-126FE38749E6}"/>
          </ac:picMkLst>
        </pc:picChg>
        <pc:picChg chg="add mod">
          <ac:chgData name="Harris, Wyatt J Lt Col USAF USAFA DF/DFAS" userId="768bfb95-c272-4014-8fa2-010c15306053" providerId="ADAL" clId="{95571437-1CDD-49A9-9F44-9267EE8F1204}" dt="2026-01-21T04:02:19.231" v="6039" actId="1076"/>
          <ac:picMkLst>
            <pc:docMk/>
            <pc:sldMk cId="522818464" sldId="312"/>
            <ac:picMk id="4100" creationId="{BC158A21-2F4C-65FD-1B9E-564A1EA00387}"/>
          </ac:picMkLst>
        </pc:picChg>
      </pc:sldChg>
      <pc:sldChg chg="addSp delSp modSp mod modNotesTx">
        <pc:chgData name="Harris, Wyatt J Lt Col USAF USAFA DF/DFAS" userId="768bfb95-c272-4014-8fa2-010c15306053" providerId="ADAL" clId="{95571437-1CDD-49A9-9F44-9267EE8F1204}" dt="2026-01-21T04:13:21.060" v="6153" actId="1076"/>
        <pc:sldMkLst>
          <pc:docMk/>
          <pc:sldMk cId="1339876299" sldId="313"/>
        </pc:sldMkLst>
        <pc:spChg chg="mod">
          <ac:chgData name="Harris, Wyatt J Lt Col USAF USAFA DF/DFAS" userId="768bfb95-c272-4014-8fa2-010c15306053" providerId="ADAL" clId="{95571437-1CDD-49A9-9F44-9267EE8F1204}" dt="2026-01-21T04:04:01.328" v="6059" actId="1076"/>
          <ac:spMkLst>
            <pc:docMk/>
            <pc:sldMk cId="1339876299" sldId="313"/>
            <ac:spMk id="3" creationId="{00000000-0000-0000-0000-000000000000}"/>
          </ac:spMkLst>
        </pc:spChg>
        <pc:spChg chg="add mod">
          <ac:chgData name="Harris, Wyatt J Lt Col USAF USAFA DF/DFAS" userId="768bfb95-c272-4014-8fa2-010c15306053" providerId="ADAL" clId="{95571437-1CDD-49A9-9F44-9267EE8F1204}" dt="2026-01-21T04:13:19.277" v="6152" actId="1076"/>
          <ac:spMkLst>
            <pc:docMk/>
            <pc:sldMk cId="1339876299" sldId="313"/>
            <ac:spMk id="6" creationId="{D597CA36-EEC5-E2F8-8231-7E8E34AA4556}"/>
          </ac:spMkLst>
        </pc:spChg>
        <pc:picChg chg="add mod">
          <ac:chgData name="Harris, Wyatt J Lt Col USAF USAFA DF/DFAS" userId="768bfb95-c272-4014-8fa2-010c15306053" providerId="ADAL" clId="{95571437-1CDD-49A9-9F44-9267EE8F1204}" dt="2026-01-21T04:13:19.277" v="6152" actId="1076"/>
          <ac:picMkLst>
            <pc:docMk/>
            <pc:sldMk cId="1339876299" sldId="313"/>
            <ac:picMk id="5122" creationId="{5AC0423C-092A-CB84-ADEA-72025AE4FB87}"/>
          </ac:picMkLst>
        </pc:picChg>
        <pc:picChg chg="add mod">
          <ac:chgData name="Harris, Wyatt J Lt Col USAF USAFA DF/DFAS" userId="768bfb95-c272-4014-8fa2-010c15306053" providerId="ADAL" clId="{95571437-1CDD-49A9-9F44-9267EE8F1204}" dt="2026-01-21T04:13:21.060" v="6153" actId="1076"/>
          <ac:picMkLst>
            <pc:docMk/>
            <pc:sldMk cId="1339876299" sldId="313"/>
            <ac:picMk id="5124" creationId="{425F7FE8-7623-04D1-2664-89CF1EA6EF97}"/>
          </ac:picMkLst>
        </pc:picChg>
        <pc:picChg chg="add del mod">
          <ac:chgData name="Harris, Wyatt J Lt Col USAF USAFA DF/DFAS" userId="768bfb95-c272-4014-8fa2-010c15306053" providerId="ADAL" clId="{95571437-1CDD-49A9-9F44-9267EE8F1204}" dt="2026-01-21T04:13:16.290" v="6151" actId="21"/>
          <ac:picMkLst>
            <pc:docMk/>
            <pc:sldMk cId="1339876299" sldId="313"/>
            <ac:picMk id="5126" creationId="{500217A4-0994-BCA7-5A76-DE5F75745907}"/>
          </ac:picMkLst>
        </pc:picChg>
      </pc:sldChg>
      <pc:sldChg chg="modAnim modNotesTx">
        <pc:chgData name="Harris, Wyatt J Lt Col USAF USAFA DF/DFAS" userId="768bfb95-c272-4014-8fa2-010c15306053" providerId="ADAL" clId="{95571437-1CDD-49A9-9F44-9267EE8F1204}" dt="2026-01-21T04:09:46.238" v="6116" actId="20577"/>
        <pc:sldMkLst>
          <pc:docMk/>
          <pc:sldMk cId="546898285" sldId="314"/>
        </pc:sldMkLst>
      </pc:sldChg>
      <pc:sldChg chg="addSp modSp modAnim">
        <pc:chgData name="Harris, Wyatt J Lt Col USAF USAFA DF/DFAS" userId="768bfb95-c272-4014-8fa2-010c15306053" providerId="ADAL" clId="{95571437-1CDD-49A9-9F44-9267EE8F1204}" dt="2026-01-21T04:14:02.471" v="6162"/>
        <pc:sldMkLst>
          <pc:docMk/>
          <pc:sldMk cId="4084666816" sldId="315"/>
        </pc:sldMkLst>
        <pc:spChg chg="mod">
          <ac:chgData name="Harris, Wyatt J Lt Col USAF USAFA DF/DFAS" userId="768bfb95-c272-4014-8fa2-010c15306053" providerId="ADAL" clId="{95571437-1CDD-49A9-9F44-9267EE8F1204}" dt="2026-01-21T04:13:35.203" v="6158" actId="113"/>
          <ac:spMkLst>
            <pc:docMk/>
            <pc:sldMk cId="4084666816" sldId="315"/>
            <ac:spMk id="3" creationId="{00000000-0000-0000-0000-000000000000}"/>
          </ac:spMkLst>
        </pc:spChg>
        <pc:picChg chg="add mod">
          <ac:chgData name="Harris, Wyatt J Lt Col USAF USAFA DF/DFAS" userId="768bfb95-c272-4014-8fa2-010c15306053" providerId="ADAL" clId="{95571437-1CDD-49A9-9F44-9267EE8F1204}" dt="2026-01-21T04:13:30.657" v="6157" actId="1076"/>
          <ac:picMkLst>
            <pc:docMk/>
            <pc:sldMk cId="4084666816" sldId="315"/>
            <ac:picMk id="5126" creationId="{500217A4-0994-BCA7-5A76-DE5F75745907}"/>
          </ac:picMkLst>
        </pc:picChg>
      </pc:sldChg>
      <pc:sldChg chg="addSp delSp modSp mod modNotesTx">
        <pc:chgData name="Harris, Wyatt J Lt Col USAF USAFA DF/DFAS" userId="768bfb95-c272-4014-8fa2-010c15306053" providerId="ADAL" clId="{95571437-1CDD-49A9-9F44-9267EE8F1204}" dt="2026-01-21T04:33:09.942" v="6274" actId="20577"/>
        <pc:sldMkLst>
          <pc:docMk/>
          <pc:sldMk cId="916469863" sldId="316"/>
        </pc:sldMkLst>
        <pc:spChg chg="mod">
          <ac:chgData name="Harris, Wyatt J Lt Col USAF USAFA DF/DFAS" userId="768bfb95-c272-4014-8fa2-010c15306053" providerId="ADAL" clId="{95571437-1CDD-49A9-9F44-9267EE8F1204}" dt="2026-01-21T04:32:49" v="6268" actId="404"/>
          <ac:spMkLst>
            <pc:docMk/>
            <pc:sldMk cId="916469863" sldId="316"/>
            <ac:spMk id="4" creationId="{00000000-0000-0000-0000-000000000000}"/>
          </ac:spMkLst>
        </pc:spChg>
        <pc:picChg chg="add del mod">
          <ac:chgData name="Harris, Wyatt J Lt Col USAF USAFA DF/DFAS" userId="768bfb95-c272-4014-8fa2-010c15306053" providerId="ADAL" clId="{95571437-1CDD-49A9-9F44-9267EE8F1204}" dt="2026-01-21T04:32:41.499" v="6265" actId="478"/>
          <ac:picMkLst>
            <pc:docMk/>
            <pc:sldMk cId="916469863" sldId="316"/>
            <ac:picMk id="7170" creationId="{456F2130-6173-5397-D24B-52DAAFC66E95}"/>
          </ac:picMkLst>
        </pc:picChg>
        <pc:picChg chg="add del">
          <ac:chgData name="Harris, Wyatt J Lt Col USAF USAFA DF/DFAS" userId="768bfb95-c272-4014-8fa2-010c15306053" providerId="ADAL" clId="{95571437-1CDD-49A9-9F44-9267EE8F1204}" dt="2026-01-21T04:24:10.630" v="6207" actId="478"/>
          <ac:picMkLst>
            <pc:docMk/>
            <pc:sldMk cId="916469863" sldId="316"/>
            <ac:picMk id="7172" creationId="{DF29BE50-DFDC-EA8B-A2F1-48D193B27C19}"/>
          </ac:picMkLst>
        </pc:picChg>
        <pc:picChg chg="add mod">
          <ac:chgData name="Harris, Wyatt J Lt Col USAF USAFA DF/DFAS" userId="768bfb95-c272-4014-8fa2-010c15306053" providerId="ADAL" clId="{95571437-1CDD-49A9-9F44-9267EE8F1204}" dt="2026-01-21T04:32:59.473" v="6273" actId="1076"/>
          <ac:picMkLst>
            <pc:docMk/>
            <pc:sldMk cId="916469863" sldId="316"/>
            <ac:picMk id="7174" creationId="{BED15CF1-5F55-5DD2-01A6-FE1ED20159EA}"/>
          </ac:picMkLst>
        </pc:picChg>
      </pc:sldChg>
      <pc:sldChg chg="modSp mod modAnim modNotesTx">
        <pc:chgData name="Harris, Wyatt J Lt Col USAF USAFA DF/DFAS" userId="768bfb95-c272-4014-8fa2-010c15306053" providerId="ADAL" clId="{95571437-1CDD-49A9-9F44-9267EE8F1204}" dt="2026-01-21T04:37:22.745" v="6312" actId="20577"/>
        <pc:sldMkLst>
          <pc:docMk/>
          <pc:sldMk cId="3110439962" sldId="317"/>
        </pc:sldMkLst>
        <pc:spChg chg="mod">
          <ac:chgData name="Harris, Wyatt J Lt Col USAF USAFA DF/DFAS" userId="768bfb95-c272-4014-8fa2-010c15306053" providerId="ADAL" clId="{95571437-1CDD-49A9-9F44-9267EE8F1204}" dt="2026-01-21T04:31:58.451" v="6262" actId="113"/>
          <ac:spMkLst>
            <pc:docMk/>
            <pc:sldMk cId="3110439962" sldId="317"/>
            <ac:spMk id="3" creationId="{00000000-0000-0000-0000-000000000000}"/>
          </ac:spMkLst>
        </pc:spChg>
      </pc:sldChg>
      <pc:sldChg chg="modSp modAnim modNotesTx">
        <pc:chgData name="Harris, Wyatt J Lt Col USAF USAFA DF/DFAS" userId="768bfb95-c272-4014-8fa2-010c15306053" providerId="ADAL" clId="{95571437-1CDD-49A9-9F44-9267EE8F1204}" dt="2026-01-21T04:37:06.256" v="6311" actId="20577"/>
        <pc:sldMkLst>
          <pc:docMk/>
          <pc:sldMk cId="2592563765" sldId="318"/>
        </pc:sldMkLst>
        <pc:spChg chg="mod">
          <ac:chgData name="Harris, Wyatt J Lt Col USAF USAFA DF/DFAS" userId="768bfb95-c272-4014-8fa2-010c15306053" providerId="ADAL" clId="{95571437-1CDD-49A9-9F44-9267EE8F1204}" dt="2026-01-21T04:37:06.256" v="6311" actId="20577"/>
          <ac:spMkLst>
            <pc:docMk/>
            <pc:sldMk cId="2592563765" sldId="318"/>
            <ac:spMk id="4" creationId="{00000000-0000-0000-0000-000000000000}"/>
          </ac:spMkLst>
        </pc:spChg>
      </pc:sldChg>
      <pc:sldChg chg="addSp delSp modSp mod">
        <pc:chgData name="Harris, Wyatt J Lt Col USAF USAFA DF/DFAS" userId="768bfb95-c272-4014-8fa2-010c15306053" providerId="ADAL" clId="{95571437-1CDD-49A9-9F44-9267EE8F1204}" dt="2026-01-21T04:40:17.537" v="6343" actId="1076"/>
        <pc:sldMkLst>
          <pc:docMk/>
          <pc:sldMk cId="2305438334" sldId="320"/>
        </pc:sldMkLst>
        <pc:spChg chg="mod">
          <ac:chgData name="Harris, Wyatt J Lt Col USAF USAFA DF/DFAS" userId="768bfb95-c272-4014-8fa2-010c15306053" providerId="ADAL" clId="{95571437-1CDD-49A9-9F44-9267EE8F1204}" dt="2026-01-21T04:40:09.050" v="6337" actId="27636"/>
          <ac:spMkLst>
            <pc:docMk/>
            <pc:sldMk cId="2305438334" sldId="320"/>
            <ac:spMk id="4" creationId="{00000000-0000-0000-0000-000000000000}"/>
          </ac:spMkLst>
        </pc:spChg>
        <pc:picChg chg="add mod">
          <ac:chgData name="Harris, Wyatt J Lt Col USAF USAFA DF/DFAS" userId="768bfb95-c272-4014-8fa2-010c15306053" providerId="ADAL" clId="{95571437-1CDD-49A9-9F44-9267EE8F1204}" dt="2026-01-21T04:40:16.520" v="6342" actId="1076"/>
          <ac:picMkLst>
            <pc:docMk/>
            <pc:sldMk cId="2305438334" sldId="320"/>
            <ac:picMk id="9218" creationId="{71C126AE-9135-B26B-12F9-A5578F5A0342}"/>
          </ac:picMkLst>
        </pc:picChg>
        <pc:picChg chg="add del mod">
          <ac:chgData name="Harris, Wyatt J Lt Col USAF USAFA DF/DFAS" userId="768bfb95-c272-4014-8fa2-010c15306053" providerId="ADAL" clId="{95571437-1CDD-49A9-9F44-9267EE8F1204}" dt="2026-01-21T04:39:23.325" v="6319" actId="478"/>
          <ac:picMkLst>
            <pc:docMk/>
            <pc:sldMk cId="2305438334" sldId="320"/>
            <ac:picMk id="9220" creationId="{681A81E6-8B57-642E-8170-4C8185201B78}"/>
          </ac:picMkLst>
        </pc:picChg>
        <pc:picChg chg="add mod">
          <ac:chgData name="Harris, Wyatt J Lt Col USAF USAFA DF/DFAS" userId="768bfb95-c272-4014-8fa2-010c15306053" providerId="ADAL" clId="{95571437-1CDD-49A9-9F44-9267EE8F1204}" dt="2026-01-21T04:40:17.537" v="6343" actId="1076"/>
          <ac:picMkLst>
            <pc:docMk/>
            <pc:sldMk cId="2305438334" sldId="320"/>
            <ac:picMk id="9222" creationId="{7AC6CBAD-39A6-5D98-0796-7C0DA28A12A8}"/>
          </ac:picMkLst>
        </pc:picChg>
      </pc:sldChg>
      <pc:sldChg chg="modSp mod">
        <pc:chgData name="Harris, Wyatt J Lt Col USAF USAFA DF/DFAS" userId="768bfb95-c272-4014-8fa2-010c15306053" providerId="ADAL" clId="{95571437-1CDD-49A9-9F44-9267EE8F1204}" dt="2026-01-21T03:50:20.416" v="5947" actId="207"/>
        <pc:sldMkLst>
          <pc:docMk/>
          <pc:sldMk cId="1051184338" sldId="763"/>
        </pc:sldMkLst>
        <pc:spChg chg="mod">
          <ac:chgData name="Harris, Wyatt J Lt Col USAF USAFA DF/DFAS" userId="768bfb95-c272-4014-8fa2-010c15306053" providerId="ADAL" clId="{95571437-1CDD-49A9-9F44-9267EE8F1204}" dt="2026-01-21T03:50:20.416" v="5947" actId="207"/>
          <ac:spMkLst>
            <pc:docMk/>
            <pc:sldMk cId="1051184338" sldId="763"/>
            <ac:spMk id="5" creationId="{150E0C9F-289D-BE77-3DC0-C717D25CB4F7}"/>
          </ac:spMkLst>
        </pc:spChg>
      </pc:sldChg>
      <pc:sldChg chg="modSp mod">
        <pc:chgData name="Harris, Wyatt J Lt Col USAF USAFA DF/DFAS" userId="768bfb95-c272-4014-8fa2-010c15306053" providerId="ADAL" clId="{95571437-1CDD-49A9-9F44-9267EE8F1204}" dt="2026-01-21T03:50:31.390" v="5950" actId="207"/>
        <pc:sldMkLst>
          <pc:docMk/>
          <pc:sldMk cId="4083658509" sldId="764"/>
        </pc:sldMkLst>
        <pc:spChg chg="mod">
          <ac:chgData name="Harris, Wyatt J Lt Col USAF USAFA DF/DFAS" userId="768bfb95-c272-4014-8fa2-010c15306053" providerId="ADAL" clId="{95571437-1CDD-49A9-9F44-9267EE8F1204}" dt="2026-01-21T03:50:31.390" v="5950" actId="207"/>
          <ac:spMkLst>
            <pc:docMk/>
            <pc:sldMk cId="4083658509" sldId="764"/>
            <ac:spMk id="5" creationId="{D1E51EBC-690A-73EF-93D8-F01D8016B829}"/>
          </ac:spMkLst>
        </pc:spChg>
      </pc:sldChg>
      <pc:sldChg chg="modNotesTx">
        <pc:chgData name="Harris, Wyatt J Lt Col USAF USAFA DF/DFAS" userId="768bfb95-c272-4014-8fa2-010c15306053" providerId="ADAL" clId="{95571437-1CDD-49A9-9F44-9267EE8F1204}" dt="2026-01-21T04:34:56.783" v="6280" actId="20577"/>
        <pc:sldMkLst>
          <pc:docMk/>
          <pc:sldMk cId="691717262" sldId="767"/>
        </pc:sldMkLst>
      </pc:sldChg>
      <pc:sldChg chg="addSp delSp modSp new mod modNotesTx">
        <pc:chgData name="Harris, Wyatt J Lt Col USAF USAFA DF/DFAS" userId="768bfb95-c272-4014-8fa2-010c15306053" providerId="ADAL" clId="{95571437-1CDD-49A9-9F44-9267EE8F1204}" dt="2026-01-21T03:43:56.990" v="5936" actId="478"/>
        <pc:sldMkLst>
          <pc:docMk/>
          <pc:sldMk cId="2848675715" sldId="769"/>
        </pc:sldMkLst>
        <pc:spChg chg="del">
          <ac:chgData name="Harris, Wyatt J Lt Col USAF USAFA DF/DFAS" userId="768bfb95-c272-4014-8fa2-010c15306053" providerId="ADAL" clId="{95571437-1CDD-49A9-9F44-9267EE8F1204}" dt="2026-01-21T03:43:56.990" v="5936" actId="478"/>
          <ac:spMkLst>
            <pc:docMk/>
            <pc:sldMk cId="2848675715" sldId="769"/>
            <ac:spMk id="3" creationId="{51BBB394-7E7E-7F03-CEB9-C277D6D120DF}"/>
          </ac:spMkLst>
        </pc:spChg>
        <pc:spChg chg="add mod ord">
          <ac:chgData name="Harris, Wyatt J Lt Col USAF USAFA DF/DFAS" userId="768bfb95-c272-4014-8fa2-010c15306053" providerId="ADAL" clId="{95571437-1CDD-49A9-9F44-9267EE8F1204}" dt="2026-01-21T03:43:54.356" v="5935" actId="207"/>
          <ac:spMkLst>
            <pc:docMk/>
            <pc:sldMk cId="2848675715" sldId="769"/>
            <ac:spMk id="5" creationId="{2691B4C3-CE3D-660C-9408-2069541D1634}"/>
          </ac:spMkLst>
        </pc:spChg>
        <pc:picChg chg="add">
          <ac:chgData name="Harris, Wyatt J Lt Col USAF USAFA DF/DFAS" userId="768bfb95-c272-4014-8fa2-010c15306053" providerId="ADAL" clId="{95571437-1CDD-49A9-9F44-9267EE8F1204}" dt="2026-01-21T03:43:14.704" v="5891"/>
          <ac:picMkLst>
            <pc:docMk/>
            <pc:sldMk cId="2848675715" sldId="769"/>
            <ac:picMk id="2050" creationId="{469E68A0-8D73-C11C-EEBF-2F96AB396C2E}"/>
          </ac:picMkLst>
        </pc:picChg>
      </pc:sldChg>
      <pc:sldChg chg="addSp delSp modSp new mod modNotesTx">
        <pc:chgData name="Harris, Wyatt J Lt Col USAF USAFA DF/DFAS" userId="768bfb95-c272-4014-8fa2-010c15306053" providerId="ADAL" clId="{95571437-1CDD-49A9-9F44-9267EE8F1204}" dt="2026-01-21T03:59:39.883" v="6029" actId="478"/>
        <pc:sldMkLst>
          <pc:docMk/>
          <pc:sldMk cId="3560292505" sldId="770"/>
        </pc:sldMkLst>
        <pc:spChg chg="del">
          <ac:chgData name="Harris, Wyatt J Lt Col USAF USAFA DF/DFAS" userId="768bfb95-c272-4014-8fa2-010c15306053" providerId="ADAL" clId="{95571437-1CDD-49A9-9F44-9267EE8F1204}" dt="2026-01-21T03:59:39.883" v="6029" actId="478"/>
          <ac:spMkLst>
            <pc:docMk/>
            <pc:sldMk cId="3560292505" sldId="770"/>
            <ac:spMk id="3" creationId="{62154170-5897-D5F6-21A4-3BFC106CA2AE}"/>
          </ac:spMkLst>
        </pc:spChg>
        <pc:spChg chg="add mod ord">
          <ac:chgData name="Harris, Wyatt J Lt Col USAF USAFA DF/DFAS" userId="768bfb95-c272-4014-8fa2-010c15306053" providerId="ADAL" clId="{95571437-1CDD-49A9-9F44-9267EE8F1204}" dt="2026-01-21T03:59:37.204" v="6028" actId="167"/>
          <ac:spMkLst>
            <pc:docMk/>
            <pc:sldMk cId="3560292505" sldId="770"/>
            <ac:spMk id="5" creationId="{BAA1703F-A846-E330-46DB-2286035DD376}"/>
          </ac:spMkLst>
        </pc:spChg>
        <pc:picChg chg="add">
          <ac:chgData name="Harris, Wyatt J Lt Col USAF USAFA DF/DFAS" userId="768bfb95-c272-4014-8fa2-010c15306053" providerId="ADAL" clId="{95571437-1CDD-49A9-9F44-9267EE8F1204}" dt="2026-01-21T03:59:27.839" v="6026"/>
          <ac:picMkLst>
            <pc:docMk/>
            <pc:sldMk cId="3560292505" sldId="770"/>
            <ac:picMk id="3074" creationId="{3B3E69A0-2CA9-23D2-A6AD-635C1287B267}"/>
          </ac:picMkLst>
        </pc:picChg>
      </pc:sldChg>
      <pc:sldChg chg="addSp modSp new mod modNotesTx">
        <pc:chgData name="Harris, Wyatt J Lt Col USAF USAFA DF/DFAS" userId="768bfb95-c272-4014-8fa2-010c15306053" providerId="ADAL" clId="{95571437-1CDD-49A9-9F44-9267EE8F1204}" dt="2026-01-21T04:08:23.320" v="6114" actId="20577"/>
        <pc:sldMkLst>
          <pc:docMk/>
          <pc:sldMk cId="4034152456" sldId="771"/>
        </pc:sldMkLst>
        <pc:spChg chg="mod">
          <ac:chgData name="Harris, Wyatt J Lt Col USAF USAFA DF/DFAS" userId="768bfb95-c272-4014-8fa2-010c15306053" providerId="ADAL" clId="{95571437-1CDD-49A9-9F44-9267EE8F1204}" dt="2026-01-21T04:08:23.320" v="6114" actId="20577"/>
          <ac:spMkLst>
            <pc:docMk/>
            <pc:sldMk cId="4034152456" sldId="771"/>
            <ac:spMk id="2" creationId="{3C3E0BFD-0E35-BB6D-764E-409FB62CA131}"/>
          </ac:spMkLst>
        </pc:spChg>
        <pc:picChg chg="add mod">
          <ac:chgData name="Harris, Wyatt J Lt Col USAF USAFA DF/DFAS" userId="768bfb95-c272-4014-8fa2-010c15306053" providerId="ADAL" clId="{95571437-1CDD-49A9-9F44-9267EE8F1204}" dt="2026-01-21T04:08:07.966" v="6098" actId="1076"/>
          <ac:picMkLst>
            <pc:docMk/>
            <pc:sldMk cId="4034152456" sldId="771"/>
            <ac:picMk id="6" creationId="{FE66422F-17D9-32AC-A98B-574F17B85BCF}"/>
          </ac:picMkLst>
        </pc:picChg>
      </pc:sldChg>
      <pc:sldChg chg="addSp modSp new mod">
        <pc:chgData name="Harris, Wyatt J Lt Col USAF USAFA DF/DFAS" userId="768bfb95-c272-4014-8fa2-010c15306053" providerId="ADAL" clId="{95571437-1CDD-49A9-9F44-9267EE8F1204}" dt="2026-01-21T04:11:45.577" v="6137" actId="20577"/>
        <pc:sldMkLst>
          <pc:docMk/>
          <pc:sldMk cId="1279510502" sldId="772"/>
        </pc:sldMkLst>
        <pc:spChg chg="mod">
          <ac:chgData name="Harris, Wyatt J Lt Col USAF USAFA DF/DFAS" userId="768bfb95-c272-4014-8fa2-010c15306053" providerId="ADAL" clId="{95571437-1CDD-49A9-9F44-9267EE8F1204}" dt="2026-01-21T04:11:45.577" v="6137" actId="20577"/>
          <ac:spMkLst>
            <pc:docMk/>
            <pc:sldMk cId="1279510502" sldId="772"/>
            <ac:spMk id="2" creationId="{994E6901-2A3A-F40F-FC7A-27C6393DB1B2}"/>
          </ac:spMkLst>
        </pc:spChg>
        <pc:picChg chg="add mod">
          <ac:chgData name="Harris, Wyatt J Lt Col USAF USAFA DF/DFAS" userId="768bfb95-c272-4014-8fa2-010c15306053" providerId="ADAL" clId="{95571437-1CDD-49A9-9F44-9267EE8F1204}" dt="2026-01-21T04:11:41.175" v="6133" actId="1076"/>
          <ac:picMkLst>
            <pc:docMk/>
            <pc:sldMk cId="1279510502" sldId="772"/>
            <ac:picMk id="6146" creationId="{09739CC1-C1F6-9CAB-AFC7-FF9F69CE8179}"/>
          </ac:picMkLst>
        </pc:picChg>
      </pc:sldChg>
      <pc:sldChg chg="addSp modSp new mod">
        <pc:chgData name="Harris, Wyatt J Lt Col USAF USAFA DF/DFAS" userId="768bfb95-c272-4014-8fa2-010c15306053" providerId="ADAL" clId="{95571437-1CDD-49A9-9F44-9267EE8F1204}" dt="2026-01-21T04:25:11.672" v="6223" actId="1076"/>
        <pc:sldMkLst>
          <pc:docMk/>
          <pc:sldMk cId="1059899299" sldId="773"/>
        </pc:sldMkLst>
        <pc:spChg chg="add mod">
          <ac:chgData name="Harris, Wyatt J Lt Col USAF USAFA DF/DFAS" userId="768bfb95-c272-4014-8fa2-010c15306053" providerId="ADAL" clId="{95571437-1CDD-49A9-9F44-9267EE8F1204}" dt="2026-01-21T04:25:11.672" v="6223" actId="1076"/>
          <ac:spMkLst>
            <pc:docMk/>
            <pc:sldMk cId="1059899299" sldId="773"/>
            <ac:spMk id="6" creationId="{6885B200-905A-7DE9-D4A0-F0EB4C0D1F02}"/>
          </ac:spMkLst>
        </pc:spChg>
        <pc:picChg chg="add mod">
          <ac:chgData name="Harris, Wyatt J Lt Col USAF USAFA DF/DFAS" userId="768bfb95-c272-4014-8fa2-010c15306053" providerId="ADAL" clId="{95571437-1CDD-49A9-9F44-9267EE8F1204}" dt="2026-01-21T04:24:24.006" v="6213" actId="14100"/>
          <ac:picMkLst>
            <pc:docMk/>
            <pc:sldMk cId="1059899299" sldId="773"/>
            <ac:picMk id="10242" creationId="{EB630843-DDD0-8E2A-F441-6D57B5A974C6}"/>
          </ac:picMkLst>
        </pc:picChg>
      </pc:sldChg>
      <pc:sldChg chg="addSp modSp new mod modNotesTx">
        <pc:chgData name="Harris, Wyatt J Lt Col USAF USAFA DF/DFAS" userId="768bfb95-c272-4014-8fa2-010c15306053" providerId="ADAL" clId="{95571437-1CDD-49A9-9F44-9267EE8F1204}" dt="2026-01-21T04:47:39.767" v="6376" actId="732"/>
        <pc:sldMkLst>
          <pc:docMk/>
          <pc:sldMk cId="1607299873" sldId="774"/>
        </pc:sldMkLst>
        <pc:picChg chg="add mod modCrop">
          <ac:chgData name="Harris, Wyatt J Lt Col USAF USAFA DF/DFAS" userId="768bfb95-c272-4014-8fa2-010c15306053" providerId="ADAL" clId="{95571437-1CDD-49A9-9F44-9267EE8F1204}" dt="2026-01-21T04:47:39.767" v="6376" actId="732"/>
          <ac:picMkLst>
            <pc:docMk/>
            <pc:sldMk cId="1607299873" sldId="774"/>
            <ac:picMk id="6" creationId="{CEF84E58-509D-1504-A03C-BEA6B59ED991}"/>
          </ac:picMkLst>
        </pc:picChg>
      </pc:sldChg>
      <pc:sldMasterChg chg="modSp mod">
        <pc:chgData name="Harris, Wyatt J Lt Col USAF USAFA DF/DFAS" userId="768bfb95-c272-4014-8fa2-010c15306053" providerId="ADAL" clId="{95571437-1CDD-49A9-9F44-9267EE8F1204}" dt="2026-01-21T04:48:37.146" v="6387" actId="14100"/>
        <pc:sldMasterMkLst>
          <pc:docMk/>
          <pc:sldMasterMk cId="85601226" sldId="2147483660"/>
        </pc:sldMasterMkLst>
        <pc:spChg chg="mod">
          <ac:chgData name="Harris, Wyatt J Lt Col USAF USAFA DF/DFAS" userId="768bfb95-c272-4014-8fa2-010c15306053" providerId="ADAL" clId="{95571437-1CDD-49A9-9F44-9267EE8F1204}" dt="2026-01-21T04:48:37.146" v="6387" actId="14100"/>
          <ac:spMkLst>
            <pc:docMk/>
            <pc:sldMasterMk cId="85601226" sldId="2147483660"/>
            <ac:spMk id="8" creationId="{1B2918AF-A31D-A49D-520C-D6A347912BFA}"/>
          </ac:spMkLst>
        </pc:spChg>
      </pc:sldMasterChg>
    </pc:docChg>
  </pc:docChgLst>
  <pc:docChgLst>
    <pc:chgData name="Harris, Wyatt J Lt Col USAF USAFA DF/DFAS" userId="768bfb95-c272-4014-8fa2-010c15306053" providerId="ADAL" clId="{E18DAD13-4A53-44B8-9F3F-46E167733190}"/>
    <pc:docChg chg="modSld">
      <pc:chgData name="Harris, Wyatt J Lt Col USAF USAFA DF/DFAS" userId="768bfb95-c272-4014-8fa2-010c15306053" providerId="ADAL" clId="{E18DAD13-4A53-44B8-9F3F-46E167733190}" dt="2026-01-21T15:33:17.187" v="17" actId="1076"/>
      <pc:docMkLst>
        <pc:docMk/>
      </pc:docMkLst>
      <pc:sldChg chg="modSp">
        <pc:chgData name="Harris, Wyatt J Lt Col USAF USAFA DF/DFAS" userId="768bfb95-c272-4014-8fa2-010c15306053" providerId="ADAL" clId="{E18DAD13-4A53-44B8-9F3F-46E167733190}" dt="2026-01-21T15:15:07.108" v="0" actId="113"/>
        <pc:sldMkLst>
          <pc:docMk/>
          <pc:sldMk cId="4084666816" sldId="315"/>
        </pc:sldMkLst>
        <pc:spChg chg="mod">
          <ac:chgData name="Harris, Wyatt J Lt Col USAF USAFA DF/DFAS" userId="768bfb95-c272-4014-8fa2-010c15306053" providerId="ADAL" clId="{E18DAD13-4A53-44B8-9F3F-46E167733190}" dt="2026-01-21T15:15:07.108" v="0" actId="113"/>
          <ac:spMkLst>
            <pc:docMk/>
            <pc:sldMk cId="4084666816" sldId="315"/>
            <ac:spMk id="3" creationId="{00000000-0000-0000-0000-000000000000}"/>
          </ac:spMkLst>
        </pc:spChg>
      </pc:sldChg>
      <pc:sldChg chg="modSp">
        <pc:chgData name="Harris, Wyatt J Lt Col USAF USAFA DF/DFAS" userId="768bfb95-c272-4014-8fa2-010c15306053" providerId="ADAL" clId="{E18DAD13-4A53-44B8-9F3F-46E167733190}" dt="2026-01-21T15:20:27.370" v="13" actId="1076"/>
        <pc:sldMkLst>
          <pc:docMk/>
          <pc:sldMk cId="916469863" sldId="316"/>
        </pc:sldMkLst>
        <pc:spChg chg="mod">
          <ac:chgData name="Harris, Wyatt J Lt Col USAF USAFA DF/DFAS" userId="768bfb95-c272-4014-8fa2-010c15306053" providerId="ADAL" clId="{E18DAD13-4A53-44B8-9F3F-46E167733190}" dt="2026-01-21T15:20:22.856" v="11" actId="255"/>
          <ac:spMkLst>
            <pc:docMk/>
            <pc:sldMk cId="916469863" sldId="316"/>
            <ac:spMk id="4" creationId="{00000000-0000-0000-0000-000000000000}"/>
          </ac:spMkLst>
        </pc:spChg>
        <pc:picChg chg="mod">
          <ac:chgData name="Harris, Wyatt J Lt Col USAF USAFA DF/DFAS" userId="768bfb95-c272-4014-8fa2-010c15306053" providerId="ADAL" clId="{E18DAD13-4A53-44B8-9F3F-46E167733190}" dt="2026-01-21T15:20:27.370" v="13" actId="1076"/>
          <ac:picMkLst>
            <pc:docMk/>
            <pc:sldMk cId="916469863" sldId="316"/>
            <ac:picMk id="7174" creationId="{BED15CF1-5F55-5DD2-01A6-FE1ED20159EA}"/>
          </ac:picMkLst>
        </pc:picChg>
      </pc:sldChg>
      <pc:sldChg chg="modSp">
        <pc:chgData name="Harris, Wyatt J Lt Col USAF USAFA DF/DFAS" userId="768bfb95-c272-4014-8fa2-010c15306053" providerId="ADAL" clId="{E18DAD13-4A53-44B8-9F3F-46E167733190}" dt="2026-01-21T15:28:29.693" v="16" actId="115"/>
        <pc:sldMkLst>
          <pc:docMk/>
          <pc:sldMk cId="3110439962" sldId="317"/>
        </pc:sldMkLst>
        <pc:spChg chg="mod">
          <ac:chgData name="Harris, Wyatt J Lt Col USAF USAFA DF/DFAS" userId="768bfb95-c272-4014-8fa2-010c15306053" providerId="ADAL" clId="{E18DAD13-4A53-44B8-9F3F-46E167733190}" dt="2026-01-21T15:28:29.693" v="16" actId="115"/>
          <ac:spMkLst>
            <pc:docMk/>
            <pc:sldMk cId="3110439962" sldId="317"/>
            <ac:spMk id="3" creationId="{00000000-0000-0000-0000-000000000000}"/>
          </ac:spMkLst>
        </pc:spChg>
      </pc:sldChg>
      <pc:sldChg chg="modSp">
        <pc:chgData name="Harris, Wyatt J Lt Col USAF USAFA DF/DFAS" userId="768bfb95-c272-4014-8fa2-010c15306053" providerId="ADAL" clId="{E18DAD13-4A53-44B8-9F3F-46E167733190}" dt="2026-01-21T15:33:17.187" v="17" actId="1076"/>
        <pc:sldMkLst>
          <pc:docMk/>
          <pc:sldMk cId="2305438334" sldId="320"/>
        </pc:sldMkLst>
        <pc:picChg chg="mod">
          <ac:chgData name="Harris, Wyatt J Lt Col USAF USAFA DF/DFAS" userId="768bfb95-c272-4014-8fa2-010c15306053" providerId="ADAL" clId="{E18DAD13-4A53-44B8-9F3F-46E167733190}" dt="2026-01-21T15:33:17.187" v="17" actId="1076"/>
          <ac:picMkLst>
            <pc:docMk/>
            <pc:sldMk cId="2305438334" sldId="320"/>
            <ac:picMk id="9218" creationId="{71C126AE-9135-B26B-12F9-A5578F5A034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1/21/2026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oogle.com/search?q=solar+wind&amp;sca_esv=8342857c1a51e343&amp;rlz=1C1CHBF_enUS834US835&amp;biw=1920&amp;bih=945&amp;aic=0&amp;sxsrf=ANbL-n5k1fsZ5sWN2OFmOxF7sG-_vKqQ-w%3A1768970711834&amp;ei=11lwaaLTMvOhur8Pg8_tuQc&amp;ved=2ahUKEwiT5pi_6ZuSAxXWOkQIHSSqGI0QgK4QegQIARAE&amp;uact=5&amp;oq=what+is+aurora&amp;gs_lp=Egxnd3Mtd2l6LXNlcnAiDndoYXQgaXMgYXVyb3JhMhEQABiABBiRAhixAxiDARiKBTIOEAAYgAQYkQIYsQMYigUyCxAAGIAEGJECGIoFMgUQABiABDIFEAAYgAQyBRAAGIAEMgUQABiABDIFEAAYgAQyBRAAGIAEMgUQABiABEiIDFC3A1j7CnABeAGQAQCYAcoBoAGCBqoBBTAuNC4xuAEDyAEA-AEBmAIGoAKpBsICChAAGLADGNYEGEfCAg0QABiABBiwAxhDGIoFwgIOEAAYsAMY5AIY1gTYAQHCAhcQLhiwAxi4BhjYAhjIAxjaBhjcBtgBAcICChAjGIAEGCcYigXCAhAQIxjwBRiABBgnGMkCGIoFwgIQEAAYgAQYsQMYQxiDARiKBcICCBAAGIAEGLEDwgIOEAAYgAQYsQMYgwEYigXCAgsQABiABBixAxiDAZgDAIgGAZAGELoGBggBEAEYCZIHBTEuNC4xoAfAH7IHBTAuNC4xuAeiBsIHBzAuMi4zLjHIBx-ACAA&amp;sclient=gws-wiz-serp&amp;mstk=AUtExfDhraRGh8G6KlCZznFZLhSgUINk-CP0-fNhxSh8T9fLPHT1k90kCqOHsEduyjxVugPxa2aUXPa8Zr2QFw-IWkUl1xzBAiR38W-oFwx2Td5MXPkvJy8mQdnc5DkU_9JSzndiquHabCMfmKzdicABpzZyJVAwmnWqrhOwayvkCf3HJi7WCVx2CPhqlV1LVCCh000DnzBh4-IbY5-GWLMYyIaX2aZaDmJHmXGfXaZW28TOj0tUIDf38_WQQvYyG293T3G1uDrOskpJzQAyhHHmMutDrMb1hLGl6bxb11_Z73uyylBZIfAO5-8EfKRFM7RH-F37DofMv869iszrlrooW5EmkP9H3mb-LnzhmU6uWLymeJBirtYPDBD3EE5Pom07SBjvCiybDSLiNDLZEbFRlz4zUHuT--x9O_OLZHKY0qw&amp;csui=3"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google.com/search?q=Plasma&amp;rlz=1C1CHBF_enUS834US835&amp;oq=Plasma+vs+radiations&amp;gs_lcrp=EgZjaHJvbWUqCAgBEAAYFhgeMgYIABBFGDkyCAgBEAAYFhgeMg0IAhAAGIYDGIAEGIoFMg0IAxAAGIYDGIAEGIoFMgcIBBAAGO8F0gEINDMzMWowajeoAgCwAgA&amp;sourceid=chrome&amp;ie=UTF-8&amp;ved=2ahUKEwieqrrE5ZuSAxU9JTQIHYQbIZwQgK4QegQIARAC"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www.google.com/search?q=radiation&amp;rlz=1C1CHBF_enUS834US835&amp;oq=Plasma+vs+radiations&amp;gs_lcrp=EgZjaHJvbWUqCAgBEAAYFhgeMgYIABBFGDkyCAgBEAAYFhgeMg0IAhAAGIYDGIAEGIoFMg0IAxAAGIYDGIAEGIoFMgcIBBAAGO8F0gEINDMzMWowajeoAgCwAgA&amp;sourceid=chrome&amp;ie=UTF-8&amp;ved=2ahUKEwieqrrE5ZuSAxU9JTQIHYQbIZwQgK4QegQIARAD"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a:t>
            </a:fld>
            <a:endParaRPr lang="en-US"/>
          </a:p>
        </p:txBody>
      </p:sp>
    </p:spTree>
    <p:extLst>
      <p:ext uri="{BB962C8B-B14F-4D97-AF65-F5344CB8AC3E}">
        <p14:creationId xmlns:p14="http://schemas.microsoft.com/office/powerpoint/2010/main" val="46620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An aurora is </a:t>
            </a:r>
            <a:r>
              <a:rPr lang="en-US"/>
              <a:t>a natural, vibrant light display in the sky, appearing as curtains or spirals of color, caused by charged particles from the Sun (</a:t>
            </a:r>
            <a:r>
              <a:rPr lang="en-US">
                <a:effectLst/>
                <a:hlinkClick r:id="rId3"/>
              </a:rPr>
              <a:t>solar wind</a:t>
            </a:r>
            <a:r>
              <a:rPr lang="en-US"/>
              <a:t>) colliding with gases (oxygen, nitrogen) in Earth's upper atmosphere, creating light similar to a neon sign</a:t>
            </a:r>
            <a:r>
              <a:rPr lang="en-US" sz="1200" b="0" i="0" kern="1200">
                <a:solidFill>
                  <a:schemeClr val="tx1"/>
                </a:solidFill>
                <a:effectLst/>
                <a:latin typeface="+mn-lt"/>
                <a:ea typeface="+mn-ea"/>
                <a:cs typeface="+mn-cs"/>
              </a:rPr>
              <a:t>. </a:t>
            </a:r>
          </a:p>
          <a:p>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How it works</a:t>
            </a:r>
          </a:p>
          <a:p>
            <a:r>
              <a:rPr lang="en-US" sz="1200" b="1" i="0" kern="1200">
                <a:solidFill>
                  <a:schemeClr val="tx1"/>
                </a:solidFill>
                <a:effectLst/>
                <a:latin typeface="+mn-lt"/>
                <a:ea typeface="+mn-ea"/>
                <a:cs typeface="+mn-cs"/>
              </a:rPr>
              <a:t>Solar Particles</a:t>
            </a:r>
            <a:r>
              <a:rPr lang="en-US" sz="1200" b="0" i="0" kern="1200">
                <a:solidFill>
                  <a:schemeClr val="tx1"/>
                </a:solidFill>
                <a:effectLst/>
                <a:latin typeface="+mn-lt"/>
                <a:ea typeface="+mn-ea"/>
                <a:cs typeface="+mn-cs"/>
              </a:rPr>
              <a:t>: The Sun constantly sends energetic particles (solar wind) towards Earth.</a:t>
            </a:r>
          </a:p>
          <a:p>
            <a:r>
              <a:rPr lang="en-US" sz="1200" b="1" i="0" kern="1200">
                <a:solidFill>
                  <a:schemeClr val="tx1"/>
                </a:solidFill>
                <a:effectLst/>
                <a:latin typeface="+mn-lt"/>
                <a:ea typeface="+mn-ea"/>
                <a:cs typeface="+mn-cs"/>
              </a:rPr>
              <a:t>Magnetic Field</a:t>
            </a:r>
            <a:r>
              <a:rPr lang="en-US" sz="1200" b="0" i="0" kern="1200">
                <a:solidFill>
                  <a:schemeClr val="tx1"/>
                </a:solidFill>
                <a:effectLst/>
                <a:latin typeface="+mn-lt"/>
                <a:ea typeface="+mn-ea"/>
                <a:cs typeface="+mn-cs"/>
              </a:rPr>
              <a:t>: Earth's magnetic field funnels these particles towards the poles.</a:t>
            </a:r>
          </a:p>
          <a:p>
            <a:r>
              <a:rPr lang="en-US" sz="1200" b="1" i="0" kern="1200">
                <a:solidFill>
                  <a:schemeClr val="tx1"/>
                </a:solidFill>
                <a:effectLst/>
                <a:latin typeface="+mn-lt"/>
                <a:ea typeface="+mn-ea"/>
                <a:cs typeface="+mn-cs"/>
              </a:rPr>
              <a:t>Atmospheric Collision</a:t>
            </a:r>
            <a:r>
              <a:rPr lang="en-US" sz="1200" b="0" i="0" kern="1200">
                <a:solidFill>
                  <a:schemeClr val="tx1"/>
                </a:solidFill>
                <a:effectLst/>
                <a:latin typeface="+mn-lt"/>
                <a:ea typeface="+mn-ea"/>
                <a:cs typeface="+mn-cs"/>
              </a:rPr>
              <a:t>: Particles collide with gases (oxygen, nitrogen) in the upper atmosphere, exciting them.</a:t>
            </a:r>
          </a:p>
          <a:p>
            <a:r>
              <a:rPr lang="en-US" sz="1200" b="1" i="0" kern="1200">
                <a:solidFill>
                  <a:schemeClr val="tx1"/>
                </a:solidFill>
                <a:effectLst/>
                <a:latin typeface="+mn-lt"/>
                <a:ea typeface="+mn-ea"/>
                <a:cs typeface="+mn-cs"/>
              </a:rPr>
              <a:t>Light Emission</a:t>
            </a:r>
            <a:r>
              <a:rPr lang="en-US" sz="1200" b="0" i="0" kern="1200">
                <a:solidFill>
                  <a:schemeClr val="tx1"/>
                </a:solidFill>
                <a:effectLst/>
                <a:latin typeface="+mn-lt"/>
                <a:ea typeface="+mn-ea"/>
                <a:cs typeface="+mn-cs"/>
              </a:rPr>
              <a:t>: As the excited atoms return to their normal state, they release photons (light), creating the colorful display. </a:t>
            </a:r>
          </a:p>
          <a:p>
            <a:endParaRPr lang="en-US"/>
          </a:p>
          <a:p>
            <a:r>
              <a:rPr lang="en-US" b="1"/>
              <a:t>AKA </a:t>
            </a:r>
          </a:p>
          <a:p>
            <a:endParaRPr lang="en-US" b="1"/>
          </a:p>
          <a:p>
            <a:r>
              <a:rPr lang="en-US"/>
              <a:t>A </a:t>
            </a:r>
            <a:r>
              <a:rPr lang="en-US" b="1"/>
              <a:t>geomagnetic storm</a:t>
            </a:r>
            <a:r>
              <a:rPr lang="en-US"/>
              <a:t> is a </a:t>
            </a:r>
            <a:r>
              <a:rPr lang="en-US" b="1"/>
              <a:t>temporary but intense disturbance of Earth’s magnetosphere</a:t>
            </a:r>
            <a:r>
              <a:rPr lang="en-US"/>
              <a:t> caused by enhanced energy input from the Sun. It occurs when solar plasma and embedded magnetic fields strongly couple with Earth’s magnetic field, driving large electrical currents and rapid magnetic-field variations. It is a </a:t>
            </a:r>
            <a:r>
              <a:rPr lang="en-US" b="1"/>
              <a:t>space weather event</a:t>
            </a:r>
            <a:r>
              <a:rPr lang="en-US"/>
              <a:t> that injects energy into near-Earth space far beyond nominal conditions.</a:t>
            </a:r>
          </a:p>
          <a:p>
            <a:endParaRPr lang="en-US"/>
          </a:p>
          <a:p>
            <a:r>
              <a:rPr lang="en-US" b="1"/>
              <a:t>What triggers a geomagnetic storm</a:t>
            </a:r>
          </a:p>
          <a:p>
            <a:r>
              <a:rPr lang="en-US" b="1"/>
              <a:t>Primary solar drivers</a:t>
            </a:r>
          </a:p>
          <a:p>
            <a:r>
              <a:rPr lang="en-US" b="1"/>
              <a:t>Coronal Mass Ejections (CMEs)</a:t>
            </a:r>
            <a:endParaRPr lang="en-US"/>
          </a:p>
          <a:p>
            <a:pPr lvl="1"/>
            <a:r>
              <a:rPr lang="en-US"/>
              <a:t>Massive clouds of magnetized plasma ejected from the Sun.</a:t>
            </a:r>
          </a:p>
          <a:p>
            <a:pPr lvl="1"/>
            <a:r>
              <a:rPr lang="en-US"/>
              <a:t>Most severe storms occur when the CME’s magnetic field is </a:t>
            </a:r>
            <a:r>
              <a:rPr lang="en-US" b="1"/>
              <a:t>southward</a:t>
            </a:r>
            <a:r>
              <a:rPr lang="en-US"/>
              <a:t>, enabling strong magnetic reconnection with Earth.</a:t>
            </a:r>
          </a:p>
          <a:p>
            <a:r>
              <a:rPr lang="en-US" b="1"/>
              <a:t>High-speed solar wind streams</a:t>
            </a:r>
            <a:endParaRPr lang="en-US"/>
          </a:p>
          <a:p>
            <a:pPr lvl="1"/>
            <a:r>
              <a:rPr lang="en-US"/>
              <a:t>Often originate from coronal holes.</a:t>
            </a:r>
          </a:p>
          <a:p>
            <a:pPr lvl="1"/>
            <a:r>
              <a:rPr lang="en-US"/>
              <a:t>Tend to cause </a:t>
            </a:r>
            <a:r>
              <a:rPr lang="en-US" b="1"/>
              <a:t>moderate but long-duration storms</a:t>
            </a:r>
            <a:r>
              <a:rPr lang="en-US"/>
              <a:t>.</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2047479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a:t>
            </a:r>
            <a:r>
              <a:rPr lang="en-US" b="1"/>
              <a:t>10 February 2009</a:t>
            </a:r>
            <a:r>
              <a:rPr lang="en-US"/>
              <a:t>, two satellites crossed paths over northern Siberia at an altitude of roughly 790 kilometers. There were no alarms, no last-second maneuvers, and no human decision point.</a:t>
            </a:r>
          </a:p>
          <a:p>
            <a:r>
              <a:rPr lang="en-US"/>
              <a:t>At 16:56 UTC, </a:t>
            </a:r>
            <a:r>
              <a:rPr lang="en-US" b="1"/>
              <a:t>Iridium 33</a:t>
            </a:r>
            <a:r>
              <a:rPr lang="en-US"/>
              <a:t>, an operational U.S. commercial communications satellite, and </a:t>
            </a:r>
            <a:r>
              <a:rPr lang="en-US" b="1"/>
              <a:t>Kosmos 2251</a:t>
            </a:r>
            <a:r>
              <a:rPr lang="en-US"/>
              <a:t>, a long-dead Russian military spacecraft, collided at a closing speed of nearly </a:t>
            </a:r>
            <a:r>
              <a:rPr lang="en-US" b="1"/>
              <a:t>11.7 km/s</a:t>
            </a:r>
            <a:r>
              <a:rPr lang="en-US"/>
              <a:t>.</a:t>
            </a:r>
          </a:p>
          <a:p>
            <a:r>
              <a:rPr lang="en-US"/>
              <a:t>The impact was instantaneous and catastrophic.</a:t>
            </a:r>
          </a:p>
          <a:p>
            <a:r>
              <a:rPr lang="en-US"/>
              <a:t>Both spacecraft were shattered into thousands of fragments—each fragment now a high-velocity projectile capable of destroying other satellites. In less than a second, two objects became a debris field that would persist for decades.</a:t>
            </a:r>
          </a:p>
          <a:p>
            <a:r>
              <a:rPr lang="en-US"/>
              <a:t>No component failed.</a:t>
            </a:r>
            <a:br>
              <a:rPr lang="en-US"/>
            </a:br>
            <a:r>
              <a:rPr lang="en-US"/>
              <a:t>No software bug was triggered.</a:t>
            </a:r>
            <a:br>
              <a:rPr lang="en-US"/>
            </a:br>
            <a:r>
              <a:rPr lang="en-US"/>
              <a:t>No operator made a bad call.</a:t>
            </a:r>
          </a:p>
          <a:p>
            <a:r>
              <a:rPr lang="en-US"/>
              <a:t>The mission failed because the </a:t>
            </a:r>
            <a:r>
              <a:rPr lang="en-US" b="1"/>
              <a:t>orbital environment itself had become unsafe</a:t>
            </a:r>
            <a:r>
              <a:rPr lang="en-US"/>
              <a:t>.</a:t>
            </a:r>
          </a:p>
          <a:p>
            <a:r>
              <a:rPr lang="en-US"/>
              <a:t>Iridium 33 was actively tracked and controlled. Kosmos 2251 was not. It had been drifting, uncontrolled, for years—still massive, still fast, still lethal. At the time, collision-avoidance models did not treat inactive satellites as high-risk targets. The probability of a satellite-satellite collision was considered vanishingly small.</a:t>
            </a:r>
          </a:p>
          <a:p>
            <a:r>
              <a:rPr lang="en-US"/>
              <a:t>That assumption was wrong.</a:t>
            </a:r>
          </a:p>
          <a:p>
            <a:r>
              <a:rPr lang="en-US"/>
              <a:t>The collision instantly increased the cataloged debris population by more than </a:t>
            </a:r>
            <a:r>
              <a:rPr lang="en-US" b="1"/>
              <a:t>2,000 trackable objects</a:t>
            </a:r>
            <a:r>
              <a:rPr lang="en-US"/>
              <a:t>, with tens of thousands more too small to monitor. Many of those fragments crossed the orbits of other operational spacecraft, forcing evasive maneuvers and increasing long-term collision risk across Low Earth Orbit.</a:t>
            </a:r>
          </a:p>
          <a:p>
            <a:r>
              <a:rPr lang="en-US"/>
              <a:t>From the ground, the event was a single blip on radar screens. From an orbital-mechanics perspective, it was a </a:t>
            </a:r>
            <a:r>
              <a:rPr lang="en-US" b="1"/>
              <a:t>phase change</a:t>
            </a:r>
            <a:r>
              <a:rPr lang="en-US"/>
              <a:t>—the moment when LEO crossed from “crowded” into </a:t>
            </a:r>
            <a:r>
              <a:rPr lang="en-US" b="1"/>
              <a:t>collision-dominated risk</a:t>
            </a:r>
            <a:r>
              <a:rPr lang="en-US"/>
              <a:t>.</a:t>
            </a:r>
          </a:p>
          <a:p>
            <a:r>
              <a:rPr lang="en-US" b="1"/>
              <a:t>Why this matters</a:t>
            </a:r>
            <a:endParaRPr lang="en-US"/>
          </a:p>
          <a:p>
            <a:r>
              <a:rPr lang="en-US"/>
              <a:t>The Iridium–Kosmos collision demonstrated that space environment hazards are no longer purely natural. The environment is now shaped by </a:t>
            </a:r>
            <a:r>
              <a:rPr lang="en-US" b="1"/>
              <a:t>human legacy hardware</a:t>
            </a:r>
            <a:r>
              <a:rPr lang="en-US"/>
              <a:t>, poor end-of-life planning, and exponential risk growth.</a:t>
            </a:r>
          </a:p>
          <a:p>
            <a:r>
              <a:rPr lang="en-US"/>
              <a:t>For spacecraft designers, this event reframed key assumptions:</a:t>
            </a:r>
          </a:p>
          <a:p>
            <a:r>
              <a:rPr lang="en-US"/>
              <a:t>A satellite does not need to be active to be dangerous</a:t>
            </a:r>
          </a:p>
          <a:p>
            <a:r>
              <a:rPr lang="en-US"/>
              <a:t>Collision risk is no longer negligible</a:t>
            </a:r>
          </a:p>
          <a:p>
            <a:r>
              <a:rPr lang="en-US"/>
              <a:t>Debris generation is irreversible on operational timescales</a:t>
            </a:r>
          </a:p>
          <a:p>
            <a:r>
              <a:rPr lang="en-US"/>
              <a:t>Individual missions can degrade the environment for all future missions</a:t>
            </a:r>
          </a:p>
          <a:p>
            <a:r>
              <a:rPr lang="en-US"/>
              <a:t>In space systems engineering, this collision marks the point where </a:t>
            </a:r>
            <a:r>
              <a:rPr lang="en-US" b="1"/>
              <a:t>orbital debris became a first-order design constraint</a:t>
            </a:r>
            <a:r>
              <a:rPr lang="en-US"/>
              <a:t>, not a background statistic.</a:t>
            </a:r>
          </a:p>
          <a:p>
            <a:r>
              <a:rPr lang="en-US"/>
              <a:t>The lesson is blunt:</a:t>
            </a:r>
            <a:br>
              <a:rPr lang="en-US"/>
            </a:br>
            <a:r>
              <a:rPr lang="en-US"/>
              <a:t>In orbit, nothing ever truly goes away—and eventually, everything you leave behind comes back at orbital velocity.</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3</a:t>
            </a:fld>
            <a:endParaRPr lang="en-US"/>
          </a:p>
        </p:txBody>
      </p:sp>
    </p:spTree>
    <p:extLst>
      <p:ext uri="{BB962C8B-B14F-4D97-AF65-F5344CB8AC3E}">
        <p14:creationId xmlns:p14="http://schemas.microsoft.com/office/powerpoint/2010/main" val="2180005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a:t>In microgravity, the central problem for a propellant tank is </a:t>
                </a:r>
                <a:r>
                  <a:rPr lang="en-US" b="1"/>
                  <a:t>phase management</a:t>
                </a:r>
                <a:r>
                  <a:rPr lang="en-US"/>
                  <a:t>: without gravity, liquid and ullage gas do not “separate” cleanly, so an engine feed line can ingest gas, causing </a:t>
                </a:r>
                <a:r>
                  <a:rPr lang="en-US" b="1"/>
                  <a:t>cavitation, loss of thrust, and hard-start risk</a:t>
                </a:r>
                <a:r>
                  <a:rPr lang="en-US"/>
                  <a:t>. The solution set falls into two broad categories: </a:t>
                </a:r>
                <a:r>
                  <a:rPr lang="en-US" b="1"/>
                  <a:t>(1) force the liquid to where you want it</a:t>
                </a:r>
                <a:r>
                  <a:rPr lang="en-US"/>
                  <a:t>, or </a:t>
                </a:r>
                <a:r>
                  <a:rPr lang="en-US" b="1"/>
                  <a:t>(2) use tank internal hardware that passively “collects” liquid</a:t>
                </a:r>
                <a:r>
                  <a:rPr lang="en-US"/>
                  <a:t>.</a:t>
                </a:r>
              </a:p>
              <a:p>
                <a:r>
                  <a:rPr lang="en-US" b="1"/>
                  <a:t>1) Settling methods (apply acceleration so the liquid behaves “as if” under gravity)</a:t>
                </a:r>
              </a:p>
              <a:p>
                <a:r>
                  <a:rPr lang="en-US" b="1"/>
                  <a:t>Thrust-settling (ullage burns)</a:t>
                </a:r>
              </a:p>
              <a:p>
                <a:r>
                  <a:rPr lang="en-US"/>
                  <a:t>Use </a:t>
                </a:r>
                <a:r>
                  <a:rPr lang="en-US" b="1"/>
                  <a:t>small thrusters</a:t>
                </a:r>
                <a:r>
                  <a:rPr lang="en-US"/>
                  <a:t> to provide a steady acceleration (often milli-g to a few percent of g), pushing liquid toward the outlet.</a:t>
                </a:r>
              </a:p>
              <a:p>
                <a:r>
                  <a:rPr lang="en-US"/>
                  <a:t>Common before main-engine start or during coast phases.</a:t>
                </a:r>
              </a:p>
              <a:p>
                <a:r>
                  <a:rPr lang="en-US"/>
                  <a:t>Design considerations:</a:t>
                </a:r>
              </a:p>
              <a:p>
                <a:pPr lvl="1"/>
                <a:r>
                  <a:rPr lang="en-US"/>
                  <a:t>Required acceleration depends on </a:t>
                </a:r>
                <a:r>
                  <a:rPr lang="en-US" b="1"/>
                  <a:t>tank geometry, propellant properties, and disturbance environment</a:t>
                </a:r>
                <a:r>
                  <a:rPr lang="en-US"/>
                  <a:t>.</a:t>
                </a:r>
              </a:p>
              <a:p>
                <a:pPr lvl="1"/>
                <a:r>
                  <a:rPr lang="en-US"/>
                  <a:t>Must avoid exciting </a:t>
                </a:r>
                <a:r>
                  <a:rPr lang="en-US" b="1"/>
                  <a:t>sloshing modes</a:t>
                </a:r>
                <a:r>
                  <a:rPr lang="en-US"/>
                  <a:t> that can destabilize attitude control.</a:t>
                </a:r>
              </a:p>
              <a:p>
                <a:r>
                  <a:rPr lang="en-US" b="1"/>
                  <a:t>Spin-settling</a:t>
                </a:r>
              </a:p>
              <a:p>
                <a:r>
                  <a:rPr lang="en-US"/>
                  <a:t>Impart </a:t>
                </a:r>
                <a:r>
                  <a:rPr lang="en-US" b="1"/>
                  <a:t>angular rate</a:t>
                </a:r>
                <a:r>
                  <a:rPr lang="en-US"/>
                  <a:t> so centrifugal acceleration drives liquid outward to the tank walls, creating a stable liquid region and ullage region.</a:t>
                </a:r>
              </a:p>
              <a:p>
                <a:r>
                  <a:rPr lang="en-US"/>
                  <a:t>Works well for some mission profiles, but complicates guidance/control and can be incompatible with payload pointing constraints.</a:t>
                </a:r>
              </a:p>
              <a:p>
                <a:r>
                  <a:rPr lang="en-US" b="1"/>
                  <a:t>“Slosh-aware” settling</a:t>
                </a:r>
              </a:p>
              <a:p>
                <a:r>
                  <a:rPr lang="en-US"/>
                  <a:t>Use </a:t>
                </a:r>
                <a:r>
                  <a:rPr lang="en-US" b="1"/>
                  <a:t>baffles</a:t>
                </a:r>
                <a:r>
                  <a:rPr lang="en-US"/>
                  <a:t> and operational constraints (thrust ramp rates, burn timing) to manage slosh during settling and engine start.</a:t>
                </a:r>
              </a:p>
              <a:p>
                <a:r>
                  <a:rPr lang="en-US"/>
                  <a:t>Often paired with thrust-settling to reduce propellant motion and gas ingestion risk.</a:t>
                </a:r>
              </a:p>
              <a:p>
                <a:r>
                  <a:rPr lang="en-US" b="1"/>
                  <a:t>2) Passive Propellant Management Devices (PMDs) (use capillarity/surface tension)</a:t>
                </a:r>
              </a:p>
              <a:p>
                <a:r>
                  <a:rPr lang="en-US"/>
                  <a:t>These rely on the fact that in micro-g, </a:t>
                </a:r>
                <a:r>
                  <a:rPr lang="en-US" b="1"/>
                  <a:t>surface tension dominates</a:t>
                </a:r>
                <a:r>
                  <a:rPr lang="en-US"/>
                  <a:t> (Bond number is small), so carefully designed internal structures can “wick” and retain liquid at the outlet.</a:t>
                </a:r>
              </a:p>
              <a:p>
                <a:r>
                  <a:rPr lang="en-US" b="1"/>
                  <a:t>Capillary acquisition devices (CADs)</a:t>
                </a:r>
              </a:p>
              <a:p>
                <a:r>
                  <a:rPr lang="en-US"/>
                  <a:t>Purpose: ensure </a:t>
                </a:r>
                <a:r>
                  <a:rPr lang="en-US" b="1"/>
                  <a:t>liquid-only</a:t>
                </a:r>
                <a:r>
                  <a:rPr lang="en-US"/>
                  <a:t> delivery to the feed line across expected micro-g disturbances.</a:t>
                </a:r>
              </a:p>
              <a:p>
                <a:r>
                  <a:rPr lang="en-US"/>
                  <a:t>Common CAD architectures:</a:t>
                </a:r>
              </a:p>
              <a:p>
                <a:r>
                  <a:rPr lang="en-US" b="1"/>
                  <a:t>Vane PMDs:</a:t>
                </a:r>
                <a:r>
                  <a:rPr lang="en-US"/>
                  <a:t> radial/axial vanes guide liquid toward a sump/outlet via capillary action.</a:t>
                </a:r>
              </a:p>
              <a:p>
                <a:r>
                  <a:rPr lang="en-US" b="1"/>
                  <a:t>Screen-channel PMDs:</a:t>
                </a:r>
                <a:r>
                  <a:rPr lang="en-US"/>
                  <a:t> a channel covered by a fine </a:t>
                </a:r>
                <a:r>
                  <a:rPr lang="en-US" b="1"/>
                  <a:t>mesh/screen</a:t>
                </a:r>
                <a:r>
                  <a:rPr lang="en-US"/>
                  <a:t> that allows liquid through but blocks gas up to a “bubble point” pressure.</a:t>
                </a:r>
              </a:p>
              <a:p>
                <a:r>
                  <a:rPr lang="en-US" b="1"/>
                  <a:t>Sponges / porous media:</a:t>
                </a:r>
                <a:r>
                  <a:rPr lang="en-US"/>
                  <a:t> porous blocks near the outlet retain liquid and resist gas ingestion.</a:t>
                </a:r>
              </a:p>
              <a:p>
                <a:r>
                  <a:rPr lang="en-US" b="1"/>
                  <a:t>Troughs and gutters:</a:t>
                </a:r>
                <a:r>
                  <a:rPr lang="en-US"/>
                  <a:t> shaped surfaces that preferentially hold liquid and direct it to the outlet.</a:t>
                </a:r>
              </a:p>
              <a:p>
                <a:r>
                  <a:rPr lang="en-US"/>
                  <a:t>Key design concept: </a:t>
                </a:r>
                <a:r>
                  <a:rPr lang="en-US" b="1"/>
                  <a:t>capillary pressure margin</a:t>
                </a:r>
                <a:endParaRPr lang="en-US"/>
              </a:p>
              <a:p>
                <a:r>
                  <a:rPr lang="en-US"/>
                  <a:t>Surface tension creates a pressure difference across a curved interface: roughly</a:t>
                </a:r>
              </a:p>
              <a:p>
                <a:pPr/>
                <a14:m>
                  <m:oMathPara xmlns:m="http://schemas.openxmlformats.org/officeDocument/2006/math">
                    <m:oMathParaPr>
                      <m:jc m:val="centerGroup"/>
                    </m:oMathParaPr>
                    <m:oMath xmlns:m="http://schemas.openxmlformats.org/officeDocument/2006/math">
                      <m:r>
                        <m:rPr>
                          <m:sty m:val="p"/>
                        </m:rPr>
                        <a:rPr lang="el-GR" sz="1200" kern="1200">
                          <a:solidFill>
                            <a:schemeClr val="tx1"/>
                          </a:solidFill>
                          <a:latin typeface="Cambria Math" panose="02040503050406030204" pitchFamily="18" charset="0"/>
                          <a:ea typeface="+mn-ea"/>
                          <a:cs typeface="+mn-cs"/>
                        </a:rPr>
                        <m:t>Δ</m:t>
                      </m:r>
                      <m:r>
                        <a:rPr lang="el-GR" sz="1200" i="1" kern="1200">
                          <a:solidFill>
                            <a:schemeClr val="tx1"/>
                          </a:solidFill>
                          <a:latin typeface="Cambria Math" panose="02040503050406030204" pitchFamily="18" charset="0"/>
                          <a:ea typeface="+mn-ea"/>
                          <a:cs typeface="+mn-cs"/>
                        </a:rPr>
                        <m:t>𝑝</m:t>
                      </m:r>
                      <m:r>
                        <a:rPr lang="el-GR"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2</m:t>
                          </m:r>
                          <m:r>
                            <a:rPr lang="ar-AE" sz="1200" i="1" kern="1200">
                              <a:solidFill>
                                <a:schemeClr val="tx1"/>
                              </a:solidFill>
                              <a:latin typeface="Cambria Math" panose="02040503050406030204" pitchFamily="18" charset="0"/>
                              <a:ea typeface="+mn-ea"/>
                              <a:cs typeface="+mn-cs"/>
                            </a:rPr>
                            <m:t>𝜎</m:t>
                          </m:r>
                        </m:num>
                        <m:den>
                          <m:r>
                            <a:rPr lang="ar-AE" sz="1200" i="1" kern="1200">
                              <a:solidFill>
                                <a:schemeClr val="tx1"/>
                              </a:solidFill>
                              <a:latin typeface="Cambria Math" panose="02040503050406030204" pitchFamily="18" charset="0"/>
                              <a:ea typeface="+mn-ea"/>
                              <a:cs typeface="+mn-cs"/>
                            </a:rPr>
                            <m:t>𝑅</m:t>
                          </m:r>
                        </m:den>
                      </m:f>
                    </m:oMath>
                  </m:oMathPara>
                </a14:m>
                <a:endParaRPr lang="ar-AE"/>
              </a:p>
              <a:p>
                <a:r>
                  <a:rPr lang="en-US"/>
                  <a:t>where </a:t>
                </a:r>
                <a14:m>
                  <m:oMath xmlns:m="http://schemas.openxmlformats.org/officeDocument/2006/math">
                    <m:r>
                      <a:rPr lang="en-US" sz="1200" i="1" kern="1200">
                        <a:solidFill>
                          <a:schemeClr val="tx1"/>
                        </a:solidFill>
                        <a:latin typeface="Cambria Math" panose="02040503050406030204" pitchFamily="18" charset="0"/>
                        <a:ea typeface="+mn-ea"/>
                        <a:cs typeface="+mn-cs"/>
                      </a:rPr>
                      <m:t>𝜎</m:t>
                    </m:r>
                  </m:oMath>
                </a14:m>
                <a:r>
                  <a:rPr lang="en-US"/>
                  <a:t>is surface tension and </a:t>
                </a:r>
                <a14:m>
                  <m:oMath xmlns:m="http://schemas.openxmlformats.org/officeDocument/2006/math">
                    <m:r>
                      <a:rPr lang="en-US" sz="1200" i="1" kern="1200">
                        <a:solidFill>
                          <a:schemeClr val="tx1"/>
                        </a:solidFill>
                        <a:latin typeface="Cambria Math" panose="02040503050406030204" pitchFamily="18" charset="0"/>
                        <a:ea typeface="+mn-ea"/>
                        <a:cs typeface="+mn-cs"/>
                      </a:rPr>
                      <m:t>𝑅</m:t>
                    </m:r>
                  </m:oMath>
                </a14:m>
                <a:r>
                  <a:rPr lang="en-US"/>
                  <a:t>is an effective radius of curvature.</a:t>
                </a:r>
              </a:p>
              <a:p>
                <a:r>
                  <a:rPr lang="en-US"/>
                  <a:t>Your PMD must generate enough capillary pressure to overcome:</a:t>
                </a:r>
              </a:p>
              <a:p>
                <a:pPr lvl="1"/>
                <a:r>
                  <a:rPr lang="en-US"/>
                  <a:t>dynamic pressure losses,</a:t>
                </a:r>
              </a:p>
              <a:p>
                <a:pPr lvl="1"/>
                <a:r>
                  <a:rPr lang="en-US"/>
                  <a:t>disturbances/accelerations,</a:t>
                </a:r>
              </a:p>
              <a:p>
                <a:pPr lvl="1"/>
                <a:r>
                  <a:rPr lang="en-US"/>
                  <a:t>pressurization transients,</a:t>
                </a:r>
              </a:p>
              <a:p>
                <a:pPr lvl="1"/>
                <a:r>
                  <a:rPr lang="en-US"/>
                  <a:t>and any required flow rate.</a:t>
                </a:r>
              </a:p>
              <a:p>
                <a:r>
                  <a:rPr lang="en-US" b="1"/>
                  <a:t>Liquid retention and “no-vapor” delivery</a:t>
                </a:r>
              </a:p>
              <a:p>
                <a:r>
                  <a:rPr lang="en-US"/>
                  <a:t>PMDs often include </a:t>
                </a:r>
                <a:r>
                  <a:rPr lang="en-US" b="1"/>
                  <a:t>sumps</a:t>
                </a:r>
                <a:r>
                  <a:rPr lang="en-US"/>
                  <a:t> and </a:t>
                </a:r>
                <a:r>
                  <a:rPr lang="en-US" b="1"/>
                  <a:t>standpipes</a:t>
                </a:r>
                <a:r>
                  <a:rPr lang="en-US"/>
                  <a:t> so the outlet stays in a controlled liquid zone.</a:t>
                </a:r>
              </a:p>
              <a:p>
                <a:r>
                  <a:rPr lang="en-US"/>
                  <a:t>For higher flow rates, designs may combine </a:t>
                </a:r>
                <a:r>
                  <a:rPr lang="en-US" b="1"/>
                  <a:t>screen channels + vanes</a:t>
                </a:r>
                <a:r>
                  <a:rPr lang="en-US"/>
                  <a:t> to both collect and deliver liquid.</a:t>
                </a:r>
              </a:p>
              <a:p>
                <a:r>
                  <a:rPr lang="en-US" b="1"/>
                  <a:t>3) Positive-expulsion tanks (separate propellant from </a:t>
                </a:r>
                <a:r>
                  <a:rPr lang="en-US" b="1" err="1"/>
                  <a:t>pressurant</a:t>
                </a:r>
                <a:r>
                  <a:rPr lang="en-US" b="1"/>
                  <a:t> physically)</a:t>
                </a:r>
              </a:p>
              <a:p>
                <a:r>
                  <a:rPr lang="en-US"/>
                  <a:t>These are widely used for storable propellants and small spacecraft because they make prop delivery largely independent of gravity.</a:t>
                </a:r>
              </a:p>
              <a:p>
                <a:r>
                  <a:rPr lang="en-US" b="1"/>
                  <a:t>Bladder tanks</a:t>
                </a:r>
              </a:p>
              <a:p>
                <a:r>
                  <a:rPr lang="en-US"/>
                  <a:t>Flexible bladder separates propellant from </a:t>
                </a:r>
                <a:r>
                  <a:rPr lang="en-US" err="1"/>
                  <a:t>pressurant</a:t>
                </a:r>
                <a:r>
                  <a:rPr lang="en-US"/>
                  <a:t> gas.</a:t>
                </a:r>
              </a:p>
              <a:p>
                <a:r>
                  <a:rPr lang="en-US"/>
                  <a:t>Pros: simple, excellent gas-free expulsion, good for small tanks.</a:t>
                </a:r>
              </a:p>
              <a:p>
                <a:r>
                  <a:rPr lang="en-US"/>
                  <a:t>Cons: material compatibility, permeation, life/aging, and bladder “wrinkling”/trapping residuals.</a:t>
                </a:r>
              </a:p>
              <a:p>
                <a:r>
                  <a:rPr lang="en-US" b="1"/>
                  <a:t>Diaphragm tanks</a:t>
                </a:r>
              </a:p>
              <a:p>
                <a:r>
                  <a:rPr lang="en-US"/>
                  <a:t>Elastomeric or metallic diaphragm moves as propellant is expelled.</a:t>
                </a:r>
              </a:p>
              <a:p>
                <a:r>
                  <a:rPr lang="en-US"/>
                  <a:t>Pros: robust separation, often better longevity than some bladders.</a:t>
                </a:r>
              </a:p>
              <a:p>
                <a:r>
                  <a:rPr lang="en-US"/>
                  <a:t>Cons: stroke limits; residual propellant can remain; diaphragm dynamics can matter at high flow.</a:t>
                </a:r>
              </a:p>
              <a:p>
                <a:r>
                  <a:rPr lang="en-US" b="1"/>
                  <a:t>Piston tanks</a:t>
                </a:r>
              </a:p>
              <a:p>
                <a:r>
                  <a:rPr lang="en-US"/>
                  <a:t>Sliding piston separates propellant and </a:t>
                </a:r>
                <a:r>
                  <a:rPr lang="en-US" err="1"/>
                  <a:t>pressurant</a:t>
                </a:r>
                <a:r>
                  <a:rPr lang="en-US"/>
                  <a:t>.</a:t>
                </a:r>
              </a:p>
              <a:p>
                <a:r>
                  <a:rPr lang="en-US"/>
                  <a:t>Pros: true positive expulsion, scalable, good for precision metering.</a:t>
                </a:r>
              </a:p>
              <a:p>
                <a:r>
                  <a:rPr lang="en-US"/>
                  <a:t>Cons: seals/friction, contamination, complexity, thermal/mechanical tolerance stack-up.</a:t>
                </a:r>
              </a:p>
              <a:p>
                <a:r>
                  <a:rPr lang="en-US" b="1"/>
                  <a:t>4) Operational and system-level techniques (supporting methods)</a:t>
                </a:r>
              </a:p>
              <a:p>
                <a:r>
                  <a:rPr lang="en-US" b="1"/>
                  <a:t>Pressurization strategy</a:t>
                </a:r>
              </a:p>
              <a:p>
                <a:r>
                  <a:rPr lang="en-US" b="1"/>
                  <a:t>Pressure-fed</a:t>
                </a:r>
                <a:r>
                  <a:rPr lang="en-US"/>
                  <a:t> systems benefit strongly from positive expulsion or PMDs to ensure gas-free feed.</a:t>
                </a:r>
              </a:p>
              <a:p>
                <a:r>
                  <a:rPr lang="en-US" err="1"/>
                  <a:t>Pressurant</a:t>
                </a:r>
                <a:r>
                  <a:rPr lang="en-US"/>
                  <a:t> management (He, N₂, autogenous) must avoid </a:t>
                </a:r>
                <a:r>
                  <a:rPr lang="en-US" b="1"/>
                  <a:t>gas ingestion</a:t>
                </a:r>
                <a:r>
                  <a:rPr lang="en-US"/>
                  <a:t> at the outlet and manage </a:t>
                </a:r>
                <a:r>
                  <a:rPr lang="en-US" b="1"/>
                  <a:t>ullage volume</a:t>
                </a:r>
                <a:r>
                  <a:rPr lang="en-US"/>
                  <a:t> evolution.</a:t>
                </a:r>
              </a:p>
              <a:p>
                <a:r>
                  <a:rPr lang="en-US" b="1"/>
                  <a:t>Thermal control (especially cryogenic)</a:t>
                </a:r>
              </a:p>
              <a:p>
                <a:r>
                  <a:rPr lang="en-US"/>
                  <a:t>Cryogens introduce additional challenges:</a:t>
                </a:r>
              </a:p>
              <a:p>
                <a:pPr lvl="1"/>
                <a:r>
                  <a:rPr lang="en-US" b="1"/>
                  <a:t>boil-off and venting</a:t>
                </a:r>
                <a:r>
                  <a:rPr lang="en-US"/>
                  <a:t> change ullage behavior,</a:t>
                </a:r>
              </a:p>
              <a:p>
                <a:pPr lvl="1"/>
                <a:r>
                  <a:rPr lang="en-US"/>
                  <a:t>thermal stratification and </a:t>
                </a:r>
                <a:r>
                  <a:rPr lang="en-US" err="1"/>
                  <a:t>geysering</a:t>
                </a:r>
                <a:r>
                  <a:rPr lang="en-US"/>
                  <a:t> can occur,</a:t>
                </a:r>
              </a:p>
              <a:p>
                <a:pPr lvl="1"/>
                <a:r>
                  <a:rPr lang="en-US"/>
                  <a:t>PMD performance can vary with temperature and surface conditions.</a:t>
                </a:r>
              </a:p>
              <a:p>
                <a:r>
                  <a:rPr lang="en-US" err="1"/>
                  <a:t>Cryo</a:t>
                </a:r>
                <a:r>
                  <a:rPr lang="en-US"/>
                  <a:t> stages often use a combination of </a:t>
                </a:r>
                <a:r>
                  <a:rPr lang="en-US" b="1"/>
                  <a:t>settling + PMDs</a:t>
                </a:r>
                <a:r>
                  <a:rPr lang="en-US"/>
                  <a:t>, and sometimes active methods (heaters, mixers, thermodynamic vent systems).</a:t>
                </a:r>
              </a:p>
              <a:p>
                <a:r>
                  <a:rPr lang="en-US" b="1"/>
                  <a:t>Propellant gauging in micro-g</a:t>
                </a:r>
              </a:p>
              <a:p>
                <a:r>
                  <a:rPr lang="en-US"/>
                  <a:t>Not a “keeping-liquid-at-the-outlet” method, but critical for operations.</a:t>
                </a:r>
              </a:p>
              <a:p>
                <a:r>
                  <a:rPr lang="en-US"/>
                  <a:t>Common approaches: </a:t>
                </a:r>
                <a:r>
                  <a:rPr lang="en-US" b="1"/>
                  <a:t>PVT (pressure-volume-temperature) estimates</a:t>
                </a:r>
                <a:r>
                  <a:rPr lang="en-US"/>
                  <a:t>, </a:t>
                </a:r>
                <a:r>
                  <a:rPr lang="en-US" b="1"/>
                  <a:t>capacitance gauges</a:t>
                </a:r>
                <a:r>
                  <a:rPr lang="en-US"/>
                  <a:t>, </a:t>
                </a:r>
                <a:r>
                  <a:rPr lang="en-US" b="1"/>
                  <a:t>ultrasonic</a:t>
                </a:r>
                <a:r>
                  <a:rPr lang="en-US"/>
                  <a:t>, </a:t>
                </a:r>
                <a:r>
                  <a:rPr lang="en-US" b="1"/>
                  <a:t>radio-frequency/microwave</a:t>
                </a:r>
                <a:r>
                  <a:rPr lang="en-US"/>
                  <a:t>, and </a:t>
                </a:r>
                <a:r>
                  <a:rPr lang="en-US" b="1"/>
                  <a:t>bookkeeping</a:t>
                </a:r>
                <a:r>
                  <a:rPr lang="en-US"/>
                  <a:t>.</a:t>
                </a:r>
              </a:p>
              <a:p>
                <a:r>
                  <a:rPr lang="en-US" b="1"/>
                  <a:t>How to choose (rules of thumb)</a:t>
                </a:r>
              </a:p>
              <a:p>
                <a:r>
                  <a:rPr lang="en-US" b="1"/>
                  <a:t>Small spacecraft / storable propellants / high reliability needs:</a:t>
                </a:r>
                <a:r>
                  <a:rPr lang="en-US"/>
                  <a:t> positive expulsion (bladder/diaphragm/piston) is often the cleanest.</a:t>
                </a:r>
              </a:p>
              <a:p>
                <a:r>
                  <a:rPr lang="en-US" b="1"/>
                  <a:t>Larger tanks / higher flow / constrained mass:</a:t>
                </a:r>
                <a:r>
                  <a:rPr lang="en-US"/>
                  <a:t> PMDs (especially screen-channel) + occasional thrust-settling.</a:t>
                </a:r>
              </a:p>
              <a:p>
                <a:r>
                  <a:rPr lang="en-US" b="1"/>
                  <a:t>Upper stages with long coasts:</a:t>
                </a:r>
                <a:r>
                  <a:rPr lang="en-US"/>
                  <a:t> operational settling plus PMDs is common; pure settling without PMDs is riskier as coast times grow.</a:t>
                </a:r>
              </a:p>
              <a:p>
                <a:r>
                  <a:rPr lang="en-US" b="1"/>
                  <a:t>Cryogenic propellants:</a:t>
                </a:r>
                <a:r>
                  <a:rPr lang="en-US"/>
                  <a:t> usually needs a combined architecture (thermal + settling + PMD), because boiling/venting complicates everything.</a:t>
                </a:r>
              </a:p>
              <a:p>
                <a:r>
                  <a:rPr lang="en-US"/>
                  <a:t>If you tell me (1) propellant type (storable vs LOX/LCH4/LH2), (2) expected flow rate / engine type, (3) tank size/geometry, and (4) coast duration and disturbance environment, I can recommend a specific architecture (e.g., screen-channel sizing approach, bubble-point margin targets, or whether a diaphragm tank is practical).</a:t>
                </a:r>
              </a:p>
              <a:p>
                <a:endParaRPr lang="en-US"/>
              </a:p>
            </p:txBody>
          </p:sp>
        </mc:Choice>
        <mc:Fallback>
          <p:sp>
            <p:nvSpPr>
              <p:cNvPr id="3" name="Notes Placeholder 2"/>
              <p:cNvSpPr>
                <a:spLocks noGrp="1"/>
              </p:cNvSpPr>
              <p:nvPr>
                <p:ph type="body" idx="1"/>
              </p:nvPr>
            </p:nvSpPr>
            <p:spPr/>
            <p:txBody>
              <a:bodyPr/>
              <a:lstStyle/>
              <a:p>
                <a:r>
                  <a:rPr lang="en-US"/>
                  <a:t>In microgravity, the central problem for a propellant tank is </a:t>
                </a:r>
                <a:r>
                  <a:rPr lang="en-US" b="1"/>
                  <a:t>phase management</a:t>
                </a:r>
                <a:r>
                  <a:rPr lang="en-US"/>
                  <a:t>: without gravity, liquid and ullage gas do not “separate” cleanly, so an engine feed line can ingest gas, causing </a:t>
                </a:r>
                <a:r>
                  <a:rPr lang="en-US" b="1"/>
                  <a:t>cavitation, loss of thrust, and hard-start risk</a:t>
                </a:r>
                <a:r>
                  <a:rPr lang="en-US"/>
                  <a:t>. The solution set falls into two broad categories: </a:t>
                </a:r>
                <a:r>
                  <a:rPr lang="en-US" b="1"/>
                  <a:t>(1) force the liquid to where you want it</a:t>
                </a:r>
                <a:r>
                  <a:rPr lang="en-US"/>
                  <a:t>, or </a:t>
                </a:r>
                <a:r>
                  <a:rPr lang="en-US" b="1"/>
                  <a:t>(2) use tank internal hardware that passively “collects” liquid</a:t>
                </a:r>
                <a:r>
                  <a:rPr lang="en-US"/>
                  <a:t>.</a:t>
                </a:r>
              </a:p>
              <a:p>
                <a:r>
                  <a:rPr lang="en-US" b="1"/>
                  <a:t>1) Settling methods (apply acceleration so the liquid behaves “as if” under gravity)</a:t>
                </a:r>
              </a:p>
              <a:p>
                <a:r>
                  <a:rPr lang="en-US" b="1"/>
                  <a:t>Thrust-settling (ullage burns)</a:t>
                </a:r>
              </a:p>
              <a:p>
                <a:r>
                  <a:rPr lang="en-US"/>
                  <a:t>Use </a:t>
                </a:r>
                <a:r>
                  <a:rPr lang="en-US" b="1"/>
                  <a:t>small thrusters</a:t>
                </a:r>
                <a:r>
                  <a:rPr lang="en-US"/>
                  <a:t> to provide a steady acceleration (often milli-g to a few percent of g), pushing liquid toward the outlet.</a:t>
                </a:r>
              </a:p>
              <a:p>
                <a:r>
                  <a:rPr lang="en-US"/>
                  <a:t>Common before main-engine start or during coast phases.</a:t>
                </a:r>
              </a:p>
              <a:p>
                <a:r>
                  <a:rPr lang="en-US"/>
                  <a:t>Design considerations:</a:t>
                </a:r>
              </a:p>
              <a:p>
                <a:pPr lvl="1"/>
                <a:r>
                  <a:rPr lang="en-US"/>
                  <a:t>Required acceleration depends on </a:t>
                </a:r>
                <a:r>
                  <a:rPr lang="en-US" b="1"/>
                  <a:t>tank geometry, propellant properties, and disturbance environment</a:t>
                </a:r>
                <a:r>
                  <a:rPr lang="en-US"/>
                  <a:t>.</a:t>
                </a:r>
              </a:p>
              <a:p>
                <a:pPr lvl="1"/>
                <a:r>
                  <a:rPr lang="en-US"/>
                  <a:t>Must avoid exciting </a:t>
                </a:r>
                <a:r>
                  <a:rPr lang="en-US" b="1"/>
                  <a:t>sloshing modes</a:t>
                </a:r>
                <a:r>
                  <a:rPr lang="en-US"/>
                  <a:t> that can destabilize attitude control.</a:t>
                </a:r>
              </a:p>
              <a:p>
                <a:r>
                  <a:rPr lang="en-US" b="1"/>
                  <a:t>Spin-settling</a:t>
                </a:r>
              </a:p>
              <a:p>
                <a:r>
                  <a:rPr lang="en-US"/>
                  <a:t>Impart </a:t>
                </a:r>
                <a:r>
                  <a:rPr lang="en-US" b="1"/>
                  <a:t>angular rate</a:t>
                </a:r>
                <a:r>
                  <a:rPr lang="en-US"/>
                  <a:t> so centrifugal acceleration drives liquid outward to the tank walls, creating a stable liquid region and ullage region.</a:t>
                </a:r>
              </a:p>
              <a:p>
                <a:r>
                  <a:rPr lang="en-US"/>
                  <a:t>Works well for some mission profiles, but complicates guidance/control and can be incompatible with payload pointing constraints.</a:t>
                </a:r>
              </a:p>
              <a:p>
                <a:r>
                  <a:rPr lang="en-US" b="1"/>
                  <a:t>“Slosh-aware” settling</a:t>
                </a:r>
              </a:p>
              <a:p>
                <a:r>
                  <a:rPr lang="en-US"/>
                  <a:t>Use </a:t>
                </a:r>
                <a:r>
                  <a:rPr lang="en-US" b="1"/>
                  <a:t>baffles</a:t>
                </a:r>
                <a:r>
                  <a:rPr lang="en-US"/>
                  <a:t> and operational constraints (thrust ramp rates, burn timing) to manage slosh during settling and engine start.</a:t>
                </a:r>
              </a:p>
              <a:p>
                <a:r>
                  <a:rPr lang="en-US"/>
                  <a:t>Often paired with thrust-settling to reduce propellant motion and gas ingestion risk.</a:t>
                </a:r>
              </a:p>
              <a:p>
                <a:r>
                  <a:rPr lang="en-US" b="1"/>
                  <a:t>2) Passive Propellant Management Devices (PMDs) (use capillarity/surface tension)</a:t>
                </a:r>
              </a:p>
              <a:p>
                <a:r>
                  <a:rPr lang="en-US"/>
                  <a:t>These rely on the fact that in micro-g, </a:t>
                </a:r>
                <a:r>
                  <a:rPr lang="en-US" b="1"/>
                  <a:t>surface tension dominates</a:t>
                </a:r>
                <a:r>
                  <a:rPr lang="en-US"/>
                  <a:t> (Bond number is small), so carefully designed internal structures can “wick” and retain liquid at the outlet.</a:t>
                </a:r>
              </a:p>
              <a:p>
                <a:r>
                  <a:rPr lang="en-US" b="1"/>
                  <a:t>Capillary acquisition devices (CADs)</a:t>
                </a:r>
              </a:p>
              <a:p>
                <a:r>
                  <a:rPr lang="en-US"/>
                  <a:t>Purpose: ensure </a:t>
                </a:r>
                <a:r>
                  <a:rPr lang="en-US" b="1"/>
                  <a:t>liquid-only</a:t>
                </a:r>
                <a:r>
                  <a:rPr lang="en-US"/>
                  <a:t> delivery to the feed line across expected micro-g disturbances.</a:t>
                </a:r>
              </a:p>
              <a:p>
                <a:r>
                  <a:rPr lang="en-US"/>
                  <a:t>Common CAD architectures:</a:t>
                </a:r>
              </a:p>
              <a:p>
                <a:r>
                  <a:rPr lang="en-US" b="1"/>
                  <a:t>Vane PMDs:</a:t>
                </a:r>
                <a:r>
                  <a:rPr lang="en-US"/>
                  <a:t> radial/axial vanes guide liquid toward a sump/outlet via capillary action.</a:t>
                </a:r>
              </a:p>
              <a:p>
                <a:r>
                  <a:rPr lang="en-US" b="1"/>
                  <a:t>Screen-channel PMDs:</a:t>
                </a:r>
                <a:r>
                  <a:rPr lang="en-US"/>
                  <a:t> a channel covered by a fine </a:t>
                </a:r>
                <a:r>
                  <a:rPr lang="en-US" b="1"/>
                  <a:t>mesh/screen</a:t>
                </a:r>
                <a:r>
                  <a:rPr lang="en-US"/>
                  <a:t> that allows liquid through but blocks gas up to a “bubble point” pressure.</a:t>
                </a:r>
              </a:p>
              <a:p>
                <a:r>
                  <a:rPr lang="en-US" b="1"/>
                  <a:t>Sponges / porous media:</a:t>
                </a:r>
                <a:r>
                  <a:rPr lang="en-US"/>
                  <a:t> porous blocks near the outlet retain liquid and resist gas ingestion.</a:t>
                </a:r>
              </a:p>
              <a:p>
                <a:r>
                  <a:rPr lang="en-US" b="1"/>
                  <a:t>Troughs and gutters:</a:t>
                </a:r>
                <a:r>
                  <a:rPr lang="en-US"/>
                  <a:t> shaped surfaces that preferentially hold liquid and direct it to the outlet.</a:t>
                </a:r>
              </a:p>
              <a:p>
                <a:r>
                  <a:rPr lang="en-US"/>
                  <a:t>Key design concept: </a:t>
                </a:r>
                <a:r>
                  <a:rPr lang="en-US" b="1"/>
                  <a:t>capillary pressure margin</a:t>
                </a:r>
                <a:endParaRPr lang="en-US"/>
              </a:p>
              <a:p>
                <a:r>
                  <a:rPr lang="en-US"/>
                  <a:t>Surface tension creates a pressure difference across a curved interface: roughly</a:t>
                </a:r>
              </a:p>
              <a:p>
                <a:pPr/>
                <a:r>
                  <a:rPr lang="el-GR" sz="1200" i="0" kern="1200">
                    <a:solidFill>
                      <a:schemeClr val="tx1"/>
                    </a:solidFill>
                    <a:latin typeface="Cambria Math" panose="02040503050406030204" pitchFamily="18" charset="0"/>
                    <a:ea typeface="+mn-ea"/>
                    <a:cs typeface="+mn-cs"/>
                  </a:rPr>
                  <a:t>Δ𝑝∼</a:t>
                </a:r>
                <a:r>
                  <a:rPr lang="ar-AE" sz="1200" i="0" kern="1200">
                    <a:solidFill>
                      <a:schemeClr val="tx1"/>
                    </a:solidFill>
                    <a:latin typeface="Cambria Math" panose="02040503050406030204" pitchFamily="18" charset="0"/>
                    <a:ea typeface="+mn-ea"/>
                    <a:cs typeface="+mn-cs"/>
                  </a:rPr>
                  <a:t>2𝜎/𝑅</a:t>
                </a:r>
                <a:endParaRPr lang="ar-AE"/>
              </a:p>
              <a:p>
                <a:r>
                  <a:rPr lang="en-US"/>
                  <a:t>where </a:t>
                </a:r>
                <a:r>
                  <a:rPr lang="en-US" sz="1200" i="0" kern="1200">
                    <a:solidFill>
                      <a:schemeClr val="tx1"/>
                    </a:solidFill>
                    <a:latin typeface="Cambria Math" panose="02040503050406030204" pitchFamily="18" charset="0"/>
                    <a:ea typeface="+mn-ea"/>
                    <a:cs typeface="+mn-cs"/>
                  </a:rPr>
                  <a:t>𝜎</a:t>
                </a:r>
                <a:r>
                  <a:rPr lang="en-US"/>
                  <a:t>is surface tension and </a:t>
                </a:r>
                <a:r>
                  <a:rPr lang="en-US" sz="1200" i="0" kern="1200">
                    <a:solidFill>
                      <a:schemeClr val="tx1"/>
                    </a:solidFill>
                    <a:latin typeface="Cambria Math" panose="02040503050406030204" pitchFamily="18" charset="0"/>
                    <a:ea typeface="+mn-ea"/>
                    <a:cs typeface="+mn-cs"/>
                  </a:rPr>
                  <a:t>𝑅</a:t>
                </a:r>
                <a:r>
                  <a:rPr lang="en-US"/>
                  <a:t>is an effective radius of curvature.</a:t>
                </a:r>
              </a:p>
              <a:p>
                <a:r>
                  <a:rPr lang="en-US"/>
                  <a:t>Your PMD must generate enough capillary pressure to overcome:</a:t>
                </a:r>
              </a:p>
              <a:p>
                <a:pPr lvl="1"/>
                <a:r>
                  <a:rPr lang="en-US"/>
                  <a:t>dynamic pressure losses,</a:t>
                </a:r>
              </a:p>
              <a:p>
                <a:pPr lvl="1"/>
                <a:r>
                  <a:rPr lang="en-US"/>
                  <a:t>disturbances/accelerations,</a:t>
                </a:r>
              </a:p>
              <a:p>
                <a:pPr lvl="1"/>
                <a:r>
                  <a:rPr lang="en-US"/>
                  <a:t>pressurization transients,</a:t>
                </a:r>
              </a:p>
              <a:p>
                <a:pPr lvl="1"/>
                <a:r>
                  <a:rPr lang="en-US"/>
                  <a:t>and any required flow rate.</a:t>
                </a:r>
              </a:p>
              <a:p>
                <a:r>
                  <a:rPr lang="en-US" b="1"/>
                  <a:t>Liquid retention and “no-vapor” delivery</a:t>
                </a:r>
              </a:p>
              <a:p>
                <a:r>
                  <a:rPr lang="en-US"/>
                  <a:t>PMDs often include </a:t>
                </a:r>
                <a:r>
                  <a:rPr lang="en-US" b="1"/>
                  <a:t>sumps</a:t>
                </a:r>
                <a:r>
                  <a:rPr lang="en-US"/>
                  <a:t> and </a:t>
                </a:r>
                <a:r>
                  <a:rPr lang="en-US" b="1"/>
                  <a:t>standpipes</a:t>
                </a:r>
                <a:r>
                  <a:rPr lang="en-US"/>
                  <a:t> so the outlet stays in a controlled liquid zone.</a:t>
                </a:r>
              </a:p>
              <a:p>
                <a:r>
                  <a:rPr lang="en-US"/>
                  <a:t>For higher flow rates, designs may combine </a:t>
                </a:r>
                <a:r>
                  <a:rPr lang="en-US" b="1"/>
                  <a:t>screen channels + vanes</a:t>
                </a:r>
                <a:r>
                  <a:rPr lang="en-US"/>
                  <a:t> to both collect and deliver liquid.</a:t>
                </a:r>
              </a:p>
              <a:p>
                <a:r>
                  <a:rPr lang="en-US" b="1"/>
                  <a:t>3) Positive-expulsion tanks (separate propellant from </a:t>
                </a:r>
                <a:r>
                  <a:rPr lang="en-US" b="1" err="1"/>
                  <a:t>pressurant</a:t>
                </a:r>
                <a:r>
                  <a:rPr lang="en-US" b="1"/>
                  <a:t> physically)</a:t>
                </a:r>
              </a:p>
              <a:p>
                <a:r>
                  <a:rPr lang="en-US"/>
                  <a:t>These are widely used for storable propellants and small spacecraft because they make prop delivery largely independent of gravity.</a:t>
                </a:r>
              </a:p>
              <a:p>
                <a:r>
                  <a:rPr lang="en-US" b="1"/>
                  <a:t>Bladder tanks</a:t>
                </a:r>
              </a:p>
              <a:p>
                <a:r>
                  <a:rPr lang="en-US"/>
                  <a:t>Flexible bladder separates propellant from </a:t>
                </a:r>
                <a:r>
                  <a:rPr lang="en-US" err="1"/>
                  <a:t>pressurant</a:t>
                </a:r>
                <a:r>
                  <a:rPr lang="en-US"/>
                  <a:t> gas.</a:t>
                </a:r>
              </a:p>
              <a:p>
                <a:r>
                  <a:rPr lang="en-US"/>
                  <a:t>Pros: simple, excellent gas-free expulsion, good for small tanks.</a:t>
                </a:r>
              </a:p>
              <a:p>
                <a:r>
                  <a:rPr lang="en-US"/>
                  <a:t>Cons: material compatibility, permeation, life/aging, and bladder “wrinkling”/trapping residuals.</a:t>
                </a:r>
              </a:p>
              <a:p>
                <a:r>
                  <a:rPr lang="en-US" b="1"/>
                  <a:t>Diaphragm tanks</a:t>
                </a:r>
              </a:p>
              <a:p>
                <a:r>
                  <a:rPr lang="en-US"/>
                  <a:t>Elastomeric or metallic diaphragm moves as propellant is expelled.</a:t>
                </a:r>
              </a:p>
              <a:p>
                <a:r>
                  <a:rPr lang="en-US"/>
                  <a:t>Pros: robust separation, often better longevity than some bladders.</a:t>
                </a:r>
              </a:p>
              <a:p>
                <a:r>
                  <a:rPr lang="en-US"/>
                  <a:t>Cons: stroke limits; residual propellant can remain; diaphragm dynamics can matter at high flow.</a:t>
                </a:r>
              </a:p>
              <a:p>
                <a:r>
                  <a:rPr lang="en-US" b="1"/>
                  <a:t>Piston tanks</a:t>
                </a:r>
              </a:p>
              <a:p>
                <a:r>
                  <a:rPr lang="en-US"/>
                  <a:t>Sliding piston separates propellant and </a:t>
                </a:r>
                <a:r>
                  <a:rPr lang="en-US" err="1"/>
                  <a:t>pressurant</a:t>
                </a:r>
                <a:r>
                  <a:rPr lang="en-US"/>
                  <a:t>.</a:t>
                </a:r>
              </a:p>
              <a:p>
                <a:r>
                  <a:rPr lang="en-US"/>
                  <a:t>Pros: true positive expulsion, scalable, good for precision metering.</a:t>
                </a:r>
              </a:p>
              <a:p>
                <a:r>
                  <a:rPr lang="en-US"/>
                  <a:t>Cons: seals/friction, contamination, complexity, thermal/mechanical tolerance stack-up.</a:t>
                </a:r>
              </a:p>
              <a:p>
                <a:r>
                  <a:rPr lang="en-US" b="1"/>
                  <a:t>4) Operational and system-level techniques (supporting methods)</a:t>
                </a:r>
              </a:p>
              <a:p>
                <a:r>
                  <a:rPr lang="en-US" b="1"/>
                  <a:t>Pressurization strategy</a:t>
                </a:r>
              </a:p>
              <a:p>
                <a:r>
                  <a:rPr lang="en-US" b="1"/>
                  <a:t>Pressure-fed</a:t>
                </a:r>
                <a:r>
                  <a:rPr lang="en-US"/>
                  <a:t> systems benefit strongly from positive expulsion or PMDs to ensure gas-free feed.</a:t>
                </a:r>
              </a:p>
              <a:p>
                <a:r>
                  <a:rPr lang="en-US" err="1"/>
                  <a:t>Pressurant</a:t>
                </a:r>
                <a:r>
                  <a:rPr lang="en-US"/>
                  <a:t> management (He, N₂, autogenous) must avoid </a:t>
                </a:r>
                <a:r>
                  <a:rPr lang="en-US" b="1"/>
                  <a:t>gas ingestion</a:t>
                </a:r>
                <a:r>
                  <a:rPr lang="en-US"/>
                  <a:t> at the outlet and manage </a:t>
                </a:r>
                <a:r>
                  <a:rPr lang="en-US" b="1"/>
                  <a:t>ullage volume</a:t>
                </a:r>
                <a:r>
                  <a:rPr lang="en-US"/>
                  <a:t> evolution.</a:t>
                </a:r>
              </a:p>
              <a:p>
                <a:r>
                  <a:rPr lang="en-US" b="1"/>
                  <a:t>Thermal control (especially cryogenic)</a:t>
                </a:r>
              </a:p>
              <a:p>
                <a:r>
                  <a:rPr lang="en-US"/>
                  <a:t>Cryogens introduce additional challenges:</a:t>
                </a:r>
              </a:p>
              <a:p>
                <a:pPr lvl="1"/>
                <a:r>
                  <a:rPr lang="en-US" b="1"/>
                  <a:t>boil-off and venting</a:t>
                </a:r>
                <a:r>
                  <a:rPr lang="en-US"/>
                  <a:t> change ullage behavior,</a:t>
                </a:r>
              </a:p>
              <a:p>
                <a:pPr lvl="1"/>
                <a:r>
                  <a:rPr lang="en-US"/>
                  <a:t>thermal stratification and </a:t>
                </a:r>
                <a:r>
                  <a:rPr lang="en-US" err="1"/>
                  <a:t>geysering</a:t>
                </a:r>
                <a:r>
                  <a:rPr lang="en-US"/>
                  <a:t> can occur,</a:t>
                </a:r>
              </a:p>
              <a:p>
                <a:pPr lvl="1"/>
                <a:r>
                  <a:rPr lang="en-US"/>
                  <a:t>PMD performance can vary with temperature and surface conditions.</a:t>
                </a:r>
              </a:p>
              <a:p>
                <a:r>
                  <a:rPr lang="en-US" err="1"/>
                  <a:t>Cryo</a:t>
                </a:r>
                <a:r>
                  <a:rPr lang="en-US"/>
                  <a:t> stages often use a combination of </a:t>
                </a:r>
                <a:r>
                  <a:rPr lang="en-US" b="1"/>
                  <a:t>settling + PMDs</a:t>
                </a:r>
                <a:r>
                  <a:rPr lang="en-US"/>
                  <a:t>, and sometimes active methods (heaters, mixers, thermodynamic vent systems).</a:t>
                </a:r>
              </a:p>
              <a:p>
                <a:r>
                  <a:rPr lang="en-US" b="1"/>
                  <a:t>Propellant gauging in micro-g</a:t>
                </a:r>
              </a:p>
              <a:p>
                <a:r>
                  <a:rPr lang="en-US"/>
                  <a:t>Not a “keeping-liquid-at-the-outlet” method, but critical for operations.</a:t>
                </a:r>
              </a:p>
              <a:p>
                <a:r>
                  <a:rPr lang="en-US"/>
                  <a:t>Common approaches: </a:t>
                </a:r>
                <a:r>
                  <a:rPr lang="en-US" b="1"/>
                  <a:t>PVT (pressure-volume-temperature) estimates</a:t>
                </a:r>
                <a:r>
                  <a:rPr lang="en-US"/>
                  <a:t>, </a:t>
                </a:r>
                <a:r>
                  <a:rPr lang="en-US" b="1"/>
                  <a:t>capacitance gauges</a:t>
                </a:r>
                <a:r>
                  <a:rPr lang="en-US"/>
                  <a:t>, </a:t>
                </a:r>
                <a:r>
                  <a:rPr lang="en-US" b="1"/>
                  <a:t>ultrasonic</a:t>
                </a:r>
                <a:r>
                  <a:rPr lang="en-US"/>
                  <a:t>, </a:t>
                </a:r>
                <a:r>
                  <a:rPr lang="en-US" b="1"/>
                  <a:t>radio-frequency/microwave</a:t>
                </a:r>
                <a:r>
                  <a:rPr lang="en-US"/>
                  <a:t>, and </a:t>
                </a:r>
                <a:r>
                  <a:rPr lang="en-US" b="1"/>
                  <a:t>bookkeeping</a:t>
                </a:r>
                <a:r>
                  <a:rPr lang="en-US"/>
                  <a:t>.</a:t>
                </a:r>
              </a:p>
              <a:p>
                <a:r>
                  <a:rPr lang="en-US" b="1"/>
                  <a:t>How to choose (rules of thumb)</a:t>
                </a:r>
              </a:p>
              <a:p>
                <a:r>
                  <a:rPr lang="en-US" b="1"/>
                  <a:t>Small spacecraft / storable propellants / high reliability needs:</a:t>
                </a:r>
                <a:r>
                  <a:rPr lang="en-US"/>
                  <a:t> positive expulsion (bladder/diaphragm/piston) is often the cleanest.</a:t>
                </a:r>
              </a:p>
              <a:p>
                <a:r>
                  <a:rPr lang="en-US" b="1"/>
                  <a:t>Larger tanks / higher flow / constrained mass:</a:t>
                </a:r>
                <a:r>
                  <a:rPr lang="en-US"/>
                  <a:t> PMDs (especially screen-channel) + occasional thrust-settling.</a:t>
                </a:r>
              </a:p>
              <a:p>
                <a:r>
                  <a:rPr lang="en-US" b="1"/>
                  <a:t>Upper stages with long coasts:</a:t>
                </a:r>
                <a:r>
                  <a:rPr lang="en-US"/>
                  <a:t> operational settling plus PMDs is common; pure settling without PMDs is riskier as coast times grow.</a:t>
                </a:r>
              </a:p>
              <a:p>
                <a:r>
                  <a:rPr lang="en-US" b="1"/>
                  <a:t>Cryogenic propellants:</a:t>
                </a:r>
                <a:r>
                  <a:rPr lang="en-US"/>
                  <a:t> usually needs a combined architecture (thermal + settling + PMD), because boiling/venting complicates everything.</a:t>
                </a:r>
              </a:p>
              <a:p>
                <a:r>
                  <a:rPr lang="en-US"/>
                  <a:t>If you tell me (1) propellant type (storable vs LOX/LCH4/LH2), (2) expected flow rate / engine type, (3) tank size/geometry, and (4) coast duration and disturbance environment, I can recommend a specific architecture (e.g., screen-channel sizing approach, bubble-point margin targets, or whether a diaphragm tank is practical).</a:t>
                </a:r>
              </a:p>
              <a:p>
                <a:endParaRPr lang="en-US"/>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7</a:t>
            </a:fld>
            <a:endParaRPr lang="en-US"/>
          </a:p>
        </p:txBody>
      </p:sp>
    </p:spTree>
    <p:extLst>
      <p:ext uri="{BB962C8B-B14F-4D97-AF65-F5344CB8AC3E}">
        <p14:creationId xmlns:p14="http://schemas.microsoft.com/office/powerpoint/2010/main" val="966048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just for fun, flame in microgravity</a:t>
            </a:r>
          </a:p>
        </p:txBody>
      </p:sp>
      <p:sp>
        <p:nvSpPr>
          <p:cNvPr id="4" name="Slide Number Placeholder 3"/>
          <p:cNvSpPr>
            <a:spLocks noGrp="1"/>
          </p:cNvSpPr>
          <p:nvPr>
            <p:ph type="sldNum" sz="quarter" idx="5"/>
          </p:nvPr>
        </p:nvSpPr>
        <p:spPr/>
        <p:txBody>
          <a:bodyPr/>
          <a:lstStyle/>
          <a:p>
            <a:fld id="{9EB4C982-825B-414E-ABB9-79AB251390A5}" type="slidenum">
              <a:rPr lang="en-US" smtClean="0"/>
              <a:t>8</a:t>
            </a:fld>
            <a:endParaRPr lang="en-US"/>
          </a:p>
        </p:txBody>
      </p:sp>
    </p:spTree>
    <p:extLst>
      <p:ext uri="{BB962C8B-B14F-4D97-AF65-F5344CB8AC3E}">
        <p14:creationId xmlns:p14="http://schemas.microsoft.com/office/powerpoint/2010/main" val="1547117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setup</a:t>
            </a:r>
          </a:p>
          <a:p>
            <a:r>
              <a:rPr lang="en-US"/>
              <a:t>In the late Cold War era, NASA launched </a:t>
            </a:r>
            <a:r>
              <a:rPr lang="en-US" b="1"/>
              <a:t>Galileo</a:t>
            </a:r>
            <a:r>
              <a:rPr lang="en-US"/>
              <a:t>, an ambitious spacecraft intended to orbit Jupiter and revolutionize planetary science. Central to the mission was a </a:t>
            </a:r>
            <a:r>
              <a:rPr lang="en-US" b="1"/>
              <a:t>large high-gain antenna (HGA)</a:t>
            </a:r>
            <a:r>
              <a:rPr lang="en-US"/>
              <a:t>—a ribbed, umbrella-like structure designed to unfurl in space and transmit high-rate scientific data back to Earth.</a:t>
            </a:r>
          </a:p>
          <a:p>
            <a:r>
              <a:rPr lang="en-US"/>
              <a:t>On Earth, the antenna had been tested repeatedly. It deployed reliably in air and thermal-vacuum chambers. Nothing appeared anomalous.</a:t>
            </a:r>
          </a:p>
          <a:p>
            <a:r>
              <a:rPr lang="en-US"/>
              <a:t>Then Galileo reached space.</a:t>
            </a:r>
          </a:p>
          <a:p>
            <a:br>
              <a:rPr lang="en-US"/>
            </a:br>
            <a:endParaRPr lang="en-US"/>
          </a:p>
          <a:p>
            <a:r>
              <a:rPr lang="en-US" b="1"/>
              <a:t>The failure</a:t>
            </a:r>
          </a:p>
          <a:p>
            <a:r>
              <a:rPr lang="en-US"/>
              <a:t>When commanded to deploy, the antenna </a:t>
            </a:r>
            <a:r>
              <a:rPr lang="en-US" b="1"/>
              <a:t>did not open</a:t>
            </a:r>
            <a:r>
              <a:rPr lang="en-US"/>
              <a:t>.</a:t>
            </a:r>
          </a:p>
          <a:p>
            <a:r>
              <a:rPr lang="en-US"/>
              <a:t>Multiple retries failed. Engineers could tell the motors were turning, but the ribs remained stuck. The spacecraft was now hundreds of millions of kilometers from Earth, with no possibility of repair.</a:t>
            </a:r>
          </a:p>
          <a:p>
            <a:r>
              <a:rPr lang="en-US"/>
              <a:t>The root cause analysis converged on a subtle but devastating phenomenon:</a:t>
            </a:r>
          </a:p>
          <a:p>
            <a:r>
              <a:rPr lang="en-US" b="1"/>
              <a:t>cold welding (often coupled with galling).</a:t>
            </a:r>
            <a:endParaRPr lang="en-US"/>
          </a:p>
          <a:p>
            <a:br>
              <a:rPr lang="en-US"/>
            </a:br>
            <a:endParaRPr lang="en-US"/>
          </a:p>
          <a:p>
            <a:r>
              <a:rPr lang="en-US" b="1"/>
              <a:t>What actually happened</a:t>
            </a:r>
          </a:p>
          <a:p>
            <a:r>
              <a:rPr lang="en-US"/>
              <a:t>The antenna’s deployment mechanism relied on </a:t>
            </a:r>
            <a:r>
              <a:rPr lang="en-US" b="1"/>
              <a:t>metal-to-metal sliding contact</a:t>
            </a:r>
            <a:r>
              <a:rPr lang="en-US"/>
              <a:t> between precision components—aluminum and titanium alloys chosen for strength and mass efficiency.</a:t>
            </a:r>
          </a:p>
          <a:p>
            <a:r>
              <a:rPr lang="en-US"/>
              <a:t>In the vacuum of space:</a:t>
            </a:r>
          </a:p>
          <a:p>
            <a:r>
              <a:rPr lang="en-US"/>
              <a:t>There is </a:t>
            </a:r>
            <a:r>
              <a:rPr lang="en-US" b="1"/>
              <a:t>no oxide regrowth</a:t>
            </a:r>
            <a:r>
              <a:rPr lang="en-US"/>
              <a:t>, moisture, or air film to separate metal surfaces.</a:t>
            </a:r>
          </a:p>
          <a:p>
            <a:r>
              <a:rPr lang="en-US"/>
              <a:t>Protective boundary layers that exist on Earth disappear.</a:t>
            </a:r>
          </a:p>
          <a:p>
            <a:r>
              <a:rPr lang="en-US"/>
              <a:t>Under load, microscopic asperities on opposing metal surfaces </a:t>
            </a:r>
            <a:r>
              <a:rPr lang="en-US" b="1"/>
              <a:t>shear and fuse at the atomic level</a:t>
            </a:r>
            <a:r>
              <a:rPr lang="en-US"/>
              <a:t>.</a:t>
            </a:r>
          </a:p>
          <a:p>
            <a:r>
              <a:rPr lang="en-US"/>
              <a:t>During Galileo’s long cruise phase:</a:t>
            </a:r>
          </a:p>
          <a:p>
            <a:r>
              <a:rPr lang="en-US"/>
              <a:t>Minor vibrations, thermal cycling, and preload forces caused </a:t>
            </a:r>
            <a:r>
              <a:rPr lang="en-US" b="1"/>
              <a:t>progressive adhesion</a:t>
            </a:r>
            <a:r>
              <a:rPr lang="en-US"/>
              <a:t> between contacting parts.</a:t>
            </a:r>
          </a:p>
          <a:p>
            <a:r>
              <a:rPr lang="en-US"/>
              <a:t>What began as increased friction evolved into </a:t>
            </a:r>
            <a:r>
              <a:rPr lang="en-US" b="1"/>
              <a:t>localized cold welding</a:t>
            </a:r>
            <a:r>
              <a:rPr lang="en-US"/>
              <a:t>.</a:t>
            </a:r>
          </a:p>
          <a:p>
            <a:r>
              <a:rPr lang="en-US"/>
              <a:t>By the time deployment was attempted, the ribs were effectively </a:t>
            </a:r>
            <a:r>
              <a:rPr lang="en-US" b="1"/>
              <a:t>bonded together</a:t>
            </a:r>
            <a:r>
              <a:rPr lang="en-US"/>
              <a:t>.</a:t>
            </a:r>
          </a:p>
          <a:p>
            <a:r>
              <a:rPr lang="en-US"/>
              <a:t>The motors were not strong enough to break the welded interfaces.</a:t>
            </a:r>
          </a:p>
          <a:p>
            <a:br>
              <a:rPr lang="en-US"/>
            </a:br>
            <a:endParaRPr lang="en-US"/>
          </a:p>
          <a:p>
            <a:r>
              <a:rPr lang="en-US" b="1"/>
              <a:t>Why this was missed in testing</a:t>
            </a:r>
          </a:p>
          <a:p>
            <a:r>
              <a:rPr lang="en-US"/>
              <a:t>This is the most instructive part of the story.</a:t>
            </a:r>
          </a:p>
          <a:p>
            <a:r>
              <a:rPr lang="en-US" b="1"/>
              <a:t>Ground tests were time-compressed</a:t>
            </a:r>
            <a:endParaRPr lang="en-US"/>
          </a:p>
          <a:p>
            <a:pPr lvl="1"/>
            <a:r>
              <a:rPr lang="en-US"/>
              <a:t>The antenna was not left dormant for years under true vacuum and preload.</a:t>
            </a:r>
          </a:p>
          <a:p>
            <a:r>
              <a:rPr lang="en-US" b="1"/>
              <a:t>Thermal-vacuum testing was insufficiently representative</a:t>
            </a:r>
            <a:endParaRPr lang="en-US"/>
          </a:p>
          <a:p>
            <a:pPr lvl="1"/>
            <a:r>
              <a:rPr lang="en-US"/>
              <a:t>Test durations were short.</a:t>
            </a:r>
          </a:p>
          <a:p>
            <a:pPr lvl="1"/>
            <a:r>
              <a:rPr lang="en-US"/>
              <a:t>Micro-motion and long-term surface evolution were not reproduced.</a:t>
            </a:r>
          </a:p>
          <a:p>
            <a:r>
              <a:rPr lang="en-US" b="1"/>
              <a:t>Material pairing risk was underestimated</a:t>
            </a:r>
            <a:endParaRPr lang="en-US"/>
          </a:p>
          <a:p>
            <a:pPr lvl="1"/>
            <a:r>
              <a:rPr lang="en-US"/>
              <a:t>The design assumed that “clean machining + vacuum grease residue” was sufficient.</a:t>
            </a:r>
          </a:p>
          <a:p>
            <a:pPr lvl="1"/>
            <a:r>
              <a:rPr lang="en-US"/>
              <a:t>It was not.</a:t>
            </a:r>
          </a:p>
          <a:p>
            <a:r>
              <a:rPr lang="en-US"/>
              <a:t>The failure was not due to negligence—it was due to </a:t>
            </a:r>
            <a:r>
              <a:rPr lang="en-US" b="1"/>
              <a:t>underestimating how hostile vacuum truly is</a:t>
            </a:r>
            <a:r>
              <a:rPr lang="en-US"/>
              <a:t>.</a:t>
            </a:r>
          </a:p>
          <a:p>
            <a:br>
              <a:rPr lang="en-US"/>
            </a:br>
            <a:endParaRPr lang="en-US"/>
          </a:p>
          <a:p>
            <a:r>
              <a:rPr lang="en-US" b="1"/>
              <a:t>Consequences</a:t>
            </a:r>
          </a:p>
          <a:p>
            <a:r>
              <a:rPr lang="en-US"/>
              <a:t>The high-gain antenna was lost permanently.</a:t>
            </a:r>
          </a:p>
          <a:p>
            <a:r>
              <a:rPr lang="en-US"/>
              <a:t>Galileo had to rely on a </a:t>
            </a:r>
            <a:r>
              <a:rPr lang="en-US" b="1"/>
              <a:t>low-gain antenna</a:t>
            </a:r>
            <a:r>
              <a:rPr lang="en-US"/>
              <a:t>, transmitting data at </a:t>
            </a:r>
            <a:r>
              <a:rPr lang="en-US" b="1"/>
              <a:t>~1/1000th the planned rate</a:t>
            </a:r>
            <a:r>
              <a:rPr lang="en-US"/>
              <a:t>.</a:t>
            </a:r>
          </a:p>
          <a:p>
            <a:r>
              <a:rPr lang="en-US"/>
              <a:t>Mission scientists rewrote compression algorithms, operational timelines, and observation strategies.</a:t>
            </a:r>
          </a:p>
          <a:p>
            <a:r>
              <a:rPr lang="en-US"/>
              <a:t>The mission was partially salvaged—but at enormous cost and reduced scientific return.</a:t>
            </a:r>
          </a:p>
          <a:p>
            <a:br>
              <a:rPr lang="en-US"/>
            </a:br>
            <a:endParaRPr lang="en-US"/>
          </a:p>
          <a:p>
            <a:r>
              <a:rPr lang="en-US" b="1"/>
              <a:t>Why this story matters today</a:t>
            </a:r>
          </a:p>
          <a:p>
            <a:r>
              <a:rPr lang="en-US"/>
              <a:t>Cold welding is not a historical curiosity. It remains a </a:t>
            </a:r>
            <a:r>
              <a:rPr lang="en-US" b="1"/>
              <a:t>real, active failure mode</a:t>
            </a:r>
            <a:r>
              <a:rPr lang="en-US"/>
              <a:t>:</a:t>
            </a:r>
          </a:p>
          <a:p>
            <a:r>
              <a:rPr lang="en-US"/>
              <a:t>Solar array hinges</a:t>
            </a:r>
          </a:p>
          <a:p>
            <a:r>
              <a:rPr lang="en-US"/>
              <a:t>Release mechanisms</a:t>
            </a:r>
          </a:p>
          <a:p>
            <a:r>
              <a:rPr lang="en-US"/>
              <a:t>Docking systems</a:t>
            </a:r>
          </a:p>
          <a:p>
            <a:r>
              <a:rPr lang="en-US"/>
              <a:t>Reaction wheel bearings</a:t>
            </a:r>
          </a:p>
          <a:p>
            <a:r>
              <a:rPr lang="en-US"/>
              <a:t>Deployment pins and latches</a:t>
            </a:r>
          </a:p>
          <a:p>
            <a:r>
              <a:rPr lang="en-US"/>
              <a:t>Modern spacecraft design now treats cold welding as a </a:t>
            </a:r>
            <a:r>
              <a:rPr lang="en-US" b="1"/>
              <a:t>design-level hazard</a:t>
            </a:r>
            <a:r>
              <a:rPr lang="en-US"/>
              <a:t>, not a materials footnote.</a:t>
            </a:r>
          </a:p>
          <a:p>
            <a:br>
              <a:rPr lang="en-US"/>
            </a:br>
            <a:endParaRPr lang="en-US"/>
          </a:p>
          <a:p>
            <a:r>
              <a:rPr lang="en-US" b="1"/>
              <a:t>Lessons learned (now standard practice)</a:t>
            </a:r>
          </a:p>
          <a:p>
            <a:r>
              <a:rPr lang="en-US" b="1"/>
              <a:t>Never rely on bare metal sliding contact in vacuum</a:t>
            </a:r>
            <a:endParaRPr lang="en-US"/>
          </a:p>
          <a:p>
            <a:r>
              <a:rPr lang="en-US"/>
              <a:t>Use dissimilar materials with proven tribological compatibility.</a:t>
            </a:r>
          </a:p>
          <a:p>
            <a:r>
              <a:rPr lang="en-US" b="1"/>
              <a:t>Assume long-duration vacuum exposure</a:t>
            </a:r>
            <a:endParaRPr lang="en-US"/>
          </a:p>
          <a:p>
            <a:r>
              <a:rPr lang="en-US"/>
              <a:t>Dormancy is not benign; it is often when damage accumulates.</a:t>
            </a:r>
          </a:p>
          <a:p>
            <a:r>
              <a:rPr lang="en-US" b="1"/>
              <a:t>Use coatings and solid lubricants</a:t>
            </a:r>
            <a:endParaRPr lang="en-US"/>
          </a:p>
          <a:p>
            <a:r>
              <a:rPr lang="en-US"/>
              <a:t>MoS₂, WS₂, DLC, anodization, gold plating—applied intentionally, not incidentally.</a:t>
            </a:r>
          </a:p>
          <a:p>
            <a:r>
              <a:rPr lang="en-US" b="1"/>
              <a:t>Design for positive separation forces</a:t>
            </a:r>
            <a:endParaRPr lang="en-US"/>
          </a:p>
          <a:p>
            <a:r>
              <a:rPr lang="en-US"/>
              <a:t>Springs, pyros, or stored energy sufficient to break worst-case adhesion.</a:t>
            </a:r>
          </a:p>
          <a:p>
            <a:r>
              <a:rPr lang="en-US" b="1"/>
              <a:t>Test like you fly</a:t>
            </a:r>
            <a:endParaRPr lang="en-US"/>
          </a:p>
          <a:p>
            <a:r>
              <a:rPr lang="en-US"/>
              <a:t>Long-duration vacuum dwell tests with preload and micro-motion.</a:t>
            </a:r>
          </a:p>
          <a:p>
            <a:br>
              <a:rPr lang="en-US"/>
            </a:br>
            <a:endParaRPr lang="en-US"/>
          </a:p>
          <a:p>
            <a:r>
              <a:rPr lang="en-US" b="1"/>
              <a:t>The takeaway</a:t>
            </a:r>
          </a:p>
          <a:p>
            <a:r>
              <a:rPr lang="en-US"/>
              <a:t>Galileo did not fail because space is unpredictable.</a:t>
            </a:r>
          </a:p>
          <a:p>
            <a:r>
              <a:rPr lang="en-US"/>
              <a:t>It failed because </a:t>
            </a:r>
            <a:r>
              <a:rPr lang="en-US" b="1"/>
              <a:t>vacuum removes the assumptions engineers subconsciously make on Earth</a:t>
            </a:r>
            <a:r>
              <a:rPr lang="en-US"/>
              <a:t>.</a:t>
            </a:r>
          </a:p>
          <a:p>
            <a:r>
              <a:rPr lang="en-US"/>
              <a:t>Cold welding is the archetypal lesson:</a:t>
            </a:r>
          </a:p>
          <a:p>
            <a:r>
              <a:rPr lang="en-US"/>
              <a:t>In space, metal does not merely touch metal — it </a:t>
            </a:r>
            <a:r>
              <a:rPr lang="en-US" i="1"/>
              <a:t>becomes</a:t>
            </a:r>
            <a:r>
              <a:rPr lang="en-US"/>
              <a:t> metal.</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11</a:t>
            </a:fld>
            <a:endParaRPr lang="en-US"/>
          </a:p>
        </p:txBody>
      </p:sp>
    </p:spTree>
    <p:extLst>
      <p:ext uri="{BB962C8B-B14F-4D97-AF65-F5344CB8AC3E}">
        <p14:creationId xmlns:p14="http://schemas.microsoft.com/office/powerpoint/2010/main" val="3428531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Space Shuttle Endeavour's tail aglow with atomic oxygen, as seen during the STS-99 mission in February 2000. Highly erosive atomic oxygen turned out to eat away at unprotected thermal blankets during early Shuttle missions, until countermeasures were put in place.</a:t>
            </a: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EB4C982-825B-414E-ABB9-79AB251390A5}" type="slidenum">
              <a:rPr lang="en-US" smtClean="0"/>
              <a:t>13</a:t>
            </a:fld>
            <a:endParaRPr lang="en-US"/>
          </a:p>
        </p:txBody>
      </p:sp>
    </p:spTree>
    <p:extLst>
      <p:ext uri="{BB962C8B-B14F-4D97-AF65-F5344CB8AC3E}">
        <p14:creationId xmlns:p14="http://schemas.microsoft.com/office/powerpoint/2010/main" val="386051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a:t>Definition</a:t>
                </a:r>
              </a:p>
              <a:p>
                <a:r>
                  <a:rPr lang="en-US" b="1"/>
                  <a:t>Atomic oxygen (AO)</a:t>
                </a:r>
                <a:r>
                  <a:rPr lang="en-US"/>
                  <a:t> is </a:t>
                </a:r>
                <a:r>
                  <a:rPr lang="en-US" b="1"/>
                  <a:t>single, unbound oxygen atoms (O)</a:t>
                </a:r>
                <a:r>
                  <a:rPr lang="en-US"/>
                  <a:t> rather than the familiar diatomic molecule </a:t>
                </a:r>
                <a:r>
                  <a:rPr lang="en-US" b="1"/>
                  <a:t>O₂</a:t>
                </a:r>
                <a:r>
                  <a:rPr lang="en-US"/>
                  <a:t>. On Earth’s surface, atomic oxygen is extremely rare because oxygen atoms rapidly recombine into O₂. In </a:t>
                </a:r>
                <a:r>
                  <a:rPr lang="en-US" b="1"/>
                  <a:t>Low Earth Orbit (LEO)</a:t>
                </a:r>
                <a:r>
                  <a:rPr lang="en-US"/>
                  <a:t>, however, AO is abundant and highly reactive.</a:t>
                </a:r>
              </a:p>
              <a:p>
                <a:br>
                  <a:rPr lang="en-US"/>
                </a:br>
                <a:endParaRPr lang="en-US"/>
              </a:p>
              <a:p>
                <a:r>
                  <a:rPr lang="en-US" b="1"/>
                  <a:t>How atomic oxygen exists in space</a:t>
                </a:r>
              </a:p>
              <a:p>
                <a:r>
                  <a:rPr lang="en-US"/>
                  <a:t>In LEO (~200–700 km altitude), </a:t>
                </a:r>
                <a:r>
                  <a:rPr lang="en-US" b="1"/>
                  <a:t>ultraviolet (UV) radiation from the Sun</a:t>
                </a:r>
                <a:r>
                  <a:rPr lang="en-US"/>
                  <a:t> dissociates molecular oxygen:</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m:rPr>
                              <m:sty m:val="p"/>
                            </m:rPr>
                            <a:rPr lang="en-US" sz="1200" kern="1200">
                              <a:solidFill>
                                <a:schemeClr val="tx1"/>
                              </a:solidFill>
                              <a:latin typeface="Cambria Math" panose="02040503050406030204" pitchFamily="18" charset="0"/>
                              <a:ea typeface="+mn-ea"/>
                              <a:cs typeface="+mn-cs"/>
                            </a:rPr>
                            <m:t>O</m:t>
                          </m:r>
                        </m:e>
                        <m:sub>
                          <m:r>
                            <a:rPr lang="ar-AE" sz="1200" i="0" kern="1200">
                              <a:solidFill>
                                <a:schemeClr val="tx1"/>
                              </a:solidFill>
                              <a:latin typeface="Cambria Math" panose="02040503050406030204" pitchFamily="18" charset="0"/>
                              <a:ea typeface="+mn-ea"/>
                              <a:cs typeface="+mn-cs"/>
                            </a:rPr>
                            <m:t>2</m:t>
                          </m:r>
                        </m:sub>
                      </m:sSub>
                      <m:r>
                        <a:rPr lang="ar-AE" sz="1200" i="0" kern="1200">
                          <a:solidFill>
                            <a:schemeClr val="tx1"/>
                          </a:solidFill>
                          <a:latin typeface="Cambria Math" panose="02040503050406030204" pitchFamily="18" charset="0"/>
                          <a:ea typeface="+mn-ea"/>
                          <a:cs typeface="+mn-cs"/>
                        </a:rPr>
                        <m:t>+</m:t>
                      </m:r>
                      <m:r>
                        <m:rPr>
                          <m:sty m:val="p"/>
                        </m:rPr>
                        <a:rPr lang="en-US" sz="1200" i="0" kern="1200">
                          <a:solidFill>
                            <a:schemeClr val="tx1"/>
                          </a:solidFill>
                          <a:latin typeface="Cambria Math" panose="02040503050406030204" pitchFamily="18" charset="0"/>
                          <a:ea typeface="+mn-ea"/>
                          <a:cs typeface="+mn-cs"/>
                        </a:rPr>
                        <m:t>h</m:t>
                      </m:r>
                      <m:r>
                        <a:rPr lang="en-US" sz="1200" i="1" kern="1200">
                          <a:solidFill>
                            <a:schemeClr val="tx1"/>
                          </a:solidFill>
                          <a:latin typeface="Cambria Math" panose="02040503050406030204" pitchFamily="18" charset="0"/>
                          <a:ea typeface="+mn-ea"/>
                          <a:cs typeface="+mn-cs"/>
                        </a:rPr>
                        <m:t>𝜈</m:t>
                      </m:r>
                      <m:r>
                        <a:rPr lang="en-US" sz="1200" i="0" kern="1200">
                          <a:solidFill>
                            <a:schemeClr val="tx1"/>
                          </a:solidFill>
                          <a:latin typeface="Cambria Math" panose="02040503050406030204" pitchFamily="18" charset="0"/>
                          <a:ea typeface="+mn-ea"/>
                          <a:cs typeface="+mn-cs"/>
                        </a:rPr>
                        <m:t>→</m:t>
                      </m:r>
                      <m:r>
                        <m:rPr>
                          <m:sty m:val="p"/>
                        </m:rPr>
                        <a:rPr lang="en-US" sz="1200" i="0" kern="1200">
                          <a:solidFill>
                            <a:schemeClr val="tx1"/>
                          </a:solidFill>
                          <a:latin typeface="Cambria Math" panose="02040503050406030204" pitchFamily="18" charset="0"/>
                          <a:ea typeface="+mn-ea"/>
                          <a:cs typeface="+mn-cs"/>
                        </a:rPr>
                        <m:t>O</m:t>
                      </m:r>
                      <m:r>
                        <a:rPr lang="en-US" sz="1200" i="0" kern="1200">
                          <a:solidFill>
                            <a:schemeClr val="tx1"/>
                          </a:solidFill>
                          <a:latin typeface="Cambria Math" panose="02040503050406030204" pitchFamily="18" charset="0"/>
                          <a:ea typeface="+mn-ea"/>
                          <a:cs typeface="+mn-cs"/>
                        </a:rPr>
                        <m:t>+</m:t>
                      </m:r>
                      <m:r>
                        <m:rPr>
                          <m:sty m:val="p"/>
                        </m:rPr>
                        <a:rPr lang="en-US" sz="1200" i="0" kern="1200">
                          <a:solidFill>
                            <a:schemeClr val="tx1"/>
                          </a:solidFill>
                          <a:latin typeface="Cambria Math" panose="02040503050406030204" pitchFamily="18" charset="0"/>
                          <a:ea typeface="+mn-ea"/>
                          <a:cs typeface="+mn-cs"/>
                        </a:rPr>
                        <m:t>O</m:t>
                      </m:r>
                    </m:oMath>
                  </m:oMathPara>
                </a14:m>
                <a:endParaRPr lang="en-US"/>
              </a:p>
              <a:p>
                <a:r>
                  <a:rPr lang="en-US"/>
                  <a:t>The atmosphere is thin enough that recombination is slow, allowing </a:t>
                </a:r>
                <a:r>
                  <a:rPr lang="en-US" b="1"/>
                  <a:t>free oxygen atoms</a:t>
                </a:r>
                <a:r>
                  <a:rPr lang="en-US"/>
                  <a:t> to persist.</a:t>
                </a:r>
              </a:p>
              <a:p>
                <a:r>
                  <a:rPr lang="en-US"/>
                  <a:t>Spacecraft traveling at ~7–8 km/s effectively </a:t>
                </a:r>
                <a:r>
                  <a:rPr lang="en-US" b="1"/>
                  <a:t>slam into AO</a:t>
                </a:r>
                <a:r>
                  <a:rPr lang="en-US"/>
                  <a:t>, increasing the relative kinetic energy of each atomic impact.</a:t>
                </a:r>
              </a:p>
              <a:p>
                <a:r>
                  <a:rPr lang="en-US"/>
                  <a:t>This makes AO one of the </a:t>
                </a:r>
                <a:r>
                  <a:rPr lang="en-US" b="1"/>
                  <a:t>dominant environmental hazards in LEO</a:t>
                </a:r>
                <a:r>
                  <a:rPr lang="en-US"/>
                  <a:t>.</a:t>
                </a:r>
              </a:p>
              <a:p>
                <a:br>
                  <a:rPr lang="en-US"/>
                </a:br>
                <a:endParaRPr lang="en-US"/>
              </a:p>
              <a:p>
                <a:r>
                  <a:rPr lang="en-US" b="1"/>
                  <a:t>Why atomic oxygen is dangerous</a:t>
                </a:r>
              </a:p>
              <a:p>
                <a:r>
                  <a:rPr lang="en-US"/>
                  <a:t>Atomic oxygen is chemically aggressive because:</a:t>
                </a:r>
              </a:p>
              <a:p>
                <a:r>
                  <a:rPr lang="en-US"/>
                  <a:t>It has an </a:t>
                </a:r>
                <a:r>
                  <a:rPr lang="en-US" b="1"/>
                  <a:t>unpaired electron</a:t>
                </a:r>
                <a:r>
                  <a:rPr lang="en-US"/>
                  <a:t> (highly reactive).</a:t>
                </a:r>
              </a:p>
              <a:p>
                <a:r>
                  <a:rPr lang="en-US"/>
                  <a:t>Impacts occur at </a:t>
                </a:r>
                <a:r>
                  <a:rPr lang="en-US" b="1"/>
                  <a:t>orbital velocities</a:t>
                </a:r>
                <a:r>
                  <a:rPr lang="en-US"/>
                  <a:t>, enhancing surface reactions.</a:t>
                </a:r>
              </a:p>
              <a:p>
                <a:r>
                  <a:rPr lang="en-US" b="1"/>
                  <a:t>Primary damage mechanisms</a:t>
                </a:r>
              </a:p>
              <a:p>
                <a:r>
                  <a:rPr lang="en-US" b="1"/>
                  <a:t>Oxidation</a:t>
                </a:r>
                <a:r>
                  <a:rPr lang="en-US"/>
                  <a:t> of exposed materials.</a:t>
                </a:r>
              </a:p>
              <a:p>
                <a:r>
                  <a:rPr lang="en-US" b="1"/>
                  <a:t>Erosion of polymers</a:t>
                </a:r>
                <a:r>
                  <a:rPr lang="en-US"/>
                  <a:t> through conversion to volatile oxides (CO, CO₂).</a:t>
                </a:r>
              </a:p>
              <a:p>
                <a:r>
                  <a:rPr lang="en-US" b="1"/>
                  <a:t>Surface roughening</a:t>
                </a:r>
                <a:r>
                  <a:rPr lang="en-US"/>
                  <a:t> that degrades optical and thermal performance.</a:t>
                </a:r>
              </a:p>
              <a:p>
                <a:r>
                  <a:rPr lang="en-US"/>
                  <a:t>Commonly affected materials:</a:t>
                </a:r>
              </a:p>
              <a:p>
                <a:r>
                  <a:rPr lang="en-US"/>
                  <a:t>Kapton</a:t>
                </a:r>
              </a:p>
              <a:p>
                <a:r>
                  <a:rPr lang="en-US"/>
                  <a:t>Teflon (PTFE)</a:t>
                </a:r>
              </a:p>
              <a:p>
                <a:r>
                  <a:rPr lang="en-US"/>
                  <a:t>Polyimides</a:t>
                </a:r>
              </a:p>
              <a:p>
                <a:r>
                  <a:rPr lang="en-US"/>
                  <a:t>Paints, adhesives, cable insulation</a:t>
                </a:r>
              </a:p>
              <a:p>
                <a:r>
                  <a:rPr lang="en-US"/>
                  <a:t>Metals generally form </a:t>
                </a:r>
                <a:r>
                  <a:rPr lang="en-US" b="1"/>
                  <a:t>thin oxide layers</a:t>
                </a:r>
                <a:r>
                  <a:rPr lang="en-US"/>
                  <a:t> that self-passivate, but coatings and surface finishes still matter.</a:t>
                </a:r>
              </a:p>
              <a:p>
                <a:br>
                  <a:rPr lang="en-US"/>
                </a:br>
                <a:endParaRPr lang="en-US"/>
              </a:p>
              <a:p>
                <a:r>
                  <a:rPr lang="en-US" b="1"/>
                  <a:t>Real spacecraft effects</a:t>
                </a:r>
              </a:p>
              <a:p>
                <a:r>
                  <a:rPr lang="en-US" b="1"/>
                  <a:t>Solar array degradation</a:t>
                </a:r>
                <a:r>
                  <a:rPr lang="en-US"/>
                  <a:t> (</a:t>
                </a:r>
                <a:r>
                  <a:rPr lang="en-US" err="1"/>
                  <a:t>coverglass</a:t>
                </a:r>
                <a:r>
                  <a:rPr lang="en-US"/>
                  <a:t> edge attack, polymer backing erosion).</a:t>
                </a:r>
              </a:p>
              <a:p>
                <a:r>
                  <a:rPr lang="en-US" b="1"/>
                  <a:t>Thermal blanket damage</a:t>
                </a:r>
                <a:r>
                  <a:rPr lang="en-US"/>
                  <a:t> (MLI layer thinning).</a:t>
                </a:r>
              </a:p>
              <a:p>
                <a:r>
                  <a:rPr lang="en-US" b="1"/>
                  <a:t>Optical contamination</a:t>
                </a:r>
                <a:r>
                  <a:rPr lang="en-US"/>
                  <a:t> and altered reflectivity/emissivity.</a:t>
                </a:r>
              </a:p>
              <a:p>
                <a:r>
                  <a:rPr lang="en-US" b="1"/>
                  <a:t>Structural thinning</a:t>
                </a:r>
                <a:r>
                  <a:rPr lang="en-US"/>
                  <a:t> of exposed polymer components over long missions.</a:t>
                </a:r>
              </a:p>
              <a:p>
                <a:r>
                  <a:rPr lang="en-US"/>
                  <a:t>The International Space Station experiences </a:t>
                </a:r>
                <a:r>
                  <a:rPr lang="en-US" b="1"/>
                  <a:t>continuous AO exposure</a:t>
                </a:r>
                <a:r>
                  <a:rPr lang="en-US"/>
                  <a:t>, making AO mitigation a routine design consideration.</a:t>
                </a:r>
              </a:p>
              <a:p>
                <a:endParaRPr lang="en-US"/>
              </a:p>
              <a:p>
                <a:endParaRPr lang="en-US"/>
              </a:p>
              <a:p>
                <a:r>
                  <a:rPr lang="en-US" b="1"/>
                  <a:t>How engineers mitigate atomic oxygen</a:t>
                </a:r>
              </a:p>
              <a:p>
                <a:r>
                  <a:rPr lang="en-US" b="1"/>
                  <a:t>Material selection</a:t>
                </a:r>
              </a:p>
              <a:p>
                <a:r>
                  <a:rPr lang="en-US"/>
                  <a:t>Use </a:t>
                </a:r>
                <a:r>
                  <a:rPr lang="en-US" b="1"/>
                  <a:t>AO-resistant materials</a:t>
                </a:r>
                <a:r>
                  <a:rPr lang="en-US"/>
                  <a:t> (e.g., metals, ceramics).</a:t>
                </a:r>
              </a:p>
              <a:p>
                <a:r>
                  <a:rPr lang="en-US"/>
                  <a:t>Minimize exposed polymers where possible.</a:t>
                </a:r>
              </a:p>
              <a:p>
                <a:r>
                  <a:rPr lang="en-US" b="1"/>
                  <a:t>Protective coatings</a:t>
                </a:r>
              </a:p>
              <a:p>
                <a:r>
                  <a:rPr lang="en-US" b="1" err="1"/>
                  <a:t>SiO</a:t>
                </a:r>
                <a:r>
                  <a:rPr lang="en-US" b="1"/>
                  <a:t>₂ (silicon dioxide)</a:t>
                </a:r>
                <a:r>
                  <a:rPr lang="en-US"/>
                  <a:t> and other ceramic coatings act as AO barriers.</a:t>
                </a:r>
              </a:p>
              <a:p>
                <a:r>
                  <a:rPr lang="en-US" b="1"/>
                  <a:t>Aluminum oxide</a:t>
                </a:r>
                <a:r>
                  <a:rPr lang="en-US"/>
                  <a:t> layers on metals provide passivation.</a:t>
                </a:r>
              </a:p>
              <a:p>
                <a:r>
                  <a:rPr lang="en-US"/>
                  <a:t>Coating integrity is critical—</a:t>
                </a:r>
                <a:r>
                  <a:rPr lang="en-US" b="1"/>
                  <a:t>pinholes become attack sites</a:t>
                </a:r>
                <a:r>
                  <a:rPr lang="en-US"/>
                  <a:t>.</a:t>
                </a:r>
              </a:p>
              <a:p>
                <a:r>
                  <a:rPr lang="en-US" b="1"/>
                  <a:t>Design strategies</a:t>
                </a:r>
              </a:p>
              <a:p>
                <a:r>
                  <a:rPr lang="en-US"/>
                  <a:t>Shield sensitive materials behind AO-resistant surfaces.</a:t>
                </a:r>
              </a:p>
              <a:p>
                <a:r>
                  <a:rPr lang="en-US"/>
                  <a:t>Orient spacecraft to minimize AO flux on vulnerable components.</a:t>
                </a:r>
              </a:p>
              <a:p>
                <a:r>
                  <a:rPr lang="en-US"/>
                  <a:t>Account for AO erosion rates in </a:t>
                </a:r>
                <a:r>
                  <a:rPr lang="en-US" b="1"/>
                  <a:t>lifetime analyses</a:t>
                </a:r>
                <a:r>
                  <a:rPr lang="en-US"/>
                  <a:t>.</a:t>
                </a:r>
              </a:p>
              <a:p>
                <a:br>
                  <a:rPr lang="en-US"/>
                </a:br>
                <a:endParaRPr lang="en-US"/>
              </a:p>
              <a:p>
                <a:r>
                  <a:rPr lang="en-US" b="1"/>
                  <a:t>Where atomic oxygen matters most</a:t>
                </a:r>
              </a:p>
              <a:p>
                <a:r>
                  <a:rPr lang="en-US" b="1"/>
                  <a:t>Low Earth Orbit missions</a:t>
                </a:r>
                <a:r>
                  <a:rPr lang="en-US"/>
                  <a:t> (CubeSats, ISS, Earth-observing satellites).</a:t>
                </a:r>
              </a:p>
              <a:p>
                <a:r>
                  <a:rPr lang="en-US"/>
                  <a:t>Long-duration missions with exposed polymers.</a:t>
                </a:r>
              </a:p>
              <a:p>
                <a:r>
                  <a:rPr lang="en-US" err="1"/>
                  <a:t>Deployables</a:t>
                </a:r>
                <a:r>
                  <a:rPr lang="en-US"/>
                  <a:t> (booms, blankets, solar arrays).</a:t>
                </a:r>
              </a:p>
              <a:p>
                <a:r>
                  <a:rPr lang="en-US"/>
                  <a:t>AO is </a:t>
                </a:r>
                <a:r>
                  <a:rPr lang="en-US" b="1"/>
                  <a:t>not a concern</a:t>
                </a:r>
                <a:r>
                  <a:rPr lang="en-US"/>
                  <a:t> in:</a:t>
                </a:r>
              </a:p>
              <a:p>
                <a:r>
                  <a:rPr lang="en-US"/>
                  <a:t>Geostationary orbit</a:t>
                </a:r>
              </a:p>
              <a:p>
                <a:r>
                  <a:rPr lang="en-US"/>
                  <a:t>Deep space</a:t>
                </a:r>
              </a:p>
              <a:p>
                <a:r>
                  <a:rPr lang="en-US"/>
                  <a:t>Lunar or interplanetary missions</a:t>
                </a:r>
              </a:p>
              <a:p>
                <a:br>
                  <a:rPr lang="en-US"/>
                </a:br>
                <a:endParaRPr lang="en-US"/>
              </a:p>
              <a:p>
                <a:r>
                  <a:rPr lang="en-US" b="1"/>
                  <a:t>Engineering takeaway</a:t>
                </a:r>
              </a:p>
              <a:p>
                <a:r>
                  <a:rPr lang="en-US"/>
                  <a:t>Atomic oxygen is a uniquely LEO problem that:</a:t>
                </a:r>
              </a:p>
              <a:p>
                <a:r>
                  <a:rPr lang="en-US"/>
                  <a:t>Does </a:t>
                </a:r>
                <a:r>
                  <a:rPr lang="en-US" b="1"/>
                  <a:t>not</a:t>
                </a:r>
                <a:r>
                  <a:rPr lang="en-US"/>
                  <a:t> exist in ground environments.</a:t>
                </a:r>
              </a:p>
              <a:p>
                <a:r>
                  <a:rPr lang="en-US"/>
                  <a:t>Can silently degrade spacecraft over time.</a:t>
                </a:r>
              </a:p>
              <a:p>
                <a:r>
                  <a:rPr lang="en-US"/>
                  <a:t>Must be addressed through </a:t>
                </a:r>
                <a:r>
                  <a:rPr lang="en-US" b="1"/>
                  <a:t>materials, coatings, and system-level design</a:t>
                </a:r>
                <a:r>
                  <a:rPr lang="en-US"/>
                  <a:t>.</a:t>
                </a:r>
              </a:p>
              <a:p>
                <a:r>
                  <a:rPr lang="en-US"/>
                  <a:t>It is a classic example of why space is not just “cold vacuum,” but a </a:t>
                </a:r>
                <a:r>
                  <a:rPr lang="en-US" b="1"/>
                  <a:t>chemically active environment</a:t>
                </a:r>
                <a:r>
                  <a:rPr lang="en-US"/>
                  <a:t>.</a:t>
                </a:r>
              </a:p>
              <a:p>
                <a:endParaRPr lang="en-US"/>
              </a:p>
            </p:txBody>
          </p:sp>
        </mc:Choice>
        <mc:Fallback>
          <p:sp>
            <p:nvSpPr>
              <p:cNvPr id="3" name="Notes Placeholder 2"/>
              <p:cNvSpPr>
                <a:spLocks noGrp="1"/>
              </p:cNvSpPr>
              <p:nvPr>
                <p:ph type="body" idx="1"/>
              </p:nvPr>
            </p:nvSpPr>
            <p:spPr/>
            <p:txBody>
              <a:bodyPr/>
              <a:lstStyle/>
              <a:p>
                <a:r>
                  <a:rPr lang="en-US" b="1"/>
                  <a:t>Definition</a:t>
                </a:r>
              </a:p>
              <a:p>
                <a:r>
                  <a:rPr lang="en-US" b="1"/>
                  <a:t>Atomic oxygen (AO)</a:t>
                </a:r>
                <a:r>
                  <a:rPr lang="en-US"/>
                  <a:t> is </a:t>
                </a:r>
                <a:r>
                  <a:rPr lang="en-US" b="1"/>
                  <a:t>single, unbound oxygen atoms (O)</a:t>
                </a:r>
                <a:r>
                  <a:rPr lang="en-US"/>
                  <a:t> rather than the familiar diatomic molecule </a:t>
                </a:r>
                <a:r>
                  <a:rPr lang="en-US" b="1"/>
                  <a:t>O₂</a:t>
                </a:r>
                <a:r>
                  <a:rPr lang="en-US"/>
                  <a:t>. On Earth’s surface, atomic oxygen is extremely rare because oxygen atoms rapidly recombine into O₂. In </a:t>
                </a:r>
                <a:r>
                  <a:rPr lang="en-US" b="1"/>
                  <a:t>Low Earth Orbit (LEO)</a:t>
                </a:r>
                <a:r>
                  <a:rPr lang="en-US"/>
                  <a:t>, however, AO is abundant and highly reactive.</a:t>
                </a:r>
              </a:p>
              <a:p>
                <a:br>
                  <a:rPr lang="en-US"/>
                </a:br>
                <a:endParaRPr lang="en-US"/>
              </a:p>
              <a:p>
                <a:r>
                  <a:rPr lang="en-US" b="1"/>
                  <a:t>How atomic oxygen exists in space</a:t>
                </a:r>
              </a:p>
              <a:p>
                <a:r>
                  <a:rPr lang="en-US"/>
                  <a:t>In LEO (~200–700 km altitude), </a:t>
                </a:r>
                <a:r>
                  <a:rPr lang="en-US" b="1"/>
                  <a:t>ultraviolet (UV) radiation from the Sun</a:t>
                </a:r>
                <a:r>
                  <a:rPr lang="en-US"/>
                  <a:t> dissociates molecular oxygen:</a:t>
                </a:r>
              </a:p>
              <a:p>
                <a:pPr/>
                <a:r>
                  <a:rPr lang="en-US" sz="1200" i="0" kern="1200">
                    <a:solidFill>
                      <a:schemeClr val="tx1"/>
                    </a:solidFill>
                    <a:latin typeface="Cambria Math" panose="02040503050406030204" pitchFamily="18" charset="0"/>
                    <a:ea typeface="+mn-ea"/>
                    <a:cs typeface="+mn-cs"/>
                  </a:rPr>
                  <a:t>O</a:t>
                </a:r>
                <a:r>
                  <a:rPr lang="ar-AE" sz="1200" i="0" kern="1200">
                    <a:solidFill>
                      <a:schemeClr val="tx1"/>
                    </a:solidFill>
                    <a:latin typeface="Cambria Math" panose="02040503050406030204" pitchFamily="18" charset="0"/>
                    <a:ea typeface="+mn-ea"/>
                    <a:cs typeface="+mn-cs"/>
                  </a:rPr>
                  <a:t>_2+</a:t>
                </a:r>
                <a:r>
                  <a:rPr lang="en-US" sz="1200" i="0" kern="1200">
                    <a:solidFill>
                      <a:schemeClr val="tx1"/>
                    </a:solidFill>
                    <a:latin typeface="Cambria Math" panose="02040503050406030204" pitchFamily="18" charset="0"/>
                    <a:ea typeface="+mn-ea"/>
                    <a:cs typeface="+mn-cs"/>
                  </a:rPr>
                  <a:t>h𝜈→O+O</a:t>
                </a:r>
                <a:endParaRPr lang="en-US"/>
              </a:p>
              <a:p>
                <a:r>
                  <a:rPr lang="en-US"/>
                  <a:t>The atmosphere is thin enough that recombination is slow, allowing </a:t>
                </a:r>
                <a:r>
                  <a:rPr lang="en-US" b="1"/>
                  <a:t>free oxygen atoms</a:t>
                </a:r>
                <a:r>
                  <a:rPr lang="en-US"/>
                  <a:t> to persist.</a:t>
                </a:r>
              </a:p>
              <a:p>
                <a:r>
                  <a:rPr lang="en-US"/>
                  <a:t>Spacecraft traveling at ~7–8 km/s effectively </a:t>
                </a:r>
                <a:r>
                  <a:rPr lang="en-US" b="1"/>
                  <a:t>slam into AO</a:t>
                </a:r>
                <a:r>
                  <a:rPr lang="en-US"/>
                  <a:t>, increasing the relative kinetic energy of each atomic impact.</a:t>
                </a:r>
              </a:p>
              <a:p>
                <a:r>
                  <a:rPr lang="en-US"/>
                  <a:t>This makes AO one of the </a:t>
                </a:r>
                <a:r>
                  <a:rPr lang="en-US" b="1"/>
                  <a:t>dominant environmental hazards in LEO</a:t>
                </a:r>
                <a:r>
                  <a:rPr lang="en-US"/>
                  <a:t>.</a:t>
                </a:r>
              </a:p>
              <a:p>
                <a:br>
                  <a:rPr lang="en-US"/>
                </a:br>
                <a:endParaRPr lang="en-US"/>
              </a:p>
              <a:p>
                <a:r>
                  <a:rPr lang="en-US" b="1"/>
                  <a:t>Why atomic oxygen is dangerous</a:t>
                </a:r>
              </a:p>
              <a:p>
                <a:r>
                  <a:rPr lang="en-US"/>
                  <a:t>Atomic oxygen is chemically aggressive because:</a:t>
                </a:r>
              </a:p>
              <a:p>
                <a:r>
                  <a:rPr lang="en-US"/>
                  <a:t>It has an </a:t>
                </a:r>
                <a:r>
                  <a:rPr lang="en-US" b="1"/>
                  <a:t>unpaired electron</a:t>
                </a:r>
                <a:r>
                  <a:rPr lang="en-US"/>
                  <a:t> (highly reactive).</a:t>
                </a:r>
              </a:p>
              <a:p>
                <a:r>
                  <a:rPr lang="en-US"/>
                  <a:t>Impacts occur at </a:t>
                </a:r>
                <a:r>
                  <a:rPr lang="en-US" b="1"/>
                  <a:t>orbital velocities</a:t>
                </a:r>
                <a:r>
                  <a:rPr lang="en-US"/>
                  <a:t>, enhancing surface reactions.</a:t>
                </a:r>
              </a:p>
              <a:p>
                <a:r>
                  <a:rPr lang="en-US" b="1"/>
                  <a:t>Primary damage mechanisms</a:t>
                </a:r>
              </a:p>
              <a:p>
                <a:r>
                  <a:rPr lang="en-US" b="1"/>
                  <a:t>Oxidation</a:t>
                </a:r>
                <a:r>
                  <a:rPr lang="en-US"/>
                  <a:t> of exposed materials.</a:t>
                </a:r>
              </a:p>
              <a:p>
                <a:r>
                  <a:rPr lang="en-US" b="1"/>
                  <a:t>Erosion of polymers</a:t>
                </a:r>
                <a:r>
                  <a:rPr lang="en-US"/>
                  <a:t> through conversion to volatile oxides (CO, CO₂).</a:t>
                </a:r>
              </a:p>
              <a:p>
                <a:r>
                  <a:rPr lang="en-US" b="1"/>
                  <a:t>Surface roughening</a:t>
                </a:r>
                <a:r>
                  <a:rPr lang="en-US"/>
                  <a:t> that degrades optical and thermal performance.</a:t>
                </a:r>
              </a:p>
              <a:p>
                <a:r>
                  <a:rPr lang="en-US"/>
                  <a:t>Commonly affected materials:</a:t>
                </a:r>
              </a:p>
              <a:p>
                <a:r>
                  <a:rPr lang="en-US"/>
                  <a:t>Kapton</a:t>
                </a:r>
              </a:p>
              <a:p>
                <a:r>
                  <a:rPr lang="en-US"/>
                  <a:t>Teflon (PTFE)</a:t>
                </a:r>
              </a:p>
              <a:p>
                <a:r>
                  <a:rPr lang="en-US"/>
                  <a:t>Polyimides</a:t>
                </a:r>
              </a:p>
              <a:p>
                <a:r>
                  <a:rPr lang="en-US"/>
                  <a:t>Paints, adhesives, cable insulation</a:t>
                </a:r>
              </a:p>
              <a:p>
                <a:r>
                  <a:rPr lang="en-US"/>
                  <a:t>Metals generally form </a:t>
                </a:r>
                <a:r>
                  <a:rPr lang="en-US" b="1"/>
                  <a:t>thin oxide layers</a:t>
                </a:r>
                <a:r>
                  <a:rPr lang="en-US"/>
                  <a:t> that self-passivate, but coatings and surface finishes still matter.</a:t>
                </a:r>
              </a:p>
              <a:p>
                <a:br>
                  <a:rPr lang="en-US"/>
                </a:br>
                <a:endParaRPr lang="en-US"/>
              </a:p>
              <a:p>
                <a:r>
                  <a:rPr lang="en-US" b="1"/>
                  <a:t>Real spacecraft effects</a:t>
                </a:r>
              </a:p>
              <a:p>
                <a:r>
                  <a:rPr lang="en-US" b="1"/>
                  <a:t>Solar array degradation</a:t>
                </a:r>
                <a:r>
                  <a:rPr lang="en-US"/>
                  <a:t> (</a:t>
                </a:r>
                <a:r>
                  <a:rPr lang="en-US" err="1"/>
                  <a:t>coverglass</a:t>
                </a:r>
                <a:r>
                  <a:rPr lang="en-US"/>
                  <a:t> edge attack, polymer backing erosion).</a:t>
                </a:r>
              </a:p>
              <a:p>
                <a:r>
                  <a:rPr lang="en-US" b="1"/>
                  <a:t>Thermal blanket damage</a:t>
                </a:r>
                <a:r>
                  <a:rPr lang="en-US"/>
                  <a:t> (MLI layer thinning).</a:t>
                </a:r>
              </a:p>
              <a:p>
                <a:r>
                  <a:rPr lang="en-US" b="1"/>
                  <a:t>Optical contamination</a:t>
                </a:r>
                <a:r>
                  <a:rPr lang="en-US"/>
                  <a:t> and altered reflectivity/emissivity.</a:t>
                </a:r>
              </a:p>
              <a:p>
                <a:r>
                  <a:rPr lang="en-US" b="1"/>
                  <a:t>Structural thinning</a:t>
                </a:r>
                <a:r>
                  <a:rPr lang="en-US"/>
                  <a:t> of exposed polymer components over long missions.</a:t>
                </a:r>
              </a:p>
              <a:p>
                <a:r>
                  <a:rPr lang="en-US"/>
                  <a:t>The International Space Station experiences </a:t>
                </a:r>
                <a:r>
                  <a:rPr lang="en-US" b="1"/>
                  <a:t>continuous AO exposure</a:t>
                </a:r>
                <a:r>
                  <a:rPr lang="en-US"/>
                  <a:t>, making AO mitigation a routine design consideration.</a:t>
                </a:r>
              </a:p>
              <a:p>
                <a:endParaRPr lang="en-US"/>
              </a:p>
              <a:p>
                <a:endParaRPr lang="en-US"/>
              </a:p>
              <a:p>
                <a:r>
                  <a:rPr lang="en-US" b="1"/>
                  <a:t>How engineers mitigate atomic oxygen</a:t>
                </a:r>
              </a:p>
              <a:p>
                <a:r>
                  <a:rPr lang="en-US" b="1"/>
                  <a:t>Material selection</a:t>
                </a:r>
              </a:p>
              <a:p>
                <a:r>
                  <a:rPr lang="en-US"/>
                  <a:t>Use </a:t>
                </a:r>
                <a:r>
                  <a:rPr lang="en-US" b="1"/>
                  <a:t>AO-resistant materials</a:t>
                </a:r>
                <a:r>
                  <a:rPr lang="en-US"/>
                  <a:t> (e.g., metals, ceramics).</a:t>
                </a:r>
              </a:p>
              <a:p>
                <a:r>
                  <a:rPr lang="en-US"/>
                  <a:t>Minimize exposed polymers where possible.</a:t>
                </a:r>
              </a:p>
              <a:p>
                <a:r>
                  <a:rPr lang="en-US" b="1"/>
                  <a:t>Protective coatings</a:t>
                </a:r>
              </a:p>
              <a:p>
                <a:r>
                  <a:rPr lang="en-US" b="1" err="1"/>
                  <a:t>SiO</a:t>
                </a:r>
                <a:r>
                  <a:rPr lang="en-US" b="1"/>
                  <a:t>₂ (silicon dioxide)</a:t>
                </a:r>
                <a:r>
                  <a:rPr lang="en-US"/>
                  <a:t> and other ceramic coatings act as AO barriers.</a:t>
                </a:r>
              </a:p>
              <a:p>
                <a:r>
                  <a:rPr lang="en-US" b="1"/>
                  <a:t>Aluminum oxide</a:t>
                </a:r>
                <a:r>
                  <a:rPr lang="en-US"/>
                  <a:t> layers on metals provide passivation.</a:t>
                </a:r>
              </a:p>
              <a:p>
                <a:r>
                  <a:rPr lang="en-US"/>
                  <a:t>Coating integrity is critical—</a:t>
                </a:r>
                <a:r>
                  <a:rPr lang="en-US" b="1"/>
                  <a:t>pinholes become attack sites</a:t>
                </a:r>
                <a:r>
                  <a:rPr lang="en-US"/>
                  <a:t>.</a:t>
                </a:r>
              </a:p>
              <a:p>
                <a:r>
                  <a:rPr lang="en-US" b="1"/>
                  <a:t>Design strategies</a:t>
                </a:r>
              </a:p>
              <a:p>
                <a:r>
                  <a:rPr lang="en-US"/>
                  <a:t>Shield sensitive materials behind AO-resistant surfaces.</a:t>
                </a:r>
              </a:p>
              <a:p>
                <a:r>
                  <a:rPr lang="en-US"/>
                  <a:t>Orient spacecraft to minimize AO flux on vulnerable components.</a:t>
                </a:r>
              </a:p>
              <a:p>
                <a:r>
                  <a:rPr lang="en-US"/>
                  <a:t>Account for AO erosion rates in </a:t>
                </a:r>
                <a:r>
                  <a:rPr lang="en-US" b="1"/>
                  <a:t>lifetime analyses</a:t>
                </a:r>
                <a:r>
                  <a:rPr lang="en-US"/>
                  <a:t>.</a:t>
                </a:r>
              </a:p>
              <a:p>
                <a:br>
                  <a:rPr lang="en-US"/>
                </a:br>
                <a:endParaRPr lang="en-US"/>
              </a:p>
              <a:p>
                <a:r>
                  <a:rPr lang="en-US" b="1"/>
                  <a:t>Where atomic oxygen matters most</a:t>
                </a:r>
              </a:p>
              <a:p>
                <a:r>
                  <a:rPr lang="en-US" b="1"/>
                  <a:t>Low Earth Orbit missions</a:t>
                </a:r>
                <a:r>
                  <a:rPr lang="en-US"/>
                  <a:t> (CubeSats, ISS, Earth-observing satellites).</a:t>
                </a:r>
              </a:p>
              <a:p>
                <a:r>
                  <a:rPr lang="en-US"/>
                  <a:t>Long-duration missions with exposed polymers.</a:t>
                </a:r>
              </a:p>
              <a:p>
                <a:r>
                  <a:rPr lang="en-US" err="1"/>
                  <a:t>Deployables</a:t>
                </a:r>
                <a:r>
                  <a:rPr lang="en-US"/>
                  <a:t> (booms, blankets, solar arrays).</a:t>
                </a:r>
              </a:p>
              <a:p>
                <a:r>
                  <a:rPr lang="en-US"/>
                  <a:t>AO is </a:t>
                </a:r>
                <a:r>
                  <a:rPr lang="en-US" b="1"/>
                  <a:t>not a concern</a:t>
                </a:r>
                <a:r>
                  <a:rPr lang="en-US"/>
                  <a:t> in:</a:t>
                </a:r>
              </a:p>
              <a:p>
                <a:r>
                  <a:rPr lang="en-US"/>
                  <a:t>Geostationary orbit</a:t>
                </a:r>
              </a:p>
              <a:p>
                <a:r>
                  <a:rPr lang="en-US"/>
                  <a:t>Deep space</a:t>
                </a:r>
              </a:p>
              <a:p>
                <a:r>
                  <a:rPr lang="en-US"/>
                  <a:t>Lunar or interplanetary missions</a:t>
                </a:r>
              </a:p>
              <a:p>
                <a:br>
                  <a:rPr lang="en-US"/>
                </a:br>
                <a:endParaRPr lang="en-US"/>
              </a:p>
              <a:p>
                <a:r>
                  <a:rPr lang="en-US" b="1"/>
                  <a:t>Engineering takeaway</a:t>
                </a:r>
              </a:p>
              <a:p>
                <a:r>
                  <a:rPr lang="en-US"/>
                  <a:t>Atomic oxygen is a uniquely LEO problem that:</a:t>
                </a:r>
              </a:p>
              <a:p>
                <a:r>
                  <a:rPr lang="en-US"/>
                  <a:t>Does </a:t>
                </a:r>
                <a:r>
                  <a:rPr lang="en-US" b="1"/>
                  <a:t>not</a:t>
                </a:r>
                <a:r>
                  <a:rPr lang="en-US"/>
                  <a:t> exist in ground environments.</a:t>
                </a:r>
              </a:p>
              <a:p>
                <a:r>
                  <a:rPr lang="en-US"/>
                  <a:t>Can silently degrade spacecraft over time.</a:t>
                </a:r>
              </a:p>
              <a:p>
                <a:r>
                  <a:rPr lang="en-US"/>
                  <a:t>Must be addressed through </a:t>
                </a:r>
                <a:r>
                  <a:rPr lang="en-US" b="1"/>
                  <a:t>materials, coatings, and system-level design</a:t>
                </a:r>
                <a:r>
                  <a:rPr lang="en-US"/>
                  <a:t>.</a:t>
                </a:r>
              </a:p>
              <a:p>
                <a:r>
                  <a:rPr lang="en-US"/>
                  <a:t>It is a classic example of why space is not just “cold vacuum,” but a </a:t>
                </a:r>
                <a:r>
                  <a:rPr lang="en-US" b="1"/>
                  <a:t>chemically active environment</a:t>
                </a:r>
                <a:r>
                  <a:rPr lang="en-US"/>
                  <a:t>.</a:t>
                </a:r>
              </a:p>
              <a:p>
                <a:endParaRPr lang="en-US"/>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14</a:t>
            </a:fld>
            <a:endParaRPr lang="en-US"/>
          </a:p>
        </p:txBody>
      </p:sp>
    </p:spTree>
    <p:extLst>
      <p:ext uri="{BB962C8B-B14F-4D97-AF65-F5344CB8AC3E}">
        <p14:creationId xmlns:p14="http://schemas.microsoft.com/office/powerpoint/2010/main" val="1756433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15</a:t>
            </a:fld>
            <a:endParaRPr lang="en-US"/>
          </a:p>
        </p:txBody>
      </p:sp>
    </p:spTree>
    <p:extLst>
      <p:ext uri="{BB962C8B-B14F-4D97-AF65-F5344CB8AC3E}">
        <p14:creationId xmlns:p14="http://schemas.microsoft.com/office/powerpoint/2010/main" val="3382469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a:t>
            </a:r>
            <a:r>
              <a:rPr lang="en-US" sz="1200" b="0" i="0" kern="1200">
                <a:solidFill>
                  <a:schemeClr val="tx1"/>
                </a:solidFill>
                <a:effectLst/>
                <a:latin typeface="+mn-lt"/>
                <a:ea typeface="+mn-ea"/>
                <a:cs typeface="+mn-cs"/>
              </a:rPr>
              <a:t>https://ntrs.nasa.gov/api/citations/20040191331/downloads/20040191331.pdf</a:t>
            </a:r>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16</a:t>
            </a:fld>
            <a:endParaRPr lang="en-US"/>
          </a:p>
        </p:txBody>
      </p:sp>
    </p:spTree>
    <p:extLst>
      <p:ext uri="{BB962C8B-B14F-4D97-AF65-F5344CB8AC3E}">
        <p14:creationId xmlns:p14="http://schemas.microsoft.com/office/powerpoint/2010/main" val="724629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Plasma</a:t>
            </a:r>
          </a:p>
          <a:p>
            <a:r>
              <a:rPr lang="en-US" sz="1200" b="1" i="0" kern="1200">
                <a:solidFill>
                  <a:schemeClr val="tx1"/>
                </a:solidFill>
                <a:effectLst/>
                <a:latin typeface="+mn-lt"/>
                <a:ea typeface="+mn-ea"/>
                <a:cs typeface="+mn-cs"/>
              </a:rPr>
              <a:t>What it is</a:t>
            </a:r>
            <a:r>
              <a:rPr lang="en-US" sz="1200" b="0" i="0" kern="1200">
                <a:solidFill>
                  <a:schemeClr val="tx1"/>
                </a:solidFill>
                <a:effectLst/>
                <a:latin typeface="+mn-lt"/>
                <a:ea typeface="+mn-ea"/>
                <a:cs typeface="+mn-cs"/>
              </a:rPr>
              <a:t>: An ionized gas, where atoms are stripped of electrons, creating a superheated soup of ions and free electrons, like lightning or the sun's interior.</a:t>
            </a:r>
          </a:p>
          <a:p>
            <a:r>
              <a:rPr lang="en-US" sz="1200" b="1" i="0" kern="1200">
                <a:solidFill>
                  <a:schemeClr val="tx1"/>
                </a:solidFill>
                <a:effectLst/>
                <a:latin typeface="+mn-lt"/>
                <a:ea typeface="+mn-ea"/>
                <a:cs typeface="+mn-cs"/>
              </a:rPr>
              <a:t>Key Properties</a:t>
            </a:r>
            <a:r>
              <a:rPr lang="en-US" sz="1200" b="0" i="0" kern="1200">
                <a:solidFill>
                  <a:schemeClr val="tx1"/>
                </a:solidFill>
                <a:effectLst/>
                <a:latin typeface="+mn-lt"/>
                <a:ea typeface="+mn-ea"/>
                <a:cs typeface="+mn-cs"/>
              </a:rPr>
              <a:t>: Conducts electricity, responds to electric/magnetic fields, and has unique emission spectra.</a:t>
            </a:r>
          </a:p>
          <a:p>
            <a:r>
              <a:rPr lang="en-US" sz="1200" b="1" i="0" kern="1200">
                <a:solidFill>
                  <a:schemeClr val="tx1"/>
                </a:solidFill>
                <a:effectLst/>
                <a:latin typeface="+mn-lt"/>
                <a:ea typeface="+mn-ea"/>
                <a:cs typeface="+mn-cs"/>
              </a:rPr>
              <a:t>How it relates to radiation</a:t>
            </a:r>
            <a:r>
              <a:rPr lang="en-US" sz="1200" b="0" i="0" kern="1200">
                <a:solidFill>
                  <a:schemeClr val="tx1"/>
                </a:solidFill>
                <a:effectLst/>
                <a:latin typeface="+mn-lt"/>
                <a:ea typeface="+mn-ea"/>
                <a:cs typeface="+mn-cs"/>
              </a:rPr>
              <a:t>: Plasma generates radiation (e.g., bremsstrahlung, synchrotron) as its charged particles accelerate or change energy levels. </a:t>
            </a:r>
          </a:p>
          <a:p>
            <a:endParaRPr lang="en-US"/>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22</a:t>
            </a:fld>
            <a:endParaRPr lang="en-US"/>
          </a:p>
        </p:txBody>
      </p:sp>
    </p:spTree>
    <p:extLst>
      <p:ext uri="{BB962C8B-B14F-4D97-AF65-F5344CB8AC3E}">
        <p14:creationId xmlns:p14="http://schemas.microsoft.com/office/powerpoint/2010/main" val="3579559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https://www.emcunited.com/standards-info/nasa-hdbk-4002</a:t>
            </a:r>
          </a:p>
          <a:p>
            <a:r>
              <a:rPr lang="en-US"/>
              <a:t>https://www.nasa.gov/centers-and-facilities/nesc/understanding-the-potential-dangers-of-spacecraft-charging/</a:t>
            </a:r>
          </a:p>
          <a:p>
            <a:endParaRPr lang="en-US"/>
          </a:p>
          <a:p>
            <a:r>
              <a:rPr lang="en-US" b="1"/>
              <a:t>Plasma</a:t>
            </a:r>
          </a:p>
          <a:p>
            <a:r>
              <a:rPr lang="en-US" b="1"/>
              <a:t>Ionized matter</a:t>
            </a:r>
            <a:r>
              <a:rPr lang="en-US"/>
              <a:t>: a quasi-neutral mix of electrons, ions, and sometimes neutrals.</a:t>
            </a:r>
          </a:p>
          <a:p>
            <a:r>
              <a:rPr lang="en-US"/>
              <a:t>Behaves collectively via </a:t>
            </a:r>
            <a:r>
              <a:rPr lang="en-US" b="1"/>
              <a:t>electromagnetic fields</a:t>
            </a:r>
            <a:r>
              <a:rPr lang="en-US"/>
              <a:t>.</a:t>
            </a:r>
          </a:p>
          <a:p>
            <a:r>
              <a:rPr lang="en-US"/>
              <a:t>Examples: ionosphere, solar wind, magnetospheric plasma.</a:t>
            </a:r>
          </a:p>
          <a:p>
            <a:r>
              <a:rPr lang="en-US"/>
              <a:t>Key idea: plasma is </a:t>
            </a:r>
            <a:r>
              <a:rPr lang="en-US" b="1"/>
              <a:t>matter with charge</a:t>
            </a:r>
            <a:r>
              <a:rPr lang="en-US"/>
              <a:t> that can move, flow, and accumulate on surfaces.</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23</a:t>
            </a:fld>
            <a:endParaRPr lang="en-US"/>
          </a:p>
        </p:txBody>
      </p:sp>
    </p:spTree>
    <p:extLst>
      <p:ext uri="{BB962C8B-B14F-4D97-AF65-F5344CB8AC3E}">
        <p14:creationId xmlns:p14="http://schemas.microsoft.com/office/powerpoint/2010/main" val="1033667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Plasma-driven spacecraft effects</a:t>
            </a:r>
          </a:p>
          <a:p>
            <a:endParaRPr lang="en-US" b="1"/>
          </a:p>
          <a:p>
            <a:r>
              <a:rPr lang="en-US" b="1"/>
              <a:t>Surface and internal charging</a:t>
            </a:r>
          </a:p>
          <a:p>
            <a:r>
              <a:rPr lang="en-US"/>
              <a:t>Plasma electrons and ions collect on spacecraft surfaces.</a:t>
            </a:r>
          </a:p>
          <a:p>
            <a:r>
              <a:rPr lang="en-US"/>
              <a:t>Differential charging can reach </a:t>
            </a:r>
            <a:r>
              <a:rPr lang="en-US" b="1"/>
              <a:t>kilovolts</a:t>
            </a:r>
            <a:r>
              <a:rPr lang="en-US"/>
              <a:t>.</a:t>
            </a:r>
          </a:p>
          <a:p>
            <a:r>
              <a:rPr lang="en-US"/>
              <a:t>Discharge events cause </a:t>
            </a:r>
            <a:r>
              <a:rPr lang="en-US" b="1"/>
              <a:t>electrostatic arcing</a:t>
            </a:r>
            <a:r>
              <a:rPr lang="en-US"/>
              <a:t>.</a:t>
            </a:r>
          </a:p>
          <a:p>
            <a:endParaRPr lang="en-US"/>
          </a:p>
          <a:p>
            <a:r>
              <a:rPr lang="en-US" b="1"/>
              <a:t>Consequences</a:t>
            </a:r>
          </a:p>
          <a:p>
            <a:r>
              <a:rPr lang="en-US"/>
              <a:t>Logic upsets from EMI generated by arcs</a:t>
            </a:r>
          </a:p>
          <a:p>
            <a:r>
              <a:rPr lang="en-US"/>
              <a:t>Solar array damage</a:t>
            </a:r>
          </a:p>
          <a:p>
            <a:r>
              <a:rPr lang="en-US"/>
              <a:t>Pitting and erosion of surfaces</a:t>
            </a:r>
          </a:p>
          <a:p>
            <a:r>
              <a:rPr lang="en-US"/>
              <a:t>False sensor readings</a:t>
            </a:r>
          </a:p>
          <a:p>
            <a:endParaRPr lang="en-US"/>
          </a:p>
          <a:p>
            <a:r>
              <a:rPr lang="en-US" b="1"/>
              <a:t>Typical plasma environments</a:t>
            </a:r>
          </a:p>
          <a:p>
            <a:r>
              <a:rPr lang="en-US" b="1"/>
              <a:t>LEO:</a:t>
            </a:r>
            <a:r>
              <a:rPr lang="en-US"/>
              <a:t> dense, cold plasma → ram/wake effects, atomic oxygen coupling</a:t>
            </a:r>
          </a:p>
          <a:p>
            <a:r>
              <a:rPr lang="en-US" b="1"/>
              <a:t>GEO:</a:t>
            </a:r>
            <a:r>
              <a:rPr lang="en-US"/>
              <a:t> hot, tenuous plasma → severe differential charging</a:t>
            </a:r>
          </a:p>
          <a:p>
            <a:r>
              <a:rPr lang="en-US" b="1"/>
              <a:t>Eclipse transitions:</a:t>
            </a:r>
            <a:r>
              <a:rPr lang="en-US"/>
              <a:t> rapid charging transients</a:t>
            </a:r>
          </a:p>
          <a:p>
            <a:r>
              <a:rPr lang="en-US"/>
              <a:t>Plasma problems are often </a:t>
            </a:r>
            <a:r>
              <a:rPr lang="en-US" b="1"/>
              <a:t>geometry- and material-dependent</a:t>
            </a:r>
            <a:r>
              <a:rPr lang="en-US"/>
              <a:t>.</a:t>
            </a:r>
          </a:p>
          <a:p>
            <a:endParaRPr lang="en-US"/>
          </a:p>
          <a:p>
            <a:r>
              <a:rPr lang="en-US" b="1"/>
              <a:t>Plasma mitigation</a:t>
            </a:r>
          </a:p>
          <a:p>
            <a:r>
              <a:rPr lang="en-US"/>
              <a:t>Conductive surface coatings</a:t>
            </a:r>
          </a:p>
          <a:p>
            <a:r>
              <a:rPr lang="en-US"/>
              <a:t>Careful grounding and bonding</a:t>
            </a:r>
          </a:p>
          <a:p>
            <a:r>
              <a:rPr lang="en-US"/>
              <a:t>Avoid isolated dielectrics</a:t>
            </a:r>
          </a:p>
          <a:p>
            <a:r>
              <a:rPr lang="en-US"/>
              <a:t>Plasma interaction modeling (charging analysis)</a:t>
            </a:r>
          </a:p>
          <a:p>
            <a:r>
              <a:rPr lang="en-US"/>
              <a:t>Arc-resistant solar array design</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24</a:t>
            </a:fld>
            <a:endParaRPr lang="en-US"/>
          </a:p>
        </p:txBody>
      </p:sp>
    </p:spTree>
    <p:extLst>
      <p:ext uri="{BB962C8B-B14F-4D97-AF65-F5344CB8AC3E}">
        <p14:creationId xmlns:p14="http://schemas.microsoft.com/office/powerpoint/2010/main" val="4199632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https://www.isas.jaxa.jp/en/topics/003566.html?utm_source=chatgpt.com</a:t>
            </a:r>
          </a:p>
        </p:txBody>
      </p:sp>
      <p:sp>
        <p:nvSpPr>
          <p:cNvPr id="4" name="Slide Number Placeholder 3"/>
          <p:cNvSpPr>
            <a:spLocks noGrp="1"/>
          </p:cNvSpPr>
          <p:nvPr>
            <p:ph type="sldNum" sz="quarter" idx="5"/>
          </p:nvPr>
        </p:nvSpPr>
        <p:spPr/>
        <p:txBody>
          <a:bodyPr/>
          <a:lstStyle/>
          <a:p>
            <a:fld id="{9EB4C982-825B-414E-ABB9-79AB251390A5}" type="slidenum">
              <a:rPr lang="en-US" smtClean="0"/>
              <a:t>26</a:t>
            </a:fld>
            <a:endParaRPr lang="en-US"/>
          </a:p>
        </p:txBody>
      </p:sp>
    </p:spTree>
    <p:extLst>
      <p:ext uri="{BB962C8B-B14F-4D97-AF65-F5344CB8AC3E}">
        <p14:creationId xmlns:p14="http://schemas.microsoft.com/office/powerpoint/2010/main" val="1875124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Radiation</a:t>
            </a:r>
          </a:p>
          <a:p>
            <a:r>
              <a:rPr lang="en-US" sz="1200" b="1" i="0" kern="1200">
                <a:solidFill>
                  <a:schemeClr val="tx1"/>
                </a:solidFill>
                <a:effectLst/>
                <a:latin typeface="+mn-lt"/>
                <a:ea typeface="+mn-ea"/>
                <a:cs typeface="+mn-cs"/>
              </a:rPr>
              <a:t>What it is</a:t>
            </a:r>
            <a:r>
              <a:rPr lang="en-US" sz="1200" b="0" i="0" kern="1200">
                <a:solidFill>
                  <a:schemeClr val="tx1"/>
                </a:solidFill>
                <a:effectLst/>
                <a:latin typeface="+mn-lt"/>
                <a:ea typeface="+mn-ea"/>
                <a:cs typeface="+mn-cs"/>
              </a:rPr>
              <a:t>: Energy traveling in waves or particles, including light, X-rays, gamma rays, or particles like alpha/beta/neutrons.</a:t>
            </a:r>
          </a:p>
          <a:p>
            <a:r>
              <a:rPr lang="en-US" sz="1200" b="1" i="0" kern="1200">
                <a:solidFill>
                  <a:schemeClr val="tx1"/>
                </a:solidFill>
                <a:effectLst/>
                <a:latin typeface="+mn-lt"/>
                <a:ea typeface="+mn-ea"/>
                <a:cs typeface="+mn-cs"/>
              </a:rPr>
              <a:t>Key Properties</a:t>
            </a:r>
            <a:r>
              <a:rPr lang="en-US" sz="1200" b="0" i="0" kern="1200">
                <a:solidFill>
                  <a:schemeClr val="tx1"/>
                </a:solidFill>
                <a:effectLst/>
                <a:latin typeface="+mn-lt"/>
                <a:ea typeface="+mn-ea"/>
                <a:cs typeface="+mn-cs"/>
              </a:rPr>
              <a:t>: Carries energy, can penetrate matter, and interacts with atoms.</a:t>
            </a:r>
          </a:p>
          <a:p>
            <a:r>
              <a:rPr lang="en-US" sz="1200" b="1" i="0" kern="1200">
                <a:solidFill>
                  <a:schemeClr val="tx1"/>
                </a:solidFill>
                <a:effectLst/>
                <a:latin typeface="+mn-lt"/>
                <a:ea typeface="+mn-ea"/>
                <a:cs typeface="+mn-cs"/>
              </a:rPr>
              <a:t>How it relates to plasma</a:t>
            </a:r>
            <a:r>
              <a:rPr lang="en-US" sz="1200" b="0" i="0" kern="1200">
                <a:solidFill>
                  <a:schemeClr val="tx1"/>
                </a:solidFill>
                <a:effectLst/>
                <a:latin typeface="+mn-lt"/>
                <a:ea typeface="+mn-ea"/>
                <a:cs typeface="+mn-cs"/>
              </a:rPr>
              <a:t>: Radiation can be absorbed, emitted, or scattered by plasma, changing the plasma's state (ionization, temperature). </a:t>
            </a:r>
          </a:p>
          <a:p>
            <a:endParaRPr lang="en-US"/>
          </a:p>
          <a:p>
            <a:endParaRPr lang="en-US"/>
          </a:p>
          <a:p>
            <a:pPr marL="0" marR="0" lvl="0" indent="0" algn="l" defTabSz="914315" rtl="0" eaLnBrk="1" fontAlgn="auto" latinLnBrk="0" hangingPunct="1">
              <a:lnSpc>
                <a:spcPct val="100000"/>
              </a:lnSpc>
              <a:spcBef>
                <a:spcPts val="0"/>
              </a:spcBef>
              <a:spcAft>
                <a:spcPts val="0"/>
              </a:spcAft>
              <a:buClrTx/>
              <a:buSzTx/>
              <a:buFontTx/>
              <a:buNone/>
              <a:tabLst/>
              <a:defRPr/>
            </a:pPr>
            <a:r>
              <a:rPr lang="en-US">
                <a:effectLst/>
                <a:hlinkClick r:id="rId3"/>
              </a:rPr>
              <a:t>Plasma</a:t>
            </a:r>
            <a:r>
              <a:rPr lang="en-US"/>
              <a:t> is a state of matter (ionized gas) that </a:t>
            </a:r>
            <a:r>
              <a:rPr lang="en-US" i="1">
                <a:effectLst/>
              </a:rPr>
              <a:t>produces</a:t>
            </a:r>
            <a:r>
              <a:rPr lang="en-US"/>
              <a:t> </a:t>
            </a:r>
            <a:r>
              <a:rPr lang="en-US">
                <a:effectLst/>
                <a:hlinkClick r:id="rId4"/>
              </a:rPr>
              <a:t>radiation</a:t>
            </a:r>
            <a:r>
              <a:rPr lang="en-US"/>
              <a:t> (photons, X-rays, etc.) as charged particles emit energy, while radiation is electromagnetic energy (like light, X-rays) that can </a:t>
            </a:r>
            <a:r>
              <a:rPr lang="en-US" i="1">
                <a:effectLst/>
              </a:rPr>
              <a:t>interact</a:t>
            </a:r>
            <a:r>
              <a:rPr lang="en-US"/>
              <a:t> with and ionize plasma, causing chemical changes</a:t>
            </a:r>
            <a:r>
              <a:rPr lang="en-US" sz="1200" b="0" i="0" kern="1200">
                <a:solidFill>
                  <a:schemeClr val="tx1"/>
                </a:solidFill>
                <a:effectLst/>
                <a:latin typeface="+mn-lt"/>
                <a:ea typeface="+mn-ea"/>
                <a:cs typeface="+mn-cs"/>
              </a:rPr>
              <a:t>, making them deeply connected but distinct concepts in physics. Think of plasma as the "source" (like the sun's corona) and radiation as the "message" or "energy wave" it sends out, with radiation also affecting the plasma itself. </a:t>
            </a:r>
            <a:endParaRPr lang="en-US"/>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27</a:t>
            </a:fld>
            <a:endParaRPr lang="en-US"/>
          </a:p>
        </p:txBody>
      </p:sp>
    </p:spTree>
    <p:extLst>
      <p:ext uri="{BB962C8B-B14F-4D97-AF65-F5344CB8AC3E}">
        <p14:creationId xmlns:p14="http://schemas.microsoft.com/office/powerpoint/2010/main" val="40992448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Radiation</a:t>
            </a:r>
          </a:p>
          <a:p>
            <a:r>
              <a:rPr lang="en-US" b="1"/>
              <a:t>Energy</a:t>
            </a:r>
            <a:r>
              <a:rPr lang="en-US"/>
              <a:t>, not matter.</a:t>
            </a:r>
          </a:p>
          <a:p>
            <a:r>
              <a:rPr lang="en-US"/>
              <a:t>Includes </a:t>
            </a:r>
            <a:r>
              <a:rPr lang="en-US" b="1"/>
              <a:t>electromagnetic radiation</a:t>
            </a:r>
            <a:r>
              <a:rPr lang="en-US"/>
              <a:t> (UV, X-rays, gamma rays) and </a:t>
            </a:r>
            <a:r>
              <a:rPr lang="en-US" b="1"/>
              <a:t>energetic particles</a:t>
            </a:r>
            <a:r>
              <a:rPr lang="en-US"/>
              <a:t> (protons, electrons, heavy ions).</a:t>
            </a:r>
          </a:p>
          <a:p>
            <a:r>
              <a:rPr lang="en-US"/>
              <a:t>Does not require a medium and does not “flow” around objects.</a:t>
            </a:r>
          </a:p>
          <a:p>
            <a:r>
              <a:rPr lang="en-US"/>
              <a:t>Key idea: radiation </a:t>
            </a:r>
            <a:r>
              <a:rPr lang="en-US" b="1"/>
              <a:t>passes through materials</a:t>
            </a:r>
            <a:r>
              <a:rPr lang="en-US"/>
              <a:t>, depositing energy along its path.</a:t>
            </a:r>
          </a:p>
          <a:p>
            <a:endParaRPr lang="en-US"/>
          </a:p>
          <a:p>
            <a:endParaRPr lang="en-US"/>
          </a:p>
          <a:p>
            <a:r>
              <a:rPr lang="en-US" b="1"/>
              <a:t>Radiation-driven spacecraft effects</a:t>
            </a:r>
          </a:p>
          <a:p>
            <a:r>
              <a:rPr lang="en-US" b="1"/>
              <a:t>Total Ionizing Dose (TID)</a:t>
            </a:r>
          </a:p>
          <a:p>
            <a:r>
              <a:rPr lang="en-US"/>
              <a:t>Long-term accumulation of trapped charge in dielectrics.</a:t>
            </a:r>
          </a:p>
          <a:p>
            <a:r>
              <a:rPr lang="en-US"/>
              <a:t>Leads to threshold shifts, leakage currents, and eventual failure.</a:t>
            </a:r>
          </a:p>
          <a:p>
            <a:r>
              <a:rPr lang="en-US" b="1"/>
              <a:t>Displacement damage</a:t>
            </a:r>
          </a:p>
          <a:p>
            <a:r>
              <a:rPr lang="en-US"/>
              <a:t>Lattice defects in semiconductors and solar cells.</a:t>
            </a:r>
          </a:p>
          <a:p>
            <a:r>
              <a:rPr lang="en-US"/>
              <a:t>Degrades gain, efficiency, and lifetime.</a:t>
            </a:r>
          </a:p>
          <a:p>
            <a:r>
              <a:rPr lang="en-US" b="1"/>
              <a:t>Single Event Effects (SEEs)</a:t>
            </a:r>
          </a:p>
          <a:p>
            <a:r>
              <a:rPr lang="en-US" b="1"/>
              <a:t>SEU:</a:t>
            </a:r>
            <a:r>
              <a:rPr lang="en-US"/>
              <a:t> bit flip</a:t>
            </a:r>
          </a:p>
          <a:p>
            <a:r>
              <a:rPr lang="en-US" b="1"/>
              <a:t>SEL:</a:t>
            </a:r>
            <a:r>
              <a:rPr lang="en-US"/>
              <a:t> </a:t>
            </a:r>
            <a:r>
              <a:rPr lang="en-US" err="1"/>
              <a:t>latchup</a:t>
            </a:r>
            <a:r>
              <a:rPr lang="en-US"/>
              <a:t> (potentially destructive)</a:t>
            </a:r>
          </a:p>
          <a:p>
            <a:r>
              <a:rPr lang="en-US" b="1"/>
              <a:t>SEB/SEGR:</a:t>
            </a:r>
            <a:r>
              <a:rPr lang="en-US"/>
              <a:t> power device failure</a:t>
            </a:r>
          </a:p>
          <a:p>
            <a:r>
              <a:rPr lang="en-US"/>
              <a:t>Radiation problems are often </a:t>
            </a:r>
            <a:r>
              <a:rPr lang="en-US" b="1"/>
              <a:t>device-physics-dependent</a:t>
            </a:r>
            <a:r>
              <a:rPr lang="en-US"/>
              <a:t>, not geometry-driven.</a:t>
            </a:r>
          </a:p>
          <a:p>
            <a:endParaRPr lang="en-US"/>
          </a:p>
          <a:p>
            <a:endParaRPr lang="en-US"/>
          </a:p>
          <a:p>
            <a:r>
              <a:rPr lang="en-US" b="1"/>
              <a:t>Radiation mitigation</a:t>
            </a:r>
          </a:p>
          <a:p>
            <a:r>
              <a:rPr lang="en-US"/>
              <a:t>Shielding (aluminum, tantalum, graded-Z)</a:t>
            </a:r>
          </a:p>
          <a:p>
            <a:r>
              <a:rPr lang="en-US"/>
              <a:t>Radiation-hardened electronics</a:t>
            </a:r>
          </a:p>
          <a:p>
            <a:r>
              <a:rPr lang="en-US"/>
              <a:t>Error detection and correction (EDAC)</a:t>
            </a:r>
          </a:p>
          <a:p>
            <a:r>
              <a:rPr lang="en-US"/>
              <a:t>Redundancy and watchdog architectures</a:t>
            </a:r>
          </a:p>
          <a:p>
            <a:r>
              <a:rPr lang="en-US"/>
              <a:t>Mission dose budgeting</a:t>
            </a:r>
          </a:p>
          <a:p>
            <a:endParaRPr lang="en-US"/>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28</a:t>
            </a:fld>
            <a:endParaRPr lang="en-US"/>
          </a:p>
        </p:txBody>
      </p:sp>
    </p:spTree>
    <p:extLst>
      <p:ext uri="{BB962C8B-B14F-4D97-AF65-F5344CB8AC3E}">
        <p14:creationId xmlns:p14="http://schemas.microsoft.com/office/powerpoint/2010/main" val="2102553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19157-5E77-474E-8DBD-989D4603659B}" type="slidenum">
              <a:rPr lang="en-US" smtClean="0"/>
              <a:t>32</a:t>
            </a:fld>
            <a:endParaRPr lang="en-US"/>
          </a:p>
        </p:txBody>
      </p:sp>
    </p:spTree>
    <p:extLst>
      <p:ext uri="{BB962C8B-B14F-4D97-AF65-F5344CB8AC3E}">
        <p14:creationId xmlns:p14="http://schemas.microsoft.com/office/powerpoint/2010/main" val="2206366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1/21/2026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1/21/2026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1/21/2026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1/21/2026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1/21/2026</a:t>
            </a:fld>
            <a:endParaRPr lang="en-US"/>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1/21/2026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1/21/2026</a:t>
            </a:fld>
            <a:endParaRPr lang="en-US"/>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1/21/2026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1/21/2026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1/21/2026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1/21/2026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1/21/2026</a:t>
            </a:fld>
            <a:endParaRPr lang="en-US"/>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30105" y="72097"/>
            <a:ext cx="1255668" cy="307777"/>
          </a:xfrm>
          <a:prstGeom prst="rect">
            <a:avLst/>
          </a:prstGeom>
          <a:noFill/>
        </p:spPr>
        <p:txBody>
          <a:bodyPr wrap="square" rtlCol="0">
            <a:spAutoFit/>
          </a:bodyPr>
          <a:lstStyle/>
          <a:p>
            <a:pPr algn="r"/>
            <a:r>
              <a:rPr lang="en-US" sz="1400" b="1">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Lesson </a:t>
            </a:r>
            <a:r>
              <a:rPr lang="en-US"/>
              <a:t>6</a:t>
            </a:r>
            <a:endParaRPr lang="en-US" b="1"/>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a:t>Space Environment</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5FC8-F08C-8D6E-C11D-CC7FF53B08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650377-039C-BAE6-4A88-F7AB4EAB64C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46A4FCA-FBFF-F153-2640-594B26AD0618}"/>
              </a:ext>
            </a:extLst>
          </p:cNvPr>
          <p:cNvSpPr>
            <a:spLocks noGrp="1"/>
          </p:cNvSpPr>
          <p:nvPr>
            <p:ph type="sldNum" sz="quarter" idx="12"/>
          </p:nvPr>
        </p:nvSpPr>
        <p:spPr/>
        <p:txBody>
          <a:bodyPr/>
          <a:lstStyle/>
          <a:p>
            <a:fld id="{9A3029B7-FE6B-4680-9049-80E8298A0825}" type="slidenum">
              <a:rPr lang="en-US" smtClean="0"/>
              <a:t>2</a:t>
            </a:fld>
            <a:endParaRPr lang="en-US"/>
          </a:p>
        </p:txBody>
      </p:sp>
      <p:pic>
        <p:nvPicPr>
          <p:cNvPr id="6" name="Picture 5">
            <a:extLst>
              <a:ext uri="{FF2B5EF4-FFF2-40B4-BE49-F238E27FC236}">
                <a16:creationId xmlns:a16="http://schemas.microsoft.com/office/drawing/2014/main" id="{CEF84E58-509D-1504-A03C-BEA6B59ED991}"/>
              </a:ext>
            </a:extLst>
          </p:cNvPr>
          <p:cNvPicPr>
            <a:picLocks noChangeAspect="1"/>
          </p:cNvPicPr>
          <p:nvPr/>
        </p:nvPicPr>
        <p:blipFill>
          <a:blip r:embed="rId3"/>
          <a:srcRect l="13027" r="15051"/>
          <a:stretch>
            <a:fillRect/>
          </a:stretch>
        </p:blipFill>
        <p:spPr>
          <a:xfrm>
            <a:off x="-40783" y="-27770"/>
            <a:ext cx="9184783" cy="6885769"/>
          </a:xfrm>
          <a:prstGeom prst="rect">
            <a:avLst/>
          </a:prstGeom>
        </p:spPr>
      </p:pic>
    </p:spTree>
    <p:extLst>
      <p:ext uri="{BB962C8B-B14F-4D97-AF65-F5344CB8AC3E}">
        <p14:creationId xmlns:p14="http://schemas.microsoft.com/office/powerpoint/2010/main" val="1607299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p>
            <a:fld id="{C4E7BD3C-1CB4-4D32-AF66-F24A4F29664C}" type="slidenum">
              <a:rPr lang="en-US" altLang="en-US"/>
              <a:pPr/>
              <a:t>3</a:t>
            </a:fld>
            <a:endParaRPr lang="en-US" altLang="en-US"/>
          </a:p>
        </p:txBody>
      </p:sp>
      <p:sp>
        <p:nvSpPr>
          <p:cNvPr id="54273" name="Rectangle 1"/>
          <p:cNvSpPr>
            <a:spLocks noGrp="1" noChangeArrowheads="1"/>
          </p:cNvSpPr>
          <p:nvPr>
            <p:ph type="title"/>
          </p:nvPr>
        </p:nvSpPr>
        <p:spPr>
          <a:xfrm>
            <a:off x="830780" y="-201497"/>
            <a:ext cx="7886700" cy="1325563"/>
          </a:xfrm>
          <a:ln/>
        </p:spPr>
        <p:txBody>
          <a:bodyPr vert="horz" lIns="91440" tIns="45720" rIns="136128" bIns="45720" rtlCol="0" anchor="ctr">
            <a:normAutofit/>
          </a:bodyPr>
          <a:lstStyle/>
          <a:p>
            <a:r>
              <a:rPr lang="en-US" altLang="en-US" sz="2391"/>
              <a:t>Why Worry about the Space Environment?</a:t>
            </a:r>
          </a:p>
        </p:txBody>
      </p:sp>
      <p:sp>
        <p:nvSpPr>
          <p:cNvPr id="54274" name="Rectangle 2"/>
          <p:cNvSpPr>
            <a:spLocks noGrp="1" noChangeArrowheads="1"/>
          </p:cNvSpPr>
          <p:nvPr>
            <p:ph type="body" idx="1"/>
          </p:nvPr>
        </p:nvSpPr>
        <p:spPr>
          <a:xfrm>
            <a:off x="76659" y="880738"/>
            <a:ext cx="5563195" cy="5827695"/>
          </a:xfrm>
          <a:ln/>
          <a:extLst>
            <a:ext uri="{91240B29-F687-4F45-9708-019B960494DF}">
              <a14:hiddenLine xmlns:a14="http://schemas.microsoft.com/office/drawing/2010/main" w="12700">
                <a:solidFill>
                  <a:srgbClr val="FFFFFF"/>
                </a:solidFill>
                <a:miter lim="800000"/>
                <a:headEnd/>
                <a:tailEnd/>
              </a14:hiddenLine>
            </a:ext>
          </a:extLst>
        </p:spPr>
        <p:txBody>
          <a:bodyPr vert="horz" lIns="35719" tIns="35719" rIns="0" bIns="35719" rtlCol="0" anchor="ctr">
            <a:normAutofit/>
          </a:bodyPr>
          <a:lstStyle/>
          <a:p>
            <a:pPr marL="0" indent="0">
              <a:spcBef>
                <a:spcPct val="0"/>
              </a:spcBef>
              <a:buNone/>
            </a:pPr>
            <a:r>
              <a:rPr lang="en-US" altLang="en-US" sz="1687" b="1">
                <a:solidFill>
                  <a:srgbClr val="0000FF"/>
                </a:solidFill>
              </a:rPr>
              <a:t>Approximately 25% of all spacecraft anomalies</a:t>
            </a:r>
            <a:r>
              <a:rPr lang="en-US" altLang="en-US" sz="1687" b="1"/>
              <a:t> </a:t>
            </a:r>
            <a:r>
              <a:rPr lang="en-US" altLang="en-US" sz="1687"/>
              <a:t>are related to the space environment. </a:t>
            </a:r>
          </a:p>
          <a:p>
            <a:pPr marL="0" indent="0">
              <a:spcBef>
                <a:spcPct val="0"/>
              </a:spcBef>
              <a:buNone/>
            </a:pPr>
            <a:endParaRPr lang="en-US" altLang="en-US" sz="1687"/>
          </a:p>
          <a:p>
            <a:pPr marL="0" indent="0">
              <a:spcBef>
                <a:spcPct val="0"/>
              </a:spcBef>
              <a:buNone/>
            </a:pPr>
            <a:r>
              <a:rPr lang="en-US" altLang="en-US" sz="1687"/>
              <a:t>Famous examples include:</a:t>
            </a:r>
          </a:p>
          <a:p>
            <a:pPr marL="220101" lvl="1" indent="0">
              <a:spcBef>
                <a:spcPts val="580"/>
              </a:spcBef>
              <a:buSzPct val="125000"/>
              <a:buNone/>
            </a:pPr>
            <a:r>
              <a:rPr lang="en-US" altLang="en-US" sz="1547" b="1">
                <a:solidFill>
                  <a:schemeClr val="tx2">
                    <a:lumMod val="75000"/>
                    <a:lumOff val="25000"/>
                  </a:schemeClr>
                </a:solidFill>
              </a:rPr>
              <a:t>2010:</a:t>
            </a:r>
            <a:r>
              <a:rPr lang="en-US" altLang="en-US" sz="1547">
                <a:solidFill>
                  <a:schemeClr val="tx2">
                    <a:lumMod val="75000"/>
                    <a:lumOff val="25000"/>
                  </a:schemeClr>
                </a:solidFill>
              </a:rPr>
              <a:t> Control of Galaxy 15 lost due to electrostatic discharge cause by </a:t>
            </a:r>
            <a:r>
              <a:rPr lang="en-US" altLang="en-US" sz="1547" b="1">
                <a:solidFill>
                  <a:schemeClr val="tx2">
                    <a:lumMod val="75000"/>
                    <a:lumOff val="25000"/>
                  </a:schemeClr>
                </a:solidFill>
              </a:rPr>
              <a:t>solar flare</a:t>
            </a:r>
            <a:r>
              <a:rPr lang="en-US" altLang="en-US" sz="1547">
                <a:solidFill>
                  <a:schemeClr val="tx2">
                    <a:lumMod val="75000"/>
                    <a:lumOff val="25000"/>
                  </a:schemeClr>
                </a:solidFill>
              </a:rPr>
              <a:t>. Satellite drifted through crowed GEO belt in full send and receive mode</a:t>
            </a:r>
          </a:p>
          <a:p>
            <a:pPr marL="220101" lvl="1" indent="0">
              <a:spcBef>
                <a:spcPts val="580"/>
              </a:spcBef>
              <a:buSzPct val="125000"/>
              <a:buNone/>
            </a:pPr>
            <a:r>
              <a:rPr lang="en-US" altLang="en-US" sz="1547" b="1">
                <a:solidFill>
                  <a:schemeClr val="accent6">
                    <a:lumMod val="75000"/>
                  </a:schemeClr>
                </a:solidFill>
              </a:rPr>
              <a:t>2009:</a:t>
            </a:r>
            <a:r>
              <a:rPr lang="en-US" altLang="en-US" sz="1547">
                <a:solidFill>
                  <a:schemeClr val="accent6">
                    <a:lumMod val="75000"/>
                  </a:schemeClr>
                </a:solidFill>
              </a:rPr>
              <a:t> Iridium satellite destroyed when it collided with the dead Cosmos 2251 satellite (</a:t>
            </a:r>
            <a:r>
              <a:rPr lang="en-US" altLang="en-US" sz="1547" b="1">
                <a:solidFill>
                  <a:schemeClr val="accent6">
                    <a:lumMod val="75000"/>
                  </a:schemeClr>
                </a:solidFill>
              </a:rPr>
              <a:t>space debris</a:t>
            </a:r>
            <a:r>
              <a:rPr lang="en-US" altLang="en-US" sz="1547">
                <a:solidFill>
                  <a:schemeClr val="accent6">
                    <a:lumMod val="75000"/>
                  </a:schemeClr>
                </a:solidFill>
              </a:rPr>
              <a:t>)</a:t>
            </a:r>
          </a:p>
          <a:p>
            <a:pPr marL="220101" lvl="1" indent="0">
              <a:spcBef>
                <a:spcPts val="580"/>
              </a:spcBef>
              <a:buSzPct val="125000"/>
              <a:buNone/>
            </a:pPr>
            <a:r>
              <a:rPr lang="en-US" altLang="en-US" sz="1547" b="1">
                <a:solidFill>
                  <a:schemeClr val="tx2">
                    <a:lumMod val="75000"/>
                    <a:lumOff val="25000"/>
                  </a:schemeClr>
                </a:solidFill>
              </a:rPr>
              <a:t>2000: </a:t>
            </a:r>
            <a:r>
              <a:rPr lang="en-US" altLang="en-US" sz="1547">
                <a:solidFill>
                  <a:schemeClr val="tx2">
                    <a:lumMod val="75000"/>
                    <a:lumOff val="25000"/>
                  </a:schemeClr>
                </a:solidFill>
              </a:rPr>
              <a:t>Boeing 702 satellite (Anik F-1): degraded solar array performance due to </a:t>
            </a:r>
            <a:r>
              <a:rPr lang="en-US" altLang="en-US" sz="1547" b="1">
                <a:solidFill>
                  <a:schemeClr val="tx2">
                    <a:lumMod val="75000"/>
                    <a:lumOff val="25000"/>
                  </a:schemeClr>
                </a:solidFill>
              </a:rPr>
              <a:t>outgassing</a:t>
            </a:r>
            <a:r>
              <a:rPr lang="en-US" altLang="en-US" sz="1547">
                <a:solidFill>
                  <a:schemeClr val="tx2">
                    <a:lumMod val="75000"/>
                    <a:lumOff val="25000"/>
                  </a:schemeClr>
                </a:solidFill>
              </a:rPr>
              <a:t> induced fogging</a:t>
            </a:r>
          </a:p>
          <a:p>
            <a:pPr marL="220101" lvl="1" indent="0">
              <a:spcBef>
                <a:spcPts val="580"/>
              </a:spcBef>
              <a:buSzPct val="125000"/>
              <a:buNone/>
            </a:pPr>
            <a:r>
              <a:rPr lang="en-US" altLang="en-US" sz="1547" b="1">
                <a:solidFill>
                  <a:schemeClr val="accent6">
                    <a:lumMod val="75000"/>
                  </a:schemeClr>
                </a:solidFill>
              </a:rPr>
              <a:t>2000: </a:t>
            </a:r>
            <a:r>
              <a:rPr lang="en-US" altLang="en-US" sz="1547">
                <a:solidFill>
                  <a:schemeClr val="accent6">
                    <a:lumMod val="75000"/>
                  </a:schemeClr>
                </a:solidFill>
              </a:rPr>
              <a:t>Stardust comet flyby spacecraft blinded and sent into safe mode by a </a:t>
            </a:r>
            <a:r>
              <a:rPr lang="en-US" altLang="en-US" sz="1547" b="1">
                <a:solidFill>
                  <a:schemeClr val="accent6">
                    <a:lumMod val="75000"/>
                  </a:schemeClr>
                </a:solidFill>
              </a:rPr>
              <a:t>solar flare</a:t>
            </a:r>
          </a:p>
          <a:p>
            <a:pPr marL="220101" lvl="1" indent="0">
              <a:spcBef>
                <a:spcPts val="580"/>
              </a:spcBef>
              <a:buSzPct val="125000"/>
              <a:buNone/>
            </a:pPr>
            <a:r>
              <a:rPr lang="en-US" altLang="en-US" sz="1547" b="1">
                <a:solidFill>
                  <a:schemeClr val="tx2">
                    <a:lumMod val="75000"/>
                    <a:lumOff val="25000"/>
                  </a:schemeClr>
                </a:solidFill>
              </a:rPr>
              <a:t>1994: </a:t>
            </a:r>
            <a:r>
              <a:rPr lang="en-US" altLang="en-US" sz="1547" err="1">
                <a:solidFill>
                  <a:schemeClr val="tx2">
                    <a:lumMod val="75000"/>
                    <a:lumOff val="25000"/>
                  </a:schemeClr>
                </a:solidFill>
              </a:rPr>
              <a:t>Telsat</a:t>
            </a:r>
            <a:r>
              <a:rPr lang="en-US" altLang="en-US" sz="1547">
                <a:solidFill>
                  <a:schemeClr val="tx2">
                    <a:lumMod val="75000"/>
                    <a:lumOff val="25000"/>
                  </a:schemeClr>
                </a:solidFill>
              </a:rPr>
              <a:t> Canada’s Anik E-1 and E-2 suddenly began to spin out of control due to </a:t>
            </a:r>
            <a:r>
              <a:rPr lang="en-US" altLang="en-US" sz="1547" b="1">
                <a:solidFill>
                  <a:schemeClr val="tx2">
                    <a:lumMod val="75000"/>
                    <a:lumOff val="25000"/>
                  </a:schemeClr>
                </a:solidFill>
              </a:rPr>
              <a:t>spacecraft charging</a:t>
            </a:r>
          </a:p>
          <a:p>
            <a:pPr marL="220101" lvl="1" indent="0">
              <a:spcBef>
                <a:spcPts val="580"/>
              </a:spcBef>
              <a:buSzPct val="125000"/>
              <a:buNone/>
            </a:pPr>
            <a:r>
              <a:rPr lang="en-US" altLang="en-US" sz="1547" b="1">
                <a:solidFill>
                  <a:schemeClr val="accent6">
                    <a:lumMod val="75000"/>
                  </a:schemeClr>
                </a:solidFill>
              </a:rPr>
              <a:t>1990: High energy charged particles </a:t>
            </a:r>
            <a:r>
              <a:rPr lang="en-US" altLang="en-US" sz="1547">
                <a:solidFill>
                  <a:schemeClr val="accent6">
                    <a:lumMod val="75000"/>
                  </a:schemeClr>
                </a:solidFill>
              </a:rPr>
              <a:t>caused bit flips in HST fine guidance system electronics (FGS) passing through the </a:t>
            </a:r>
            <a:r>
              <a:rPr lang="en-US" altLang="en-US" sz="1547" b="1">
                <a:solidFill>
                  <a:schemeClr val="accent6">
                    <a:lumMod val="75000"/>
                  </a:schemeClr>
                </a:solidFill>
              </a:rPr>
              <a:t>South Atlantic Anomaly (SAA) </a:t>
            </a:r>
            <a:r>
              <a:rPr lang="en-US" altLang="en-US" sz="1547">
                <a:solidFill>
                  <a:schemeClr val="accent6">
                    <a:lumMod val="75000"/>
                  </a:schemeClr>
                </a:solidFill>
              </a:rPr>
              <a:t>causing guide star acquisition failures. Subsequently, FGS use was suspended in the SAA. </a:t>
            </a:r>
          </a:p>
          <a:p>
            <a:pPr marL="220101" lvl="1" indent="0">
              <a:spcBef>
                <a:spcPts val="580"/>
              </a:spcBef>
              <a:buSzPct val="125000"/>
              <a:buNone/>
            </a:pPr>
            <a:r>
              <a:rPr lang="en-US" altLang="en-US" sz="1547" b="1">
                <a:solidFill>
                  <a:schemeClr val="tx2">
                    <a:lumMod val="75000"/>
                    <a:lumOff val="25000"/>
                  </a:schemeClr>
                </a:solidFill>
              </a:rPr>
              <a:t>1979: </a:t>
            </a:r>
            <a:r>
              <a:rPr lang="en-US" altLang="en-US" sz="1547">
                <a:solidFill>
                  <a:schemeClr val="tx2">
                    <a:lumMod val="75000"/>
                    <a:lumOff val="25000"/>
                  </a:schemeClr>
                </a:solidFill>
              </a:rPr>
              <a:t>Increased </a:t>
            </a:r>
            <a:r>
              <a:rPr lang="en-US" altLang="en-US" sz="1547" b="1">
                <a:solidFill>
                  <a:schemeClr val="tx2">
                    <a:lumMod val="75000"/>
                    <a:lumOff val="25000"/>
                  </a:schemeClr>
                </a:solidFill>
              </a:rPr>
              <a:t>solar activity </a:t>
            </a:r>
            <a:r>
              <a:rPr lang="en-US" altLang="en-US" sz="1547">
                <a:solidFill>
                  <a:schemeClr val="tx2">
                    <a:lumMod val="75000"/>
                    <a:lumOff val="25000"/>
                  </a:schemeClr>
                </a:solidFill>
              </a:rPr>
              <a:t>heated the outer layers of the Earth's atmosphere and thereby increased </a:t>
            </a:r>
            <a:r>
              <a:rPr lang="en-US" altLang="en-US" sz="1547" b="1">
                <a:solidFill>
                  <a:schemeClr val="tx2">
                    <a:lumMod val="75000"/>
                    <a:lumOff val="25000"/>
                  </a:schemeClr>
                </a:solidFill>
              </a:rPr>
              <a:t>drag</a:t>
            </a:r>
            <a:r>
              <a:rPr lang="en-US" altLang="en-US" sz="1547">
                <a:solidFill>
                  <a:schemeClr val="tx2">
                    <a:lumMod val="75000"/>
                    <a:lumOff val="25000"/>
                  </a:schemeClr>
                </a:solidFill>
              </a:rPr>
              <a:t> on Skylab, leading to an early reentry.</a:t>
            </a:r>
          </a:p>
        </p:txBody>
      </p:sp>
      <p:sp>
        <p:nvSpPr>
          <p:cNvPr id="54276" name="Rectangle 4"/>
          <p:cNvSpPr>
            <a:spLocks/>
          </p:cNvSpPr>
          <p:nvPr/>
        </p:nvSpPr>
        <p:spPr bwMode="auto">
          <a:xfrm>
            <a:off x="6000750" y="2760088"/>
            <a:ext cx="2821781" cy="437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35719" tIns="35719" rIns="73818" bIns="35719"/>
          <a:lstStyle>
            <a:lvl1pPr marL="3175">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ctr"/>
            <a:r>
              <a:rPr lang="en-US" altLang="en-US" sz="1266">
                <a:latin typeface="Arial Bold" panose="020B0704020202020204" pitchFamily="34" charset="0"/>
                <a:cs typeface="Arial Bold" panose="020B0704020202020204" pitchFamily="34" charset="0"/>
                <a:sym typeface="Arial Bold" panose="020B0704020202020204" pitchFamily="34" charset="0"/>
              </a:rPr>
              <a:t>Warning- Traffic Hazard!. </a:t>
            </a:r>
            <a:r>
              <a:rPr lang="en-US" altLang="en-US" sz="1266">
                <a:latin typeface="Arial" panose="020B0604020202020204" pitchFamily="34" charset="0"/>
                <a:cs typeface="Arial" panose="020B0604020202020204" pitchFamily="34" charset="0"/>
                <a:sym typeface="Arial" panose="020B0604020202020204" pitchFamily="34" charset="0"/>
              </a:rPr>
              <a:t>Iridium Collision with Cosmos 2251</a:t>
            </a:r>
          </a:p>
        </p:txBody>
      </p:sp>
      <p:sp>
        <p:nvSpPr>
          <p:cNvPr id="54277" name="Rectangle 5"/>
          <p:cNvSpPr>
            <a:spLocks/>
          </p:cNvSpPr>
          <p:nvPr/>
        </p:nvSpPr>
        <p:spPr bwMode="auto">
          <a:xfrm>
            <a:off x="5781972" y="5581307"/>
            <a:ext cx="1839516" cy="84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ctr"/>
            <a:r>
              <a:rPr lang="en-US" altLang="en-US" sz="1266">
                <a:latin typeface="Arial Bold" panose="020B0704020202020204" pitchFamily="34" charset="0"/>
                <a:cs typeface="Arial Bold" panose="020B0704020202020204" pitchFamily="34" charset="0"/>
                <a:sym typeface="Arial Bold" panose="020B0704020202020204" pitchFamily="34" charset="0"/>
              </a:rPr>
              <a:t>Beware - Outgassing.</a:t>
            </a:r>
            <a:r>
              <a:rPr lang="en-US" altLang="en-US" sz="1266">
                <a:latin typeface="Arial" panose="020B0604020202020204" pitchFamily="34" charset="0"/>
                <a:cs typeface="Arial" panose="020B0604020202020204" pitchFamily="34" charset="0"/>
                <a:sym typeface="Arial" panose="020B0604020202020204" pitchFamily="34" charset="0"/>
              </a:rPr>
              <a:t> Anik F-1 degraded performance due to outgassing</a:t>
            </a:r>
          </a:p>
        </p:txBody>
      </p:sp>
      <p:sp>
        <p:nvSpPr>
          <p:cNvPr id="54278" name="Rectangle 6"/>
          <p:cNvSpPr>
            <a:spLocks/>
          </p:cNvSpPr>
          <p:nvPr/>
        </p:nvSpPr>
        <p:spPr bwMode="auto">
          <a:xfrm>
            <a:off x="7230814" y="3643997"/>
            <a:ext cx="1732359" cy="1035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ctr"/>
            <a:r>
              <a:rPr lang="en-US" altLang="en-US" sz="1266">
                <a:latin typeface="Arial Bold" panose="020B0704020202020204" pitchFamily="34" charset="0"/>
                <a:cs typeface="Arial Bold" panose="020B0704020202020204" pitchFamily="34" charset="0"/>
                <a:sym typeface="Arial Bold" panose="020B0704020202020204" pitchFamily="34" charset="0"/>
              </a:rPr>
              <a:t>Caution - Solar Flare.</a:t>
            </a:r>
            <a:r>
              <a:rPr lang="en-US" altLang="en-US" sz="1266">
                <a:latin typeface="Arial" panose="020B0604020202020204" pitchFamily="34" charset="0"/>
                <a:cs typeface="Arial" panose="020B0604020202020204" pitchFamily="34" charset="0"/>
                <a:sym typeface="Arial" panose="020B0604020202020204" pitchFamily="34" charset="0"/>
              </a:rPr>
              <a:t> Stardust spacecraft was blinded by a solar flare</a:t>
            </a:r>
          </a:p>
        </p:txBody>
      </p:sp>
      <p:pic>
        <p:nvPicPr>
          <p:cNvPr id="54279"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7783" y="3367307"/>
            <a:ext cx="1393031" cy="1741289"/>
          </a:xfrm>
          <a:prstGeom prst="rect">
            <a:avLst/>
          </a:prstGeom>
          <a:noFill/>
          <a:ln>
            <a:noFill/>
          </a:ln>
          <a:effectLst>
            <a:outerShdw blurRad="63500" dist="38099" dir="5400000" algn="ctr" rotWithShape="0">
              <a:srgbClr val="000000">
                <a:alpha val="7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a:solidFill>
                  <a:schemeClr val="tx1"/>
                </a:solidFill>
                <a:miter lim="800000"/>
                <a:headEnd/>
                <a:tailEnd/>
              </a14:hiddenLine>
            </a:ext>
          </a:extLst>
        </p:spPr>
      </p:pic>
      <p:pic>
        <p:nvPicPr>
          <p:cNvPr id="54280"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1488" y="4865262"/>
            <a:ext cx="1285875" cy="1620738"/>
          </a:xfrm>
          <a:prstGeom prst="rect">
            <a:avLst/>
          </a:prstGeom>
          <a:noFill/>
          <a:ln>
            <a:noFill/>
          </a:ln>
          <a:effectLst>
            <a:outerShdw blurRad="63500" dist="38099" dir="5400000" algn="ctr" rotWithShape="0">
              <a:srgbClr val="000000">
                <a:alpha val="7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a:solidFill>
                  <a:schemeClr val="tx1"/>
                </a:solidFill>
                <a:miter lim="800000"/>
                <a:headEnd/>
                <a:tailEnd/>
              </a14:hiddenLine>
            </a:ext>
          </a:extLst>
        </p:spPr>
      </p:pic>
      <p:pic>
        <p:nvPicPr>
          <p:cNvPr id="2" name="Picture 1"/>
          <p:cNvPicPr>
            <a:picLocks noChangeAspect="1"/>
          </p:cNvPicPr>
          <p:nvPr/>
        </p:nvPicPr>
        <p:blipFill>
          <a:blip r:embed="rId5"/>
          <a:stretch>
            <a:fillRect/>
          </a:stretch>
        </p:blipFill>
        <p:spPr>
          <a:xfrm>
            <a:off x="5716514" y="852533"/>
            <a:ext cx="3386791" cy="1905070"/>
          </a:xfrm>
          <a:prstGeom prst="rect">
            <a:avLst/>
          </a:prstGeom>
        </p:spPr>
      </p:pic>
    </p:spTree>
    <p:extLst>
      <p:ext uri="{BB962C8B-B14F-4D97-AF65-F5344CB8AC3E}">
        <p14:creationId xmlns:p14="http://schemas.microsoft.com/office/powerpoint/2010/main" val="408658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274">
                                            <p:txEl>
                                              <p:pRg st="4" end="4"/>
                                            </p:txEl>
                                          </p:spTgt>
                                        </p:tgtEl>
                                        <p:attrNameLst>
                                          <p:attrName>style.visibility</p:attrName>
                                        </p:attrNameLst>
                                      </p:cBhvr>
                                      <p:to>
                                        <p:strVal val="visible"/>
                                      </p:to>
                                    </p:set>
                                    <p:animEffect transition="in" filter="fade">
                                      <p:cBhvr>
                                        <p:cTn id="7" dur="500"/>
                                        <p:tgtEl>
                                          <p:spTgt spid="5427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274">
                                            <p:txEl>
                                              <p:pRg st="5" end="5"/>
                                            </p:txEl>
                                          </p:spTgt>
                                        </p:tgtEl>
                                        <p:attrNameLst>
                                          <p:attrName>style.visibility</p:attrName>
                                        </p:attrNameLst>
                                      </p:cBhvr>
                                      <p:to>
                                        <p:strVal val="visible"/>
                                      </p:to>
                                    </p:set>
                                    <p:animEffect transition="in" filter="fade">
                                      <p:cBhvr>
                                        <p:cTn id="12" dur="500"/>
                                        <p:tgtEl>
                                          <p:spTgt spid="54274">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274">
                                            <p:txEl>
                                              <p:pRg st="6" end="6"/>
                                            </p:txEl>
                                          </p:spTgt>
                                        </p:tgtEl>
                                        <p:attrNameLst>
                                          <p:attrName>style.visibility</p:attrName>
                                        </p:attrNameLst>
                                      </p:cBhvr>
                                      <p:to>
                                        <p:strVal val="visible"/>
                                      </p:to>
                                    </p:set>
                                    <p:animEffect transition="in" filter="fade">
                                      <p:cBhvr>
                                        <p:cTn id="17" dur="500"/>
                                        <p:tgtEl>
                                          <p:spTgt spid="5427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274">
                                            <p:txEl>
                                              <p:pRg st="7" end="7"/>
                                            </p:txEl>
                                          </p:spTgt>
                                        </p:tgtEl>
                                        <p:attrNameLst>
                                          <p:attrName>style.visibility</p:attrName>
                                        </p:attrNameLst>
                                      </p:cBhvr>
                                      <p:to>
                                        <p:strVal val="visible"/>
                                      </p:to>
                                    </p:set>
                                    <p:animEffect transition="in" filter="fade">
                                      <p:cBhvr>
                                        <p:cTn id="22" dur="500"/>
                                        <p:tgtEl>
                                          <p:spTgt spid="54274">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274">
                                            <p:txEl>
                                              <p:pRg st="8" end="8"/>
                                            </p:txEl>
                                          </p:spTgt>
                                        </p:tgtEl>
                                        <p:attrNameLst>
                                          <p:attrName>style.visibility</p:attrName>
                                        </p:attrNameLst>
                                      </p:cBhvr>
                                      <p:to>
                                        <p:strVal val="visible"/>
                                      </p:to>
                                    </p:set>
                                    <p:animEffect transition="in" filter="fade">
                                      <p:cBhvr>
                                        <p:cTn id="27" dur="500"/>
                                        <p:tgtEl>
                                          <p:spTgt spid="5427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4274">
                                            <p:txEl>
                                              <p:pRg st="9" end="9"/>
                                            </p:txEl>
                                          </p:spTgt>
                                        </p:tgtEl>
                                        <p:attrNameLst>
                                          <p:attrName>style.visibility</p:attrName>
                                        </p:attrNameLst>
                                      </p:cBhvr>
                                      <p:to>
                                        <p:strVal val="visible"/>
                                      </p:to>
                                    </p:set>
                                    <p:animEffect transition="in" filter="fade">
                                      <p:cBhvr>
                                        <p:cTn id="32" dur="500"/>
                                        <p:tgtEl>
                                          <p:spTgt spid="542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Terms</a:t>
            </a:r>
          </a:p>
        </p:txBody>
      </p:sp>
      <p:sp>
        <p:nvSpPr>
          <p:cNvPr id="3" name="Content Placeholder 2"/>
          <p:cNvSpPr>
            <a:spLocks noGrp="1"/>
          </p:cNvSpPr>
          <p:nvPr>
            <p:ph idx="1"/>
          </p:nvPr>
        </p:nvSpPr>
        <p:spPr>
          <a:xfrm>
            <a:off x="383059" y="3835962"/>
            <a:ext cx="8222547" cy="2112286"/>
          </a:xfrm>
        </p:spPr>
        <p:txBody>
          <a:bodyPr>
            <a:normAutofit lnSpcReduction="10000"/>
          </a:bodyPr>
          <a:lstStyle/>
          <a:p>
            <a:pPr marL="0" indent="0">
              <a:buNone/>
            </a:pPr>
            <a:r>
              <a:rPr lang="en-US" b="1"/>
              <a:t>Hardening</a:t>
            </a:r>
          </a:p>
          <a:p>
            <a:pPr marL="0" indent="0">
              <a:buNone/>
            </a:pPr>
            <a:r>
              <a:rPr lang="en-US"/>
              <a:t>Design choice when building a space system to mitigate the negative impacts of the space environment or potential hostile action                (</a:t>
            </a:r>
            <a:r>
              <a:rPr lang="en-US" err="1"/>
              <a:t>eg</a:t>
            </a:r>
            <a:r>
              <a:rPr lang="en-US"/>
              <a:t>: shielding, filtering, </a:t>
            </a:r>
            <a:r>
              <a:rPr lang="en-US" err="1"/>
              <a:t>etc</a:t>
            </a:r>
            <a:r>
              <a:rPr lang="en-US"/>
              <a:t>)</a:t>
            </a:r>
          </a:p>
        </p:txBody>
      </p:sp>
      <p:sp>
        <p:nvSpPr>
          <p:cNvPr id="4" name="Slide Number Placeholder 3"/>
          <p:cNvSpPr>
            <a:spLocks noGrp="1"/>
          </p:cNvSpPr>
          <p:nvPr>
            <p:ph type="sldNum" sz="quarter" idx="12"/>
          </p:nvPr>
        </p:nvSpPr>
        <p:spPr/>
        <p:txBody>
          <a:bodyPr/>
          <a:lstStyle/>
          <a:p>
            <a:fld id="{04EF813A-C95A-49A4-BB2C-19388EC38802}" type="slidenum">
              <a:rPr lang="en-US" smtClean="0"/>
              <a:t>4</a:t>
            </a:fld>
            <a:endParaRPr lang="en-US"/>
          </a:p>
        </p:txBody>
      </p:sp>
      <p:sp>
        <p:nvSpPr>
          <p:cNvPr id="5" name="Title 1"/>
          <p:cNvSpPr txBox="1">
            <a:spLocks/>
          </p:cNvSpPr>
          <p:nvPr/>
        </p:nvSpPr>
        <p:spPr>
          <a:xfrm>
            <a:off x="718906" y="3366408"/>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Times New Roman" panose="02020603050405020304" pitchFamily="18" charset="0"/>
              </a:defRPr>
            </a:lvl1pPr>
          </a:lstStyle>
          <a:p>
            <a:endParaRPr lang="en-US"/>
          </a:p>
        </p:txBody>
      </p:sp>
      <p:sp>
        <p:nvSpPr>
          <p:cNvPr id="6" name="Content Placeholder 2"/>
          <p:cNvSpPr txBox="1">
            <a:spLocks/>
          </p:cNvSpPr>
          <p:nvPr/>
        </p:nvSpPr>
        <p:spPr>
          <a:xfrm>
            <a:off x="383059" y="1372972"/>
            <a:ext cx="7886700" cy="1405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latin typeface="Segoe UI" panose="020B0502040204020203" pitchFamily="34" charset="0"/>
                <a:cs typeface="Segoe UI" panose="020B0502040204020203" pitchFamily="34" charset="0"/>
              </a:rPr>
              <a:t>Survivability</a:t>
            </a:r>
          </a:p>
          <a:p>
            <a:pPr marL="0" indent="0">
              <a:buNone/>
            </a:pPr>
            <a:r>
              <a:rPr lang="en-US">
                <a:latin typeface="Segoe UI" panose="020B0502040204020203" pitchFamily="34" charset="0"/>
                <a:cs typeface="Segoe UI" panose="020B0502040204020203" pitchFamily="34" charset="0"/>
              </a:rPr>
              <a:t>Ability of space system to perform its mission after being exposed to a stressing environment or hostile action</a:t>
            </a:r>
          </a:p>
        </p:txBody>
      </p:sp>
    </p:spTree>
    <p:extLst>
      <p:ext uri="{BB962C8B-B14F-4D97-AF65-F5344CB8AC3E}">
        <p14:creationId xmlns:p14="http://schemas.microsoft.com/office/powerpoint/2010/main" val="125079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Space Environmental Influences</a:t>
            </a:r>
          </a:p>
        </p:txBody>
      </p:sp>
      <p:sp>
        <p:nvSpPr>
          <p:cNvPr id="3" name="Content Placeholder 2"/>
          <p:cNvSpPr>
            <a:spLocks noGrp="1"/>
          </p:cNvSpPr>
          <p:nvPr>
            <p:ph idx="1"/>
          </p:nvPr>
        </p:nvSpPr>
        <p:spPr>
          <a:xfrm>
            <a:off x="200025" y="1124465"/>
            <a:ext cx="8793015" cy="5340642"/>
          </a:xfrm>
        </p:spPr>
        <p:txBody>
          <a:bodyPr>
            <a:normAutofit lnSpcReduction="10000"/>
          </a:bodyPr>
          <a:lstStyle/>
          <a:p>
            <a:pPr marL="0" indent="0">
              <a:buNone/>
            </a:pPr>
            <a:r>
              <a:rPr lang="en-US" b="1">
                <a:solidFill>
                  <a:srgbClr val="00B050"/>
                </a:solidFill>
              </a:rPr>
              <a:t>Microgravity</a:t>
            </a:r>
          </a:p>
          <a:p>
            <a:pPr marL="0" indent="0">
              <a:buNone/>
            </a:pPr>
            <a:endParaRPr lang="en-US" b="1"/>
          </a:p>
          <a:p>
            <a:pPr marL="0" indent="0">
              <a:buNone/>
            </a:pPr>
            <a:r>
              <a:rPr lang="en-US" b="1">
                <a:solidFill>
                  <a:srgbClr val="FF0000"/>
                </a:solidFill>
              </a:rPr>
              <a:t>Vacuum</a:t>
            </a:r>
          </a:p>
          <a:p>
            <a:pPr marL="0" indent="0">
              <a:buNone/>
            </a:pPr>
            <a:endParaRPr lang="en-US" b="1"/>
          </a:p>
          <a:p>
            <a:pPr marL="0" indent="0">
              <a:buNone/>
            </a:pPr>
            <a:r>
              <a:rPr lang="en-US" b="1">
                <a:solidFill>
                  <a:srgbClr val="00B0F0"/>
                </a:solidFill>
              </a:rPr>
              <a:t>Atmosphere</a:t>
            </a:r>
          </a:p>
          <a:p>
            <a:pPr marL="0" indent="0">
              <a:buNone/>
            </a:pPr>
            <a:endParaRPr lang="en-US" b="1"/>
          </a:p>
          <a:p>
            <a:pPr marL="0" indent="0">
              <a:buNone/>
            </a:pPr>
            <a:r>
              <a:rPr lang="en-US" b="1">
                <a:solidFill>
                  <a:srgbClr val="7030A0"/>
                </a:solidFill>
              </a:rPr>
              <a:t>Plasma</a:t>
            </a:r>
          </a:p>
          <a:p>
            <a:pPr marL="0" indent="0">
              <a:buNone/>
            </a:pPr>
            <a:endParaRPr lang="en-US" b="1"/>
          </a:p>
          <a:p>
            <a:pPr marL="0" indent="0">
              <a:buNone/>
            </a:pPr>
            <a:r>
              <a:rPr lang="en-US" b="1">
                <a:solidFill>
                  <a:schemeClr val="accent1"/>
                </a:solidFill>
              </a:rPr>
              <a:t>Radiation</a:t>
            </a:r>
          </a:p>
          <a:p>
            <a:pPr marL="0" indent="0">
              <a:buNone/>
            </a:pPr>
            <a:endParaRPr lang="en-US" b="1"/>
          </a:p>
          <a:p>
            <a:pPr marL="0" indent="0">
              <a:buNone/>
            </a:pPr>
            <a:r>
              <a:rPr lang="en-US" b="1" err="1">
                <a:solidFill>
                  <a:schemeClr val="accent2">
                    <a:lumMod val="75000"/>
                  </a:schemeClr>
                </a:solidFill>
              </a:rPr>
              <a:t>Micrometeroids</a:t>
            </a:r>
            <a:r>
              <a:rPr lang="en-US" b="1">
                <a:solidFill>
                  <a:schemeClr val="accent2">
                    <a:lumMod val="75000"/>
                  </a:schemeClr>
                </a:solidFill>
              </a:rPr>
              <a:t> &amp; Orbital Debris</a:t>
            </a:r>
          </a:p>
        </p:txBody>
      </p:sp>
      <p:sp>
        <p:nvSpPr>
          <p:cNvPr id="4" name="Slide Number Placeholder 3"/>
          <p:cNvSpPr>
            <a:spLocks noGrp="1"/>
          </p:cNvSpPr>
          <p:nvPr>
            <p:ph type="sldNum" sz="quarter" idx="12"/>
          </p:nvPr>
        </p:nvSpPr>
        <p:spPr/>
        <p:txBody>
          <a:bodyPr/>
          <a:lstStyle/>
          <a:p>
            <a:fld id="{04EF813A-C95A-49A4-BB2C-19388EC38802}" type="slidenum">
              <a:rPr lang="en-US" smtClean="0"/>
              <a:t>5</a:t>
            </a:fld>
            <a:endParaRPr lang="en-US"/>
          </a:p>
        </p:txBody>
      </p:sp>
    </p:spTree>
    <p:extLst>
      <p:ext uri="{BB962C8B-B14F-4D97-AF65-F5344CB8AC3E}">
        <p14:creationId xmlns:p14="http://schemas.microsoft.com/office/powerpoint/2010/main" val="426175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500"/>
                                        <p:tgtEl>
                                          <p:spTgt spid="3">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fade">
                                      <p:cBhvr>
                                        <p:cTn id="2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0E0C9F-289D-BE77-3DC0-C717D25CB4F7}"/>
              </a:ext>
            </a:extLst>
          </p:cNvPr>
          <p:cNvSpPr>
            <a:spLocks noGrp="1"/>
          </p:cNvSpPr>
          <p:nvPr>
            <p:ph type="title"/>
          </p:nvPr>
        </p:nvSpPr>
        <p:spPr/>
        <p:txBody>
          <a:bodyPr/>
          <a:lstStyle/>
          <a:p>
            <a:r>
              <a:rPr lang="en-US">
                <a:solidFill>
                  <a:srgbClr val="00B050"/>
                </a:solidFill>
              </a:rPr>
              <a:t>Microgravity</a:t>
            </a:r>
          </a:p>
        </p:txBody>
      </p:sp>
      <p:sp>
        <p:nvSpPr>
          <p:cNvPr id="4" name="Slide Number Placeholder 3">
            <a:extLst>
              <a:ext uri="{FF2B5EF4-FFF2-40B4-BE49-F238E27FC236}">
                <a16:creationId xmlns:a16="http://schemas.microsoft.com/office/drawing/2014/main" id="{9ABE7511-62EC-1627-8925-A776C0292747}"/>
              </a:ext>
            </a:extLst>
          </p:cNvPr>
          <p:cNvSpPr>
            <a:spLocks noGrp="1"/>
          </p:cNvSpPr>
          <p:nvPr>
            <p:ph type="sldNum" sz="quarter" idx="12"/>
          </p:nvPr>
        </p:nvSpPr>
        <p:spPr/>
        <p:txBody>
          <a:bodyPr/>
          <a:lstStyle/>
          <a:p>
            <a:fld id="{9A3029B7-FE6B-4680-9049-80E8298A0825}" type="slidenum">
              <a:rPr lang="en-US" smtClean="0"/>
              <a:t>6</a:t>
            </a:fld>
            <a:endParaRPr lang="en-US"/>
          </a:p>
        </p:txBody>
      </p:sp>
    </p:spTree>
    <p:extLst>
      <p:ext uri="{BB962C8B-B14F-4D97-AF65-F5344CB8AC3E}">
        <p14:creationId xmlns:p14="http://schemas.microsoft.com/office/powerpoint/2010/main" val="1051184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B050"/>
                </a:solidFill>
              </a:rPr>
              <a:t>Microgravity</a:t>
            </a:r>
          </a:p>
        </p:txBody>
      </p:sp>
      <p:sp>
        <p:nvSpPr>
          <p:cNvPr id="3" name="Content Placeholder 2"/>
          <p:cNvSpPr>
            <a:spLocks noGrp="1"/>
          </p:cNvSpPr>
          <p:nvPr>
            <p:ph idx="1"/>
          </p:nvPr>
        </p:nvSpPr>
        <p:spPr>
          <a:xfrm>
            <a:off x="160664" y="1019707"/>
            <a:ext cx="5423707" cy="5445399"/>
          </a:xfrm>
        </p:spPr>
        <p:txBody>
          <a:bodyPr>
            <a:normAutofit lnSpcReduction="10000"/>
          </a:bodyPr>
          <a:lstStyle/>
          <a:p>
            <a:pPr marL="0" indent="0">
              <a:buNone/>
            </a:pPr>
            <a:r>
              <a:rPr lang="en-US" sz="1800" b="1">
                <a:solidFill>
                  <a:srgbClr val="00B050"/>
                </a:solidFill>
              </a:rPr>
              <a:t>Source</a:t>
            </a:r>
            <a:endParaRPr lang="en-US" sz="1800">
              <a:solidFill>
                <a:srgbClr val="00B050"/>
              </a:solidFill>
            </a:endParaRPr>
          </a:p>
          <a:p>
            <a:pPr marL="0" indent="0">
              <a:buNone/>
            </a:pPr>
            <a:r>
              <a:rPr lang="en-US" sz="1800">
                <a:solidFill>
                  <a:srgbClr val="00B050"/>
                </a:solidFill>
              </a:rPr>
              <a:t>Spacecraft is in free fall, where it is continuously falling through space where the forward velocity of the spacecraft is enough to match the velocity that would pull the spacecraft back toward the Earth’s surface</a:t>
            </a:r>
          </a:p>
          <a:p>
            <a:pPr lvl="1"/>
            <a:endParaRPr lang="en-US" sz="1800">
              <a:solidFill>
                <a:srgbClr val="00B050"/>
              </a:solidFill>
            </a:endParaRPr>
          </a:p>
          <a:p>
            <a:pPr marL="0" indent="0">
              <a:buNone/>
            </a:pPr>
            <a:r>
              <a:rPr lang="en-US" sz="1800" b="1">
                <a:solidFill>
                  <a:srgbClr val="00B050"/>
                </a:solidFill>
              </a:rPr>
              <a:t>Effects on spacecraft</a:t>
            </a:r>
          </a:p>
          <a:p>
            <a:r>
              <a:rPr lang="en-US" sz="1800">
                <a:solidFill>
                  <a:srgbClr val="00B050"/>
                </a:solidFill>
              </a:rPr>
              <a:t>Fluid containment is a challenge</a:t>
            </a:r>
          </a:p>
          <a:p>
            <a:r>
              <a:rPr lang="en-US" sz="1800">
                <a:solidFill>
                  <a:srgbClr val="00B050"/>
                </a:solidFill>
              </a:rPr>
              <a:t>All articles must be secured</a:t>
            </a:r>
          </a:p>
          <a:p>
            <a:r>
              <a:rPr lang="en-US" sz="1800">
                <a:solidFill>
                  <a:srgbClr val="00B050"/>
                </a:solidFill>
              </a:rPr>
              <a:t>Allows uniform mixing of solutions</a:t>
            </a:r>
          </a:p>
          <a:p>
            <a:r>
              <a:rPr lang="en-US" sz="1800">
                <a:solidFill>
                  <a:srgbClr val="00B050"/>
                </a:solidFill>
              </a:rPr>
              <a:t>Allows opportunity for new manufacturing techniques</a:t>
            </a:r>
          </a:p>
          <a:p>
            <a:pPr lvl="1"/>
            <a:endParaRPr lang="en-US" sz="1800">
              <a:solidFill>
                <a:srgbClr val="00B050"/>
              </a:solidFill>
            </a:endParaRPr>
          </a:p>
          <a:p>
            <a:pPr marL="0" indent="0">
              <a:buNone/>
            </a:pPr>
            <a:r>
              <a:rPr lang="en-US" sz="1800" b="1">
                <a:solidFill>
                  <a:srgbClr val="00B050"/>
                </a:solidFill>
              </a:rPr>
              <a:t>Strategies to mitigate effects</a:t>
            </a:r>
          </a:p>
          <a:p>
            <a:r>
              <a:rPr lang="en-US" sz="1800">
                <a:solidFill>
                  <a:srgbClr val="00B050"/>
                </a:solidFill>
              </a:rPr>
              <a:t>Pressurize liquids/gases in containers</a:t>
            </a:r>
          </a:p>
          <a:p>
            <a:r>
              <a:rPr lang="en-US" sz="1800">
                <a:solidFill>
                  <a:srgbClr val="00B050"/>
                </a:solidFill>
              </a:rPr>
              <a:t>Secure all components</a:t>
            </a:r>
          </a:p>
        </p:txBody>
      </p:sp>
      <p:sp>
        <p:nvSpPr>
          <p:cNvPr id="4" name="Slide Number Placeholder 3"/>
          <p:cNvSpPr>
            <a:spLocks noGrp="1"/>
          </p:cNvSpPr>
          <p:nvPr>
            <p:ph type="sldNum" sz="quarter" idx="12"/>
          </p:nvPr>
        </p:nvSpPr>
        <p:spPr/>
        <p:txBody>
          <a:bodyPr/>
          <a:lstStyle/>
          <a:p>
            <a:fld id="{04EF813A-C95A-49A4-BB2C-19388EC38802}" type="slidenum">
              <a:rPr lang="en-US" smtClean="0"/>
              <a:t>7</a:t>
            </a:fld>
            <a:endParaRPr lang="en-US"/>
          </a:p>
        </p:txBody>
      </p:sp>
      <p:pic>
        <p:nvPicPr>
          <p:cNvPr id="7" name="Picture 6">
            <a:extLst>
              <a:ext uri="{FF2B5EF4-FFF2-40B4-BE49-F238E27FC236}">
                <a16:creationId xmlns:a16="http://schemas.microsoft.com/office/drawing/2014/main" id="{B3DED40E-79DC-9AA7-5B30-9953312C34C3}"/>
              </a:ext>
            </a:extLst>
          </p:cNvPr>
          <p:cNvPicPr>
            <a:picLocks noChangeAspect="1"/>
          </p:cNvPicPr>
          <p:nvPr/>
        </p:nvPicPr>
        <p:blipFill>
          <a:blip r:embed="rId3"/>
          <a:stretch>
            <a:fillRect/>
          </a:stretch>
        </p:blipFill>
        <p:spPr>
          <a:xfrm>
            <a:off x="5208924" y="2564532"/>
            <a:ext cx="3662623" cy="2362565"/>
          </a:xfrm>
          <a:prstGeom prst="rect">
            <a:avLst/>
          </a:prstGeom>
        </p:spPr>
      </p:pic>
    </p:spTree>
    <p:extLst>
      <p:ext uri="{BB962C8B-B14F-4D97-AF65-F5344CB8AC3E}">
        <p14:creationId xmlns:p14="http://schemas.microsoft.com/office/powerpoint/2010/main" val="3301423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1" end="11"/>
                                            </p:txEl>
                                          </p:spTgt>
                                        </p:tgtEl>
                                        <p:attrNameLst>
                                          <p:attrName>style.visibility</p:attrName>
                                        </p:attrNameLst>
                                      </p:cBhvr>
                                      <p:to>
                                        <p:strVal val="visible"/>
                                      </p:to>
                                    </p:set>
                                    <p:animEffect transition="in" filter="fade">
                                      <p:cBhvr>
                                        <p:cTn id="30" dur="500"/>
                                        <p:tgtEl>
                                          <p:spTgt spid="3">
                                            <p:txEl>
                                              <p:pRg st="11" end="1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91B4C3-CE3D-660C-9408-2069541D1634}"/>
              </a:ext>
            </a:extLst>
          </p:cNvPr>
          <p:cNvSpPr/>
          <p:nvPr/>
        </p:nvSpPr>
        <p:spPr>
          <a:xfrm>
            <a:off x="0" y="0"/>
            <a:ext cx="9144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F5B6FA-ED86-9C7C-D38B-243D80C49019}"/>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1EB850AA-976F-BA00-62FA-A08F383042E7}"/>
              </a:ext>
            </a:extLst>
          </p:cNvPr>
          <p:cNvSpPr>
            <a:spLocks noGrp="1"/>
          </p:cNvSpPr>
          <p:nvPr>
            <p:ph type="sldNum" sz="quarter" idx="12"/>
          </p:nvPr>
        </p:nvSpPr>
        <p:spPr/>
        <p:txBody>
          <a:bodyPr/>
          <a:lstStyle/>
          <a:p>
            <a:fld id="{9A3029B7-FE6B-4680-9049-80E8298A0825}" type="slidenum">
              <a:rPr lang="en-US" smtClean="0"/>
              <a:t>8</a:t>
            </a:fld>
            <a:endParaRPr lang="en-US"/>
          </a:p>
        </p:txBody>
      </p:sp>
      <p:pic>
        <p:nvPicPr>
          <p:cNvPr id="2050" name="Picture 2" descr="Flames in Space Image Poll: Two Candle Flames | Research Communities by  Springer Nature">
            <a:extLst>
              <a:ext uri="{FF2B5EF4-FFF2-40B4-BE49-F238E27FC236}">
                <a16:creationId xmlns:a16="http://schemas.microsoft.com/office/drawing/2014/main" id="{469E68A0-8D73-C11C-EEBF-2F96AB396C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0"/>
            <a:ext cx="8572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675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CCA43-939D-B6F2-1532-2E074721CC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E51EBC-690A-73EF-93D8-F01D8016B829}"/>
              </a:ext>
            </a:extLst>
          </p:cNvPr>
          <p:cNvSpPr>
            <a:spLocks noGrp="1"/>
          </p:cNvSpPr>
          <p:nvPr>
            <p:ph type="title"/>
          </p:nvPr>
        </p:nvSpPr>
        <p:spPr/>
        <p:txBody>
          <a:bodyPr/>
          <a:lstStyle/>
          <a:p>
            <a:r>
              <a:rPr lang="en-US">
                <a:solidFill>
                  <a:srgbClr val="FF0000"/>
                </a:solidFill>
              </a:rPr>
              <a:t>Vacuum</a:t>
            </a:r>
            <a:r>
              <a:rPr lang="en-US">
                <a:solidFill>
                  <a:srgbClr val="00B050"/>
                </a:solidFill>
              </a:rPr>
              <a:t> </a:t>
            </a:r>
          </a:p>
        </p:txBody>
      </p:sp>
      <p:sp>
        <p:nvSpPr>
          <p:cNvPr id="4" name="Slide Number Placeholder 3">
            <a:extLst>
              <a:ext uri="{FF2B5EF4-FFF2-40B4-BE49-F238E27FC236}">
                <a16:creationId xmlns:a16="http://schemas.microsoft.com/office/drawing/2014/main" id="{A095AABD-090B-A23F-FE9E-C6167A4A89D1}"/>
              </a:ext>
            </a:extLst>
          </p:cNvPr>
          <p:cNvSpPr>
            <a:spLocks noGrp="1"/>
          </p:cNvSpPr>
          <p:nvPr>
            <p:ph type="sldNum" sz="quarter" idx="12"/>
          </p:nvPr>
        </p:nvSpPr>
        <p:spPr/>
        <p:txBody>
          <a:bodyPr/>
          <a:lstStyle/>
          <a:p>
            <a:fld id="{9A3029B7-FE6B-4680-9049-80E8298A0825}" type="slidenum">
              <a:rPr lang="en-US" smtClean="0"/>
              <a:t>9</a:t>
            </a:fld>
            <a:endParaRPr lang="en-US"/>
          </a:p>
        </p:txBody>
      </p:sp>
    </p:spTree>
    <p:extLst>
      <p:ext uri="{BB962C8B-B14F-4D97-AF65-F5344CB8AC3E}">
        <p14:creationId xmlns:p14="http://schemas.microsoft.com/office/powerpoint/2010/main" val="4083658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a:solidFill>
                  <a:srgbClr val="FF0000"/>
                </a:solidFill>
              </a:rPr>
              <a:t>Vacuum</a:t>
            </a:r>
          </a:p>
        </p:txBody>
      </p:sp>
      <p:sp>
        <p:nvSpPr>
          <p:cNvPr id="3" name="Content Placeholder 2"/>
          <p:cNvSpPr>
            <a:spLocks noGrp="1"/>
          </p:cNvSpPr>
          <p:nvPr>
            <p:ph idx="1"/>
          </p:nvPr>
        </p:nvSpPr>
        <p:spPr>
          <a:xfrm>
            <a:off x="143218" y="1112704"/>
            <a:ext cx="5443543" cy="5612109"/>
          </a:xfrm>
        </p:spPr>
        <p:txBody>
          <a:bodyPr>
            <a:noAutofit/>
          </a:bodyPr>
          <a:lstStyle/>
          <a:p>
            <a:pPr marL="0" indent="0">
              <a:buNone/>
            </a:pPr>
            <a:r>
              <a:rPr lang="en-US" sz="2000" b="1">
                <a:solidFill>
                  <a:srgbClr val="FF0000"/>
                </a:solidFill>
              </a:rPr>
              <a:t>Source</a:t>
            </a:r>
            <a:r>
              <a:rPr lang="en-US" sz="2000">
                <a:solidFill>
                  <a:srgbClr val="FF0000"/>
                </a:solidFill>
              </a:rPr>
              <a:t>: </a:t>
            </a:r>
          </a:p>
          <a:p>
            <a:pPr marL="0" indent="0">
              <a:buNone/>
            </a:pPr>
            <a:r>
              <a:rPr lang="en-US" sz="2000">
                <a:solidFill>
                  <a:srgbClr val="FF0000"/>
                </a:solidFill>
              </a:rPr>
              <a:t>No air in space</a:t>
            </a:r>
          </a:p>
          <a:p>
            <a:pPr marL="0" indent="0">
              <a:buNone/>
            </a:pPr>
            <a:r>
              <a:rPr lang="en-US" sz="2000" b="1">
                <a:solidFill>
                  <a:srgbClr val="FF0000"/>
                </a:solidFill>
              </a:rPr>
              <a:t>Effects on spacecraft</a:t>
            </a:r>
            <a:r>
              <a:rPr lang="en-US" sz="2000">
                <a:solidFill>
                  <a:srgbClr val="FF0000"/>
                </a:solidFill>
              </a:rPr>
              <a:t>:</a:t>
            </a:r>
          </a:p>
          <a:p>
            <a:r>
              <a:rPr lang="en-US" sz="2000">
                <a:solidFill>
                  <a:srgbClr val="FF0000"/>
                </a:solidFill>
              </a:rPr>
              <a:t>Outgassing: spurious release of molecules that contaminate surfaces</a:t>
            </a:r>
          </a:p>
          <a:p>
            <a:r>
              <a:rPr lang="en-US" sz="2000">
                <a:solidFill>
                  <a:srgbClr val="FF0000"/>
                </a:solidFill>
              </a:rPr>
              <a:t>Cold welding: unintended material bonding when the atmosphere between surfaces is absent</a:t>
            </a:r>
          </a:p>
          <a:p>
            <a:pPr marL="0" indent="0">
              <a:buNone/>
            </a:pPr>
            <a:r>
              <a:rPr lang="en-US" sz="2000" b="1">
                <a:solidFill>
                  <a:srgbClr val="FF0000"/>
                </a:solidFill>
              </a:rPr>
              <a:t>Strategies to mitigate effects</a:t>
            </a:r>
            <a:r>
              <a:rPr lang="en-US" sz="2000">
                <a:solidFill>
                  <a:srgbClr val="FF0000"/>
                </a:solidFill>
              </a:rPr>
              <a:t>:</a:t>
            </a:r>
          </a:p>
          <a:p>
            <a:r>
              <a:rPr lang="en-US" sz="2000">
                <a:solidFill>
                  <a:srgbClr val="FF0000"/>
                </a:solidFill>
              </a:rPr>
              <a:t>Use coatings that protect against UV radiation and do not outgas</a:t>
            </a:r>
          </a:p>
          <a:p>
            <a:r>
              <a:rPr lang="en-US" sz="2000">
                <a:solidFill>
                  <a:srgbClr val="FF0000"/>
                </a:solidFill>
              </a:rPr>
              <a:t>Vent propellant/gas away from sensitive surfaces</a:t>
            </a:r>
          </a:p>
          <a:p>
            <a:r>
              <a:rPr lang="en-US" sz="2000">
                <a:solidFill>
                  <a:srgbClr val="FF0000"/>
                </a:solidFill>
              </a:rPr>
              <a:t>Don’t put metal objects that are vulnerable to cold welding near each other</a:t>
            </a:r>
          </a:p>
          <a:p>
            <a:r>
              <a:rPr lang="en-US" sz="2000">
                <a:solidFill>
                  <a:srgbClr val="FF0000"/>
                </a:solidFill>
              </a:rPr>
              <a:t>Vacuum bake-out on ground</a:t>
            </a:r>
          </a:p>
          <a:p>
            <a:endParaRPr lang="en-US" sz="2000">
              <a:solidFill>
                <a:srgbClr val="FF000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10</a:t>
            </a:fld>
            <a:endParaRPr lang="en-US"/>
          </a:p>
        </p:txBody>
      </p:sp>
      <p:pic>
        <p:nvPicPr>
          <p:cNvPr id="6" name="Picture 5">
            <a:extLst>
              <a:ext uri="{FF2B5EF4-FFF2-40B4-BE49-F238E27FC236}">
                <a16:creationId xmlns:a16="http://schemas.microsoft.com/office/drawing/2014/main" id="{DFCE066F-154C-F708-036B-B54DEDB24EAA}"/>
              </a:ext>
            </a:extLst>
          </p:cNvPr>
          <p:cNvPicPr>
            <a:picLocks noChangeAspect="1"/>
          </p:cNvPicPr>
          <p:nvPr/>
        </p:nvPicPr>
        <p:blipFill>
          <a:blip r:embed="rId2"/>
          <a:stretch>
            <a:fillRect/>
          </a:stretch>
        </p:blipFill>
        <p:spPr>
          <a:xfrm>
            <a:off x="5696808" y="4168208"/>
            <a:ext cx="3226455" cy="1738157"/>
          </a:xfrm>
          <a:prstGeom prst="rect">
            <a:avLst/>
          </a:prstGeom>
        </p:spPr>
      </p:pic>
      <p:pic>
        <p:nvPicPr>
          <p:cNvPr id="4100" name="Picture 4" descr="How Outgassing in Materials is Tested: Key Parameters and Procedures |  CAPLINQ BLOG">
            <a:extLst>
              <a:ext uri="{FF2B5EF4-FFF2-40B4-BE49-F238E27FC236}">
                <a16:creationId xmlns:a16="http://schemas.microsoft.com/office/drawing/2014/main" id="{BC158A21-2F4C-65FD-1B9E-564A1EA003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4394" y="1131900"/>
            <a:ext cx="3586388" cy="2689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81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A1703F-A846-E330-46DB-2286035DD376}"/>
              </a:ext>
            </a:extLst>
          </p:cNvPr>
          <p:cNvSpPr/>
          <p:nvPr/>
        </p:nvSpPr>
        <p:spPr>
          <a:xfrm>
            <a:off x="0" y="0"/>
            <a:ext cx="9144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CBE99-AF95-A7F6-9C99-D2367C6FACA0}"/>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5596A9BD-A107-53F7-3206-60C270EC2ED1}"/>
              </a:ext>
            </a:extLst>
          </p:cNvPr>
          <p:cNvSpPr>
            <a:spLocks noGrp="1"/>
          </p:cNvSpPr>
          <p:nvPr>
            <p:ph type="sldNum" sz="quarter" idx="12"/>
          </p:nvPr>
        </p:nvSpPr>
        <p:spPr/>
        <p:txBody>
          <a:bodyPr/>
          <a:lstStyle/>
          <a:p>
            <a:fld id="{9A3029B7-FE6B-4680-9049-80E8298A0825}" type="slidenum">
              <a:rPr lang="en-US" smtClean="0"/>
              <a:t>11</a:t>
            </a:fld>
            <a:endParaRPr lang="en-US"/>
          </a:p>
        </p:txBody>
      </p:sp>
      <p:pic>
        <p:nvPicPr>
          <p:cNvPr id="3074" name="Picture 2" descr="undefined">
            <a:extLst>
              <a:ext uri="{FF2B5EF4-FFF2-40B4-BE49-F238E27FC236}">
                <a16:creationId xmlns:a16="http://schemas.microsoft.com/office/drawing/2014/main" id="{3B3E69A0-2CA9-23D2-A6AD-635C1287B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88" y="0"/>
            <a:ext cx="85312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292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4A98E-E707-A76C-A39C-477F21CB2F3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FEF2F40-8EDB-CDFF-3D99-4E1DE1C36245}"/>
              </a:ext>
            </a:extLst>
          </p:cNvPr>
          <p:cNvSpPr>
            <a:spLocks noGrp="1"/>
          </p:cNvSpPr>
          <p:nvPr>
            <p:ph type="title"/>
          </p:nvPr>
        </p:nvSpPr>
        <p:spPr/>
        <p:txBody>
          <a:bodyPr/>
          <a:lstStyle/>
          <a:p>
            <a:r>
              <a:rPr lang="en-US">
                <a:solidFill>
                  <a:srgbClr val="00B0F0"/>
                </a:solidFill>
              </a:rPr>
              <a:t>Atmosphere</a:t>
            </a:r>
            <a:r>
              <a:rPr lang="en-US">
                <a:solidFill>
                  <a:srgbClr val="00B050"/>
                </a:solidFill>
              </a:rPr>
              <a:t> </a:t>
            </a:r>
          </a:p>
        </p:txBody>
      </p:sp>
      <p:sp>
        <p:nvSpPr>
          <p:cNvPr id="4" name="Slide Number Placeholder 3">
            <a:extLst>
              <a:ext uri="{FF2B5EF4-FFF2-40B4-BE49-F238E27FC236}">
                <a16:creationId xmlns:a16="http://schemas.microsoft.com/office/drawing/2014/main" id="{80E802D4-E00A-A4F6-78C1-B0B11A9781BE}"/>
              </a:ext>
            </a:extLst>
          </p:cNvPr>
          <p:cNvSpPr>
            <a:spLocks noGrp="1"/>
          </p:cNvSpPr>
          <p:nvPr>
            <p:ph type="sldNum" sz="quarter" idx="12"/>
          </p:nvPr>
        </p:nvSpPr>
        <p:spPr/>
        <p:txBody>
          <a:bodyPr/>
          <a:lstStyle/>
          <a:p>
            <a:fld id="{9A3029B7-FE6B-4680-9049-80E8298A0825}" type="slidenum">
              <a:rPr lang="en-US" smtClean="0"/>
              <a:t>12</a:t>
            </a:fld>
            <a:endParaRPr lang="en-US"/>
          </a:p>
        </p:txBody>
      </p:sp>
    </p:spTree>
    <p:extLst>
      <p:ext uri="{BB962C8B-B14F-4D97-AF65-F5344CB8AC3E}">
        <p14:creationId xmlns:p14="http://schemas.microsoft.com/office/powerpoint/2010/main" val="3121527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a:solidFill>
                  <a:srgbClr val="00B0F0"/>
                </a:solidFill>
              </a:rPr>
              <a:t>Atmosphere (1/3)</a:t>
            </a:r>
          </a:p>
        </p:txBody>
      </p:sp>
      <p:sp>
        <p:nvSpPr>
          <p:cNvPr id="3" name="Content Placeholder 2"/>
          <p:cNvSpPr>
            <a:spLocks noGrp="1"/>
          </p:cNvSpPr>
          <p:nvPr>
            <p:ph idx="1"/>
          </p:nvPr>
        </p:nvSpPr>
        <p:spPr>
          <a:xfrm>
            <a:off x="3703892" y="1092096"/>
            <a:ext cx="5453756" cy="5555572"/>
          </a:xfrm>
        </p:spPr>
        <p:txBody>
          <a:bodyPr>
            <a:normAutofit/>
          </a:bodyPr>
          <a:lstStyle/>
          <a:p>
            <a:pPr marL="0" indent="0">
              <a:buNone/>
            </a:pPr>
            <a:r>
              <a:rPr lang="en-US" sz="2000" b="1">
                <a:solidFill>
                  <a:srgbClr val="00B0F0"/>
                </a:solidFill>
              </a:rPr>
              <a:t>Source</a:t>
            </a:r>
            <a:r>
              <a:rPr lang="en-US" sz="2000">
                <a:solidFill>
                  <a:srgbClr val="00B0F0"/>
                </a:solidFill>
              </a:rPr>
              <a:t>: </a:t>
            </a:r>
          </a:p>
          <a:p>
            <a:pPr marL="0" indent="0">
              <a:buNone/>
            </a:pPr>
            <a:r>
              <a:rPr lang="en-US" sz="2000">
                <a:solidFill>
                  <a:srgbClr val="00B0F0"/>
                </a:solidFill>
              </a:rPr>
              <a:t>Particles in air around Earth</a:t>
            </a:r>
          </a:p>
          <a:p>
            <a:pPr marL="0" indent="0">
              <a:buNone/>
            </a:pPr>
            <a:r>
              <a:rPr lang="en-US" sz="2000" b="1">
                <a:solidFill>
                  <a:srgbClr val="00B0F0"/>
                </a:solidFill>
              </a:rPr>
              <a:t>Effects on spacecraft</a:t>
            </a:r>
            <a:r>
              <a:rPr lang="en-US" sz="2000">
                <a:solidFill>
                  <a:srgbClr val="00B0F0"/>
                </a:solidFill>
              </a:rPr>
              <a:t>:</a:t>
            </a:r>
          </a:p>
          <a:p>
            <a:r>
              <a:rPr lang="en-US" sz="2000">
                <a:solidFill>
                  <a:srgbClr val="00B0F0"/>
                </a:solidFill>
              </a:rPr>
              <a:t>Atomic oxygen: predominant atmospheric constituent from 200-600 km, forms when UV radiation dissociates molecular oxygen (Fig 8-5)</a:t>
            </a:r>
          </a:p>
          <a:p>
            <a:r>
              <a:rPr lang="en-US" sz="2000">
                <a:solidFill>
                  <a:srgbClr val="00B0F0"/>
                </a:solidFill>
              </a:rPr>
              <a:t>Atmospheric Drag</a:t>
            </a:r>
          </a:p>
          <a:p>
            <a:pPr marL="0" indent="0">
              <a:buNone/>
            </a:pPr>
            <a:r>
              <a:rPr lang="en-US" sz="2000" b="1">
                <a:solidFill>
                  <a:srgbClr val="00B0F0"/>
                </a:solidFill>
              </a:rPr>
              <a:t>Strategies to mitigate effects</a:t>
            </a:r>
            <a:r>
              <a:rPr lang="en-US" sz="2000">
                <a:solidFill>
                  <a:srgbClr val="00B0F0"/>
                </a:solidFill>
              </a:rPr>
              <a:t>:</a:t>
            </a:r>
          </a:p>
          <a:p>
            <a:r>
              <a:rPr lang="en-US" sz="2000">
                <a:solidFill>
                  <a:srgbClr val="00B0F0"/>
                </a:solidFill>
              </a:rPr>
              <a:t>Choose materials resistant to atomic oxygen or use protective coatings</a:t>
            </a:r>
          </a:p>
          <a:p>
            <a:r>
              <a:rPr lang="en-US" sz="2000">
                <a:solidFill>
                  <a:srgbClr val="00B0F0"/>
                </a:solidFill>
              </a:rPr>
              <a:t>Shield sensitive surfaces, design S/C with low coefficient of drag</a:t>
            </a:r>
          </a:p>
          <a:p>
            <a:r>
              <a:rPr lang="en-US" sz="2000">
                <a:solidFill>
                  <a:srgbClr val="00B0F0"/>
                </a:solidFill>
              </a:rPr>
              <a:t>Operate at higher altitudes if possible</a:t>
            </a:r>
          </a:p>
          <a:p>
            <a:endParaRPr lang="en-US" sz="2000">
              <a:solidFill>
                <a:srgbClr val="00B0F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13</a:t>
            </a:fld>
            <a:endParaRPr lang="en-US"/>
          </a:p>
        </p:txBody>
      </p:sp>
      <p:pic>
        <p:nvPicPr>
          <p:cNvPr id="5122" name="Picture 2" descr="ESA - Shuttle aglow with atomic oxygen">
            <a:extLst>
              <a:ext uri="{FF2B5EF4-FFF2-40B4-BE49-F238E27FC236}">
                <a16:creationId xmlns:a16="http://schemas.microsoft.com/office/drawing/2014/main" id="{5AC0423C-092A-CB84-ADEA-72025AE4FB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8" y="3635048"/>
            <a:ext cx="3296731" cy="213085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597CA36-EEC5-E2F8-8231-7E8E34AA4556}"/>
              </a:ext>
            </a:extLst>
          </p:cNvPr>
          <p:cNvSpPr txBox="1"/>
          <p:nvPr/>
        </p:nvSpPr>
        <p:spPr>
          <a:xfrm>
            <a:off x="180978" y="5703285"/>
            <a:ext cx="4647062" cy="369332"/>
          </a:xfrm>
          <a:prstGeom prst="rect">
            <a:avLst/>
          </a:prstGeom>
          <a:noFill/>
        </p:spPr>
        <p:txBody>
          <a:bodyPr wrap="square">
            <a:spAutoFit/>
          </a:bodyPr>
          <a:lstStyle/>
          <a:p>
            <a:pPr algn="l">
              <a:buNone/>
            </a:pPr>
            <a:r>
              <a:rPr lang="en-US" b="0" i="0">
                <a:solidFill>
                  <a:srgbClr val="003247"/>
                </a:solidFill>
                <a:effectLst/>
                <a:latin typeface="NotesESAbold"/>
              </a:rPr>
              <a:t>Shuttle aglow with atomic oxygen</a:t>
            </a:r>
          </a:p>
        </p:txBody>
      </p:sp>
      <p:pic>
        <p:nvPicPr>
          <p:cNvPr id="5124" name="Picture 4" descr="Damage behavior of atomic oxygen on CVD SiC coating-modified ...">
            <a:extLst>
              <a:ext uri="{FF2B5EF4-FFF2-40B4-BE49-F238E27FC236}">
                <a16:creationId xmlns:a16="http://schemas.microsoft.com/office/drawing/2014/main" id="{425F7FE8-7623-04D1-2664-89CF1EA6EF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93" y="1579468"/>
            <a:ext cx="3619500" cy="1643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87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B0F0"/>
                </a:solidFill>
              </a:rPr>
              <a:t>Atmosphere (2/3)</a:t>
            </a:r>
          </a:p>
        </p:txBody>
      </p:sp>
      <p:sp>
        <p:nvSpPr>
          <p:cNvPr id="3" name="Content Placeholder 2"/>
          <p:cNvSpPr>
            <a:spLocks noGrp="1"/>
          </p:cNvSpPr>
          <p:nvPr>
            <p:ph idx="1"/>
          </p:nvPr>
        </p:nvSpPr>
        <p:spPr>
          <a:xfrm>
            <a:off x="210065" y="1149178"/>
            <a:ext cx="8305285" cy="5402451"/>
          </a:xfrm>
        </p:spPr>
        <p:txBody>
          <a:bodyPr>
            <a:normAutofit lnSpcReduction="10000"/>
          </a:bodyPr>
          <a:lstStyle/>
          <a:p>
            <a:pPr marL="0" indent="0">
              <a:buNone/>
            </a:pPr>
            <a:r>
              <a:rPr lang="en-US" b="1">
                <a:solidFill>
                  <a:srgbClr val="00B0F0"/>
                </a:solidFill>
              </a:rPr>
              <a:t>Atomic Oxygen</a:t>
            </a:r>
          </a:p>
          <a:p>
            <a:pPr lvl="1"/>
            <a:r>
              <a:rPr lang="en-US">
                <a:solidFill>
                  <a:srgbClr val="00B0F0"/>
                </a:solidFill>
              </a:rPr>
              <a:t>Reacts with thin organic films, advanced composites and metallized surfaces</a:t>
            </a:r>
            <a:endParaRPr lang="en-US" sz="2000">
              <a:solidFill>
                <a:srgbClr val="00B0F0"/>
              </a:solidFill>
            </a:endParaRPr>
          </a:p>
          <a:p>
            <a:pPr lvl="1"/>
            <a:r>
              <a:rPr lang="en-US">
                <a:solidFill>
                  <a:srgbClr val="00B0F0"/>
                </a:solidFill>
              </a:rPr>
              <a:t>Degrades sensor performance</a:t>
            </a:r>
            <a:endParaRPr lang="en-US" sz="2000">
              <a:solidFill>
                <a:srgbClr val="00B0F0"/>
              </a:solidFill>
            </a:endParaRPr>
          </a:p>
          <a:p>
            <a:pPr lvl="1"/>
            <a:r>
              <a:rPr lang="en-US">
                <a:solidFill>
                  <a:srgbClr val="00B0F0"/>
                </a:solidFill>
              </a:rPr>
              <a:t>Weakens spacecraft structures</a:t>
            </a:r>
            <a:endParaRPr lang="en-US" sz="2000">
              <a:solidFill>
                <a:srgbClr val="00B0F0"/>
              </a:solidFill>
            </a:endParaRPr>
          </a:p>
          <a:p>
            <a:pPr lvl="1"/>
            <a:r>
              <a:rPr lang="en-US">
                <a:solidFill>
                  <a:srgbClr val="00B0F0"/>
                </a:solidFill>
              </a:rPr>
              <a:t>Density of atomic oxygen varies with the solar cycle</a:t>
            </a:r>
            <a:endParaRPr lang="en-US" sz="2000">
              <a:solidFill>
                <a:srgbClr val="00B0F0"/>
              </a:solidFill>
            </a:endParaRPr>
          </a:p>
          <a:p>
            <a:pPr lvl="2"/>
            <a:r>
              <a:rPr lang="en-US">
                <a:solidFill>
                  <a:srgbClr val="00B0F0"/>
                </a:solidFill>
              </a:rPr>
              <a:t>Solar cycle is periodic change in the amount of material and radiation emitted by the Sun and observed on Earth</a:t>
            </a:r>
            <a:endParaRPr lang="en-US" sz="1800">
              <a:solidFill>
                <a:srgbClr val="00B0F0"/>
              </a:solidFill>
            </a:endParaRPr>
          </a:p>
          <a:p>
            <a:pPr lvl="2"/>
            <a:r>
              <a:rPr lang="en-US">
                <a:solidFill>
                  <a:srgbClr val="00B0F0"/>
                </a:solidFill>
              </a:rPr>
              <a:t>Average of 11-year cycle; shortest was 9 yrs, longest 14 yrs</a:t>
            </a:r>
            <a:endParaRPr lang="en-US" sz="1800">
              <a:solidFill>
                <a:srgbClr val="00B0F0"/>
              </a:solidFill>
            </a:endParaRPr>
          </a:p>
          <a:p>
            <a:pPr lvl="2"/>
            <a:r>
              <a:rPr lang="en-US">
                <a:solidFill>
                  <a:srgbClr val="00B0F0"/>
                </a:solidFill>
              </a:rPr>
              <a:t>Solar maximum has many solar events; solar minima has almost no solar events</a:t>
            </a:r>
            <a:endParaRPr lang="en-US" sz="1800">
              <a:solidFill>
                <a:srgbClr val="00B0F0"/>
              </a:solidFill>
            </a:endParaRPr>
          </a:p>
          <a:p>
            <a:pPr lvl="2"/>
            <a:r>
              <a:rPr lang="en-US">
                <a:solidFill>
                  <a:srgbClr val="00B0F0"/>
                </a:solidFill>
              </a:rPr>
              <a:t>Solar flux varies substantially on a day-to-day basis and is difficult to predict at any given future time; however, average over an extended period is well known</a:t>
            </a:r>
            <a:endParaRPr lang="en-US" sz="1800">
              <a:solidFill>
                <a:srgbClr val="00B0F0"/>
              </a:solidFill>
            </a:endParaRPr>
          </a:p>
          <a:p>
            <a:pPr lvl="2"/>
            <a:r>
              <a:rPr lang="en-US">
                <a:solidFill>
                  <a:srgbClr val="00B0F0"/>
                </a:solidFill>
              </a:rPr>
              <a:t>Fig 8-1 depicts the F10.7 index, which is the mean daily flux at 10.7 cm wavelength in units of 10</a:t>
            </a:r>
            <a:r>
              <a:rPr lang="en-US" baseline="30000">
                <a:solidFill>
                  <a:srgbClr val="00B0F0"/>
                </a:solidFill>
              </a:rPr>
              <a:t>-22 </a:t>
            </a:r>
            <a:r>
              <a:rPr lang="en-US">
                <a:solidFill>
                  <a:srgbClr val="00B0F0"/>
                </a:solidFill>
              </a:rPr>
              <a:t>W/m</a:t>
            </a:r>
            <a:r>
              <a:rPr lang="en-US" baseline="30000">
                <a:solidFill>
                  <a:srgbClr val="00B0F0"/>
                </a:solidFill>
              </a:rPr>
              <a:t>2</a:t>
            </a:r>
            <a:r>
              <a:rPr lang="en-US">
                <a:solidFill>
                  <a:srgbClr val="00B0F0"/>
                </a:solidFill>
              </a:rPr>
              <a:t>·Hz</a:t>
            </a:r>
            <a:endParaRPr lang="en-US" sz="1800">
              <a:solidFill>
                <a:srgbClr val="00B0F0"/>
              </a:solidFill>
            </a:endParaRPr>
          </a:p>
          <a:p>
            <a:endParaRPr lang="en-US">
              <a:solidFill>
                <a:srgbClr val="00B0F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14</a:t>
            </a:fld>
            <a:endParaRPr lang="en-US"/>
          </a:p>
        </p:txBody>
      </p:sp>
    </p:spTree>
    <p:extLst>
      <p:ext uri="{BB962C8B-B14F-4D97-AF65-F5344CB8AC3E}">
        <p14:creationId xmlns:p14="http://schemas.microsoft.com/office/powerpoint/2010/main" val="54689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59316" y="1"/>
            <a:ext cx="7656033" cy="815546"/>
          </a:xfrm>
        </p:spPr>
        <p:txBody>
          <a:bodyPr>
            <a:normAutofit/>
          </a:bodyPr>
          <a:lstStyle/>
          <a:p>
            <a:r>
              <a:rPr lang="en-US" sz="3200">
                <a:solidFill>
                  <a:srgbClr val="00B0F0"/>
                </a:solidFill>
              </a:rPr>
              <a:t>Atomic Oxygen</a:t>
            </a:r>
          </a:p>
        </p:txBody>
      </p:sp>
      <p:sp>
        <p:nvSpPr>
          <p:cNvPr id="2" name="Slide Number Placeholder 1"/>
          <p:cNvSpPr>
            <a:spLocks noGrp="1"/>
          </p:cNvSpPr>
          <p:nvPr>
            <p:ph type="sldNum" sz="quarter" idx="12"/>
          </p:nvPr>
        </p:nvSpPr>
        <p:spPr/>
        <p:txBody>
          <a:bodyPr/>
          <a:lstStyle/>
          <a:p>
            <a:fld id="{04EF813A-C95A-49A4-BB2C-19388EC38802}" type="slidenum">
              <a:rPr lang="en-US" smtClean="0"/>
              <a:t>15</a:t>
            </a:fld>
            <a:endParaRPr lang="en-US"/>
          </a:p>
        </p:txBody>
      </p:sp>
      <p:pic>
        <p:nvPicPr>
          <p:cNvPr id="3" name="Picture 2"/>
          <p:cNvPicPr>
            <a:picLocks noChangeAspect="1"/>
          </p:cNvPicPr>
          <p:nvPr/>
        </p:nvPicPr>
        <p:blipFill>
          <a:blip r:embed="rId3"/>
          <a:stretch>
            <a:fillRect/>
          </a:stretch>
        </p:blipFill>
        <p:spPr>
          <a:xfrm rot="169245">
            <a:off x="124702" y="1140162"/>
            <a:ext cx="8992893" cy="5289433"/>
          </a:xfrm>
          <a:prstGeom prst="rect">
            <a:avLst/>
          </a:prstGeom>
          <a:scene3d>
            <a:camera prst="orthographicFront">
              <a:rot lat="0" lon="0" rev="120000"/>
            </a:camera>
            <a:lightRig rig="threePt" dir="t"/>
          </a:scene3d>
        </p:spPr>
      </p:pic>
      <p:sp>
        <p:nvSpPr>
          <p:cNvPr id="4" name="Rectangle 3"/>
          <p:cNvSpPr/>
          <p:nvPr/>
        </p:nvSpPr>
        <p:spPr>
          <a:xfrm>
            <a:off x="0" y="378692"/>
            <a:ext cx="163629" cy="54349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1153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E0BFD-0E35-BB6D-764E-409FB62CA131}"/>
              </a:ext>
            </a:extLst>
          </p:cNvPr>
          <p:cNvSpPr>
            <a:spLocks noGrp="1"/>
          </p:cNvSpPr>
          <p:nvPr>
            <p:ph type="title"/>
          </p:nvPr>
        </p:nvSpPr>
        <p:spPr/>
        <p:txBody>
          <a:bodyPr/>
          <a:lstStyle/>
          <a:p>
            <a:r>
              <a:rPr lang="en-US">
                <a:solidFill>
                  <a:srgbClr val="00B0F0"/>
                </a:solidFill>
              </a:rPr>
              <a:t>Atomic Oxygen - Example</a:t>
            </a:r>
            <a:endParaRPr lang="en-US"/>
          </a:p>
        </p:txBody>
      </p:sp>
      <p:sp>
        <p:nvSpPr>
          <p:cNvPr id="3" name="Footer Placeholder 2">
            <a:extLst>
              <a:ext uri="{FF2B5EF4-FFF2-40B4-BE49-F238E27FC236}">
                <a16:creationId xmlns:a16="http://schemas.microsoft.com/office/drawing/2014/main" id="{054D6142-68FA-5E7E-F883-0089358CDC36}"/>
              </a:ext>
            </a:extLst>
          </p:cNvPr>
          <p:cNvSpPr>
            <a:spLocks noGrp="1"/>
          </p:cNvSpPr>
          <p:nvPr>
            <p:ph type="ftr" sz="quarter" idx="11"/>
          </p:nvPr>
        </p:nvSpPr>
        <p:spPr/>
        <p:txBody>
          <a:bodyPr/>
          <a:lstStyle/>
          <a:p>
            <a:r>
              <a:rPr lang="en-US"/>
              <a:t>Astro 331 Lab #1</a:t>
            </a:r>
          </a:p>
        </p:txBody>
      </p:sp>
      <p:sp>
        <p:nvSpPr>
          <p:cNvPr id="4" name="Slide Number Placeholder 3">
            <a:extLst>
              <a:ext uri="{FF2B5EF4-FFF2-40B4-BE49-F238E27FC236}">
                <a16:creationId xmlns:a16="http://schemas.microsoft.com/office/drawing/2014/main" id="{36FB2468-4F67-70C7-DA12-B86F2E635167}"/>
              </a:ext>
            </a:extLst>
          </p:cNvPr>
          <p:cNvSpPr>
            <a:spLocks noGrp="1"/>
          </p:cNvSpPr>
          <p:nvPr>
            <p:ph type="sldNum" sz="quarter" idx="12"/>
          </p:nvPr>
        </p:nvSpPr>
        <p:spPr/>
        <p:txBody>
          <a:bodyPr/>
          <a:lstStyle/>
          <a:p>
            <a:fld id="{9A3029B7-FE6B-4680-9049-80E8298A0825}" type="slidenum">
              <a:rPr lang="en-US" smtClean="0"/>
              <a:t>16</a:t>
            </a:fld>
            <a:endParaRPr lang="en-US"/>
          </a:p>
        </p:txBody>
      </p:sp>
      <p:pic>
        <p:nvPicPr>
          <p:cNvPr id="6" name="Picture 5">
            <a:extLst>
              <a:ext uri="{FF2B5EF4-FFF2-40B4-BE49-F238E27FC236}">
                <a16:creationId xmlns:a16="http://schemas.microsoft.com/office/drawing/2014/main" id="{FE66422F-17D9-32AC-A98B-574F17B85BCF}"/>
              </a:ext>
            </a:extLst>
          </p:cNvPr>
          <p:cNvPicPr>
            <a:picLocks noChangeAspect="1"/>
          </p:cNvPicPr>
          <p:nvPr/>
        </p:nvPicPr>
        <p:blipFill>
          <a:blip r:embed="rId3"/>
          <a:stretch>
            <a:fillRect/>
          </a:stretch>
        </p:blipFill>
        <p:spPr>
          <a:xfrm>
            <a:off x="0" y="1021737"/>
            <a:ext cx="9144000" cy="5170429"/>
          </a:xfrm>
          <a:prstGeom prst="rect">
            <a:avLst/>
          </a:prstGeom>
        </p:spPr>
      </p:pic>
    </p:spTree>
    <p:extLst>
      <p:ext uri="{BB962C8B-B14F-4D97-AF65-F5344CB8AC3E}">
        <p14:creationId xmlns:p14="http://schemas.microsoft.com/office/powerpoint/2010/main" val="4034152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6901-2A3A-F40F-FC7A-27C6393DB1B2}"/>
              </a:ext>
            </a:extLst>
          </p:cNvPr>
          <p:cNvSpPr>
            <a:spLocks noGrp="1"/>
          </p:cNvSpPr>
          <p:nvPr>
            <p:ph type="title"/>
          </p:nvPr>
        </p:nvSpPr>
        <p:spPr/>
        <p:txBody>
          <a:bodyPr/>
          <a:lstStyle/>
          <a:p>
            <a:r>
              <a:rPr lang="en-US">
                <a:solidFill>
                  <a:srgbClr val="00B0F0"/>
                </a:solidFill>
              </a:rPr>
              <a:t>Atomic Oxygen – Example 2</a:t>
            </a:r>
            <a:endParaRPr lang="en-US"/>
          </a:p>
        </p:txBody>
      </p:sp>
      <p:sp>
        <p:nvSpPr>
          <p:cNvPr id="3" name="Footer Placeholder 2">
            <a:extLst>
              <a:ext uri="{FF2B5EF4-FFF2-40B4-BE49-F238E27FC236}">
                <a16:creationId xmlns:a16="http://schemas.microsoft.com/office/drawing/2014/main" id="{ED494E5C-CDC1-A1A7-47AB-993661CE085C}"/>
              </a:ext>
            </a:extLst>
          </p:cNvPr>
          <p:cNvSpPr>
            <a:spLocks noGrp="1"/>
          </p:cNvSpPr>
          <p:nvPr>
            <p:ph type="ftr" sz="quarter" idx="11"/>
          </p:nvPr>
        </p:nvSpPr>
        <p:spPr/>
        <p:txBody>
          <a:bodyPr/>
          <a:lstStyle/>
          <a:p>
            <a:r>
              <a:rPr lang="en-US"/>
              <a:t>Astro 331 Lab #1</a:t>
            </a:r>
          </a:p>
        </p:txBody>
      </p:sp>
      <p:sp>
        <p:nvSpPr>
          <p:cNvPr id="4" name="Slide Number Placeholder 3">
            <a:extLst>
              <a:ext uri="{FF2B5EF4-FFF2-40B4-BE49-F238E27FC236}">
                <a16:creationId xmlns:a16="http://schemas.microsoft.com/office/drawing/2014/main" id="{529DC440-6197-BE94-592F-AC6B5B98EE61}"/>
              </a:ext>
            </a:extLst>
          </p:cNvPr>
          <p:cNvSpPr>
            <a:spLocks noGrp="1"/>
          </p:cNvSpPr>
          <p:nvPr>
            <p:ph type="sldNum" sz="quarter" idx="12"/>
          </p:nvPr>
        </p:nvSpPr>
        <p:spPr/>
        <p:txBody>
          <a:bodyPr/>
          <a:lstStyle/>
          <a:p>
            <a:fld id="{9A3029B7-FE6B-4680-9049-80E8298A0825}" type="slidenum">
              <a:rPr lang="en-US" smtClean="0"/>
              <a:t>17</a:t>
            </a:fld>
            <a:endParaRPr lang="en-US"/>
          </a:p>
        </p:txBody>
      </p:sp>
      <p:pic>
        <p:nvPicPr>
          <p:cNvPr id="6146" name="Picture 2" descr="Predicting the Lifespan of Materials in Space - NASA">
            <a:extLst>
              <a:ext uri="{FF2B5EF4-FFF2-40B4-BE49-F238E27FC236}">
                <a16:creationId xmlns:a16="http://schemas.microsoft.com/office/drawing/2014/main" id="{09739CC1-C1F6-9CAB-AFC7-FF9F69CE81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2" y="954931"/>
            <a:ext cx="8410575" cy="6007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510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B0F0"/>
                </a:solidFill>
              </a:rPr>
              <a:t>Atmosphere (3/3)</a:t>
            </a:r>
          </a:p>
        </p:txBody>
      </p:sp>
      <p:sp>
        <p:nvSpPr>
          <p:cNvPr id="3" name="Content Placeholder 2"/>
          <p:cNvSpPr>
            <a:spLocks noGrp="1"/>
          </p:cNvSpPr>
          <p:nvPr>
            <p:ph idx="1"/>
          </p:nvPr>
        </p:nvSpPr>
        <p:spPr>
          <a:xfrm>
            <a:off x="197708" y="1167788"/>
            <a:ext cx="8714938" cy="5383841"/>
          </a:xfrm>
        </p:spPr>
        <p:txBody>
          <a:bodyPr>
            <a:normAutofit/>
          </a:bodyPr>
          <a:lstStyle/>
          <a:p>
            <a:pPr marL="0" lvl="0" indent="0">
              <a:buNone/>
            </a:pPr>
            <a:r>
              <a:rPr lang="en-US" b="1">
                <a:solidFill>
                  <a:srgbClr val="00B0F0"/>
                </a:solidFill>
              </a:rPr>
              <a:t>Atmospheric Drag</a:t>
            </a:r>
            <a:endParaRPr lang="en-US" sz="2400" b="1">
              <a:solidFill>
                <a:srgbClr val="00B0F0"/>
              </a:solidFill>
            </a:endParaRPr>
          </a:p>
          <a:p>
            <a:pPr lvl="1"/>
            <a:r>
              <a:rPr lang="en-US">
                <a:solidFill>
                  <a:srgbClr val="00B0F0"/>
                </a:solidFill>
              </a:rPr>
              <a:t>Depends on a variety of factors, including S/C ballistic co-efficient, speed and atmospheric density</a:t>
            </a:r>
            <a:endParaRPr lang="en-US" sz="2000">
              <a:solidFill>
                <a:srgbClr val="00B0F0"/>
              </a:solidFill>
            </a:endParaRPr>
          </a:p>
          <a:p>
            <a:pPr lvl="1"/>
            <a:r>
              <a:rPr lang="en-US">
                <a:solidFill>
                  <a:srgbClr val="00B0F0"/>
                </a:solidFill>
              </a:rPr>
              <a:t>Atmospheric density is highly dependent on solar cycle</a:t>
            </a:r>
          </a:p>
          <a:p>
            <a:pPr lvl="1"/>
            <a:r>
              <a:rPr lang="en-US" b="1">
                <a:solidFill>
                  <a:srgbClr val="00B0F0"/>
                </a:solidFill>
              </a:rPr>
              <a:t>Thermosphere</a:t>
            </a:r>
            <a:r>
              <a:rPr lang="en-US">
                <a:solidFill>
                  <a:srgbClr val="00B0F0"/>
                </a:solidFill>
              </a:rPr>
              <a:t>: (120-600 km altitude), region where absorption of extreme UV radiation results in rapid increase in temperature with altitude</a:t>
            </a:r>
            <a:endParaRPr lang="en-US" sz="2000">
              <a:solidFill>
                <a:srgbClr val="00B0F0"/>
              </a:solidFill>
            </a:endParaRPr>
          </a:p>
          <a:p>
            <a:pPr lvl="2"/>
            <a:r>
              <a:rPr lang="en-US">
                <a:solidFill>
                  <a:srgbClr val="00B0F0"/>
                </a:solidFill>
              </a:rPr>
              <a:t>Heating due to EUV radiation and solar cycle variation </a:t>
            </a:r>
            <a:r>
              <a:rPr lang="en-US" b="1">
                <a:solidFill>
                  <a:srgbClr val="00B0F0"/>
                </a:solidFill>
              </a:rPr>
              <a:t>impacts atmospheric density </a:t>
            </a:r>
            <a:r>
              <a:rPr lang="en-US">
                <a:solidFill>
                  <a:srgbClr val="00B0F0"/>
                </a:solidFill>
              </a:rPr>
              <a:t>and has the greatest effect on satellite lifetimes</a:t>
            </a:r>
            <a:endParaRPr lang="en-US" sz="1800">
              <a:solidFill>
                <a:srgbClr val="00B0F0"/>
              </a:solidFill>
            </a:endParaRPr>
          </a:p>
          <a:p>
            <a:pPr lvl="1"/>
            <a:endParaRPr lang="en-US" sz="2000">
              <a:solidFill>
                <a:srgbClr val="00B0F0"/>
              </a:solidFill>
            </a:endParaRPr>
          </a:p>
          <a:p>
            <a:endParaRPr lang="en-US">
              <a:solidFill>
                <a:srgbClr val="00B0F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18</a:t>
            </a:fld>
            <a:endParaRPr lang="en-US"/>
          </a:p>
        </p:txBody>
      </p:sp>
      <p:pic>
        <p:nvPicPr>
          <p:cNvPr id="5126" name="Picture 6" descr="Millennium Space in an experiment de-orbited a satellite in eight months -  SpaceNews">
            <a:extLst>
              <a:ext uri="{FF2B5EF4-FFF2-40B4-BE49-F238E27FC236}">
                <a16:creationId xmlns:a16="http://schemas.microsoft.com/office/drawing/2014/main" id="{500217A4-0994-BCA7-5A76-DE5F757459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5361" y="4762082"/>
            <a:ext cx="3253014" cy="2068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466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49939" y="27769"/>
            <a:ext cx="7886700" cy="750707"/>
          </a:xfrm>
        </p:spPr>
        <p:txBody>
          <a:bodyPr>
            <a:normAutofit/>
          </a:bodyPr>
          <a:lstStyle/>
          <a:p>
            <a:r>
              <a:rPr lang="en-US" sz="4000">
                <a:solidFill>
                  <a:srgbClr val="00B0F0"/>
                </a:solidFill>
              </a:rPr>
              <a:t>Solar Cycle</a:t>
            </a:r>
          </a:p>
        </p:txBody>
      </p:sp>
      <p:sp>
        <p:nvSpPr>
          <p:cNvPr id="2" name="Slide Number Placeholder 1"/>
          <p:cNvSpPr>
            <a:spLocks noGrp="1"/>
          </p:cNvSpPr>
          <p:nvPr>
            <p:ph type="sldNum" sz="quarter" idx="12"/>
          </p:nvPr>
        </p:nvSpPr>
        <p:spPr/>
        <p:txBody>
          <a:bodyPr/>
          <a:lstStyle/>
          <a:p>
            <a:fld id="{04EF813A-C95A-49A4-BB2C-19388EC38802}" type="slidenum">
              <a:rPr lang="en-US" smtClean="0"/>
              <a:t>19</a:t>
            </a:fld>
            <a:endParaRPr lang="en-US"/>
          </a:p>
        </p:txBody>
      </p:sp>
      <p:pic>
        <p:nvPicPr>
          <p:cNvPr id="3" name="Picture 2"/>
          <p:cNvPicPr>
            <a:picLocks noChangeAspect="1"/>
          </p:cNvPicPr>
          <p:nvPr/>
        </p:nvPicPr>
        <p:blipFill>
          <a:blip r:embed="rId2"/>
          <a:stretch>
            <a:fillRect/>
          </a:stretch>
        </p:blipFill>
        <p:spPr>
          <a:xfrm>
            <a:off x="140551" y="1216241"/>
            <a:ext cx="8908470" cy="5505235"/>
          </a:xfrm>
          <a:prstGeom prst="rect">
            <a:avLst/>
          </a:prstGeom>
        </p:spPr>
      </p:pic>
    </p:spTree>
    <p:extLst>
      <p:ext uri="{BB962C8B-B14F-4D97-AF65-F5344CB8AC3E}">
        <p14:creationId xmlns:p14="http://schemas.microsoft.com/office/powerpoint/2010/main" val="3343788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49683" y="27769"/>
            <a:ext cx="6960933" cy="800134"/>
          </a:xfrm>
        </p:spPr>
        <p:txBody>
          <a:bodyPr>
            <a:normAutofit/>
          </a:bodyPr>
          <a:lstStyle/>
          <a:p>
            <a:r>
              <a:rPr lang="en-US" sz="2400">
                <a:solidFill>
                  <a:srgbClr val="00B0F0"/>
                </a:solidFill>
              </a:rPr>
              <a:t>Impact of Solar Cycle on Atmospheric Density</a:t>
            </a:r>
          </a:p>
        </p:txBody>
      </p:sp>
      <p:sp>
        <p:nvSpPr>
          <p:cNvPr id="2" name="Slide Number Placeholder 1"/>
          <p:cNvSpPr>
            <a:spLocks noGrp="1"/>
          </p:cNvSpPr>
          <p:nvPr>
            <p:ph type="sldNum" sz="quarter" idx="12"/>
          </p:nvPr>
        </p:nvSpPr>
        <p:spPr/>
        <p:txBody>
          <a:bodyPr/>
          <a:lstStyle/>
          <a:p>
            <a:fld id="{04EF813A-C95A-49A4-BB2C-19388EC38802}" type="slidenum">
              <a:rPr lang="en-US" smtClean="0"/>
              <a:t>20</a:t>
            </a:fld>
            <a:endParaRPr lang="en-US"/>
          </a:p>
        </p:txBody>
      </p:sp>
      <p:pic>
        <p:nvPicPr>
          <p:cNvPr id="3" name="Picture 2"/>
          <p:cNvPicPr>
            <a:picLocks noChangeAspect="1"/>
          </p:cNvPicPr>
          <p:nvPr/>
        </p:nvPicPr>
        <p:blipFill>
          <a:blip r:embed="rId2"/>
          <a:stretch>
            <a:fillRect/>
          </a:stretch>
        </p:blipFill>
        <p:spPr>
          <a:xfrm>
            <a:off x="473880" y="1022894"/>
            <a:ext cx="8196239" cy="5556512"/>
          </a:xfrm>
          <a:prstGeom prst="rect">
            <a:avLst/>
          </a:prstGeom>
        </p:spPr>
      </p:pic>
    </p:spTree>
    <p:extLst>
      <p:ext uri="{BB962C8B-B14F-4D97-AF65-F5344CB8AC3E}">
        <p14:creationId xmlns:p14="http://schemas.microsoft.com/office/powerpoint/2010/main" val="2918600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769"/>
            <a:ext cx="5784506" cy="922136"/>
          </a:xfrm>
        </p:spPr>
        <p:txBody>
          <a:bodyPr>
            <a:normAutofit/>
          </a:bodyPr>
          <a:lstStyle/>
          <a:p>
            <a:r>
              <a:rPr lang="en-US" sz="2800">
                <a:solidFill>
                  <a:srgbClr val="00B0F0"/>
                </a:solidFill>
              </a:rPr>
              <a:t>Impact of Solar Cycle/Ballistic Co-efficient on Satellite Lifetimes</a:t>
            </a:r>
          </a:p>
        </p:txBody>
      </p:sp>
      <p:sp>
        <p:nvSpPr>
          <p:cNvPr id="3" name="Slide Number Placeholder 2"/>
          <p:cNvSpPr>
            <a:spLocks noGrp="1"/>
          </p:cNvSpPr>
          <p:nvPr>
            <p:ph type="sldNum" sz="quarter" idx="12"/>
          </p:nvPr>
        </p:nvSpPr>
        <p:spPr/>
        <p:txBody>
          <a:bodyPr/>
          <a:lstStyle/>
          <a:p>
            <a:fld id="{04EF813A-C95A-49A4-BB2C-19388EC38802}" type="slidenum">
              <a:rPr lang="en-US" smtClean="0"/>
              <a:t>21</a:t>
            </a:fld>
            <a:endParaRPr lang="en-US"/>
          </a:p>
        </p:txBody>
      </p:sp>
      <p:pic>
        <p:nvPicPr>
          <p:cNvPr id="4" name="Picture 3"/>
          <p:cNvPicPr/>
          <p:nvPr/>
        </p:nvPicPr>
        <p:blipFill>
          <a:blip r:embed="rId2"/>
          <a:stretch>
            <a:fillRect/>
          </a:stretch>
        </p:blipFill>
        <p:spPr>
          <a:xfrm>
            <a:off x="250793" y="1109709"/>
            <a:ext cx="8467078" cy="5611767"/>
          </a:xfrm>
          <a:prstGeom prst="rect">
            <a:avLst/>
          </a:prstGeom>
        </p:spPr>
      </p:pic>
    </p:spTree>
    <p:extLst>
      <p:ext uri="{BB962C8B-B14F-4D97-AF65-F5344CB8AC3E}">
        <p14:creationId xmlns:p14="http://schemas.microsoft.com/office/powerpoint/2010/main" val="2366213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DDBC-8E6C-B6B0-3FFD-85CB92715B6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8E91818-D2AE-A08C-BE52-ED51AD417554}"/>
              </a:ext>
            </a:extLst>
          </p:cNvPr>
          <p:cNvSpPr>
            <a:spLocks noGrp="1"/>
          </p:cNvSpPr>
          <p:nvPr>
            <p:ph type="title"/>
          </p:nvPr>
        </p:nvSpPr>
        <p:spPr/>
        <p:txBody>
          <a:bodyPr/>
          <a:lstStyle/>
          <a:p>
            <a:r>
              <a:rPr lang="en-US">
                <a:solidFill>
                  <a:srgbClr val="7030A0"/>
                </a:solidFill>
              </a:rPr>
              <a:t>Plasma</a:t>
            </a:r>
            <a:r>
              <a:rPr lang="en-US">
                <a:solidFill>
                  <a:srgbClr val="00B050"/>
                </a:solidFill>
              </a:rPr>
              <a:t> </a:t>
            </a:r>
          </a:p>
        </p:txBody>
      </p:sp>
      <p:sp>
        <p:nvSpPr>
          <p:cNvPr id="4" name="Slide Number Placeholder 3">
            <a:extLst>
              <a:ext uri="{FF2B5EF4-FFF2-40B4-BE49-F238E27FC236}">
                <a16:creationId xmlns:a16="http://schemas.microsoft.com/office/drawing/2014/main" id="{AE7D45E6-D94C-E2D7-57B2-8438EE670438}"/>
              </a:ext>
            </a:extLst>
          </p:cNvPr>
          <p:cNvSpPr>
            <a:spLocks noGrp="1"/>
          </p:cNvSpPr>
          <p:nvPr>
            <p:ph type="sldNum" sz="quarter" idx="12"/>
          </p:nvPr>
        </p:nvSpPr>
        <p:spPr/>
        <p:txBody>
          <a:bodyPr/>
          <a:lstStyle/>
          <a:p>
            <a:fld id="{9A3029B7-FE6B-4680-9049-80E8298A0825}" type="slidenum">
              <a:rPr lang="en-US" smtClean="0"/>
              <a:t>22</a:t>
            </a:fld>
            <a:endParaRPr lang="en-US"/>
          </a:p>
        </p:txBody>
      </p:sp>
    </p:spTree>
    <p:extLst>
      <p:ext uri="{BB962C8B-B14F-4D97-AF65-F5344CB8AC3E}">
        <p14:creationId xmlns:p14="http://schemas.microsoft.com/office/powerpoint/2010/main" val="3187651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7030A0"/>
                </a:solidFill>
              </a:rPr>
              <a:t>Plasma (1/2)</a:t>
            </a:r>
          </a:p>
        </p:txBody>
      </p:sp>
      <p:sp>
        <p:nvSpPr>
          <p:cNvPr id="4" name="Content Placeholder 3"/>
          <p:cNvSpPr>
            <a:spLocks noGrp="1"/>
          </p:cNvSpPr>
          <p:nvPr>
            <p:ph idx="1"/>
          </p:nvPr>
        </p:nvSpPr>
        <p:spPr>
          <a:xfrm>
            <a:off x="200025" y="1002506"/>
            <a:ext cx="8897611" cy="5227553"/>
          </a:xfrm>
        </p:spPr>
        <p:txBody>
          <a:bodyPr>
            <a:normAutofit/>
          </a:bodyPr>
          <a:lstStyle/>
          <a:p>
            <a:pPr marL="0" indent="0">
              <a:buNone/>
            </a:pPr>
            <a:r>
              <a:rPr lang="en-US" sz="2100">
                <a:solidFill>
                  <a:srgbClr val="7030A0"/>
                </a:solidFill>
              </a:rPr>
              <a:t>Plasma consists of neutral particles, positive ions, and electrons.</a:t>
            </a:r>
          </a:p>
          <a:p>
            <a:pPr lvl="1"/>
            <a:r>
              <a:rPr lang="en-US" sz="2100">
                <a:solidFill>
                  <a:srgbClr val="7030A0"/>
                </a:solidFill>
              </a:rPr>
              <a:t>The most abundant </a:t>
            </a:r>
            <a:r>
              <a:rPr lang="en-US" sz="2100" b="1">
                <a:solidFill>
                  <a:srgbClr val="7030A0"/>
                </a:solidFill>
              </a:rPr>
              <a:t>matter</a:t>
            </a:r>
            <a:r>
              <a:rPr lang="en-US" sz="2100">
                <a:solidFill>
                  <a:srgbClr val="7030A0"/>
                </a:solidFill>
              </a:rPr>
              <a:t> in the universe (99% of universe mass) </a:t>
            </a:r>
            <a:endParaRPr lang="en-US" sz="2100" b="1">
              <a:solidFill>
                <a:srgbClr val="7030A0"/>
              </a:solidFill>
            </a:endParaRPr>
          </a:p>
          <a:p>
            <a:pPr marL="0" indent="0">
              <a:buNone/>
            </a:pPr>
            <a:r>
              <a:rPr lang="en-US" sz="2100" b="1">
                <a:solidFill>
                  <a:srgbClr val="7030A0"/>
                </a:solidFill>
              </a:rPr>
              <a:t>Source</a:t>
            </a:r>
            <a:r>
              <a:rPr lang="en-US" sz="2100">
                <a:solidFill>
                  <a:srgbClr val="7030A0"/>
                </a:solidFill>
              </a:rPr>
              <a:t>: </a:t>
            </a:r>
          </a:p>
          <a:p>
            <a:r>
              <a:rPr lang="en-US" sz="2100">
                <a:solidFill>
                  <a:srgbClr val="7030A0"/>
                </a:solidFill>
              </a:rPr>
              <a:t>Formed </a:t>
            </a:r>
            <a:r>
              <a:rPr lang="en-US" sz="2100" b="1">
                <a:solidFill>
                  <a:srgbClr val="7030A0"/>
                </a:solidFill>
              </a:rPr>
              <a:t>from interactions between solar wind and Earth’s magnetic field</a:t>
            </a:r>
            <a:r>
              <a:rPr lang="en-US" sz="2100">
                <a:solidFill>
                  <a:srgbClr val="7030A0"/>
                </a:solidFill>
              </a:rPr>
              <a:t>, stretches into long structure known as the </a:t>
            </a:r>
            <a:r>
              <a:rPr lang="en-US" sz="2100" i="1">
                <a:solidFill>
                  <a:srgbClr val="7030A0"/>
                </a:solidFill>
              </a:rPr>
              <a:t>magnetotail.</a:t>
            </a:r>
          </a:p>
          <a:p>
            <a:r>
              <a:rPr lang="en-US" sz="2100">
                <a:solidFill>
                  <a:srgbClr val="7030A0"/>
                </a:solidFill>
              </a:rPr>
              <a:t>Can also come from </a:t>
            </a:r>
            <a:r>
              <a:rPr lang="en-US" sz="2100" b="1">
                <a:solidFill>
                  <a:srgbClr val="7030A0"/>
                </a:solidFill>
              </a:rPr>
              <a:t>solar flares </a:t>
            </a:r>
            <a:r>
              <a:rPr lang="en-US" sz="2100">
                <a:solidFill>
                  <a:srgbClr val="7030A0"/>
                </a:solidFill>
              </a:rPr>
              <a:t>or </a:t>
            </a:r>
            <a:r>
              <a:rPr lang="en-US" sz="2100" b="1">
                <a:solidFill>
                  <a:srgbClr val="7030A0"/>
                </a:solidFill>
              </a:rPr>
              <a:t>galactic cosmic rays (GCRs)</a:t>
            </a:r>
          </a:p>
          <a:p>
            <a:endParaRPr lang="en-US" sz="2100">
              <a:solidFill>
                <a:srgbClr val="7030A0"/>
              </a:solidFill>
            </a:endParaRPr>
          </a:p>
        </p:txBody>
      </p:sp>
      <p:sp>
        <p:nvSpPr>
          <p:cNvPr id="3" name="Slide Number Placeholder 2"/>
          <p:cNvSpPr>
            <a:spLocks noGrp="1"/>
          </p:cNvSpPr>
          <p:nvPr>
            <p:ph type="sldNum" sz="quarter" idx="12"/>
          </p:nvPr>
        </p:nvSpPr>
        <p:spPr/>
        <p:txBody>
          <a:bodyPr/>
          <a:lstStyle/>
          <a:p>
            <a:fld id="{04EF813A-C95A-49A4-BB2C-19388EC38802}" type="slidenum">
              <a:rPr lang="en-US" smtClean="0"/>
              <a:t>23</a:t>
            </a:fld>
            <a:endParaRPr lang="en-US"/>
          </a:p>
        </p:txBody>
      </p:sp>
      <p:pic>
        <p:nvPicPr>
          <p:cNvPr id="7174" name="Picture 6" descr="NASA-HDBK-4002: “Mitigating In-Space Charging Effects–A Guideline” — EMC  United | EMC &amp; EMI Consulting, Education, Solutions | Denver, CO">
            <a:extLst>
              <a:ext uri="{FF2B5EF4-FFF2-40B4-BE49-F238E27FC236}">
                <a16:creationId xmlns:a16="http://schemas.microsoft.com/office/drawing/2014/main" id="{BED15CF1-5F55-5DD2-01A6-FE1ED20159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966" y="3429000"/>
            <a:ext cx="7137035" cy="3295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469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7030A0"/>
                </a:solidFill>
              </a:rPr>
              <a:t>Plasma (2/2)</a:t>
            </a:r>
          </a:p>
        </p:txBody>
      </p:sp>
      <p:sp>
        <p:nvSpPr>
          <p:cNvPr id="3" name="Content Placeholder 2"/>
          <p:cNvSpPr>
            <a:spLocks noGrp="1"/>
          </p:cNvSpPr>
          <p:nvPr>
            <p:ph idx="1"/>
          </p:nvPr>
        </p:nvSpPr>
        <p:spPr>
          <a:xfrm>
            <a:off x="182236" y="1070499"/>
            <a:ext cx="8343926" cy="5787501"/>
          </a:xfrm>
        </p:spPr>
        <p:txBody>
          <a:bodyPr>
            <a:normAutofit fontScale="85000" lnSpcReduction="20000"/>
          </a:bodyPr>
          <a:lstStyle/>
          <a:p>
            <a:pPr marL="0" indent="0">
              <a:buNone/>
            </a:pPr>
            <a:r>
              <a:rPr lang="en-US" b="1">
                <a:solidFill>
                  <a:srgbClr val="7030A0"/>
                </a:solidFill>
              </a:rPr>
              <a:t>Effects on spacecraft:</a:t>
            </a:r>
            <a:endParaRPr lang="en-US" sz="2400" b="1">
              <a:solidFill>
                <a:srgbClr val="7030A0"/>
              </a:solidFill>
            </a:endParaRPr>
          </a:p>
          <a:p>
            <a:pPr lvl="1"/>
            <a:r>
              <a:rPr lang="en-US">
                <a:solidFill>
                  <a:srgbClr val="7030A0"/>
                </a:solidFill>
              </a:rPr>
              <a:t>Energized plasma (particles with energy from 5 keV to 50 keV) can extend into geosynchronous orbits, charging the surface of any spacecraft to high negative voltages</a:t>
            </a:r>
          </a:p>
          <a:p>
            <a:pPr lvl="1"/>
            <a:r>
              <a:rPr lang="en-US" b="1">
                <a:solidFill>
                  <a:srgbClr val="7030A0"/>
                </a:solidFill>
              </a:rPr>
              <a:t>Surface Charging </a:t>
            </a:r>
            <a:r>
              <a:rPr lang="en-US">
                <a:solidFill>
                  <a:srgbClr val="7030A0"/>
                </a:solidFill>
              </a:rPr>
              <a:t>that impacts spacecraft operations occurs in orbits where electrons with energies of 10-20 keV dominate the electron current</a:t>
            </a:r>
            <a:endParaRPr lang="en-US" sz="2000">
              <a:solidFill>
                <a:srgbClr val="7030A0"/>
              </a:solidFill>
            </a:endParaRPr>
          </a:p>
          <a:p>
            <a:pPr lvl="2"/>
            <a:r>
              <a:rPr lang="en-US">
                <a:solidFill>
                  <a:srgbClr val="7030A0"/>
                </a:solidFill>
              </a:rPr>
              <a:t>At </a:t>
            </a:r>
            <a:r>
              <a:rPr lang="en-US" u="sng">
                <a:solidFill>
                  <a:srgbClr val="7030A0"/>
                </a:solidFill>
              </a:rPr>
              <a:t>low altitudes, this occurs only at high latitudes </a:t>
            </a:r>
            <a:r>
              <a:rPr lang="en-US">
                <a:solidFill>
                  <a:srgbClr val="7030A0"/>
                </a:solidFill>
              </a:rPr>
              <a:t>(where auroral electrons collide w/ vehicle)</a:t>
            </a:r>
            <a:endParaRPr lang="en-US" sz="1600">
              <a:solidFill>
                <a:srgbClr val="7030A0"/>
              </a:solidFill>
            </a:endParaRPr>
          </a:p>
          <a:p>
            <a:pPr lvl="2"/>
            <a:r>
              <a:rPr lang="en-US">
                <a:solidFill>
                  <a:srgbClr val="7030A0"/>
                </a:solidFill>
              </a:rPr>
              <a:t>At </a:t>
            </a:r>
            <a:r>
              <a:rPr lang="en-US" u="sng">
                <a:solidFill>
                  <a:srgbClr val="7030A0"/>
                </a:solidFill>
              </a:rPr>
              <a:t>higher altitudes, surface charging occurs during magnetospheric substorms</a:t>
            </a:r>
            <a:endParaRPr lang="en-US" sz="2000" b="1" u="sng">
              <a:solidFill>
                <a:srgbClr val="7030A0"/>
              </a:solidFill>
            </a:endParaRPr>
          </a:p>
          <a:p>
            <a:pPr lvl="1"/>
            <a:r>
              <a:rPr lang="en-US">
                <a:solidFill>
                  <a:srgbClr val="7030A0"/>
                </a:solidFill>
              </a:rPr>
              <a:t>Electrostatic arcs can cause </a:t>
            </a:r>
            <a:r>
              <a:rPr lang="en-US" b="1">
                <a:solidFill>
                  <a:srgbClr val="7030A0"/>
                </a:solidFill>
              </a:rPr>
              <a:t>electromagnetic interference (EMI) </a:t>
            </a:r>
            <a:r>
              <a:rPr lang="en-US">
                <a:solidFill>
                  <a:srgbClr val="7030A0"/>
                </a:solidFill>
              </a:rPr>
              <a:t>on spacecraft, causing erratic behavior</a:t>
            </a:r>
            <a:endParaRPr lang="en-US" sz="2000">
              <a:solidFill>
                <a:srgbClr val="7030A0"/>
              </a:solidFill>
            </a:endParaRPr>
          </a:p>
          <a:p>
            <a:pPr lvl="1"/>
            <a:r>
              <a:rPr lang="en-US" b="1">
                <a:solidFill>
                  <a:srgbClr val="7030A0"/>
                </a:solidFill>
              </a:rPr>
              <a:t>Ion drag </a:t>
            </a:r>
            <a:r>
              <a:rPr lang="en-US">
                <a:solidFill>
                  <a:srgbClr val="7030A0"/>
                </a:solidFill>
              </a:rPr>
              <a:t>that adds to orbital decay</a:t>
            </a:r>
            <a:endParaRPr lang="en-US" sz="2000">
              <a:solidFill>
                <a:srgbClr val="7030A0"/>
              </a:solidFill>
            </a:endParaRPr>
          </a:p>
          <a:p>
            <a:pPr lvl="1"/>
            <a:r>
              <a:rPr lang="en-US" b="1">
                <a:solidFill>
                  <a:srgbClr val="7030A0"/>
                </a:solidFill>
              </a:rPr>
              <a:t>Ion sputtering </a:t>
            </a:r>
            <a:r>
              <a:rPr lang="en-US">
                <a:solidFill>
                  <a:srgbClr val="7030A0"/>
                </a:solidFill>
              </a:rPr>
              <a:t>that increases surface erosion</a:t>
            </a:r>
          </a:p>
          <a:p>
            <a:pPr lvl="1"/>
            <a:endParaRPr lang="en-US" sz="2000">
              <a:solidFill>
                <a:srgbClr val="7030A0"/>
              </a:solidFill>
            </a:endParaRPr>
          </a:p>
          <a:p>
            <a:pPr marL="0" indent="0">
              <a:buNone/>
            </a:pPr>
            <a:r>
              <a:rPr lang="en-US" b="1">
                <a:solidFill>
                  <a:srgbClr val="7030A0"/>
                </a:solidFill>
              </a:rPr>
              <a:t>Strategies to mitigate impacts:</a:t>
            </a:r>
            <a:endParaRPr lang="en-US" sz="2400" b="1">
              <a:solidFill>
                <a:srgbClr val="7030A0"/>
              </a:solidFill>
            </a:endParaRPr>
          </a:p>
          <a:p>
            <a:pPr lvl="1"/>
            <a:r>
              <a:rPr lang="en-US">
                <a:solidFill>
                  <a:srgbClr val="7030A0"/>
                </a:solidFill>
              </a:rPr>
              <a:t>Prevent differential charging of surfaces by ensuring entire surface is made of a </a:t>
            </a:r>
            <a:r>
              <a:rPr lang="en-US" b="1">
                <a:solidFill>
                  <a:srgbClr val="7030A0"/>
                </a:solidFill>
              </a:rPr>
              <a:t>uniform conductivity</a:t>
            </a:r>
            <a:endParaRPr lang="en-US" sz="2000" b="1">
              <a:solidFill>
                <a:srgbClr val="7030A0"/>
              </a:solidFill>
            </a:endParaRPr>
          </a:p>
          <a:p>
            <a:pPr lvl="1"/>
            <a:r>
              <a:rPr lang="en-US">
                <a:solidFill>
                  <a:srgbClr val="7030A0"/>
                </a:solidFill>
              </a:rPr>
              <a:t>Balance currents using </a:t>
            </a:r>
            <a:r>
              <a:rPr lang="en-US" b="1">
                <a:solidFill>
                  <a:srgbClr val="7030A0"/>
                </a:solidFill>
              </a:rPr>
              <a:t>special surface coatings</a:t>
            </a:r>
            <a:endParaRPr lang="en-US" sz="2000" b="1">
              <a:solidFill>
                <a:srgbClr val="7030A0"/>
              </a:solidFill>
            </a:endParaRPr>
          </a:p>
          <a:p>
            <a:pPr lvl="1"/>
            <a:r>
              <a:rPr lang="en-US" b="1">
                <a:solidFill>
                  <a:srgbClr val="7030A0"/>
                </a:solidFill>
              </a:rPr>
              <a:t>Grounding</a:t>
            </a:r>
            <a:r>
              <a:rPr lang="en-US">
                <a:solidFill>
                  <a:srgbClr val="7030A0"/>
                </a:solidFill>
              </a:rPr>
              <a:t>, selecting </a:t>
            </a:r>
            <a:r>
              <a:rPr lang="en-US" b="1">
                <a:solidFill>
                  <a:srgbClr val="7030A0"/>
                </a:solidFill>
              </a:rPr>
              <a:t>insulating surface materials</a:t>
            </a:r>
            <a:r>
              <a:rPr lang="en-US">
                <a:solidFill>
                  <a:srgbClr val="7030A0"/>
                </a:solidFill>
              </a:rPr>
              <a:t>, </a:t>
            </a:r>
            <a:r>
              <a:rPr lang="en-US" b="1">
                <a:solidFill>
                  <a:srgbClr val="7030A0"/>
                </a:solidFill>
              </a:rPr>
              <a:t>shielding</a:t>
            </a:r>
            <a:r>
              <a:rPr lang="en-US">
                <a:solidFill>
                  <a:srgbClr val="7030A0"/>
                </a:solidFill>
              </a:rPr>
              <a:t>, </a:t>
            </a:r>
            <a:r>
              <a:rPr lang="en-US" b="1">
                <a:solidFill>
                  <a:srgbClr val="7030A0"/>
                </a:solidFill>
              </a:rPr>
              <a:t>filtering</a:t>
            </a:r>
            <a:r>
              <a:rPr lang="en-US">
                <a:solidFill>
                  <a:srgbClr val="7030A0"/>
                </a:solidFill>
              </a:rPr>
              <a:t>, </a:t>
            </a:r>
            <a:r>
              <a:rPr lang="en-US" b="1">
                <a:solidFill>
                  <a:srgbClr val="7030A0"/>
                </a:solidFill>
              </a:rPr>
              <a:t>proper handling procedures</a:t>
            </a:r>
            <a:endParaRPr lang="en-US" sz="2000" b="1">
              <a:solidFill>
                <a:srgbClr val="7030A0"/>
              </a:solidFill>
            </a:endParaRPr>
          </a:p>
          <a:p>
            <a:endParaRPr lang="en-US">
              <a:solidFill>
                <a:srgbClr val="7030A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24</a:t>
            </a:fld>
            <a:endParaRPr lang="en-US"/>
          </a:p>
        </p:txBody>
      </p:sp>
    </p:spTree>
    <p:extLst>
      <p:ext uri="{BB962C8B-B14F-4D97-AF65-F5344CB8AC3E}">
        <p14:creationId xmlns:p14="http://schemas.microsoft.com/office/powerpoint/2010/main" val="311043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fade">
                                      <p:cBhvr>
                                        <p:cTn id="39" dur="500"/>
                                        <p:tgtEl>
                                          <p:spTgt spid="3">
                                            <p:txEl>
                                              <p:pRg st="11" end="11"/>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30115" y="27769"/>
            <a:ext cx="7886700" cy="787777"/>
          </a:xfrm>
        </p:spPr>
        <p:txBody>
          <a:bodyPr>
            <a:normAutofit/>
          </a:bodyPr>
          <a:lstStyle/>
          <a:p>
            <a:r>
              <a:rPr lang="en-US" sz="4000">
                <a:solidFill>
                  <a:srgbClr val="7030A0"/>
                </a:solidFill>
              </a:rPr>
              <a:t>Earth’s Magnetosphere</a:t>
            </a:r>
          </a:p>
        </p:txBody>
      </p:sp>
      <p:sp>
        <p:nvSpPr>
          <p:cNvPr id="4" name="Slide Number Placeholder 3"/>
          <p:cNvSpPr>
            <a:spLocks noGrp="1"/>
          </p:cNvSpPr>
          <p:nvPr>
            <p:ph type="sldNum" sz="quarter" idx="12"/>
          </p:nvPr>
        </p:nvSpPr>
        <p:spPr/>
        <p:txBody>
          <a:bodyPr/>
          <a:lstStyle/>
          <a:p>
            <a:fld id="{04EF813A-C95A-49A4-BB2C-19388EC38802}" type="slidenum">
              <a:rPr lang="en-US" smtClean="0"/>
              <a:t>25</a:t>
            </a:fld>
            <a:endParaRPr lang="en-US"/>
          </a:p>
        </p:txBody>
      </p:sp>
      <p:pic>
        <p:nvPicPr>
          <p:cNvPr id="6" name="Picture 5"/>
          <p:cNvPicPr>
            <a:picLocks noChangeAspect="1"/>
          </p:cNvPicPr>
          <p:nvPr/>
        </p:nvPicPr>
        <p:blipFill>
          <a:blip r:embed="rId2"/>
          <a:stretch>
            <a:fillRect/>
          </a:stretch>
        </p:blipFill>
        <p:spPr>
          <a:xfrm>
            <a:off x="0" y="1071315"/>
            <a:ext cx="9081856" cy="5650162"/>
          </a:xfrm>
          <a:prstGeom prst="rect">
            <a:avLst/>
          </a:prstGeom>
        </p:spPr>
      </p:pic>
    </p:spTree>
    <p:extLst>
      <p:ext uri="{BB962C8B-B14F-4D97-AF65-F5344CB8AC3E}">
        <p14:creationId xmlns:p14="http://schemas.microsoft.com/office/powerpoint/2010/main" val="2667064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43FEA-94BB-E1BC-8EAB-74613302F1DF}"/>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CC7D1B2F-90CE-4AA2-42FC-9264C8C639F0}"/>
              </a:ext>
            </a:extLst>
          </p:cNvPr>
          <p:cNvSpPr>
            <a:spLocks noGrp="1"/>
          </p:cNvSpPr>
          <p:nvPr>
            <p:ph type="ftr" sz="quarter" idx="11"/>
          </p:nvPr>
        </p:nvSpPr>
        <p:spPr/>
        <p:txBody>
          <a:bodyPr/>
          <a:lstStyle/>
          <a:p>
            <a:r>
              <a:rPr lang="en-US"/>
              <a:t>Astro 331 Lab #1</a:t>
            </a:r>
          </a:p>
        </p:txBody>
      </p:sp>
      <p:sp>
        <p:nvSpPr>
          <p:cNvPr id="4" name="Slide Number Placeholder 3">
            <a:extLst>
              <a:ext uri="{FF2B5EF4-FFF2-40B4-BE49-F238E27FC236}">
                <a16:creationId xmlns:a16="http://schemas.microsoft.com/office/drawing/2014/main" id="{BBF8D7CF-F7CF-1F58-14C5-83469A51C8AB}"/>
              </a:ext>
            </a:extLst>
          </p:cNvPr>
          <p:cNvSpPr>
            <a:spLocks noGrp="1"/>
          </p:cNvSpPr>
          <p:nvPr>
            <p:ph type="sldNum" sz="quarter" idx="12"/>
          </p:nvPr>
        </p:nvSpPr>
        <p:spPr/>
        <p:txBody>
          <a:bodyPr/>
          <a:lstStyle/>
          <a:p>
            <a:fld id="{9A3029B7-FE6B-4680-9049-80E8298A0825}" type="slidenum">
              <a:rPr lang="en-US" smtClean="0"/>
              <a:t>26</a:t>
            </a:fld>
            <a:endParaRPr lang="en-US"/>
          </a:p>
        </p:txBody>
      </p:sp>
      <p:pic>
        <p:nvPicPr>
          <p:cNvPr id="10242" name="Picture 2" descr="Fig1">
            <a:extLst>
              <a:ext uri="{FF2B5EF4-FFF2-40B4-BE49-F238E27FC236}">
                <a16:creationId xmlns:a16="http://schemas.microsoft.com/office/drawing/2014/main" id="{EB630843-DDD0-8E2A-F441-6D57B5A974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9155756" cy="686681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885B200-905A-7DE9-D4A0-F0EB4C0D1F02}"/>
              </a:ext>
            </a:extLst>
          </p:cNvPr>
          <p:cNvSpPr txBox="1"/>
          <p:nvPr/>
        </p:nvSpPr>
        <p:spPr>
          <a:xfrm>
            <a:off x="116014" y="92885"/>
            <a:ext cx="5153216" cy="1384995"/>
          </a:xfrm>
          <a:prstGeom prst="rect">
            <a:avLst/>
          </a:prstGeom>
          <a:noFill/>
        </p:spPr>
        <p:txBody>
          <a:bodyPr wrap="square">
            <a:spAutoFit/>
          </a:bodyPr>
          <a:lstStyle/>
          <a:p>
            <a:r>
              <a:rPr lang="en-US" sz="1400" b="0" i="0">
                <a:solidFill>
                  <a:srgbClr val="92D050"/>
                </a:solidFill>
                <a:effectLst/>
                <a:latin typeface="Arial" panose="020B0604020202020204" pitchFamily="34" charset="0"/>
              </a:rPr>
              <a:t>Observations of the solar wind and </a:t>
            </a:r>
            <a:r>
              <a:rPr lang="en-US" sz="1400" b="0" i="0" err="1">
                <a:solidFill>
                  <a:srgbClr val="92D050"/>
                </a:solidFill>
                <a:effectLst/>
                <a:latin typeface="Arial" panose="020B0604020202020204" pitchFamily="34" charset="0"/>
              </a:rPr>
              <a:t>geospace</a:t>
            </a:r>
            <a:r>
              <a:rPr lang="en-US" sz="1400" b="0" i="0">
                <a:solidFill>
                  <a:srgbClr val="92D050"/>
                </a:solidFill>
                <a:effectLst/>
                <a:latin typeface="Arial" panose="020B0604020202020204" pitchFamily="34" charset="0"/>
              </a:rPr>
              <a:t> by the combination of satellites from Japan, the USA and Europe. The results revealed that the plasma in the inner magnetosphere when a space storm develops is mainly composed of plasma originating from the Earth, rather than those from the solar wind. (© ERG science team)</a:t>
            </a:r>
            <a:endParaRPr lang="en-US" sz="1400">
              <a:solidFill>
                <a:srgbClr val="92D050"/>
              </a:solidFill>
            </a:endParaRPr>
          </a:p>
        </p:txBody>
      </p:sp>
    </p:spTree>
    <p:extLst>
      <p:ext uri="{BB962C8B-B14F-4D97-AF65-F5344CB8AC3E}">
        <p14:creationId xmlns:p14="http://schemas.microsoft.com/office/powerpoint/2010/main" val="1059899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53328-F180-3269-EA26-EC6405724D7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D67925-C8F3-9956-59EA-BAD92151DF0C}"/>
              </a:ext>
            </a:extLst>
          </p:cNvPr>
          <p:cNvSpPr>
            <a:spLocks noGrp="1"/>
          </p:cNvSpPr>
          <p:nvPr>
            <p:ph type="title"/>
          </p:nvPr>
        </p:nvSpPr>
        <p:spPr/>
        <p:txBody>
          <a:bodyPr/>
          <a:lstStyle/>
          <a:p>
            <a:r>
              <a:rPr lang="en-US">
                <a:solidFill>
                  <a:schemeClr val="accent1"/>
                </a:solidFill>
              </a:rPr>
              <a:t>Radiation</a:t>
            </a:r>
            <a:r>
              <a:rPr lang="en-US">
                <a:solidFill>
                  <a:srgbClr val="00B050"/>
                </a:solidFill>
              </a:rPr>
              <a:t> </a:t>
            </a:r>
          </a:p>
        </p:txBody>
      </p:sp>
      <p:sp>
        <p:nvSpPr>
          <p:cNvPr id="4" name="Slide Number Placeholder 3">
            <a:extLst>
              <a:ext uri="{FF2B5EF4-FFF2-40B4-BE49-F238E27FC236}">
                <a16:creationId xmlns:a16="http://schemas.microsoft.com/office/drawing/2014/main" id="{0CB71B1A-1F4F-92F8-F149-2BF258B563CD}"/>
              </a:ext>
            </a:extLst>
          </p:cNvPr>
          <p:cNvSpPr>
            <a:spLocks noGrp="1"/>
          </p:cNvSpPr>
          <p:nvPr>
            <p:ph type="sldNum" sz="quarter" idx="12"/>
          </p:nvPr>
        </p:nvSpPr>
        <p:spPr/>
        <p:txBody>
          <a:bodyPr/>
          <a:lstStyle/>
          <a:p>
            <a:fld id="{9A3029B7-FE6B-4680-9049-80E8298A0825}" type="slidenum">
              <a:rPr lang="en-US" smtClean="0"/>
              <a:t>27</a:t>
            </a:fld>
            <a:endParaRPr lang="en-US"/>
          </a:p>
        </p:txBody>
      </p:sp>
    </p:spTree>
    <p:extLst>
      <p:ext uri="{BB962C8B-B14F-4D97-AF65-F5344CB8AC3E}">
        <p14:creationId xmlns:p14="http://schemas.microsoft.com/office/powerpoint/2010/main" val="691717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solidFill>
                  <a:schemeClr val="accent1"/>
                </a:solidFill>
              </a:rPr>
              <a:t>Radiation</a:t>
            </a:r>
            <a:endParaRPr lang="en-US">
              <a:solidFill>
                <a:schemeClr val="accent1"/>
              </a:solidFill>
            </a:endParaRPr>
          </a:p>
        </p:txBody>
      </p:sp>
      <p:sp>
        <p:nvSpPr>
          <p:cNvPr id="4" name="Content Placeholder 3"/>
          <p:cNvSpPr>
            <a:spLocks noGrp="1"/>
          </p:cNvSpPr>
          <p:nvPr>
            <p:ph idx="1"/>
          </p:nvPr>
        </p:nvSpPr>
        <p:spPr>
          <a:xfrm>
            <a:off x="182236" y="1058834"/>
            <a:ext cx="8072078" cy="5665980"/>
          </a:xfrm>
        </p:spPr>
        <p:txBody>
          <a:bodyPr>
            <a:normAutofit fontScale="70000" lnSpcReduction="20000"/>
          </a:bodyPr>
          <a:lstStyle/>
          <a:p>
            <a:pPr marL="0" indent="0">
              <a:buNone/>
            </a:pPr>
            <a:r>
              <a:rPr lang="en-US" b="1">
                <a:solidFill>
                  <a:schemeClr val="accent1"/>
                </a:solidFill>
              </a:rPr>
              <a:t>Sources</a:t>
            </a:r>
            <a:r>
              <a:rPr lang="en-US">
                <a:solidFill>
                  <a:schemeClr val="accent1"/>
                </a:solidFill>
              </a:rPr>
              <a:t>:</a:t>
            </a:r>
          </a:p>
          <a:p>
            <a:pPr lvl="1"/>
            <a:r>
              <a:rPr lang="en-US" b="1">
                <a:solidFill>
                  <a:schemeClr val="accent1"/>
                </a:solidFill>
              </a:rPr>
              <a:t>Galactic Cosmic Rays (GCRs) </a:t>
            </a:r>
            <a:r>
              <a:rPr lang="en-US">
                <a:solidFill>
                  <a:schemeClr val="accent1"/>
                </a:solidFill>
              </a:rPr>
              <a:t>are high-energy particles from outside the solar system</a:t>
            </a:r>
          </a:p>
          <a:p>
            <a:pPr lvl="1"/>
            <a:r>
              <a:rPr lang="en-US" b="1">
                <a:solidFill>
                  <a:schemeClr val="accent1"/>
                </a:solidFill>
              </a:rPr>
              <a:t>Solar Particle Events (SPEs) </a:t>
            </a:r>
            <a:r>
              <a:rPr lang="en-US">
                <a:solidFill>
                  <a:schemeClr val="accent1"/>
                </a:solidFill>
              </a:rPr>
              <a:t>when large amounts of particles are spewed from the Sun</a:t>
            </a:r>
          </a:p>
          <a:p>
            <a:pPr lvl="1"/>
            <a:r>
              <a:rPr lang="en-US" b="1">
                <a:solidFill>
                  <a:schemeClr val="accent1"/>
                </a:solidFill>
              </a:rPr>
              <a:t>Van Allen radiation belts</a:t>
            </a:r>
          </a:p>
          <a:p>
            <a:pPr lvl="1"/>
            <a:endParaRPr lang="en-US">
              <a:solidFill>
                <a:schemeClr val="accent1"/>
              </a:solidFill>
            </a:endParaRPr>
          </a:p>
          <a:p>
            <a:pPr marL="0" indent="0">
              <a:buNone/>
            </a:pPr>
            <a:r>
              <a:rPr lang="en-US" b="1">
                <a:solidFill>
                  <a:schemeClr val="accent1"/>
                </a:solidFill>
              </a:rPr>
              <a:t>Effects on spacecraft:</a:t>
            </a:r>
            <a:endParaRPr lang="en-US" sz="2400" b="1">
              <a:solidFill>
                <a:schemeClr val="accent1"/>
              </a:solidFill>
            </a:endParaRPr>
          </a:p>
          <a:p>
            <a:pPr lvl="1"/>
            <a:r>
              <a:rPr lang="en-US">
                <a:solidFill>
                  <a:schemeClr val="accent1"/>
                </a:solidFill>
              </a:rPr>
              <a:t>Can cause </a:t>
            </a:r>
            <a:r>
              <a:rPr lang="en-US" b="1">
                <a:solidFill>
                  <a:schemeClr val="accent1"/>
                </a:solidFill>
              </a:rPr>
              <a:t>Single Event Phenomenon </a:t>
            </a:r>
            <a:r>
              <a:rPr lang="en-US">
                <a:solidFill>
                  <a:schemeClr val="accent1"/>
                </a:solidFill>
              </a:rPr>
              <a:t>(</a:t>
            </a:r>
            <a:r>
              <a:rPr lang="en-US" b="1">
                <a:solidFill>
                  <a:schemeClr val="accent1"/>
                </a:solidFill>
              </a:rPr>
              <a:t>SEP</a:t>
            </a:r>
            <a:r>
              <a:rPr lang="en-US">
                <a:solidFill>
                  <a:schemeClr val="accent1"/>
                </a:solidFill>
              </a:rPr>
              <a:t>), which can have three effects:</a:t>
            </a:r>
            <a:endParaRPr lang="en-US" sz="2000">
              <a:solidFill>
                <a:schemeClr val="accent1"/>
              </a:solidFill>
            </a:endParaRPr>
          </a:p>
          <a:p>
            <a:pPr lvl="2"/>
            <a:r>
              <a:rPr lang="en-US">
                <a:solidFill>
                  <a:schemeClr val="accent1"/>
                </a:solidFill>
              </a:rPr>
              <a:t>Bitflip/Single Event Upset (</a:t>
            </a:r>
            <a:r>
              <a:rPr lang="en-US" b="1">
                <a:solidFill>
                  <a:schemeClr val="accent1"/>
                </a:solidFill>
              </a:rPr>
              <a:t>SEU</a:t>
            </a:r>
            <a:r>
              <a:rPr lang="en-US">
                <a:solidFill>
                  <a:schemeClr val="accent1"/>
                </a:solidFill>
              </a:rPr>
              <a:t>) – changes one bit</a:t>
            </a:r>
            <a:endParaRPr lang="en-US" sz="1600">
              <a:solidFill>
                <a:schemeClr val="accent1"/>
              </a:solidFill>
            </a:endParaRPr>
          </a:p>
          <a:p>
            <a:pPr lvl="2"/>
            <a:r>
              <a:rPr lang="en-US">
                <a:solidFill>
                  <a:schemeClr val="accent1"/>
                </a:solidFill>
              </a:rPr>
              <a:t>Single Event Latch-up (</a:t>
            </a:r>
            <a:r>
              <a:rPr lang="en-US" b="1">
                <a:solidFill>
                  <a:schemeClr val="accent1"/>
                </a:solidFill>
              </a:rPr>
              <a:t>SEL</a:t>
            </a:r>
            <a:r>
              <a:rPr lang="en-US">
                <a:solidFill>
                  <a:schemeClr val="accent1"/>
                </a:solidFill>
              </a:rPr>
              <a:t>) – part hangs up, draws excessive current, will not operate until power cycled</a:t>
            </a:r>
            <a:endParaRPr lang="en-US" sz="1600">
              <a:solidFill>
                <a:schemeClr val="accent1"/>
              </a:solidFill>
            </a:endParaRPr>
          </a:p>
          <a:p>
            <a:pPr lvl="2"/>
            <a:r>
              <a:rPr lang="en-US">
                <a:solidFill>
                  <a:schemeClr val="accent1"/>
                </a:solidFill>
              </a:rPr>
              <a:t>Single-Event Burnout (</a:t>
            </a:r>
            <a:r>
              <a:rPr lang="en-US" b="1">
                <a:solidFill>
                  <a:schemeClr val="accent1"/>
                </a:solidFill>
              </a:rPr>
              <a:t>SEB</a:t>
            </a:r>
            <a:r>
              <a:rPr lang="en-US">
                <a:solidFill>
                  <a:schemeClr val="accent1"/>
                </a:solidFill>
              </a:rPr>
              <a:t>) – causes device to fail permanently</a:t>
            </a:r>
            <a:endParaRPr lang="en-US" sz="1600">
              <a:solidFill>
                <a:schemeClr val="accent1"/>
              </a:solidFill>
            </a:endParaRPr>
          </a:p>
          <a:p>
            <a:pPr lvl="1"/>
            <a:r>
              <a:rPr lang="en-US" b="1">
                <a:solidFill>
                  <a:schemeClr val="accent1"/>
                </a:solidFill>
              </a:rPr>
              <a:t>Total Ionizing Dose </a:t>
            </a:r>
            <a:r>
              <a:rPr lang="en-US">
                <a:solidFill>
                  <a:schemeClr val="accent1"/>
                </a:solidFill>
              </a:rPr>
              <a:t>(</a:t>
            </a:r>
            <a:r>
              <a:rPr lang="en-US" b="1">
                <a:solidFill>
                  <a:schemeClr val="accent1"/>
                </a:solidFill>
              </a:rPr>
              <a:t>TID</a:t>
            </a:r>
            <a:r>
              <a:rPr lang="en-US">
                <a:solidFill>
                  <a:schemeClr val="accent1"/>
                </a:solidFill>
              </a:rPr>
              <a:t>): Long-term accumulation of trapped charge in dielectrics.</a:t>
            </a:r>
          </a:p>
          <a:p>
            <a:pPr lvl="1"/>
            <a:r>
              <a:rPr lang="en-US">
                <a:solidFill>
                  <a:schemeClr val="accent1"/>
                </a:solidFill>
              </a:rPr>
              <a:t>Can generate background noise and produce </a:t>
            </a:r>
            <a:r>
              <a:rPr lang="en-US" b="1">
                <a:solidFill>
                  <a:schemeClr val="accent1"/>
                </a:solidFill>
              </a:rPr>
              <a:t>spurious signals </a:t>
            </a:r>
            <a:r>
              <a:rPr lang="en-US">
                <a:solidFill>
                  <a:schemeClr val="accent1"/>
                </a:solidFill>
              </a:rPr>
              <a:t>in various sensors</a:t>
            </a:r>
          </a:p>
          <a:p>
            <a:pPr lvl="1"/>
            <a:endParaRPr lang="en-US" sz="2800">
              <a:solidFill>
                <a:schemeClr val="accent1"/>
              </a:solidFill>
            </a:endParaRPr>
          </a:p>
          <a:p>
            <a:pPr marL="0" indent="0">
              <a:buNone/>
            </a:pPr>
            <a:r>
              <a:rPr lang="en-US" b="1">
                <a:solidFill>
                  <a:schemeClr val="accent1"/>
                </a:solidFill>
              </a:rPr>
              <a:t>Strategies to mitigate impacts:</a:t>
            </a:r>
            <a:endParaRPr lang="en-US" sz="2400" b="1">
              <a:solidFill>
                <a:schemeClr val="accent1"/>
              </a:solidFill>
            </a:endParaRPr>
          </a:p>
          <a:p>
            <a:pPr lvl="1"/>
            <a:r>
              <a:rPr lang="en-US">
                <a:solidFill>
                  <a:schemeClr val="accent1"/>
                </a:solidFill>
              </a:rPr>
              <a:t>Shielding sensitive electronics</a:t>
            </a:r>
            <a:endParaRPr lang="en-US" sz="2000">
              <a:solidFill>
                <a:schemeClr val="accent1"/>
              </a:solidFill>
            </a:endParaRPr>
          </a:p>
          <a:p>
            <a:pPr lvl="1"/>
            <a:r>
              <a:rPr lang="en-US">
                <a:solidFill>
                  <a:schemeClr val="accent1"/>
                </a:solidFill>
              </a:rPr>
              <a:t>Design and parts selection (use radiation-hardened parts)</a:t>
            </a:r>
          </a:p>
          <a:p>
            <a:pPr lvl="1"/>
            <a:r>
              <a:rPr lang="en-US">
                <a:solidFill>
                  <a:schemeClr val="accent1"/>
                </a:solidFill>
              </a:rPr>
              <a:t>Redundancy</a:t>
            </a:r>
            <a:endParaRPr lang="en-US" sz="2000">
              <a:solidFill>
                <a:schemeClr val="accent1"/>
              </a:solidFill>
            </a:endParaRPr>
          </a:p>
          <a:p>
            <a:pPr lvl="1"/>
            <a:r>
              <a:rPr lang="en-US">
                <a:solidFill>
                  <a:schemeClr val="accent1"/>
                </a:solidFill>
              </a:rPr>
              <a:t>EDAC (error detection and correction – more to come on this in the TT&amp;C lesson)</a:t>
            </a:r>
            <a:endParaRPr lang="en-US" sz="2000">
              <a:solidFill>
                <a:schemeClr val="accent1"/>
              </a:solidFill>
            </a:endParaRPr>
          </a:p>
          <a:p>
            <a:pPr lvl="1"/>
            <a:endParaRPr lang="en-US" sz="2000">
              <a:solidFill>
                <a:schemeClr val="accent1"/>
              </a:solidFill>
            </a:endParaRPr>
          </a:p>
          <a:p>
            <a:endParaRPr lang="en-US">
              <a:solidFill>
                <a:schemeClr val="accent1"/>
              </a:solidFill>
            </a:endParaRPr>
          </a:p>
          <a:p>
            <a:endParaRPr lang="en-US">
              <a:solidFill>
                <a:schemeClr val="accent1"/>
              </a:solidFill>
            </a:endParaRPr>
          </a:p>
        </p:txBody>
      </p:sp>
      <p:sp>
        <p:nvSpPr>
          <p:cNvPr id="3" name="Slide Number Placeholder 2"/>
          <p:cNvSpPr>
            <a:spLocks noGrp="1"/>
          </p:cNvSpPr>
          <p:nvPr>
            <p:ph type="sldNum" sz="quarter" idx="12"/>
          </p:nvPr>
        </p:nvSpPr>
        <p:spPr/>
        <p:txBody>
          <a:bodyPr/>
          <a:lstStyle/>
          <a:p>
            <a:fld id="{04EF813A-C95A-49A4-BB2C-19388EC38802}" type="slidenum">
              <a:rPr lang="en-US" smtClean="0"/>
              <a:t>28</a:t>
            </a:fld>
            <a:endParaRPr lang="en-US"/>
          </a:p>
        </p:txBody>
      </p:sp>
    </p:spTree>
    <p:extLst>
      <p:ext uri="{BB962C8B-B14F-4D97-AF65-F5344CB8AC3E}">
        <p14:creationId xmlns:p14="http://schemas.microsoft.com/office/powerpoint/2010/main" val="259256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500"/>
                                        <p:tgtEl>
                                          <p:spTgt spid="4">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animEffect transition="in" filter="fade">
                                      <p:cBhvr>
                                        <p:cTn id="13" dur="500"/>
                                        <p:tgtEl>
                                          <p:spTgt spid="4">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8" end="8"/>
                                            </p:txEl>
                                          </p:spTgt>
                                        </p:tgtEl>
                                        <p:attrNameLst>
                                          <p:attrName>style.visibility</p:attrName>
                                        </p:attrNameLst>
                                      </p:cBhvr>
                                      <p:to>
                                        <p:strVal val="visible"/>
                                      </p:to>
                                    </p:set>
                                    <p:animEffect transition="in" filter="fade">
                                      <p:cBhvr>
                                        <p:cTn id="16" dur="500"/>
                                        <p:tgtEl>
                                          <p:spTgt spid="4">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Effect transition="in" filter="fade">
                                      <p:cBhvr>
                                        <p:cTn id="19" dur="500"/>
                                        <p:tgtEl>
                                          <p:spTgt spid="4">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0" end="10"/>
                                            </p:txEl>
                                          </p:spTgt>
                                        </p:tgtEl>
                                        <p:attrNameLst>
                                          <p:attrName>style.visibility</p:attrName>
                                        </p:attrNameLst>
                                      </p:cBhvr>
                                      <p:to>
                                        <p:strVal val="visible"/>
                                      </p:to>
                                    </p:set>
                                    <p:animEffect transition="in" filter="fade">
                                      <p:cBhvr>
                                        <p:cTn id="22" dur="500"/>
                                        <p:tgtEl>
                                          <p:spTgt spid="4">
                                            <p:txEl>
                                              <p:pRg st="10" end="1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1" end="11"/>
                                            </p:txEl>
                                          </p:spTgt>
                                        </p:tgtEl>
                                        <p:attrNameLst>
                                          <p:attrName>style.visibility</p:attrName>
                                        </p:attrNameLst>
                                      </p:cBhvr>
                                      <p:to>
                                        <p:strVal val="visible"/>
                                      </p:to>
                                    </p:set>
                                    <p:animEffect transition="in" filter="fade">
                                      <p:cBhvr>
                                        <p:cTn id="25" dur="500"/>
                                        <p:tgtEl>
                                          <p:spTgt spid="4">
                                            <p:txEl>
                                              <p:pRg st="11" end="1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13" end="13"/>
                                            </p:txEl>
                                          </p:spTgt>
                                        </p:tgtEl>
                                        <p:attrNameLst>
                                          <p:attrName>style.visibility</p:attrName>
                                        </p:attrNameLst>
                                      </p:cBhvr>
                                      <p:to>
                                        <p:strVal val="visible"/>
                                      </p:to>
                                    </p:set>
                                    <p:animEffect transition="in" filter="fade">
                                      <p:cBhvr>
                                        <p:cTn id="30" dur="500"/>
                                        <p:tgtEl>
                                          <p:spTgt spid="4">
                                            <p:txEl>
                                              <p:pRg st="13" end="13"/>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14" end="14"/>
                                            </p:txEl>
                                          </p:spTgt>
                                        </p:tgtEl>
                                        <p:attrNameLst>
                                          <p:attrName>style.visibility</p:attrName>
                                        </p:attrNameLst>
                                      </p:cBhvr>
                                      <p:to>
                                        <p:strVal val="visible"/>
                                      </p:to>
                                    </p:set>
                                    <p:animEffect transition="in" filter="fade">
                                      <p:cBhvr>
                                        <p:cTn id="33" dur="500"/>
                                        <p:tgtEl>
                                          <p:spTgt spid="4">
                                            <p:txEl>
                                              <p:pRg st="14" end="1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15" end="15"/>
                                            </p:txEl>
                                          </p:spTgt>
                                        </p:tgtEl>
                                        <p:attrNameLst>
                                          <p:attrName>style.visibility</p:attrName>
                                        </p:attrNameLst>
                                      </p:cBhvr>
                                      <p:to>
                                        <p:strVal val="visible"/>
                                      </p:to>
                                    </p:set>
                                    <p:animEffect transition="in" filter="fade">
                                      <p:cBhvr>
                                        <p:cTn id="36" dur="500"/>
                                        <p:tgtEl>
                                          <p:spTgt spid="4">
                                            <p:txEl>
                                              <p:pRg st="15" end="15"/>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4">
                                            <p:txEl>
                                              <p:pRg st="16" end="16"/>
                                            </p:txEl>
                                          </p:spTgt>
                                        </p:tgtEl>
                                        <p:attrNameLst>
                                          <p:attrName>style.visibility</p:attrName>
                                        </p:attrNameLst>
                                      </p:cBhvr>
                                      <p:to>
                                        <p:strVal val="visible"/>
                                      </p:to>
                                    </p:set>
                                    <p:animEffect transition="in" filter="fade">
                                      <p:cBhvr>
                                        <p:cTn id="39" dur="500"/>
                                        <p:tgtEl>
                                          <p:spTgt spid="4">
                                            <p:txEl>
                                              <p:pRg st="16" end="16"/>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4">
                                            <p:txEl>
                                              <p:pRg st="17" end="17"/>
                                            </p:txEl>
                                          </p:spTgt>
                                        </p:tgtEl>
                                        <p:attrNameLst>
                                          <p:attrName>style.visibility</p:attrName>
                                        </p:attrNameLst>
                                      </p:cBhvr>
                                      <p:to>
                                        <p:strVal val="visible"/>
                                      </p:to>
                                    </p:set>
                                    <p:animEffect transition="in" filter="fade">
                                      <p:cBhvr>
                                        <p:cTn id="42"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a:solidFill>
                  <a:schemeClr val="accent1"/>
                </a:solidFill>
              </a:rPr>
              <a:t>Van Allen Radiation Belts</a:t>
            </a:r>
          </a:p>
        </p:txBody>
      </p:sp>
      <p:sp>
        <p:nvSpPr>
          <p:cNvPr id="3" name="Content Placeholder 2"/>
          <p:cNvSpPr>
            <a:spLocks noGrp="1"/>
          </p:cNvSpPr>
          <p:nvPr>
            <p:ph idx="1"/>
          </p:nvPr>
        </p:nvSpPr>
        <p:spPr>
          <a:xfrm>
            <a:off x="197708" y="1037968"/>
            <a:ext cx="8317642" cy="5318383"/>
          </a:xfrm>
        </p:spPr>
        <p:txBody>
          <a:bodyPr>
            <a:normAutofit lnSpcReduction="10000"/>
          </a:bodyPr>
          <a:lstStyle/>
          <a:p>
            <a:r>
              <a:rPr lang="en-US">
                <a:solidFill>
                  <a:schemeClr val="accent1"/>
                </a:solidFill>
              </a:rPr>
              <a:t>Regions of high-energy particles, mainly protons and electrons, held captive by Earth’s magnetic influence</a:t>
            </a:r>
            <a:endParaRPr lang="en-US" sz="2400">
              <a:solidFill>
                <a:schemeClr val="accent1"/>
              </a:solidFill>
            </a:endParaRPr>
          </a:p>
          <a:p>
            <a:r>
              <a:rPr lang="en-US">
                <a:solidFill>
                  <a:schemeClr val="accent1"/>
                </a:solidFill>
              </a:rPr>
              <a:t>Permanent hazard to orbit spacecraft, with particles distributed non-uniformly with Earth’s magnetosphere</a:t>
            </a:r>
            <a:endParaRPr lang="en-US" sz="2400">
              <a:solidFill>
                <a:schemeClr val="accent1"/>
              </a:solidFill>
            </a:endParaRPr>
          </a:p>
          <a:p>
            <a:r>
              <a:rPr lang="en-US" b="1">
                <a:solidFill>
                  <a:schemeClr val="accent1"/>
                </a:solidFill>
              </a:rPr>
              <a:t>South Atlantic Anomaly </a:t>
            </a:r>
            <a:r>
              <a:rPr lang="en-US">
                <a:solidFill>
                  <a:schemeClr val="accent1"/>
                </a:solidFill>
              </a:rPr>
              <a:t>is a volume of space centered on South America’s east coast, where Earth’s inner Van Allen belt comes closest to the surface due to a weakness in Earth’s magnetic field</a:t>
            </a:r>
            <a:endParaRPr lang="en-US" sz="2400">
              <a:solidFill>
                <a:schemeClr val="accent1"/>
              </a:solidFill>
            </a:endParaRPr>
          </a:p>
          <a:p>
            <a:pPr lvl="1"/>
            <a:r>
              <a:rPr lang="en-US">
                <a:solidFill>
                  <a:schemeClr val="accent1"/>
                </a:solidFill>
              </a:rPr>
              <a:t>An increased flux of particles exists within this space and exposes spacecraft to higher than usual radiation levels</a:t>
            </a:r>
            <a:endParaRPr lang="en-US" sz="2200">
              <a:solidFill>
                <a:schemeClr val="accent1"/>
              </a:solidFill>
            </a:endParaRPr>
          </a:p>
          <a:p>
            <a:endParaRPr lang="en-US">
              <a:solidFill>
                <a:schemeClr val="accent1"/>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29</a:t>
            </a:fld>
            <a:endParaRPr lang="en-US"/>
          </a:p>
        </p:txBody>
      </p:sp>
    </p:spTree>
    <p:extLst>
      <p:ext uri="{BB962C8B-B14F-4D97-AF65-F5344CB8AC3E}">
        <p14:creationId xmlns:p14="http://schemas.microsoft.com/office/powerpoint/2010/main" val="135030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2"/>
          <p:cNvSpPr>
            <a:spLocks/>
          </p:cNvSpPr>
          <p:nvPr/>
        </p:nvSpPr>
        <p:spPr bwMode="auto">
          <a:xfrm>
            <a:off x="3587262" y="6179344"/>
            <a:ext cx="530670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r"/>
            <a:r>
              <a:rPr lang="en-US" altLang="en-US" sz="1266">
                <a:latin typeface="Arial" panose="020B0604020202020204" pitchFamily="34" charset="0"/>
                <a:cs typeface="Arial" panose="020B0604020202020204" pitchFamily="34" charset="0"/>
                <a:sym typeface="Arial" panose="020B0604020202020204" pitchFamily="34" charset="0"/>
              </a:rPr>
              <a:t>Designing Space Missions and Systems, Fig 8.5</a:t>
            </a:r>
          </a:p>
        </p:txBody>
      </p:sp>
      <p:sp>
        <p:nvSpPr>
          <p:cNvPr id="3" name="Slide Number Placeholder 2"/>
          <p:cNvSpPr>
            <a:spLocks noGrp="1"/>
          </p:cNvSpPr>
          <p:nvPr>
            <p:ph type="sldNum" sz="quarter" idx="12"/>
          </p:nvPr>
        </p:nvSpPr>
        <p:spPr/>
        <p:txBody>
          <a:bodyPr/>
          <a:lstStyle/>
          <a:p>
            <a:fld id="{04EF813A-C95A-49A4-BB2C-19388EC38802}" type="slidenum">
              <a:rPr lang="en-US" smtClean="0"/>
              <a:t>30</a:t>
            </a:fld>
            <a:endParaRPr lang="en-US"/>
          </a:p>
        </p:txBody>
      </p:sp>
      <p:pic>
        <p:nvPicPr>
          <p:cNvPr id="5" name="Picture 4"/>
          <p:cNvPicPr>
            <a:picLocks noChangeAspect="1"/>
          </p:cNvPicPr>
          <p:nvPr/>
        </p:nvPicPr>
        <p:blipFill>
          <a:blip r:embed="rId2"/>
          <a:stretch>
            <a:fillRect/>
          </a:stretch>
        </p:blipFill>
        <p:spPr>
          <a:xfrm>
            <a:off x="628650" y="1157288"/>
            <a:ext cx="7993856" cy="5022056"/>
          </a:xfrm>
          <a:prstGeom prst="rect">
            <a:avLst/>
          </a:prstGeom>
        </p:spPr>
      </p:pic>
      <p:sp>
        <p:nvSpPr>
          <p:cNvPr id="2" name="Title 1"/>
          <p:cNvSpPr>
            <a:spLocks noGrp="1"/>
          </p:cNvSpPr>
          <p:nvPr>
            <p:ph type="title"/>
          </p:nvPr>
        </p:nvSpPr>
        <p:spPr/>
        <p:txBody>
          <a:bodyPr/>
          <a:lstStyle/>
          <a:p>
            <a:r>
              <a:rPr lang="en-US" sz="3600">
                <a:solidFill>
                  <a:schemeClr val="accent1"/>
                </a:solidFill>
              </a:rPr>
              <a:t>Van Allen Radiation Belts</a:t>
            </a:r>
          </a:p>
        </p:txBody>
      </p:sp>
    </p:spTree>
    <p:extLst>
      <p:ext uri="{BB962C8B-B14F-4D97-AF65-F5344CB8AC3E}">
        <p14:creationId xmlns:p14="http://schemas.microsoft.com/office/powerpoint/2010/main" val="3555989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solidFill>
                  <a:schemeClr val="accent1"/>
                </a:solidFill>
              </a:rPr>
              <a:t>South Atlantic Anomaly</a:t>
            </a:r>
          </a:p>
        </p:txBody>
      </p:sp>
      <p:sp>
        <p:nvSpPr>
          <p:cNvPr id="4" name="Slide Number Placeholder 3"/>
          <p:cNvSpPr>
            <a:spLocks noGrp="1"/>
          </p:cNvSpPr>
          <p:nvPr>
            <p:ph type="sldNum" sz="quarter" idx="12"/>
          </p:nvPr>
        </p:nvSpPr>
        <p:spPr/>
        <p:txBody>
          <a:bodyPr/>
          <a:lstStyle/>
          <a:p>
            <a:fld id="{04EF813A-C95A-49A4-BB2C-19388EC38802}" type="slidenum">
              <a:rPr lang="en-US" smtClean="0"/>
              <a:t>31</a:t>
            </a:fld>
            <a:endParaRPr lang="en-US"/>
          </a:p>
        </p:txBody>
      </p:sp>
      <p:pic>
        <p:nvPicPr>
          <p:cNvPr id="6" name="Picture 5"/>
          <p:cNvPicPr>
            <a:picLocks noChangeAspect="1"/>
          </p:cNvPicPr>
          <p:nvPr/>
        </p:nvPicPr>
        <p:blipFill>
          <a:blip r:embed="rId2"/>
          <a:stretch>
            <a:fillRect/>
          </a:stretch>
        </p:blipFill>
        <p:spPr>
          <a:xfrm>
            <a:off x="110948" y="1345196"/>
            <a:ext cx="8922104" cy="5011155"/>
          </a:xfrm>
          <a:prstGeom prst="rect">
            <a:avLst/>
          </a:prstGeom>
        </p:spPr>
      </p:pic>
    </p:spTree>
    <p:extLst>
      <p:ext uri="{BB962C8B-B14F-4D97-AF65-F5344CB8AC3E}">
        <p14:creationId xmlns:p14="http://schemas.microsoft.com/office/powerpoint/2010/main" val="3396318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600">
                <a:solidFill>
                  <a:schemeClr val="accent1"/>
                </a:solidFill>
              </a:rPr>
              <a:t>COTS vs Rad Hard Parts</a:t>
            </a:r>
          </a:p>
        </p:txBody>
      </p:sp>
      <p:sp>
        <p:nvSpPr>
          <p:cNvPr id="2" name="Slide Number Placeholder 1"/>
          <p:cNvSpPr>
            <a:spLocks noGrp="1"/>
          </p:cNvSpPr>
          <p:nvPr>
            <p:ph type="sldNum" sz="quarter" idx="12"/>
          </p:nvPr>
        </p:nvSpPr>
        <p:spPr/>
        <p:txBody>
          <a:bodyPr/>
          <a:lstStyle/>
          <a:p>
            <a:fld id="{04EF813A-C95A-49A4-BB2C-19388EC38802}" type="slidenum">
              <a:rPr lang="en-US" smtClean="0"/>
              <a:t>32</a:t>
            </a:fld>
            <a:endParaRPr lang="en-US"/>
          </a:p>
        </p:txBody>
      </p:sp>
      <p:pic>
        <p:nvPicPr>
          <p:cNvPr id="3" name="Picture 2"/>
          <p:cNvPicPr>
            <a:picLocks noChangeAspect="1"/>
          </p:cNvPicPr>
          <p:nvPr/>
        </p:nvPicPr>
        <p:blipFill>
          <a:blip r:embed="rId3"/>
          <a:stretch>
            <a:fillRect/>
          </a:stretch>
        </p:blipFill>
        <p:spPr>
          <a:xfrm>
            <a:off x="0" y="1448061"/>
            <a:ext cx="9001188" cy="4354366"/>
          </a:xfrm>
          <a:prstGeom prst="rect">
            <a:avLst/>
          </a:prstGeom>
          <a:scene3d>
            <a:camera prst="orthographicFront">
              <a:rot lat="0" lon="0" rev="21540000"/>
            </a:camera>
            <a:lightRig rig="threePt" dir="t"/>
          </a:scene3d>
        </p:spPr>
      </p:pic>
    </p:spTree>
    <p:extLst>
      <p:ext uri="{BB962C8B-B14F-4D97-AF65-F5344CB8AC3E}">
        <p14:creationId xmlns:p14="http://schemas.microsoft.com/office/powerpoint/2010/main" val="24014677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765E9-2D5F-9F90-0643-89554F1585E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09B9025-2D78-4098-A35D-1DBB4E1D984A}"/>
              </a:ext>
            </a:extLst>
          </p:cNvPr>
          <p:cNvSpPr>
            <a:spLocks noGrp="1"/>
          </p:cNvSpPr>
          <p:nvPr>
            <p:ph type="title"/>
          </p:nvPr>
        </p:nvSpPr>
        <p:spPr/>
        <p:txBody>
          <a:bodyPr>
            <a:normAutofit/>
          </a:bodyPr>
          <a:lstStyle/>
          <a:p>
            <a:r>
              <a:rPr lang="en-US" sz="3600" err="1">
                <a:solidFill>
                  <a:schemeClr val="accent2">
                    <a:lumMod val="75000"/>
                  </a:schemeClr>
                </a:solidFill>
              </a:rPr>
              <a:t>Micrometeroids</a:t>
            </a:r>
            <a:r>
              <a:rPr lang="en-US" sz="3600">
                <a:solidFill>
                  <a:schemeClr val="accent2">
                    <a:lumMod val="75000"/>
                  </a:schemeClr>
                </a:solidFill>
              </a:rPr>
              <a:t> &amp; Orbital Debris</a:t>
            </a:r>
            <a:r>
              <a:rPr lang="en-US" sz="3600">
                <a:solidFill>
                  <a:srgbClr val="00B050"/>
                </a:solidFill>
              </a:rPr>
              <a:t> </a:t>
            </a:r>
          </a:p>
        </p:txBody>
      </p:sp>
      <p:sp>
        <p:nvSpPr>
          <p:cNvPr id="4" name="Slide Number Placeholder 3">
            <a:extLst>
              <a:ext uri="{FF2B5EF4-FFF2-40B4-BE49-F238E27FC236}">
                <a16:creationId xmlns:a16="http://schemas.microsoft.com/office/drawing/2014/main" id="{A59FD61D-3DC2-4011-2AB7-636B79C1F802}"/>
              </a:ext>
            </a:extLst>
          </p:cNvPr>
          <p:cNvSpPr>
            <a:spLocks noGrp="1"/>
          </p:cNvSpPr>
          <p:nvPr>
            <p:ph type="sldNum" sz="quarter" idx="12"/>
          </p:nvPr>
        </p:nvSpPr>
        <p:spPr/>
        <p:txBody>
          <a:bodyPr/>
          <a:lstStyle/>
          <a:p>
            <a:fld id="{9A3029B7-FE6B-4680-9049-80E8298A0825}" type="slidenum">
              <a:rPr lang="en-US" smtClean="0"/>
              <a:t>33</a:t>
            </a:fld>
            <a:endParaRPr lang="en-US"/>
          </a:p>
        </p:txBody>
      </p:sp>
    </p:spTree>
    <p:extLst>
      <p:ext uri="{BB962C8B-B14F-4D97-AF65-F5344CB8AC3E}">
        <p14:creationId xmlns:p14="http://schemas.microsoft.com/office/powerpoint/2010/main" val="397582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olidFill>
                  <a:schemeClr val="accent2">
                    <a:lumMod val="75000"/>
                  </a:schemeClr>
                </a:solidFill>
              </a:rPr>
              <a:t>Micrometeoroids and Orbital Debris (MMOD)</a:t>
            </a:r>
          </a:p>
        </p:txBody>
      </p:sp>
      <p:sp>
        <p:nvSpPr>
          <p:cNvPr id="4" name="Content Placeholder 3"/>
          <p:cNvSpPr>
            <a:spLocks noGrp="1"/>
          </p:cNvSpPr>
          <p:nvPr>
            <p:ph idx="1"/>
          </p:nvPr>
        </p:nvSpPr>
        <p:spPr>
          <a:xfrm>
            <a:off x="148282" y="1050324"/>
            <a:ext cx="5468747" cy="5435317"/>
          </a:xfrm>
        </p:spPr>
        <p:txBody>
          <a:bodyPr>
            <a:normAutofit/>
          </a:bodyPr>
          <a:lstStyle/>
          <a:p>
            <a:pPr marL="0" indent="0">
              <a:buNone/>
            </a:pPr>
            <a:r>
              <a:rPr lang="en-US" sz="2000" b="1">
                <a:solidFill>
                  <a:schemeClr val="accent2">
                    <a:lumMod val="75000"/>
                  </a:schemeClr>
                </a:solidFill>
              </a:rPr>
              <a:t>Source</a:t>
            </a:r>
            <a:r>
              <a:rPr lang="en-US" sz="2000">
                <a:solidFill>
                  <a:schemeClr val="accent2">
                    <a:lumMod val="75000"/>
                  </a:schemeClr>
                </a:solidFill>
              </a:rPr>
              <a:t>:</a:t>
            </a:r>
          </a:p>
          <a:p>
            <a:pPr marL="0" indent="0">
              <a:buNone/>
            </a:pPr>
            <a:r>
              <a:rPr lang="en-US" sz="2000">
                <a:solidFill>
                  <a:schemeClr val="accent2">
                    <a:lumMod val="75000"/>
                  </a:schemeClr>
                </a:solidFill>
              </a:rPr>
              <a:t>Defunct spacecraft, rocket bodies and spacecraft debris are still in orbit and are not controlled</a:t>
            </a:r>
          </a:p>
          <a:p>
            <a:pPr lvl="1"/>
            <a:endParaRPr lang="en-US" sz="1800">
              <a:solidFill>
                <a:schemeClr val="accent2">
                  <a:lumMod val="75000"/>
                </a:schemeClr>
              </a:solidFill>
            </a:endParaRPr>
          </a:p>
          <a:p>
            <a:pPr marL="0" indent="0">
              <a:buNone/>
            </a:pPr>
            <a:r>
              <a:rPr lang="en-US" sz="2000" b="1">
                <a:solidFill>
                  <a:schemeClr val="accent2">
                    <a:lumMod val="75000"/>
                  </a:schemeClr>
                </a:solidFill>
              </a:rPr>
              <a:t>Effects on spacecraft</a:t>
            </a:r>
            <a:r>
              <a:rPr lang="en-US" sz="2000">
                <a:solidFill>
                  <a:schemeClr val="accent2">
                    <a:lumMod val="75000"/>
                  </a:schemeClr>
                </a:solidFill>
              </a:rPr>
              <a:t>:</a:t>
            </a:r>
          </a:p>
          <a:p>
            <a:r>
              <a:rPr lang="en-US" sz="2000">
                <a:solidFill>
                  <a:schemeClr val="accent2">
                    <a:lumMod val="75000"/>
                  </a:schemeClr>
                </a:solidFill>
              </a:rPr>
              <a:t>Kinetic damage from collision</a:t>
            </a:r>
          </a:p>
          <a:p>
            <a:pPr lvl="1"/>
            <a:endParaRPr lang="en-US" sz="1800">
              <a:solidFill>
                <a:schemeClr val="accent2">
                  <a:lumMod val="75000"/>
                </a:schemeClr>
              </a:solidFill>
            </a:endParaRPr>
          </a:p>
          <a:p>
            <a:pPr marL="0" indent="0">
              <a:buNone/>
            </a:pPr>
            <a:r>
              <a:rPr lang="en-US" sz="2000" b="1">
                <a:solidFill>
                  <a:schemeClr val="accent2">
                    <a:lumMod val="75000"/>
                  </a:schemeClr>
                </a:solidFill>
              </a:rPr>
              <a:t>Strategies to mitigate impacts</a:t>
            </a:r>
            <a:r>
              <a:rPr lang="en-US" sz="2000">
                <a:solidFill>
                  <a:schemeClr val="accent2">
                    <a:lumMod val="75000"/>
                  </a:schemeClr>
                </a:solidFill>
              </a:rPr>
              <a:t>:</a:t>
            </a:r>
          </a:p>
          <a:p>
            <a:r>
              <a:rPr lang="en-US" sz="2000">
                <a:solidFill>
                  <a:schemeClr val="accent2">
                    <a:lumMod val="75000"/>
                  </a:schemeClr>
                </a:solidFill>
              </a:rPr>
              <a:t>Choose orbits with minimal debris (if possible)</a:t>
            </a:r>
          </a:p>
          <a:p>
            <a:r>
              <a:rPr lang="en-US" sz="2000">
                <a:solidFill>
                  <a:schemeClr val="accent2">
                    <a:lumMod val="75000"/>
                  </a:schemeClr>
                </a:solidFill>
              </a:rPr>
              <a:t>Have additional propellant on-board for collision avoidance maneuvers</a:t>
            </a:r>
          </a:p>
          <a:p>
            <a:r>
              <a:rPr lang="en-US" sz="2000">
                <a:solidFill>
                  <a:schemeClr val="accent2">
                    <a:lumMod val="75000"/>
                  </a:schemeClr>
                </a:solidFill>
              </a:rPr>
              <a:t>Plan to dispose of spacecraft at end of mission life</a:t>
            </a:r>
          </a:p>
          <a:p>
            <a:endParaRPr lang="en-US" sz="2000">
              <a:solidFill>
                <a:schemeClr val="accent2">
                  <a:lumMod val="75000"/>
                </a:schemeClr>
              </a:solidFill>
            </a:endParaRPr>
          </a:p>
        </p:txBody>
      </p:sp>
      <p:sp>
        <p:nvSpPr>
          <p:cNvPr id="3" name="Slide Number Placeholder 2"/>
          <p:cNvSpPr>
            <a:spLocks noGrp="1"/>
          </p:cNvSpPr>
          <p:nvPr>
            <p:ph type="sldNum" sz="quarter" idx="12"/>
          </p:nvPr>
        </p:nvSpPr>
        <p:spPr/>
        <p:txBody>
          <a:bodyPr/>
          <a:lstStyle/>
          <a:p>
            <a:fld id="{04EF813A-C95A-49A4-BB2C-19388EC38802}" type="slidenum">
              <a:rPr lang="en-US" smtClean="0"/>
              <a:t>34</a:t>
            </a:fld>
            <a:endParaRPr lang="en-US"/>
          </a:p>
        </p:txBody>
      </p:sp>
      <p:pic>
        <p:nvPicPr>
          <p:cNvPr id="9218" name="Picture 2" descr="ESA - Hubble's impactful life alongside space debris">
            <a:extLst>
              <a:ext uri="{FF2B5EF4-FFF2-40B4-BE49-F238E27FC236}">
                <a16:creationId xmlns:a16="http://schemas.microsoft.com/office/drawing/2014/main" id="{71C126AE-9135-B26B-12F9-A5578F5A03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7766" y="2202270"/>
            <a:ext cx="1807028" cy="1355271"/>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a:extLst>
              <a:ext uri="{FF2B5EF4-FFF2-40B4-BE49-F238E27FC236}">
                <a16:creationId xmlns:a16="http://schemas.microsoft.com/office/drawing/2014/main" id="{7AC6CBAD-39A6-5D98-0796-7C0DA28A1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2558" y="1123822"/>
            <a:ext cx="3165078" cy="5208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4383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692" y="27770"/>
            <a:ext cx="7886700" cy="808942"/>
          </a:xfrm>
        </p:spPr>
        <p:txBody>
          <a:bodyPr>
            <a:normAutofit/>
          </a:bodyPr>
          <a:lstStyle/>
          <a:p>
            <a:r>
              <a:rPr lang="en-US" sz="3600">
                <a:solidFill>
                  <a:schemeClr val="accent2">
                    <a:lumMod val="75000"/>
                  </a:schemeClr>
                </a:solidFill>
              </a:rPr>
              <a:t>Orbital Debris</a:t>
            </a:r>
          </a:p>
        </p:txBody>
      </p:sp>
      <p:sp>
        <p:nvSpPr>
          <p:cNvPr id="3" name="Slide Number Placeholder 2"/>
          <p:cNvSpPr>
            <a:spLocks noGrp="1"/>
          </p:cNvSpPr>
          <p:nvPr>
            <p:ph type="sldNum" sz="quarter" idx="12"/>
          </p:nvPr>
        </p:nvSpPr>
        <p:spPr/>
        <p:txBody>
          <a:bodyPr/>
          <a:lstStyle/>
          <a:p>
            <a:fld id="{04EF813A-C95A-49A4-BB2C-19388EC38802}" type="slidenum">
              <a:rPr lang="en-US" smtClean="0"/>
              <a:t>35</a:t>
            </a:fld>
            <a:endParaRPr lang="en-US"/>
          </a:p>
        </p:txBody>
      </p:sp>
      <p:pic>
        <p:nvPicPr>
          <p:cNvPr id="1026" name="Picture 2" descr="ARES | Orbital Debris Program Office | LEG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608" y="1085625"/>
            <a:ext cx="7841664" cy="53911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493580" y="6356351"/>
            <a:ext cx="4745915" cy="369332"/>
          </a:xfrm>
          <a:prstGeom prst="rect">
            <a:avLst/>
          </a:prstGeom>
          <a:noFill/>
        </p:spPr>
        <p:txBody>
          <a:bodyPr wrap="none" rtlCol="0">
            <a:spAutoFit/>
          </a:bodyPr>
          <a:lstStyle/>
          <a:p>
            <a:r>
              <a:rPr lang="en-US"/>
              <a:t>Source: NASA Orbital Debris Program Office</a:t>
            </a:r>
          </a:p>
        </p:txBody>
      </p:sp>
    </p:spTree>
    <p:extLst>
      <p:ext uri="{BB962C8B-B14F-4D97-AF65-F5344CB8AC3E}">
        <p14:creationId xmlns:p14="http://schemas.microsoft.com/office/powerpoint/2010/main" val="1023333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solidFill>
                  <a:schemeClr val="accent2">
                    <a:lumMod val="75000"/>
                  </a:schemeClr>
                </a:solidFill>
              </a:rPr>
              <a:t>Debris Mitigation</a:t>
            </a:r>
          </a:p>
        </p:txBody>
      </p:sp>
      <p:sp>
        <p:nvSpPr>
          <p:cNvPr id="3" name="Slide Number Placeholder 2"/>
          <p:cNvSpPr>
            <a:spLocks noGrp="1"/>
          </p:cNvSpPr>
          <p:nvPr>
            <p:ph type="sldNum" sz="quarter" idx="12"/>
          </p:nvPr>
        </p:nvSpPr>
        <p:spPr/>
        <p:txBody>
          <a:bodyPr/>
          <a:lstStyle/>
          <a:p>
            <a:fld id="{04EF813A-C95A-49A4-BB2C-19388EC38802}" type="slidenum">
              <a:rPr lang="en-US" smtClean="0"/>
              <a:t>36</a:t>
            </a:fld>
            <a:endParaRPr lang="en-US"/>
          </a:p>
        </p:txBody>
      </p:sp>
      <p:pic>
        <p:nvPicPr>
          <p:cNvPr id="4" name="Picture 3"/>
          <p:cNvPicPr>
            <a:picLocks noChangeAspect="1"/>
          </p:cNvPicPr>
          <p:nvPr/>
        </p:nvPicPr>
        <p:blipFill>
          <a:blip r:embed="rId2"/>
          <a:stretch>
            <a:fillRect/>
          </a:stretch>
        </p:blipFill>
        <p:spPr>
          <a:xfrm>
            <a:off x="300552" y="940081"/>
            <a:ext cx="8542896" cy="5525025"/>
          </a:xfrm>
          <a:prstGeom prst="rect">
            <a:avLst/>
          </a:prstGeom>
        </p:spPr>
      </p:pic>
    </p:spTree>
    <p:extLst>
      <p:ext uri="{BB962C8B-B14F-4D97-AF65-F5344CB8AC3E}">
        <p14:creationId xmlns:p14="http://schemas.microsoft.com/office/powerpoint/2010/main" val="914632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4EF813A-C95A-49A4-BB2C-19388EC38802}" type="slidenum">
              <a:rPr lang="en-US" smtClean="0"/>
              <a:t>37</a:t>
            </a:fld>
            <a:endParaRPr lang="en-US"/>
          </a:p>
        </p:txBody>
      </p:sp>
      <p:sp>
        <p:nvSpPr>
          <p:cNvPr id="2" name="Title 1"/>
          <p:cNvSpPr>
            <a:spLocks noGrp="1"/>
          </p:cNvSpPr>
          <p:nvPr>
            <p:ph type="title"/>
          </p:nvPr>
        </p:nvSpPr>
        <p:spPr>
          <a:xfrm>
            <a:off x="637527" y="27769"/>
            <a:ext cx="7542646" cy="849561"/>
          </a:xfrm>
        </p:spPr>
        <p:txBody>
          <a:bodyPr>
            <a:normAutofit fontScale="90000"/>
          </a:bodyPr>
          <a:lstStyle/>
          <a:p>
            <a:r>
              <a:rPr lang="en-US" sz="3600"/>
              <a:t>Space Environment (Key Takeaways)</a:t>
            </a:r>
          </a:p>
        </p:txBody>
      </p:sp>
      <p:pic>
        <p:nvPicPr>
          <p:cNvPr id="6" name="Picture 5"/>
          <p:cNvPicPr>
            <a:picLocks noChangeAspect="1"/>
          </p:cNvPicPr>
          <p:nvPr/>
        </p:nvPicPr>
        <p:blipFill>
          <a:blip r:embed="rId2"/>
          <a:stretch>
            <a:fillRect/>
          </a:stretch>
        </p:blipFill>
        <p:spPr>
          <a:xfrm>
            <a:off x="0" y="1133896"/>
            <a:ext cx="8997337" cy="5513772"/>
          </a:xfrm>
          <a:prstGeom prst="rect">
            <a:avLst/>
          </a:prstGeom>
        </p:spPr>
      </p:pic>
    </p:spTree>
    <p:extLst>
      <p:ext uri="{BB962C8B-B14F-4D97-AF65-F5344CB8AC3E}">
        <p14:creationId xmlns:p14="http://schemas.microsoft.com/office/powerpoint/2010/main" val="42068943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86B8C-FFD3-47CE-9E8F-4104A49DEB88}">
  <ds:schemaRefs>
    <ds:schemaRef ds:uri="http://schemas.microsoft.com/sharepoint/v3/contenttype/forms"/>
  </ds:schemaRefs>
</ds:datastoreItem>
</file>

<file path=customXml/itemProps2.xml><?xml version="1.0" encoding="utf-8"?>
<ds:datastoreItem xmlns:ds="http://schemas.openxmlformats.org/officeDocument/2006/customXml" ds:itemID="{0996DB7C-76B3-472D-8F6F-C8E69FE568F8}">
  <ds:schemaRefs>
    <ds:schemaRef ds:uri="723aa48c-73f2-40da-86b1-f1ae286477fe"/>
    <ds:schemaRef ds:uri="7584c457-6b5a-4caa-be47-be979cbe655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6F176C6-5BE6-4B96-B548-6090D1B755D1}">
  <ds:schemaRefs>
    <ds:schemaRef ds:uri="723aa48c-73f2-40da-86b1-f1ae286477fe"/>
    <ds:schemaRef ds:uri="7584c457-6b5a-4caa-be47-be979cbe65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Letter Paper (8.5x11 in)</PresentationFormat>
  <Slides>37</Slides>
  <Notes>17</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Lesson 6</vt:lpstr>
      <vt:lpstr>PowerPoint Presentation</vt:lpstr>
      <vt:lpstr>Why Worry about the Space Environment?</vt:lpstr>
      <vt:lpstr>Terms</vt:lpstr>
      <vt:lpstr>Space Environmental Influences</vt:lpstr>
      <vt:lpstr>Microgravity</vt:lpstr>
      <vt:lpstr>Microgravity</vt:lpstr>
      <vt:lpstr>PowerPoint Presentation</vt:lpstr>
      <vt:lpstr>Vacuum </vt:lpstr>
      <vt:lpstr>Vacuum</vt:lpstr>
      <vt:lpstr>PowerPoint Presentation</vt:lpstr>
      <vt:lpstr>Atmosphere </vt:lpstr>
      <vt:lpstr>Atmosphere (1/3)</vt:lpstr>
      <vt:lpstr>Atmosphere (2/3)</vt:lpstr>
      <vt:lpstr>Atomic Oxygen</vt:lpstr>
      <vt:lpstr>Atomic Oxygen - Example</vt:lpstr>
      <vt:lpstr>Atomic Oxygen – Example 2</vt:lpstr>
      <vt:lpstr>Atmosphere (3/3)</vt:lpstr>
      <vt:lpstr>Solar Cycle</vt:lpstr>
      <vt:lpstr>Impact of Solar Cycle on Atmospheric Density</vt:lpstr>
      <vt:lpstr>Impact of Solar Cycle/Ballistic Co-efficient on Satellite Lifetimes</vt:lpstr>
      <vt:lpstr>Plasma </vt:lpstr>
      <vt:lpstr>Plasma (1/2)</vt:lpstr>
      <vt:lpstr>Plasma (2/2)</vt:lpstr>
      <vt:lpstr>Earth’s Magnetosphere</vt:lpstr>
      <vt:lpstr>PowerPoint Presentation</vt:lpstr>
      <vt:lpstr>Radiation </vt:lpstr>
      <vt:lpstr>Radiation</vt:lpstr>
      <vt:lpstr>Van Allen Radiation Belts</vt:lpstr>
      <vt:lpstr>Van Allen Radiation Belts</vt:lpstr>
      <vt:lpstr>South Atlantic Anomaly</vt:lpstr>
      <vt:lpstr>COTS vs Rad Hard Parts</vt:lpstr>
      <vt:lpstr>Micrometeroids &amp; Orbital Debris </vt:lpstr>
      <vt:lpstr>Micrometeoroids and Orbital Debris (MMOD)</vt:lpstr>
      <vt:lpstr>Orbital Debris</vt:lpstr>
      <vt:lpstr>Debris Mitigation</vt:lpstr>
      <vt:lpstr>Space Environment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revision>1</cp:revision>
  <cp:lastPrinted>2025-08-01T16:37:26Z</cp:lastPrinted>
  <dcterms:created xsi:type="dcterms:W3CDTF">2025-07-17T17:53:42Z</dcterms:created>
  <dcterms:modified xsi:type="dcterms:W3CDTF">2026-01-21T15:33:01Z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