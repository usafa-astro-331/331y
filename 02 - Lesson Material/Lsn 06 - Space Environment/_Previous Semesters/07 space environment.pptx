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1"/>
  </p:notesMasterIdLst>
  <p:handoutMasterIdLst>
    <p:handoutMasterId r:id="rId32"/>
  </p:handoutMasterIdLst>
  <p:sldIdLst>
    <p:sldId id="258" r:id="rId5"/>
    <p:sldId id="301" r:id="rId6"/>
    <p:sldId id="298" r:id="rId7"/>
    <p:sldId id="310" r:id="rId8"/>
    <p:sldId id="311" r:id="rId9"/>
    <p:sldId id="312" r:id="rId10"/>
    <p:sldId id="313" r:id="rId11"/>
    <p:sldId id="314" r:id="rId12"/>
    <p:sldId id="303" r:id="rId13"/>
    <p:sldId id="304" r:id="rId14"/>
    <p:sldId id="315" r:id="rId15"/>
    <p:sldId id="302" r:id="rId16"/>
    <p:sldId id="305" r:id="rId17"/>
    <p:sldId id="316" r:id="rId18"/>
    <p:sldId id="317" r:id="rId19"/>
    <p:sldId id="300" r:id="rId20"/>
    <p:sldId id="318" r:id="rId21"/>
    <p:sldId id="299" r:id="rId22"/>
    <p:sldId id="319" r:id="rId23"/>
    <p:sldId id="306" r:id="rId24"/>
    <p:sldId id="289" r:id="rId25"/>
    <p:sldId id="320" r:id="rId26"/>
    <p:sldId id="307" r:id="rId27"/>
    <p:sldId id="308" r:id="rId28"/>
    <p:sldId id="309" r:id="rId29"/>
    <p:sldId id="297" r:id="rId30"/>
  </p:sldIdLst>
  <p:sldSz cx="9144000" cy="6858000" type="screen4x3"/>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D78A9E-A8B7-480B-81D8-40485A78EE2C}" v="2" dt="2023-01-26T21:12:32.479"/>
    <p1510:client id="{C96B58D3-16DD-4DC0-BAD5-34D48FAF1158}" v="4" dt="2023-01-26T21:49:46.4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la, Daniel G C2C USAF USAFA CW/CS34" userId="S::c24daniel.avila@afacademy.af.edu::659ea037-9a52-4b48-8ce6-d320d5ac9455" providerId="AD" clId="Web-{C96B58D3-16DD-4DC0-BAD5-34D48FAF1158}"/>
    <pc:docChg chg="modSld">
      <pc:chgData name="Avila, Daniel G C2C USAF USAFA CW/CS34" userId="S::c24daniel.avila@afacademy.af.edu::659ea037-9a52-4b48-8ce6-d320d5ac9455" providerId="AD" clId="Web-{C96B58D3-16DD-4DC0-BAD5-34D48FAF1158}" dt="2023-01-26T21:49:46.471" v="3" actId="1076"/>
      <pc:docMkLst>
        <pc:docMk/>
      </pc:docMkLst>
      <pc:sldChg chg="modSp">
        <pc:chgData name="Avila, Daniel G C2C USAF USAFA CW/CS34" userId="S::c24daniel.avila@afacademy.af.edu::659ea037-9a52-4b48-8ce6-d320d5ac9455" providerId="AD" clId="Web-{C96B58D3-16DD-4DC0-BAD5-34D48FAF1158}" dt="2023-01-26T21:49:46.471" v="3" actId="1076"/>
        <pc:sldMkLst>
          <pc:docMk/>
          <pc:sldMk cId="914632098" sldId="308"/>
        </pc:sldMkLst>
        <pc:picChg chg="mod">
          <ac:chgData name="Avila, Daniel G C2C USAF USAFA CW/CS34" userId="S::c24daniel.avila@afacademy.af.edu::659ea037-9a52-4b48-8ce6-d320d5ac9455" providerId="AD" clId="Web-{C96B58D3-16DD-4DC0-BAD5-34D48FAF1158}" dt="2023-01-26T21:49:46.471" v="3" actId="1076"/>
          <ac:picMkLst>
            <pc:docMk/>
            <pc:sldMk cId="914632098" sldId="308"/>
            <ac:picMk id="4" creationId="{00000000-0000-0000-0000-000000000000}"/>
          </ac:picMkLst>
        </pc:picChg>
      </pc:sldChg>
    </pc:docChg>
  </pc:docChgLst>
  <pc:docChgLst>
    <pc:chgData name="Avila, Daniel G C2C USAF USAFA CW/CS34" userId="S::c24daniel.avila@afacademy.af.edu::659ea037-9a52-4b48-8ce6-d320d5ac9455" providerId="AD" clId="Web-{26D78A9E-A8B7-480B-81D8-40485A78EE2C}"/>
    <pc:docChg chg="addSld delSld">
      <pc:chgData name="Avila, Daniel G C2C USAF USAFA CW/CS34" userId="S::c24daniel.avila@afacademy.af.edu::659ea037-9a52-4b48-8ce6-d320d5ac9455" providerId="AD" clId="Web-{26D78A9E-A8B7-480B-81D8-40485A78EE2C}" dt="2023-01-26T21:12:32.479" v="1"/>
      <pc:docMkLst>
        <pc:docMk/>
      </pc:docMkLst>
      <pc:sldChg chg="new del">
        <pc:chgData name="Avila, Daniel G C2C USAF USAFA CW/CS34" userId="S::c24daniel.avila@afacademy.af.edu::659ea037-9a52-4b48-8ce6-d320d5ac9455" providerId="AD" clId="Web-{26D78A9E-A8B7-480B-81D8-40485A78EE2C}" dt="2023-01-26T21:12:32.479" v="1"/>
        <pc:sldMkLst>
          <pc:docMk/>
          <pc:sldMk cId="2198535928" sldId="32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029282" cy="35195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265014" y="0"/>
            <a:ext cx="4029282" cy="351957"/>
          </a:xfrm>
          <a:prstGeom prst="rect">
            <a:avLst/>
          </a:prstGeom>
        </p:spPr>
        <p:txBody>
          <a:bodyPr vert="horz" lIns="91440" tIns="45720" rIns="91440" bIns="45720" rtlCol="0"/>
          <a:lstStyle>
            <a:lvl1pPr algn="r">
              <a:defRPr sz="1200"/>
            </a:lvl1pPr>
          </a:lstStyle>
          <a:p>
            <a:fld id="{6ABBA195-A930-461F-9F68-63674CBC1F57}" type="datetimeFigureOut">
              <a:rPr lang="en-US" smtClean="0"/>
              <a:t>1/26/2023</a:t>
            </a:fld>
            <a:endParaRPr lang="en-US"/>
          </a:p>
        </p:txBody>
      </p:sp>
      <p:sp>
        <p:nvSpPr>
          <p:cNvPr id="4" name="Footer Placeholder 3"/>
          <p:cNvSpPr>
            <a:spLocks noGrp="1"/>
          </p:cNvSpPr>
          <p:nvPr>
            <p:ph type="ftr" sz="quarter" idx="2"/>
          </p:nvPr>
        </p:nvSpPr>
        <p:spPr>
          <a:xfrm>
            <a:off x="1" y="6658444"/>
            <a:ext cx="4029282" cy="35195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265014" y="6658444"/>
            <a:ext cx="4029282" cy="351957"/>
          </a:xfrm>
          <a:prstGeom prst="rect">
            <a:avLst/>
          </a:prstGeom>
        </p:spPr>
        <p:txBody>
          <a:bodyPr vert="horz" lIns="91440" tIns="45720" rIns="91440" bIns="45720" rtlCol="0" anchor="b"/>
          <a:lstStyle>
            <a:lvl1pPr algn="r">
              <a:defRPr sz="1200"/>
            </a:lvl1pPr>
          </a:lstStyle>
          <a:p>
            <a:fld id="{A185C700-0AF4-4EE1-AD5E-8E73BEF584FA}" type="slidenum">
              <a:rPr lang="en-US" smtClean="0"/>
              <a:t>‹#›</a:t>
            </a:fld>
            <a:endParaRPr lang="en-US"/>
          </a:p>
        </p:txBody>
      </p:sp>
    </p:spTree>
    <p:extLst>
      <p:ext uri="{BB962C8B-B14F-4D97-AF65-F5344CB8AC3E}">
        <p14:creationId xmlns:p14="http://schemas.microsoft.com/office/powerpoint/2010/main" val="27737223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9075" cy="3508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65738" y="0"/>
            <a:ext cx="4029075" cy="350838"/>
          </a:xfrm>
          <a:prstGeom prst="rect">
            <a:avLst/>
          </a:prstGeom>
        </p:spPr>
        <p:txBody>
          <a:bodyPr vert="horz" lIns="91440" tIns="45720" rIns="91440" bIns="45720" rtlCol="0"/>
          <a:lstStyle>
            <a:lvl1pPr algn="r">
              <a:defRPr sz="1200"/>
            </a:lvl1pPr>
          </a:lstStyle>
          <a:p>
            <a:fld id="{A5803BA4-D785-451B-8C2B-B110F03F1A66}" type="datetimeFigureOut">
              <a:rPr lang="en-US" smtClean="0"/>
              <a:t>1/26/2023</a:t>
            </a:fld>
            <a:endParaRPr lang="en-US"/>
          </a:p>
        </p:txBody>
      </p:sp>
      <p:sp>
        <p:nvSpPr>
          <p:cNvPr id="4" name="Slide Image Placeholder 3"/>
          <p:cNvSpPr>
            <a:spLocks noGrp="1" noRot="1" noChangeAspect="1"/>
          </p:cNvSpPr>
          <p:nvPr>
            <p:ph type="sldImg" idx="2"/>
          </p:nvPr>
        </p:nvSpPr>
        <p:spPr>
          <a:xfrm>
            <a:off x="3071813" y="876300"/>
            <a:ext cx="3152775" cy="23653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30275" y="3373438"/>
            <a:ext cx="7435850" cy="2760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9563"/>
            <a:ext cx="4029075" cy="3508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65738" y="6659563"/>
            <a:ext cx="4029075" cy="350837"/>
          </a:xfrm>
          <a:prstGeom prst="rect">
            <a:avLst/>
          </a:prstGeom>
        </p:spPr>
        <p:txBody>
          <a:bodyPr vert="horz" lIns="91440" tIns="45720" rIns="91440" bIns="45720" rtlCol="0" anchor="b"/>
          <a:lstStyle>
            <a:lvl1pPr algn="r">
              <a:defRPr sz="1200"/>
            </a:lvl1pPr>
          </a:lstStyle>
          <a:p>
            <a:fld id="{D1519157-5E77-474E-8DBD-989D4603659B}" type="slidenum">
              <a:rPr lang="en-US" smtClean="0"/>
              <a:t>‹#›</a:t>
            </a:fld>
            <a:endParaRPr lang="en-US"/>
          </a:p>
        </p:txBody>
      </p:sp>
    </p:spTree>
    <p:extLst>
      <p:ext uri="{BB962C8B-B14F-4D97-AF65-F5344CB8AC3E}">
        <p14:creationId xmlns:p14="http://schemas.microsoft.com/office/powerpoint/2010/main" val="182898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1519157-5E77-474E-8DBD-989D4603659B}" type="slidenum">
              <a:rPr lang="en-US" smtClean="0"/>
              <a:t>21</a:t>
            </a:fld>
            <a:endParaRPr lang="en-US"/>
          </a:p>
        </p:txBody>
      </p:sp>
    </p:spTree>
    <p:extLst>
      <p:ext uri="{BB962C8B-B14F-4D97-AF65-F5344CB8AC3E}">
        <p14:creationId xmlns:p14="http://schemas.microsoft.com/office/powerpoint/2010/main" val="2206366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0D6075F-6B65-42C7-96CE-F2EDAF6457D5}" type="datetime1">
              <a:rPr lang="en-US" smtClean="0"/>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473106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cs typeface="Times New Roman" panose="02020603050405020304" pitchFamily="18"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n-lt"/>
                <a:cs typeface="Times New Roman" panose="02020603050405020304" pitchFamily="18" charset="0"/>
              </a:defRPr>
            </a:lvl1pPr>
            <a:lvl2pPr>
              <a:defRPr>
                <a:latin typeface="+mn-lt"/>
                <a:cs typeface="Times New Roman" panose="02020603050405020304" pitchFamily="18" charset="0"/>
              </a:defRPr>
            </a:lvl2pPr>
            <a:lvl3pPr>
              <a:defRPr>
                <a:latin typeface="+mn-lt"/>
                <a:cs typeface="Times New Roman" panose="02020603050405020304" pitchFamily="18" charset="0"/>
              </a:defRPr>
            </a:lvl3pPr>
            <a:lvl4pPr>
              <a:defRPr>
                <a:latin typeface="+mn-lt"/>
                <a:cs typeface="Times New Roman" panose="02020603050405020304" pitchFamily="18" charset="0"/>
              </a:defRPr>
            </a:lvl4pPr>
            <a:lvl5pPr>
              <a:defRPr>
                <a:latin typeface="+mn-lt"/>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A8DCD0-401B-4389-8C0C-CFD6BA9254C4}" type="datetime1">
              <a:rPr lang="en-US" smtClean="0"/>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329920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C765E-3CFC-42B9-A92C-9CD9AC1756B8}" type="datetime1">
              <a:rPr lang="en-US" smtClean="0"/>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693720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8D04D1-220E-476B-9B8A-6C97ACE35B2A}" type="datetime1">
              <a:rPr lang="en-US" smtClean="0"/>
              <a:t>1/26/2023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4214743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E009380-D618-4C98-8823-4007CD8E68B4}" type="datetime1">
              <a:rPr lang="en-US" smtClean="0"/>
              <a:t>1/26/2023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3925655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57181DA-784E-4F3A-BC1D-AE687E0C5685}" type="datetime1">
              <a:rPr lang="en-US" smtClean="0"/>
              <a:t>1/26/2023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57688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7123BE-128A-4E90-9989-E287712D6F80}" type="datetime1">
              <a:rPr lang="en-US" smtClean="0"/>
              <a:t>1/26/2023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299062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5729D4D-F3E8-4EFA-8637-0C51A47C9382}" type="datetime1">
              <a:rPr lang="en-US" smtClean="0"/>
              <a:t>1/26/2023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3291654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8C8C20F-8907-41A1-A396-F8AD3F0FE750}" type="datetime1">
              <a:rPr lang="en-US" smtClean="0"/>
              <a:t>1/26/2023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2213019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E4060F-A1B7-490C-AE3A-778B6A9C495B}" type="datetime1">
              <a:rPr lang="en-US" smtClean="0"/>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283247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66A2DA7-3634-4D3A-8740-B5BD2C073B71}" type="datetime1">
              <a:rPr lang="en-US" smtClean="0"/>
              <a:t>1/26/2023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1797997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E1D4B1-B672-4C40-8D3C-E2209044660B}" type="datetime1">
              <a:rPr lang="en-US" smtClean="0"/>
              <a:t>1/26/2023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EF813A-C95A-49A4-BB2C-19388EC38802}" type="slidenum">
              <a:rPr lang="en-US" smtClean="0"/>
              <a:t>‹#›</a:t>
            </a:fld>
            <a:endParaRPr lang="en-US"/>
          </a:p>
        </p:txBody>
      </p:sp>
    </p:spTree>
    <p:extLst>
      <p:ext uri="{BB962C8B-B14F-4D97-AF65-F5344CB8AC3E}">
        <p14:creationId xmlns:p14="http://schemas.microsoft.com/office/powerpoint/2010/main" val="26323361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en.wikipedia.org/wiki/Solar_activity" TargetMode="Externa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85800" y="2130425"/>
            <a:ext cx="7772400" cy="14700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Astro 331 Lesson 7</a:t>
            </a:r>
          </a:p>
        </p:txBody>
      </p:sp>
      <p:sp>
        <p:nvSpPr>
          <p:cNvPr id="5" name="Subtitle 2"/>
          <p:cNvSpPr txBox="1">
            <a:spLocks/>
          </p:cNvSpPr>
          <p:nvPr/>
        </p:nvSpPr>
        <p:spPr>
          <a:xfrm>
            <a:off x="1371600" y="3886200"/>
            <a:ext cx="6400800" cy="1752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a:t>Space Environment </a:t>
            </a:r>
          </a:p>
          <a:p>
            <a:pPr marL="0" indent="0" algn="ctr">
              <a:buNone/>
            </a:pPr>
            <a:r>
              <a:rPr lang="en-US" err="1"/>
              <a:t>Supp</a:t>
            </a:r>
            <a:r>
              <a:rPr lang="en-US"/>
              <a:t> </a:t>
            </a:r>
            <a:r>
              <a:rPr lang="en-US" err="1"/>
              <a:t>Crs</a:t>
            </a:r>
            <a:r>
              <a:rPr lang="en-US"/>
              <a:t> </a:t>
            </a:r>
            <a:r>
              <a:rPr lang="en-US" err="1"/>
              <a:t>Mtl</a:t>
            </a:r>
            <a:r>
              <a:rPr lang="en-US"/>
              <a:t>, SMAD </a:t>
            </a:r>
            <a:r>
              <a:rPr lang="en-US" err="1"/>
              <a:t>Ch</a:t>
            </a:r>
            <a:r>
              <a:rPr lang="en-US"/>
              <a:t> 8</a:t>
            </a:r>
            <a:endParaRPr lang="en-US" sz="2400"/>
          </a:p>
        </p:txBody>
      </p:sp>
      <p:sp>
        <p:nvSpPr>
          <p:cNvPr id="2" name="Slide Number Placeholder 1"/>
          <p:cNvSpPr>
            <a:spLocks noGrp="1"/>
          </p:cNvSpPr>
          <p:nvPr>
            <p:ph type="sldNum" sz="quarter" idx="12"/>
          </p:nvPr>
        </p:nvSpPr>
        <p:spPr/>
        <p:txBody>
          <a:bodyPr/>
          <a:lstStyle/>
          <a:p>
            <a:fld id="{04EF813A-C95A-49A4-BB2C-19388EC38802}" type="slidenum">
              <a:rPr lang="en-US" smtClean="0"/>
              <a:t>1</a:t>
            </a:fld>
            <a:endParaRPr lang="en-US"/>
          </a:p>
        </p:txBody>
      </p:sp>
    </p:spTree>
    <p:extLst>
      <p:ext uri="{BB962C8B-B14F-4D97-AF65-F5344CB8AC3E}">
        <p14:creationId xmlns:p14="http://schemas.microsoft.com/office/powerpoint/2010/main" val="1321450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Lesson Objectives</a:t>
            </a:r>
          </a:p>
        </p:txBody>
      </p:sp>
      <p:sp>
        <p:nvSpPr>
          <p:cNvPr id="3" name="Content Placeholder 2"/>
          <p:cNvSpPr>
            <a:spLocks noGrp="1"/>
          </p:cNvSpPr>
          <p:nvPr>
            <p:ph idx="1"/>
          </p:nvPr>
        </p:nvSpPr>
        <p:spPr>
          <a:xfrm>
            <a:off x="557629" y="1690689"/>
            <a:ext cx="7886700" cy="4832627"/>
          </a:xfrm>
        </p:spPr>
        <p:txBody>
          <a:bodyPr>
            <a:normAutofit fontScale="85000" lnSpcReduction="20000"/>
          </a:bodyPr>
          <a:lstStyle/>
          <a:p>
            <a:pPr lvl="0" fontAlgn="base"/>
            <a:r>
              <a:rPr lang="en-US"/>
              <a:t>List the six space environmental influences and describe what causes each of them</a:t>
            </a:r>
          </a:p>
          <a:p>
            <a:pPr lvl="0" fontAlgn="base"/>
            <a:r>
              <a:rPr lang="en-US"/>
              <a:t>Describe the effects of each of the six space environmental influences on spacecraft, and describe strategies to mitigate those effects</a:t>
            </a:r>
          </a:p>
          <a:p>
            <a:pPr lvl="0" fontAlgn="base"/>
            <a:r>
              <a:rPr lang="en-US"/>
              <a:t>Understand how the solar cycle impacts various space environment concerns</a:t>
            </a:r>
          </a:p>
          <a:p>
            <a:pPr lvl="0" fontAlgn="base"/>
            <a:r>
              <a:rPr lang="en-US"/>
              <a:t>Understand how the Earth’s magnetosphere interacts with solar wind</a:t>
            </a:r>
          </a:p>
          <a:p>
            <a:pPr lvl="0" fontAlgn="base"/>
            <a:r>
              <a:rPr lang="en-US"/>
              <a:t>Describe how the Van Allen radiation belt impacts spacecraft</a:t>
            </a:r>
          </a:p>
          <a:p>
            <a:pPr lvl="0" fontAlgn="base"/>
            <a:r>
              <a:rPr lang="en-US"/>
              <a:t>Describe what causes the South Atlantic Anomaly (SAA) and what impact it has on spacecraft</a:t>
            </a:r>
          </a:p>
          <a:p>
            <a:pPr lvl="0" fontAlgn="base"/>
            <a:r>
              <a:rPr lang="en-US"/>
              <a:t>Understand  the terms “hardening” and “survivability” and how we achieve those in designing spacecraft </a:t>
            </a:r>
          </a:p>
          <a:p>
            <a:endParaRPr lang="en-US"/>
          </a:p>
          <a:p>
            <a:endParaRPr lang="en-US"/>
          </a:p>
        </p:txBody>
      </p:sp>
      <p:sp>
        <p:nvSpPr>
          <p:cNvPr id="4" name="Slide Number Placeholder 3"/>
          <p:cNvSpPr>
            <a:spLocks noGrp="1"/>
          </p:cNvSpPr>
          <p:nvPr>
            <p:ph type="sldNum" sz="quarter" idx="12"/>
          </p:nvPr>
        </p:nvSpPr>
        <p:spPr/>
        <p:txBody>
          <a:bodyPr/>
          <a:lstStyle/>
          <a:p>
            <a:fld id="{04EF813A-C95A-49A4-BB2C-19388EC38802}" type="slidenum">
              <a:rPr lang="en-US" smtClean="0"/>
              <a:t>2</a:t>
            </a:fld>
            <a:endParaRPr lang="en-US"/>
          </a:p>
        </p:txBody>
      </p:sp>
    </p:spTree>
    <p:extLst>
      <p:ext uri="{BB962C8B-B14F-4D97-AF65-F5344CB8AC3E}">
        <p14:creationId xmlns:p14="http://schemas.microsoft.com/office/powerpoint/2010/main" val="2261067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p:cNvSpPr>
            <a:spLocks noGrp="1"/>
          </p:cNvSpPr>
          <p:nvPr>
            <p:ph type="sldNum" sz="quarter" idx="10"/>
          </p:nvPr>
        </p:nvSpPr>
        <p:spPr/>
        <p:txBody>
          <a:bodyPr/>
          <a:lstStyle/>
          <a:p>
            <a:fld id="{C4E7BD3C-1CB4-4D32-AF66-F24A4F29664C}" type="slidenum">
              <a:rPr lang="en-US" altLang="en-US"/>
              <a:pPr/>
              <a:t>3</a:t>
            </a:fld>
            <a:endParaRPr lang="en-US" altLang="en-US"/>
          </a:p>
        </p:txBody>
      </p:sp>
      <p:sp>
        <p:nvSpPr>
          <p:cNvPr id="54273" name="Rectangle 1"/>
          <p:cNvSpPr>
            <a:spLocks noGrp="1" noChangeArrowheads="1"/>
          </p:cNvSpPr>
          <p:nvPr>
            <p:ph type="title"/>
          </p:nvPr>
        </p:nvSpPr>
        <p:spPr>
          <a:xfrm>
            <a:off x="830780" y="-201497"/>
            <a:ext cx="7886700" cy="1325563"/>
          </a:xfrm>
          <a:ln/>
        </p:spPr>
        <p:txBody>
          <a:bodyPr vert="horz" lIns="91440" tIns="45720" rIns="136128" bIns="45720" rtlCol="0" anchor="ctr">
            <a:normAutofit/>
          </a:bodyPr>
          <a:lstStyle/>
          <a:p>
            <a:r>
              <a:rPr lang="en-US" altLang="en-US" sz="2391"/>
              <a:t>Why Worry about the Space Environment?</a:t>
            </a:r>
          </a:p>
        </p:txBody>
      </p:sp>
      <p:sp>
        <p:nvSpPr>
          <p:cNvPr id="54274" name="Rectangle 2"/>
          <p:cNvSpPr>
            <a:spLocks noGrp="1" noChangeArrowheads="1"/>
          </p:cNvSpPr>
          <p:nvPr>
            <p:ph type="body" idx="1"/>
          </p:nvPr>
        </p:nvSpPr>
        <p:spPr>
          <a:xfrm>
            <a:off x="152275" y="707923"/>
            <a:ext cx="5563195" cy="5768578"/>
          </a:xfrm>
          <a:ln/>
          <a:extLst>
            <a:ext uri="{91240B29-F687-4F45-9708-019B960494DF}">
              <a14:hiddenLine xmlns:a14="http://schemas.microsoft.com/office/drawing/2010/main" w="12700">
                <a:solidFill>
                  <a:srgbClr val="FFFFFF"/>
                </a:solidFill>
                <a:miter lim="800000"/>
                <a:headEnd/>
                <a:tailEnd/>
              </a14:hiddenLine>
            </a:ext>
          </a:extLst>
        </p:spPr>
        <p:txBody>
          <a:bodyPr vert="horz" lIns="35719" tIns="35719" rIns="0" bIns="35719" rtlCol="0" anchor="ctr">
            <a:normAutofit/>
          </a:bodyPr>
          <a:lstStyle/>
          <a:p>
            <a:pPr marL="250022" indent="-250022">
              <a:spcBef>
                <a:spcPct val="0"/>
              </a:spcBef>
              <a:buFont typeface="Lucida Grande" charset="0"/>
              <a:buChar char="‣"/>
            </a:pPr>
            <a:r>
              <a:rPr lang="en-US" altLang="en-US" sz="1687">
                <a:solidFill>
                  <a:srgbClr val="0000FF"/>
                </a:solidFill>
              </a:rPr>
              <a:t>Approximately 25% of all spacecraft anomalies</a:t>
            </a:r>
            <a:r>
              <a:rPr lang="en-US" altLang="en-US" sz="1687"/>
              <a:t> are related to the space environment. Famous examples include:</a:t>
            </a:r>
          </a:p>
          <a:p>
            <a:pPr marL="448701" lvl="1">
              <a:spcBef>
                <a:spcPts val="580"/>
              </a:spcBef>
              <a:buSzPct val="125000"/>
              <a:buFont typeface="Gill Sans" charset="0"/>
              <a:buChar char="•"/>
            </a:pPr>
            <a:r>
              <a:rPr lang="en-US" altLang="en-US" sz="1547"/>
              <a:t>2010: Control of Galaxy 15 lost due to electrostatic discharge cause by </a:t>
            </a:r>
            <a:r>
              <a:rPr lang="en-US" altLang="en-US" sz="1547">
                <a:solidFill>
                  <a:srgbClr val="0000FF"/>
                </a:solidFill>
              </a:rPr>
              <a:t>solar flare.</a:t>
            </a:r>
            <a:r>
              <a:rPr lang="en-US" altLang="en-US" sz="1547"/>
              <a:t> Satellite drifted through crowed GEO belt in full send and receive mode</a:t>
            </a:r>
          </a:p>
          <a:p>
            <a:pPr marL="448701" lvl="1">
              <a:spcBef>
                <a:spcPts val="580"/>
              </a:spcBef>
              <a:buSzPct val="125000"/>
              <a:buFont typeface="Gill Sans" charset="0"/>
              <a:buChar char="•"/>
            </a:pPr>
            <a:r>
              <a:rPr lang="en-US" altLang="en-US" sz="1547"/>
              <a:t>2009: Iridium satellite destroyed when it </a:t>
            </a:r>
            <a:r>
              <a:rPr lang="en-US" altLang="en-US" sz="1547">
                <a:solidFill>
                  <a:srgbClr val="0000FF"/>
                </a:solidFill>
              </a:rPr>
              <a:t>collided with</a:t>
            </a:r>
            <a:r>
              <a:rPr lang="en-US" altLang="en-US" sz="1547"/>
              <a:t> the </a:t>
            </a:r>
            <a:r>
              <a:rPr lang="en-US" altLang="en-US" sz="1547">
                <a:solidFill>
                  <a:srgbClr val="0000FF"/>
                </a:solidFill>
              </a:rPr>
              <a:t>dead</a:t>
            </a:r>
            <a:r>
              <a:rPr lang="en-US" altLang="en-US" sz="1547"/>
              <a:t> Cosmos 2251 </a:t>
            </a:r>
            <a:r>
              <a:rPr lang="en-US" altLang="en-US" sz="1547">
                <a:solidFill>
                  <a:srgbClr val="0000FF"/>
                </a:solidFill>
              </a:rPr>
              <a:t>satellite</a:t>
            </a:r>
            <a:r>
              <a:rPr lang="en-US" altLang="en-US" sz="1547"/>
              <a:t> (space debris)</a:t>
            </a:r>
          </a:p>
          <a:p>
            <a:pPr marL="448701" lvl="1">
              <a:spcBef>
                <a:spcPts val="580"/>
              </a:spcBef>
              <a:buSzPct val="125000"/>
              <a:buFont typeface="Gill Sans" charset="0"/>
              <a:buChar char="•"/>
            </a:pPr>
            <a:r>
              <a:rPr lang="en-US" altLang="en-US" sz="1547"/>
              <a:t>2000: Boeing 702 satellite (</a:t>
            </a:r>
            <a:r>
              <a:rPr lang="en-US" altLang="en-US" sz="1547" err="1"/>
              <a:t>Anik</a:t>
            </a:r>
            <a:r>
              <a:rPr lang="en-US" altLang="en-US" sz="1547"/>
              <a:t> F-1):  degraded solar array performance due to </a:t>
            </a:r>
            <a:r>
              <a:rPr lang="en-US" altLang="en-US" sz="1547">
                <a:solidFill>
                  <a:srgbClr val="0000FF"/>
                </a:solidFill>
              </a:rPr>
              <a:t>outgassing</a:t>
            </a:r>
            <a:r>
              <a:rPr lang="en-US" altLang="en-US" sz="1547"/>
              <a:t> induced fogging</a:t>
            </a:r>
          </a:p>
          <a:p>
            <a:pPr marL="448701" lvl="1">
              <a:spcBef>
                <a:spcPts val="580"/>
              </a:spcBef>
              <a:buSzPct val="125000"/>
              <a:buFont typeface="Gill Sans" charset="0"/>
              <a:buChar char="•"/>
            </a:pPr>
            <a:r>
              <a:rPr lang="en-US" altLang="en-US" sz="1547"/>
              <a:t>2000: Stardust comet flyby spacecraft blinded and sent into safe mode by a</a:t>
            </a:r>
            <a:r>
              <a:rPr lang="en-US" altLang="en-US" sz="1547">
                <a:solidFill>
                  <a:srgbClr val="0000FF"/>
                </a:solidFill>
              </a:rPr>
              <a:t> solar flare</a:t>
            </a:r>
            <a:endParaRPr lang="en-US" altLang="en-US" sz="1547"/>
          </a:p>
          <a:p>
            <a:pPr marL="448701" lvl="1">
              <a:spcBef>
                <a:spcPts val="580"/>
              </a:spcBef>
              <a:buSzPct val="125000"/>
              <a:buFont typeface="Gill Sans" charset="0"/>
              <a:buChar char="•"/>
            </a:pPr>
            <a:r>
              <a:rPr lang="en-US" altLang="en-US" sz="1547"/>
              <a:t>1994: </a:t>
            </a:r>
            <a:r>
              <a:rPr lang="en-US" altLang="en-US" sz="1547" err="1"/>
              <a:t>Telsat</a:t>
            </a:r>
            <a:r>
              <a:rPr lang="en-US" altLang="en-US" sz="1547"/>
              <a:t> Canada’s </a:t>
            </a:r>
            <a:r>
              <a:rPr lang="en-US" altLang="en-US" sz="1547" err="1"/>
              <a:t>Anik</a:t>
            </a:r>
            <a:r>
              <a:rPr lang="en-US" altLang="en-US" sz="1547"/>
              <a:t> E-1 and E-2 suddenly began to spin out of control due to spacecraft </a:t>
            </a:r>
            <a:r>
              <a:rPr lang="en-US" altLang="en-US" sz="1547">
                <a:solidFill>
                  <a:srgbClr val="0000FF"/>
                </a:solidFill>
              </a:rPr>
              <a:t>charging</a:t>
            </a:r>
            <a:endParaRPr lang="en-US" altLang="en-US" sz="1547"/>
          </a:p>
          <a:p>
            <a:pPr marL="448701" lvl="1">
              <a:spcBef>
                <a:spcPts val="580"/>
              </a:spcBef>
              <a:buSzPct val="125000"/>
              <a:buFont typeface="Gill Sans" charset="0"/>
              <a:buChar char="•"/>
            </a:pPr>
            <a:r>
              <a:rPr lang="en-US" altLang="en-US" sz="1547"/>
              <a:t>1990: High energy </a:t>
            </a:r>
            <a:r>
              <a:rPr lang="en-US" altLang="en-US" sz="1547">
                <a:solidFill>
                  <a:srgbClr val="0000FF"/>
                </a:solidFill>
              </a:rPr>
              <a:t>charged particles</a:t>
            </a:r>
            <a:r>
              <a:rPr lang="en-US" altLang="en-US" sz="1547"/>
              <a:t> caused bit flips in HST fine guidance system electronics (FGS) passing through the South Atlantic Anomaly (SAA) causing guide star acquisition failures. Subsequently, FGS use was suspended in the SAA. </a:t>
            </a:r>
          </a:p>
          <a:p>
            <a:pPr marL="448701" lvl="1">
              <a:spcBef>
                <a:spcPts val="580"/>
              </a:spcBef>
              <a:buSzPct val="125000"/>
              <a:buFont typeface="Gill Sans" charset="0"/>
              <a:buChar char="•"/>
            </a:pPr>
            <a:r>
              <a:rPr lang="en-US" altLang="en-US" sz="1547"/>
              <a:t>1979: Increased </a:t>
            </a:r>
            <a:r>
              <a:rPr lang="en-US" altLang="en-US" sz="1547">
                <a:hlinkClick r:id="rId2"/>
              </a:rPr>
              <a:t>solar activity</a:t>
            </a:r>
            <a:r>
              <a:rPr lang="en-US" altLang="en-US" sz="1547"/>
              <a:t> heated the outer layers of the Earth's atmosphere and thereby increased </a:t>
            </a:r>
            <a:r>
              <a:rPr lang="en-US" altLang="en-US" sz="1547">
                <a:solidFill>
                  <a:srgbClr val="0000FF"/>
                </a:solidFill>
              </a:rPr>
              <a:t>drag</a:t>
            </a:r>
            <a:r>
              <a:rPr lang="en-US" altLang="en-US" sz="1547"/>
              <a:t> on Skylab, leading to an early reentry.</a:t>
            </a:r>
          </a:p>
        </p:txBody>
      </p:sp>
      <p:sp>
        <p:nvSpPr>
          <p:cNvPr id="54276" name="Rectangle 4"/>
          <p:cNvSpPr>
            <a:spLocks/>
          </p:cNvSpPr>
          <p:nvPr/>
        </p:nvSpPr>
        <p:spPr bwMode="auto">
          <a:xfrm>
            <a:off x="6000750" y="2760088"/>
            <a:ext cx="2821781" cy="437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35719" tIns="35719" rIns="73818" bIns="35719"/>
          <a:lstStyle>
            <a:lvl1pPr marL="3175">
              <a:defRPr sz="1200">
                <a:solidFill>
                  <a:schemeClr val="tx1"/>
                </a:solidFill>
                <a:latin typeface="Times New Roman" panose="02020603050405020304" pitchFamily="18" charset="0"/>
              </a:defRPr>
            </a:lvl1pPr>
            <a:lvl2pPr>
              <a:defRPr sz="1200">
                <a:solidFill>
                  <a:schemeClr val="tx1"/>
                </a:solidFill>
                <a:latin typeface="Times New Roman" panose="02020603050405020304" pitchFamily="18" charset="0"/>
              </a:defRPr>
            </a:lvl2pPr>
            <a:lvl3pPr>
              <a:defRPr sz="1200">
                <a:solidFill>
                  <a:schemeClr val="tx1"/>
                </a:solidFill>
                <a:latin typeface="Times New Roman" panose="02020603050405020304" pitchFamily="18" charset="0"/>
              </a:defRPr>
            </a:lvl3pPr>
            <a:lvl4pPr>
              <a:defRPr sz="1200">
                <a:solidFill>
                  <a:schemeClr val="tx1"/>
                </a:solidFill>
                <a:latin typeface="Times New Roman" panose="02020603050405020304" pitchFamily="18" charset="0"/>
              </a:defRPr>
            </a:lvl4pPr>
            <a:lvl5pPr>
              <a:defRPr sz="1200">
                <a:solidFill>
                  <a:schemeClr val="tx1"/>
                </a:solidFill>
                <a:latin typeface="Times New Roman" panose="02020603050405020304" pitchFamily="18" charset="0"/>
              </a:defRPr>
            </a:lvl5pPr>
            <a:lvl6pPr fontAlgn="base">
              <a:spcBef>
                <a:spcPct val="0"/>
              </a:spcBef>
              <a:spcAft>
                <a:spcPct val="0"/>
              </a:spcAft>
              <a:defRPr sz="1200">
                <a:solidFill>
                  <a:schemeClr val="tx1"/>
                </a:solidFill>
                <a:latin typeface="Times New Roman" panose="02020603050405020304" pitchFamily="18" charset="0"/>
              </a:defRPr>
            </a:lvl6pPr>
            <a:lvl7pPr fontAlgn="base">
              <a:spcBef>
                <a:spcPct val="0"/>
              </a:spcBef>
              <a:spcAft>
                <a:spcPct val="0"/>
              </a:spcAft>
              <a:defRPr sz="1200">
                <a:solidFill>
                  <a:schemeClr val="tx1"/>
                </a:solidFill>
                <a:latin typeface="Times New Roman" panose="02020603050405020304" pitchFamily="18" charset="0"/>
              </a:defRPr>
            </a:lvl7pPr>
            <a:lvl8pPr fontAlgn="base">
              <a:spcBef>
                <a:spcPct val="0"/>
              </a:spcBef>
              <a:spcAft>
                <a:spcPct val="0"/>
              </a:spcAft>
              <a:defRPr sz="1200">
                <a:solidFill>
                  <a:schemeClr val="tx1"/>
                </a:solidFill>
                <a:latin typeface="Times New Roman" panose="02020603050405020304" pitchFamily="18" charset="0"/>
              </a:defRPr>
            </a:lvl8pPr>
            <a:lvl9pPr fontAlgn="base">
              <a:spcBef>
                <a:spcPct val="0"/>
              </a:spcBef>
              <a:spcAft>
                <a:spcPct val="0"/>
              </a:spcAft>
              <a:defRPr sz="1200">
                <a:solidFill>
                  <a:schemeClr val="tx1"/>
                </a:solidFill>
                <a:latin typeface="Times New Roman" panose="02020603050405020304" pitchFamily="18" charset="0"/>
              </a:defRPr>
            </a:lvl9pPr>
          </a:lstStyle>
          <a:p>
            <a:pPr algn="ctr"/>
            <a:r>
              <a:rPr lang="en-US" altLang="en-US" sz="1266">
                <a:latin typeface="Arial Bold" panose="020B0704020202020204" pitchFamily="34" charset="0"/>
                <a:cs typeface="Arial Bold" panose="020B0704020202020204" pitchFamily="34" charset="0"/>
                <a:sym typeface="Arial Bold" panose="020B0704020202020204" pitchFamily="34" charset="0"/>
              </a:rPr>
              <a:t>Warning- Traffic Hazard!. </a:t>
            </a:r>
            <a:r>
              <a:rPr lang="en-US" altLang="en-US" sz="1266">
                <a:latin typeface="Arial" panose="020B0604020202020204" pitchFamily="34" charset="0"/>
                <a:cs typeface="Arial" panose="020B0604020202020204" pitchFamily="34" charset="0"/>
                <a:sym typeface="Arial" panose="020B0604020202020204" pitchFamily="34" charset="0"/>
              </a:rPr>
              <a:t>Iridium Collision with Cosmos 2251</a:t>
            </a:r>
          </a:p>
        </p:txBody>
      </p:sp>
      <p:sp>
        <p:nvSpPr>
          <p:cNvPr id="54277" name="Rectangle 5"/>
          <p:cNvSpPr>
            <a:spLocks/>
          </p:cNvSpPr>
          <p:nvPr/>
        </p:nvSpPr>
        <p:spPr bwMode="auto">
          <a:xfrm>
            <a:off x="5781972" y="5251471"/>
            <a:ext cx="1839516" cy="848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40640" bIns="0"/>
          <a:lstStyle>
            <a:lvl1pPr marL="57150">
              <a:defRPr sz="1200">
                <a:solidFill>
                  <a:schemeClr val="tx1"/>
                </a:solidFill>
                <a:latin typeface="Times New Roman" panose="02020603050405020304" pitchFamily="18" charset="0"/>
              </a:defRPr>
            </a:lvl1pPr>
            <a:lvl2pPr>
              <a:defRPr sz="1200">
                <a:solidFill>
                  <a:schemeClr val="tx1"/>
                </a:solidFill>
                <a:latin typeface="Times New Roman" panose="02020603050405020304" pitchFamily="18" charset="0"/>
              </a:defRPr>
            </a:lvl2pPr>
            <a:lvl3pPr>
              <a:defRPr sz="1200">
                <a:solidFill>
                  <a:schemeClr val="tx1"/>
                </a:solidFill>
                <a:latin typeface="Times New Roman" panose="02020603050405020304" pitchFamily="18" charset="0"/>
              </a:defRPr>
            </a:lvl3pPr>
            <a:lvl4pPr>
              <a:defRPr sz="1200">
                <a:solidFill>
                  <a:schemeClr val="tx1"/>
                </a:solidFill>
                <a:latin typeface="Times New Roman" panose="02020603050405020304" pitchFamily="18" charset="0"/>
              </a:defRPr>
            </a:lvl4pPr>
            <a:lvl5pPr>
              <a:defRPr sz="1200">
                <a:solidFill>
                  <a:schemeClr val="tx1"/>
                </a:solidFill>
                <a:latin typeface="Times New Roman" panose="02020603050405020304" pitchFamily="18" charset="0"/>
              </a:defRPr>
            </a:lvl5pPr>
            <a:lvl6pPr fontAlgn="base">
              <a:spcBef>
                <a:spcPct val="0"/>
              </a:spcBef>
              <a:spcAft>
                <a:spcPct val="0"/>
              </a:spcAft>
              <a:defRPr sz="1200">
                <a:solidFill>
                  <a:schemeClr val="tx1"/>
                </a:solidFill>
                <a:latin typeface="Times New Roman" panose="02020603050405020304" pitchFamily="18" charset="0"/>
              </a:defRPr>
            </a:lvl6pPr>
            <a:lvl7pPr fontAlgn="base">
              <a:spcBef>
                <a:spcPct val="0"/>
              </a:spcBef>
              <a:spcAft>
                <a:spcPct val="0"/>
              </a:spcAft>
              <a:defRPr sz="1200">
                <a:solidFill>
                  <a:schemeClr val="tx1"/>
                </a:solidFill>
                <a:latin typeface="Times New Roman" panose="02020603050405020304" pitchFamily="18" charset="0"/>
              </a:defRPr>
            </a:lvl7pPr>
            <a:lvl8pPr fontAlgn="base">
              <a:spcBef>
                <a:spcPct val="0"/>
              </a:spcBef>
              <a:spcAft>
                <a:spcPct val="0"/>
              </a:spcAft>
              <a:defRPr sz="1200">
                <a:solidFill>
                  <a:schemeClr val="tx1"/>
                </a:solidFill>
                <a:latin typeface="Times New Roman" panose="02020603050405020304" pitchFamily="18" charset="0"/>
              </a:defRPr>
            </a:lvl8pPr>
            <a:lvl9pPr fontAlgn="base">
              <a:spcBef>
                <a:spcPct val="0"/>
              </a:spcBef>
              <a:spcAft>
                <a:spcPct val="0"/>
              </a:spcAft>
              <a:defRPr sz="1200">
                <a:solidFill>
                  <a:schemeClr val="tx1"/>
                </a:solidFill>
                <a:latin typeface="Times New Roman" panose="02020603050405020304" pitchFamily="18" charset="0"/>
              </a:defRPr>
            </a:lvl9pPr>
          </a:lstStyle>
          <a:p>
            <a:pPr algn="ctr"/>
            <a:r>
              <a:rPr lang="en-US" altLang="en-US" sz="1266">
                <a:latin typeface="Arial Bold" panose="020B0704020202020204" pitchFamily="34" charset="0"/>
                <a:cs typeface="Arial Bold" panose="020B0704020202020204" pitchFamily="34" charset="0"/>
                <a:sym typeface="Arial Bold" panose="020B0704020202020204" pitchFamily="34" charset="0"/>
              </a:rPr>
              <a:t>Beware - Outgassing.</a:t>
            </a:r>
            <a:r>
              <a:rPr lang="en-US" altLang="en-US" sz="1266">
                <a:latin typeface="Arial" panose="020B0604020202020204" pitchFamily="34" charset="0"/>
                <a:cs typeface="Arial" panose="020B0604020202020204" pitchFamily="34" charset="0"/>
                <a:sym typeface="Arial" panose="020B0604020202020204" pitchFamily="34" charset="0"/>
              </a:rPr>
              <a:t> Anik F-1 degraded performance due to outgassing</a:t>
            </a:r>
          </a:p>
        </p:txBody>
      </p:sp>
      <p:sp>
        <p:nvSpPr>
          <p:cNvPr id="54278" name="Rectangle 6"/>
          <p:cNvSpPr>
            <a:spLocks/>
          </p:cNvSpPr>
          <p:nvPr/>
        </p:nvSpPr>
        <p:spPr bwMode="auto">
          <a:xfrm>
            <a:off x="7336855" y="3340518"/>
            <a:ext cx="1732359" cy="1035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40640" bIns="0"/>
          <a:lstStyle>
            <a:lvl1pPr marL="57150">
              <a:defRPr sz="1200">
                <a:solidFill>
                  <a:schemeClr val="tx1"/>
                </a:solidFill>
                <a:latin typeface="Times New Roman" panose="02020603050405020304" pitchFamily="18" charset="0"/>
              </a:defRPr>
            </a:lvl1pPr>
            <a:lvl2pPr>
              <a:defRPr sz="1200">
                <a:solidFill>
                  <a:schemeClr val="tx1"/>
                </a:solidFill>
                <a:latin typeface="Times New Roman" panose="02020603050405020304" pitchFamily="18" charset="0"/>
              </a:defRPr>
            </a:lvl2pPr>
            <a:lvl3pPr>
              <a:defRPr sz="1200">
                <a:solidFill>
                  <a:schemeClr val="tx1"/>
                </a:solidFill>
                <a:latin typeface="Times New Roman" panose="02020603050405020304" pitchFamily="18" charset="0"/>
              </a:defRPr>
            </a:lvl3pPr>
            <a:lvl4pPr>
              <a:defRPr sz="1200">
                <a:solidFill>
                  <a:schemeClr val="tx1"/>
                </a:solidFill>
                <a:latin typeface="Times New Roman" panose="02020603050405020304" pitchFamily="18" charset="0"/>
              </a:defRPr>
            </a:lvl4pPr>
            <a:lvl5pPr>
              <a:defRPr sz="1200">
                <a:solidFill>
                  <a:schemeClr val="tx1"/>
                </a:solidFill>
                <a:latin typeface="Times New Roman" panose="02020603050405020304" pitchFamily="18" charset="0"/>
              </a:defRPr>
            </a:lvl5pPr>
            <a:lvl6pPr fontAlgn="base">
              <a:spcBef>
                <a:spcPct val="0"/>
              </a:spcBef>
              <a:spcAft>
                <a:spcPct val="0"/>
              </a:spcAft>
              <a:defRPr sz="1200">
                <a:solidFill>
                  <a:schemeClr val="tx1"/>
                </a:solidFill>
                <a:latin typeface="Times New Roman" panose="02020603050405020304" pitchFamily="18" charset="0"/>
              </a:defRPr>
            </a:lvl6pPr>
            <a:lvl7pPr fontAlgn="base">
              <a:spcBef>
                <a:spcPct val="0"/>
              </a:spcBef>
              <a:spcAft>
                <a:spcPct val="0"/>
              </a:spcAft>
              <a:defRPr sz="1200">
                <a:solidFill>
                  <a:schemeClr val="tx1"/>
                </a:solidFill>
                <a:latin typeface="Times New Roman" panose="02020603050405020304" pitchFamily="18" charset="0"/>
              </a:defRPr>
            </a:lvl7pPr>
            <a:lvl8pPr fontAlgn="base">
              <a:spcBef>
                <a:spcPct val="0"/>
              </a:spcBef>
              <a:spcAft>
                <a:spcPct val="0"/>
              </a:spcAft>
              <a:defRPr sz="1200">
                <a:solidFill>
                  <a:schemeClr val="tx1"/>
                </a:solidFill>
                <a:latin typeface="Times New Roman" panose="02020603050405020304" pitchFamily="18" charset="0"/>
              </a:defRPr>
            </a:lvl8pPr>
            <a:lvl9pPr fontAlgn="base">
              <a:spcBef>
                <a:spcPct val="0"/>
              </a:spcBef>
              <a:spcAft>
                <a:spcPct val="0"/>
              </a:spcAft>
              <a:defRPr sz="1200">
                <a:solidFill>
                  <a:schemeClr val="tx1"/>
                </a:solidFill>
                <a:latin typeface="Times New Roman" panose="02020603050405020304" pitchFamily="18" charset="0"/>
              </a:defRPr>
            </a:lvl9pPr>
          </a:lstStyle>
          <a:p>
            <a:pPr algn="ctr"/>
            <a:r>
              <a:rPr lang="en-US" altLang="en-US" sz="1266">
                <a:latin typeface="Arial Bold" panose="020B0704020202020204" pitchFamily="34" charset="0"/>
                <a:cs typeface="Arial Bold" panose="020B0704020202020204" pitchFamily="34" charset="0"/>
                <a:sym typeface="Arial Bold" panose="020B0704020202020204" pitchFamily="34" charset="0"/>
              </a:rPr>
              <a:t>Caution - Solar Flare.</a:t>
            </a:r>
            <a:r>
              <a:rPr lang="en-US" altLang="en-US" sz="1266">
                <a:latin typeface="Arial" panose="020B0604020202020204" pitchFamily="34" charset="0"/>
                <a:cs typeface="Arial" panose="020B0604020202020204" pitchFamily="34" charset="0"/>
                <a:sym typeface="Arial" panose="020B0604020202020204" pitchFamily="34" charset="0"/>
              </a:rPr>
              <a:t> Stardust spacecraft was blinded by a solar flare</a:t>
            </a:r>
          </a:p>
        </p:txBody>
      </p:sp>
      <p:pic>
        <p:nvPicPr>
          <p:cNvPr id="54279"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7783" y="3367307"/>
            <a:ext cx="1393031" cy="1741289"/>
          </a:xfrm>
          <a:prstGeom prst="rect">
            <a:avLst/>
          </a:prstGeom>
          <a:noFill/>
          <a:ln>
            <a:noFill/>
          </a:ln>
          <a:effectLst>
            <a:outerShdw blurRad="63500" dist="38099" dir="5400000" algn="ctr" rotWithShape="0">
              <a:srgbClr val="000000">
                <a:alpha val="7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flat">
                <a:solidFill>
                  <a:schemeClr val="tx1"/>
                </a:solidFill>
                <a:miter lim="800000"/>
                <a:headEnd/>
                <a:tailEnd/>
              </a14:hiddenLine>
            </a:ext>
          </a:extLst>
        </p:spPr>
      </p:pic>
      <p:pic>
        <p:nvPicPr>
          <p:cNvPr id="54280"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63445" y="4409848"/>
            <a:ext cx="1285875" cy="1620738"/>
          </a:xfrm>
          <a:prstGeom prst="rect">
            <a:avLst/>
          </a:prstGeom>
          <a:noFill/>
          <a:ln>
            <a:noFill/>
          </a:ln>
          <a:effectLst>
            <a:outerShdw blurRad="63500" dist="38099" dir="5400000" algn="ctr" rotWithShape="0">
              <a:srgbClr val="000000">
                <a:alpha val="7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cap="flat">
                <a:solidFill>
                  <a:schemeClr val="tx1"/>
                </a:solidFill>
                <a:miter lim="800000"/>
                <a:headEnd/>
                <a:tailEnd/>
              </a14:hiddenLine>
            </a:ext>
          </a:extLst>
        </p:spPr>
      </p:pic>
      <p:sp>
        <p:nvSpPr>
          <p:cNvPr id="12" name="Rectangle 72"/>
          <p:cNvSpPr>
            <a:spLocks/>
          </p:cNvSpPr>
          <p:nvPr/>
        </p:nvSpPr>
        <p:spPr bwMode="auto">
          <a:xfrm>
            <a:off x="3204757" y="6333626"/>
            <a:ext cx="530670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40640" bIns="0"/>
          <a:lstStyle>
            <a:lvl1pPr marL="57150">
              <a:defRPr sz="1200">
                <a:solidFill>
                  <a:schemeClr val="tx1"/>
                </a:solidFill>
                <a:latin typeface="Times New Roman" panose="02020603050405020304" pitchFamily="18" charset="0"/>
              </a:defRPr>
            </a:lvl1pPr>
            <a:lvl2pPr>
              <a:defRPr sz="1200">
                <a:solidFill>
                  <a:schemeClr val="tx1"/>
                </a:solidFill>
                <a:latin typeface="Times New Roman" panose="02020603050405020304" pitchFamily="18" charset="0"/>
              </a:defRPr>
            </a:lvl2pPr>
            <a:lvl3pPr>
              <a:defRPr sz="1200">
                <a:solidFill>
                  <a:schemeClr val="tx1"/>
                </a:solidFill>
                <a:latin typeface="Times New Roman" panose="02020603050405020304" pitchFamily="18" charset="0"/>
              </a:defRPr>
            </a:lvl3pPr>
            <a:lvl4pPr>
              <a:defRPr sz="1200">
                <a:solidFill>
                  <a:schemeClr val="tx1"/>
                </a:solidFill>
                <a:latin typeface="Times New Roman" panose="02020603050405020304" pitchFamily="18" charset="0"/>
              </a:defRPr>
            </a:lvl4pPr>
            <a:lvl5pPr>
              <a:defRPr sz="1200">
                <a:solidFill>
                  <a:schemeClr val="tx1"/>
                </a:solidFill>
                <a:latin typeface="Times New Roman" panose="02020603050405020304" pitchFamily="18" charset="0"/>
              </a:defRPr>
            </a:lvl5pPr>
            <a:lvl6pPr fontAlgn="base">
              <a:spcBef>
                <a:spcPct val="0"/>
              </a:spcBef>
              <a:spcAft>
                <a:spcPct val="0"/>
              </a:spcAft>
              <a:defRPr sz="1200">
                <a:solidFill>
                  <a:schemeClr val="tx1"/>
                </a:solidFill>
                <a:latin typeface="Times New Roman" panose="02020603050405020304" pitchFamily="18" charset="0"/>
              </a:defRPr>
            </a:lvl6pPr>
            <a:lvl7pPr fontAlgn="base">
              <a:spcBef>
                <a:spcPct val="0"/>
              </a:spcBef>
              <a:spcAft>
                <a:spcPct val="0"/>
              </a:spcAft>
              <a:defRPr sz="1200">
                <a:solidFill>
                  <a:schemeClr val="tx1"/>
                </a:solidFill>
                <a:latin typeface="Times New Roman" panose="02020603050405020304" pitchFamily="18" charset="0"/>
              </a:defRPr>
            </a:lvl7pPr>
            <a:lvl8pPr fontAlgn="base">
              <a:spcBef>
                <a:spcPct val="0"/>
              </a:spcBef>
              <a:spcAft>
                <a:spcPct val="0"/>
              </a:spcAft>
              <a:defRPr sz="1200">
                <a:solidFill>
                  <a:schemeClr val="tx1"/>
                </a:solidFill>
                <a:latin typeface="Times New Roman" panose="02020603050405020304" pitchFamily="18" charset="0"/>
              </a:defRPr>
            </a:lvl8pPr>
            <a:lvl9pPr fontAlgn="base">
              <a:spcBef>
                <a:spcPct val="0"/>
              </a:spcBef>
              <a:spcAft>
                <a:spcPct val="0"/>
              </a:spcAft>
              <a:defRPr sz="1200">
                <a:solidFill>
                  <a:schemeClr val="tx1"/>
                </a:solidFill>
                <a:latin typeface="Times New Roman" panose="02020603050405020304" pitchFamily="18" charset="0"/>
              </a:defRPr>
            </a:lvl9pPr>
          </a:lstStyle>
          <a:p>
            <a:pPr algn="r"/>
            <a:r>
              <a:rPr lang="en-US" altLang="en-US" sz="1266">
                <a:latin typeface="Arial" panose="020B0604020202020204" pitchFamily="34" charset="0"/>
                <a:cs typeface="Arial" panose="020B0604020202020204" pitchFamily="34" charset="0"/>
                <a:sym typeface="Arial" panose="020B0604020202020204" pitchFamily="34" charset="0"/>
              </a:rPr>
              <a:t>Adapted from Designing Space Missions and Systems,</a:t>
            </a:r>
          </a:p>
          <a:p>
            <a:pPr algn="r"/>
            <a:r>
              <a:rPr lang="en-US" altLang="en-US" sz="1266">
                <a:latin typeface="Arial" panose="020B0604020202020204" pitchFamily="34" charset="0"/>
                <a:cs typeface="Arial" panose="020B0604020202020204" pitchFamily="34" charset="0"/>
                <a:sym typeface="Arial" panose="020B0604020202020204" pitchFamily="34" charset="0"/>
              </a:rPr>
              <a:t>Teaching Science and Technology, </a:t>
            </a:r>
            <a:r>
              <a:rPr lang="en-US" altLang="en-US" sz="1266" err="1">
                <a:latin typeface="Arial" panose="020B0604020202020204" pitchFamily="34" charset="0"/>
                <a:cs typeface="Arial" panose="020B0604020202020204" pitchFamily="34" charset="0"/>
                <a:sym typeface="Arial" panose="020B0604020202020204" pitchFamily="34" charset="0"/>
              </a:rPr>
              <a:t>Inc</a:t>
            </a:r>
            <a:endParaRPr lang="en-US" altLang="en-US" sz="1266">
              <a:latin typeface="Arial" panose="020B0604020202020204" pitchFamily="34" charset="0"/>
              <a:cs typeface="Arial" panose="020B0604020202020204" pitchFamily="34" charset="0"/>
              <a:sym typeface="Arial" panose="020B0604020202020204" pitchFamily="34" charset="0"/>
            </a:endParaRPr>
          </a:p>
        </p:txBody>
      </p:sp>
      <p:pic>
        <p:nvPicPr>
          <p:cNvPr id="2" name="Picture 1"/>
          <p:cNvPicPr>
            <a:picLocks noChangeAspect="1"/>
          </p:cNvPicPr>
          <p:nvPr/>
        </p:nvPicPr>
        <p:blipFill>
          <a:blip r:embed="rId5"/>
          <a:stretch>
            <a:fillRect/>
          </a:stretch>
        </p:blipFill>
        <p:spPr>
          <a:xfrm>
            <a:off x="5641970" y="706260"/>
            <a:ext cx="3386791" cy="1905070"/>
          </a:xfrm>
          <a:prstGeom prst="rect">
            <a:avLst/>
          </a:prstGeom>
        </p:spPr>
      </p:pic>
    </p:spTree>
    <p:extLst>
      <p:ext uri="{BB962C8B-B14F-4D97-AF65-F5344CB8AC3E}">
        <p14:creationId xmlns:p14="http://schemas.microsoft.com/office/powerpoint/2010/main" val="4086587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Space Environmental Influences</a:t>
            </a:r>
          </a:p>
        </p:txBody>
      </p:sp>
      <p:sp>
        <p:nvSpPr>
          <p:cNvPr id="3" name="Content Placeholder 2"/>
          <p:cNvSpPr>
            <a:spLocks noGrp="1"/>
          </p:cNvSpPr>
          <p:nvPr>
            <p:ph idx="1"/>
          </p:nvPr>
        </p:nvSpPr>
        <p:spPr/>
        <p:txBody>
          <a:bodyPr/>
          <a:lstStyle/>
          <a:p>
            <a:r>
              <a:rPr lang="en-US"/>
              <a:t>Microgravity</a:t>
            </a:r>
          </a:p>
          <a:p>
            <a:r>
              <a:rPr lang="en-US"/>
              <a:t>Vacuum</a:t>
            </a:r>
          </a:p>
          <a:p>
            <a:r>
              <a:rPr lang="en-US"/>
              <a:t>Atmosphere</a:t>
            </a:r>
          </a:p>
          <a:p>
            <a:r>
              <a:rPr lang="en-US"/>
              <a:t>Plasma</a:t>
            </a:r>
          </a:p>
          <a:p>
            <a:r>
              <a:rPr lang="en-US"/>
              <a:t>Radiation</a:t>
            </a:r>
          </a:p>
          <a:p>
            <a:r>
              <a:rPr lang="en-US" err="1"/>
              <a:t>Micrometeroids</a:t>
            </a:r>
            <a:r>
              <a:rPr lang="en-US"/>
              <a:t> &amp; Orbital Debris</a:t>
            </a:r>
          </a:p>
        </p:txBody>
      </p:sp>
      <p:sp>
        <p:nvSpPr>
          <p:cNvPr id="4" name="Slide Number Placeholder 3"/>
          <p:cNvSpPr>
            <a:spLocks noGrp="1"/>
          </p:cNvSpPr>
          <p:nvPr>
            <p:ph type="sldNum" sz="quarter" idx="12"/>
          </p:nvPr>
        </p:nvSpPr>
        <p:spPr/>
        <p:txBody>
          <a:bodyPr/>
          <a:lstStyle/>
          <a:p>
            <a:fld id="{04EF813A-C95A-49A4-BB2C-19388EC38802}" type="slidenum">
              <a:rPr lang="en-US" smtClean="0"/>
              <a:t>4</a:t>
            </a:fld>
            <a:endParaRPr lang="en-US"/>
          </a:p>
        </p:txBody>
      </p:sp>
    </p:spTree>
    <p:extLst>
      <p:ext uri="{BB962C8B-B14F-4D97-AF65-F5344CB8AC3E}">
        <p14:creationId xmlns:p14="http://schemas.microsoft.com/office/powerpoint/2010/main" val="4261757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Microgravity</a:t>
            </a:r>
          </a:p>
        </p:txBody>
      </p:sp>
      <p:sp>
        <p:nvSpPr>
          <p:cNvPr id="3" name="Content Placeholder 2"/>
          <p:cNvSpPr>
            <a:spLocks noGrp="1"/>
          </p:cNvSpPr>
          <p:nvPr>
            <p:ph idx="1"/>
          </p:nvPr>
        </p:nvSpPr>
        <p:spPr>
          <a:xfrm>
            <a:off x="628650" y="1825624"/>
            <a:ext cx="7886700" cy="4622309"/>
          </a:xfrm>
        </p:spPr>
        <p:txBody>
          <a:bodyPr>
            <a:normAutofit fontScale="92500" lnSpcReduction="10000"/>
          </a:bodyPr>
          <a:lstStyle/>
          <a:p>
            <a:r>
              <a:rPr lang="en-US"/>
              <a:t>Source: </a:t>
            </a:r>
          </a:p>
          <a:p>
            <a:pPr lvl="1"/>
            <a:r>
              <a:rPr lang="en-US"/>
              <a:t>Spacecraft is in free fall, where it is continuously falling through space where the forward velocity of the spacecraft is enough to match the velocity that would pull the spacecraft back toward the Earth’s surface</a:t>
            </a:r>
          </a:p>
          <a:p>
            <a:r>
              <a:rPr lang="en-US"/>
              <a:t>Effects on spacecraft:</a:t>
            </a:r>
          </a:p>
          <a:p>
            <a:pPr lvl="1"/>
            <a:r>
              <a:rPr lang="en-US"/>
              <a:t>Fluid containment is a challenge</a:t>
            </a:r>
          </a:p>
          <a:p>
            <a:pPr lvl="1"/>
            <a:r>
              <a:rPr lang="en-US"/>
              <a:t>All articles must be secured</a:t>
            </a:r>
          </a:p>
          <a:p>
            <a:pPr lvl="1"/>
            <a:r>
              <a:rPr lang="en-US"/>
              <a:t>Allows uniform mixing of solutions</a:t>
            </a:r>
          </a:p>
          <a:p>
            <a:pPr lvl="1"/>
            <a:r>
              <a:rPr lang="en-US"/>
              <a:t>Allows opportunity for new manufacturing techniques</a:t>
            </a:r>
          </a:p>
          <a:p>
            <a:r>
              <a:rPr lang="en-US"/>
              <a:t>Strategies to mitigate effects:</a:t>
            </a:r>
          </a:p>
          <a:p>
            <a:pPr lvl="1"/>
            <a:r>
              <a:rPr lang="en-US"/>
              <a:t>Pressurize liquids/gases in containers</a:t>
            </a:r>
          </a:p>
          <a:p>
            <a:pPr lvl="1"/>
            <a:r>
              <a:rPr lang="en-US"/>
              <a:t>Secure all components</a:t>
            </a:r>
          </a:p>
        </p:txBody>
      </p:sp>
      <p:sp>
        <p:nvSpPr>
          <p:cNvPr id="4" name="Slide Number Placeholder 3"/>
          <p:cNvSpPr>
            <a:spLocks noGrp="1"/>
          </p:cNvSpPr>
          <p:nvPr>
            <p:ph type="sldNum" sz="quarter" idx="12"/>
          </p:nvPr>
        </p:nvSpPr>
        <p:spPr/>
        <p:txBody>
          <a:bodyPr/>
          <a:lstStyle/>
          <a:p>
            <a:fld id="{04EF813A-C95A-49A4-BB2C-19388EC38802}" type="slidenum">
              <a:rPr lang="en-US" smtClean="0"/>
              <a:t>5</a:t>
            </a:fld>
            <a:endParaRPr lang="en-US"/>
          </a:p>
        </p:txBody>
      </p:sp>
    </p:spTree>
    <p:extLst>
      <p:ext uri="{BB962C8B-B14F-4D97-AF65-F5344CB8AC3E}">
        <p14:creationId xmlns:p14="http://schemas.microsoft.com/office/powerpoint/2010/main" val="33014234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Vacuum</a:t>
            </a:r>
          </a:p>
        </p:txBody>
      </p:sp>
      <p:sp>
        <p:nvSpPr>
          <p:cNvPr id="3" name="Content Placeholder 2"/>
          <p:cNvSpPr>
            <a:spLocks noGrp="1"/>
          </p:cNvSpPr>
          <p:nvPr>
            <p:ph idx="1"/>
          </p:nvPr>
        </p:nvSpPr>
        <p:spPr>
          <a:xfrm>
            <a:off x="628650" y="1825624"/>
            <a:ext cx="7886700" cy="4895851"/>
          </a:xfrm>
        </p:spPr>
        <p:txBody>
          <a:bodyPr>
            <a:normAutofit fontScale="92500" lnSpcReduction="20000"/>
          </a:bodyPr>
          <a:lstStyle/>
          <a:p>
            <a:r>
              <a:rPr lang="en-US"/>
              <a:t>Source: </a:t>
            </a:r>
          </a:p>
          <a:p>
            <a:pPr lvl="1"/>
            <a:r>
              <a:rPr lang="en-US"/>
              <a:t>No air in space</a:t>
            </a:r>
          </a:p>
          <a:p>
            <a:r>
              <a:rPr lang="en-US"/>
              <a:t>Effects on spacecraft:</a:t>
            </a:r>
          </a:p>
          <a:p>
            <a:pPr lvl="1"/>
            <a:r>
              <a:rPr lang="en-US"/>
              <a:t>UV radiation causes coating and materials to degrade</a:t>
            </a:r>
          </a:p>
          <a:p>
            <a:pPr lvl="1"/>
            <a:r>
              <a:rPr lang="en-US"/>
              <a:t>Outgassing: spurious release of molecules that contaminate surfaces</a:t>
            </a:r>
          </a:p>
          <a:p>
            <a:pPr lvl="1"/>
            <a:r>
              <a:rPr lang="en-US"/>
              <a:t>Cold welding: unintended material bonding when the atmosphere between surfaces is absent</a:t>
            </a:r>
          </a:p>
          <a:p>
            <a:r>
              <a:rPr lang="en-US"/>
              <a:t>Strategies to mitigate effects:</a:t>
            </a:r>
          </a:p>
          <a:p>
            <a:pPr lvl="1"/>
            <a:r>
              <a:rPr lang="en-US"/>
              <a:t>Use coatings that protect against UV radiation and do not outgas</a:t>
            </a:r>
          </a:p>
          <a:p>
            <a:pPr lvl="1"/>
            <a:r>
              <a:rPr lang="en-US"/>
              <a:t>Vent propellant/gas away from sensitive surfaces</a:t>
            </a:r>
          </a:p>
          <a:p>
            <a:pPr lvl="1"/>
            <a:r>
              <a:rPr lang="en-US"/>
              <a:t>Don’t put metal objects that are vulnerable to cold welding near each other</a:t>
            </a:r>
          </a:p>
          <a:p>
            <a:pPr lvl="1"/>
            <a:r>
              <a:rPr lang="en-US"/>
              <a:t>Vacuum bake-out on ground</a:t>
            </a:r>
          </a:p>
          <a:p>
            <a:endParaRPr lang="en-US"/>
          </a:p>
        </p:txBody>
      </p:sp>
      <p:sp>
        <p:nvSpPr>
          <p:cNvPr id="4" name="Slide Number Placeholder 3"/>
          <p:cNvSpPr>
            <a:spLocks noGrp="1"/>
          </p:cNvSpPr>
          <p:nvPr>
            <p:ph type="sldNum" sz="quarter" idx="12"/>
          </p:nvPr>
        </p:nvSpPr>
        <p:spPr/>
        <p:txBody>
          <a:bodyPr/>
          <a:lstStyle/>
          <a:p>
            <a:fld id="{04EF813A-C95A-49A4-BB2C-19388EC38802}" type="slidenum">
              <a:rPr lang="en-US" smtClean="0"/>
              <a:t>6</a:t>
            </a:fld>
            <a:endParaRPr lang="en-US"/>
          </a:p>
        </p:txBody>
      </p:sp>
    </p:spTree>
    <p:extLst>
      <p:ext uri="{BB962C8B-B14F-4D97-AF65-F5344CB8AC3E}">
        <p14:creationId xmlns:p14="http://schemas.microsoft.com/office/powerpoint/2010/main" val="522818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Atmosphere (1/2)</a:t>
            </a:r>
          </a:p>
        </p:txBody>
      </p:sp>
      <p:sp>
        <p:nvSpPr>
          <p:cNvPr id="3" name="Content Placeholder 2"/>
          <p:cNvSpPr>
            <a:spLocks noGrp="1"/>
          </p:cNvSpPr>
          <p:nvPr>
            <p:ph idx="1"/>
          </p:nvPr>
        </p:nvSpPr>
        <p:spPr>
          <a:xfrm>
            <a:off x="628650" y="1825624"/>
            <a:ext cx="7886700" cy="4829699"/>
          </a:xfrm>
        </p:spPr>
        <p:txBody>
          <a:bodyPr>
            <a:normAutofit lnSpcReduction="10000"/>
          </a:bodyPr>
          <a:lstStyle/>
          <a:p>
            <a:r>
              <a:rPr lang="en-US"/>
              <a:t>Source: </a:t>
            </a:r>
          </a:p>
          <a:p>
            <a:pPr lvl="1"/>
            <a:r>
              <a:rPr lang="en-US"/>
              <a:t>Uncharged particles in air around Earth</a:t>
            </a:r>
          </a:p>
          <a:p>
            <a:r>
              <a:rPr lang="en-US"/>
              <a:t>Effects on spacecraft:</a:t>
            </a:r>
          </a:p>
          <a:p>
            <a:pPr lvl="1"/>
            <a:r>
              <a:rPr lang="en-US"/>
              <a:t>Atomic oxygen: predominant atmospheric constituent from 200-600 km, forms when UV radiation dissociates molecular oxygen (Fig 8-5)</a:t>
            </a:r>
          </a:p>
          <a:p>
            <a:pPr lvl="1"/>
            <a:r>
              <a:rPr lang="en-US"/>
              <a:t>Atmospheric Drag</a:t>
            </a:r>
          </a:p>
          <a:p>
            <a:r>
              <a:rPr lang="en-US"/>
              <a:t>Strategies to mitigate effects:</a:t>
            </a:r>
          </a:p>
          <a:p>
            <a:pPr lvl="1"/>
            <a:r>
              <a:rPr lang="en-US"/>
              <a:t>Choose materials resistant to atomic oxygen or use protective coatings</a:t>
            </a:r>
          </a:p>
          <a:p>
            <a:pPr lvl="1"/>
            <a:r>
              <a:rPr lang="en-US"/>
              <a:t>Shield sensitive surfaces, design S/C with low coefficient of drag</a:t>
            </a:r>
          </a:p>
          <a:p>
            <a:pPr lvl="1"/>
            <a:r>
              <a:rPr lang="en-US"/>
              <a:t>Operate at higher altitudes if possible</a:t>
            </a:r>
          </a:p>
          <a:p>
            <a:endParaRPr lang="en-US"/>
          </a:p>
        </p:txBody>
      </p:sp>
      <p:sp>
        <p:nvSpPr>
          <p:cNvPr id="4" name="Slide Number Placeholder 3"/>
          <p:cNvSpPr>
            <a:spLocks noGrp="1"/>
          </p:cNvSpPr>
          <p:nvPr>
            <p:ph type="sldNum" sz="quarter" idx="12"/>
          </p:nvPr>
        </p:nvSpPr>
        <p:spPr/>
        <p:txBody>
          <a:bodyPr/>
          <a:lstStyle/>
          <a:p>
            <a:fld id="{04EF813A-C95A-49A4-BB2C-19388EC38802}" type="slidenum">
              <a:rPr lang="en-US" smtClean="0"/>
              <a:t>7</a:t>
            </a:fld>
            <a:endParaRPr lang="en-US"/>
          </a:p>
        </p:txBody>
      </p:sp>
    </p:spTree>
    <p:extLst>
      <p:ext uri="{BB962C8B-B14F-4D97-AF65-F5344CB8AC3E}">
        <p14:creationId xmlns:p14="http://schemas.microsoft.com/office/powerpoint/2010/main" val="13398762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Atmosphere (2/3)</a:t>
            </a:r>
          </a:p>
        </p:txBody>
      </p:sp>
      <p:sp>
        <p:nvSpPr>
          <p:cNvPr id="3" name="Content Placeholder 2"/>
          <p:cNvSpPr>
            <a:spLocks noGrp="1"/>
          </p:cNvSpPr>
          <p:nvPr>
            <p:ph idx="1"/>
          </p:nvPr>
        </p:nvSpPr>
        <p:spPr>
          <a:xfrm>
            <a:off x="628650" y="1825625"/>
            <a:ext cx="7886700" cy="4726004"/>
          </a:xfrm>
        </p:spPr>
        <p:txBody>
          <a:bodyPr>
            <a:normAutofit fontScale="92500" lnSpcReduction="10000"/>
          </a:bodyPr>
          <a:lstStyle/>
          <a:p>
            <a:r>
              <a:rPr lang="en-US"/>
              <a:t>Atomic Oxygen</a:t>
            </a:r>
          </a:p>
          <a:p>
            <a:pPr lvl="1"/>
            <a:r>
              <a:rPr lang="en-US"/>
              <a:t>Reacts with thin organic films, advanced composites and metallized surfaces</a:t>
            </a:r>
            <a:endParaRPr lang="en-US" sz="2000"/>
          </a:p>
          <a:p>
            <a:pPr lvl="1"/>
            <a:r>
              <a:rPr lang="en-US"/>
              <a:t>Degrades sensor performance</a:t>
            </a:r>
            <a:endParaRPr lang="en-US" sz="2000"/>
          </a:p>
          <a:p>
            <a:pPr lvl="1"/>
            <a:r>
              <a:rPr lang="en-US"/>
              <a:t>Weakens spacecraft structures</a:t>
            </a:r>
            <a:endParaRPr lang="en-US" sz="2000"/>
          </a:p>
          <a:p>
            <a:pPr lvl="1"/>
            <a:r>
              <a:rPr lang="en-US"/>
              <a:t>Density of atomic oxygen varies with the solar cycle</a:t>
            </a:r>
            <a:endParaRPr lang="en-US" sz="2000"/>
          </a:p>
          <a:p>
            <a:pPr lvl="2"/>
            <a:r>
              <a:rPr lang="en-US"/>
              <a:t>Solar cycle is periodic change in the amount of material and radiation emitted by the Sun and observed on Earth</a:t>
            </a:r>
            <a:endParaRPr lang="en-US" sz="1800"/>
          </a:p>
          <a:p>
            <a:pPr lvl="2"/>
            <a:r>
              <a:rPr lang="en-US"/>
              <a:t>Average of 11-year cycle; shortest was 9 </a:t>
            </a:r>
            <a:r>
              <a:rPr lang="en-US" err="1"/>
              <a:t>yrs</a:t>
            </a:r>
            <a:r>
              <a:rPr lang="en-US"/>
              <a:t>, longest 14 </a:t>
            </a:r>
            <a:r>
              <a:rPr lang="en-US" err="1"/>
              <a:t>yrs</a:t>
            </a:r>
            <a:endParaRPr lang="en-US" sz="1800"/>
          </a:p>
          <a:p>
            <a:pPr lvl="2"/>
            <a:r>
              <a:rPr lang="en-US"/>
              <a:t>Solar maximum has many solar events; solar minima has almost no solar events</a:t>
            </a:r>
            <a:endParaRPr lang="en-US" sz="1800"/>
          </a:p>
          <a:p>
            <a:pPr lvl="2"/>
            <a:r>
              <a:rPr lang="en-US"/>
              <a:t>Solar flux varies substantially on a day-to-day basis and is difficult to predict at any given future time; however, average over an extended period is well known</a:t>
            </a:r>
            <a:endParaRPr lang="en-US" sz="1800"/>
          </a:p>
          <a:p>
            <a:pPr lvl="2"/>
            <a:r>
              <a:rPr lang="en-US"/>
              <a:t>Fig 8-1 depicts the F10.7 index, which is the mean daily flux at 10.7 cm wavelength in units of 10</a:t>
            </a:r>
            <a:r>
              <a:rPr lang="en-US" baseline="30000"/>
              <a:t>-22 </a:t>
            </a:r>
            <a:r>
              <a:rPr lang="en-US"/>
              <a:t>W/m</a:t>
            </a:r>
            <a:r>
              <a:rPr lang="en-US" baseline="30000"/>
              <a:t>2</a:t>
            </a:r>
            <a:r>
              <a:rPr lang="en-US"/>
              <a:t>·Hz</a:t>
            </a:r>
            <a:endParaRPr lang="en-US" sz="1800"/>
          </a:p>
          <a:p>
            <a:endParaRPr lang="en-US"/>
          </a:p>
        </p:txBody>
      </p:sp>
      <p:sp>
        <p:nvSpPr>
          <p:cNvPr id="4" name="Slide Number Placeholder 3"/>
          <p:cNvSpPr>
            <a:spLocks noGrp="1"/>
          </p:cNvSpPr>
          <p:nvPr>
            <p:ph type="sldNum" sz="quarter" idx="12"/>
          </p:nvPr>
        </p:nvSpPr>
        <p:spPr/>
        <p:txBody>
          <a:bodyPr/>
          <a:lstStyle/>
          <a:p>
            <a:fld id="{04EF813A-C95A-49A4-BB2C-19388EC38802}" type="slidenum">
              <a:rPr lang="en-US" smtClean="0"/>
              <a:t>8</a:t>
            </a:fld>
            <a:endParaRPr lang="en-US"/>
          </a:p>
        </p:txBody>
      </p:sp>
    </p:spTree>
    <p:extLst>
      <p:ext uri="{BB962C8B-B14F-4D97-AF65-F5344CB8AC3E}">
        <p14:creationId xmlns:p14="http://schemas.microsoft.com/office/powerpoint/2010/main" val="546898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28650" y="178695"/>
            <a:ext cx="7886700" cy="1325563"/>
          </a:xfrm>
        </p:spPr>
        <p:txBody>
          <a:bodyPr>
            <a:normAutofit/>
          </a:bodyPr>
          <a:lstStyle/>
          <a:p>
            <a:r>
              <a:rPr lang="en-US" sz="4000"/>
              <a:t>Atomic Oxygen</a:t>
            </a:r>
          </a:p>
        </p:txBody>
      </p:sp>
      <p:sp>
        <p:nvSpPr>
          <p:cNvPr id="2" name="Slide Number Placeholder 1"/>
          <p:cNvSpPr>
            <a:spLocks noGrp="1"/>
          </p:cNvSpPr>
          <p:nvPr>
            <p:ph type="sldNum" sz="quarter" idx="12"/>
          </p:nvPr>
        </p:nvSpPr>
        <p:spPr/>
        <p:txBody>
          <a:bodyPr/>
          <a:lstStyle/>
          <a:p>
            <a:fld id="{04EF813A-C95A-49A4-BB2C-19388EC38802}" type="slidenum">
              <a:rPr lang="en-US" smtClean="0"/>
              <a:t>9</a:t>
            </a:fld>
            <a:endParaRPr lang="en-US"/>
          </a:p>
        </p:txBody>
      </p:sp>
      <p:pic>
        <p:nvPicPr>
          <p:cNvPr id="3" name="Picture 2"/>
          <p:cNvPicPr>
            <a:picLocks noChangeAspect="1"/>
          </p:cNvPicPr>
          <p:nvPr/>
        </p:nvPicPr>
        <p:blipFill>
          <a:blip r:embed="rId2"/>
          <a:stretch>
            <a:fillRect/>
          </a:stretch>
        </p:blipFill>
        <p:spPr>
          <a:xfrm rot="169245">
            <a:off x="124703" y="1350495"/>
            <a:ext cx="8992893" cy="5289433"/>
          </a:xfrm>
          <a:prstGeom prst="rect">
            <a:avLst/>
          </a:prstGeom>
          <a:scene3d>
            <a:camera prst="orthographicFront">
              <a:rot lat="0" lon="0" rev="120000"/>
            </a:camera>
            <a:lightRig rig="threePt" dir="t"/>
          </a:scene3d>
        </p:spPr>
      </p:pic>
      <p:sp>
        <p:nvSpPr>
          <p:cNvPr id="4" name="Rectangle 3"/>
          <p:cNvSpPr/>
          <p:nvPr/>
        </p:nvSpPr>
        <p:spPr>
          <a:xfrm>
            <a:off x="0" y="378692"/>
            <a:ext cx="163629" cy="54349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1153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9874" y="89918"/>
            <a:ext cx="7886700" cy="1325563"/>
          </a:xfrm>
        </p:spPr>
        <p:txBody>
          <a:bodyPr>
            <a:normAutofit/>
          </a:bodyPr>
          <a:lstStyle/>
          <a:p>
            <a:r>
              <a:rPr lang="en-US" sz="4000"/>
              <a:t>Solar Cycle</a:t>
            </a:r>
          </a:p>
        </p:txBody>
      </p:sp>
      <p:sp>
        <p:nvSpPr>
          <p:cNvPr id="2" name="Slide Number Placeholder 1"/>
          <p:cNvSpPr>
            <a:spLocks noGrp="1"/>
          </p:cNvSpPr>
          <p:nvPr>
            <p:ph type="sldNum" sz="quarter" idx="12"/>
          </p:nvPr>
        </p:nvSpPr>
        <p:spPr/>
        <p:txBody>
          <a:bodyPr/>
          <a:lstStyle/>
          <a:p>
            <a:fld id="{04EF813A-C95A-49A4-BB2C-19388EC38802}" type="slidenum">
              <a:rPr lang="en-US" smtClean="0"/>
              <a:t>10</a:t>
            </a:fld>
            <a:endParaRPr lang="en-US"/>
          </a:p>
        </p:txBody>
      </p:sp>
      <p:pic>
        <p:nvPicPr>
          <p:cNvPr id="3" name="Picture 2"/>
          <p:cNvPicPr>
            <a:picLocks noChangeAspect="1"/>
          </p:cNvPicPr>
          <p:nvPr/>
        </p:nvPicPr>
        <p:blipFill>
          <a:blip r:embed="rId2"/>
          <a:stretch>
            <a:fillRect/>
          </a:stretch>
        </p:blipFill>
        <p:spPr>
          <a:xfrm>
            <a:off x="140551" y="1216241"/>
            <a:ext cx="8908470" cy="5505235"/>
          </a:xfrm>
          <a:prstGeom prst="rect">
            <a:avLst/>
          </a:prstGeom>
        </p:spPr>
      </p:pic>
    </p:spTree>
    <p:extLst>
      <p:ext uri="{BB962C8B-B14F-4D97-AF65-F5344CB8AC3E}">
        <p14:creationId xmlns:p14="http://schemas.microsoft.com/office/powerpoint/2010/main" val="3343788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Atmosphere (3/3)</a:t>
            </a:r>
          </a:p>
        </p:txBody>
      </p:sp>
      <p:sp>
        <p:nvSpPr>
          <p:cNvPr id="3" name="Content Placeholder 2"/>
          <p:cNvSpPr>
            <a:spLocks noGrp="1"/>
          </p:cNvSpPr>
          <p:nvPr>
            <p:ph idx="1"/>
          </p:nvPr>
        </p:nvSpPr>
        <p:spPr>
          <a:xfrm>
            <a:off x="628650" y="1825625"/>
            <a:ext cx="7886700" cy="4726004"/>
          </a:xfrm>
        </p:spPr>
        <p:txBody>
          <a:bodyPr>
            <a:normAutofit/>
          </a:bodyPr>
          <a:lstStyle/>
          <a:p>
            <a:pPr lvl="0"/>
            <a:r>
              <a:rPr lang="en-US"/>
              <a:t>Atmospheric Drag</a:t>
            </a:r>
            <a:endParaRPr lang="en-US" sz="2400"/>
          </a:p>
          <a:p>
            <a:pPr lvl="1"/>
            <a:r>
              <a:rPr lang="en-US"/>
              <a:t>Depends on a variety of factors, including S/C ballistic co-efficient, speed and atmospheric density</a:t>
            </a:r>
            <a:endParaRPr lang="en-US" sz="2000"/>
          </a:p>
          <a:p>
            <a:pPr lvl="1"/>
            <a:r>
              <a:rPr lang="en-US"/>
              <a:t>Atmospheric density is highly dependent on solar cycle (Fig 8-2)</a:t>
            </a:r>
          </a:p>
          <a:p>
            <a:pPr lvl="1"/>
            <a:r>
              <a:rPr lang="en-US"/>
              <a:t>Thermosphere: (120-600 km altitude), region where absorption of extreme UV radiation results in rapid increase in temperature with altitude</a:t>
            </a:r>
            <a:endParaRPr lang="en-US" sz="2000"/>
          </a:p>
          <a:p>
            <a:pPr lvl="2"/>
            <a:r>
              <a:rPr lang="en-US"/>
              <a:t>Heating due to EUV radiation and solar cycle variation impacts atmospheric density and has the greatest effect on satellite lifetimes</a:t>
            </a:r>
            <a:endParaRPr lang="en-US" sz="1800"/>
          </a:p>
          <a:p>
            <a:pPr lvl="1"/>
            <a:endParaRPr lang="en-US" sz="2000"/>
          </a:p>
          <a:p>
            <a:endParaRPr lang="en-US"/>
          </a:p>
        </p:txBody>
      </p:sp>
      <p:sp>
        <p:nvSpPr>
          <p:cNvPr id="4" name="Slide Number Placeholder 3"/>
          <p:cNvSpPr>
            <a:spLocks noGrp="1"/>
          </p:cNvSpPr>
          <p:nvPr>
            <p:ph type="sldNum" sz="quarter" idx="12"/>
          </p:nvPr>
        </p:nvSpPr>
        <p:spPr/>
        <p:txBody>
          <a:bodyPr/>
          <a:lstStyle/>
          <a:p>
            <a:fld id="{04EF813A-C95A-49A4-BB2C-19388EC38802}" type="slidenum">
              <a:rPr lang="en-US" smtClean="0"/>
              <a:t>11</a:t>
            </a:fld>
            <a:endParaRPr lang="en-US"/>
          </a:p>
        </p:txBody>
      </p:sp>
    </p:spTree>
    <p:extLst>
      <p:ext uri="{BB962C8B-B14F-4D97-AF65-F5344CB8AC3E}">
        <p14:creationId xmlns:p14="http://schemas.microsoft.com/office/powerpoint/2010/main" val="40846668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14905" y="365127"/>
            <a:ext cx="8196239" cy="936362"/>
          </a:xfrm>
        </p:spPr>
        <p:txBody>
          <a:bodyPr>
            <a:normAutofit/>
          </a:bodyPr>
          <a:lstStyle/>
          <a:p>
            <a:r>
              <a:rPr lang="en-US" sz="2800"/>
              <a:t>Impact of Solar Cycle on Atmospheric Density</a:t>
            </a:r>
          </a:p>
        </p:txBody>
      </p:sp>
      <p:sp>
        <p:nvSpPr>
          <p:cNvPr id="2" name="Slide Number Placeholder 1"/>
          <p:cNvSpPr>
            <a:spLocks noGrp="1"/>
          </p:cNvSpPr>
          <p:nvPr>
            <p:ph type="sldNum" sz="quarter" idx="12"/>
          </p:nvPr>
        </p:nvSpPr>
        <p:spPr/>
        <p:txBody>
          <a:bodyPr/>
          <a:lstStyle/>
          <a:p>
            <a:fld id="{04EF813A-C95A-49A4-BB2C-19388EC38802}" type="slidenum">
              <a:rPr lang="en-US" smtClean="0"/>
              <a:t>12</a:t>
            </a:fld>
            <a:endParaRPr lang="en-US"/>
          </a:p>
        </p:txBody>
      </p:sp>
      <p:pic>
        <p:nvPicPr>
          <p:cNvPr id="3" name="Picture 2"/>
          <p:cNvPicPr>
            <a:picLocks noChangeAspect="1"/>
          </p:cNvPicPr>
          <p:nvPr/>
        </p:nvPicPr>
        <p:blipFill>
          <a:blip r:embed="rId2"/>
          <a:stretch>
            <a:fillRect/>
          </a:stretch>
        </p:blipFill>
        <p:spPr>
          <a:xfrm>
            <a:off x="514905" y="1301488"/>
            <a:ext cx="8196239" cy="5556512"/>
          </a:xfrm>
          <a:prstGeom prst="rect">
            <a:avLst/>
          </a:prstGeom>
        </p:spPr>
      </p:pic>
    </p:spTree>
    <p:extLst>
      <p:ext uri="{BB962C8B-B14F-4D97-AF65-F5344CB8AC3E}">
        <p14:creationId xmlns:p14="http://schemas.microsoft.com/office/powerpoint/2010/main" val="2918600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0982" y="187573"/>
            <a:ext cx="7886700" cy="922136"/>
          </a:xfrm>
        </p:spPr>
        <p:txBody>
          <a:bodyPr>
            <a:normAutofit/>
          </a:bodyPr>
          <a:lstStyle/>
          <a:p>
            <a:pPr algn="ctr"/>
            <a:r>
              <a:rPr lang="en-US" sz="2800"/>
              <a:t>Impact of Solar Cycle/Ballistic Co-efficient on Satellite Lifetimes</a:t>
            </a:r>
          </a:p>
        </p:txBody>
      </p:sp>
      <p:sp>
        <p:nvSpPr>
          <p:cNvPr id="3" name="Slide Number Placeholder 2"/>
          <p:cNvSpPr>
            <a:spLocks noGrp="1"/>
          </p:cNvSpPr>
          <p:nvPr>
            <p:ph type="sldNum" sz="quarter" idx="12"/>
          </p:nvPr>
        </p:nvSpPr>
        <p:spPr/>
        <p:txBody>
          <a:bodyPr/>
          <a:lstStyle/>
          <a:p>
            <a:fld id="{04EF813A-C95A-49A4-BB2C-19388EC38802}" type="slidenum">
              <a:rPr lang="en-US" smtClean="0"/>
              <a:t>13</a:t>
            </a:fld>
            <a:endParaRPr lang="en-US"/>
          </a:p>
        </p:txBody>
      </p:sp>
      <p:pic>
        <p:nvPicPr>
          <p:cNvPr id="4" name="Picture 3"/>
          <p:cNvPicPr/>
          <p:nvPr/>
        </p:nvPicPr>
        <p:blipFill>
          <a:blip r:embed="rId2"/>
          <a:stretch>
            <a:fillRect/>
          </a:stretch>
        </p:blipFill>
        <p:spPr>
          <a:xfrm>
            <a:off x="250793" y="1109709"/>
            <a:ext cx="8467078" cy="5611767"/>
          </a:xfrm>
          <a:prstGeom prst="rect">
            <a:avLst/>
          </a:prstGeom>
        </p:spPr>
      </p:pic>
    </p:spTree>
    <p:extLst>
      <p:ext uri="{BB962C8B-B14F-4D97-AF65-F5344CB8AC3E}">
        <p14:creationId xmlns:p14="http://schemas.microsoft.com/office/powerpoint/2010/main" val="23662134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Plasma (1/2)</a:t>
            </a:r>
          </a:p>
        </p:txBody>
      </p:sp>
      <p:sp>
        <p:nvSpPr>
          <p:cNvPr id="4" name="Content Placeholder 3"/>
          <p:cNvSpPr>
            <a:spLocks noGrp="1"/>
          </p:cNvSpPr>
          <p:nvPr>
            <p:ph idx="1"/>
          </p:nvPr>
        </p:nvSpPr>
        <p:spPr/>
        <p:txBody>
          <a:bodyPr>
            <a:normAutofit/>
          </a:bodyPr>
          <a:lstStyle/>
          <a:p>
            <a:r>
              <a:rPr lang="en-US"/>
              <a:t>Plasma consists of neutral particles, positive ions, and electrons</a:t>
            </a:r>
          </a:p>
          <a:p>
            <a:pPr lvl="1"/>
            <a:r>
              <a:rPr lang="en-US"/>
              <a:t>The most abundant matter in the universe (99% of universe mass) </a:t>
            </a:r>
          </a:p>
          <a:p>
            <a:r>
              <a:rPr lang="en-US"/>
              <a:t>Source: </a:t>
            </a:r>
          </a:p>
          <a:p>
            <a:pPr lvl="1"/>
            <a:r>
              <a:rPr lang="en-US"/>
              <a:t>Formed from interactions between solar wind and Earth’s magnetic field, stretches into long structure known as the </a:t>
            </a:r>
            <a:r>
              <a:rPr lang="en-US" err="1"/>
              <a:t>magnetotail</a:t>
            </a:r>
            <a:endParaRPr lang="en-US"/>
          </a:p>
          <a:p>
            <a:pPr lvl="1"/>
            <a:r>
              <a:rPr lang="en-US"/>
              <a:t>Can also come from solar flares or galactic cosmic rays (GCRs)</a:t>
            </a:r>
          </a:p>
          <a:p>
            <a:endParaRPr lang="en-US"/>
          </a:p>
        </p:txBody>
      </p:sp>
      <p:sp>
        <p:nvSpPr>
          <p:cNvPr id="3" name="Slide Number Placeholder 2"/>
          <p:cNvSpPr>
            <a:spLocks noGrp="1"/>
          </p:cNvSpPr>
          <p:nvPr>
            <p:ph type="sldNum" sz="quarter" idx="12"/>
          </p:nvPr>
        </p:nvSpPr>
        <p:spPr/>
        <p:txBody>
          <a:bodyPr/>
          <a:lstStyle/>
          <a:p>
            <a:fld id="{04EF813A-C95A-49A4-BB2C-19388EC38802}" type="slidenum">
              <a:rPr lang="en-US" smtClean="0"/>
              <a:t>14</a:t>
            </a:fld>
            <a:endParaRPr lang="en-US"/>
          </a:p>
        </p:txBody>
      </p:sp>
    </p:spTree>
    <p:extLst>
      <p:ext uri="{BB962C8B-B14F-4D97-AF65-F5344CB8AC3E}">
        <p14:creationId xmlns:p14="http://schemas.microsoft.com/office/powerpoint/2010/main" val="9164698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Plasma (2/2)</a:t>
            </a:r>
          </a:p>
        </p:txBody>
      </p:sp>
      <p:sp>
        <p:nvSpPr>
          <p:cNvPr id="3" name="Content Placeholder 2"/>
          <p:cNvSpPr>
            <a:spLocks noGrp="1"/>
          </p:cNvSpPr>
          <p:nvPr>
            <p:ph idx="1"/>
          </p:nvPr>
        </p:nvSpPr>
        <p:spPr>
          <a:xfrm>
            <a:off x="628650" y="1611984"/>
            <a:ext cx="7886700" cy="5109491"/>
          </a:xfrm>
        </p:spPr>
        <p:txBody>
          <a:bodyPr>
            <a:normAutofit fontScale="77500" lnSpcReduction="20000"/>
          </a:bodyPr>
          <a:lstStyle/>
          <a:p>
            <a:r>
              <a:rPr lang="en-US"/>
              <a:t>Effects on spacecraft:</a:t>
            </a:r>
            <a:endParaRPr lang="en-US" sz="2400"/>
          </a:p>
          <a:p>
            <a:pPr lvl="1"/>
            <a:r>
              <a:rPr lang="en-US"/>
              <a:t>Energized plasma (particles with energy from 5 </a:t>
            </a:r>
            <a:r>
              <a:rPr lang="en-US" err="1"/>
              <a:t>keV</a:t>
            </a:r>
            <a:r>
              <a:rPr lang="en-US"/>
              <a:t> to 50 </a:t>
            </a:r>
            <a:r>
              <a:rPr lang="en-US" err="1"/>
              <a:t>keV</a:t>
            </a:r>
            <a:r>
              <a:rPr lang="en-US"/>
              <a:t>) can extend into geosynchronous orbits, charging the surface of any spacecraft to high negative voltages</a:t>
            </a:r>
            <a:endParaRPr lang="en-US" sz="2000"/>
          </a:p>
          <a:p>
            <a:pPr lvl="1"/>
            <a:r>
              <a:rPr lang="en-US"/>
              <a:t>Electrostatic arcs can cause electromagnetic interference (EMI) on spacecraft, causing erratic behavior</a:t>
            </a:r>
            <a:endParaRPr lang="en-US" sz="2000"/>
          </a:p>
          <a:p>
            <a:pPr lvl="1"/>
            <a:r>
              <a:rPr lang="en-US"/>
              <a:t>Surface Charging that impacts spacecraft operations occurs in orbits where electrons with energies of 10-20 </a:t>
            </a:r>
            <a:r>
              <a:rPr lang="en-US" err="1"/>
              <a:t>keV</a:t>
            </a:r>
            <a:r>
              <a:rPr lang="en-US"/>
              <a:t> dominate the electron current</a:t>
            </a:r>
            <a:endParaRPr lang="en-US" sz="2000"/>
          </a:p>
          <a:p>
            <a:pPr lvl="2"/>
            <a:r>
              <a:rPr lang="en-US"/>
              <a:t>At low altitudes, this occurs only at high latitudes (where </a:t>
            </a:r>
            <a:r>
              <a:rPr lang="en-US" err="1"/>
              <a:t>auroral</a:t>
            </a:r>
            <a:r>
              <a:rPr lang="en-US"/>
              <a:t> electrons collide w/ vehicle)</a:t>
            </a:r>
            <a:endParaRPr lang="en-US" sz="1600"/>
          </a:p>
          <a:p>
            <a:pPr lvl="2"/>
            <a:r>
              <a:rPr lang="en-US"/>
              <a:t>At higher altitudes, surface charging occurs during </a:t>
            </a:r>
            <a:r>
              <a:rPr lang="en-US" err="1"/>
              <a:t>magnetospheric</a:t>
            </a:r>
            <a:r>
              <a:rPr lang="en-US"/>
              <a:t> </a:t>
            </a:r>
            <a:r>
              <a:rPr lang="en-US" err="1"/>
              <a:t>substorms</a:t>
            </a:r>
            <a:endParaRPr lang="en-US" sz="1600"/>
          </a:p>
          <a:p>
            <a:pPr lvl="1"/>
            <a:r>
              <a:rPr lang="en-US"/>
              <a:t>Ion drag that adds to orbital decay</a:t>
            </a:r>
            <a:endParaRPr lang="en-US" sz="2000"/>
          </a:p>
          <a:p>
            <a:pPr lvl="1"/>
            <a:r>
              <a:rPr lang="en-US"/>
              <a:t>Ion sputtering that increases surface erosion</a:t>
            </a:r>
            <a:endParaRPr lang="en-US" sz="2000"/>
          </a:p>
          <a:p>
            <a:r>
              <a:rPr lang="en-US"/>
              <a:t>Strategies to mitigate impacts:</a:t>
            </a:r>
            <a:endParaRPr lang="en-US" sz="2400"/>
          </a:p>
          <a:p>
            <a:pPr lvl="1"/>
            <a:r>
              <a:rPr lang="en-US"/>
              <a:t>Prevent differential charging of surfaces by ensuring entire surface is made of a uniform conductivity</a:t>
            </a:r>
            <a:endParaRPr lang="en-US" sz="2000"/>
          </a:p>
          <a:p>
            <a:pPr lvl="1"/>
            <a:r>
              <a:rPr lang="en-US"/>
              <a:t>Balance currents using special surface coatings</a:t>
            </a:r>
            <a:endParaRPr lang="en-US" sz="2000"/>
          </a:p>
          <a:p>
            <a:pPr lvl="1"/>
            <a:r>
              <a:rPr lang="en-US"/>
              <a:t>Grounding, selecting insulating surface materials, shielding, filtering, proper handling procedures</a:t>
            </a:r>
            <a:endParaRPr lang="en-US" sz="2000"/>
          </a:p>
          <a:p>
            <a:endParaRPr lang="en-US"/>
          </a:p>
        </p:txBody>
      </p:sp>
      <p:sp>
        <p:nvSpPr>
          <p:cNvPr id="4" name="Slide Number Placeholder 3"/>
          <p:cNvSpPr>
            <a:spLocks noGrp="1"/>
          </p:cNvSpPr>
          <p:nvPr>
            <p:ph type="sldNum" sz="quarter" idx="12"/>
          </p:nvPr>
        </p:nvSpPr>
        <p:spPr/>
        <p:txBody>
          <a:bodyPr/>
          <a:lstStyle/>
          <a:p>
            <a:fld id="{04EF813A-C95A-49A4-BB2C-19388EC38802}" type="slidenum">
              <a:rPr lang="en-US" smtClean="0"/>
              <a:t>15</a:t>
            </a:fld>
            <a:endParaRPr lang="en-US"/>
          </a:p>
        </p:txBody>
      </p:sp>
    </p:spTree>
    <p:extLst>
      <p:ext uri="{BB962C8B-B14F-4D97-AF65-F5344CB8AC3E}">
        <p14:creationId xmlns:p14="http://schemas.microsoft.com/office/powerpoint/2010/main" val="3110439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82980" y="107674"/>
            <a:ext cx="7886700" cy="1325563"/>
          </a:xfrm>
        </p:spPr>
        <p:txBody>
          <a:bodyPr>
            <a:normAutofit/>
          </a:bodyPr>
          <a:lstStyle/>
          <a:p>
            <a:r>
              <a:rPr lang="en-US" sz="4000"/>
              <a:t>Earth’s Magnetosphere</a:t>
            </a:r>
          </a:p>
        </p:txBody>
      </p:sp>
      <p:sp>
        <p:nvSpPr>
          <p:cNvPr id="4" name="Slide Number Placeholder 3"/>
          <p:cNvSpPr>
            <a:spLocks noGrp="1"/>
          </p:cNvSpPr>
          <p:nvPr>
            <p:ph type="sldNum" sz="quarter" idx="12"/>
          </p:nvPr>
        </p:nvSpPr>
        <p:spPr/>
        <p:txBody>
          <a:bodyPr/>
          <a:lstStyle/>
          <a:p>
            <a:fld id="{04EF813A-C95A-49A4-BB2C-19388EC38802}" type="slidenum">
              <a:rPr lang="en-US" smtClean="0"/>
              <a:t>16</a:t>
            </a:fld>
            <a:endParaRPr lang="en-US"/>
          </a:p>
        </p:txBody>
      </p:sp>
      <p:pic>
        <p:nvPicPr>
          <p:cNvPr id="6" name="Picture 5"/>
          <p:cNvPicPr>
            <a:picLocks noChangeAspect="1"/>
          </p:cNvPicPr>
          <p:nvPr/>
        </p:nvPicPr>
        <p:blipFill>
          <a:blip r:embed="rId2"/>
          <a:stretch>
            <a:fillRect/>
          </a:stretch>
        </p:blipFill>
        <p:spPr>
          <a:xfrm>
            <a:off x="0" y="1071315"/>
            <a:ext cx="9081856" cy="5650162"/>
          </a:xfrm>
          <a:prstGeom prst="rect">
            <a:avLst/>
          </a:prstGeom>
        </p:spPr>
      </p:pic>
    </p:spTree>
    <p:extLst>
      <p:ext uri="{BB962C8B-B14F-4D97-AF65-F5344CB8AC3E}">
        <p14:creationId xmlns:p14="http://schemas.microsoft.com/office/powerpoint/2010/main" val="2667064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Radiation</a:t>
            </a:r>
          </a:p>
        </p:txBody>
      </p:sp>
      <p:sp>
        <p:nvSpPr>
          <p:cNvPr id="4" name="Content Placeholder 3"/>
          <p:cNvSpPr>
            <a:spLocks noGrp="1"/>
          </p:cNvSpPr>
          <p:nvPr>
            <p:ph idx="1"/>
          </p:nvPr>
        </p:nvSpPr>
        <p:spPr>
          <a:xfrm>
            <a:off x="628650" y="1451728"/>
            <a:ext cx="7886700" cy="5406272"/>
          </a:xfrm>
        </p:spPr>
        <p:txBody>
          <a:bodyPr>
            <a:normAutofit fontScale="77500" lnSpcReduction="20000"/>
          </a:bodyPr>
          <a:lstStyle/>
          <a:p>
            <a:r>
              <a:rPr lang="en-US"/>
              <a:t>Sources:</a:t>
            </a:r>
          </a:p>
          <a:p>
            <a:pPr lvl="1"/>
            <a:r>
              <a:rPr lang="en-US"/>
              <a:t>Galactic Cosmic Rays (GCRs) are high-energy particles from outside the solar system</a:t>
            </a:r>
          </a:p>
          <a:p>
            <a:pPr lvl="1"/>
            <a:r>
              <a:rPr lang="en-US"/>
              <a:t>Solar Particle Events (SPEs) when large amounts of particles are spewed from the Sun</a:t>
            </a:r>
          </a:p>
          <a:p>
            <a:pPr lvl="1"/>
            <a:r>
              <a:rPr lang="en-US"/>
              <a:t>Van Allen radiation belts</a:t>
            </a:r>
          </a:p>
          <a:p>
            <a:r>
              <a:rPr lang="en-US"/>
              <a:t>Effects on spacecraft:</a:t>
            </a:r>
            <a:endParaRPr lang="en-US" sz="2400"/>
          </a:p>
          <a:p>
            <a:pPr lvl="1"/>
            <a:r>
              <a:rPr lang="en-US"/>
              <a:t>Can cause Single Event Phenomenon (SEP), which can have three effects:</a:t>
            </a:r>
            <a:endParaRPr lang="en-US" sz="2000"/>
          </a:p>
          <a:p>
            <a:pPr lvl="2"/>
            <a:r>
              <a:rPr lang="en-US" err="1"/>
              <a:t>Bitflip</a:t>
            </a:r>
            <a:r>
              <a:rPr lang="en-US"/>
              <a:t>/Single Event Upset (SEU) – changes one bit</a:t>
            </a:r>
            <a:endParaRPr lang="en-US" sz="1600"/>
          </a:p>
          <a:p>
            <a:pPr lvl="2"/>
            <a:r>
              <a:rPr lang="en-US"/>
              <a:t>Single Event Latch-up (SEL) – part hangs up, draws excessive current, will not operate until power cycled</a:t>
            </a:r>
            <a:endParaRPr lang="en-US" sz="1600"/>
          </a:p>
          <a:p>
            <a:pPr lvl="2"/>
            <a:r>
              <a:rPr lang="en-US"/>
              <a:t>Single-Event Burnout (SEB) – causes device to fail permanently</a:t>
            </a:r>
            <a:endParaRPr lang="en-US" sz="1600"/>
          </a:p>
          <a:p>
            <a:pPr lvl="1"/>
            <a:r>
              <a:rPr lang="en-US"/>
              <a:t>Can generate background noise and produce spurious signals in various sensors</a:t>
            </a:r>
            <a:endParaRPr lang="en-US" sz="2800"/>
          </a:p>
          <a:p>
            <a:r>
              <a:rPr lang="en-US"/>
              <a:t>Strategies to mitigate impacts:</a:t>
            </a:r>
            <a:endParaRPr lang="en-US" sz="2400"/>
          </a:p>
          <a:p>
            <a:pPr lvl="1"/>
            <a:r>
              <a:rPr lang="en-US"/>
              <a:t>Shielding sensitive electronics</a:t>
            </a:r>
            <a:endParaRPr lang="en-US" sz="2000"/>
          </a:p>
          <a:p>
            <a:pPr lvl="1"/>
            <a:r>
              <a:rPr lang="en-US"/>
              <a:t>Design and parts selection (use radiation tolerant parts)</a:t>
            </a:r>
          </a:p>
          <a:p>
            <a:pPr lvl="1"/>
            <a:r>
              <a:rPr lang="en-US"/>
              <a:t>Redundancy</a:t>
            </a:r>
            <a:endParaRPr lang="en-US" sz="2000"/>
          </a:p>
          <a:p>
            <a:pPr lvl="1"/>
            <a:r>
              <a:rPr lang="en-US"/>
              <a:t>EDAC (error detection and correction – more to come on this in the TT&amp;C lesson)</a:t>
            </a:r>
            <a:endParaRPr lang="en-US" sz="2000"/>
          </a:p>
          <a:p>
            <a:pPr lvl="1"/>
            <a:endParaRPr lang="en-US" sz="2000"/>
          </a:p>
          <a:p>
            <a:endParaRPr lang="en-US"/>
          </a:p>
          <a:p>
            <a:endParaRPr lang="en-US"/>
          </a:p>
        </p:txBody>
      </p:sp>
      <p:sp>
        <p:nvSpPr>
          <p:cNvPr id="3" name="Slide Number Placeholder 2"/>
          <p:cNvSpPr>
            <a:spLocks noGrp="1"/>
          </p:cNvSpPr>
          <p:nvPr>
            <p:ph type="sldNum" sz="quarter" idx="12"/>
          </p:nvPr>
        </p:nvSpPr>
        <p:spPr/>
        <p:txBody>
          <a:bodyPr/>
          <a:lstStyle/>
          <a:p>
            <a:fld id="{04EF813A-C95A-49A4-BB2C-19388EC38802}" type="slidenum">
              <a:rPr lang="en-US" smtClean="0"/>
              <a:t>17</a:t>
            </a:fld>
            <a:endParaRPr lang="en-US"/>
          </a:p>
        </p:txBody>
      </p:sp>
    </p:spTree>
    <p:extLst>
      <p:ext uri="{BB962C8B-B14F-4D97-AF65-F5344CB8AC3E}">
        <p14:creationId xmlns:p14="http://schemas.microsoft.com/office/powerpoint/2010/main" val="2592563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2"/>
          <p:cNvSpPr>
            <a:spLocks/>
          </p:cNvSpPr>
          <p:nvPr/>
        </p:nvSpPr>
        <p:spPr bwMode="auto">
          <a:xfrm>
            <a:off x="3587262" y="6179344"/>
            <a:ext cx="5306707"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40640" bIns="0"/>
          <a:lstStyle>
            <a:lvl1pPr marL="57150">
              <a:defRPr sz="1200">
                <a:solidFill>
                  <a:schemeClr val="tx1"/>
                </a:solidFill>
                <a:latin typeface="Times New Roman" panose="02020603050405020304" pitchFamily="18" charset="0"/>
              </a:defRPr>
            </a:lvl1pPr>
            <a:lvl2pPr>
              <a:defRPr sz="1200">
                <a:solidFill>
                  <a:schemeClr val="tx1"/>
                </a:solidFill>
                <a:latin typeface="Times New Roman" panose="02020603050405020304" pitchFamily="18" charset="0"/>
              </a:defRPr>
            </a:lvl2pPr>
            <a:lvl3pPr>
              <a:defRPr sz="1200">
                <a:solidFill>
                  <a:schemeClr val="tx1"/>
                </a:solidFill>
                <a:latin typeface="Times New Roman" panose="02020603050405020304" pitchFamily="18" charset="0"/>
              </a:defRPr>
            </a:lvl3pPr>
            <a:lvl4pPr>
              <a:defRPr sz="1200">
                <a:solidFill>
                  <a:schemeClr val="tx1"/>
                </a:solidFill>
                <a:latin typeface="Times New Roman" panose="02020603050405020304" pitchFamily="18" charset="0"/>
              </a:defRPr>
            </a:lvl4pPr>
            <a:lvl5pPr>
              <a:defRPr sz="1200">
                <a:solidFill>
                  <a:schemeClr val="tx1"/>
                </a:solidFill>
                <a:latin typeface="Times New Roman" panose="02020603050405020304" pitchFamily="18" charset="0"/>
              </a:defRPr>
            </a:lvl5pPr>
            <a:lvl6pPr fontAlgn="base">
              <a:spcBef>
                <a:spcPct val="0"/>
              </a:spcBef>
              <a:spcAft>
                <a:spcPct val="0"/>
              </a:spcAft>
              <a:defRPr sz="1200">
                <a:solidFill>
                  <a:schemeClr val="tx1"/>
                </a:solidFill>
                <a:latin typeface="Times New Roman" panose="02020603050405020304" pitchFamily="18" charset="0"/>
              </a:defRPr>
            </a:lvl6pPr>
            <a:lvl7pPr fontAlgn="base">
              <a:spcBef>
                <a:spcPct val="0"/>
              </a:spcBef>
              <a:spcAft>
                <a:spcPct val="0"/>
              </a:spcAft>
              <a:defRPr sz="1200">
                <a:solidFill>
                  <a:schemeClr val="tx1"/>
                </a:solidFill>
                <a:latin typeface="Times New Roman" panose="02020603050405020304" pitchFamily="18" charset="0"/>
              </a:defRPr>
            </a:lvl7pPr>
            <a:lvl8pPr fontAlgn="base">
              <a:spcBef>
                <a:spcPct val="0"/>
              </a:spcBef>
              <a:spcAft>
                <a:spcPct val="0"/>
              </a:spcAft>
              <a:defRPr sz="1200">
                <a:solidFill>
                  <a:schemeClr val="tx1"/>
                </a:solidFill>
                <a:latin typeface="Times New Roman" panose="02020603050405020304" pitchFamily="18" charset="0"/>
              </a:defRPr>
            </a:lvl8pPr>
            <a:lvl9pPr fontAlgn="base">
              <a:spcBef>
                <a:spcPct val="0"/>
              </a:spcBef>
              <a:spcAft>
                <a:spcPct val="0"/>
              </a:spcAft>
              <a:defRPr sz="1200">
                <a:solidFill>
                  <a:schemeClr val="tx1"/>
                </a:solidFill>
                <a:latin typeface="Times New Roman" panose="02020603050405020304" pitchFamily="18" charset="0"/>
              </a:defRPr>
            </a:lvl9pPr>
          </a:lstStyle>
          <a:p>
            <a:pPr algn="r"/>
            <a:r>
              <a:rPr lang="en-US" altLang="en-US" sz="1266">
                <a:latin typeface="Arial" panose="020B0604020202020204" pitchFamily="34" charset="0"/>
                <a:cs typeface="Arial" panose="020B0604020202020204" pitchFamily="34" charset="0"/>
                <a:sym typeface="Arial" panose="020B0604020202020204" pitchFamily="34" charset="0"/>
              </a:rPr>
              <a:t>Designing Space Missions and Systems, Fig 8.5</a:t>
            </a:r>
          </a:p>
        </p:txBody>
      </p:sp>
      <p:sp>
        <p:nvSpPr>
          <p:cNvPr id="3" name="Slide Number Placeholder 2"/>
          <p:cNvSpPr>
            <a:spLocks noGrp="1"/>
          </p:cNvSpPr>
          <p:nvPr>
            <p:ph type="sldNum" sz="quarter" idx="12"/>
          </p:nvPr>
        </p:nvSpPr>
        <p:spPr/>
        <p:txBody>
          <a:bodyPr/>
          <a:lstStyle/>
          <a:p>
            <a:fld id="{04EF813A-C95A-49A4-BB2C-19388EC38802}" type="slidenum">
              <a:rPr lang="en-US" smtClean="0"/>
              <a:t>18</a:t>
            </a:fld>
            <a:endParaRPr lang="en-US"/>
          </a:p>
        </p:txBody>
      </p:sp>
      <p:pic>
        <p:nvPicPr>
          <p:cNvPr id="5" name="Picture 4"/>
          <p:cNvPicPr>
            <a:picLocks noChangeAspect="1"/>
          </p:cNvPicPr>
          <p:nvPr/>
        </p:nvPicPr>
        <p:blipFill>
          <a:blip r:embed="rId2"/>
          <a:stretch>
            <a:fillRect/>
          </a:stretch>
        </p:blipFill>
        <p:spPr>
          <a:xfrm>
            <a:off x="628650" y="1157288"/>
            <a:ext cx="7993856" cy="5022056"/>
          </a:xfrm>
          <a:prstGeom prst="rect">
            <a:avLst/>
          </a:prstGeom>
        </p:spPr>
      </p:pic>
      <p:sp>
        <p:nvSpPr>
          <p:cNvPr id="2" name="Title 1"/>
          <p:cNvSpPr>
            <a:spLocks noGrp="1"/>
          </p:cNvSpPr>
          <p:nvPr>
            <p:ph type="title"/>
          </p:nvPr>
        </p:nvSpPr>
        <p:spPr/>
        <p:txBody>
          <a:bodyPr/>
          <a:lstStyle/>
          <a:p>
            <a:r>
              <a:rPr lang="en-US" sz="3600"/>
              <a:t>Van Allen Belts</a:t>
            </a:r>
          </a:p>
        </p:txBody>
      </p:sp>
    </p:spTree>
    <p:extLst>
      <p:ext uri="{BB962C8B-B14F-4D97-AF65-F5344CB8AC3E}">
        <p14:creationId xmlns:p14="http://schemas.microsoft.com/office/powerpoint/2010/main" val="3555989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Van Allen Radiation Belts</a:t>
            </a:r>
          </a:p>
        </p:txBody>
      </p:sp>
      <p:sp>
        <p:nvSpPr>
          <p:cNvPr id="3" name="Content Placeholder 2"/>
          <p:cNvSpPr>
            <a:spLocks noGrp="1"/>
          </p:cNvSpPr>
          <p:nvPr>
            <p:ph idx="1"/>
          </p:nvPr>
        </p:nvSpPr>
        <p:spPr>
          <a:xfrm>
            <a:off x="628650" y="1825625"/>
            <a:ext cx="7886700" cy="4530726"/>
          </a:xfrm>
        </p:spPr>
        <p:txBody>
          <a:bodyPr>
            <a:normAutofit fontScale="92500" lnSpcReduction="20000"/>
          </a:bodyPr>
          <a:lstStyle/>
          <a:p>
            <a:r>
              <a:rPr lang="en-US"/>
              <a:t>Regions of high-energy particles, mainly protons and electrons, held captive by Earth’s magnetic influence</a:t>
            </a:r>
            <a:endParaRPr lang="en-US" sz="2400"/>
          </a:p>
          <a:p>
            <a:r>
              <a:rPr lang="en-US"/>
              <a:t>Permanent hazard to orbit spacecraft, with particles distributed non-uniformly with Earth’s magnetosphere</a:t>
            </a:r>
            <a:endParaRPr lang="en-US" sz="2400"/>
          </a:p>
          <a:p>
            <a:r>
              <a:rPr lang="en-US"/>
              <a:t>South Atlantic Anomaly is a volume of space centered on South America’s east coast, where Earth’s inner Van Allen belt comes closest to the surface due to a weakness in Earth’s magnetic field</a:t>
            </a:r>
            <a:endParaRPr lang="en-US" sz="2400"/>
          </a:p>
          <a:p>
            <a:pPr lvl="1"/>
            <a:r>
              <a:rPr lang="en-US"/>
              <a:t>An increased flux of particles exists within this space and exposes spacecraft to higher than usual radiation levels</a:t>
            </a:r>
            <a:endParaRPr lang="en-US" sz="2200"/>
          </a:p>
          <a:p>
            <a:endParaRPr lang="en-US"/>
          </a:p>
        </p:txBody>
      </p:sp>
      <p:sp>
        <p:nvSpPr>
          <p:cNvPr id="4" name="Slide Number Placeholder 3"/>
          <p:cNvSpPr>
            <a:spLocks noGrp="1"/>
          </p:cNvSpPr>
          <p:nvPr>
            <p:ph type="sldNum" sz="quarter" idx="12"/>
          </p:nvPr>
        </p:nvSpPr>
        <p:spPr/>
        <p:txBody>
          <a:bodyPr/>
          <a:lstStyle/>
          <a:p>
            <a:fld id="{04EF813A-C95A-49A4-BB2C-19388EC38802}" type="slidenum">
              <a:rPr lang="en-US" smtClean="0"/>
              <a:t>19</a:t>
            </a:fld>
            <a:endParaRPr lang="en-US"/>
          </a:p>
        </p:txBody>
      </p:sp>
    </p:spTree>
    <p:extLst>
      <p:ext uri="{BB962C8B-B14F-4D97-AF65-F5344CB8AC3E}">
        <p14:creationId xmlns:p14="http://schemas.microsoft.com/office/powerpoint/2010/main" val="1350303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t>South Atlantic Anomaly</a:t>
            </a:r>
          </a:p>
        </p:txBody>
      </p:sp>
      <p:sp>
        <p:nvSpPr>
          <p:cNvPr id="4" name="Slide Number Placeholder 3"/>
          <p:cNvSpPr>
            <a:spLocks noGrp="1"/>
          </p:cNvSpPr>
          <p:nvPr>
            <p:ph type="sldNum" sz="quarter" idx="12"/>
          </p:nvPr>
        </p:nvSpPr>
        <p:spPr/>
        <p:txBody>
          <a:bodyPr/>
          <a:lstStyle/>
          <a:p>
            <a:fld id="{04EF813A-C95A-49A4-BB2C-19388EC38802}" type="slidenum">
              <a:rPr lang="en-US" smtClean="0"/>
              <a:t>20</a:t>
            </a:fld>
            <a:endParaRPr lang="en-US"/>
          </a:p>
        </p:txBody>
      </p:sp>
      <p:pic>
        <p:nvPicPr>
          <p:cNvPr id="6" name="Picture 5"/>
          <p:cNvPicPr>
            <a:picLocks noChangeAspect="1"/>
          </p:cNvPicPr>
          <p:nvPr/>
        </p:nvPicPr>
        <p:blipFill>
          <a:blip r:embed="rId2"/>
          <a:stretch>
            <a:fillRect/>
          </a:stretch>
        </p:blipFill>
        <p:spPr>
          <a:xfrm>
            <a:off x="110948" y="1345196"/>
            <a:ext cx="8922104" cy="5011155"/>
          </a:xfrm>
          <a:prstGeom prst="rect">
            <a:avLst/>
          </a:prstGeom>
        </p:spPr>
      </p:pic>
    </p:spTree>
    <p:extLst>
      <p:ext uri="{BB962C8B-B14F-4D97-AF65-F5344CB8AC3E}">
        <p14:creationId xmlns:p14="http://schemas.microsoft.com/office/powerpoint/2010/main" val="3396318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600"/>
              <a:t>COTS vs Rad Hard Parts</a:t>
            </a:r>
          </a:p>
        </p:txBody>
      </p:sp>
      <p:sp>
        <p:nvSpPr>
          <p:cNvPr id="2" name="Slide Number Placeholder 1"/>
          <p:cNvSpPr>
            <a:spLocks noGrp="1"/>
          </p:cNvSpPr>
          <p:nvPr>
            <p:ph type="sldNum" sz="quarter" idx="12"/>
          </p:nvPr>
        </p:nvSpPr>
        <p:spPr/>
        <p:txBody>
          <a:bodyPr/>
          <a:lstStyle/>
          <a:p>
            <a:fld id="{04EF813A-C95A-49A4-BB2C-19388EC38802}" type="slidenum">
              <a:rPr lang="en-US" smtClean="0"/>
              <a:t>21</a:t>
            </a:fld>
            <a:endParaRPr lang="en-US"/>
          </a:p>
        </p:txBody>
      </p:sp>
      <p:pic>
        <p:nvPicPr>
          <p:cNvPr id="3" name="Picture 2"/>
          <p:cNvPicPr>
            <a:picLocks noChangeAspect="1"/>
          </p:cNvPicPr>
          <p:nvPr/>
        </p:nvPicPr>
        <p:blipFill>
          <a:blip r:embed="rId3"/>
          <a:stretch>
            <a:fillRect/>
          </a:stretch>
        </p:blipFill>
        <p:spPr>
          <a:xfrm>
            <a:off x="0" y="1764778"/>
            <a:ext cx="9001188" cy="4354366"/>
          </a:xfrm>
          <a:prstGeom prst="rect">
            <a:avLst/>
          </a:prstGeom>
          <a:scene3d>
            <a:camera prst="orthographicFront">
              <a:rot lat="0" lon="0" rev="21540000"/>
            </a:camera>
            <a:lightRig rig="threePt" dir="t"/>
          </a:scene3d>
        </p:spPr>
      </p:pic>
    </p:spTree>
    <p:extLst>
      <p:ext uri="{BB962C8B-B14F-4D97-AF65-F5344CB8AC3E}">
        <p14:creationId xmlns:p14="http://schemas.microsoft.com/office/powerpoint/2010/main" val="2401467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Micrometeoroids and Orbital Debris (MMOD)</a:t>
            </a:r>
          </a:p>
        </p:txBody>
      </p:sp>
      <p:sp>
        <p:nvSpPr>
          <p:cNvPr id="4" name="Content Placeholder 3"/>
          <p:cNvSpPr>
            <a:spLocks noGrp="1"/>
          </p:cNvSpPr>
          <p:nvPr>
            <p:ph idx="1"/>
          </p:nvPr>
        </p:nvSpPr>
        <p:spPr>
          <a:xfrm>
            <a:off x="628650" y="1825625"/>
            <a:ext cx="7886700" cy="4660016"/>
          </a:xfrm>
        </p:spPr>
        <p:txBody>
          <a:bodyPr>
            <a:normAutofit/>
          </a:bodyPr>
          <a:lstStyle/>
          <a:p>
            <a:r>
              <a:rPr lang="en-US"/>
              <a:t>Source:</a:t>
            </a:r>
          </a:p>
          <a:p>
            <a:pPr lvl="1"/>
            <a:r>
              <a:rPr lang="en-US"/>
              <a:t>Defunct spacecraft, rocket bodies and spacecraft debris are still in orbit and are not controlled</a:t>
            </a:r>
          </a:p>
          <a:p>
            <a:r>
              <a:rPr lang="en-US"/>
              <a:t>Effects on spacecraft:</a:t>
            </a:r>
          </a:p>
          <a:p>
            <a:pPr lvl="1"/>
            <a:r>
              <a:rPr lang="en-US"/>
              <a:t>Potential for collision </a:t>
            </a:r>
          </a:p>
          <a:p>
            <a:r>
              <a:rPr lang="en-US"/>
              <a:t>Strategies to mitigate impacts:</a:t>
            </a:r>
          </a:p>
          <a:p>
            <a:pPr lvl="1"/>
            <a:r>
              <a:rPr lang="en-US"/>
              <a:t>Choose orbits with minimal debris (if possible)</a:t>
            </a:r>
          </a:p>
          <a:p>
            <a:pPr lvl="1"/>
            <a:r>
              <a:rPr lang="en-US"/>
              <a:t>Have additional propellant on-board for collision avoidance maneuvers</a:t>
            </a:r>
          </a:p>
          <a:p>
            <a:pPr lvl="1"/>
            <a:r>
              <a:rPr lang="en-US"/>
              <a:t>Plan to dispose of spacecraft at end of mission life</a:t>
            </a:r>
          </a:p>
          <a:p>
            <a:endParaRPr lang="en-US"/>
          </a:p>
        </p:txBody>
      </p:sp>
      <p:sp>
        <p:nvSpPr>
          <p:cNvPr id="3" name="Slide Number Placeholder 2"/>
          <p:cNvSpPr>
            <a:spLocks noGrp="1"/>
          </p:cNvSpPr>
          <p:nvPr>
            <p:ph type="sldNum" sz="quarter" idx="12"/>
          </p:nvPr>
        </p:nvSpPr>
        <p:spPr/>
        <p:txBody>
          <a:bodyPr/>
          <a:lstStyle/>
          <a:p>
            <a:fld id="{04EF813A-C95A-49A4-BB2C-19388EC38802}" type="slidenum">
              <a:rPr lang="en-US" smtClean="0"/>
              <a:t>22</a:t>
            </a:fld>
            <a:endParaRPr lang="en-US"/>
          </a:p>
        </p:txBody>
      </p:sp>
    </p:spTree>
    <p:extLst>
      <p:ext uri="{BB962C8B-B14F-4D97-AF65-F5344CB8AC3E}">
        <p14:creationId xmlns:p14="http://schemas.microsoft.com/office/powerpoint/2010/main" val="2305438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34306"/>
            <a:ext cx="7886700" cy="1325563"/>
          </a:xfrm>
        </p:spPr>
        <p:txBody>
          <a:bodyPr>
            <a:normAutofit/>
          </a:bodyPr>
          <a:lstStyle/>
          <a:p>
            <a:r>
              <a:rPr lang="en-US" sz="3600"/>
              <a:t>Orbital Debris</a:t>
            </a:r>
          </a:p>
        </p:txBody>
      </p:sp>
      <p:sp>
        <p:nvSpPr>
          <p:cNvPr id="3" name="Slide Number Placeholder 2"/>
          <p:cNvSpPr>
            <a:spLocks noGrp="1"/>
          </p:cNvSpPr>
          <p:nvPr>
            <p:ph type="sldNum" sz="quarter" idx="12"/>
          </p:nvPr>
        </p:nvSpPr>
        <p:spPr/>
        <p:txBody>
          <a:bodyPr/>
          <a:lstStyle/>
          <a:p>
            <a:fld id="{04EF813A-C95A-49A4-BB2C-19388EC38802}" type="slidenum">
              <a:rPr lang="en-US" smtClean="0"/>
              <a:t>23</a:t>
            </a:fld>
            <a:endParaRPr lang="en-US"/>
          </a:p>
        </p:txBody>
      </p:sp>
      <p:pic>
        <p:nvPicPr>
          <p:cNvPr id="1026" name="Picture 2" descr="ARES | Orbital Debris Program Office | LEG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608" y="1085625"/>
            <a:ext cx="7841664" cy="53911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493580" y="6356351"/>
            <a:ext cx="4745915" cy="369332"/>
          </a:xfrm>
          <a:prstGeom prst="rect">
            <a:avLst/>
          </a:prstGeom>
          <a:noFill/>
        </p:spPr>
        <p:txBody>
          <a:bodyPr wrap="none" rtlCol="0">
            <a:spAutoFit/>
          </a:bodyPr>
          <a:lstStyle/>
          <a:p>
            <a:r>
              <a:rPr lang="en-US"/>
              <a:t>Source: NASA Orbital Debris Program Office</a:t>
            </a:r>
          </a:p>
        </p:txBody>
      </p:sp>
    </p:spTree>
    <p:extLst>
      <p:ext uri="{BB962C8B-B14F-4D97-AF65-F5344CB8AC3E}">
        <p14:creationId xmlns:p14="http://schemas.microsoft.com/office/powerpoint/2010/main" val="1023333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t>Debris Mitigation</a:t>
            </a:r>
          </a:p>
        </p:txBody>
      </p:sp>
      <p:sp>
        <p:nvSpPr>
          <p:cNvPr id="3" name="Slide Number Placeholder 2"/>
          <p:cNvSpPr>
            <a:spLocks noGrp="1"/>
          </p:cNvSpPr>
          <p:nvPr>
            <p:ph type="sldNum" sz="quarter" idx="12"/>
          </p:nvPr>
        </p:nvSpPr>
        <p:spPr/>
        <p:txBody>
          <a:bodyPr/>
          <a:lstStyle/>
          <a:p>
            <a:fld id="{04EF813A-C95A-49A4-BB2C-19388EC38802}" type="slidenum">
              <a:rPr lang="en-US" smtClean="0"/>
              <a:t>24</a:t>
            </a:fld>
            <a:endParaRPr lang="en-US"/>
          </a:p>
        </p:txBody>
      </p:sp>
      <p:pic>
        <p:nvPicPr>
          <p:cNvPr id="4" name="Picture 3"/>
          <p:cNvPicPr>
            <a:picLocks noChangeAspect="1"/>
          </p:cNvPicPr>
          <p:nvPr/>
        </p:nvPicPr>
        <p:blipFill>
          <a:blip r:embed="rId2"/>
          <a:stretch>
            <a:fillRect/>
          </a:stretch>
        </p:blipFill>
        <p:spPr>
          <a:xfrm>
            <a:off x="628650" y="1330144"/>
            <a:ext cx="8072021" cy="5220492"/>
          </a:xfrm>
          <a:prstGeom prst="rect">
            <a:avLst/>
          </a:prstGeom>
        </p:spPr>
      </p:pic>
    </p:spTree>
    <p:extLst>
      <p:ext uri="{BB962C8B-B14F-4D97-AF65-F5344CB8AC3E}">
        <p14:creationId xmlns:p14="http://schemas.microsoft.com/office/powerpoint/2010/main" val="9146320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Hardening</a:t>
            </a:r>
          </a:p>
        </p:txBody>
      </p:sp>
      <p:sp>
        <p:nvSpPr>
          <p:cNvPr id="3" name="Content Placeholder 2"/>
          <p:cNvSpPr>
            <a:spLocks noGrp="1"/>
          </p:cNvSpPr>
          <p:nvPr>
            <p:ph idx="1"/>
          </p:nvPr>
        </p:nvSpPr>
        <p:spPr>
          <a:xfrm>
            <a:off x="628650" y="1468479"/>
            <a:ext cx="7976956" cy="1805342"/>
          </a:xfrm>
        </p:spPr>
        <p:txBody>
          <a:bodyPr>
            <a:normAutofit/>
          </a:bodyPr>
          <a:lstStyle/>
          <a:p>
            <a:r>
              <a:rPr lang="en-US"/>
              <a:t>Design choice when building a space system to mitigate the negative impacts of the space environment or potential hostile action                (</a:t>
            </a:r>
            <a:r>
              <a:rPr lang="en-US" err="1"/>
              <a:t>eg</a:t>
            </a:r>
            <a:r>
              <a:rPr lang="en-US"/>
              <a:t>: shielding, filtering, </a:t>
            </a:r>
            <a:r>
              <a:rPr lang="en-US" err="1"/>
              <a:t>etc</a:t>
            </a:r>
            <a:r>
              <a:rPr lang="en-US"/>
              <a:t>)</a:t>
            </a:r>
          </a:p>
        </p:txBody>
      </p:sp>
      <p:sp>
        <p:nvSpPr>
          <p:cNvPr id="4" name="Slide Number Placeholder 3"/>
          <p:cNvSpPr>
            <a:spLocks noGrp="1"/>
          </p:cNvSpPr>
          <p:nvPr>
            <p:ph type="sldNum" sz="quarter" idx="12"/>
          </p:nvPr>
        </p:nvSpPr>
        <p:spPr/>
        <p:txBody>
          <a:bodyPr/>
          <a:lstStyle/>
          <a:p>
            <a:fld id="{04EF813A-C95A-49A4-BB2C-19388EC38802}" type="slidenum">
              <a:rPr lang="en-US" smtClean="0"/>
              <a:t>25</a:t>
            </a:fld>
            <a:endParaRPr lang="en-US"/>
          </a:p>
        </p:txBody>
      </p:sp>
      <p:sp>
        <p:nvSpPr>
          <p:cNvPr id="5" name="Title 1"/>
          <p:cNvSpPr txBox="1">
            <a:spLocks/>
          </p:cNvSpPr>
          <p:nvPr/>
        </p:nvSpPr>
        <p:spPr>
          <a:xfrm>
            <a:off x="718906" y="3366408"/>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Times New Roman" panose="02020603050405020304" pitchFamily="18" charset="0"/>
              </a:defRPr>
            </a:lvl1pPr>
          </a:lstStyle>
          <a:p>
            <a:r>
              <a:rPr lang="en-US"/>
              <a:t>Survivability</a:t>
            </a:r>
          </a:p>
        </p:txBody>
      </p:sp>
      <p:sp>
        <p:nvSpPr>
          <p:cNvPr id="6" name="Content Placeholder 2"/>
          <p:cNvSpPr txBox="1">
            <a:spLocks/>
          </p:cNvSpPr>
          <p:nvPr/>
        </p:nvSpPr>
        <p:spPr>
          <a:xfrm>
            <a:off x="559108" y="4468826"/>
            <a:ext cx="7886700" cy="14058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Ability of space system to perform its mission after being exposed to a stressing environment or hostile action</a:t>
            </a:r>
          </a:p>
        </p:txBody>
      </p:sp>
    </p:spTree>
    <p:extLst>
      <p:ext uri="{BB962C8B-B14F-4D97-AF65-F5344CB8AC3E}">
        <p14:creationId xmlns:p14="http://schemas.microsoft.com/office/powerpoint/2010/main" val="3730366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04EF813A-C95A-49A4-BB2C-19388EC38802}" type="slidenum">
              <a:rPr lang="en-US" smtClean="0"/>
              <a:t>26</a:t>
            </a:fld>
            <a:endParaRPr lang="en-US"/>
          </a:p>
        </p:txBody>
      </p:sp>
      <p:sp>
        <p:nvSpPr>
          <p:cNvPr id="2" name="Title 1"/>
          <p:cNvSpPr>
            <a:spLocks noGrp="1"/>
          </p:cNvSpPr>
          <p:nvPr>
            <p:ph type="title"/>
          </p:nvPr>
        </p:nvSpPr>
        <p:spPr>
          <a:xfrm>
            <a:off x="637527" y="119651"/>
            <a:ext cx="8195754" cy="1325563"/>
          </a:xfrm>
        </p:spPr>
        <p:txBody>
          <a:bodyPr>
            <a:normAutofit/>
          </a:bodyPr>
          <a:lstStyle/>
          <a:p>
            <a:r>
              <a:rPr lang="en-US" sz="3600"/>
              <a:t>Space Environment (Key Takeaways)</a:t>
            </a:r>
          </a:p>
        </p:txBody>
      </p:sp>
      <p:pic>
        <p:nvPicPr>
          <p:cNvPr id="6" name="Picture 5"/>
          <p:cNvPicPr>
            <a:picLocks noChangeAspect="1"/>
          </p:cNvPicPr>
          <p:nvPr/>
        </p:nvPicPr>
        <p:blipFill>
          <a:blip r:embed="rId2"/>
          <a:stretch>
            <a:fillRect/>
          </a:stretch>
        </p:blipFill>
        <p:spPr>
          <a:xfrm>
            <a:off x="0" y="1269848"/>
            <a:ext cx="8997337" cy="5513772"/>
          </a:xfrm>
          <a:prstGeom prst="rect">
            <a:avLst/>
          </a:prstGeom>
        </p:spPr>
      </p:pic>
    </p:spTree>
    <p:extLst>
      <p:ext uri="{BB962C8B-B14F-4D97-AF65-F5344CB8AC3E}">
        <p14:creationId xmlns:p14="http://schemas.microsoft.com/office/powerpoint/2010/main" val="420689432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c08fcfd817066be31f8f1ca0ac65db2f">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795b92cbcc638951d3b8bb33cdebaea5"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23aa48c-73f2-40da-86b1-f1ae286477fe" xsi:nil="true"/>
    <lcf76f155ced4ddcb4097134ff3c332f xmlns="7584c457-6b5a-4caa-be47-be979cbe6555">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1C7F7470-F375-4F3B-AF1B-1E6043375A55}"/>
</file>

<file path=customXml/itemProps2.xml><?xml version="1.0" encoding="utf-8"?>
<ds:datastoreItem xmlns:ds="http://schemas.openxmlformats.org/officeDocument/2006/customXml" ds:itemID="{FBD51469-6B50-4CC9-B74C-A434026FC958}">
  <ds:schemaRefs>
    <ds:schemaRef ds:uri="http://schemas.microsoft.com/sharepoint/v3/contenttype/forms"/>
  </ds:schemaRefs>
</ds:datastoreItem>
</file>

<file path=customXml/itemProps3.xml><?xml version="1.0" encoding="utf-8"?>
<ds:datastoreItem xmlns:ds="http://schemas.openxmlformats.org/officeDocument/2006/customXml" ds:itemID="{5F12BA95-D78C-4A15-A950-9348A506C539}">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On-screen Show (4:3)</PresentationFormat>
  <Slides>26</Slides>
  <Notes>1</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Lesson Objectives</vt:lpstr>
      <vt:lpstr>Why Worry about the Space Environment?</vt:lpstr>
      <vt:lpstr>Space Environmental Influences</vt:lpstr>
      <vt:lpstr>Microgravity</vt:lpstr>
      <vt:lpstr>Vacuum</vt:lpstr>
      <vt:lpstr>Atmosphere (1/2)</vt:lpstr>
      <vt:lpstr>Atmosphere (2/3)</vt:lpstr>
      <vt:lpstr>Atomic Oxygen</vt:lpstr>
      <vt:lpstr>Solar Cycle</vt:lpstr>
      <vt:lpstr>Atmosphere (3/3)</vt:lpstr>
      <vt:lpstr>Impact of Solar Cycle on Atmospheric Density</vt:lpstr>
      <vt:lpstr>Impact of Solar Cycle/Ballistic Co-efficient on Satellite Lifetimes</vt:lpstr>
      <vt:lpstr>Plasma (1/2)</vt:lpstr>
      <vt:lpstr>Plasma (2/2)</vt:lpstr>
      <vt:lpstr>Earth’s Magnetosphere</vt:lpstr>
      <vt:lpstr>Radiation</vt:lpstr>
      <vt:lpstr>Van Allen Belts</vt:lpstr>
      <vt:lpstr>Van Allen Radiation Belts</vt:lpstr>
      <vt:lpstr>South Atlantic Anomaly</vt:lpstr>
      <vt:lpstr>COTS vs Rad Hard Parts</vt:lpstr>
      <vt:lpstr>Micrometeoroids and Orbital Debris (MMOD)</vt:lpstr>
      <vt:lpstr>Orbital Debris</vt:lpstr>
      <vt:lpstr>Debris Mitigation</vt:lpstr>
      <vt:lpstr>Hardening</vt:lpstr>
      <vt:lpstr>Space Environment (Key Takeaways)</vt:lpstr>
    </vt:vector>
  </TitlesOfParts>
  <Company>USAF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Yale, Gary E. Civ USAF USAFA USAFA/DFAS</dc:creator>
  <cp:revision>1</cp:revision>
  <cp:lastPrinted>2019-07-02T19:11:34Z</cp:lastPrinted>
  <dcterms:created xsi:type="dcterms:W3CDTF">2019-06-13T20:36:51Z</dcterms:created>
  <dcterms:modified xsi:type="dcterms:W3CDTF">2023-01-26T21:50:32Z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