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36"/>
  </p:notesMasterIdLst>
  <p:sldIdLst>
    <p:sldId id="256" r:id="rId5"/>
    <p:sldId id="298" r:id="rId6"/>
    <p:sldId id="309" r:id="rId7"/>
    <p:sldId id="310" r:id="rId8"/>
    <p:sldId id="763" r:id="rId9"/>
    <p:sldId id="311" r:id="rId10"/>
    <p:sldId id="764" r:id="rId11"/>
    <p:sldId id="312" r:id="rId12"/>
    <p:sldId id="765" r:id="rId13"/>
    <p:sldId id="313" r:id="rId14"/>
    <p:sldId id="314" r:id="rId15"/>
    <p:sldId id="303" r:id="rId16"/>
    <p:sldId id="315" r:id="rId17"/>
    <p:sldId id="304" r:id="rId18"/>
    <p:sldId id="302" r:id="rId19"/>
    <p:sldId id="305" r:id="rId20"/>
    <p:sldId id="766" r:id="rId21"/>
    <p:sldId id="316" r:id="rId22"/>
    <p:sldId id="317" r:id="rId23"/>
    <p:sldId id="300" r:id="rId24"/>
    <p:sldId id="767" r:id="rId25"/>
    <p:sldId id="318" r:id="rId26"/>
    <p:sldId id="319" r:id="rId27"/>
    <p:sldId id="299" r:id="rId28"/>
    <p:sldId id="306" r:id="rId29"/>
    <p:sldId id="289" r:id="rId30"/>
    <p:sldId id="768" r:id="rId31"/>
    <p:sldId id="320" r:id="rId32"/>
    <p:sldId id="307" r:id="rId33"/>
    <p:sldId id="308" r:id="rId34"/>
    <p:sldId id="297" r:id="rId35"/>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89442" autoAdjust="0"/>
  </p:normalViewPr>
  <p:slideViewPr>
    <p:cSldViewPr snapToGrid="0">
      <p:cViewPr varScale="1">
        <p:scale>
          <a:sx n="65" d="100"/>
          <a:sy n="65" d="100"/>
        </p:scale>
        <p:origin x="2002"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modSld">
      <pc:chgData name="Harris, Wyatt J Lt Col USAF USAFA DF/DFAS" userId="768bfb95-c272-4014-8fa2-010c15306053" providerId="ADAL" clId="{E18DAD13-4A53-44B8-9F3F-46E167733190}" dt="2026-01-21T00:49:59.590" v="0" actId="20577"/>
      <pc:docMkLst>
        <pc:docMk/>
      </pc:docMkLst>
      <pc:sldChg chg="modSp mod">
        <pc:chgData name="Harris, Wyatt J Lt Col USAF USAFA DF/DFAS" userId="768bfb95-c272-4014-8fa2-010c15306053" providerId="ADAL" clId="{E18DAD13-4A53-44B8-9F3F-46E167733190}" dt="2026-01-21T00:49:59.590" v="0" actId="20577"/>
        <pc:sldMkLst>
          <pc:docMk/>
          <pc:sldMk cId="3188062351" sldId="256"/>
        </pc:sldMkLst>
        <pc:spChg chg="mod">
          <ac:chgData name="Harris, Wyatt J Lt Col USAF USAFA DF/DFAS" userId="768bfb95-c272-4014-8fa2-010c15306053" providerId="ADAL" clId="{E18DAD13-4A53-44B8-9F3F-46E167733190}" dt="2026-01-21T00:49:59.590" v="0" actId="20577"/>
          <ac:spMkLst>
            <pc:docMk/>
            <pc:sldMk cId="3188062351" sldId="256"/>
            <ac:spMk id="2" creationId="{1560E2C4-BC94-2EEF-55E0-A1575A57F58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1/20/2026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a:t>
            </a:fld>
            <a:endParaRPr lang="en-US"/>
          </a:p>
        </p:txBody>
      </p:sp>
    </p:spTree>
    <p:extLst>
      <p:ext uri="{BB962C8B-B14F-4D97-AF65-F5344CB8AC3E}">
        <p14:creationId xmlns:p14="http://schemas.microsoft.com/office/powerpoint/2010/main" val="466204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1519157-5E77-474E-8DBD-989D4603659B}" type="slidenum">
              <a:rPr lang="en-US" smtClean="0"/>
              <a:t>26</a:t>
            </a:fld>
            <a:endParaRPr lang="en-US"/>
          </a:p>
        </p:txBody>
      </p:sp>
    </p:spTree>
    <p:extLst>
      <p:ext uri="{BB962C8B-B14F-4D97-AF65-F5344CB8AC3E}">
        <p14:creationId xmlns:p14="http://schemas.microsoft.com/office/powerpoint/2010/main" val="2206366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7505" y="1287560"/>
            <a:ext cx="6788990" cy="2387600"/>
          </a:xfrm>
        </p:spPr>
        <p:txBody>
          <a:bodyPr anchor="ctr"/>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EE600E-A67F-4D2A-8A36-552C1EFBE963}" type="datetime1">
              <a:rPr lang="en-US" smtClean="0"/>
              <a:t>1/20/2026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dirty="0"/>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pPr algn="ctr"/>
            <a:r>
              <a:rPr lang="en-US" sz="3600" dirty="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dirty="0"/>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9D194C-E731-4CF3-8F14-16F2CEB9B5CF}" type="datetime1">
              <a:rPr lang="en-US" smtClean="0"/>
              <a:t>1/20/2026</a:t>
            </a:fld>
            <a:endParaRPr lang="en-US" dirty="0"/>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ctr">
            <a:normAutofit/>
          </a:bodyPr>
          <a:lstStyle>
            <a:lvl1pPr>
              <a:defRPr sz="4800"/>
            </a:lvl1pPr>
          </a:lstStyle>
          <a:p>
            <a:r>
              <a:rPr lang="en-US" dirty="0"/>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1/20/2026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CEF287-72CA-49D4-A601-3B9D2E83EA05}" type="datetime1">
              <a:rPr lang="en-US" smtClean="0"/>
              <a:t>1/20/2026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2B2832-1105-4FA1-AD49-3D1761459FB9}" type="datetime1">
              <a:rPr lang="en-US" smtClean="0"/>
              <a:t>1/20/2026</a:t>
            </a:fld>
            <a:endParaRPr lang="en-US"/>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08DF9A-2345-4D36-85FA-49730D271487}" type="datetime1">
              <a:rPr lang="en-US" smtClean="0"/>
              <a:t>1/20/2026</a:t>
            </a:fld>
            <a:endParaRPr lang="en-US"/>
          </a:p>
        </p:txBody>
      </p:sp>
      <p:sp>
        <p:nvSpPr>
          <p:cNvPr id="4" name="Footer Placeholder 3"/>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1/20/2026</a:t>
            </a:fld>
            <a:endParaRPr lang="en-US"/>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1/20/2026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1/20/2026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B0F733-755F-4A68-A044-3BB7487EA333}" type="datetime1">
              <a:rPr lang="en-US" smtClean="0"/>
              <a:t>1/20/2026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E81D12-59AE-465C-A617-7D2534E388B9}" type="datetime1">
              <a:rPr lang="en-US" smtClean="0"/>
              <a:t>1/20/2026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6966" y="133186"/>
            <a:ext cx="7886700" cy="6521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200025" y="1002506"/>
            <a:ext cx="8793015" cy="522755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8291" y="6465105"/>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1/20/2026</a:t>
            </a:fld>
            <a:endParaRPr lang="en-US" dirty="0"/>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8115301" y="72097"/>
            <a:ext cx="970472"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2025 Fall</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46364" y="855395"/>
            <a:ext cx="9039409" cy="5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5" y="18574"/>
            <a:ext cx="734686" cy="827487"/>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2800" b="1"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en.wikipedia.org/wiki/Solar_activity"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a:t>Lesson </a:t>
            </a:r>
            <a:r>
              <a:rPr lang="en-US"/>
              <a:t>6</a:t>
            </a:r>
            <a:endParaRPr lang="en-US" b="1" dirty="0"/>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dirty="0"/>
              <a:t>Space Environment</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p:cNvSpPr>
            <a:spLocks noGrp="1"/>
          </p:cNvSpPr>
          <p:nvPr>
            <p:ph type="sldNum" sz="quarter" idx="10"/>
          </p:nvPr>
        </p:nvSpPr>
        <p:spPr/>
        <p:txBody>
          <a:bodyPr/>
          <a:lstStyle/>
          <a:p>
            <a:fld id="{C4E7BD3C-1CB4-4D32-AF66-F24A4F29664C}" type="slidenum">
              <a:rPr lang="en-US" altLang="en-US"/>
              <a:pPr/>
              <a:t>2</a:t>
            </a:fld>
            <a:endParaRPr lang="en-US" altLang="en-US"/>
          </a:p>
        </p:txBody>
      </p:sp>
      <p:sp>
        <p:nvSpPr>
          <p:cNvPr id="54273" name="Rectangle 1"/>
          <p:cNvSpPr>
            <a:spLocks noGrp="1" noChangeArrowheads="1"/>
          </p:cNvSpPr>
          <p:nvPr>
            <p:ph type="title"/>
          </p:nvPr>
        </p:nvSpPr>
        <p:spPr>
          <a:xfrm>
            <a:off x="830780" y="-201497"/>
            <a:ext cx="7886700" cy="1325563"/>
          </a:xfrm>
          <a:ln/>
        </p:spPr>
        <p:txBody>
          <a:bodyPr vert="horz" lIns="91440" tIns="45720" rIns="136128" bIns="45720" rtlCol="0" anchor="ctr">
            <a:normAutofit/>
          </a:bodyPr>
          <a:lstStyle/>
          <a:p>
            <a:r>
              <a:rPr lang="en-US" altLang="en-US" sz="2391"/>
              <a:t>Why Worry about the Space Environment?</a:t>
            </a:r>
          </a:p>
        </p:txBody>
      </p:sp>
      <p:sp>
        <p:nvSpPr>
          <p:cNvPr id="54274" name="Rectangle 2"/>
          <p:cNvSpPr>
            <a:spLocks noGrp="1" noChangeArrowheads="1"/>
          </p:cNvSpPr>
          <p:nvPr>
            <p:ph type="body" idx="1"/>
          </p:nvPr>
        </p:nvSpPr>
        <p:spPr>
          <a:xfrm>
            <a:off x="152275" y="1002535"/>
            <a:ext cx="5563195" cy="5473966"/>
          </a:xfrm>
          <a:ln/>
          <a:extLst>
            <a:ext uri="{91240B29-F687-4F45-9708-019B960494DF}">
              <a14:hiddenLine xmlns:a14="http://schemas.microsoft.com/office/drawing/2010/main" w="12700">
                <a:solidFill>
                  <a:srgbClr val="FFFFFF"/>
                </a:solidFill>
                <a:miter lim="800000"/>
                <a:headEnd/>
                <a:tailEnd/>
              </a14:hiddenLine>
            </a:ext>
          </a:extLst>
        </p:spPr>
        <p:txBody>
          <a:bodyPr vert="horz" lIns="35719" tIns="35719" rIns="0" bIns="35719" rtlCol="0" anchor="ctr">
            <a:normAutofit lnSpcReduction="10000"/>
          </a:bodyPr>
          <a:lstStyle/>
          <a:p>
            <a:pPr marL="0" indent="0">
              <a:spcBef>
                <a:spcPct val="0"/>
              </a:spcBef>
              <a:buNone/>
            </a:pPr>
            <a:r>
              <a:rPr lang="en-US" altLang="en-US" sz="1687" dirty="0">
                <a:solidFill>
                  <a:srgbClr val="0000FF"/>
                </a:solidFill>
              </a:rPr>
              <a:t>Approximately 25% of all spacecraft anomalies</a:t>
            </a:r>
            <a:r>
              <a:rPr lang="en-US" altLang="en-US" sz="1687" dirty="0"/>
              <a:t> are related to the space environment. </a:t>
            </a:r>
          </a:p>
          <a:p>
            <a:pPr marL="0" indent="0">
              <a:spcBef>
                <a:spcPct val="0"/>
              </a:spcBef>
              <a:buNone/>
            </a:pPr>
            <a:endParaRPr lang="en-US" altLang="en-US" sz="1687" dirty="0"/>
          </a:p>
          <a:p>
            <a:pPr marL="0" indent="0">
              <a:spcBef>
                <a:spcPct val="0"/>
              </a:spcBef>
              <a:buNone/>
            </a:pPr>
            <a:r>
              <a:rPr lang="en-US" altLang="en-US" sz="1687" dirty="0"/>
              <a:t>Famous examples include:</a:t>
            </a:r>
          </a:p>
          <a:p>
            <a:pPr marL="448701" lvl="1">
              <a:spcBef>
                <a:spcPts val="580"/>
              </a:spcBef>
              <a:buSzPct val="125000"/>
              <a:buFont typeface="Gill Sans" charset="0"/>
              <a:buChar char="•"/>
            </a:pPr>
            <a:r>
              <a:rPr lang="en-US" altLang="en-US" sz="1547" dirty="0"/>
              <a:t>2010: Control of Galaxy 15 lost due to electrostatic discharge cause by </a:t>
            </a:r>
            <a:r>
              <a:rPr lang="en-US" altLang="en-US" sz="1547" dirty="0">
                <a:solidFill>
                  <a:srgbClr val="0000FF"/>
                </a:solidFill>
              </a:rPr>
              <a:t>solar flare.</a:t>
            </a:r>
            <a:r>
              <a:rPr lang="en-US" altLang="en-US" sz="1547" dirty="0"/>
              <a:t> Satellite drifted through crowed GEO belt in full send and receive mode</a:t>
            </a:r>
          </a:p>
          <a:p>
            <a:pPr marL="448701" lvl="1">
              <a:spcBef>
                <a:spcPts val="580"/>
              </a:spcBef>
              <a:buSzPct val="125000"/>
              <a:buFont typeface="Gill Sans" charset="0"/>
              <a:buChar char="•"/>
            </a:pPr>
            <a:r>
              <a:rPr lang="en-US" altLang="en-US" sz="1547" dirty="0"/>
              <a:t>2009: Iridium satellite destroyed when it </a:t>
            </a:r>
            <a:r>
              <a:rPr lang="en-US" altLang="en-US" sz="1547" dirty="0">
                <a:solidFill>
                  <a:srgbClr val="0000FF"/>
                </a:solidFill>
              </a:rPr>
              <a:t>collided with</a:t>
            </a:r>
            <a:r>
              <a:rPr lang="en-US" altLang="en-US" sz="1547" dirty="0"/>
              <a:t> the </a:t>
            </a:r>
            <a:r>
              <a:rPr lang="en-US" altLang="en-US" sz="1547" dirty="0">
                <a:solidFill>
                  <a:srgbClr val="0000FF"/>
                </a:solidFill>
              </a:rPr>
              <a:t>dead</a:t>
            </a:r>
            <a:r>
              <a:rPr lang="en-US" altLang="en-US" sz="1547" dirty="0"/>
              <a:t> Cosmos 2251 </a:t>
            </a:r>
            <a:r>
              <a:rPr lang="en-US" altLang="en-US" sz="1547" dirty="0">
                <a:solidFill>
                  <a:srgbClr val="0000FF"/>
                </a:solidFill>
              </a:rPr>
              <a:t>satellite</a:t>
            </a:r>
            <a:r>
              <a:rPr lang="en-US" altLang="en-US" sz="1547" dirty="0"/>
              <a:t> (space debris)</a:t>
            </a:r>
          </a:p>
          <a:p>
            <a:pPr marL="448701" lvl="1">
              <a:spcBef>
                <a:spcPts val="580"/>
              </a:spcBef>
              <a:buSzPct val="125000"/>
              <a:buFont typeface="Gill Sans" charset="0"/>
              <a:buChar char="•"/>
            </a:pPr>
            <a:r>
              <a:rPr lang="en-US" altLang="en-US" sz="1547" dirty="0"/>
              <a:t>2000: Boeing 702 satellite (Anik F-1):  degraded solar array performance due to </a:t>
            </a:r>
            <a:r>
              <a:rPr lang="en-US" altLang="en-US" sz="1547" dirty="0">
                <a:solidFill>
                  <a:srgbClr val="0000FF"/>
                </a:solidFill>
              </a:rPr>
              <a:t>outgassing</a:t>
            </a:r>
            <a:r>
              <a:rPr lang="en-US" altLang="en-US" sz="1547" dirty="0"/>
              <a:t> induced fogging</a:t>
            </a:r>
          </a:p>
          <a:p>
            <a:pPr marL="448701" lvl="1">
              <a:spcBef>
                <a:spcPts val="580"/>
              </a:spcBef>
              <a:buSzPct val="125000"/>
              <a:buFont typeface="Gill Sans" charset="0"/>
              <a:buChar char="•"/>
            </a:pPr>
            <a:r>
              <a:rPr lang="en-US" altLang="en-US" sz="1547" dirty="0"/>
              <a:t>2000: Stardust comet flyby spacecraft blinded and sent into safe mode by a</a:t>
            </a:r>
            <a:r>
              <a:rPr lang="en-US" altLang="en-US" sz="1547" dirty="0">
                <a:solidFill>
                  <a:srgbClr val="0000FF"/>
                </a:solidFill>
              </a:rPr>
              <a:t> solar flare</a:t>
            </a:r>
            <a:endParaRPr lang="en-US" altLang="en-US" sz="1547" dirty="0"/>
          </a:p>
          <a:p>
            <a:pPr marL="448701" lvl="1">
              <a:spcBef>
                <a:spcPts val="580"/>
              </a:spcBef>
              <a:buSzPct val="125000"/>
              <a:buFont typeface="Gill Sans" charset="0"/>
              <a:buChar char="•"/>
            </a:pPr>
            <a:r>
              <a:rPr lang="en-US" altLang="en-US" sz="1547" dirty="0"/>
              <a:t>1994: </a:t>
            </a:r>
            <a:r>
              <a:rPr lang="en-US" altLang="en-US" sz="1547" dirty="0" err="1"/>
              <a:t>Telsat</a:t>
            </a:r>
            <a:r>
              <a:rPr lang="en-US" altLang="en-US" sz="1547" dirty="0"/>
              <a:t> Canada’s Anik E-1 and E-2 suddenly began to spin out of control due to spacecraft </a:t>
            </a:r>
            <a:r>
              <a:rPr lang="en-US" altLang="en-US" sz="1547" dirty="0">
                <a:solidFill>
                  <a:srgbClr val="0000FF"/>
                </a:solidFill>
              </a:rPr>
              <a:t>charging</a:t>
            </a:r>
            <a:endParaRPr lang="en-US" altLang="en-US" sz="1547" dirty="0"/>
          </a:p>
          <a:p>
            <a:pPr marL="448701" lvl="1">
              <a:spcBef>
                <a:spcPts val="580"/>
              </a:spcBef>
              <a:buSzPct val="125000"/>
              <a:buFont typeface="Gill Sans" charset="0"/>
              <a:buChar char="•"/>
            </a:pPr>
            <a:r>
              <a:rPr lang="en-US" altLang="en-US" sz="1547" dirty="0"/>
              <a:t>1990: High energy </a:t>
            </a:r>
            <a:r>
              <a:rPr lang="en-US" altLang="en-US" sz="1547" dirty="0">
                <a:solidFill>
                  <a:srgbClr val="0000FF"/>
                </a:solidFill>
              </a:rPr>
              <a:t>charged particles</a:t>
            </a:r>
            <a:r>
              <a:rPr lang="en-US" altLang="en-US" sz="1547" dirty="0"/>
              <a:t> caused bit flips in HST fine guidance system electronics (FGS) passing through the South Atlantic Anomaly (SAA) causing guide star acquisition failures. Subsequently, FGS use was suspended in the SAA. </a:t>
            </a:r>
          </a:p>
          <a:p>
            <a:pPr marL="448701" lvl="1">
              <a:spcBef>
                <a:spcPts val="580"/>
              </a:spcBef>
              <a:buSzPct val="125000"/>
              <a:buFont typeface="Gill Sans" charset="0"/>
              <a:buChar char="•"/>
            </a:pPr>
            <a:r>
              <a:rPr lang="en-US" altLang="en-US" sz="1547" dirty="0"/>
              <a:t>1979: Increased </a:t>
            </a:r>
            <a:r>
              <a:rPr lang="en-US" altLang="en-US" sz="1547" dirty="0">
                <a:hlinkClick r:id="rId2"/>
              </a:rPr>
              <a:t>solar activity</a:t>
            </a:r>
            <a:r>
              <a:rPr lang="en-US" altLang="en-US" sz="1547" dirty="0"/>
              <a:t> heated the outer layers of the Earth's atmosphere and thereby increased </a:t>
            </a:r>
            <a:r>
              <a:rPr lang="en-US" altLang="en-US" sz="1547" dirty="0">
                <a:solidFill>
                  <a:srgbClr val="0000FF"/>
                </a:solidFill>
              </a:rPr>
              <a:t>drag</a:t>
            </a:r>
            <a:r>
              <a:rPr lang="en-US" altLang="en-US" sz="1547" dirty="0"/>
              <a:t> on Skylab, leading to an early reentry.</a:t>
            </a:r>
          </a:p>
        </p:txBody>
      </p:sp>
      <p:sp>
        <p:nvSpPr>
          <p:cNvPr id="54276" name="Rectangle 4"/>
          <p:cNvSpPr>
            <a:spLocks/>
          </p:cNvSpPr>
          <p:nvPr/>
        </p:nvSpPr>
        <p:spPr bwMode="auto">
          <a:xfrm>
            <a:off x="6000750" y="2760088"/>
            <a:ext cx="2821781" cy="437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35719" tIns="35719" rIns="73818" bIns="35719"/>
          <a:lstStyle>
            <a:lvl1pPr marL="3175">
              <a:defRPr sz="1200">
                <a:solidFill>
                  <a:schemeClr val="tx1"/>
                </a:solidFill>
                <a:latin typeface="Times New Roman" panose="02020603050405020304" pitchFamily="18" charset="0"/>
              </a:defRPr>
            </a:lvl1pPr>
            <a:lvl2pPr>
              <a:defRPr sz="1200">
                <a:solidFill>
                  <a:schemeClr val="tx1"/>
                </a:solidFill>
                <a:latin typeface="Times New Roman" panose="02020603050405020304" pitchFamily="18" charset="0"/>
              </a:defRPr>
            </a:lvl2pPr>
            <a:lvl3pPr>
              <a:defRPr sz="1200">
                <a:solidFill>
                  <a:schemeClr val="tx1"/>
                </a:solidFill>
                <a:latin typeface="Times New Roman" panose="02020603050405020304" pitchFamily="18" charset="0"/>
              </a:defRPr>
            </a:lvl3pPr>
            <a:lvl4pPr>
              <a:defRPr sz="1200">
                <a:solidFill>
                  <a:schemeClr val="tx1"/>
                </a:solidFill>
                <a:latin typeface="Times New Roman" panose="02020603050405020304" pitchFamily="18" charset="0"/>
              </a:defRPr>
            </a:lvl4pPr>
            <a:lvl5pPr>
              <a:defRPr sz="1200">
                <a:solidFill>
                  <a:schemeClr val="tx1"/>
                </a:solidFill>
                <a:latin typeface="Times New Roman" panose="02020603050405020304" pitchFamily="18" charset="0"/>
              </a:defRPr>
            </a:lvl5pPr>
            <a:lvl6pPr fontAlgn="base">
              <a:spcBef>
                <a:spcPct val="0"/>
              </a:spcBef>
              <a:spcAft>
                <a:spcPct val="0"/>
              </a:spcAft>
              <a:defRPr sz="1200">
                <a:solidFill>
                  <a:schemeClr val="tx1"/>
                </a:solidFill>
                <a:latin typeface="Times New Roman" panose="02020603050405020304" pitchFamily="18" charset="0"/>
              </a:defRPr>
            </a:lvl6pPr>
            <a:lvl7pPr fontAlgn="base">
              <a:spcBef>
                <a:spcPct val="0"/>
              </a:spcBef>
              <a:spcAft>
                <a:spcPct val="0"/>
              </a:spcAft>
              <a:defRPr sz="1200">
                <a:solidFill>
                  <a:schemeClr val="tx1"/>
                </a:solidFill>
                <a:latin typeface="Times New Roman" panose="02020603050405020304" pitchFamily="18" charset="0"/>
              </a:defRPr>
            </a:lvl7pPr>
            <a:lvl8pPr fontAlgn="base">
              <a:spcBef>
                <a:spcPct val="0"/>
              </a:spcBef>
              <a:spcAft>
                <a:spcPct val="0"/>
              </a:spcAft>
              <a:defRPr sz="1200">
                <a:solidFill>
                  <a:schemeClr val="tx1"/>
                </a:solidFill>
                <a:latin typeface="Times New Roman" panose="02020603050405020304" pitchFamily="18" charset="0"/>
              </a:defRPr>
            </a:lvl8pPr>
            <a:lvl9pPr fontAlgn="base">
              <a:spcBef>
                <a:spcPct val="0"/>
              </a:spcBef>
              <a:spcAft>
                <a:spcPct val="0"/>
              </a:spcAft>
              <a:defRPr sz="1200">
                <a:solidFill>
                  <a:schemeClr val="tx1"/>
                </a:solidFill>
                <a:latin typeface="Times New Roman" panose="02020603050405020304" pitchFamily="18" charset="0"/>
              </a:defRPr>
            </a:lvl9pPr>
          </a:lstStyle>
          <a:p>
            <a:pPr algn="ctr"/>
            <a:r>
              <a:rPr lang="en-US" altLang="en-US" sz="1266">
                <a:latin typeface="Arial Bold" panose="020B0704020202020204" pitchFamily="34" charset="0"/>
                <a:cs typeface="Arial Bold" panose="020B0704020202020204" pitchFamily="34" charset="0"/>
                <a:sym typeface="Arial Bold" panose="020B0704020202020204" pitchFamily="34" charset="0"/>
              </a:rPr>
              <a:t>Warning- Traffic Hazard!. </a:t>
            </a:r>
            <a:r>
              <a:rPr lang="en-US" altLang="en-US" sz="1266">
                <a:latin typeface="Arial" panose="020B0604020202020204" pitchFamily="34" charset="0"/>
                <a:cs typeface="Arial" panose="020B0604020202020204" pitchFamily="34" charset="0"/>
                <a:sym typeface="Arial" panose="020B0604020202020204" pitchFamily="34" charset="0"/>
              </a:rPr>
              <a:t>Iridium Collision with Cosmos 2251</a:t>
            </a:r>
          </a:p>
        </p:txBody>
      </p:sp>
      <p:sp>
        <p:nvSpPr>
          <p:cNvPr id="54277" name="Rectangle 5"/>
          <p:cNvSpPr>
            <a:spLocks/>
          </p:cNvSpPr>
          <p:nvPr/>
        </p:nvSpPr>
        <p:spPr bwMode="auto">
          <a:xfrm>
            <a:off x="5781972" y="5251471"/>
            <a:ext cx="1839516" cy="848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40640" bIns="0"/>
          <a:lstStyle>
            <a:lvl1pPr marL="57150">
              <a:defRPr sz="1200">
                <a:solidFill>
                  <a:schemeClr val="tx1"/>
                </a:solidFill>
                <a:latin typeface="Times New Roman" panose="02020603050405020304" pitchFamily="18" charset="0"/>
              </a:defRPr>
            </a:lvl1pPr>
            <a:lvl2pPr>
              <a:defRPr sz="1200">
                <a:solidFill>
                  <a:schemeClr val="tx1"/>
                </a:solidFill>
                <a:latin typeface="Times New Roman" panose="02020603050405020304" pitchFamily="18" charset="0"/>
              </a:defRPr>
            </a:lvl2pPr>
            <a:lvl3pPr>
              <a:defRPr sz="1200">
                <a:solidFill>
                  <a:schemeClr val="tx1"/>
                </a:solidFill>
                <a:latin typeface="Times New Roman" panose="02020603050405020304" pitchFamily="18" charset="0"/>
              </a:defRPr>
            </a:lvl3pPr>
            <a:lvl4pPr>
              <a:defRPr sz="1200">
                <a:solidFill>
                  <a:schemeClr val="tx1"/>
                </a:solidFill>
                <a:latin typeface="Times New Roman" panose="02020603050405020304" pitchFamily="18" charset="0"/>
              </a:defRPr>
            </a:lvl4pPr>
            <a:lvl5pPr>
              <a:defRPr sz="1200">
                <a:solidFill>
                  <a:schemeClr val="tx1"/>
                </a:solidFill>
                <a:latin typeface="Times New Roman" panose="02020603050405020304" pitchFamily="18" charset="0"/>
              </a:defRPr>
            </a:lvl5pPr>
            <a:lvl6pPr fontAlgn="base">
              <a:spcBef>
                <a:spcPct val="0"/>
              </a:spcBef>
              <a:spcAft>
                <a:spcPct val="0"/>
              </a:spcAft>
              <a:defRPr sz="1200">
                <a:solidFill>
                  <a:schemeClr val="tx1"/>
                </a:solidFill>
                <a:latin typeface="Times New Roman" panose="02020603050405020304" pitchFamily="18" charset="0"/>
              </a:defRPr>
            </a:lvl6pPr>
            <a:lvl7pPr fontAlgn="base">
              <a:spcBef>
                <a:spcPct val="0"/>
              </a:spcBef>
              <a:spcAft>
                <a:spcPct val="0"/>
              </a:spcAft>
              <a:defRPr sz="1200">
                <a:solidFill>
                  <a:schemeClr val="tx1"/>
                </a:solidFill>
                <a:latin typeface="Times New Roman" panose="02020603050405020304" pitchFamily="18" charset="0"/>
              </a:defRPr>
            </a:lvl7pPr>
            <a:lvl8pPr fontAlgn="base">
              <a:spcBef>
                <a:spcPct val="0"/>
              </a:spcBef>
              <a:spcAft>
                <a:spcPct val="0"/>
              </a:spcAft>
              <a:defRPr sz="1200">
                <a:solidFill>
                  <a:schemeClr val="tx1"/>
                </a:solidFill>
                <a:latin typeface="Times New Roman" panose="02020603050405020304" pitchFamily="18" charset="0"/>
              </a:defRPr>
            </a:lvl8pPr>
            <a:lvl9pPr fontAlgn="base">
              <a:spcBef>
                <a:spcPct val="0"/>
              </a:spcBef>
              <a:spcAft>
                <a:spcPct val="0"/>
              </a:spcAft>
              <a:defRPr sz="1200">
                <a:solidFill>
                  <a:schemeClr val="tx1"/>
                </a:solidFill>
                <a:latin typeface="Times New Roman" panose="02020603050405020304" pitchFamily="18" charset="0"/>
              </a:defRPr>
            </a:lvl9pPr>
          </a:lstStyle>
          <a:p>
            <a:pPr algn="ctr"/>
            <a:r>
              <a:rPr lang="en-US" altLang="en-US" sz="1266">
                <a:latin typeface="Arial Bold" panose="020B0704020202020204" pitchFamily="34" charset="0"/>
                <a:cs typeface="Arial Bold" panose="020B0704020202020204" pitchFamily="34" charset="0"/>
                <a:sym typeface="Arial Bold" panose="020B0704020202020204" pitchFamily="34" charset="0"/>
              </a:rPr>
              <a:t>Beware - Outgassing.</a:t>
            </a:r>
            <a:r>
              <a:rPr lang="en-US" altLang="en-US" sz="1266">
                <a:latin typeface="Arial" panose="020B0604020202020204" pitchFamily="34" charset="0"/>
                <a:cs typeface="Arial" panose="020B0604020202020204" pitchFamily="34" charset="0"/>
                <a:sym typeface="Arial" panose="020B0604020202020204" pitchFamily="34" charset="0"/>
              </a:rPr>
              <a:t> Anik F-1 degraded performance due to outgassing</a:t>
            </a:r>
          </a:p>
        </p:txBody>
      </p:sp>
      <p:sp>
        <p:nvSpPr>
          <p:cNvPr id="54278" name="Rectangle 6"/>
          <p:cNvSpPr>
            <a:spLocks/>
          </p:cNvSpPr>
          <p:nvPr/>
        </p:nvSpPr>
        <p:spPr bwMode="auto">
          <a:xfrm>
            <a:off x="7336855" y="3340518"/>
            <a:ext cx="1732359" cy="1035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40640" bIns="0"/>
          <a:lstStyle>
            <a:lvl1pPr marL="57150">
              <a:defRPr sz="1200">
                <a:solidFill>
                  <a:schemeClr val="tx1"/>
                </a:solidFill>
                <a:latin typeface="Times New Roman" panose="02020603050405020304" pitchFamily="18" charset="0"/>
              </a:defRPr>
            </a:lvl1pPr>
            <a:lvl2pPr>
              <a:defRPr sz="1200">
                <a:solidFill>
                  <a:schemeClr val="tx1"/>
                </a:solidFill>
                <a:latin typeface="Times New Roman" panose="02020603050405020304" pitchFamily="18" charset="0"/>
              </a:defRPr>
            </a:lvl2pPr>
            <a:lvl3pPr>
              <a:defRPr sz="1200">
                <a:solidFill>
                  <a:schemeClr val="tx1"/>
                </a:solidFill>
                <a:latin typeface="Times New Roman" panose="02020603050405020304" pitchFamily="18" charset="0"/>
              </a:defRPr>
            </a:lvl3pPr>
            <a:lvl4pPr>
              <a:defRPr sz="1200">
                <a:solidFill>
                  <a:schemeClr val="tx1"/>
                </a:solidFill>
                <a:latin typeface="Times New Roman" panose="02020603050405020304" pitchFamily="18" charset="0"/>
              </a:defRPr>
            </a:lvl4pPr>
            <a:lvl5pPr>
              <a:defRPr sz="1200">
                <a:solidFill>
                  <a:schemeClr val="tx1"/>
                </a:solidFill>
                <a:latin typeface="Times New Roman" panose="02020603050405020304" pitchFamily="18" charset="0"/>
              </a:defRPr>
            </a:lvl5pPr>
            <a:lvl6pPr fontAlgn="base">
              <a:spcBef>
                <a:spcPct val="0"/>
              </a:spcBef>
              <a:spcAft>
                <a:spcPct val="0"/>
              </a:spcAft>
              <a:defRPr sz="1200">
                <a:solidFill>
                  <a:schemeClr val="tx1"/>
                </a:solidFill>
                <a:latin typeface="Times New Roman" panose="02020603050405020304" pitchFamily="18" charset="0"/>
              </a:defRPr>
            </a:lvl6pPr>
            <a:lvl7pPr fontAlgn="base">
              <a:spcBef>
                <a:spcPct val="0"/>
              </a:spcBef>
              <a:spcAft>
                <a:spcPct val="0"/>
              </a:spcAft>
              <a:defRPr sz="1200">
                <a:solidFill>
                  <a:schemeClr val="tx1"/>
                </a:solidFill>
                <a:latin typeface="Times New Roman" panose="02020603050405020304" pitchFamily="18" charset="0"/>
              </a:defRPr>
            </a:lvl7pPr>
            <a:lvl8pPr fontAlgn="base">
              <a:spcBef>
                <a:spcPct val="0"/>
              </a:spcBef>
              <a:spcAft>
                <a:spcPct val="0"/>
              </a:spcAft>
              <a:defRPr sz="1200">
                <a:solidFill>
                  <a:schemeClr val="tx1"/>
                </a:solidFill>
                <a:latin typeface="Times New Roman" panose="02020603050405020304" pitchFamily="18" charset="0"/>
              </a:defRPr>
            </a:lvl8pPr>
            <a:lvl9pPr fontAlgn="base">
              <a:spcBef>
                <a:spcPct val="0"/>
              </a:spcBef>
              <a:spcAft>
                <a:spcPct val="0"/>
              </a:spcAft>
              <a:defRPr sz="1200">
                <a:solidFill>
                  <a:schemeClr val="tx1"/>
                </a:solidFill>
                <a:latin typeface="Times New Roman" panose="02020603050405020304" pitchFamily="18" charset="0"/>
              </a:defRPr>
            </a:lvl9pPr>
          </a:lstStyle>
          <a:p>
            <a:pPr algn="ctr"/>
            <a:r>
              <a:rPr lang="en-US" altLang="en-US" sz="1266">
                <a:latin typeface="Arial Bold" panose="020B0704020202020204" pitchFamily="34" charset="0"/>
                <a:cs typeface="Arial Bold" panose="020B0704020202020204" pitchFamily="34" charset="0"/>
                <a:sym typeface="Arial Bold" panose="020B0704020202020204" pitchFamily="34" charset="0"/>
              </a:rPr>
              <a:t>Caution - Solar Flare.</a:t>
            </a:r>
            <a:r>
              <a:rPr lang="en-US" altLang="en-US" sz="1266">
                <a:latin typeface="Arial" panose="020B0604020202020204" pitchFamily="34" charset="0"/>
                <a:cs typeface="Arial" panose="020B0604020202020204" pitchFamily="34" charset="0"/>
                <a:sym typeface="Arial" panose="020B0604020202020204" pitchFamily="34" charset="0"/>
              </a:rPr>
              <a:t> Stardust spacecraft was blinded by a solar flare</a:t>
            </a:r>
          </a:p>
        </p:txBody>
      </p:sp>
      <p:pic>
        <p:nvPicPr>
          <p:cNvPr id="54279"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7783" y="3367307"/>
            <a:ext cx="1393031" cy="1741289"/>
          </a:xfrm>
          <a:prstGeom prst="rect">
            <a:avLst/>
          </a:prstGeom>
          <a:noFill/>
          <a:ln>
            <a:noFill/>
          </a:ln>
          <a:effectLst>
            <a:outerShdw blurRad="63500" dist="38099" dir="5400000" algn="ctr" rotWithShape="0">
              <a:srgbClr val="000000">
                <a:alpha val="7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flat">
                <a:solidFill>
                  <a:schemeClr val="tx1"/>
                </a:solidFill>
                <a:miter lim="800000"/>
                <a:headEnd/>
                <a:tailEnd/>
              </a14:hiddenLine>
            </a:ext>
          </a:extLst>
        </p:spPr>
      </p:pic>
      <p:pic>
        <p:nvPicPr>
          <p:cNvPr id="54280"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63445" y="4409848"/>
            <a:ext cx="1285875" cy="1620738"/>
          </a:xfrm>
          <a:prstGeom prst="rect">
            <a:avLst/>
          </a:prstGeom>
          <a:noFill/>
          <a:ln>
            <a:noFill/>
          </a:ln>
          <a:effectLst>
            <a:outerShdw blurRad="63500" dist="38099" dir="5400000" algn="ctr" rotWithShape="0">
              <a:srgbClr val="000000">
                <a:alpha val="7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flat">
                <a:solidFill>
                  <a:schemeClr val="tx1"/>
                </a:solidFill>
                <a:miter lim="800000"/>
                <a:headEnd/>
                <a:tailEnd/>
              </a14:hiddenLine>
            </a:ext>
          </a:extLst>
        </p:spPr>
      </p:pic>
      <p:sp>
        <p:nvSpPr>
          <p:cNvPr id="12" name="Rectangle 72"/>
          <p:cNvSpPr>
            <a:spLocks/>
          </p:cNvSpPr>
          <p:nvPr/>
        </p:nvSpPr>
        <p:spPr bwMode="auto">
          <a:xfrm>
            <a:off x="3204757" y="6333626"/>
            <a:ext cx="530670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40640" bIns="0"/>
          <a:lstStyle>
            <a:lvl1pPr marL="57150">
              <a:defRPr sz="1200">
                <a:solidFill>
                  <a:schemeClr val="tx1"/>
                </a:solidFill>
                <a:latin typeface="Times New Roman" panose="02020603050405020304" pitchFamily="18" charset="0"/>
              </a:defRPr>
            </a:lvl1pPr>
            <a:lvl2pPr>
              <a:defRPr sz="1200">
                <a:solidFill>
                  <a:schemeClr val="tx1"/>
                </a:solidFill>
                <a:latin typeface="Times New Roman" panose="02020603050405020304" pitchFamily="18" charset="0"/>
              </a:defRPr>
            </a:lvl2pPr>
            <a:lvl3pPr>
              <a:defRPr sz="1200">
                <a:solidFill>
                  <a:schemeClr val="tx1"/>
                </a:solidFill>
                <a:latin typeface="Times New Roman" panose="02020603050405020304" pitchFamily="18" charset="0"/>
              </a:defRPr>
            </a:lvl3pPr>
            <a:lvl4pPr>
              <a:defRPr sz="1200">
                <a:solidFill>
                  <a:schemeClr val="tx1"/>
                </a:solidFill>
                <a:latin typeface="Times New Roman" panose="02020603050405020304" pitchFamily="18" charset="0"/>
              </a:defRPr>
            </a:lvl4pPr>
            <a:lvl5pPr>
              <a:defRPr sz="1200">
                <a:solidFill>
                  <a:schemeClr val="tx1"/>
                </a:solidFill>
                <a:latin typeface="Times New Roman" panose="02020603050405020304" pitchFamily="18" charset="0"/>
              </a:defRPr>
            </a:lvl5pPr>
            <a:lvl6pPr fontAlgn="base">
              <a:spcBef>
                <a:spcPct val="0"/>
              </a:spcBef>
              <a:spcAft>
                <a:spcPct val="0"/>
              </a:spcAft>
              <a:defRPr sz="1200">
                <a:solidFill>
                  <a:schemeClr val="tx1"/>
                </a:solidFill>
                <a:latin typeface="Times New Roman" panose="02020603050405020304" pitchFamily="18" charset="0"/>
              </a:defRPr>
            </a:lvl6pPr>
            <a:lvl7pPr fontAlgn="base">
              <a:spcBef>
                <a:spcPct val="0"/>
              </a:spcBef>
              <a:spcAft>
                <a:spcPct val="0"/>
              </a:spcAft>
              <a:defRPr sz="1200">
                <a:solidFill>
                  <a:schemeClr val="tx1"/>
                </a:solidFill>
                <a:latin typeface="Times New Roman" panose="02020603050405020304" pitchFamily="18" charset="0"/>
              </a:defRPr>
            </a:lvl7pPr>
            <a:lvl8pPr fontAlgn="base">
              <a:spcBef>
                <a:spcPct val="0"/>
              </a:spcBef>
              <a:spcAft>
                <a:spcPct val="0"/>
              </a:spcAft>
              <a:defRPr sz="1200">
                <a:solidFill>
                  <a:schemeClr val="tx1"/>
                </a:solidFill>
                <a:latin typeface="Times New Roman" panose="02020603050405020304" pitchFamily="18" charset="0"/>
              </a:defRPr>
            </a:lvl8pPr>
            <a:lvl9pPr fontAlgn="base">
              <a:spcBef>
                <a:spcPct val="0"/>
              </a:spcBef>
              <a:spcAft>
                <a:spcPct val="0"/>
              </a:spcAft>
              <a:defRPr sz="1200">
                <a:solidFill>
                  <a:schemeClr val="tx1"/>
                </a:solidFill>
                <a:latin typeface="Times New Roman" panose="02020603050405020304" pitchFamily="18" charset="0"/>
              </a:defRPr>
            </a:lvl9pPr>
          </a:lstStyle>
          <a:p>
            <a:pPr algn="r"/>
            <a:r>
              <a:rPr lang="en-US" altLang="en-US" sz="1266">
                <a:latin typeface="Arial" panose="020B0604020202020204" pitchFamily="34" charset="0"/>
                <a:cs typeface="Arial" panose="020B0604020202020204" pitchFamily="34" charset="0"/>
                <a:sym typeface="Arial" panose="020B0604020202020204" pitchFamily="34" charset="0"/>
              </a:rPr>
              <a:t>Adapted from Designing Space Missions and Systems,</a:t>
            </a:r>
          </a:p>
          <a:p>
            <a:pPr algn="r"/>
            <a:r>
              <a:rPr lang="en-US" altLang="en-US" sz="1266">
                <a:latin typeface="Arial" panose="020B0604020202020204" pitchFamily="34" charset="0"/>
                <a:cs typeface="Arial" panose="020B0604020202020204" pitchFamily="34" charset="0"/>
                <a:sym typeface="Arial" panose="020B0604020202020204" pitchFamily="34" charset="0"/>
              </a:rPr>
              <a:t>Teaching Science and Technology, </a:t>
            </a:r>
            <a:r>
              <a:rPr lang="en-US" altLang="en-US" sz="1266" err="1">
                <a:latin typeface="Arial" panose="020B0604020202020204" pitchFamily="34" charset="0"/>
                <a:cs typeface="Arial" panose="020B0604020202020204" pitchFamily="34" charset="0"/>
                <a:sym typeface="Arial" panose="020B0604020202020204" pitchFamily="34" charset="0"/>
              </a:rPr>
              <a:t>Inc</a:t>
            </a:r>
            <a:endParaRPr lang="en-US" altLang="en-US" sz="1266">
              <a:latin typeface="Arial" panose="020B0604020202020204" pitchFamily="34" charset="0"/>
              <a:cs typeface="Arial" panose="020B0604020202020204" pitchFamily="34" charset="0"/>
              <a:sym typeface="Arial" panose="020B0604020202020204" pitchFamily="34" charset="0"/>
            </a:endParaRPr>
          </a:p>
        </p:txBody>
      </p:sp>
      <p:pic>
        <p:nvPicPr>
          <p:cNvPr id="2" name="Picture 1"/>
          <p:cNvPicPr>
            <a:picLocks noChangeAspect="1"/>
          </p:cNvPicPr>
          <p:nvPr/>
        </p:nvPicPr>
        <p:blipFill>
          <a:blip r:embed="rId5"/>
          <a:stretch>
            <a:fillRect/>
          </a:stretch>
        </p:blipFill>
        <p:spPr>
          <a:xfrm>
            <a:off x="5682423" y="852533"/>
            <a:ext cx="3386791" cy="1905070"/>
          </a:xfrm>
          <a:prstGeom prst="rect">
            <a:avLst/>
          </a:prstGeom>
        </p:spPr>
      </p:pic>
    </p:spTree>
    <p:extLst>
      <p:ext uri="{BB962C8B-B14F-4D97-AF65-F5344CB8AC3E}">
        <p14:creationId xmlns:p14="http://schemas.microsoft.com/office/powerpoint/2010/main" val="4086587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Terms</a:t>
            </a:r>
          </a:p>
        </p:txBody>
      </p:sp>
      <p:sp>
        <p:nvSpPr>
          <p:cNvPr id="3" name="Content Placeholder 2"/>
          <p:cNvSpPr>
            <a:spLocks noGrp="1"/>
          </p:cNvSpPr>
          <p:nvPr>
            <p:ph idx="1"/>
          </p:nvPr>
        </p:nvSpPr>
        <p:spPr>
          <a:xfrm>
            <a:off x="383059" y="3835962"/>
            <a:ext cx="8222547" cy="2112286"/>
          </a:xfrm>
        </p:spPr>
        <p:txBody>
          <a:bodyPr>
            <a:normAutofit lnSpcReduction="10000"/>
          </a:bodyPr>
          <a:lstStyle/>
          <a:p>
            <a:pPr marL="0" indent="0">
              <a:buNone/>
            </a:pPr>
            <a:r>
              <a:rPr lang="en-US" b="1" dirty="0"/>
              <a:t>Hardening</a:t>
            </a:r>
          </a:p>
          <a:p>
            <a:pPr marL="0" indent="0">
              <a:buNone/>
            </a:pPr>
            <a:r>
              <a:rPr lang="en-US" dirty="0"/>
              <a:t>Design choice when building a space system to mitigate the negative impacts of the space environment or potential hostile action                (</a:t>
            </a:r>
            <a:r>
              <a:rPr lang="en-US" dirty="0" err="1"/>
              <a:t>eg</a:t>
            </a:r>
            <a:r>
              <a:rPr lang="en-US" dirty="0"/>
              <a:t>: shielding, filtering, </a:t>
            </a:r>
            <a:r>
              <a:rPr lang="en-US" dirty="0" err="1"/>
              <a:t>etc</a:t>
            </a:r>
            <a:r>
              <a:rPr lang="en-US" dirty="0"/>
              <a:t>)</a:t>
            </a:r>
          </a:p>
        </p:txBody>
      </p:sp>
      <p:sp>
        <p:nvSpPr>
          <p:cNvPr id="4" name="Slide Number Placeholder 3"/>
          <p:cNvSpPr>
            <a:spLocks noGrp="1"/>
          </p:cNvSpPr>
          <p:nvPr>
            <p:ph type="sldNum" sz="quarter" idx="12"/>
          </p:nvPr>
        </p:nvSpPr>
        <p:spPr/>
        <p:txBody>
          <a:bodyPr/>
          <a:lstStyle/>
          <a:p>
            <a:fld id="{04EF813A-C95A-49A4-BB2C-19388EC38802}" type="slidenum">
              <a:rPr lang="en-US" smtClean="0"/>
              <a:t>3</a:t>
            </a:fld>
            <a:endParaRPr lang="en-US"/>
          </a:p>
        </p:txBody>
      </p:sp>
      <p:sp>
        <p:nvSpPr>
          <p:cNvPr id="5" name="Title 1"/>
          <p:cNvSpPr txBox="1">
            <a:spLocks/>
          </p:cNvSpPr>
          <p:nvPr/>
        </p:nvSpPr>
        <p:spPr>
          <a:xfrm>
            <a:off x="718906" y="3366408"/>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Times New Roman" panose="02020603050405020304" pitchFamily="18" charset="0"/>
              </a:defRPr>
            </a:lvl1pPr>
          </a:lstStyle>
          <a:p>
            <a:endParaRPr lang="en-US" dirty="0"/>
          </a:p>
        </p:txBody>
      </p:sp>
      <p:sp>
        <p:nvSpPr>
          <p:cNvPr id="6" name="Content Placeholder 2"/>
          <p:cNvSpPr txBox="1">
            <a:spLocks/>
          </p:cNvSpPr>
          <p:nvPr/>
        </p:nvSpPr>
        <p:spPr>
          <a:xfrm>
            <a:off x="383059" y="1372972"/>
            <a:ext cx="7886700" cy="1405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Segoe UI" panose="020B0502040204020203" pitchFamily="34" charset="0"/>
                <a:cs typeface="Segoe UI" panose="020B0502040204020203" pitchFamily="34" charset="0"/>
              </a:rPr>
              <a:t>Survivability</a:t>
            </a:r>
          </a:p>
          <a:p>
            <a:pPr marL="0" indent="0">
              <a:buNone/>
            </a:pPr>
            <a:r>
              <a:rPr lang="en-US" dirty="0">
                <a:latin typeface="Segoe UI" panose="020B0502040204020203" pitchFamily="34" charset="0"/>
                <a:cs typeface="Segoe UI" panose="020B0502040204020203" pitchFamily="34" charset="0"/>
              </a:rPr>
              <a:t>Ability of space system to perform its mission after being exposed to a stressing environment or hostile action</a:t>
            </a:r>
          </a:p>
        </p:txBody>
      </p:sp>
    </p:spTree>
    <p:extLst>
      <p:ext uri="{BB962C8B-B14F-4D97-AF65-F5344CB8AC3E}">
        <p14:creationId xmlns:p14="http://schemas.microsoft.com/office/powerpoint/2010/main" val="1250796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Space Environmental Influences</a:t>
            </a:r>
          </a:p>
        </p:txBody>
      </p:sp>
      <p:sp>
        <p:nvSpPr>
          <p:cNvPr id="3" name="Content Placeholder 2"/>
          <p:cNvSpPr>
            <a:spLocks noGrp="1"/>
          </p:cNvSpPr>
          <p:nvPr>
            <p:ph idx="1"/>
          </p:nvPr>
        </p:nvSpPr>
        <p:spPr>
          <a:xfrm>
            <a:off x="200025" y="1124465"/>
            <a:ext cx="8793015" cy="5340642"/>
          </a:xfrm>
        </p:spPr>
        <p:txBody>
          <a:bodyPr>
            <a:normAutofit lnSpcReduction="10000"/>
          </a:bodyPr>
          <a:lstStyle/>
          <a:p>
            <a:pPr marL="0" indent="0">
              <a:buNone/>
            </a:pPr>
            <a:r>
              <a:rPr lang="en-US" b="1" dirty="0">
                <a:solidFill>
                  <a:srgbClr val="FF0000"/>
                </a:solidFill>
              </a:rPr>
              <a:t>Microgravity</a:t>
            </a:r>
          </a:p>
          <a:p>
            <a:pPr marL="0" indent="0">
              <a:buNone/>
            </a:pPr>
            <a:endParaRPr lang="en-US" b="1" dirty="0"/>
          </a:p>
          <a:p>
            <a:pPr marL="0" indent="0">
              <a:buNone/>
            </a:pPr>
            <a:r>
              <a:rPr lang="en-US" b="1" dirty="0">
                <a:solidFill>
                  <a:srgbClr val="00B050"/>
                </a:solidFill>
              </a:rPr>
              <a:t>Vacuum</a:t>
            </a:r>
          </a:p>
          <a:p>
            <a:pPr marL="0" indent="0">
              <a:buNone/>
            </a:pPr>
            <a:endParaRPr lang="en-US" b="1" dirty="0"/>
          </a:p>
          <a:p>
            <a:pPr marL="0" indent="0">
              <a:buNone/>
            </a:pPr>
            <a:r>
              <a:rPr lang="en-US" b="1" dirty="0">
                <a:solidFill>
                  <a:srgbClr val="00B0F0"/>
                </a:solidFill>
              </a:rPr>
              <a:t>Atmosphere</a:t>
            </a:r>
          </a:p>
          <a:p>
            <a:pPr marL="0" indent="0">
              <a:buNone/>
            </a:pPr>
            <a:endParaRPr lang="en-US" b="1" dirty="0"/>
          </a:p>
          <a:p>
            <a:pPr marL="0" indent="0">
              <a:buNone/>
            </a:pPr>
            <a:r>
              <a:rPr lang="en-US" b="1" dirty="0">
                <a:solidFill>
                  <a:srgbClr val="7030A0"/>
                </a:solidFill>
              </a:rPr>
              <a:t>Plasma</a:t>
            </a:r>
          </a:p>
          <a:p>
            <a:pPr marL="0" indent="0">
              <a:buNone/>
            </a:pPr>
            <a:endParaRPr lang="en-US" b="1" dirty="0"/>
          </a:p>
          <a:p>
            <a:pPr marL="0" indent="0">
              <a:buNone/>
            </a:pPr>
            <a:r>
              <a:rPr lang="en-US" b="1" dirty="0">
                <a:solidFill>
                  <a:schemeClr val="accent1"/>
                </a:solidFill>
              </a:rPr>
              <a:t>Radiation</a:t>
            </a:r>
          </a:p>
          <a:p>
            <a:pPr marL="0" indent="0">
              <a:buNone/>
            </a:pPr>
            <a:endParaRPr lang="en-US" b="1" dirty="0"/>
          </a:p>
          <a:p>
            <a:pPr marL="0" indent="0">
              <a:buNone/>
            </a:pPr>
            <a:r>
              <a:rPr lang="en-US" b="1" dirty="0" err="1">
                <a:solidFill>
                  <a:schemeClr val="accent2">
                    <a:lumMod val="75000"/>
                  </a:schemeClr>
                </a:solidFill>
              </a:rPr>
              <a:t>Micrometeroids</a:t>
            </a:r>
            <a:r>
              <a:rPr lang="en-US" b="1" dirty="0">
                <a:solidFill>
                  <a:schemeClr val="accent2">
                    <a:lumMod val="75000"/>
                  </a:schemeClr>
                </a:solidFill>
              </a:rPr>
              <a:t> &amp; Orbital Debris</a:t>
            </a:r>
          </a:p>
        </p:txBody>
      </p:sp>
      <p:sp>
        <p:nvSpPr>
          <p:cNvPr id="4" name="Slide Number Placeholder 3"/>
          <p:cNvSpPr>
            <a:spLocks noGrp="1"/>
          </p:cNvSpPr>
          <p:nvPr>
            <p:ph type="sldNum" sz="quarter" idx="12"/>
          </p:nvPr>
        </p:nvSpPr>
        <p:spPr/>
        <p:txBody>
          <a:bodyPr/>
          <a:lstStyle/>
          <a:p>
            <a:fld id="{04EF813A-C95A-49A4-BB2C-19388EC38802}" type="slidenum">
              <a:rPr lang="en-US" smtClean="0"/>
              <a:t>4</a:t>
            </a:fld>
            <a:endParaRPr lang="en-US"/>
          </a:p>
        </p:txBody>
      </p:sp>
    </p:spTree>
    <p:extLst>
      <p:ext uri="{BB962C8B-B14F-4D97-AF65-F5344CB8AC3E}">
        <p14:creationId xmlns:p14="http://schemas.microsoft.com/office/powerpoint/2010/main" val="4261757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fade">
                                      <p:cBhvr>
                                        <p:cTn id="19" dur="500"/>
                                        <p:tgtEl>
                                          <p:spTgt spid="3">
                                            <p:txEl>
                                              <p:pRg st="8" end="8"/>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10" end="10"/>
                                            </p:txEl>
                                          </p:spTgt>
                                        </p:tgtEl>
                                        <p:attrNameLst>
                                          <p:attrName>style.visibility</p:attrName>
                                        </p:attrNameLst>
                                      </p:cBhvr>
                                      <p:to>
                                        <p:strVal val="visible"/>
                                      </p:to>
                                    </p:set>
                                    <p:animEffect transition="in" filter="fade">
                                      <p:cBhvr>
                                        <p:cTn id="2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0E0C9F-289D-BE77-3DC0-C717D25CB4F7}"/>
              </a:ext>
            </a:extLst>
          </p:cNvPr>
          <p:cNvSpPr>
            <a:spLocks noGrp="1"/>
          </p:cNvSpPr>
          <p:nvPr>
            <p:ph type="title"/>
          </p:nvPr>
        </p:nvSpPr>
        <p:spPr/>
        <p:txBody>
          <a:bodyPr/>
          <a:lstStyle/>
          <a:p>
            <a:r>
              <a:rPr lang="en-US" dirty="0">
                <a:solidFill>
                  <a:srgbClr val="FF0000"/>
                </a:solidFill>
              </a:rPr>
              <a:t>Microgravity</a:t>
            </a:r>
          </a:p>
        </p:txBody>
      </p:sp>
      <p:sp>
        <p:nvSpPr>
          <p:cNvPr id="4" name="Slide Number Placeholder 3">
            <a:extLst>
              <a:ext uri="{FF2B5EF4-FFF2-40B4-BE49-F238E27FC236}">
                <a16:creationId xmlns:a16="http://schemas.microsoft.com/office/drawing/2014/main" id="{9ABE7511-62EC-1627-8925-A776C0292747}"/>
              </a:ext>
            </a:extLst>
          </p:cNvPr>
          <p:cNvSpPr>
            <a:spLocks noGrp="1"/>
          </p:cNvSpPr>
          <p:nvPr>
            <p:ph type="sldNum" sz="quarter" idx="12"/>
          </p:nvPr>
        </p:nvSpPr>
        <p:spPr/>
        <p:txBody>
          <a:bodyPr/>
          <a:lstStyle/>
          <a:p>
            <a:fld id="{9A3029B7-FE6B-4680-9049-80E8298A0825}" type="slidenum">
              <a:rPr lang="en-US" smtClean="0"/>
              <a:t>5</a:t>
            </a:fld>
            <a:endParaRPr lang="en-US"/>
          </a:p>
        </p:txBody>
      </p:sp>
    </p:spTree>
    <p:extLst>
      <p:ext uri="{BB962C8B-B14F-4D97-AF65-F5344CB8AC3E}">
        <p14:creationId xmlns:p14="http://schemas.microsoft.com/office/powerpoint/2010/main" val="1051184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Microgravity</a:t>
            </a:r>
          </a:p>
        </p:txBody>
      </p:sp>
      <p:sp>
        <p:nvSpPr>
          <p:cNvPr id="3" name="Content Placeholder 2"/>
          <p:cNvSpPr>
            <a:spLocks noGrp="1"/>
          </p:cNvSpPr>
          <p:nvPr>
            <p:ph idx="1"/>
          </p:nvPr>
        </p:nvSpPr>
        <p:spPr>
          <a:xfrm>
            <a:off x="121186" y="1002535"/>
            <a:ext cx="9022814" cy="5445399"/>
          </a:xfrm>
        </p:spPr>
        <p:txBody>
          <a:bodyPr>
            <a:normAutofit fontScale="92500" lnSpcReduction="10000"/>
          </a:bodyPr>
          <a:lstStyle/>
          <a:p>
            <a:pPr marL="0" indent="0">
              <a:buNone/>
            </a:pPr>
            <a:r>
              <a:rPr lang="en-US" b="1" dirty="0">
                <a:solidFill>
                  <a:srgbClr val="FF0000"/>
                </a:solidFill>
              </a:rPr>
              <a:t>Source</a:t>
            </a:r>
            <a:r>
              <a:rPr lang="en-US" dirty="0">
                <a:solidFill>
                  <a:srgbClr val="FF0000"/>
                </a:solidFill>
              </a:rPr>
              <a:t>: </a:t>
            </a:r>
          </a:p>
          <a:p>
            <a:pPr lvl="1"/>
            <a:r>
              <a:rPr lang="en-US" dirty="0">
                <a:solidFill>
                  <a:srgbClr val="FF0000"/>
                </a:solidFill>
              </a:rPr>
              <a:t>Spacecraft is in free fall, where it is continuously falling through space where the forward velocity of the spacecraft is enough to match the velocity that would pull the spacecraft back toward the Earth’s surface</a:t>
            </a:r>
          </a:p>
          <a:p>
            <a:pPr lvl="1"/>
            <a:endParaRPr lang="en-US" dirty="0">
              <a:solidFill>
                <a:srgbClr val="FF0000"/>
              </a:solidFill>
            </a:endParaRPr>
          </a:p>
          <a:p>
            <a:pPr marL="0" indent="0">
              <a:buNone/>
            </a:pPr>
            <a:r>
              <a:rPr lang="en-US" b="1" dirty="0">
                <a:solidFill>
                  <a:srgbClr val="FF0000"/>
                </a:solidFill>
              </a:rPr>
              <a:t>Effects on spacecraft:</a:t>
            </a:r>
          </a:p>
          <a:p>
            <a:pPr lvl="1"/>
            <a:r>
              <a:rPr lang="en-US" dirty="0">
                <a:solidFill>
                  <a:srgbClr val="FF0000"/>
                </a:solidFill>
              </a:rPr>
              <a:t>Fluid containment is a challenge</a:t>
            </a:r>
          </a:p>
          <a:p>
            <a:pPr lvl="1"/>
            <a:r>
              <a:rPr lang="en-US" dirty="0">
                <a:solidFill>
                  <a:srgbClr val="FF0000"/>
                </a:solidFill>
              </a:rPr>
              <a:t>All articles must be secured</a:t>
            </a:r>
          </a:p>
          <a:p>
            <a:pPr lvl="1"/>
            <a:r>
              <a:rPr lang="en-US" dirty="0">
                <a:solidFill>
                  <a:srgbClr val="FF0000"/>
                </a:solidFill>
              </a:rPr>
              <a:t>Allows uniform mixing of solutions</a:t>
            </a:r>
          </a:p>
          <a:p>
            <a:pPr lvl="1"/>
            <a:r>
              <a:rPr lang="en-US" dirty="0">
                <a:solidFill>
                  <a:srgbClr val="FF0000"/>
                </a:solidFill>
              </a:rPr>
              <a:t>Allows opportunity for new manufacturing techniques</a:t>
            </a:r>
          </a:p>
          <a:p>
            <a:pPr lvl="1"/>
            <a:endParaRPr lang="en-US" dirty="0">
              <a:solidFill>
                <a:srgbClr val="FF0000"/>
              </a:solidFill>
            </a:endParaRPr>
          </a:p>
          <a:p>
            <a:pPr marL="0" indent="0">
              <a:buNone/>
            </a:pPr>
            <a:r>
              <a:rPr lang="en-US" b="1" dirty="0">
                <a:solidFill>
                  <a:srgbClr val="FF0000"/>
                </a:solidFill>
              </a:rPr>
              <a:t>Strategies to mitigate effects:</a:t>
            </a:r>
          </a:p>
          <a:p>
            <a:pPr lvl="1"/>
            <a:r>
              <a:rPr lang="en-US" dirty="0">
                <a:solidFill>
                  <a:srgbClr val="FF0000"/>
                </a:solidFill>
              </a:rPr>
              <a:t>Pressurize liquids/gases in containers</a:t>
            </a:r>
          </a:p>
          <a:p>
            <a:pPr lvl="1"/>
            <a:r>
              <a:rPr lang="en-US" dirty="0">
                <a:solidFill>
                  <a:srgbClr val="FF0000"/>
                </a:solidFill>
              </a:rPr>
              <a:t>Secure all components</a:t>
            </a:r>
          </a:p>
        </p:txBody>
      </p:sp>
      <p:sp>
        <p:nvSpPr>
          <p:cNvPr id="4" name="Slide Number Placeholder 3"/>
          <p:cNvSpPr>
            <a:spLocks noGrp="1"/>
          </p:cNvSpPr>
          <p:nvPr>
            <p:ph type="sldNum" sz="quarter" idx="12"/>
          </p:nvPr>
        </p:nvSpPr>
        <p:spPr/>
        <p:txBody>
          <a:bodyPr/>
          <a:lstStyle/>
          <a:p>
            <a:fld id="{04EF813A-C95A-49A4-BB2C-19388EC38802}" type="slidenum">
              <a:rPr lang="en-US" smtClean="0"/>
              <a:t>6</a:t>
            </a:fld>
            <a:endParaRPr lang="en-US"/>
          </a:p>
        </p:txBody>
      </p:sp>
    </p:spTree>
    <p:extLst>
      <p:ext uri="{BB962C8B-B14F-4D97-AF65-F5344CB8AC3E}">
        <p14:creationId xmlns:p14="http://schemas.microsoft.com/office/powerpoint/2010/main" val="3301423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11" end="11"/>
                                            </p:txEl>
                                          </p:spTgt>
                                        </p:tgtEl>
                                        <p:attrNameLst>
                                          <p:attrName>style.visibility</p:attrName>
                                        </p:attrNameLst>
                                      </p:cBhvr>
                                      <p:to>
                                        <p:strVal val="visible"/>
                                      </p:to>
                                    </p:set>
                                    <p:animEffect transition="in" filter="fade">
                                      <p:cBhvr>
                                        <p:cTn id="30"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CCA43-939D-B6F2-1532-2E074721CC1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1E51EBC-690A-73EF-93D8-F01D8016B829}"/>
              </a:ext>
            </a:extLst>
          </p:cNvPr>
          <p:cNvSpPr>
            <a:spLocks noGrp="1"/>
          </p:cNvSpPr>
          <p:nvPr>
            <p:ph type="title"/>
          </p:nvPr>
        </p:nvSpPr>
        <p:spPr/>
        <p:txBody>
          <a:bodyPr/>
          <a:lstStyle/>
          <a:p>
            <a:r>
              <a:rPr lang="en-US" dirty="0">
                <a:solidFill>
                  <a:srgbClr val="00B050"/>
                </a:solidFill>
              </a:rPr>
              <a:t>Vacuum </a:t>
            </a:r>
          </a:p>
        </p:txBody>
      </p:sp>
      <p:sp>
        <p:nvSpPr>
          <p:cNvPr id="4" name="Slide Number Placeholder 3">
            <a:extLst>
              <a:ext uri="{FF2B5EF4-FFF2-40B4-BE49-F238E27FC236}">
                <a16:creationId xmlns:a16="http://schemas.microsoft.com/office/drawing/2014/main" id="{A095AABD-090B-A23F-FE9E-C6167A4A89D1}"/>
              </a:ext>
            </a:extLst>
          </p:cNvPr>
          <p:cNvSpPr>
            <a:spLocks noGrp="1"/>
          </p:cNvSpPr>
          <p:nvPr>
            <p:ph type="sldNum" sz="quarter" idx="12"/>
          </p:nvPr>
        </p:nvSpPr>
        <p:spPr/>
        <p:txBody>
          <a:bodyPr/>
          <a:lstStyle/>
          <a:p>
            <a:fld id="{9A3029B7-FE6B-4680-9049-80E8298A0825}" type="slidenum">
              <a:rPr lang="en-US" smtClean="0"/>
              <a:t>7</a:t>
            </a:fld>
            <a:endParaRPr lang="en-US"/>
          </a:p>
        </p:txBody>
      </p:sp>
    </p:spTree>
    <p:extLst>
      <p:ext uri="{BB962C8B-B14F-4D97-AF65-F5344CB8AC3E}">
        <p14:creationId xmlns:p14="http://schemas.microsoft.com/office/powerpoint/2010/main" val="4083658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00B050"/>
                </a:solidFill>
              </a:rPr>
              <a:t>Vacuum</a:t>
            </a:r>
          </a:p>
        </p:txBody>
      </p:sp>
      <p:sp>
        <p:nvSpPr>
          <p:cNvPr id="3" name="Content Placeholder 2"/>
          <p:cNvSpPr>
            <a:spLocks noGrp="1"/>
          </p:cNvSpPr>
          <p:nvPr>
            <p:ph idx="1"/>
          </p:nvPr>
        </p:nvSpPr>
        <p:spPr>
          <a:xfrm>
            <a:off x="143218" y="1112704"/>
            <a:ext cx="9000781" cy="5608771"/>
          </a:xfrm>
        </p:spPr>
        <p:txBody>
          <a:bodyPr>
            <a:normAutofit fontScale="92500" lnSpcReduction="10000"/>
          </a:bodyPr>
          <a:lstStyle/>
          <a:p>
            <a:pPr marL="0" indent="0">
              <a:buNone/>
            </a:pPr>
            <a:r>
              <a:rPr lang="en-US" b="1" dirty="0">
                <a:solidFill>
                  <a:srgbClr val="00B050"/>
                </a:solidFill>
              </a:rPr>
              <a:t>Source</a:t>
            </a:r>
            <a:r>
              <a:rPr lang="en-US" dirty="0">
                <a:solidFill>
                  <a:srgbClr val="00B050"/>
                </a:solidFill>
              </a:rPr>
              <a:t>: </a:t>
            </a:r>
          </a:p>
          <a:p>
            <a:pPr lvl="1"/>
            <a:r>
              <a:rPr lang="en-US" dirty="0">
                <a:solidFill>
                  <a:srgbClr val="00B050"/>
                </a:solidFill>
              </a:rPr>
              <a:t>No air in space</a:t>
            </a:r>
          </a:p>
          <a:p>
            <a:pPr lvl="1"/>
            <a:endParaRPr lang="en-US" dirty="0">
              <a:solidFill>
                <a:srgbClr val="00B050"/>
              </a:solidFill>
            </a:endParaRPr>
          </a:p>
          <a:p>
            <a:pPr marL="0" indent="0">
              <a:buNone/>
            </a:pPr>
            <a:r>
              <a:rPr lang="en-US" b="1" dirty="0">
                <a:solidFill>
                  <a:srgbClr val="00B050"/>
                </a:solidFill>
              </a:rPr>
              <a:t>Effects on spacecraft</a:t>
            </a:r>
            <a:r>
              <a:rPr lang="en-US" dirty="0">
                <a:solidFill>
                  <a:srgbClr val="00B050"/>
                </a:solidFill>
              </a:rPr>
              <a:t>:</a:t>
            </a:r>
          </a:p>
          <a:p>
            <a:pPr lvl="1"/>
            <a:r>
              <a:rPr lang="en-US" dirty="0">
                <a:solidFill>
                  <a:srgbClr val="00B050"/>
                </a:solidFill>
              </a:rPr>
              <a:t>UV radiation causes coating and materials to degrade</a:t>
            </a:r>
          </a:p>
          <a:p>
            <a:pPr lvl="1"/>
            <a:r>
              <a:rPr lang="en-US" dirty="0">
                <a:solidFill>
                  <a:srgbClr val="00B050"/>
                </a:solidFill>
              </a:rPr>
              <a:t>Outgassing: spurious release of molecules that contaminate surfaces</a:t>
            </a:r>
          </a:p>
          <a:p>
            <a:pPr lvl="1"/>
            <a:r>
              <a:rPr lang="en-US" dirty="0">
                <a:solidFill>
                  <a:srgbClr val="00B050"/>
                </a:solidFill>
              </a:rPr>
              <a:t>Cold welding: unintended material bonding when the atmosphere between surfaces is absent</a:t>
            </a:r>
          </a:p>
          <a:p>
            <a:pPr lvl="1"/>
            <a:endParaRPr lang="en-US" dirty="0">
              <a:solidFill>
                <a:srgbClr val="00B050"/>
              </a:solidFill>
            </a:endParaRPr>
          </a:p>
          <a:p>
            <a:pPr marL="0" indent="0">
              <a:buNone/>
            </a:pPr>
            <a:r>
              <a:rPr lang="en-US" b="1" dirty="0">
                <a:solidFill>
                  <a:srgbClr val="00B050"/>
                </a:solidFill>
              </a:rPr>
              <a:t>Strategies to mitigate effects</a:t>
            </a:r>
            <a:r>
              <a:rPr lang="en-US" dirty="0">
                <a:solidFill>
                  <a:srgbClr val="00B050"/>
                </a:solidFill>
              </a:rPr>
              <a:t>:</a:t>
            </a:r>
          </a:p>
          <a:p>
            <a:pPr lvl="1"/>
            <a:r>
              <a:rPr lang="en-US" dirty="0">
                <a:solidFill>
                  <a:srgbClr val="00B050"/>
                </a:solidFill>
              </a:rPr>
              <a:t>Use coatings that protect against UV radiation and do not outgas</a:t>
            </a:r>
          </a:p>
          <a:p>
            <a:pPr lvl="1"/>
            <a:r>
              <a:rPr lang="en-US" dirty="0">
                <a:solidFill>
                  <a:srgbClr val="00B050"/>
                </a:solidFill>
              </a:rPr>
              <a:t>Vent propellant/gas away from sensitive surfaces</a:t>
            </a:r>
          </a:p>
          <a:p>
            <a:pPr lvl="1"/>
            <a:r>
              <a:rPr lang="en-US" dirty="0">
                <a:solidFill>
                  <a:srgbClr val="00B050"/>
                </a:solidFill>
              </a:rPr>
              <a:t>Don’t put metal objects that are vulnerable to cold welding near each other</a:t>
            </a:r>
          </a:p>
          <a:p>
            <a:pPr lvl="1"/>
            <a:r>
              <a:rPr lang="en-US" dirty="0">
                <a:solidFill>
                  <a:srgbClr val="00B050"/>
                </a:solidFill>
              </a:rPr>
              <a:t>Vacuum bake-out on ground</a:t>
            </a:r>
          </a:p>
          <a:p>
            <a:endParaRPr lang="en-US" dirty="0">
              <a:solidFill>
                <a:srgbClr val="00B050"/>
              </a:solidFill>
            </a:endParaRPr>
          </a:p>
        </p:txBody>
      </p:sp>
      <p:sp>
        <p:nvSpPr>
          <p:cNvPr id="4" name="Slide Number Placeholder 3"/>
          <p:cNvSpPr>
            <a:spLocks noGrp="1"/>
          </p:cNvSpPr>
          <p:nvPr>
            <p:ph type="sldNum" sz="quarter" idx="12"/>
          </p:nvPr>
        </p:nvSpPr>
        <p:spPr/>
        <p:txBody>
          <a:bodyPr/>
          <a:lstStyle/>
          <a:p>
            <a:fld id="{04EF813A-C95A-49A4-BB2C-19388EC38802}" type="slidenum">
              <a:rPr lang="en-US" smtClean="0"/>
              <a:t>8</a:t>
            </a:fld>
            <a:endParaRPr lang="en-US"/>
          </a:p>
        </p:txBody>
      </p:sp>
    </p:spTree>
    <p:extLst>
      <p:ext uri="{BB962C8B-B14F-4D97-AF65-F5344CB8AC3E}">
        <p14:creationId xmlns:p14="http://schemas.microsoft.com/office/powerpoint/2010/main" val="522818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11" end="11"/>
                                            </p:txEl>
                                          </p:spTgt>
                                        </p:tgtEl>
                                        <p:attrNameLst>
                                          <p:attrName>style.visibility</p:attrName>
                                        </p:attrNameLst>
                                      </p:cBhvr>
                                      <p:to>
                                        <p:strVal val="visible"/>
                                      </p:to>
                                    </p:set>
                                    <p:animEffect transition="in" filter="fade">
                                      <p:cBhvr>
                                        <p:cTn id="30" dur="500"/>
                                        <p:tgtEl>
                                          <p:spTgt spid="3">
                                            <p:txEl>
                                              <p:pRg st="11" end="11"/>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animEffect transition="in" filter="fade">
                                      <p:cBhvr>
                                        <p:cTn id="33"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4A98E-E707-A76C-A39C-477F21CB2F3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FEF2F40-8EDB-CDFF-3D99-4E1DE1C36245}"/>
              </a:ext>
            </a:extLst>
          </p:cNvPr>
          <p:cNvSpPr>
            <a:spLocks noGrp="1"/>
          </p:cNvSpPr>
          <p:nvPr>
            <p:ph type="title"/>
          </p:nvPr>
        </p:nvSpPr>
        <p:spPr/>
        <p:txBody>
          <a:bodyPr/>
          <a:lstStyle/>
          <a:p>
            <a:r>
              <a:rPr lang="en-US" dirty="0">
                <a:solidFill>
                  <a:srgbClr val="00B0F0"/>
                </a:solidFill>
              </a:rPr>
              <a:t>Atmosphere</a:t>
            </a:r>
            <a:r>
              <a:rPr lang="en-US" dirty="0">
                <a:solidFill>
                  <a:srgbClr val="00B050"/>
                </a:solidFill>
              </a:rPr>
              <a:t> </a:t>
            </a:r>
          </a:p>
        </p:txBody>
      </p:sp>
      <p:sp>
        <p:nvSpPr>
          <p:cNvPr id="4" name="Slide Number Placeholder 3">
            <a:extLst>
              <a:ext uri="{FF2B5EF4-FFF2-40B4-BE49-F238E27FC236}">
                <a16:creationId xmlns:a16="http://schemas.microsoft.com/office/drawing/2014/main" id="{80E802D4-E00A-A4F6-78C1-B0B11A9781BE}"/>
              </a:ext>
            </a:extLst>
          </p:cNvPr>
          <p:cNvSpPr>
            <a:spLocks noGrp="1"/>
          </p:cNvSpPr>
          <p:nvPr>
            <p:ph type="sldNum" sz="quarter" idx="12"/>
          </p:nvPr>
        </p:nvSpPr>
        <p:spPr/>
        <p:txBody>
          <a:bodyPr/>
          <a:lstStyle/>
          <a:p>
            <a:fld id="{9A3029B7-FE6B-4680-9049-80E8298A0825}" type="slidenum">
              <a:rPr lang="en-US" smtClean="0"/>
              <a:t>9</a:t>
            </a:fld>
            <a:endParaRPr lang="en-US"/>
          </a:p>
        </p:txBody>
      </p:sp>
    </p:spTree>
    <p:extLst>
      <p:ext uri="{BB962C8B-B14F-4D97-AF65-F5344CB8AC3E}">
        <p14:creationId xmlns:p14="http://schemas.microsoft.com/office/powerpoint/2010/main" val="3121527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00B0F0"/>
                </a:solidFill>
              </a:rPr>
              <a:t>Atmosphere (1/3)</a:t>
            </a:r>
          </a:p>
        </p:txBody>
      </p:sp>
      <p:sp>
        <p:nvSpPr>
          <p:cNvPr id="3" name="Content Placeholder 2"/>
          <p:cNvSpPr>
            <a:spLocks noGrp="1"/>
          </p:cNvSpPr>
          <p:nvPr>
            <p:ph idx="1"/>
          </p:nvPr>
        </p:nvSpPr>
        <p:spPr>
          <a:xfrm>
            <a:off x="210065" y="1099752"/>
            <a:ext cx="8305285" cy="5555572"/>
          </a:xfrm>
        </p:spPr>
        <p:txBody>
          <a:bodyPr>
            <a:normAutofit lnSpcReduction="10000"/>
          </a:bodyPr>
          <a:lstStyle/>
          <a:p>
            <a:pPr marL="0" indent="0">
              <a:buNone/>
            </a:pPr>
            <a:r>
              <a:rPr lang="en-US" b="1" dirty="0">
                <a:solidFill>
                  <a:srgbClr val="00B0F0"/>
                </a:solidFill>
              </a:rPr>
              <a:t>Source</a:t>
            </a:r>
            <a:r>
              <a:rPr lang="en-US" dirty="0">
                <a:solidFill>
                  <a:srgbClr val="00B0F0"/>
                </a:solidFill>
              </a:rPr>
              <a:t>: </a:t>
            </a:r>
          </a:p>
          <a:p>
            <a:pPr lvl="1"/>
            <a:r>
              <a:rPr lang="en-US" dirty="0">
                <a:solidFill>
                  <a:srgbClr val="00B0F0"/>
                </a:solidFill>
              </a:rPr>
              <a:t>Particles in air around Earth</a:t>
            </a:r>
          </a:p>
          <a:p>
            <a:pPr lvl="1"/>
            <a:endParaRPr lang="en-US" dirty="0">
              <a:solidFill>
                <a:srgbClr val="00B0F0"/>
              </a:solidFill>
            </a:endParaRPr>
          </a:p>
          <a:p>
            <a:pPr marL="0" indent="0">
              <a:buNone/>
            </a:pPr>
            <a:r>
              <a:rPr lang="en-US" b="1" dirty="0">
                <a:solidFill>
                  <a:srgbClr val="00B0F0"/>
                </a:solidFill>
              </a:rPr>
              <a:t>Effects on spacecraft</a:t>
            </a:r>
            <a:r>
              <a:rPr lang="en-US" dirty="0">
                <a:solidFill>
                  <a:srgbClr val="00B0F0"/>
                </a:solidFill>
              </a:rPr>
              <a:t>:</a:t>
            </a:r>
          </a:p>
          <a:p>
            <a:pPr lvl="1"/>
            <a:r>
              <a:rPr lang="en-US" dirty="0">
                <a:solidFill>
                  <a:srgbClr val="00B0F0"/>
                </a:solidFill>
              </a:rPr>
              <a:t>Atomic oxygen: predominant atmospheric constituent from 200-600 km, forms when UV radiation dissociates molecular oxygen (Fig 8-5)</a:t>
            </a:r>
          </a:p>
          <a:p>
            <a:pPr lvl="1"/>
            <a:r>
              <a:rPr lang="en-US" dirty="0">
                <a:solidFill>
                  <a:srgbClr val="00B0F0"/>
                </a:solidFill>
              </a:rPr>
              <a:t>Atmospheric Drag</a:t>
            </a:r>
          </a:p>
          <a:p>
            <a:pPr lvl="1"/>
            <a:endParaRPr lang="en-US" dirty="0">
              <a:solidFill>
                <a:srgbClr val="00B0F0"/>
              </a:solidFill>
            </a:endParaRPr>
          </a:p>
          <a:p>
            <a:pPr marL="0" indent="0">
              <a:buNone/>
            </a:pPr>
            <a:r>
              <a:rPr lang="en-US" b="1" dirty="0">
                <a:solidFill>
                  <a:srgbClr val="00B0F0"/>
                </a:solidFill>
              </a:rPr>
              <a:t>Strategies to mitigate effects</a:t>
            </a:r>
            <a:r>
              <a:rPr lang="en-US" dirty="0">
                <a:solidFill>
                  <a:srgbClr val="00B0F0"/>
                </a:solidFill>
              </a:rPr>
              <a:t>:</a:t>
            </a:r>
          </a:p>
          <a:p>
            <a:pPr lvl="1"/>
            <a:r>
              <a:rPr lang="en-US" dirty="0">
                <a:solidFill>
                  <a:srgbClr val="00B0F0"/>
                </a:solidFill>
              </a:rPr>
              <a:t>Choose materials resistant to atomic oxygen or use protective coatings</a:t>
            </a:r>
          </a:p>
          <a:p>
            <a:pPr lvl="1"/>
            <a:r>
              <a:rPr lang="en-US" dirty="0">
                <a:solidFill>
                  <a:srgbClr val="00B0F0"/>
                </a:solidFill>
              </a:rPr>
              <a:t>Shield sensitive surfaces, design S/C with low coefficient of drag</a:t>
            </a:r>
          </a:p>
          <a:p>
            <a:pPr lvl="1"/>
            <a:r>
              <a:rPr lang="en-US" dirty="0">
                <a:solidFill>
                  <a:srgbClr val="00B0F0"/>
                </a:solidFill>
              </a:rPr>
              <a:t>Operate at higher altitudes if possible</a:t>
            </a:r>
          </a:p>
          <a:p>
            <a:endParaRPr lang="en-US" dirty="0">
              <a:solidFill>
                <a:srgbClr val="00B0F0"/>
              </a:solidFill>
            </a:endParaRPr>
          </a:p>
        </p:txBody>
      </p:sp>
      <p:sp>
        <p:nvSpPr>
          <p:cNvPr id="4" name="Slide Number Placeholder 3"/>
          <p:cNvSpPr>
            <a:spLocks noGrp="1"/>
          </p:cNvSpPr>
          <p:nvPr>
            <p:ph type="sldNum" sz="quarter" idx="12"/>
          </p:nvPr>
        </p:nvSpPr>
        <p:spPr/>
        <p:txBody>
          <a:bodyPr/>
          <a:lstStyle/>
          <a:p>
            <a:fld id="{04EF813A-C95A-49A4-BB2C-19388EC38802}" type="slidenum">
              <a:rPr lang="en-US" smtClean="0"/>
              <a:t>10</a:t>
            </a:fld>
            <a:endParaRPr lang="en-US"/>
          </a:p>
        </p:txBody>
      </p:sp>
    </p:spTree>
    <p:extLst>
      <p:ext uri="{BB962C8B-B14F-4D97-AF65-F5344CB8AC3E}">
        <p14:creationId xmlns:p14="http://schemas.microsoft.com/office/powerpoint/2010/main" val="133987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fade">
                                      <p:cBhvr>
                                        <p:cTn id="18" dur="500"/>
                                        <p:tgtEl>
                                          <p:spTgt spid="3">
                                            <p:txEl>
                                              <p:pRg st="7" end="7"/>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F0"/>
                </a:solidFill>
              </a:rPr>
              <a:t>Atmosphere (2/3)</a:t>
            </a:r>
          </a:p>
        </p:txBody>
      </p:sp>
      <p:sp>
        <p:nvSpPr>
          <p:cNvPr id="3" name="Content Placeholder 2"/>
          <p:cNvSpPr>
            <a:spLocks noGrp="1"/>
          </p:cNvSpPr>
          <p:nvPr>
            <p:ph idx="1"/>
          </p:nvPr>
        </p:nvSpPr>
        <p:spPr>
          <a:xfrm>
            <a:off x="210065" y="1149178"/>
            <a:ext cx="8305285" cy="5402451"/>
          </a:xfrm>
        </p:spPr>
        <p:txBody>
          <a:bodyPr>
            <a:normAutofit lnSpcReduction="10000"/>
          </a:bodyPr>
          <a:lstStyle/>
          <a:p>
            <a:pPr marL="0" indent="0">
              <a:buNone/>
            </a:pPr>
            <a:r>
              <a:rPr lang="en-US" b="1" dirty="0">
                <a:solidFill>
                  <a:srgbClr val="00B0F0"/>
                </a:solidFill>
              </a:rPr>
              <a:t>Atomic Oxygen</a:t>
            </a:r>
          </a:p>
          <a:p>
            <a:pPr lvl="1"/>
            <a:r>
              <a:rPr lang="en-US" dirty="0">
                <a:solidFill>
                  <a:srgbClr val="00B0F0"/>
                </a:solidFill>
              </a:rPr>
              <a:t>Reacts with thin organic films, advanced composites and metallized surfaces</a:t>
            </a:r>
            <a:endParaRPr lang="en-US" sz="2000" dirty="0">
              <a:solidFill>
                <a:srgbClr val="00B0F0"/>
              </a:solidFill>
            </a:endParaRPr>
          </a:p>
          <a:p>
            <a:pPr lvl="1"/>
            <a:r>
              <a:rPr lang="en-US" dirty="0">
                <a:solidFill>
                  <a:srgbClr val="00B0F0"/>
                </a:solidFill>
              </a:rPr>
              <a:t>Degrades sensor performance</a:t>
            </a:r>
            <a:endParaRPr lang="en-US" sz="2000" dirty="0">
              <a:solidFill>
                <a:srgbClr val="00B0F0"/>
              </a:solidFill>
            </a:endParaRPr>
          </a:p>
          <a:p>
            <a:pPr lvl="1"/>
            <a:r>
              <a:rPr lang="en-US" dirty="0">
                <a:solidFill>
                  <a:srgbClr val="00B0F0"/>
                </a:solidFill>
              </a:rPr>
              <a:t>Weakens spacecraft structures</a:t>
            </a:r>
            <a:endParaRPr lang="en-US" sz="2000" dirty="0">
              <a:solidFill>
                <a:srgbClr val="00B0F0"/>
              </a:solidFill>
            </a:endParaRPr>
          </a:p>
          <a:p>
            <a:pPr lvl="1"/>
            <a:r>
              <a:rPr lang="en-US" dirty="0">
                <a:solidFill>
                  <a:srgbClr val="00B0F0"/>
                </a:solidFill>
              </a:rPr>
              <a:t>Density of atomic oxygen varies with the solar cycle</a:t>
            </a:r>
            <a:endParaRPr lang="en-US" sz="2000" dirty="0">
              <a:solidFill>
                <a:srgbClr val="00B0F0"/>
              </a:solidFill>
            </a:endParaRPr>
          </a:p>
          <a:p>
            <a:pPr lvl="2"/>
            <a:r>
              <a:rPr lang="en-US" dirty="0">
                <a:solidFill>
                  <a:srgbClr val="00B0F0"/>
                </a:solidFill>
              </a:rPr>
              <a:t>Solar cycle is periodic change in the amount of material and radiation emitted by the Sun and observed on Earth</a:t>
            </a:r>
            <a:endParaRPr lang="en-US" sz="1800" dirty="0">
              <a:solidFill>
                <a:srgbClr val="00B0F0"/>
              </a:solidFill>
            </a:endParaRPr>
          </a:p>
          <a:p>
            <a:pPr lvl="2"/>
            <a:r>
              <a:rPr lang="en-US" dirty="0">
                <a:solidFill>
                  <a:srgbClr val="00B0F0"/>
                </a:solidFill>
              </a:rPr>
              <a:t>Average of 11-year cycle; shortest was 9 yrs, longest 14 yrs</a:t>
            </a:r>
            <a:endParaRPr lang="en-US" sz="1800" dirty="0">
              <a:solidFill>
                <a:srgbClr val="00B0F0"/>
              </a:solidFill>
            </a:endParaRPr>
          </a:p>
          <a:p>
            <a:pPr lvl="2"/>
            <a:r>
              <a:rPr lang="en-US" dirty="0">
                <a:solidFill>
                  <a:srgbClr val="00B0F0"/>
                </a:solidFill>
              </a:rPr>
              <a:t>Solar maximum has many solar events; solar minima has almost no solar events</a:t>
            </a:r>
            <a:endParaRPr lang="en-US" sz="1800" dirty="0">
              <a:solidFill>
                <a:srgbClr val="00B0F0"/>
              </a:solidFill>
            </a:endParaRPr>
          </a:p>
          <a:p>
            <a:pPr lvl="2"/>
            <a:r>
              <a:rPr lang="en-US" dirty="0">
                <a:solidFill>
                  <a:srgbClr val="00B0F0"/>
                </a:solidFill>
              </a:rPr>
              <a:t>Solar flux varies substantially on a day-to-day basis and is difficult to predict at any given future time; however, average over an extended period is well known</a:t>
            </a:r>
            <a:endParaRPr lang="en-US" sz="1800" dirty="0">
              <a:solidFill>
                <a:srgbClr val="00B0F0"/>
              </a:solidFill>
            </a:endParaRPr>
          </a:p>
          <a:p>
            <a:pPr lvl="2"/>
            <a:r>
              <a:rPr lang="en-US" dirty="0">
                <a:solidFill>
                  <a:srgbClr val="00B0F0"/>
                </a:solidFill>
              </a:rPr>
              <a:t>Fig 8-1 depicts the F10.7 index, which is the mean daily flux at 10.7 cm wavelength in units of 10</a:t>
            </a:r>
            <a:r>
              <a:rPr lang="en-US" baseline="30000" dirty="0">
                <a:solidFill>
                  <a:srgbClr val="00B0F0"/>
                </a:solidFill>
              </a:rPr>
              <a:t>-22 </a:t>
            </a:r>
            <a:r>
              <a:rPr lang="en-US" dirty="0">
                <a:solidFill>
                  <a:srgbClr val="00B0F0"/>
                </a:solidFill>
              </a:rPr>
              <a:t>W/m</a:t>
            </a:r>
            <a:r>
              <a:rPr lang="en-US" baseline="30000" dirty="0">
                <a:solidFill>
                  <a:srgbClr val="00B0F0"/>
                </a:solidFill>
              </a:rPr>
              <a:t>2</a:t>
            </a:r>
            <a:r>
              <a:rPr lang="en-US" dirty="0">
                <a:solidFill>
                  <a:srgbClr val="00B0F0"/>
                </a:solidFill>
              </a:rPr>
              <a:t>·Hz</a:t>
            </a:r>
            <a:endParaRPr lang="en-US" sz="1800" dirty="0">
              <a:solidFill>
                <a:srgbClr val="00B0F0"/>
              </a:solidFill>
            </a:endParaRPr>
          </a:p>
          <a:p>
            <a:endParaRPr lang="en-US" dirty="0">
              <a:solidFill>
                <a:srgbClr val="00B0F0"/>
              </a:solidFill>
            </a:endParaRPr>
          </a:p>
        </p:txBody>
      </p:sp>
      <p:sp>
        <p:nvSpPr>
          <p:cNvPr id="4" name="Slide Number Placeholder 3"/>
          <p:cNvSpPr>
            <a:spLocks noGrp="1"/>
          </p:cNvSpPr>
          <p:nvPr>
            <p:ph type="sldNum" sz="quarter" idx="12"/>
          </p:nvPr>
        </p:nvSpPr>
        <p:spPr/>
        <p:txBody>
          <a:bodyPr/>
          <a:lstStyle/>
          <a:p>
            <a:fld id="{04EF813A-C95A-49A4-BB2C-19388EC38802}" type="slidenum">
              <a:rPr lang="en-US" smtClean="0"/>
              <a:t>11</a:t>
            </a:fld>
            <a:endParaRPr lang="en-US"/>
          </a:p>
        </p:txBody>
      </p:sp>
    </p:spTree>
    <p:extLst>
      <p:ext uri="{BB962C8B-B14F-4D97-AF65-F5344CB8AC3E}">
        <p14:creationId xmlns:p14="http://schemas.microsoft.com/office/powerpoint/2010/main" val="54689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fade">
                                      <p:cBhvr>
                                        <p:cTn id="16" dur="500"/>
                                        <p:tgtEl>
                                          <p:spTgt spid="3">
                                            <p:txEl>
                                              <p:pRg st="7" end="7"/>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fade">
                                      <p:cBhvr>
                                        <p:cTn id="19" dur="500"/>
                                        <p:tgtEl>
                                          <p:spTgt spid="3">
                                            <p:txEl>
                                              <p:pRg st="8" end="8"/>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fade">
                                      <p:cBhvr>
                                        <p:cTn id="2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59316" y="1"/>
            <a:ext cx="7656033" cy="815546"/>
          </a:xfrm>
        </p:spPr>
        <p:txBody>
          <a:bodyPr>
            <a:normAutofit/>
          </a:bodyPr>
          <a:lstStyle/>
          <a:p>
            <a:r>
              <a:rPr lang="en-US" sz="3200" dirty="0">
                <a:solidFill>
                  <a:srgbClr val="00B0F0"/>
                </a:solidFill>
              </a:rPr>
              <a:t>Atomic Oxygen</a:t>
            </a:r>
          </a:p>
        </p:txBody>
      </p:sp>
      <p:sp>
        <p:nvSpPr>
          <p:cNvPr id="2" name="Slide Number Placeholder 1"/>
          <p:cNvSpPr>
            <a:spLocks noGrp="1"/>
          </p:cNvSpPr>
          <p:nvPr>
            <p:ph type="sldNum" sz="quarter" idx="12"/>
          </p:nvPr>
        </p:nvSpPr>
        <p:spPr/>
        <p:txBody>
          <a:bodyPr/>
          <a:lstStyle/>
          <a:p>
            <a:fld id="{04EF813A-C95A-49A4-BB2C-19388EC38802}" type="slidenum">
              <a:rPr lang="en-US" smtClean="0"/>
              <a:t>12</a:t>
            </a:fld>
            <a:endParaRPr lang="en-US"/>
          </a:p>
        </p:txBody>
      </p:sp>
      <p:pic>
        <p:nvPicPr>
          <p:cNvPr id="3" name="Picture 2"/>
          <p:cNvPicPr>
            <a:picLocks noChangeAspect="1"/>
          </p:cNvPicPr>
          <p:nvPr/>
        </p:nvPicPr>
        <p:blipFill>
          <a:blip r:embed="rId2"/>
          <a:stretch>
            <a:fillRect/>
          </a:stretch>
        </p:blipFill>
        <p:spPr>
          <a:xfrm rot="169245">
            <a:off x="124702" y="1140162"/>
            <a:ext cx="8992893" cy="5289433"/>
          </a:xfrm>
          <a:prstGeom prst="rect">
            <a:avLst/>
          </a:prstGeom>
          <a:scene3d>
            <a:camera prst="orthographicFront">
              <a:rot lat="0" lon="0" rev="120000"/>
            </a:camera>
            <a:lightRig rig="threePt" dir="t"/>
          </a:scene3d>
        </p:spPr>
      </p:pic>
      <p:sp>
        <p:nvSpPr>
          <p:cNvPr id="4" name="Rectangle 3"/>
          <p:cNvSpPr/>
          <p:nvPr/>
        </p:nvSpPr>
        <p:spPr>
          <a:xfrm>
            <a:off x="0" y="378692"/>
            <a:ext cx="163629" cy="54349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1153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F0"/>
                </a:solidFill>
              </a:rPr>
              <a:t>Atmosphere (3/3)</a:t>
            </a:r>
          </a:p>
        </p:txBody>
      </p:sp>
      <p:sp>
        <p:nvSpPr>
          <p:cNvPr id="3" name="Content Placeholder 2"/>
          <p:cNvSpPr>
            <a:spLocks noGrp="1"/>
          </p:cNvSpPr>
          <p:nvPr>
            <p:ph idx="1"/>
          </p:nvPr>
        </p:nvSpPr>
        <p:spPr>
          <a:xfrm>
            <a:off x="197708" y="1167788"/>
            <a:ext cx="8714938" cy="5383841"/>
          </a:xfrm>
        </p:spPr>
        <p:txBody>
          <a:bodyPr>
            <a:normAutofit/>
          </a:bodyPr>
          <a:lstStyle/>
          <a:p>
            <a:pPr marL="0" lvl="0" indent="0">
              <a:buNone/>
            </a:pPr>
            <a:r>
              <a:rPr lang="en-US" b="1" dirty="0">
                <a:solidFill>
                  <a:srgbClr val="00B0F0"/>
                </a:solidFill>
              </a:rPr>
              <a:t>Atmospheric Drag</a:t>
            </a:r>
            <a:endParaRPr lang="en-US" sz="2400" b="1" dirty="0">
              <a:solidFill>
                <a:srgbClr val="00B0F0"/>
              </a:solidFill>
            </a:endParaRPr>
          </a:p>
          <a:p>
            <a:pPr lvl="1"/>
            <a:r>
              <a:rPr lang="en-US" dirty="0">
                <a:solidFill>
                  <a:srgbClr val="00B0F0"/>
                </a:solidFill>
              </a:rPr>
              <a:t>Depends on a variety of factors, including S/C ballistic co-efficient, speed and atmospheric density</a:t>
            </a:r>
            <a:endParaRPr lang="en-US" sz="2000" dirty="0">
              <a:solidFill>
                <a:srgbClr val="00B0F0"/>
              </a:solidFill>
            </a:endParaRPr>
          </a:p>
          <a:p>
            <a:pPr lvl="1"/>
            <a:r>
              <a:rPr lang="en-US" dirty="0">
                <a:solidFill>
                  <a:srgbClr val="00B0F0"/>
                </a:solidFill>
              </a:rPr>
              <a:t>Atmospheric density is highly dependent on solar cycle</a:t>
            </a:r>
          </a:p>
          <a:p>
            <a:pPr lvl="1"/>
            <a:r>
              <a:rPr lang="en-US" dirty="0">
                <a:solidFill>
                  <a:srgbClr val="00B0F0"/>
                </a:solidFill>
              </a:rPr>
              <a:t>Thermosphere: (120-600 km altitude), region where absorption of extreme UV radiation results in rapid increase in temperature with altitude</a:t>
            </a:r>
            <a:endParaRPr lang="en-US" sz="2000" dirty="0">
              <a:solidFill>
                <a:srgbClr val="00B0F0"/>
              </a:solidFill>
            </a:endParaRPr>
          </a:p>
          <a:p>
            <a:pPr lvl="2"/>
            <a:r>
              <a:rPr lang="en-US" dirty="0">
                <a:solidFill>
                  <a:srgbClr val="00B0F0"/>
                </a:solidFill>
              </a:rPr>
              <a:t>Heating due to EUV radiation and solar cycle variation impacts atmospheric density and has the greatest effect on satellite lifetimes</a:t>
            </a:r>
            <a:endParaRPr lang="en-US" sz="1800" dirty="0">
              <a:solidFill>
                <a:srgbClr val="00B0F0"/>
              </a:solidFill>
            </a:endParaRPr>
          </a:p>
          <a:p>
            <a:pPr lvl="1"/>
            <a:endParaRPr lang="en-US" sz="2000" dirty="0">
              <a:solidFill>
                <a:srgbClr val="00B0F0"/>
              </a:solidFill>
            </a:endParaRPr>
          </a:p>
          <a:p>
            <a:endParaRPr lang="en-US" dirty="0">
              <a:solidFill>
                <a:srgbClr val="00B0F0"/>
              </a:solidFill>
            </a:endParaRPr>
          </a:p>
        </p:txBody>
      </p:sp>
      <p:sp>
        <p:nvSpPr>
          <p:cNvPr id="4" name="Slide Number Placeholder 3"/>
          <p:cNvSpPr>
            <a:spLocks noGrp="1"/>
          </p:cNvSpPr>
          <p:nvPr>
            <p:ph type="sldNum" sz="quarter" idx="12"/>
          </p:nvPr>
        </p:nvSpPr>
        <p:spPr/>
        <p:txBody>
          <a:bodyPr/>
          <a:lstStyle/>
          <a:p>
            <a:fld id="{04EF813A-C95A-49A4-BB2C-19388EC38802}" type="slidenum">
              <a:rPr lang="en-US" smtClean="0"/>
              <a:t>13</a:t>
            </a:fld>
            <a:endParaRPr lang="en-US"/>
          </a:p>
        </p:txBody>
      </p:sp>
    </p:spTree>
    <p:extLst>
      <p:ext uri="{BB962C8B-B14F-4D97-AF65-F5344CB8AC3E}">
        <p14:creationId xmlns:p14="http://schemas.microsoft.com/office/powerpoint/2010/main" val="4084666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49939" y="27769"/>
            <a:ext cx="7886700" cy="750707"/>
          </a:xfrm>
        </p:spPr>
        <p:txBody>
          <a:bodyPr>
            <a:normAutofit/>
          </a:bodyPr>
          <a:lstStyle/>
          <a:p>
            <a:r>
              <a:rPr lang="en-US" sz="4000" dirty="0">
                <a:solidFill>
                  <a:srgbClr val="00B0F0"/>
                </a:solidFill>
              </a:rPr>
              <a:t>Solar Cycle</a:t>
            </a:r>
          </a:p>
        </p:txBody>
      </p:sp>
      <p:sp>
        <p:nvSpPr>
          <p:cNvPr id="2" name="Slide Number Placeholder 1"/>
          <p:cNvSpPr>
            <a:spLocks noGrp="1"/>
          </p:cNvSpPr>
          <p:nvPr>
            <p:ph type="sldNum" sz="quarter" idx="12"/>
          </p:nvPr>
        </p:nvSpPr>
        <p:spPr/>
        <p:txBody>
          <a:bodyPr/>
          <a:lstStyle/>
          <a:p>
            <a:fld id="{04EF813A-C95A-49A4-BB2C-19388EC38802}" type="slidenum">
              <a:rPr lang="en-US" smtClean="0"/>
              <a:t>14</a:t>
            </a:fld>
            <a:endParaRPr lang="en-US"/>
          </a:p>
        </p:txBody>
      </p:sp>
      <p:pic>
        <p:nvPicPr>
          <p:cNvPr id="3" name="Picture 2"/>
          <p:cNvPicPr>
            <a:picLocks noChangeAspect="1"/>
          </p:cNvPicPr>
          <p:nvPr/>
        </p:nvPicPr>
        <p:blipFill>
          <a:blip r:embed="rId2"/>
          <a:stretch>
            <a:fillRect/>
          </a:stretch>
        </p:blipFill>
        <p:spPr>
          <a:xfrm>
            <a:off x="140551" y="1216241"/>
            <a:ext cx="8908470" cy="5505235"/>
          </a:xfrm>
          <a:prstGeom prst="rect">
            <a:avLst/>
          </a:prstGeom>
        </p:spPr>
      </p:pic>
    </p:spTree>
    <p:extLst>
      <p:ext uri="{BB962C8B-B14F-4D97-AF65-F5344CB8AC3E}">
        <p14:creationId xmlns:p14="http://schemas.microsoft.com/office/powerpoint/2010/main" val="3343788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49683" y="27769"/>
            <a:ext cx="6960933" cy="800134"/>
          </a:xfrm>
        </p:spPr>
        <p:txBody>
          <a:bodyPr>
            <a:normAutofit/>
          </a:bodyPr>
          <a:lstStyle/>
          <a:p>
            <a:r>
              <a:rPr lang="en-US" sz="2400" dirty="0">
                <a:solidFill>
                  <a:srgbClr val="00B0F0"/>
                </a:solidFill>
              </a:rPr>
              <a:t>Impact of Solar Cycle on Atmospheric Density</a:t>
            </a:r>
          </a:p>
        </p:txBody>
      </p:sp>
      <p:sp>
        <p:nvSpPr>
          <p:cNvPr id="2" name="Slide Number Placeholder 1"/>
          <p:cNvSpPr>
            <a:spLocks noGrp="1"/>
          </p:cNvSpPr>
          <p:nvPr>
            <p:ph type="sldNum" sz="quarter" idx="12"/>
          </p:nvPr>
        </p:nvSpPr>
        <p:spPr/>
        <p:txBody>
          <a:bodyPr/>
          <a:lstStyle/>
          <a:p>
            <a:fld id="{04EF813A-C95A-49A4-BB2C-19388EC38802}" type="slidenum">
              <a:rPr lang="en-US" smtClean="0"/>
              <a:t>15</a:t>
            </a:fld>
            <a:endParaRPr lang="en-US"/>
          </a:p>
        </p:txBody>
      </p:sp>
      <p:pic>
        <p:nvPicPr>
          <p:cNvPr id="3" name="Picture 2"/>
          <p:cNvPicPr>
            <a:picLocks noChangeAspect="1"/>
          </p:cNvPicPr>
          <p:nvPr/>
        </p:nvPicPr>
        <p:blipFill>
          <a:blip r:embed="rId2"/>
          <a:stretch>
            <a:fillRect/>
          </a:stretch>
        </p:blipFill>
        <p:spPr>
          <a:xfrm>
            <a:off x="603040" y="1091156"/>
            <a:ext cx="8196239" cy="5556512"/>
          </a:xfrm>
          <a:prstGeom prst="rect">
            <a:avLst/>
          </a:prstGeom>
        </p:spPr>
      </p:pic>
    </p:spTree>
    <p:extLst>
      <p:ext uri="{BB962C8B-B14F-4D97-AF65-F5344CB8AC3E}">
        <p14:creationId xmlns:p14="http://schemas.microsoft.com/office/powerpoint/2010/main" val="2918600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7769"/>
            <a:ext cx="5784506" cy="922136"/>
          </a:xfrm>
        </p:spPr>
        <p:txBody>
          <a:bodyPr>
            <a:normAutofit/>
          </a:bodyPr>
          <a:lstStyle/>
          <a:p>
            <a:r>
              <a:rPr lang="en-US" sz="2800" dirty="0">
                <a:solidFill>
                  <a:srgbClr val="00B0F0"/>
                </a:solidFill>
              </a:rPr>
              <a:t>Impact of Solar Cycle/Ballistic Co-efficient on Satellite Lifetimes</a:t>
            </a:r>
          </a:p>
        </p:txBody>
      </p:sp>
      <p:sp>
        <p:nvSpPr>
          <p:cNvPr id="3" name="Slide Number Placeholder 2"/>
          <p:cNvSpPr>
            <a:spLocks noGrp="1"/>
          </p:cNvSpPr>
          <p:nvPr>
            <p:ph type="sldNum" sz="quarter" idx="12"/>
          </p:nvPr>
        </p:nvSpPr>
        <p:spPr/>
        <p:txBody>
          <a:bodyPr/>
          <a:lstStyle/>
          <a:p>
            <a:fld id="{04EF813A-C95A-49A4-BB2C-19388EC38802}" type="slidenum">
              <a:rPr lang="en-US" smtClean="0"/>
              <a:t>16</a:t>
            </a:fld>
            <a:endParaRPr lang="en-US"/>
          </a:p>
        </p:txBody>
      </p:sp>
      <p:pic>
        <p:nvPicPr>
          <p:cNvPr id="4" name="Picture 3"/>
          <p:cNvPicPr/>
          <p:nvPr/>
        </p:nvPicPr>
        <p:blipFill>
          <a:blip r:embed="rId2"/>
          <a:stretch>
            <a:fillRect/>
          </a:stretch>
        </p:blipFill>
        <p:spPr>
          <a:xfrm>
            <a:off x="250793" y="1109709"/>
            <a:ext cx="8467078" cy="5611767"/>
          </a:xfrm>
          <a:prstGeom prst="rect">
            <a:avLst/>
          </a:prstGeom>
        </p:spPr>
      </p:pic>
    </p:spTree>
    <p:extLst>
      <p:ext uri="{BB962C8B-B14F-4D97-AF65-F5344CB8AC3E}">
        <p14:creationId xmlns:p14="http://schemas.microsoft.com/office/powerpoint/2010/main" val="2366213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CDDBC-8E6C-B6B0-3FFD-85CB92715B6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8E91818-D2AE-A08C-BE52-ED51AD417554}"/>
              </a:ext>
            </a:extLst>
          </p:cNvPr>
          <p:cNvSpPr>
            <a:spLocks noGrp="1"/>
          </p:cNvSpPr>
          <p:nvPr>
            <p:ph type="title"/>
          </p:nvPr>
        </p:nvSpPr>
        <p:spPr/>
        <p:txBody>
          <a:bodyPr/>
          <a:lstStyle/>
          <a:p>
            <a:r>
              <a:rPr lang="en-US" dirty="0">
                <a:solidFill>
                  <a:srgbClr val="7030A0"/>
                </a:solidFill>
              </a:rPr>
              <a:t>Plasma</a:t>
            </a:r>
            <a:r>
              <a:rPr lang="en-US" dirty="0">
                <a:solidFill>
                  <a:srgbClr val="00B050"/>
                </a:solidFill>
              </a:rPr>
              <a:t> </a:t>
            </a:r>
          </a:p>
        </p:txBody>
      </p:sp>
      <p:sp>
        <p:nvSpPr>
          <p:cNvPr id="4" name="Slide Number Placeholder 3">
            <a:extLst>
              <a:ext uri="{FF2B5EF4-FFF2-40B4-BE49-F238E27FC236}">
                <a16:creationId xmlns:a16="http://schemas.microsoft.com/office/drawing/2014/main" id="{AE7D45E6-D94C-E2D7-57B2-8438EE670438}"/>
              </a:ext>
            </a:extLst>
          </p:cNvPr>
          <p:cNvSpPr>
            <a:spLocks noGrp="1"/>
          </p:cNvSpPr>
          <p:nvPr>
            <p:ph type="sldNum" sz="quarter" idx="12"/>
          </p:nvPr>
        </p:nvSpPr>
        <p:spPr/>
        <p:txBody>
          <a:bodyPr/>
          <a:lstStyle/>
          <a:p>
            <a:fld id="{9A3029B7-FE6B-4680-9049-80E8298A0825}" type="slidenum">
              <a:rPr lang="en-US" smtClean="0"/>
              <a:t>17</a:t>
            </a:fld>
            <a:endParaRPr lang="en-US"/>
          </a:p>
        </p:txBody>
      </p:sp>
    </p:spTree>
    <p:extLst>
      <p:ext uri="{BB962C8B-B14F-4D97-AF65-F5344CB8AC3E}">
        <p14:creationId xmlns:p14="http://schemas.microsoft.com/office/powerpoint/2010/main" val="3187651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7030A0"/>
                </a:solidFill>
              </a:rPr>
              <a:t>Plasma (1/2)</a:t>
            </a:r>
          </a:p>
        </p:txBody>
      </p:sp>
      <p:sp>
        <p:nvSpPr>
          <p:cNvPr id="4" name="Content Placeholder 3"/>
          <p:cNvSpPr>
            <a:spLocks noGrp="1"/>
          </p:cNvSpPr>
          <p:nvPr>
            <p:ph idx="1"/>
          </p:nvPr>
        </p:nvSpPr>
        <p:spPr/>
        <p:txBody>
          <a:bodyPr>
            <a:normAutofit/>
          </a:bodyPr>
          <a:lstStyle/>
          <a:p>
            <a:pPr marL="0" indent="0">
              <a:buNone/>
            </a:pPr>
            <a:r>
              <a:rPr lang="en-US" dirty="0">
                <a:solidFill>
                  <a:srgbClr val="7030A0"/>
                </a:solidFill>
              </a:rPr>
              <a:t>Plasma consists of neutral particles, positive ions, and electrons.</a:t>
            </a:r>
          </a:p>
          <a:p>
            <a:pPr lvl="1"/>
            <a:r>
              <a:rPr lang="en-US" dirty="0">
                <a:solidFill>
                  <a:srgbClr val="7030A0"/>
                </a:solidFill>
              </a:rPr>
              <a:t>The most abundant matter in the universe (99% of universe mass) </a:t>
            </a:r>
          </a:p>
          <a:p>
            <a:pPr marL="0" indent="0">
              <a:buNone/>
            </a:pPr>
            <a:endParaRPr lang="en-US" b="1" dirty="0">
              <a:solidFill>
                <a:srgbClr val="7030A0"/>
              </a:solidFill>
            </a:endParaRPr>
          </a:p>
          <a:p>
            <a:pPr marL="0" indent="0">
              <a:buNone/>
            </a:pPr>
            <a:r>
              <a:rPr lang="en-US" b="1" dirty="0">
                <a:solidFill>
                  <a:srgbClr val="7030A0"/>
                </a:solidFill>
              </a:rPr>
              <a:t>Source</a:t>
            </a:r>
            <a:r>
              <a:rPr lang="en-US" dirty="0">
                <a:solidFill>
                  <a:srgbClr val="7030A0"/>
                </a:solidFill>
              </a:rPr>
              <a:t>: </a:t>
            </a:r>
          </a:p>
          <a:p>
            <a:pPr lvl="1"/>
            <a:r>
              <a:rPr lang="en-US" dirty="0">
                <a:solidFill>
                  <a:srgbClr val="7030A0"/>
                </a:solidFill>
              </a:rPr>
              <a:t>Formed from interactions between solar wind and Earth’s magnetic field, stretches into long structure known as the magnetotail</a:t>
            </a:r>
          </a:p>
          <a:p>
            <a:pPr lvl="1"/>
            <a:r>
              <a:rPr lang="en-US" dirty="0">
                <a:solidFill>
                  <a:srgbClr val="7030A0"/>
                </a:solidFill>
              </a:rPr>
              <a:t>Can also come from solar flares or galactic cosmic rays (GCRs)</a:t>
            </a:r>
          </a:p>
          <a:p>
            <a:endParaRPr lang="en-US" dirty="0">
              <a:solidFill>
                <a:srgbClr val="7030A0"/>
              </a:solidFill>
            </a:endParaRPr>
          </a:p>
        </p:txBody>
      </p:sp>
      <p:sp>
        <p:nvSpPr>
          <p:cNvPr id="3" name="Slide Number Placeholder 2"/>
          <p:cNvSpPr>
            <a:spLocks noGrp="1"/>
          </p:cNvSpPr>
          <p:nvPr>
            <p:ph type="sldNum" sz="quarter" idx="12"/>
          </p:nvPr>
        </p:nvSpPr>
        <p:spPr/>
        <p:txBody>
          <a:bodyPr/>
          <a:lstStyle/>
          <a:p>
            <a:fld id="{04EF813A-C95A-49A4-BB2C-19388EC38802}" type="slidenum">
              <a:rPr lang="en-US" smtClean="0"/>
              <a:t>18</a:t>
            </a:fld>
            <a:endParaRPr lang="en-US"/>
          </a:p>
        </p:txBody>
      </p:sp>
    </p:spTree>
    <p:extLst>
      <p:ext uri="{BB962C8B-B14F-4D97-AF65-F5344CB8AC3E}">
        <p14:creationId xmlns:p14="http://schemas.microsoft.com/office/powerpoint/2010/main" val="916469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fade">
                                      <p:cBhvr>
                                        <p:cTn id="10" dur="500"/>
                                        <p:tgtEl>
                                          <p:spTgt spid="4">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animEffect transition="in" filter="fade">
                                      <p:cBhvr>
                                        <p:cTn id="13"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7030A0"/>
                </a:solidFill>
              </a:rPr>
              <a:t>Plasma (2/2)</a:t>
            </a:r>
          </a:p>
        </p:txBody>
      </p:sp>
      <p:sp>
        <p:nvSpPr>
          <p:cNvPr id="3" name="Content Placeholder 2"/>
          <p:cNvSpPr>
            <a:spLocks noGrp="1"/>
          </p:cNvSpPr>
          <p:nvPr>
            <p:ph idx="1"/>
          </p:nvPr>
        </p:nvSpPr>
        <p:spPr>
          <a:xfrm>
            <a:off x="182236" y="1070499"/>
            <a:ext cx="8343926" cy="5787501"/>
          </a:xfrm>
        </p:spPr>
        <p:txBody>
          <a:bodyPr>
            <a:normAutofit fontScale="85000" lnSpcReduction="20000"/>
          </a:bodyPr>
          <a:lstStyle/>
          <a:p>
            <a:pPr marL="0" indent="0">
              <a:buNone/>
            </a:pPr>
            <a:r>
              <a:rPr lang="en-US" b="1" dirty="0">
                <a:solidFill>
                  <a:srgbClr val="7030A0"/>
                </a:solidFill>
              </a:rPr>
              <a:t>Effects on spacecraft:</a:t>
            </a:r>
            <a:endParaRPr lang="en-US" sz="2400" b="1" dirty="0">
              <a:solidFill>
                <a:srgbClr val="7030A0"/>
              </a:solidFill>
            </a:endParaRPr>
          </a:p>
          <a:p>
            <a:pPr lvl="1"/>
            <a:r>
              <a:rPr lang="en-US" dirty="0">
                <a:solidFill>
                  <a:srgbClr val="7030A0"/>
                </a:solidFill>
              </a:rPr>
              <a:t>Energized plasma (particles with energy from 5 keV to 50 keV) can extend into geosynchronous orbits, charging the surface of any spacecraft to high negative voltages</a:t>
            </a:r>
            <a:endParaRPr lang="en-US" sz="2000" dirty="0">
              <a:solidFill>
                <a:srgbClr val="7030A0"/>
              </a:solidFill>
            </a:endParaRPr>
          </a:p>
          <a:p>
            <a:pPr lvl="1"/>
            <a:r>
              <a:rPr lang="en-US" dirty="0">
                <a:solidFill>
                  <a:srgbClr val="7030A0"/>
                </a:solidFill>
              </a:rPr>
              <a:t>Electrostatic arcs can cause electromagnetic interference (EMI) on spacecraft, causing erratic behavior</a:t>
            </a:r>
            <a:endParaRPr lang="en-US" sz="2000" dirty="0">
              <a:solidFill>
                <a:srgbClr val="7030A0"/>
              </a:solidFill>
            </a:endParaRPr>
          </a:p>
          <a:p>
            <a:pPr lvl="1"/>
            <a:r>
              <a:rPr lang="en-US" dirty="0">
                <a:solidFill>
                  <a:srgbClr val="7030A0"/>
                </a:solidFill>
              </a:rPr>
              <a:t>Surface Charging that impacts spacecraft operations occurs in orbits where electrons with energies of 10-20 keV dominate the electron current</a:t>
            </a:r>
            <a:endParaRPr lang="en-US" sz="2000" dirty="0">
              <a:solidFill>
                <a:srgbClr val="7030A0"/>
              </a:solidFill>
            </a:endParaRPr>
          </a:p>
          <a:p>
            <a:pPr lvl="2"/>
            <a:r>
              <a:rPr lang="en-US" dirty="0">
                <a:solidFill>
                  <a:srgbClr val="7030A0"/>
                </a:solidFill>
              </a:rPr>
              <a:t>At low altitudes, this occurs only at high latitudes (where auroral electrons collide w/ vehicle)</a:t>
            </a:r>
            <a:endParaRPr lang="en-US" sz="1600" dirty="0">
              <a:solidFill>
                <a:srgbClr val="7030A0"/>
              </a:solidFill>
            </a:endParaRPr>
          </a:p>
          <a:p>
            <a:pPr lvl="2"/>
            <a:r>
              <a:rPr lang="en-US" dirty="0">
                <a:solidFill>
                  <a:srgbClr val="7030A0"/>
                </a:solidFill>
              </a:rPr>
              <a:t>At higher altitudes, surface charging occurs during magnetospheric substorms</a:t>
            </a:r>
            <a:endParaRPr lang="en-US" sz="1600" dirty="0">
              <a:solidFill>
                <a:srgbClr val="7030A0"/>
              </a:solidFill>
            </a:endParaRPr>
          </a:p>
          <a:p>
            <a:pPr lvl="1"/>
            <a:r>
              <a:rPr lang="en-US" dirty="0">
                <a:solidFill>
                  <a:srgbClr val="7030A0"/>
                </a:solidFill>
              </a:rPr>
              <a:t>Ion drag that adds to orbital decay</a:t>
            </a:r>
            <a:endParaRPr lang="en-US" sz="2000" dirty="0">
              <a:solidFill>
                <a:srgbClr val="7030A0"/>
              </a:solidFill>
            </a:endParaRPr>
          </a:p>
          <a:p>
            <a:pPr lvl="1"/>
            <a:r>
              <a:rPr lang="en-US" dirty="0">
                <a:solidFill>
                  <a:srgbClr val="7030A0"/>
                </a:solidFill>
              </a:rPr>
              <a:t>Ion sputtering that increases surface erosion</a:t>
            </a:r>
          </a:p>
          <a:p>
            <a:pPr lvl="1"/>
            <a:endParaRPr lang="en-US" sz="2000" dirty="0">
              <a:solidFill>
                <a:srgbClr val="7030A0"/>
              </a:solidFill>
            </a:endParaRPr>
          </a:p>
          <a:p>
            <a:pPr marL="0" indent="0">
              <a:buNone/>
            </a:pPr>
            <a:r>
              <a:rPr lang="en-US" b="1" dirty="0">
                <a:solidFill>
                  <a:srgbClr val="7030A0"/>
                </a:solidFill>
              </a:rPr>
              <a:t>Strategies to mitigate impacts:</a:t>
            </a:r>
            <a:endParaRPr lang="en-US" sz="2400" b="1" dirty="0">
              <a:solidFill>
                <a:srgbClr val="7030A0"/>
              </a:solidFill>
            </a:endParaRPr>
          </a:p>
          <a:p>
            <a:pPr lvl="1"/>
            <a:r>
              <a:rPr lang="en-US" dirty="0">
                <a:solidFill>
                  <a:srgbClr val="7030A0"/>
                </a:solidFill>
              </a:rPr>
              <a:t>Prevent differential charging of surfaces by ensuring entire surface is made of a uniform conductivity</a:t>
            </a:r>
            <a:endParaRPr lang="en-US" sz="2000" dirty="0">
              <a:solidFill>
                <a:srgbClr val="7030A0"/>
              </a:solidFill>
            </a:endParaRPr>
          </a:p>
          <a:p>
            <a:pPr lvl="1"/>
            <a:r>
              <a:rPr lang="en-US" dirty="0">
                <a:solidFill>
                  <a:srgbClr val="7030A0"/>
                </a:solidFill>
              </a:rPr>
              <a:t>Balance currents using special surface coatings</a:t>
            </a:r>
            <a:endParaRPr lang="en-US" sz="2000" dirty="0">
              <a:solidFill>
                <a:srgbClr val="7030A0"/>
              </a:solidFill>
            </a:endParaRPr>
          </a:p>
          <a:p>
            <a:pPr lvl="1"/>
            <a:r>
              <a:rPr lang="en-US" dirty="0">
                <a:solidFill>
                  <a:srgbClr val="7030A0"/>
                </a:solidFill>
              </a:rPr>
              <a:t>Grounding, selecting insulating surface materials, shielding, filtering, proper handling procedures</a:t>
            </a:r>
            <a:endParaRPr lang="en-US" sz="2000" dirty="0">
              <a:solidFill>
                <a:srgbClr val="7030A0"/>
              </a:solidFill>
            </a:endParaRPr>
          </a:p>
          <a:p>
            <a:endParaRPr lang="en-US" dirty="0">
              <a:solidFill>
                <a:srgbClr val="7030A0"/>
              </a:solidFill>
            </a:endParaRPr>
          </a:p>
        </p:txBody>
      </p:sp>
      <p:sp>
        <p:nvSpPr>
          <p:cNvPr id="4" name="Slide Number Placeholder 3"/>
          <p:cNvSpPr>
            <a:spLocks noGrp="1"/>
          </p:cNvSpPr>
          <p:nvPr>
            <p:ph type="sldNum" sz="quarter" idx="12"/>
          </p:nvPr>
        </p:nvSpPr>
        <p:spPr/>
        <p:txBody>
          <a:bodyPr/>
          <a:lstStyle/>
          <a:p>
            <a:fld id="{04EF813A-C95A-49A4-BB2C-19388EC38802}" type="slidenum">
              <a:rPr lang="en-US" smtClean="0"/>
              <a:t>19</a:t>
            </a:fld>
            <a:endParaRPr lang="en-US"/>
          </a:p>
        </p:txBody>
      </p:sp>
    </p:spTree>
    <p:extLst>
      <p:ext uri="{BB962C8B-B14F-4D97-AF65-F5344CB8AC3E}">
        <p14:creationId xmlns:p14="http://schemas.microsoft.com/office/powerpoint/2010/main" val="3110439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Effect transition="in" filter="fade">
                                      <p:cBhvr>
                                        <p:cTn id="7" dur="500"/>
                                        <p:tgtEl>
                                          <p:spTgt spid="3">
                                            <p:txEl>
                                              <p:pRg st="9" end="9"/>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0" end="10"/>
                                            </p:txEl>
                                          </p:spTgt>
                                        </p:tgtEl>
                                        <p:attrNameLst>
                                          <p:attrName>style.visibility</p:attrName>
                                        </p:attrNameLst>
                                      </p:cBhvr>
                                      <p:to>
                                        <p:strVal val="visible"/>
                                      </p:to>
                                    </p:set>
                                    <p:animEffect transition="in" filter="fade">
                                      <p:cBhvr>
                                        <p:cTn id="10" dur="500"/>
                                        <p:tgtEl>
                                          <p:spTgt spid="3">
                                            <p:txEl>
                                              <p:pRg st="10" end="1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animEffect transition="in" filter="fade">
                                      <p:cBhvr>
                                        <p:cTn id="13" dur="500"/>
                                        <p:tgtEl>
                                          <p:spTgt spid="3">
                                            <p:txEl>
                                              <p:pRg st="11" end="1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12" end="12"/>
                                            </p:txEl>
                                          </p:spTgt>
                                        </p:tgtEl>
                                        <p:attrNameLst>
                                          <p:attrName>style.visibility</p:attrName>
                                        </p:attrNameLst>
                                      </p:cBhvr>
                                      <p:to>
                                        <p:strVal val="visible"/>
                                      </p:to>
                                    </p:set>
                                    <p:animEffect transition="in" filter="fade">
                                      <p:cBhvr>
                                        <p:cTn id="16"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30115" y="27769"/>
            <a:ext cx="7886700" cy="787777"/>
          </a:xfrm>
        </p:spPr>
        <p:txBody>
          <a:bodyPr>
            <a:normAutofit/>
          </a:bodyPr>
          <a:lstStyle/>
          <a:p>
            <a:r>
              <a:rPr lang="en-US" sz="4000" dirty="0">
                <a:solidFill>
                  <a:srgbClr val="7030A0"/>
                </a:solidFill>
              </a:rPr>
              <a:t>Earth’s Magnetosphere</a:t>
            </a:r>
          </a:p>
        </p:txBody>
      </p:sp>
      <p:sp>
        <p:nvSpPr>
          <p:cNvPr id="4" name="Slide Number Placeholder 3"/>
          <p:cNvSpPr>
            <a:spLocks noGrp="1"/>
          </p:cNvSpPr>
          <p:nvPr>
            <p:ph type="sldNum" sz="quarter" idx="12"/>
          </p:nvPr>
        </p:nvSpPr>
        <p:spPr/>
        <p:txBody>
          <a:bodyPr/>
          <a:lstStyle/>
          <a:p>
            <a:fld id="{04EF813A-C95A-49A4-BB2C-19388EC38802}" type="slidenum">
              <a:rPr lang="en-US" smtClean="0"/>
              <a:t>20</a:t>
            </a:fld>
            <a:endParaRPr lang="en-US"/>
          </a:p>
        </p:txBody>
      </p:sp>
      <p:pic>
        <p:nvPicPr>
          <p:cNvPr id="6" name="Picture 5"/>
          <p:cNvPicPr>
            <a:picLocks noChangeAspect="1"/>
          </p:cNvPicPr>
          <p:nvPr/>
        </p:nvPicPr>
        <p:blipFill>
          <a:blip r:embed="rId2"/>
          <a:stretch>
            <a:fillRect/>
          </a:stretch>
        </p:blipFill>
        <p:spPr>
          <a:xfrm>
            <a:off x="0" y="1071315"/>
            <a:ext cx="9081856" cy="5650162"/>
          </a:xfrm>
          <a:prstGeom prst="rect">
            <a:avLst/>
          </a:prstGeom>
        </p:spPr>
      </p:pic>
    </p:spTree>
    <p:extLst>
      <p:ext uri="{BB962C8B-B14F-4D97-AF65-F5344CB8AC3E}">
        <p14:creationId xmlns:p14="http://schemas.microsoft.com/office/powerpoint/2010/main" val="2667064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53328-F180-3269-EA26-EC6405724D7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2D67925-C8F3-9956-59EA-BAD92151DF0C}"/>
              </a:ext>
            </a:extLst>
          </p:cNvPr>
          <p:cNvSpPr>
            <a:spLocks noGrp="1"/>
          </p:cNvSpPr>
          <p:nvPr>
            <p:ph type="title"/>
          </p:nvPr>
        </p:nvSpPr>
        <p:spPr/>
        <p:txBody>
          <a:bodyPr/>
          <a:lstStyle/>
          <a:p>
            <a:r>
              <a:rPr lang="en-US" dirty="0">
                <a:solidFill>
                  <a:schemeClr val="accent1"/>
                </a:solidFill>
              </a:rPr>
              <a:t>Radiation</a:t>
            </a:r>
            <a:r>
              <a:rPr lang="en-US" dirty="0">
                <a:solidFill>
                  <a:srgbClr val="00B050"/>
                </a:solidFill>
              </a:rPr>
              <a:t> </a:t>
            </a:r>
          </a:p>
        </p:txBody>
      </p:sp>
      <p:sp>
        <p:nvSpPr>
          <p:cNvPr id="4" name="Slide Number Placeholder 3">
            <a:extLst>
              <a:ext uri="{FF2B5EF4-FFF2-40B4-BE49-F238E27FC236}">
                <a16:creationId xmlns:a16="http://schemas.microsoft.com/office/drawing/2014/main" id="{0CB71B1A-1F4F-92F8-F149-2BF258B563CD}"/>
              </a:ext>
            </a:extLst>
          </p:cNvPr>
          <p:cNvSpPr>
            <a:spLocks noGrp="1"/>
          </p:cNvSpPr>
          <p:nvPr>
            <p:ph type="sldNum" sz="quarter" idx="12"/>
          </p:nvPr>
        </p:nvSpPr>
        <p:spPr/>
        <p:txBody>
          <a:bodyPr/>
          <a:lstStyle/>
          <a:p>
            <a:fld id="{9A3029B7-FE6B-4680-9049-80E8298A0825}" type="slidenum">
              <a:rPr lang="en-US" smtClean="0"/>
              <a:t>21</a:t>
            </a:fld>
            <a:endParaRPr lang="en-US"/>
          </a:p>
        </p:txBody>
      </p:sp>
    </p:spTree>
    <p:extLst>
      <p:ext uri="{BB962C8B-B14F-4D97-AF65-F5344CB8AC3E}">
        <p14:creationId xmlns:p14="http://schemas.microsoft.com/office/powerpoint/2010/main" val="691717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chemeClr val="accent1"/>
                </a:solidFill>
              </a:rPr>
              <a:t>Radiation</a:t>
            </a:r>
            <a:endParaRPr lang="en-US" dirty="0">
              <a:solidFill>
                <a:schemeClr val="accent1"/>
              </a:solidFill>
            </a:endParaRPr>
          </a:p>
        </p:txBody>
      </p:sp>
      <p:sp>
        <p:nvSpPr>
          <p:cNvPr id="4" name="Content Placeholder 3"/>
          <p:cNvSpPr>
            <a:spLocks noGrp="1"/>
          </p:cNvSpPr>
          <p:nvPr>
            <p:ph idx="1"/>
          </p:nvPr>
        </p:nvSpPr>
        <p:spPr>
          <a:xfrm>
            <a:off x="182236" y="1058834"/>
            <a:ext cx="8072078" cy="5665980"/>
          </a:xfrm>
        </p:spPr>
        <p:txBody>
          <a:bodyPr>
            <a:normAutofit fontScale="70000" lnSpcReduction="20000"/>
          </a:bodyPr>
          <a:lstStyle/>
          <a:p>
            <a:pPr marL="0" indent="0">
              <a:buNone/>
            </a:pPr>
            <a:r>
              <a:rPr lang="en-US" b="1" dirty="0">
                <a:solidFill>
                  <a:schemeClr val="accent1"/>
                </a:solidFill>
              </a:rPr>
              <a:t>Sources</a:t>
            </a:r>
            <a:r>
              <a:rPr lang="en-US" dirty="0">
                <a:solidFill>
                  <a:schemeClr val="accent1"/>
                </a:solidFill>
              </a:rPr>
              <a:t>:</a:t>
            </a:r>
          </a:p>
          <a:p>
            <a:pPr lvl="1"/>
            <a:r>
              <a:rPr lang="en-US" dirty="0">
                <a:solidFill>
                  <a:schemeClr val="accent1"/>
                </a:solidFill>
              </a:rPr>
              <a:t>Galactic Cosmic Rays (GCRs) are high-energy particles from outside the solar system</a:t>
            </a:r>
          </a:p>
          <a:p>
            <a:pPr lvl="1"/>
            <a:r>
              <a:rPr lang="en-US" dirty="0">
                <a:solidFill>
                  <a:schemeClr val="accent1"/>
                </a:solidFill>
              </a:rPr>
              <a:t>Solar Particle Events (SPEs) when large amounts of particles are spewed from the Sun</a:t>
            </a:r>
          </a:p>
          <a:p>
            <a:pPr lvl="1"/>
            <a:r>
              <a:rPr lang="en-US" dirty="0">
                <a:solidFill>
                  <a:schemeClr val="accent1"/>
                </a:solidFill>
              </a:rPr>
              <a:t>Van Allen radiation belts</a:t>
            </a:r>
          </a:p>
          <a:p>
            <a:pPr lvl="1"/>
            <a:endParaRPr lang="en-US" dirty="0">
              <a:solidFill>
                <a:schemeClr val="accent1"/>
              </a:solidFill>
            </a:endParaRPr>
          </a:p>
          <a:p>
            <a:pPr marL="0" indent="0">
              <a:buNone/>
            </a:pPr>
            <a:r>
              <a:rPr lang="en-US" b="1" dirty="0">
                <a:solidFill>
                  <a:schemeClr val="accent1"/>
                </a:solidFill>
              </a:rPr>
              <a:t>Effects on spacecraft:</a:t>
            </a:r>
            <a:endParaRPr lang="en-US" sz="2400" b="1" dirty="0">
              <a:solidFill>
                <a:schemeClr val="accent1"/>
              </a:solidFill>
            </a:endParaRPr>
          </a:p>
          <a:p>
            <a:pPr lvl="1"/>
            <a:r>
              <a:rPr lang="en-US" dirty="0">
                <a:solidFill>
                  <a:schemeClr val="accent1"/>
                </a:solidFill>
              </a:rPr>
              <a:t>Can cause Single Event Phenomenon (SEP), which can have three effects:</a:t>
            </a:r>
            <a:endParaRPr lang="en-US" sz="2000" dirty="0">
              <a:solidFill>
                <a:schemeClr val="accent1"/>
              </a:solidFill>
            </a:endParaRPr>
          </a:p>
          <a:p>
            <a:pPr lvl="2"/>
            <a:r>
              <a:rPr lang="en-US" dirty="0">
                <a:solidFill>
                  <a:schemeClr val="accent1"/>
                </a:solidFill>
              </a:rPr>
              <a:t>Bitflip/Single Event Upset (SEU) – changes one bit</a:t>
            </a:r>
            <a:endParaRPr lang="en-US" sz="1600" dirty="0">
              <a:solidFill>
                <a:schemeClr val="accent1"/>
              </a:solidFill>
            </a:endParaRPr>
          </a:p>
          <a:p>
            <a:pPr lvl="2"/>
            <a:r>
              <a:rPr lang="en-US" dirty="0">
                <a:solidFill>
                  <a:schemeClr val="accent1"/>
                </a:solidFill>
              </a:rPr>
              <a:t>Single Event Latch-up (SEL) – part hangs up, draws excessive current, will not operate until power cycled</a:t>
            </a:r>
            <a:endParaRPr lang="en-US" sz="1600" dirty="0">
              <a:solidFill>
                <a:schemeClr val="accent1"/>
              </a:solidFill>
            </a:endParaRPr>
          </a:p>
          <a:p>
            <a:pPr lvl="2"/>
            <a:r>
              <a:rPr lang="en-US" dirty="0">
                <a:solidFill>
                  <a:schemeClr val="accent1"/>
                </a:solidFill>
              </a:rPr>
              <a:t>Single-Event Burnout (SEB) – causes device to fail permanently</a:t>
            </a:r>
            <a:endParaRPr lang="en-US" sz="1600" dirty="0">
              <a:solidFill>
                <a:schemeClr val="accent1"/>
              </a:solidFill>
            </a:endParaRPr>
          </a:p>
          <a:p>
            <a:pPr lvl="1"/>
            <a:r>
              <a:rPr lang="en-US" dirty="0">
                <a:solidFill>
                  <a:schemeClr val="accent1"/>
                </a:solidFill>
              </a:rPr>
              <a:t>Can generate background noise and produce spurious signals in various sensors</a:t>
            </a:r>
          </a:p>
          <a:p>
            <a:pPr lvl="1"/>
            <a:endParaRPr lang="en-US" sz="2800" dirty="0">
              <a:solidFill>
                <a:schemeClr val="accent1"/>
              </a:solidFill>
            </a:endParaRPr>
          </a:p>
          <a:p>
            <a:pPr marL="0" indent="0">
              <a:buNone/>
            </a:pPr>
            <a:r>
              <a:rPr lang="en-US" b="1" dirty="0">
                <a:solidFill>
                  <a:schemeClr val="accent1"/>
                </a:solidFill>
              </a:rPr>
              <a:t>Strategies to mitigate impacts:</a:t>
            </a:r>
            <a:endParaRPr lang="en-US" sz="2400" b="1" dirty="0">
              <a:solidFill>
                <a:schemeClr val="accent1"/>
              </a:solidFill>
            </a:endParaRPr>
          </a:p>
          <a:p>
            <a:pPr lvl="1"/>
            <a:r>
              <a:rPr lang="en-US" dirty="0">
                <a:solidFill>
                  <a:schemeClr val="accent1"/>
                </a:solidFill>
              </a:rPr>
              <a:t>Shielding sensitive electronics</a:t>
            </a:r>
            <a:endParaRPr lang="en-US" sz="2000" dirty="0">
              <a:solidFill>
                <a:schemeClr val="accent1"/>
              </a:solidFill>
            </a:endParaRPr>
          </a:p>
          <a:p>
            <a:pPr lvl="1"/>
            <a:r>
              <a:rPr lang="en-US" dirty="0">
                <a:solidFill>
                  <a:schemeClr val="accent1"/>
                </a:solidFill>
              </a:rPr>
              <a:t>Design and parts selection (use radiation tolerant parts)</a:t>
            </a:r>
          </a:p>
          <a:p>
            <a:pPr lvl="1"/>
            <a:r>
              <a:rPr lang="en-US" dirty="0">
                <a:solidFill>
                  <a:schemeClr val="accent1"/>
                </a:solidFill>
              </a:rPr>
              <a:t>Redundancy</a:t>
            </a:r>
            <a:endParaRPr lang="en-US" sz="2000" dirty="0">
              <a:solidFill>
                <a:schemeClr val="accent1"/>
              </a:solidFill>
            </a:endParaRPr>
          </a:p>
          <a:p>
            <a:pPr lvl="1"/>
            <a:r>
              <a:rPr lang="en-US" dirty="0">
                <a:solidFill>
                  <a:schemeClr val="accent1"/>
                </a:solidFill>
              </a:rPr>
              <a:t>EDAC (error detection and correction – more to come on this in the TT&amp;C lesson)</a:t>
            </a:r>
            <a:endParaRPr lang="en-US" sz="2000" dirty="0">
              <a:solidFill>
                <a:schemeClr val="accent1"/>
              </a:solidFill>
            </a:endParaRPr>
          </a:p>
          <a:p>
            <a:pPr lvl="1"/>
            <a:endParaRPr lang="en-US" sz="2000" dirty="0">
              <a:solidFill>
                <a:schemeClr val="accent1"/>
              </a:solidFill>
            </a:endParaRPr>
          </a:p>
          <a:p>
            <a:endParaRPr lang="en-US" dirty="0">
              <a:solidFill>
                <a:schemeClr val="accent1"/>
              </a:solidFill>
            </a:endParaRPr>
          </a:p>
          <a:p>
            <a:endParaRPr lang="en-US" dirty="0">
              <a:solidFill>
                <a:schemeClr val="accent1"/>
              </a:solidFill>
            </a:endParaRPr>
          </a:p>
        </p:txBody>
      </p:sp>
      <p:sp>
        <p:nvSpPr>
          <p:cNvPr id="3" name="Slide Number Placeholder 2"/>
          <p:cNvSpPr>
            <a:spLocks noGrp="1"/>
          </p:cNvSpPr>
          <p:nvPr>
            <p:ph type="sldNum" sz="quarter" idx="12"/>
          </p:nvPr>
        </p:nvSpPr>
        <p:spPr/>
        <p:txBody>
          <a:bodyPr/>
          <a:lstStyle/>
          <a:p>
            <a:fld id="{04EF813A-C95A-49A4-BB2C-19388EC38802}" type="slidenum">
              <a:rPr lang="en-US" smtClean="0"/>
              <a:t>22</a:t>
            </a:fld>
            <a:endParaRPr lang="en-US"/>
          </a:p>
        </p:txBody>
      </p:sp>
    </p:spTree>
    <p:extLst>
      <p:ext uri="{BB962C8B-B14F-4D97-AF65-F5344CB8AC3E}">
        <p14:creationId xmlns:p14="http://schemas.microsoft.com/office/powerpoint/2010/main" val="2592563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500"/>
                                        <p:tgtEl>
                                          <p:spTgt spid="4">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6" end="6"/>
                                            </p:txEl>
                                          </p:spTgt>
                                        </p:tgtEl>
                                        <p:attrNameLst>
                                          <p:attrName>style.visibility</p:attrName>
                                        </p:attrNameLst>
                                      </p:cBhvr>
                                      <p:to>
                                        <p:strVal val="visible"/>
                                      </p:to>
                                    </p:set>
                                    <p:animEffect transition="in" filter="fade">
                                      <p:cBhvr>
                                        <p:cTn id="10" dur="500"/>
                                        <p:tgtEl>
                                          <p:spTgt spid="4">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animEffect transition="in" filter="fade">
                                      <p:cBhvr>
                                        <p:cTn id="13" dur="500"/>
                                        <p:tgtEl>
                                          <p:spTgt spid="4">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8" end="8"/>
                                            </p:txEl>
                                          </p:spTgt>
                                        </p:tgtEl>
                                        <p:attrNameLst>
                                          <p:attrName>style.visibility</p:attrName>
                                        </p:attrNameLst>
                                      </p:cBhvr>
                                      <p:to>
                                        <p:strVal val="visible"/>
                                      </p:to>
                                    </p:set>
                                    <p:animEffect transition="in" filter="fade">
                                      <p:cBhvr>
                                        <p:cTn id="16" dur="500"/>
                                        <p:tgtEl>
                                          <p:spTgt spid="4">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animEffect transition="in" filter="fade">
                                      <p:cBhvr>
                                        <p:cTn id="19" dur="500"/>
                                        <p:tgtEl>
                                          <p:spTgt spid="4">
                                            <p:txEl>
                                              <p:pRg st="9" end="9"/>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10" end="10"/>
                                            </p:txEl>
                                          </p:spTgt>
                                        </p:tgtEl>
                                        <p:attrNameLst>
                                          <p:attrName>style.visibility</p:attrName>
                                        </p:attrNameLst>
                                      </p:cBhvr>
                                      <p:to>
                                        <p:strVal val="visible"/>
                                      </p:to>
                                    </p:set>
                                    <p:animEffect transition="in" filter="fade">
                                      <p:cBhvr>
                                        <p:cTn id="22" dur="500"/>
                                        <p:tgtEl>
                                          <p:spTgt spid="4">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12" end="12"/>
                                            </p:txEl>
                                          </p:spTgt>
                                        </p:tgtEl>
                                        <p:attrNameLst>
                                          <p:attrName>style.visibility</p:attrName>
                                        </p:attrNameLst>
                                      </p:cBhvr>
                                      <p:to>
                                        <p:strVal val="visible"/>
                                      </p:to>
                                    </p:set>
                                    <p:animEffect transition="in" filter="fade">
                                      <p:cBhvr>
                                        <p:cTn id="27" dur="500"/>
                                        <p:tgtEl>
                                          <p:spTgt spid="4">
                                            <p:txEl>
                                              <p:pRg st="12" end="12"/>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
                                            <p:txEl>
                                              <p:pRg st="13" end="13"/>
                                            </p:txEl>
                                          </p:spTgt>
                                        </p:tgtEl>
                                        <p:attrNameLst>
                                          <p:attrName>style.visibility</p:attrName>
                                        </p:attrNameLst>
                                      </p:cBhvr>
                                      <p:to>
                                        <p:strVal val="visible"/>
                                      </p:to>
                                    </p:set>
                                    <p:animEffect transition="in" filter="fade">
                                      <p:cBhvr>
                                        <p:cTn id="30" dur="500"/>
                                        <p:tgtEl>
                                          <p:spTgt spid="4">
                                            <p:txEl>
                                              <p:pRg st="13" end="13"/>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4">
                                            <p:txEl>
                                              <p:pRg st="14" end="14"/>
                                            </p:txEl>
                                          </p:spTgt>
                                        </p:tgtEl>
                                        <p:attrNameLst>
                                          <p:attrName>style.visibility</p:attrName>
                                        </p:attrNameLst>
                                      </p:cBhvr>
                                      <p:to>
                                        <p:strVal val="visible"/>
                                      </p:to>
                                    </p:set>
                                    <p:animEffect transition="in" filter="fade">
                                      <p:cBhvr>
                                        <p:cTn id="33" dur="500"/>
                                        <p:tgtEl>
                                          <p:spTgt spid="4">
                                            <p:txEl>
                                              <p:pRg st="14" end="14"/>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
                                            <p:txEl>
                                              <p:pRg st="15" end="15"/>
                                            </p:txEl>
                                          </p:spTgt>
                                        </p:tgtEl>
                                        <p:attrNameLst>
                                          <p:attrName>style.visibility</p:attrName>
                                        </p:attrNameLst>
                                      </p:cBhvr>
                                      <p:to>
                                        <p:strVal val="visible"/>
                                      </p:to>
                                    </p:set>
                                    <p:animEffect transition="in" filter="fade">
                                      <p:cBhvr>
                                        <p:cTn id="36" dur="500"/>
                                        <p:tgtEl>
                                          <p:spTgt spid="4">
                                            <p:txEl>
                                              <p:pRg st="15" end="15"/>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4">
                                            <p:txEl>
                                              <p:pRg st="16" end="16"/>
                                            </p:txEl>
                                          </p:spTgt>
                                        </p:tgtEl>
                                        <p:attrNameLst>
                                          <p:attrName>style.visibility</p:attrName>
                                        </p:attrNameLst>
                                      </p:cBhvr>
                                      <p:to>
                                        <p:strVal val="visible"/>
                                      </p:to>
                                    </p:set>
                                    <p:animEffect transition="in" filter="fade">
                                      <p:cBhvr>
                                        <p:cTn id="39" dur="500"/>
                                        <p:tgtEl>
                                          <p:spTgt spid="4">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chemeClr val="accent1"/>
                </a:solidFill>
              </a:rPr>
              <a:t>Van Allen Radiation Belts</a:t>
            </a:r>
          </a:p>
        </p:txBody>
      </p:sp>
      <p:sp>
        <p:nvSpPr>
          <p:cNvPr id="3" name="Content Placeholder 2"/>
          <p:cNvSpPr>
            <a:spLocks noGrp="1"/>
          </p:cNvSpPr>
          <p:nvPr>
            <p:ph idx="1"/>
          </p:nvPr>
        </p:nvSpPr>
        <p:spPr>
          <a:xfrm>
            <a:off x="197708" y="1037968"/>
            <a:ext cx="8317642" cy="5318383"/>
          </a:xfrm>
        </p:spPr>
        <p:txBody>
          <a:bodyPr>
            <a:normAutofit lnSpcReduction="10000"/>
          </a:bodyPr>
          <a:lstStyle/>
          <a:p>
            <a:r>
              <a:rPr lang="en-US" dirty="0">
                <a:solidFill>
                  <a:schemeClr val="accent1"/>
                </a:solidFill>
              </a:rPr>
              <a:t>Regions of high-energy particles, mainly protons and electrons, held captive by Earth’s magnetic influence</a:t>
            </a:r>
            <a:endParaRPr lang="en-US" sz="2400" dirty="0">
              <a:solidFill>
                <a:schemeClr val="accent1"/>
              </a:solidFill>
            </a:endParaRPr>
          </a:p>
          <a:p>
            <a:r>
              <a:rPr lang="en-US" dirty="0">
                <a:solidFill>
                  <a:schemeClr val="accent1"/>
                </a:solidFill>
              </a:rPr>
              <a:t>Permanent hazard to orbit spacecraft, with particles distributed non-uniformly with Earth’s magnetosphere</a:t>
            </a:r>
            <a:endParaRPr lang="en-US" sz="2400" dirty="0">
              <a:solidFill>
                <a:schemeClr val="accent1"/>
              </a:solidFill>
            </a:endParaRPr>
          </a:p>
          <a:p>
            <a:r>
              <a:rPr lang="en-US" b="1" dirty="0">
                <a:solidFill>
                  <a:schemeClr val="accent1"/>
                </a:solidFill>
              </a:rPr>
              <a:t>South Atlantic Anomaly </a:t>
            </a:r>
            <a:r>
              <a:rPr lang="en-US" dirty="0">
                <a:solidFill>
                  <a:schemeClr val="accent1"/>
                </a:solidFill>
              </a:rPr>
              <a:t>is a volume of space centered on South America’s east coast, where Earth’s inner Van Allen belt comes closest to the surface due to a weakness in Earth’s magnetic field</a:t>
            </a:r>
            <a:endParaRPr lang="en-US" sz="2400" dirty="0">
              <a:solidFill>
                <a:schemeClr val="accent1"/>
              </a:solidFill>
            </a:endParaRPr>
          </a:p>
          <a:p>
            <a:pPr lvl="1"/>
            <a:r>
              <a:rPr lang="en-US" dirty="0">
                <a:solidFill>
                  <a:schemeClr val="accent1"/>
                </a:solidFill>
              </a:rPr>
              <a:t>An increased flux of particles exists within this space and exposes spacecraft to higher than usual radiation levels</a:t>
            </a:r>
            <a:endParaRPr lang="en-US" sz="2200" dirty="0">
              <a:solidFill>
                <a:schemeClr val="accent1"/>
              </a:solidFill>
            </a:endParaRPr>
          </a:p>
          <a:p>
            <a:endParaRPr lang="en-US" dirty="0">
              <a:solidFill>
                <a:schemeClr val="accent1"/>
              </a:solidFill>
            </a:endParaRPr>
          </a:p>
        </p:txBody>
      </p:sp>
      <p:sp>
        <p:nvSpPr>
          <p:cNvPr id="4" name="Slide Number Placeholder 3"/>
          <p:cNvSpPr>
            <a:spLocks noGrp="1"/>
          </p:cNvSpPr>
          <p:nvPr>
            <p:ph type="sldNum" sz="quarter" idx="12"/>
          </p:nvPr>
        </p:nvSpPr>
        <p:spPr/>
        <p:txBody>
          <a:bodyPr/>
          <a:lstStyle/>
          <a:p>
            <a:fld id="{04EF813A-C95A-49A4-BB2C-19388EC38802}" type="slidenum">
              <a:rPr lang="en-US" smtClean="0"/>
              <a:t>23</a:t>
            </a:fld>
            <a:endParaRPr lang="en-US"/>
          </a:p>
        </p:txBody>
      </p:sp>
    </p:spTree>
    <p:extLst>
      <p:ext uri="{BB962C8B-B14F-4D97-AF65-F5344CB8AC3E}">
        <p14:creationId xmlns:p14="http://schemas.microsoft.com/office/powerpoint/2010/main" val="1350303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2"/>
          <p:cNvSpPr>
            <a:spLocks/>
          </p:cNvSpPr>
          <p:nvPr/>
        </p:nvSpPr>
        <p:spPr bwMode="auto">
          <a:xfrm>
            <a:off x="3587262" y="6179344"/>
            <a:ext cx="530670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40640" bIns="0"/>
          <a:lstStyle>
            <a:lvl1pPr marL="57150">
              <a:defRPr sz="1200">
                <a:solidFill>
                  <a:schemeClr val="tx1"/>
                </a:solidFill>
                <a:latin typeface="Times New Roman" panose="02020603050405020304" pitchFamily="18" charset="0"/>
              </a:defRPr>
            </a:lvl1pPr>
            <a:lvl2pPr>
              <a:defRPr sz="1200">
                <a:solidFill>
                  <a:schemeClr val="tx1"/>
                </a:solidFill>
                <a:latin typeface="Times New Roman" panose="02020603050405020304" pitchFamily="18" charset="0"/>
              </a:defRPr>
            </a:lvl2pPr>
            <a:lvl3pPr>
              <a:defRPr sz="1200">
                <a:solidFill>
                  <a:schemeClr val="tx1"/>
                </a:solidFill>
                <a:latin typeface="Times New Roman" panose="02020603050405020304" pitchFamily="18" charset="0"/>
              </a:defRPr>
            </a:lvl3pPr>
            <a:lvl4pPr>
              <a:defRPr sz="1200">
                <a:solidFill>
                  <a:schemeClr val="tx1"/>
                </a:solidFill>
                <a:latin typeface="Times New Roman" panose="02020603050405020304" pitchFamily="18" charset="0"/>
              </a:defRPr>
            </a:lvl4pPr>
            <a:lvl5pPr>
              <a:defRPr sz="1200">
                <a:solidFill>
                  <a:schemeClr val="tx1"/>
                </a:solidFill>
                <a:latin typeface="Times New Roman" panose="02020603050405020304" pitchFamily="18" charset="0"/>
              </a:defRPr>
            </a:lvl5pPr>
            <a:lvl6pPr fontAlgn="base">
              <a:spcBef>
                <a:spcPct val="0"/>
              </a:spcBef>
              <a:spcAft>
                <a:spcPct val="0"/>
              </a:spcAft>
              <a:defRPr sz="1200">
                <a:solidFill>
                  <a:schemeClr val="tx1"/>
                </a:solidFill>
                <a:latin typeface="Times New Roman" panose="02020603050405020304" pitchFamily="18" charset="0"/>
              </a:defRPr>
            </a:lvl6pPr>
            <a:lvl7pPr fontAlgn="base">
              <a:spcBef>
                <a:spcPct val="0"/>
              </a:spcBef>
              <a:spcAft>
                <a:spcPct val="0"/>
              </a:spcAft>
              <a:defRPr sz="1200">
                <a:solidFill>
                  <a:schemeClr val="tx1"/>
                </a:solidFill>
                <a:latin typeface="Times New Roman" panose="02020603050405020304" pitchFamily="18" charset="0"/>
              </a:defRPr>
            </a:lvl7pPr>
            <a:lvl8pPr fontAlgn="base">
              <a:spcBef>
                <a:spcPct val="0"/>
              </a:spcBef>
              <a:spcAft>
                <a:spcPct val="0"/>
              </a:spcAft>
              <a:defRPr sz="1200">
                <a:solidFill>
                  <a:schemeClr val="tx1"/>
                </a:solidFill>
                <a:latin typeface="Times New Roman" panose="02020603050405020304" pitchFamily="18" charset="0"/>
              </a:defRPr>
            </a:lvl8pPr>
            <a:lvl9pPr fontAlgn="base">
              <a:spcBef>
                <a:spcPct val="0"/>
              </a:spcBef>
              <a:spcAft>
                <a:spcPct val="0"/>
              </a:spcAft>
              <a:defRPr sz="1200">
                <a:solidFill>
                  <a:schemeClr val="tx1"/>
                </a:solidFill>
                <a:latin typeface="Times New Roman" panose="02020603050405020304" pitchFamily="18" charset="0"/>
              </a:defRPr>
            </a:lvl9pPr>
          </a:lstStyle>
          <a:p>
            <a:pPr algn="r"/>
            <a:r>
              <a:rPr lang="en-US" altLang="en-US" sz="1266">
                <a:latin typeface="Arial" panose="020B0604020202020204" pitchFamily="34" charset="0"/>
                <a:cs typeface="Arial" panose="020B0604020202020204" pitchFamily="34" charset="0"/>
                <a:sym typeface="Arial" panose="020B0604020202020204" pitchFamily="34" charset="0"/>
              </a:rPr>
              <a:t>Designing Space Missions and Systems, Fig 8.5</a:t>
            </a:r>
          </a:p>
        </p:txBody>
      </p:sp>
      <p:sp>
        <p:nvSpPr>
          <p:cNvPr id="3" name="Slide Number Placeholder 2"/>
          <p:cNvSpPr>
            <a:spLocks noGrp="1"/>
          </p:cNvSpPr>
          <p:nvPr>
            <p:ph type="sldNum" sz="quarter" idx="12"/>
          </p:nvPr>
        </p:nvSpPr>
        <p:spPr/>
        <p:txBody>
          <a:bodyPr/>
          <a:lstStyle/>
          <a:p>
            <a:fld id="{04EF813A-C95A-49A4-BB2C-19388EC38802}" type="slidenum">
              <a:rPr lang="en-US" smtClean="0"/>
              <a:t>24</a:t>
            </a:fld>
            <a:endParaRPr lang="en-US"/>
          </a:p>
        </p:txBody>
      </p:sp>
      <p:pic>
        <p:nvPicPr>
          <p:cNvPr id="5" name="Picture 4"/>
          <p:cNvPicPr>
            <a:picLocks noChangeAspect="1"/>
          </p:cNvPicPr>
          <p:nvPr/>
        </p:nvPicPr>
        <p:blipFill>
          <a:blip r:embed="rId2"/>
          <a:stretch>
            <a:fillRect/>
          </a:stretch>
        </p:blipFill>
        <p:spPr>
          <a:xfrm>
            <a:off x="628650" y="1157288"/>
            <a:ext cx="7993856" cy="5022056"/>
          </a:xfrm>
          <a:prstGeom prst="rect">
            <a:avLst/>
          </a:prstGeom>
        </p:spPr>
      </p:pic>
      <p:sp>
        <p:nvSpPr>
          <p:cNvPr id="2" name="Title 1"/>
          <p:cNvSpPr>
            <a:spLocks noGrp="1"/>
          </p:cNvSpPr>
          <p:nvPr>
            <p:ph type="title"/>
          </p:nvPr>
        </p:nvSpPr>
        <p:spPr/>
        <p:txBody>
          <a:bodyPr/>
          <a:lstStyle/>
          <a:p>
            <a:r>
              <a:rPr lang="en-US" sz="3600" dirty="0">
                <a:solidFill>
                  <a:schemeClr val="accent1"/>
                </a:solidFill>
              </a:rPr>
              <a:t>Van Allen Radiation Belts</a:t>
            </a:r>
          </a:p>
        </p:txBody>
      </p:sp>
    </p:spTree>
    <p:extLst>
      <p:ext uri="{BB962C8B-B14F-4D97-AF65-F5344CB8AC3E}">
        <p14:creationId xmlns:p14="http://schemas.microsoft.com/office/powerpoint/2010/main" val="35559895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accent1"/>
                </a:solidFill>
              </a:rPr>
              <a:t>South Atlantic Anomaly</a:t>
            </a:r>
          </a:p>
        </p:txBody>
      </p:sp>
      <p:sp>
        <p:nvSpPr>
          <p:cNvPr id="4" name="Slide Number Placeholder 3"/>
          <p:cNvSpPr>
            <a:spLocks noGrp="1"/>
          </p:cNvSpPr>
          <p:nvPr>
            <p:ph type="sldNum" sz="quarter" idx="12"/>
          </p:nvPr>
        </p:nvSpPr>
        <p:spPr/>
        <p:txBody>
          <a:bodyPr/>
          <a:lstStyle/>
          <a:p>
            <a:fld id="{04EF813A-C95A-49A4-BB2C-19388EC38802}" type="slidenum">
              <a:rPr lang="en-US" smtClean="0"/>
              <a:t>25</a:t>
            </a:fld>
            <a:endParaRPr lang="en-US"/>
          </a:p>
        </p:txBody>
      </p:sp>
      <p:pic>
        <p:nvPicPr>
          <p:cNvPr id="6" name="Picture 5"/>
          <p:cNvPicPr>
            <a:picLocks noChangeAspect="1"/>
          </p:cNvPicPr>
          <p:nvPr/>
        </p:nvPicPr>
        <p:blipFill>
          <a:blip r:embed="rId2"/>
          <a:stretch>
            <a:fillRect/>
          </a:stretch>
        </p:blipFill>
        <p:spPr>
          <a:xfrm>
            <a:off x="110948" y="1345196"/>
            <a:ext cx="8922104" cy="5011155"/>
          </a:xfrm>
          <a:prstGeom prst="rect">
            <a:avLst/>
          </a:prstGeom>
        </p:spPr>
      </p:pic>
    </p:spTree>
    <p:extLst>
      <p:ext uri="{BB962C8B-B14F-4D97-AF65-F5344CB8AC3E}">
        <p14:creationId xmlns:p14="http://schemas.microsoft.com/office/powerpoint/2010/main" val="3396318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600" dirty="0">
                <a:solidFill>
                  <a:schemeClr val="accent1"/>
                </a:solidFill>
              </a:rPr>
              <a:t>COTS vs Rad Hard Parts</a:t>
            </a:r>
          </a:p>
        </p:txBody>
      </p:sp>
      <p:sp>
        <p:nvSpPr>
          <p:cNvPr id="2" name="Slide Number Placeholder 1"/>
          <p:cNvSpPr>
            <a:spLocks noGrp="1"/>
          </p:cNvSpPr>
          <p:nvPr>
            <p:ph type="sldNum" sz="quarter" idx="12"/>
          </p:nvPr>
        </p:nvSpPr>
        <p:spPr/>
        <p:txBody>
          <a:bodyPr/>
          <a:lstStyle/>
          <a:p>
            <a:fld id="{04EF813A-C95A-49A4-BB2C-19388EC38802}" type="slidenum">
              <a:rPr lang="en-US" smtClean="0"/>
              <a:t>26</a:t>
            </a:fld>
            <a:endParaRPr lang="en-US"/>
          </a:p>
        </p:txBody>
      </p:sp>
      <p:pic>
        <p:nvPicPr>
          <p:cNvPr id="3" name="Picture 2"/>
          <p:cNvPicPr>
            <a:picLocks noChangeAspect="1"/>
          </p:cNvPicPr>
          <p:nvPr/>
        </p:nvPicPr>
        <p:blipFill>
          <a:blip r:embed="rId3"/>
          <a:stretch>
            <a:fillRect/>
          </a:stretch>
        </p:blipFill>
        <p:spPr>
          <a:xfrm>
            <a:off x="0" y="1448061"/>
            <a:ext cx="9001188" cy="4354366"/>
          </a:xfrm>
          <a:prstGeom prst="rect">
            <a:avLst/>
          </a:prstGeom>
          <a:scene3d>
            <a:camera prst="orthographicFront">
              <a:rot lat="0" lon="0" rev="21540000"/>
            </a:camera>
            <a:lightRig rig="threePt" dir="t"/>
          </a:scene3d>
        </p:spPr>
      </p:pic>
    </p:spTree>
    <p:extLst>
      <p:ext uri="{BB962C8B-B14F-4D97-AF65-F5344CB8AC3E}">
        <p14:creationId xmlns:p14="http://schemas.microsoft.com/office/powerpoint/2010/main" val="2401467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765E9-2D5F-9F90-0643-89554F1585E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09B9025-2D78-4098-A35D-1DBB4E1D984A}"/>
              </a:ext>
            </a:extLst>
          </p:cNvPr>
          <p:cNvSpPr>
            <a:spLocks noGrp="1"/>
          </p:cNvSpPr>
          <p:nvPr>
            <p:ph type="title"/>
          </p:nvPr>
        </p:nvSpPr>
        <p:spPr/>
        <p:txBody>
          <a:bodyPr>
            <a:normAutofit/>
          </a:bodyPr>
          <a:lstStyle/>
          <a:p>
            <a:r>
              <a:rPr lang="en-US" sz="3600" dirty="0" err="1">
                <a:solidFill>
                  <a:schemeClr val="accent2">
                    <a:lumMod val="75000"/>
                  </a:schemeClr>
                </a:solidFill>
              </a:rPr>
              <a:t>Micrometeroids</a:t>
            </a:r>
            <a:r>
              <a:rPr lang="en-US" sz="3600" dirty="0">
                <a:solidFill>
                  <a:schemeClr val="accent2">
                    <a:lumMod val="75000"/>
                  </a:schemeClr>
                </a:solidFill>
              </a:rPr>
              <a:t> &amp; Orbital Debris</a:t>
            </a:r>
            <a:r>
              <a:rPr lang="en-US" sz="3600" dirty="0">
                <a:solidFill>
                  <a:srgbClr val="00B050"/>
                </a:solidFill>
              </a:rPr>
              <a:t> </a:t>
            </a:r>
          </a:p>
        </p:txBody>
      </p:sp>
      <p:sp>
        <p:nvSpPr>
          <p:cNvPr id="4" name="Slide Number Placeholder 3">
            <a:extLst>
              <a:ext uri="{FF2B5EF4-FFF2-40B4-BE49-F238E27FC236}">
                <a16:creationId xmlns:a16="http://schemas.microsoft.com/office/drawing/2014/main" id="{A59FD61D-3DC2-4011-2AB7-636B79C1F802}"/>
              </a:ext>
            </a:extLst>
          </p:cNvPr>
          <p:cNvSpPr>
            <a:spLocks noGrp="1"/>
          </p:cNvSpPr>
          <p:nvPr>
            <p:ph type="sldNum" sz="quarter" idx="12"/>
          </p:nvPr>
        </p:nvSpPr>
        <p:spPr/>
        <p:txBody>
          <a:bodyPr/>
          <a:lstStyle/>
          <a:p>
            <a:fld id="{9A3029B7-FE6B-4680-9049-80E8298A0825}" type="slidenum">
              <a:rPr lang="en-US" smtClean="0"/>
              <a:t>27</a:t>
            </a:fld>
            <a:endParaRPr lang="en-US"/>
          </a:p>
        </p:txBody>
      </p:sp>
    </p:spTree>
    <p:extLst>
      <p:ext uri="{BB962C8B-B14F-4D97-AF65-F5344CB8AC3E}">
        <p14:creationId xmlns:p14="http://schemas.microsoft.com/office/powerpoint/2010/main" val="3975829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2">
                    <a:lumMod val="75000"/>
                  </a:schemeClr>
                </a:solidFill>
              </a:rPr>
              <a:t>Micrometeoroids and Orbital Debris (MMOD)</a:t>
            </a:r>
          </a:p>
        </p:txBody>
      </p:sp>
      <p:sp>
        <p:nvSpPr>
          <p:cNvPr id="4" name="Content Placeholder 3"/>
          <p:cNvSpPr>
            <a:spLocks noGrp="1"/>
          </p:cNvSpPr>
          <p:nvPr>
            <p:ph idx="1"/>
          </p:nvPr>
        </p:nvSpPr>
        <p:spPr>
          <a:xfrm>
            <a:off x="148281" y="1050324"/>
            <a:ext cx="8367069" cy="5435317"/>
          </a:xfrm>
        </p:spPr>
        <p:txBody>
          <a:bodyPr>
            <a:normAutofit/>
          </a:bodyPr>
          <a:lstStyle/>
          <a:p>
            <a:pPr marL="0" indent="0">
              <a:buNone/>
            </a:pPr>
            <a:r>
              <a:rPr lang="en-US" b="1" dirty="0">
                <a:solidFill>
                  <a:schemeClr val="accent2">
                    <a:lumMod val="75000"/>
                  </a:schemeClr>
                </a:solidFill>
              </a:rPr>
              <a:t>Source</a:t>
            </a:r>
            <a:r>
              <a:rPr lang="en-US" dirty="0">
                <a:solidFill>
                  <a:schemeClr val="accent2">
                    <a:lumMod val="75000"/>
                  </a:schemeClr>
                </a:solidFill>
              </a:rPr>
              <a:t>:</a:t>
            </a:r>
          </a:p>
          <a:p>
            <a:pPr lvl="1"/>
            <a:r>
              <a:rPr lang="en-US" dirty="0">
                <a:solidFill>
                  <a:schemeClr val="accent2">
                    <a:lumMod val="75000"/>
                  </a:schemeClr>
                </a:solidFill>
              </a:rPr>
              <a:t>Defunct spacecraft, rocket bodies and spacecraft debris are still in orbit and are not controlled</a:t>
            </a:r>
          </a:p>
          <a:p>
            <a:pPr lvl="1"/>
            <a:endParaRPr lang="en-US" dirty="0">
              <a:solidFill>
                <a:schemeClr val="accent2">
                  <a:lumMod val="75000"/>
                </a:schemeClr>
              </a:solidFill>
            </a:endParaRPr>
          </a:p>
          <a:p>
            <a:pPr marL="0" indent="0">
              <a:buNone/>
            </a:pPr>
            <a:r>
              <a:rPr lang="en-US" b="1" dirty="0">
                <a:solidFill>
                  <a:schemeClr val="accent2">
                    <a:lumMod val="75000"/>
                  </a:schemeClr>
                </a:solidFill>
              </a:rPr>
              <a:t>Effects on spacecraft</a:t>
            </a:r>
            <a:r>
              <a:rPr lang="en-US" dirty="0">
                <a:solidFill>
                  <a:schemeClr val="accent2">
                    <a:lumMod val="75000"/>
                  </a:schemeClr>
                </a:solidFill>
              </a:rPr>
              <a:t>:</a:t>
            </a:r>
          </a:p>
          <a:p>
            <a:pPr lvl="1"/>
            <a:r>
              <a:rPr lang="en-US" dirty="0">
                <a:solidFill>
                  <a:schemeClr val="accent2">
                    <a:lumMod val="75000"/>
                  </a:schemeClr>
                </a:solidFill>
              </a:rPr>
              <a:t>Kinetic damage from collision</a:t>
            </a:r>
          </a:p>
          <a:p>
            <a:pPr lvl="1"/>
            <a:endParaRPr lang="en-US" dirty="0">
              <a:solidFill>
                <a:schemeClr val="accent2">
                  <a:lumMod val="75000"/>
                </a:schemeClr>
              </a:solidFill>
            </a:endParaRPr>
          </a:p>
          <a:p>
            <a:pPr marL="0" indent="0">
              <a:buNone/>
            </a:pPr>
            <a:r>
              <a:rPr lang="en-US" b="1" dirty="0">
                <a:solidFill>
                  <a:schemeClr val="accent2">
                    <a:lumMod val="75000"/>
                  </a:schemeClr>
                </a:solidFill>
              </a:rPr>
              <a:t>Strategies to mitigate impacts</a:t>
            </a:r>
            <a:r>
              <a:rPr lang="en-US" dirty="0">
                <a:solidFill>
                  <a:schemeClr val="accent2">
                    <a:lumMod val="75000"/>
                  </a:schemeClr>
                </a:solidFill>
              </a:rPr>
              <a:t>:</a:t>
            </a:r>
          </a:p>
          <a:p>
            <a:pPr lvl="1"/>
            <a:r>
              <a:rPr lang="en-US" dirty="0">
                <a:solidFill>
                  <a:schemeClr val="accent2">
                    <a:lumMod val="75000"/>
                  </a:schemeClr>
                </a:solidFill>
              </a:rPr>
              <a:t>Choose orbits with minimal debris (if possible)</a:t>
            </a:r>
          </a:p>
          <a:p>
            <a:pPr lvl="1"/>
            <a:r>
              <a:rPr lang="en-US" dirty="0">
                <a:solidFill>
                  <a:schemeClr val="accent2">
                    <a:lumMod val="75000"/>
                  </a:schemeClr>
                </a:solidFill>
              </a:rPr>
              <a:t>Have additional propellant on-board for collision avoidance maneuvers</a:t>
            </a:r>
          </a:p>
          <a:p>
            <a:pPr lvl="1"/>
            <a:r>
              <a:rPr lang="en-US" dirty="0">
                <a:solidFill>
                  <a:schemeClr val="accent2">
                    <a:lumMod val="75000"/>
                  </a:schemeClr>
                </a:solidFill>
              </a:rPr>
              <a:t>Plan to dispose of spacecraft at end of mission life</a:t>
            </a:r>
          </a:p>
          <a:p>
            <a:endParaRPr lang="en-US" dirty="0">
              <a:solidFill>
                <a:schemeClr val="accent2">
                  <a:lumMod val="75000"/>
                </a:schemeClr>
              </a:solidFill>
            </a:endParaRPr>
          </a:p>
        </p:txBody>
      </p:sp>
      <p:sp>
        <p:nvSpPr>
          <p:cNvPr id="3" name="Slide Number Placeholder 2"/>
          <p:cNvSpPr>
            <a:spLocks noGrp="1"/>
          </p:cNvSpPr>
          <p:nvPr>
            <p:ph type="sldNum" sz="quarter" idx="12"/>
          </p:nvPr>
        </p:nvSpPr>
        <p:spPr/>
        <p:txBody>
          <a:bodyPr/>
          <a:lstStyle/>
          <a:p>
            <a:fld id="{04EF813A-C95A-49A4-BB2C-19388EC38802}" type="slidenum">
              <a:rPr lang="en-US" smtClean="0"/>
              <a:t>28</a:t>
            </a:fld>
            <a:endParaRPr lang="en-US"/>
          </a:p>
        </p:txBody>
      </p:sp>
    </p:spTree>
    <p:extLst>
      <p:ext uri="{BB962C8B-B14F-4D97-AF65-F5344CB8AC3E}">
        <p14:creationId xmlns:p14="http://schemas.microsoft.com/office/powerpoint/2010/main" val="23054383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692" y="27770"/>
            <a:ext cx="7886700" cy="808942"/>
          </a:xfrm>
        </p:spPr>
        <p:txBody>
          <a:bodyPr>
            <a:normAutofit/>
          </a:bodyPr>
          <a:lstStyle/>
          <a:p>
            <a:r>
              <a:rPr lang="en-US" sz="3600" dirty="0">
                <a:solidFill>
                  <a:schemeClr val="accent2">
                    <a:lumMod val="75000"/>
                  </a:schemeClr>
                </a:solidFill>
              </a:rPr>
              <a:t>Orbital Debris</a:t>
            </a:r>
          </a:p>
        </p:txBody>
      </p:sp>
      <p:sp>
        <p:nvSpPr>
          <p:cNvPr id="3" name="Slide Number Placeholder 2"/>
          <p:cNvSpPr>
            <a:spLocks noGrp="1"/>
          </p:cNvSpPr>
          <p:nvPr>
            <p:ph type="sldNum" sz="quarter" idx="12"/>
          </p:nvPr>
        </p:nvSpPr>
        <p:spPr/>
        <p:txBody>
          <a:bodyPr/>
          <a:lstStyle/>
          <a:p>
            <a:fld id="{04EF813A-C95A-49A4-BB2C-19388EC38802}" type="slidenum">
              <a:rPr lang="en-US" smtClean="0"/>
              <a:t>29</a:t>
            </a:fld>
            <a:endParaRPr lang="en-US"/>
          </a:p>
        </p:txBody>
      </p:sp>
      <p:pic>
        <p:nvPicPr>
          <p:cNvPr id="1026" name="Picture 2" descr="ARES | Orbital Debris Program Office | LEG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608" y="1085625"/>
            <a:ext cx="7841664" cy="53911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493580" y="6356351"/>
            <a:ext cx="4745915" cy="369332"/>
          </a:xfrm>
          <a:prstGeom prst="rect">
            <a:avLst/>
          </a:prstGeom>
          <a:noFill/>
        </p:spPr>
        <p:txBody>
          <a:bodyPr wrap="none" rtlCol="0">
            <a:spAutoFit/>
          </a:bodyPr>
          <a:lstStyle/>
          <a:p>
            <a:r>
              <a:rPr lang="en-US"/>
              <a:t>Source: NASA Orbital Debris Program Office</a:t>
            </a:r>
          </a:p>
        </p:txBody>
      </p:sp>
    </p:spTree>
    <p:extLst>
      <p:ext uri="{BB962C8B-B14F-4D97-AF65-F5344CB8AC3E}">
        <p14:creationId xmlns:p14="http://schemas.microsoft.com/office/powerpoint/2010/main" val="10233334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accent2">
                    <a:lumMod val="75000"/>
                  </a:schemeClr>
                </a:solidFill>
              </a:rPr>
              <a:t>Debris Mitigation</a:t>
            </a:r>
          </a:p>
        </p:txBody>
      </p:sp>
      <p:sp>
        <p:nvSpPr>
          <p:cNvPr id="3" name="Slide Number Placeholder 2"/>
          <p:cNvSpPr>
            <a:spLocks noGrp="1"/>
          </p:cNvSpPr>
          <p:nvPr>
            <p:ph type="sldNum" sz="quarter" idx="12"/>
          </p:nvPr>
        </p:nvSpPr>
        <p:spPr/>
        <p:txBody>
          <a:bodyPr/>
          <a:lstStyle/>
          <a:p>
            <a:fld id="{04EF813A-C95A-49A4-BB2C-19388EC38802}" type="slidenum">
              <a:rPr lang="en-US" smtClean="0"/>
              <a:t>30</a:t>
            </a:fld>
            <a:endParaRPr lang="en-US"/>
          </a:p>
        </p:txBody>
      </p:sp>
      <p:pic>
        <p:nvPicPr>
          <p:cNvPr id="4" name="Picture 3"/>
          <p:cNvPicPr>
            <a:picLocks noChangeAspect="1"/>
          </p:cNvPicPr>
          <p:nvPr/>
        </p:nvPicPr>
        <p:blipFill>
          <a:blip r:embed="rId2"/>
          <a:stretch>
            <a:fillRect/>
          </a:stretch>
        </p:blipFill>
        <p:spPr>
          <a:xfrm>
            <a:off x="300552" y="940081"/>
            <a:ext cx="8542896" cy="5525025"/>
          </a:xfrm>
          <a:prstGeom prst="rect">
            <a:avLst/>
          </a:prstGeom>
        </p:spPr>
      </p:pic>
    </p:spTree>
    <p:extLst>
      <p:ext uri="{BB962C8B-B14F-4D97-AF65-F5344CB8AC3E}">
        <p14:creationId xmlns:p14="http://schemas.microsoft.com/office/powerpoint/2010/main" val="9146320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4EF813A-C95A-49A4-BB2C-19388EC38802}" type="slidenum">
              <a:rPr lang="en-US" smtClean="0"/>
              <a:t>31</a:t>
            </a:fld>
            <a:endParaRPr lang="en-US"/>
          </a:p>
        </p:txBody>
      </p:sp>
      <p:sp>
        <p:nvSpPr>
          <p:cNvPr id="2" name="Title 1"/>
          <p:cNvSpPr>
            <a:spLocks noGrp="1"/>
          </p:cNvSpPr>
          <p:nvPr>
            <p:ph type="title"/>
          </p:nvPr>
        </p:nvSpPr>
        <p:spPr>
          <a:xfrm>
            <a:off x="637527" y="27769"/>
            <a:ext cx="7542646" cy="849561"/>
          </a:xfrm>
        </p:spPr>
        <p:txBody>
          <a:bodyPr>
            <a:normAutofit fontScale="90000"/>
          </a:bodyPr>
          <a:lstStyle/>
          <a:p>
            <a:r>
              <a:rPr lang="en-US" sz="3600" dirty="0"/>
              <a:t>Space Environment (Key Takeaways)</a:t>
            </a:r>
          </a:p>
        </p:txBody>
      </p:sp>
      <p:pic>
        <p:nvPicPr>
          <p:cNvPr id="6" name="Picture 5"/>
          <p:cNvPicPr>
            <a:picLocks noChangeAspect="1"/>
          </p:cNvPicPr>
          <p:nvPr/>
        </p:nvPicPr>
        <p:blipFill>
          <a:blip r:embed="rId2"/>
          <a:stretch>
            <a:fillRect/>
          </a:stretch>
        </p:blipFill>
        <p:spPr>
          <a:xfrm>
            <a:off x="0" y="1133896"/>
            <a:ext cx="8997337" cy="5513772"/>
          </a:xfrm>
          <a:prstGeom prst="rect">
            <a:avLst/>
          </a:prstGeom>
        </p:spPr>
      </p:pic>
    </p:spTree>
    <p:extLst>
      <p:ext uri="{BB962C8B-B14F-4D97-AF65-F5344CB8AC3E}">
        <p14:creationId xmlns:p14="http://schemas.microsoft.com/office/powerpoint/2010/main" val="42068943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996DB7C-76B3-472D-8F6F-C8E69FE568F8}">
  <ds:schemaRefs>
    <ds:schemaRef ds:uri="c2d23aaa-6876-4856-882c-18271699c7a8"/>
    <ds:schemaRef ds:uri="http://schemas.microsoft.com/office/infopath/2007/PartnerControls"/>
    <ds:schemaRef ds:uri="http://schemas.microsoft.com/office/2006/metadata/properties"/>
    <ds:schemaRef ds:uri="http://purl.org/dc/dcmitype/"/>
    <ds:schemaRef ds:uri="http://purl.org/dc/elements/1.1/"/>
    <ds:schemaRef ds:uri="http://www.w3.org/XML/1998/namespace"/>
    <ds:schemaRef ds:uri="http://schemas.openxmlformats.org/package/2006/metadata/core-properties"/>
    <ds:schemaRef ds:uri="http://schemas.microsoft.com/office/2006/documentManagement/types"/>
    <ds:schemaRef ds:uri="http://purl.org/dc/terms/"/>
    <ds:schemaRef ds:uri="http://schemas.microsoft.com/sharepoint/v3"/>
    <ds:schemaRef ds:uri="723aa48c-73f2-40da-86b1-f1ae286477fe"/>
    <ds:schemaRef ds:uri="7584c457-6b5a-4caa-be47-be979cbe6555"/>
  </ds:schemaRefs>
</ds:datastoreItem>
</file>

<file path=customXml/itemProps2.xml><?xml version="1.0" encoding="utf-8"?>
<ds:datastoreItem xmlns:ds="http://schemas.openxmlformats.org/officeDocument/2006/customXml" ds:itemID="{872FC5E5-0EBE-48D2-8C16-4F67B1775392}"/>
</file>

<file path=customXml/itemProps3.xml><?xml version="1.0" encoding="utf-8"?>
<ds:datastoreItem xmlns:ds="http://schemas.openxmlformats.org/officeDocument/2006/customXml" ds:itemID="{3C286B8C-FFD3-47CE-9E8F-4104A49DEB88}">
  <ds:schemaRefs>
    <ds:schemaRef ds:uri="http://schemas.microsoft.com/sharepoint/v3/contenttype/forms"/>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32741</TotalTime>
  <Words>1363</Words>
  <Application>Microsoft Office PowerPoint</Application>
  <PresentationFormat>Letter Paper (8.5x11 in)</PresentationFormat>
  <Paragraphs>198</Paragraphs>
  <Slides>31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Arial</vt:lpstr>
      <vt:lpstr>Arial Bold</vt:lpstr>
      <vt:lpstr>Gill Sans</vt:lpstr>
      <vt:lpstr>Segoe UI</vt:lpstr>
      <vt:lpstr>Office Theme</vt:lpstr>
      <vt:lpstr>Lesson 6</vt:lpstr>
      <vt:lpstr>Why Worry about the Space Environment?</vt:lpstr>
      <vt:lpstr>Terms</vt:lpstr>
      <vt:lpstr>Space Environmental Influences</vt:lpstr>
      <vt:lpstr>Microgravity</vt:lpstr>
      <vt:lpstr>Microgravity</vt:lpstr>
      <vt:lpstr>Vacuum </vt:lpstr>
      <vt:lpstr>Vacuum</vt:lpstr>
      <vt:lpstr>Atmosphere </vt:lpstr>
      <vt:lpstr>Atmosphere (1/3)</vt:lpstr>
      <vt:lpstr>Atmosphere (2/3)</vt:lpstr>
      <vt:lpstr>Atomic Oxygen</vt:lpstr>
      <vt:lpstr>Atmosphere (3/3)</vt:lpstr>
      <vt:lpstr>Solar Cycle</vt:lpstr>
      <vt:lpstr>Impact of Solar Cycle on Atmospheric Density</vt:lpstr>
      <vt:lpstr>Impact of Solar Cycle/Ballistic Co-efficient on Satellite Lifetimes</vt:lpstr>
      <vt:lpstr>Plasma </vt:lpstr>
      <vt:lpstr>Plasma (1/2)</vt:lpstr>
      <vt:lpstr>Plasma (2/2)</vt:lpstr>
      <vt:lpstr>Earth’s Magnetosphere</vt:lpstr>
      <vt:lpstr>Radiation </vt:lpstr>
      <vt:lpstr>Radiation</vt:lpstr>
      <vt:lpstr>Van Allen Radiation Belts</vt:lpstr>
      <vt:lpstr>Van Allen Radiation Belts</vt:lpstr>
      <vt:lpstr>South Atlantic Anomaly</vt:lpstr>
      <vt:lpstr>COTS vs Rad Hard Parts</vt:lpstr>
      <vt:lpstr>Micrometeroids &amp; Orbital Debris </vt:lpstr>
      <vt:lpstr>Micrometeoroids and Orbital Debris (MMOD)</vt:lpstr>
      <vt:lpstr>Orbital Debris</vt:lpstr>
      <vt:lpstr>Debris Mitigation</vt:lpstr>
      <vt:lpstr>Space Environment (Key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Harris, Wyatt J Lt Col USAF USAFA DF/DFAS</cp:lastModifiedBy>
  <cp:revision>4</cp:revision>
  <cp:lastPrinted>2025-08-01T16:37:26Z</cp:lastPrinted>
  <dcterms:created xsi:type="dcterms:W3CDTF">2025-07-17T17:53:42Z</dcterms:created>
  <dcterms:modified xsi:type="dcterms:W3CDTF">2026-01-21T00:50:03Z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