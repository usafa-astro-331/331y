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handoutMasterIdLst>
    <p:handoutMasterId r:id="rId33"/>
  </p:handoutMasterIdLst>
  <p:sldIdLst>
    <p:sldId id="258" r:id="rId5"/>
    <p:sldId id="304" r:id="rId6"/>
    <p:sldId id="339" r:id="rId7"/>
    <p:sldId id="314" r:id="rId8"/>
    <p:sldId id="325" r:id="rId9"/>
    <p:sldId id="326" r:id="rId10"/>
    <p:sldId id="327" r:id="rId11"/>
    <p:sldId id="328" r:id="rId12"/>
    <p:sldId id="333" r:id="rId13"/>
    <p:sldId id="313" r:id="rId14"/>
    <p:sldId id="340" r:id="rId15"/>
    <p:sldId id="341" r:id="rId16"/>
    <p:sldId id="315" r:id="rId17"/>
    <p:sldId id="316" r:id="rId18"/>
    <p:sldId id="338" r:id="rId19"/>
    <p:sldId id="317" r:id="rId20"/>
    <p:sldId id="335" r:id="rId21"/>
    <p:sldId id="319" r:id="rId22"/>
    <p:sldId id="336" r:id="rId23"/>
    <p:sldId id="320" r:id="rId24"/>
    <p:sldId id="329" r:id="rId25"/>
    <p:sldId id="322" r:id="rId26"/>
    <p:sldId id="334" r:id="rId27"/>
    <p:sldId id="323" r:id="rId28"/>
    <p:sldId id="324" r:id="rId29"/>
    <p:sldId id="345" r:id="rId30"/>
    <p:sldId id="342" r:id="rId31"/>
    <p:sldId id="344" r:id="rId32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99"/>
    <a:srgbClr val="CC66FF"/>
    <a:srgbClr val="FF505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4" autoAdjust="0"/>
    <p:restoredTop sz="94660"/>
  </p:normalViewPr>
  <p:slideViewPr>
    <p:cSldViewPr snapToGrid="0">
      <p:cViewPr varScale="1">
        <p:scale>
          <a:sx n="92" d="100"/>
          <a:sy n="92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Firth" userId="9668160b-358f-46f6-8d41-76c7cc813d9a" providerId="ADAL" clId="{0E74DF0B-6B1C-4C03-A300-C3A7BEAB8BAE}"/>
    <pc:docChg chg="undo modSld">
      <pc:chgData name="Jordan Firth" userId="9668160b-358f-46f6-8d41-76c7cc813d9a" providerId="ADAL" clId="{0E74DF0B-6B1C-4C03-A300-C3A7BEAB8BAE}" dt="2023-02-21T21:53:21.555" v="2" actId="1076"/>
      <pc:docMkLst>
        <pc:docMk/>
      </pc:docMkLst>
      <pc:sldChg chg="modSp">
        <pc:chgData name="Jordan Firth" userId="9668160b-358f-46f6-8d41-76c7cc813d9a" providerId="ADAL" clId="{0E74DF0B-6B1C-4C03-A300-C3A7BEAB8BAE}" dt="2023-02-21T15:38:13.784" v="1" actId="1076"/>
        <pc:sldMkLst>
          <pc:docMk/>
          <pc:sldMk cId="3847098573" sldId="314"/>
        </pc:sldMkLst>
        <pc:picChg chg="mod">
          <ac:chgData name="Jordan Firth" userId="9668160b-358f-46f6-8d41-76c7cc813d9a" providerId="ADAL" clId="{0E74DF0B-6B1C-4C03-A300-C3A7BEAB8BAE}" dt="2023-02-21T15:38:13.784" v="1" actId="1076"/>
          <ac:picMkLst>
            <pc:docMk/>
            <pc:sldMk cId="3847098573" sldId="314"/>
            <ac:picMk id="3" creationId="{00000000-0000-0000-0000-000000000000}"/>
          </ac:picMkLst>
        </pc:picChg>
      </pc:sldChg>
      <pc:sldChg chg="modSp">
        <pc:chgData name="Jordan Firth" userId="9668160b-358f-46f6-8d41-76c7cc813d9a" providerId="ADAL" clId="{0E74DF0B-6B1C-4C03-A300-C3A7BEAB8BAE}" dt="2023-02-21T21:53:21.555" v="2" actId="1076"/>
        <pc:sldMkLst>
          <pc:docMk/>
          <pc:sldMk cId="1041253729" sldId="344"/>
        </pc:sldMkLst>
        <pc:graphicFrameChg chg="mod">
          <ac:chgData name="Jordan Firth" userId="9668160b-358f-46f6-8d41-76c7cc813d9a" providerId="ADAL" clId="{0E74DF0B-6B1C-4C03-A300-C3A7BEAB8BAE}" dt="2023-02-21T21:53:21.555" v="2" actId="1076"/>
          <ac:graphicFrameMkLst>
            <pc:docMk/>
            <pc:sldMk cId="1041253729" sldId="344"/>
            <ac:graphicFrameMk id="9" creationId="{00000000-0000-0000-0000-000000000000}"/>
          </ac:graphicFrameMkLst>
        </pc:graphicFrameChg>
      </pc:sldChg>
    </pc:docChg>
  </pc:docChgLst>
  <pc:docChgLst>
    <pc:chgData name="Jordan Firth" userId="9668160b-358f-46f6-8d41-76c7cc813d9a" providerId="ADAL" clId="{09740541-C615-4A8E-B053-3065E8D65537}"/>
    <pc:docChg chg="undo modSld">
      <pc:chgData name="Jordan Firth" userId="9668160b-358f-46f6-8d41-76c7cc813d9a" providerId="ADAL" clId="{09740541-C615-4A8E-B053-3065E8D65537}" dt="2023-04-18T16:51:35.402" v="2" actId="1076"/>
      <pc:docMkLst>
        <pc:docMk/>
      </pc:docMkLst>
      <pc:sldChg chg="modSp">
        <pc:chgData name="Jordan Firth" userId="9668160b-358f-46f6-8d41-76c7cc813d9a" providerId="ADAL" clId="{09740541-C615-4A8E-B053-3065E8D65537}" dt="2023-04-18T16:51:35.402" v="2" actId="1076"/>
        <pc:sldMkLst>
          <pc:docMk/>
          <pc:sldMk cId="1041253729" sldId="344"/>
        </pc:sldMkLst>
        <pc:graphicFrameChg chg="mod modGraphic">
          <ac:chgData name="Jordan Firth" userId="9668160b-358f-46f6-8d41-76c7cc813d9a" providerId="ADAL" clId="{09740541-C615-4A8E-B053-3065E8D65537}" dt="2023-04-18T16:51:35.402" v="2" actId="1076"/>
          <ac:graphicFrameMkLst>
            <pc:docMk/>
            <pc:sldMk cId="1041253729" sldId="344"/>
            <ac:graphicFrameMk id="9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2023-04-18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2023-04-18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2023-04-18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2023-04-18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2023-04-18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2023-04-18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2023-04-18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2023-04-18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2023-04-18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2023-04-18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2023-04-18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2023-04-18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2023-04-18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1781103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Astro 331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Lesson 13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85800" y="3600450"/>
            <a:ext cx="7772400" cy="2944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Command and Data Handling Subsystem (C&amp;DH) / Telemetry, Tracking and Command (TT&amp;C)</a:t>
            </a:r>
          </a:p>
          <a:p>
            <a:pPr marL="0" indent="0" algn="ctr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SMAD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11.2-11.3, 13.2, 13.3.3, 16.1.1-16.1.2,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Supp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Mtl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82220"/>
            <a:ext cx="7886700" cy="5095981"/>
          </a:xfrm>
        </p:spPr>
        <p:txBody>
          <a:bodyPr>
            <a:normAutofit fontScale="85000" lnSpcReduction="20000"/>
          </a:bodyPr>
          <a:lstStyle/>
          <a:p>
            <a:pPr lvl="0" fontAlgn="base"/>
            <a:r>
              <a:rPr lang="en-US" dirty="0"/>
              <a:t>Explain spacecraft command and data handling subsystem functions</a:t>
            </a:r>
          </a:p>
          <a:p>
            <a:pPr lvl="0" fontAlgn="base"/>
            <a:r>
              <a:rPr lang="en-US" dirty="0"/>
              <a:t>Understand the different types of analog signals</a:t>
            </a:r>
          </a:p>
          <a:p>
            <a:pPr lvl="0" fontAlgn="base"/>
            <a:r>
              <a:rPr lang="en-US" dirty="0"/>
              <a:t>Understand the terms CPU, I/O, RAM, PROM and Flash memory</a:t>
            </a:r>
          </a:p>
          <a:p>
            <a:pPr lvl="0" fontAlgn="base"/>
            <a:r>
              <a:rPr lang="en-US" dirty="0"/>
              <a:t>Explain spacecraft telemetry, tracking and command functions</a:t>
            </a:r>
          </a:p>
          <a:p>
            <a:pPr lvl="0" fontAlgn="base"/>
            <a:r>
              <a:rPr lang="en-US" dirty="0"/>
              <a:t>Understand and be able to describe a block diagram of a generic TT&amp;C subsystem</a:t>
            </a:r>
          </a:p>
          <a:p>
            <a:pPr lvl="0" fontAlgn="base"/>
            <a:r>
              <a:rPr lang="en-US" dirty="0"/>
              <a:t>List and describe the different types of modulation commonly used for digital signal transmission in satellite communications</a:t>
            </a:r>
          </a:p>
          <a:p>
            <a:pPr lvl="0" fontAlgn="base"/>
            <a:r>
              <a:rPr lang="en-US" dirty="0"/>
              <a:t>Compute discrete values, quantization step size, and maximum error for analog-digital converters</a:t>
            </a:r>
          </a:p>
          <a:p>
            <a:pPr lvl="0" fontAlgn="base"/>
            <a:r>
              <a:rPr lang="en-US" dirty="0"/>
              <a:t>Use a Hamming code to construct a transmit message or to analyze a received message</a:t>
            </a:r>
          </a:p>
        </p:txBody>
      </p:sp>
    </p:spTree>
    <p:extLst>
      <p:ext uri="{BB962C8B-B14F-4D97-AF65-F5344CB8AC3E}">
        <p14:creationId xmlns:p14="http://schemas.microsoft.com/office/powerpoint/2010/main" val="4128699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Command &amp; Data Handling (C&amp;DH)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36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1119187"/>
            <a:ext cx="8277225" cy="4619625"/>
          </a:xfrm>
          <a:prstGeom prst="rect">
            <a:avLst/>
          </a:prstGeom>
        </p:spPr>
      </p:pic>
      <p:sp>
        <p:nvSpPr>
          <p:cNvPr id="4" name="Rectangle 72"/>
          <p:cNvSpPr>
            <a:spLocks/>
          </p:cNvSpPr>
          <p:nvPr/>
        </p:nvSpPr>
        <p:spPr bwMode="auto">
          <a:xfrm>
            <a:off x="3587262" y="6179344"/>
            <a:ext cx="530670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Missions and Systems, Figure 11.18</a:t>
            </a:r>
          </a:p>
        </p:txBody>
      </p:sp>
    </p:spTree>
    <p:extLst>
      <p:ext uri="{BB962C8B-B14F-4D97-AF65-F5344CB8AC3E}">
        <p14:creationId xmlns:p14="http://schemas.microsoft.com/office/powerpoint/2010/main" val="384709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C&amp;DH Main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fontAlgn="base"/>
            <a:r>
              <a:rPr lang="en-US" dirty="0"/>
              <a:t>receives, validates, decodes, and distributes commands to other S/C subsystems</a:t>
            </a:r>
          </a:p>
          <a:p>
            <a:pPr lvl="0" fontAlgn="base"/>
            <a:r>
              <a:rPr lang="en-US" dirty="0"/>
              <a:t>gathers, processes, and formats S/C housekeeping &amp; mission data for downlink</a:t>
            </a:r>
          </a:p>
          <a:p>
            <a:pPr lvl="1" fontAlgn="base"/>
            <a:r>
              <a:rPr lang="en-US" dirty="0"/>
              <a:t>payload data</a:t>
            </a:r>
          </a:p>
          <a:p>
            <a:pPr lvl="2"/>
            <a:r>
              <a:rPr lang="en-US" dirty="0"/>
              <a:t>images, communication, etc.</a:t>
            </a:r>
          </a:p>
          <a:p>
            <a:pPr lvl="2"/>
            <a:r>
              <a:rPr lang="en-US" dirty="0"/>
              <a:t>typically much more data than housekeeping data</a:t>
            </a:r>
          </a:p>
          <a:p>
            <a:pPr lvl="1" fontAlgn="base"/>
            <a:r>
              <a:rPr lang="en-US" dirty="0"/>
              <a:t>housekeeping data</a:t>
            </a:r>
          </a:p>
          <a:p>
            <a:pPr lvl="2"/>
            <a:r>
              <a:rPr lang="en-US" dirty="0"/>
              <a:t>S/C health (temps, voltages &amp; currents, attitude info, component health status,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0" fontAlgn="base"/>
            <a:r>
              <a:rPr lang="en-US" dirty="0"/>
              <a:t>S/C timekeeping, computer health monitoring (watchdog), security interfaces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335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 decoder handles two types of commands:  discrete or serial</a:t>
            </a:r>
          </a:p>
          <a:p>
            <a:pPr lvl="1" fontAlgn="base"/>
            <a:r>
              <a:rPr lang="en-US" dirty="0"/>
              <a:t>Discrete: fixed amplitude, fixed pulse width</a:t>
            </a:r>
          </a:p>
          <a:p>
            <a:pPr lvl="1" fontAlgn="base"/>
            <a:r>
              <a:rPr lang="en-US" dirty="0"/>
              <a:t>Serial: 3-signal interface consisting of a shift clock, serial command data, and a data enable used to indicate if the interface is active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450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 handling system: combines telemetry from multiple sources and provides it for downlink or internal spacecraft use</a:t>
            </a:r>
            <a:endParaRPr lang="en-US" sz="2400" dirty="0"/>
          </a:p>
          <a:p>
            <a:pPr lvl="1" fontAlgn="base"/>
            <a:r>
              <a:rPr lang="en-US" dirty="0"/>
              <a:t>Telemetry (remote metering): measurement of data from a distance</a:t>
            </a:r>
            <a:endParaRPr lang="en-US" sz="2000" dirty="0"/>
          </a:p>
          <a:p>
            <a:pPr lvl="2" fontAlgn="base"/>
            <a:r>
              <a:rPr lang="en-US" dirty="0"/>
              <a:t>may be bi-level, serial digital, or analog</a:t>
            </a:r>
            <a:endParaRPr lang="en-US" sz="1600" dirty="0"/>
          </a:p>
          <a:p>
            <a:pPr lvl="1" fontAlgn="base"/>
            <a:r>
              <a:rPr lang="en-US" dirty="0"/>
              <a:t>Analog: continuous (as opposed to discrete) data</a:t>
            </a:r>
            <a:endParaRPr lang="en-US" sz="2000" dirty="0"/>
          </a:p>
          <a:p>
            <a:pPr lvl="2" fontAlgn="base"/>
            <a:r>
              <a:rPr lang="en-US" dirty="0"/>
              <a:t>High-Level Analog: telemetry channel with information encoded as an analog voltage, typically in the range of 0 – 5.2 V</a:t>
            </a:r>
            <a:endParaRPr lang="en-US" sz="1600" dirty="0"/>
          </a:p>
          <a:p>
            <a:pPr lvl="2" fontAlgn="base"/>
            <a:r>
              <a:rPr lang="en-US" dirty="0"/>
              <a:t>Low-Level Analog: telemetry channel with information encoded as an analog voltage, but with a low enough range that amplification is required</a:t>
            </a:r>
            <a:endParaRPr lang="en-US" sz="1600" dirty="0"/>
          </a:p>
          <a:p>
            <a:pPr lvl="2" fontAlgn="base"/>
            <a:r>
              <a:rPr lang="en-US" dirty="0"/>
              <a:t>Passive Analog: telemetry channel with information encoded as a resistance; a constant current is supplied to sensor and resulting voltage drop is signal</a:t>
            </a:r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616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00326"/>
            <a:ext cx="7886700" cy="5237825"/>
          </a:xfrm>
        </p:spPr>
        <p:txBody>
          <a:bodyPr>
            <a:normAutofit fontScale="47500" lnSpcReduction="20000"/>
          </a:bodyPr>
          <a:lstStyle/>
          <a:p>
            <a:r>
              <a:rPr lang="en-US" sz="3300" dirty="0"/>
              <a:t>CPU – Central Processing Unit</a:t>
            </a:r>
          </a:p>
          <a:p>
            <a:pPr lvl="1"/>
            <a:r>
              <a:rPr lang="en-US" sz="2900" dirty="0"/>
              <a:t>Where processing occurs</a:t>
            </a:r>
          </a:p>
          <a:p>
            <a:pPr lvl="1"/>
            <a:r>
              <a:rPr lang="en-US" sz="2900" dirty="0"/>
              <a:t>Electronic circuitry that executes instructions, including performing basic arithmetic, logic, controlling, and input/output (I/O) operations </a:t>
            </a:r>
          </a:p>
          <a:p>
            <a:r>
              <a:rPr lang="en-US" sz="3300" dirty="0"/>
              <a:t>I/O – input/output devices</a:t>
            </a:r>
          </a:p>
          <a:p>
            <a:pPr lvl="1"/>
            <a:r>
              <a:rPr lang="en-US" sz="2900" dirty="0"/>
              <a:t>Allows computer to communicate with other devices</a:t>
            </a:r>
          </a:p>
          <a:p>
            <a:r>
              <a:rPr lang="en-US" sz="3300" dirty="0"/>
              <a:t>RAM – Random access memory</a:t>
            </a:r>
          </a:p>
          <a:p>
            <a:pPr lvl="1"/>
            <a:r>
              <a:rPr lang="en-US" sz="2900" dirty="0"/>
              <a:t>Volatile storage: memory that only retains information while computer is powered</a:t>
            </a:r>
          </a:p>
          <a:p>
            <a:pPr lvl="1"/>
            <a:r>
              <a:rPr lang="en-US" sz="2900" dirty="0"/>
              <a:t>Fast: memory device that allows data items to be read or written in almost the same amount of time irrespective of the physical location of data inside the memory</a:t>
            </a:r>
          </a:p>
          <a:p>
            <a:pPr lvl="1"/>
            <a:r>
              <a:rPr lang="en-US" sz="2900" dirty="0"/>
              <a:t>Used to record and store data quickly</a:t>
            </a:r>
          </a:p>
          <a:p>
            <a:r>
              <a:rPr lang="en-US" sz="3300" dirty="0"/>
              <a:t>PROM – Programmable read-only memory</a:t>
            </a:r>
          </a:p>
          <a:p>
            <a:pPr lvl="1"/>
            <a:r>
              <a:rPr lang="en-US" sz="2900" dirty="0"/>
              <a:t>Non-volatile storage: memory that retains information when not powered</a:t>
            </a:r>
          </a:p>
          <a:p>
            <a:pPr lvl="1"/>
            <a:r>
              <a:rPr lang="en-US" sz="2900" dirty="0"/>
              <a:t>Permanent: Form of digital memory where the contents can be changed once after manufacture of the device, but once written, the data is then permanent and cannot be changed</a:t>
            </a:r>
          </a:p>
          <a:p>
            <a:pPr lvl="1"/>
            <a:r>
              <a:rPr lang="en-US" sz="2900" dirty="0"/>
              <a:t>Used to store spacecraft software “image” which is like an operating system, which ideally is not changed during the mission</a:t>
            </a:r>
          </a:p>
          <a:p>
            <a:r>
              <a:rPr lang="en-US" sz="3300" dirty="0"/>
              <a:t>Flash memory</a:t>
            </a:r>
          </a:p>
          <a:p>
            <a:pPr lvl="1"/>
            <a:r>
              <a:rPr lang="en-US" sz="2900" dirty="0"/>
              <a:t>Non-volatile memory storage that can be electrically erased and reprogrammed</a:t>
            </a:r>
          </a:p>
          <a:p>
            <a:pPr lvl="1"/>
            <a:r>
              <a:rPr lang="en-US" sz="2900" dirty="0"/>
              <a:t>Fast read-access time, mechanically shock-resistant</a:t>
            </a:r>
          </a:p>
          <a:p>
            <a:pPr lvl="1"/>
            <a:r>
              <a:rPr lang="en-US" sz="2900" dirty="0"/>
              <a:t>Can endure only a relatively small number of write cycles for a single block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458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fontAlgn="base"/>
            <a:r>
              <a:rPr lang="en-US" dirty="0"/>
              <a:t>Microcontroller</a:t>
            </a:r>
            <a:endParaRPr lang="en-US" sz="2400" dirty="0"/>
          </a:p>
          <a:p>
            <a:pPr lvl="1" fontAlgn="base"/>
            <a:r>
              <a:rPr lang="en-US" dirty="0"/>
              <a:t>single metal-oxide semiconductor integrated circuit that combines functions of CPU, RAM, ROM, I/O peripherals on same board</a:t>
            </a:r>
            <a:endParaRPr lang="en-US" sz="2000" dirty="0"/>
          </a:p>
          <a:p>
            <a:pPr lvl="1" fontAlgn="base"/>
            <a:r>
              <a:rPr lang="en-US" dirty="0"/>
              <a:t>Advantages: simple to program, best for simple, hardware specific application, less expensive than FPGA</a:t>
            </a:r>
            <a:endParaRPr lang="en-US" sz="2000" dirty="0"/>
          </a:p>
          <a:p>
            <a:pPr lvl="1" fontAlgn="base"/>
            <a:r>
              <a:rPr lang="en-US" dirty="0"/>
              <a:t>Disadvantages: can only perform limited tasks, serial processing (one instruction at a time), hardware is limited</a:t>
            </a:r>
            <a:endParaRPr lang="en-US" sz="2000" dirty="0"/>
          </a:p>
          <a:p>
            <a:pPr lvl="0" fontAlgn="base"/>
            <a:r>
              <a:rPr lang="en-US" dirty="0"/>
              <a:t>FPGA – field programmable gate array</a:t>
            </a:r>
            <a:endParaRPr lang="en-US" sz="2400" dirty="0"/>
          </a:p>
          <a:p>
            <a:pPr lvl="1" fontAlgn="base"/>
            <a:r>
              <a:rPr lang="en-US" dirty="0"/>
              <a:t>A semiconductor integrated circuit with millions of logic gates designed to be configured by a customer after manufacturing “field-programmable”</a:t>
            </a:r>
            <a:endParaRPr lang="en-US" sz="2000" dirty="0"/>
          </a:p>
          <a:p>
            <a:pPr lvl="1" fontAlgn="base"/>
            <a:r>
              <a:rPr lang="en-US" dirty="0"/>
              <a:t>Advantages: hardware is programmable, can do parallel processing</a:t>
            </a:r>
            <a:endParaRPr lang="en-US" sz="2000" dirty="0"/>
          </a:p>
          <a:p>
            <a:pPr lvl="1" fontAlgn="base"/>
            <a:r>
              <a:rPr lang="en-US" dirty="0"/>
              <a:t>Disadvantages: complex to configure, consumes more power than a microcontroller, no internal oscillator (clock)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205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92" y="808654"/>
            <a:ext cx="8322067" cy="5227784"/>
          </a:xfrm>
          <a:prstGeom prst="rect">
            <a:avLst/>
          </a:prstGeom>
          <a:scene3d>
            <a:camera prst="orthographicFront">
              <a:rot lat="0" lon="0" rev="2154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566365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Telemetry, Tracking &amp; Command (TT&amp;C)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30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1119187"/>
            <a:ext cx="8277225" cy="4619625"/>
          </a:xfrm>
          <a:prstGeom prst="rect">
            <a:avLst/>
          </a:prstGeom>
        </p:spPr>
      </p:pic>
      <p:sp>
        <p:nvSpPr>
          <p:cNvPr id="4" name="Rectangle 72"/>
          <p:cNvSpPr>
            <a:spLocks/>
          </p:cNvSpPr>
          <p:nvPr/>
        </p:nvSpPr>
        <p:spPr bwMode="auto">
          <a:xfrm>
            <a:off x="3587262" y="6179344"/>
            <a:ext cx="530670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Missions and Systems, Figure 11.18</a:t>
            </a:r>
          </a:p>
        </p:txBody>
      </p:sp>
    </p:spTree>
    <p:extLst>
      <p:ext uri="{BB962C8B-B14F-4D97-AF65-F5344CB8AC3E}">
        <p14:creationId xmlns:p14="http://schemas.microsoft.com/office/powerpoint/2010/main" val="2183038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2437653" y="149921"/>
            <a:ext cx="6437694" cy="6517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56" y="338493"/>
            <a:ext cx="2425268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TT&amp;C Functions</a:t>
            </a:r>
          </a:p>
        </p:txBody>
      </p:sp>
    </p:spTree>
    <p:extLst>
      <p:ext uri="{BB962C8B-B14F-4D97-AF65-F5344CB8AC3E}">
        <p14:creationId xmlns:p14="http://schemas.microsoft.com/office/powerpoint/2010/main" val="4051634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354" y="126152"/>
            <a:ext cx="5188449" cy="67318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85895"/>
            <a:ext cx="78867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TT&amp;C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Req’ts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371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TT&amp;C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Because all S/C communicate with users and operations on the ground, de-conflict frequencies, orbital locations, and power levels are critical; must apply to regulatory bodies for:</a:t>
            </a:r>
          </a:p>
          <a:p>
            <a:pPr lvl="1" fontAlgn="base"/>
            <a:r>
              <a:rPr lang="en-US" dirty="0"/>
              <a:t>Desired communication frequencies</a:t>
            </a:r>
          </a:p>
          <a:p>
            <a:pPr lvl="1" fontAlgn="base"/>
            <a:r>
              <a:rPr lang="en-US" dirty="0"/>
              <a:t>Orbital assignment</a:t>
            </a:r>
          </a:p>
          <a:p>
            <a:pPr lvl="1" fontAlgn="base"/>
            <a:r>
              <a:rPr lang="en-US" dirty="0"/>
              <a:t>Desired power flux density on surface</a:t>
            </a:r>
          </a:p>
          <a:p>
            <a:r>
              <a:rPr lang="en-US" dirty="0"/>
              <a:t>ITU (International Telecommunications Union), part of the UN</a:t>
            </a:r>
          </a:p>
          <a:p>
            <a:pPr lvl="1" fontAlgn="base"/>
            <a:r>
              <a:rPr lang="en-US" dirty="0"/>
              <a:t>coordinates and approves satellite radio frequency and orbit requests</a:t>
            </a:r>
          </a:p>
          <a:p>
            <a:endParaRPr lang="en-US" dirty="0"/>
          </a:p>
          <a:p>
            <a:r>
              <a:rPr lang="en-US" dirty="0"/>
              <a:t>Classic trades for TT&amp;C include:</a:t>
            </a:r>
          </a:p>
          <a:p>
            <a:pPr lvl="1" fontAlgn="base"/>
            <a:r>
              <a:rPr lang="en-US" dirty="0"/>
              <a:t>Size of antenna aperture vs transmitter power</a:t>
            </a:r>
          </a:p>
          <a:p>
            <a:pPr lvl="1" fontAlgn="base"/>
            <a:r>
              <a:rPr lang="en-US" dirty="0"/>
              <a:t>Solid-state amplifiers vs travel-wave tube amplifiers (TWTAs)</a:t>
            </a:r>
          </a:p>
          <a:p>
            <a:pPr lvl="1" fontAlgn="base"/>
            <a:r>
              <a:rPr lang="en-US" dirty="0"/>
              <a:t>S/C complexity vs Ground complexity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683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56" y="62775"/>
            <a:ext cx="8242484" cy="650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1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0174"/>
            <a:ext cx="7886700" cy="45719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Modulation: the process by which an input signal varies the characteristic of a radio frequency carrier</a:t>
            </a:r>
            <a:endParaRPr lang="en-US" sz="2400" dirty="0"/>
          </a:p>
          <a:p>
            <a:pPr lvl="2" fontAlgn="base"/>
            <a:r>
              <a:rPr lang="en-US" dirty="0"/>
              <a:t>Characteristics are: amplitude, phase, frequency, and polarization</a:t>
            </a:r>
            <a:endParaRPr lang="en-US" sz="1800" dirty="0"/>
          </a:p>
          <a:p>
            <a:endParaRPr lang="en-US" dirty="0"/>
          </a:p>
          <a:p>
            <a:r>
              <a:rPr lang="en-US" dirty="0"/>
              <a:t>Types of Modulation</a:t>
            </a:r>
          </a:p>
          <a:p>
            <a:pPr lvl="1" fontAlgn="base"/>
            <a:r>
              <a:rPr lang="en-US" dirty="0"/>
              <a:t>Binary Phase Shift Keying (BPSK): setting the career phase at 0 </a:t>
            </a:r>
            <a:r>
              <a:rPr lang="en-US" dirty="0" err="1"/>
              <a:t>deg</a:t>
            </a:r>
            <a:r>
              <a:rPr lang="en-US" dirty="0"/>
              <a:t> to transmit a binary 0 and setting phase at 180 </a:t>
            </a:r>
            <a:r>
              <a:rPr lang="en-US" dirty="0" err="1"/>
              <a:t>deg</a:t>
            </a:r>
            <a:r>
              <a:rPr lang="en-US" dirty="0"/>
              <a:t> to transmit a binary 1</a:t>
            </a:r>
          </a:p>
          <a:p>
            <a:pPr lvl="1" fontAlgn="base"/>
            <a:r>
              <a:rPr lang="en-US" dirty="0" err="1"/>
              <a:t>Quadriphased</a:t>
            </a:r>
            <a:r>
              <a:rPr lang="en-US" dirty="0"/>
              <a:t> phase shift keying (QPSK): defines two bits at a time with 0 </a:t>
            </a:r>
            <a:r>
              <a:rPr lang="en-US" dirty="0" err="1"/>
              <a:t>deg</a:t>
            </a:r>
            <a:r>
              <a:rPr lang="en-US" dirty="0"/>
              <a:t>, 90 </a:t>
            </a:r>
            <a:r>
              <a:rPr lang="en-US" dirty="0" err="1"/>
              <a:t>deg</a:t>
            </a:r>
            <a:r>
              <a:rPr lang="en-US" dirty="0"/>
              <a:t>, 190 </a:t>
            </a:r>
            <a:r>
              <a:rPr lang="en-US" dirty="0" err="1"/>
              <a:t>deg</a:t>
            </a:r>
            <a:r>
              <a:rPr lang="en-US" dirty="0"/>
              <a:t> or 270 </a:t>
            </a:r>
            <a:r>
              <a:rPr lang="en-US" dirty="0" err="1"/>
              <a:t>deg</a:t>
            </a:r>
            <a:endParaRPr lang="en-US" dirty="0"/>
          </a:p>
          <a:p>
            <a:pPr lvl="1" fontAlgn="base"/>
            <a:r>
              <a:rPr lang="en-US" dirty="0"/>
              <a:t>Frequency Shift Keying (FSK): sets carrier frequency at F1 to transmit a </a:t>
            </a:r>
            <a:r>
              <a:rPr lang="en-US" dirty="0" err="1"/>
              <a:t>inbary</a:t>
            </a:r>
            <a:r>
              <a:rPr lang="en-US" dirty="0"/>
              <a:t> 0 and F2 to transmit a binary 1</a:t>
            </a:r>
          </a:p>
          <a:p>
            <a:pPr lvl="1" fontAlgn="base"/>
            <a:r>
              <a:rPr lang="en-US" dirty="0"/>
              <a:t>Multiple Frequency Shift Keying (MFSK): sets </a:t>
            </a:r>
            <a:r>
              <a:rPr lang="en-US" dirty="0" err="1"/>
              <a:t>carreer</a:t>
            </a:r>
            <a:r>
              <a:rPr lang="en-US" dirty="0"/>
              <a:t> frequency to one of M frequencies; can represent multiple bits with one frequency (</a:t>
            </a:r>
            <a:r>
              <a:rPr lang="en-US" dirty="0" err="1"/>
              <a:t>eg</a:t>
            </a:r>
            <a:r>
              <a:rPr lang="en-US" dirty="0"/>
              <a:t> 8FSK: one frequency represents three bits (2</a:t>
            </a:r>
            <a:r>
              <a:rPr lang="en-US" baseline="30000" dirty="0"/>
              <a:t>3</a:t>
            </a:r>
            <a:r>
              <a:rPr lang="en-US" dirty="0"/>
              <a:t>=8)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166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1407559" y="112486"/>
            <a:ext cx="6244529" cy="669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4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to Digital Conversion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Analog signals must be converted into digital signals on-board the S/C</a:t>
                </a:r>
                <a:endParaRPr lang="en-US" sz="2400" dirty="0"/>
              </a:p>
              <a:p>
                <a:pPr lvl="1" fontAlgn="base"/>
                <a:r>
                  <a:rPr lang="en-US" dirty="0"/>
                  <a:t>sample rates must be ≥ 2 times max frequency contained in signal (</a:t>
                </a:r>
                <a:r>
                  <a:rPr lang="en-US" dirty="0" err="1"/>
                  <a:t>Nyquist</a:t>
                </a:r>
                <a:r>
                  <a:rPr lang="en-US" dirty="0"/>
                  <a:t> criteria)</a:t>
                </a:r>
                <a:r>
                  <a:rPr lang="en-US" b="1" u="sng" dirty="0"/>
                  <a:t> 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≥2.2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				(</a:t>
                </a:r>
                <a:r>
                  <a:rPr lang="en-US" dirty="0" err="1"/>
                  <a:t>Eqn</a:t>
                </a:r>
                <a:r>
                  <a:rPr lang="en-US" dirty="0"/>
                  <a:t> 13-1)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  </a:t>
                </a:r>
                <a:endParaRPr lang="en-US" sz="2400" dirty="0"/>
              </a:p>
              <a:p>
                <a:r>
                  <a:rPr lang="en-US" dirty="0"/>
                  <a:t>Use an analog-to-digital converter (ADC)</a:t>
                </a:r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57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" y="694592"/>
            <a:ext cx="9114693" cy="546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35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Analog-to-Digital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32979328"/>
                  </p:ext>
                </p:extLst>
              </p:nvPr>
            </p:nvGraphicFramePr>
            <p:xfrm>
              <a:off x="628650" y="1944210"/>
              <a:ext cx="8009323" cy="3977196"/>
            </p:xfrm>
            <a:graphic>
              <a:graphicData uri="http://schemas.openxmlformats.org/drawingml/2006/table">
                <a:tbl>
                  <a:tblPr firstRow="1" firstCol="1" bandRow="1">
                    <a:tableStyleId>{8799B23B-EC83-4686-B30A-512413B5E67A}</a:tableStyleId>
                  </a:tblPr>
                  <a:tblGrid>
                    <a:gridCol w="8009323">
                      <a:extLst>
                        <a:ext uri="{9D8B030D-6E8A-4147-A177-3AD203B41FA5}">
                          <a16:colId xmlns:a16="http://schemas.microsoft.com/office/drawing/2014/main" val="3192787555"/>
                        </a:ext>
                      </a:extLst>
                    </a:gridCol>
                  </a:tblGrid>
                  <a:tr h="64757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≥2.2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63145883"/>
                      </a:ext>
                    </a:extLst>
                  </a:tr>
                  <a:tr h="120273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𝐷𝑖𝑠𝑐𝑟𝑒𝑡𝑒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#=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𝑀𝑖𝑛</m:t>
                                    </m:r>
                                  </m:sub>
                                </m:sSub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𝑀𝑎𝑥</m:t>
                                        </m:r>
                                      </m:sub>
                                    </m:sSub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𝑀𝑖𝑛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𝐷𝑖𝑔𝑖𝑡𝑎𝑙</m:t>
                                        </m:r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#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33822579"/>
                      </a:ext>
                    </a:extLst>
                  </a:tr>
                  <a:tr h="106344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𝑄𝑢𝑎𝑛𝑡𝑖𝑧𝑎𝑡𝑖𝑜𝑛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𝑆𝑡𝑒𝑝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𝑀𝑎𝑥</m:t>
                                            </m:r>
                                          </m:sub>
                                        </m:sSub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𝑀𝑖𝑛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06076101"/>
                      </a:ext>
                    </a:extLst>
                  </a:tr>
                  <a:tr h="106344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𝐸𝑟𝑟𝑜𝑟</m:t>
                                    </m:r>
                                  </m:e>
                                  <m:sub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𝑀𝑎𝑥</m:t>
                                            </m:r>
                                          </m:sub>
                                        </m:sSub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𝑀𝑖𝑛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860347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32979328"/>
                  </p:ext>
                </p:extLst>
              </p:nvPr>
            </p:nvGraphicFramePr>
            <p:xfrm>
              <a:off x="628650" y="1944210"/>
              <a:ext cx="8009323" cy="3977196"/>
            </p:xfrm>
            <a:graphic>
              <a:graphicData uri="http://schemas.openxmlformats.org/drawingml/2006/table">
                <a:tbl>
                  <a:tblPr firstRow="1" firstCol="1" bandRow="1">
                    <a:tableStyleId>{8799B23B-EC83-4686-B30A-512413B5E67A}</a:tableStyleId>
                  </a:tblPr>
                  <a:tblGrid>
                    <a:gridCol w="8009323">
                      <a:extLst>
                        <a:ext uri="{9D8B030D-6E8A-4147-A177-3AD203B41FA5}">
                          <a16:colId xmlns:a16="http://schemas.microsoft.com/office/drawing/2014/main" val="3192787555"/>
                        </a:ext>
                      </a:extLst>
                    </a:gridCol>
                  </a:tblGrid>
                  <a:tr h="647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6" t="-943" r="-304" b="-5188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3145883"/>
                      </a:ext>
                    </a:extLst>
                  </a:tr>
                  <a:tr h="12027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6" t="-54040" r="-304" b="-17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3822579"/>
                      </a:ext>
                    </a:extLst>
                  </a:tr>
                  <a:tr h="10634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6" t="-174286" r="-304" b="-101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6076101"/>
                      </a:ext>
                    </a:extLst>
                  </a:tr>
                  <a:tr h="10634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6" t="-274286" r="-304" b="-1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60347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79168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4" y="457201"/>
            <a:ext cx="9088362" cy="5961184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077223" y="-281856"/>
            <a:ext cx="7886700" cy="1325563"/>
          </a:xfrm>
        </p:spPr>
        <p:txBody>
          <a:bodyPr/>
          <a:lstStyle/>
          <a:p>
            <a:r>
              <a:rPr lang="en-US" dirty="0"/>
              <a:t>Example: Analog to Digital</a:t>
            </a:r>
          </a:p>
        </p:txBody>
      </p:sp>
    </p:spTree>
    <p:extLst>
      <p:ext uri="{BB962C8B-B14F-4D97-AF65-F5344CB8AC3E}">
        <p14:creationId xmlns:p14="http://schemas.microsoft.com/office/powerpoint/2010/main" val="1662749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4605701" y="5771071"/>
            <a:ext cx="4572001" cy="741238"/>
          </a:xfrm>
          <a:prstGeom prst="rect">
            <a:avLst/>
          </a:prstGeom>
          <a:solidFill>
            <a:srgbClr val="66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594960" y="5081930"/>
            <a:ext cx="4572001" cy="741238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270076" y="4048970"/>
            <a:ext cx="4896886" cy="1032959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743248"/>
              </p:ext>
            </p:extLst>
          </p:nvPr>
        </p:nvGraphicFramePr>
        <p:xfrm>
          <a:off x="514718" y="172528"/>
          <a:ext cx="8059936" cy="35454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3052">
                  <a:extLst>
                    <a:ext uri="{9D8B030D-6E8A-4147-A177-3AD203B41FA5}">
                      <a16:colId xmlns:a16="http://schemas.microsoft.com/office/drawing/2014/main" val="3208566018"/>
                    </a:ext>
                  </a:extLst>
                </a:gridCol>
                <a:gridCol w="1343052">
                  <a:extLst>
                    <a:ext uri="{9D8B030D-6E8A-4147-A177-3AD203B41FA5}">
                      <a16:colId xmlns:a16="http://schemas.microsoft.com/office/drawing/2014/main" val="385546888"/>
                    </a:ext>
                  </a:extLst>
                </a:gridCol>
                <a:gridCol w="1343052">
                  <a:extLst>
                    <a:ext uri="{9D8B030D-6E8A-4147-A177-3AD203B41FA5}">
                      <a16:colId xmlns:a16="http://schemas.microsoft.com/office/drawing/2014/main" val="810368608"/>
                    </a:ext>
                  </a:extLst>
                </a:gridCol>
                <a:gridCol w="1343052">
                  <a:extLst>
                    <a:ext uri="{9D8B030D-6E8A-4147-A177-3AD203B41FA5}">
                      <a16:colId xmlns:a16="http://schemas.microsoft.com/office/drawing/2014/main" val="3643878630"/>
                    </a:ext>
                  </a:extLst>
                </a:gridCol>
                <a:gridCol w="1343864">
                  <a:extLst>
                    <a:ext uri="{9D8B030D-6E8A-4147-A177-3AD203B41FA5}">
                      <a16:colId xmlns:a16="http://schemas.microsoft.com/office/drawing/2014/main" val="2030025317"/>
                    </a:ext>
                  </a:extLst>
                </a:gridCol>
                <a:gridCol w="1343864">
                  <a:extLst>
                    <a:ext uri="{9D8B030D-6E8A-4147-A177-3AD203B41FA5}">
                      <a16:colId xmlns:a16="http://schemas.microsoft.com/office/drawing/2014/main" val="2828971497"/>
                    </a:ext>
                  </a:extLst>
                </a:gridCol>
              </a:tblGrid>
              <a:tr h="322314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Option #1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Option #2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614539"/>
                  </a:ext>
                </a:extLst>
              </a:tr>
              <a:tr h="6446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Analog Range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Digital Value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Discrete Value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Maximum Error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Discrete Value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Maximum Error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2091639"/>
                  </a:ext>
                </a:extLst>
              </a:tr>
              <a:tr h="6446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0-4 V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00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0 V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4 V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 V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 V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9620277"/>
                  </a:ext>
                </a:extLst>
              </a:tr>
              <a:tr h="6446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4-8</a:t>
                      </a:r>
                      <a:r>
                        <a:rPr lang="en-US" sz="1600" baseline="0" dirty="0">
                          <a:effectLst/>
                        </a:rPr>
                        <a:t> V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5.3 V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2.7 V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6 V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 V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1146976"/>
                  </a:ext>
                </a:extLst>
              </a:tr>
              <a:tr h="6446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8-12 V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10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10.7 V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2.7</a:t>
                      </a:r>
                      <a:r>
                        <a:rPr lang="en-US" sz="1600" baseline="0" dirty="0">
                          <a:effectLst/>
                        </a:rPr>
                        <a:t> V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10 V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 V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8401846"/>
                  </a:ext>
                </a:extLst>
              </a:tr>
              <a:tr h="6446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12-16 V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11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16 V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4 V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14 V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 V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6138327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65" y="3842934"/>
            <a:ext cx="4340995" cy="284731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9512" y="6012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003" y="409467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7397" y="55327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6656" y="50819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147" y="45883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7665" y="57710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65506" y="52665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0477" y="47815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5182" y="43250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7665" y="6039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5506" y="545383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5.3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2308" y="461224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10.7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3626" y="411796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594961" y="4048970"/>
                <a:ext cx="4572000" cy="50731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latin typeface="Cambria Math" panose="02040503050406030204" pitchFamily="18" charset="0"/>
                        </a:rPr>
                        <m:t>𝐷𝑖𝑠𝑐𝑟𝑒𝑡𝑒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#=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𝑀𝑖𝑛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𝑀𝑖𝑛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𝐷𝑖𝑔𝑖𝑡𝑎𝑙</m:t>
                              </m:r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961" y="4048970"/>
                <a:ext cx="4572000" cy="5073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492807" y="4487295"/>
                <a:ext cx="4674154" cy="507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𝐷𝑖𝑠𝑐𝑟𝑒𝑡𝑒</m:t>
                      </m:r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#=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=16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=16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807" y="4487295"/>
                <a:ext cx="4674154" cy="5073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/>
          <p:cNvSpPr/>
          <p:nvPr/>
        </p:nvSpPr>
        <p:spPr>
          <a:xfrm>
            <a:off x="1809351" y="2346385"/>
            <a:ext cx="557841" cy="48307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860890" y="2308575"/>
            <a:ext cx="557841" cy="48307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814319" y="5266594"/>
                <a:ext cx="3704219" cy="4494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𝑄𝑢𝑎𝑛𝑡𝑖𝑧𝑎𝑡𝑖𝑜𝑛</m:t>
                      </m:r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𝑆𝑡𝑒𝑝</m:t>
                      </m:r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𝑀𝑎𝑥</m:t>
                                  </m:r>
                                </m:sub>
                              </m:s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𝑀𝑖𝑛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319" y="5266594"/>
                <a:ext cx="3704219" cy="4494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/>
          <p:cNvSpPr/>
          <p:nvPr/>
        </p:nvSpPr>
        <p:spPr>
          <a:xfrm>
            <a:off x="556408" y="1015042"/>
            <a:ext cx="557841" cy="483079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5217070" y="5867860"/>
                <a:ext cx="3225627" cy="5450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𝐸𝑟𝑟𝑜𝑟</m:t>
                          </m:r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𝑀𝑎𝑥</m:t>
                                  </m:r>
                                </m:sub>
                              </m:s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𝑀𝑖𝑛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070" y="5867860"/>
                <a:ext cx="3225627" cy="5450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/>
          <p:cNvSpPr/>
          <p:nvPr/>
        </p:nvSpPr>
        <p:spPr>
          <a:xfrm>
            <a:off x="7169993" y="1024605"/>
            <a:ext cx="557841" cy="2693382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13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US" dirty="0"/>
              <a:t>Hamming 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43174"/>
                <a:ext cx="7886700" cy="526036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Type of EDAC called “block code” where message is divided into fixed-size blocks of bits, to which redundant bits are added for error detection and correction</a:t>
                </a:r>
              </a:p>
              <a:p>
                <a:r>
                  <a:rPr lang="en-US" dirty="0"/>
                  <a:t>Developed by R. W. Hamming, capable of correcting single-bit errors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Must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</a:p>
              <a:p>
                <a:pPr marL="0" indent="0">
                  <a:buNone/>
                </a:pPr>
                <a:r>
                  <a:rPr lang="en-US" dirty="0"/>
                  <a:t>	m = # data bits</a:t>
                </a:r>
              </a:p>
              <a:p>
                <a:pPr marL="0" indent="0">
                  <a:buNone/>
                </a:pPr>
                <a:r>
                  <a:rPr lang="en-US" dirty="0"/>
                  <a:t>	r = # redundant bits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43174"/>
                <a:ext cx="7886700" cy="5260368"/>
              </a:xfrm>
              <a:blipFill>
                <a:blip r:embed="rId2"/>
                <a:stretch>
                  <a:fillRect l="-1546" t="-2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830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r>
              <a:rPr lang="en-US" dirty="0"/>
              <a:t>:  Hamming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994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Given: 7 data bits, even parity</a:t>
            </a:r>
          </a:p>
          <a:p>
            <a:pPr marL="0" indent="0">
              <a:buNone/>
            </a:pPr>
            <a:r>
              <a:rPr lang="en-US" dirty="0"/>
              <a:t>              message: 1011001</a:t>
            </a:r>
          </a:p>
          <a:p>
            <a:r>
              <a:rPr lang="en-US" dirty="0"/>
              <a:t>Find: </a:t>
            </a:r>
          </a:p>
          <a:p>
            <a:pPr marL="514350" indent="-514350">
              <a:buAutoNum type="alphaLcParenR"/>
            </a:pPr>
            <a:r>
              <a:rPr lang="en-US" dirty="0"/>
              <a:t>Using Hamming code for single error detection and correction, determine sent message in binary.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US" dirty="0"/>
              <a:t>Not knowing the sent message, the ground receives the following message: 10001001110. The ground knows only that there were 7 message bits and 4 redundancy bits. Determine if there are any errors and if so, which bit has an error.</a:t>
            </a:r>
          </a:p>
        </p:txBody>
      </p:sp>
    </p:spTree>
    <p:extLst>
      <p:ext uri="{BB962C8B-B14F-4D97-AF65-F5344CB8AC3E}">
        <p14:creationId xmlns:p14="http://schemas.microsoft.com/office/powerpoint/2010/main" val="1872661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8852" y="920101"/>
                <a:ext cx="5612352" cy="565740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Use equations to determine total number of bits to encode</a:t>
                </a:r>
              </a:p>
              <a:p>
                <a:pPr lvl="1"/>
                <a:r>
                  <a:rPr lang="en-US" sz="1800" dirty="0"/>
                  <a:t>must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dirty="0"/>
                  <a:t>  where</a:t>
                </a:r>
              </a:p>
              <a:p>
                <a:pPr lvl="2"/>
                <a:r>
                  <a:rPr lang="en-US" sz="1400" dirty="0"/>
                  <a:t>m = # data bits</a:t>
                </a:r>
              </a:p>
              <a:p>
                <a:pPr lvl="2"/>
                <a:r>
                  <a:rPr lang="en-US" sz="1400" dirty="0"/>
                  <a:t>r = # redundant bits</a:t>
                </a:r>
              </a:p>
              <a:p>
                <a:r>
                  <a:rPr lang="en-US" sz="2400" dirty="0"/>
                  <a:t>For this problem, r must be at least 4  (16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≥11+4+1</m:t>
                    </m:r>
                  </m:oMath>
                </a14:m>
                <a:r>
                  <a:rPr lang="en-US" sz="2400" dirty="0"/>
                  <a:t> )</a:t>
                </a:r>
              </a:p>
              <a:p>
                <a:r>
                  <a:rPr lang="en-US" sz="2400" dirty="0"/>
                  <a:t>Thus, we have 7 data bits + 4 redundancy bits = 11 total bits</a:t>
                </a:r>
                <a:endParaRPr lang="en-US" dirty="0"/>
              </a:p>
              <a:p>
                <a:r>
                  <a:rPr lang="en-US" sz="2400" dirty="0"/>
                  <a:t>Use Binary Table to determine where redundancy bits go &amp; where message bits go</a:t>
                </a:r>
              </a:p>
              <a:p>
                <a:r>
                  <a:rPr lang="en-US" sz="2400" dirty="0"/>
                  <a:t>Redundancy bits go in the 2</a:t>
                </a:r>
                <a:r>
                  <a:rPr lang="en-US" sz="2400" baseline="30000" dirty="0"/>
                  <a:t>n-1</a:t>
                </a:r>
                <a:r>
                  <a:rPr lang="en-US" sz="2400" dirty="0"/>
                  <a:t> slots</a:t>
                </a:r>
              </a:p>
              <a:p>
                <a:pPr lvl="1"/>
                <a:r>
                  <a:rPr lang="en-US" sz="2000" dirty="0"/>
                  <a:t>R1 goes in Slot 2</a:t>
                </a:r>
                <a:r>
                  <a:rPr lang="en-US" sz="2000" baseline="30000" dirty="0"/>
                  <a:t>0</a:t>
                </a:r>
                <a:r>
                  <a:rPr lang="en-US" sz="2000" dirty="0"/>
                  <a:t>=1</a:t>
                </a:r>
              </a:p>
              <a:p>
                <a:pPr lvl="1"/>
                <a:r>
                  <a:rPr lang="en-US" sz="2000" dirty="0"/>
                  <a:t>R2 goes in Slot 2</a:t>
                </a:r>
                <a:r>
                  <a:rPr lang="en-US" sz="2000" baseline="30000" dirty="0"/>
                  <a:t>1</a:t>
                </a:r>
                <a:r>
                  <a:rPr lang="en-US" sz="2000" dirty="0"/>
                  <a:t>=2</a:t>
                </a:r>
              </a:p>
              <a:p>
                <a:pPr lvl="1"/>
                <a:r>
                  <a:rPr lang="en-US" sz="2000" dirty="0"/>
                  <a:t>R3 goes in Slot 2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=4</a:t>
                </a:r>
              </a:p>
              <a:p>
                <a:pPr lvl="1"/>
                <a:r>
                  <a:rPr lang="en-US" sz="2000" dirty="0"/>
                  <a:t>R4 goes in Slot 2</a:t>
                </a:r>
                <a:r>
                  <a:rPr lang="en-US" sz="2000" baseline="30000" dirty="0"/>
                  <a:t>3</a:t>
                </a:r>
                <a:r>
                  <a:rPr lang="en-US" sz="2000" dirty="0"/>
                  <a:t>=8, </a:t>
                </a:r>
                <a:r>
                  <a:rPr lang="en-US" sz="2000" dirty="0" err="1"/>
                  <a:t>etc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852" y="920101"/>
                <a:ext cx="5612352" cy="5657403"/>
              </a:xfrm>
              <a:blipFill>
                <a:blip r:embed="rId2"/>
                <a:stretch>
                  <a:fillRect l="-1520" t="-2047" r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2"/>
          <p:cNvSpPr txBox="1">
            <a:spLocks/>
          </p:cNvSpPr>
          <p:nvPr/>
        </p:nvSpPr>
        <p:spPr>
          <a:xfrm>
            <a:off x="388953" y="-26518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/>
              <a:t>Solution (1/3)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575936"/>
              </p:ext>
            </p:extLst>
          </p:nvPr>
        </p:nvGraphicFramePr>
        <p:xfrm>
          <a:off x="6471822" y="834497"/>
          <a:ext cx="2035062" cy="46433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7730">
                  <a:extLst>
                    <a:ext uri="{9D8B030D-6E8A-4147-A177-3AD203B41FA5}">
                      <a16:colId xmlns:a16="http://schemas.microsoft.com/office/drawing/2014/main" val="4137648291"/>
                    </a:ext>
                  </a:extLst>
                </a:gridCol>
                <a:gridCol w="399333">
                  <a:extLst>
                    <a:ext uri="{9D8B030D-6E8A-4147-A177-3AD203B41FA5}">
                      <a16:colId xmlns:a16="http://schemas.microsoft.com/office/drawing/2014/main" val="2389341915"/>
                    </a:ext>
                  </a:extLst>
                </a:gridCol>
                <a:gridCol w="399333">
                  <a:extLst>
                    <a:ext uri="{9D8B030D-6E8A-4147-A177-3AD203B41FA5}">
                      <a16:colId xmlns:a16="http://schemas.microsoft.com/office/drawing/2014/main" val="2795877607"/>
                    </a:ext>
                  </a:extLst>
                </a:gridCol>
                <a:gridCol w="399333">
                  <a:extLst>
                    <a:ext uri="{9D8B030D-6E8A-4147-A177-3AD203B41FA5}">
                      <a16:colId xmlns:a16="http://schemas.microsoft.com/office/drawing/2014/main" val="3031479529"/>
                    </a:ext>
                  </a:extLst>
                </a:gridCol>
                <a:gridCol w="399333">
                  <a:extLst>
                    <a:ext uri="{9D8B030D-6E8A-4147-A177-3AD203B41FA5}">
                      <a16:colId xmlns:a16="http://schemas.microsoft.com/office/drawing/2014/main" val="681994590"/>
                    </a:ext>
                  </a:extLst>
                </a:gridCol>
              </a:tblGrid>
              <a:tr h="337769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#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r>
                        <a:rPr lang="en-US" sz="1600" baseline="30000">
                          <a:effectLst/>
                        </a:rPr>
                        <a:t>3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r>
                        <a:rPr lang="en-US" sz="1600" baseline="30000" dirty="0">
                          <a:effectLst/>
                        </a:rPr>
                        <a:t>2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r>
                        <a:rPr lang="en-US" sz="1600" baseline="300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r>
                        <a:rPr lang="en-US" sz="1600" baseline="300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761497723"/>
                  </a:ext>
                </a:extLst>
              </a:tr>
              <a:tr h="232514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1827069416"/>
                  </a:ext>
                </a:extLst>
              </a:tr>
              <a:tr h="232514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2950781083"/>
                  </a:ext>
                </a:extLst>
              </a:tr>
              <a:tr h="232514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153224779"/>
                  </a:ext>
                </a:extLst>
              </a:tr>
              <a:tr h="232514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1282373296"/>
                  </a:ext>
                </a:extLst>
              </a:tr>
              <a:tr h="232514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1544841863"/>
                  </a:ext>
                </a:extLst>
              </a:tr>
              <a:tr h="232514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3893560212"/>
                  </a:ext>
                </a:extLst>
              </a:tr>
              <a:tr h="232514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1209364284"/>
                  </a:ext>
                </a:extLst>
              </a:tr>
              <a:tr h="232514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7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3981587817"/>
                  </a:ext>
                </a:extLst>
              </a:tr>
              <a:tr h="232514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1731950066"/>
                  </a:ext>
                </a:extLst>
              </a:tr>
              <a:tr h="232514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2155405338"/>
                  </a:ext>
                </a:extLst>
              </a:tr>
              <a:tr h="232514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3066817848"/>
                  </a:ext>
                </a:extLst>
              </a:tr>
              <a:tr h="244921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11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2485858959"/>
                  </a:ext>
                </a:extLst>
              </a:tr>
              <a:tr h="250199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804325728"/>
                  </a:ext>
                </a:extLst>
              </a:tr>
              <a:tr h="368062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13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2610137619"/>
                  </a:ext>
                </a:extLst>
              </a:tr>
              <a:tr h="422363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2147373420"/>
                  </a:ext>
                </a:extLst>
              </a:tr>
              <a:tr h="337769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8811" marR="48811" marT="0" marB="0"/>
                </a:tc>
                <a:extLst>
                  <a:ext uri="{0D108BD9-81ED-4DB2-BD59-A6C34878D82A}">
                    <a16:rowId xmlns:a16="http://schemas.microsoft.com/office/drawing/2014/main" val="253191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496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8953" y="-265188"/>
            <a:ext cx="7886700" cy="1325563"/>
          </a:xfrm>
        </p:spPr>
        <p:txBody>
          <a:bodyPr/>
          <a:lstStyle/>
          <a:p>
            <a:r>
              <a:rPr lang="en-US" b="1" dirty="0"/>
              <a:t>Solution (2/3) – Part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3293616"/>
                <a:ext cx="7886700" cy="3471168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calculate redundancy bits to achieve even parity based on </a:t>
                </a:r>
                <a:r>
                  <a:rPr lang="en-US" dirty="0" err="1"/>
                  <a:t>eqns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9⊕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1= 1 ⊕ 0  ⊕ 1 ⊕ 1  ⊕  1=0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6⊕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10⊕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2= 1 ⊕  0 ⊕ 1 ⊕   0  ⊕   1=1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6⊕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3= 0 ⊕  0 ⊕ 1=1</m:t>
                    </m:r>
                  </m:oMath>
                </a14:m>
                <a:r>
                  <a:rPr lang="en-US" dirty="0"/>
                  <a:t>  </a:t>
                </a:r>
              </a:p>
              <a:p>
                <a:endParaRPr lang="en-US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9⊕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10⊕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4= 1 ⊕   0  ⊕  1=0</m:t>
                    </m:r>
                  </m:oMath>
                </a14:m>
                <a:r>
                  <a:rPr lang="en-US" dirty="0"/>
                  <a:t>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293616"/>
                <a:ext cx="7886700" cy="3471168"/>
              </a:xfrm>
              <a:blipFill>
                <a:blip r:embed="rId2"/>
                <a:stretch>
                  <a:fillRect l="-232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553123"/>
              </p:ext>
            </p:extLst>
          </p:nvPr>
        </p:nvGraphicFramePr>
        <p:xfrm>
          <a:off x="474450" y="602176"/>
          <a:ext cx="8505651" cy="2691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4327">
                  <a:extLst>
                    <a:ext uri="{9D8B030D-6E8A-4147-A177-3AD203B41FA5}">
                      <a16:colId xmlns:a16="http://schemas.microsoft.com/office/drawing/2014/main" val="2949385799"/>
                    </a:ext>
                  </a:extLst>
                </a:gridCol>
                <a:gridCol w="771215">
                  <a:extLst>
                    <a:ext uri="{9D8B030D-6E8A-4147-A177-3AD203B41FA5}">
                      <a16:colId xmlns:a16="http://schemas.microsoft.com/office/drawing/2014/main" val="1177095959"/>
                    </a:ext>
                  </a:extLst>
                </a:gridCol>
                <a:gridCol w="731797">
                  <a:extLst>
                    <a:ext uri="{9D8B030D-6E8A-4147-A177-3AD203B41FA5}">
                      <a16:colId xmlns:a16="http://schemas.microsoft.com/office/drawing/2014/main" val="1554800365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311279421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1964819420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401578596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2798586169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2380107832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66997089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516430109"/>
                    </a:ext>
                  </a:extLst>
                </a:gridCol>
                <a:gridCol w="623828">
                  <a:extLst>
                    <a:ext uri="{9D8B030D-6E8A-4147-A177-3AD203B41FA5}">
                      <a16:colId xmlns:a16="http://schemas.microsoft.com/office/drawing/2014/main" val="1831778233"/>
                    </a:ext>
                  </a:extLst>
                </a:gridCol>
                <a:gridCol w="623828">
                  <a:extLst>
                    <a:ext uri="{9D8B030D-6E8A-4147-A177-3AD203B41FA5}">
                      <a16:colId xmlns:a16="http://schemas.microsoft.com/office/drawing/2014/main" val="3901899307"/>
                    </a:ext>
                  </a:extLst>
                </a:gridCol>
              </a:tblGrid>
              <a:tr h="2782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MSB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LSB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012711"/>
                  </a:ext>
                </a:extLst>
              </a:tr>
              <a:tr h="2782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Slot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S11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S10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S1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86957"/>
                  </a:ext>
                </a:extLst>
              </a:tr>
              <a:tr h="6073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Content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M7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M6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M5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R4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M4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M3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M2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R3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M1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R2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R1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9400687"/>
                  </a:ext>
                </a:extLst>
              </a:tr>
              <a:tr h="6073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Value</a:t>
                      </a:r>
                      <a:endParaRPr lang="en-US" sz="140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5735981"/>
                  </a:ext>
                </a:extLst>
              </a:tr>
              <a:tr h="9201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Sent message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5504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978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8953" y="-265188"/>
            <a:ext cx="7886700" cy="1325563"/>
          </a:xfrm>
        </p:spPr>
        <p:txBody>
          <a:bodyPr/>
          <a:lstStyle/>
          <a:p>
            <a:r>
              <a:rPr lang="en-US" b="1" dirty="0"/>
              <a:t>Solution (3/3) – Part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246910" y="3195961"/>
                <a:ext cx="5727762" cy="3471168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use received message to create check bits based on </a:t>
                </a:r>
                <a:r>
                  <a:rPr lang="en-US" dirty="0" err="1"/>
                  <a:t>eqns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9⊕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1= 0 ⊕  1 ⊕ 0 ⊕ 1  ⊕ 0 ⊕   1=1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6⊕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10⊕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2= 1 ⊕ 1  ⊕ 0 ⊕ 1  ⊕  0   ⊕  1=0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4⊕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6⊕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3= 1 ⊕ 0  ⊕  0 ⊕ 1=0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4=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8⊕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9⊕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10⊕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4= 0 ⊕ 0  ⊕   0  ⊕  1=1</m:t>
                    </m:r>
                  </m:oMath>
                </a14:m>
                <a:r>
                  <a:rPr lang="en-US" dirty="0"/>
                  <a:t>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910" y="3195961"/>
                <a:ext cx="5727762" cy="3471168"/>
              </a:xfrm>
              <a:blipFill>
                <a:blip r:embed="rId2"/>
                <a:stretch>
                  <a:fillRect l="-319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574127"/>
              </p:ext>
            </p:extLst>
          </p:nvPr>
        </p:nvGraphicFramePr>
        <p:xfrm>
          <a:off x="319174" y="651588"/>
          <a:ext cx="8505651" cy="24606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4327">
                  <a:extLst>
                    <a:ext uri="{9D8B030D-6E8A-4147-A177-3AD203B41FA5}">
                      <a16:colId xmlns:a16="http://schemas.microsoft.com/office/drawing/2014/main" val="2949385799"/>
                    </a:ext>
                  </a:extLst>
                </a:gridCol>
                <a:gridCol w="771215">
                  <a:extLst>
                    <a:ext uri="{9D8B030D-6E8A-4147-A177-3AD203B41FA5}">
                      <a16:colId xmlns:a16="http://schemas.microsoft.com/office/drawing/2014/main" val="1177095959"/>
                    </a:ext>
                  </a:extLst>
                </a:gridCol>
                <a:gridCol w="731797">
                  <a:extLst>
                    <a:ext uri="{9D8B030D-6E8A-4147-A177-3AD203B41FA5}">
                      <a16:colId xmlns:a16="http://schemas.microsoft.com/office/drawing/2014/main" val="1554800365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311279421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1964819420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401578596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2798586169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2380107832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66997089"/>
                    </a:ext>
                  </a:extLst>
                </a:gridCol>
                <a:gridCol w="695808">
                  <a:extLst>
                    <a:ext uri="{9D8B030D-6E8A-4147-A177-3AD203B41FA5}">
                      <a16:colId xmlns:a16="http://schemas.microsoft.com/office/drawing/2014/main" val="516430109"/>
                    </a:ext>
                  </a:extLst>
                </a:gridCol>
                <a:gridCol w="623828">
                  <a:extLst>
                    <a:ext uri="{9D8B030D-6E8A-4147-A177-3AD203B41FA5}">
                      <a16:colId xmlns:a16="http://schemas.microsoft.com/office/drawing/2014/main" val="1831778233"/>
                    </a:ext>
                  </a:extLst>
                </a:gridCol>
                <a:gridCol w="623828">
                  <a:extLst>
                    <a:ext uri="{9D8B030D-6E8A-4147-A177-3AD203B41FA5}">
                      <a16:colId xmlns:a16="http://schemas.microsoft.com/office/drawing/2014/main" val="3901899307"/>
                    </a:ext>
                  </a:extLst>
                </a:gridCol>
              </a:tblGrid>
              <a:tr h="2544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MSB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LSB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012711"/>
                  </a:ext>
                </a:extLst>
              </a:tr>
              <a:tr h="2544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Slot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S11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S10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S1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86957"/>
                  </a:ext>
                </a:extLst>
              </a:tr>
              <a:tr h="5552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Content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M7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M6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M5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R4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M4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M3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M2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R3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M1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R2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R1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9400687"/>
                  </a:ext>
                </a:extLst>
              </a:tr>
              <a:tr h="5552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Value</a:t>
                      </a:r>
                      <a:endParaRPr lang="en-US" sz="140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5735981"/>
                  </a:ext>
                </a:extLst>
              </a:tr>
              <a:tr h="8412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Recv’d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message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089599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228948" y="3721053"/>
            <a:ext cx="39150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the binary number: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C4 C3 C2 C1 = (binary location of the error)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value of zero means rcvd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msg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same as sent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msg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C4 C3 C2 C1 = 1 0 0 1 = 9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Bit 9 has an error!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253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90A248-C342-4245-ADA5-58F5763B08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01ECA8-19FC-48B2-9D91-A1D9AC4B764F}">
  <ds:schemaRefs>
    <ds:schemaRef ds:uri="http://schemas.microsoft.com/office/infopath/2007/PartnerControls"/>
    <ds:schemaRef ds:uri="http://schemas.openxmlformats.org/package/2006/metadata/core-properties"/>
    <ds:schemaRef ds:uri="56199585-876f-4f67-a080-37606926811f"/>
    <ds:schemaRef ds:uri="http://schemas.microsoft.com/office/2006/documentManagement/types"/>
    <ds:schemaRef ds:uri="http://purl.org/dc/dcmitype/"/>
    <ds:schemaRef ds:uri="1995cf89-95cd-4008-a338-5014013afe4c"/>
    <ds:schemaRef ds:uri="http://purl.org/dc/elements/1.1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DD84286-0EBC-4A1F-9C1D-A77221F8AECF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8546</TotalTime>
  <Words>2077</Words>
  <Application>Microsoft Office PowerPoint</Application>
  <PresentationFormat>On-screen Show (4:3)</PresentationFormat>
  <Paragraphs>425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Arial Unicode MS</vt:lpstr>
      <vt:lpstr>Calibri</vt:lpstr>
      <vt:lpstr>Calibri Light</vt:lpstr>
      <vt:lpstr>Cambria Math</vt:lpstr>
      <vt:lpstr>Helvetica</vt:lpstr>
      <vt:lpstr>Times New Roman</vt:lpstr>
      <vt:lpstr>Office Theme</vt:lpstr>
      <vt:lpstr>PowerPoint Presentation</vt:lpstr>
      <vt:lpstr>Lesson Objectives</vt:lpstr>
      <vt:lpstr>Command &amp; Data Handling (C&amp;DH)</vt:lpstr>
      <vt:lpstr>PowerPoint Presentation</vt:lpstr>
      <vt:lpstr>C&amp;DH Main Functions</vt:lpstr>
      <vt:lpstr>Commanding</vt:lpstr>
      <vt:lpstr>Data Handling</vt:lpstr>
      <vt:lpstr>Terms Definitions</vt:lpstr>
      <vt:lpstr>BONUS Info</vt:lpstr>
      <vt:lpstr>PowerPoint Presentation</vt:lpstr>
      <vt:lpstr>Telemetry, Tracking &amp; Command (TT&amp;C)</vt:lpstr>
      <vt:lpstr>PowerPoint Presentation</vt:lpstr>
      <vt:lpstr>TT&amp;C Functions</vt:lpstr>
      <vt:lpstr>TT&amp;C Req’ts</vt:lpstr>
      <vt:lpstr>TT&amp;C Information</vt:lpstr>
      <vt:lpstr>PowerPoint Presentation</vt:lpstr>
      <vt:lpstr>Modulation</vt:lpstr>
      <vt:lpstr>PowerPoint Presentation</vt:lpstr>
      <vt:lpstr>Analog to Digital Conversion</vt:lpstr>
      <vt:lpstr>PowerPoint Presentation</vt:lpstr>
      <vt:lpstr>Analog-to-Digital Equations</vt:lpstr>
      <vt:lpstr>Example: Analog to Digital</vt:lpstr>
      <vt:lpstr>PowerPoint Presentation</vt:lpstr>
      <vt:lpstr>Hamming Code</vt:lpstr>
      <vt:lpstr>Example:  Hamming Code</vt:lpstr>
      <vt:lpstr>PowerPoint Presentation</vt:lpstr>
      <vt:lpstr>Solution (2/3) – Part a</vt:lpstr>
      <vt:lpstr>Solution (3/3) – Part b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lastModifiedBy>Firth, Jordan A Lt Col USAF USAFA DF/DFAS</cp:lastModifiedBy>
  <cp:revision>112</cp:revision>
  <cp:lastPrinted>2020-02-12T23:10:16Z</cp:lastPrinted>
  <dcterms:created xsi:type="dcterms:W3CDTF">2019-06-13T20:36:51Z</dcterms:created>
  <dcterms:modified xsi:type="dcterms:W3CDTF">2023-04-18T16:54:34Z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