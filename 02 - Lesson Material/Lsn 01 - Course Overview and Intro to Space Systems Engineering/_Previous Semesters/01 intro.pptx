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96" r:id="rId5"/>
    <p:sldId id="298" r:id="rId6"/>
    <p:sldId id="300" r:id="rId7"/>
    <p:sldId id="281" r:id="rId8"/>
    <p:sldId id="291" r:id="rId9"/>
    <p:sldId id="289" r:id="rId10"/>
    <p:sldId id="295" r:id="rId11"/>
    <p:sldId id="288" r:id="rId12"/>
    <p:sldId id="292" r:id="rId13"/>
    <p:sldId id="293" r:id="rId14"/>
    <p:sldId id="290" r:id="rId15"/>
    <p:sldId id="297" r:id="rId16"/>
  </p:sldIdLst>
  <p:sldSz cx="9144000" cy="6858000" type="screen4x3"/>
  <p:notesSz cx="9101138" cy="6858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FF66"/>
    <a:srgbClr val="66CCFF"/>
    <a:srgbClr val="CCFF99"/>
    <a:srgbClr val="FFCC99"/>
    <a:srgbClr val="FFCCFF"/>
    <a:srgbClr val="CCECFF"/>
    <a:srgbClr val="FF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B046A4-5972-4D38-903E-D920F8D7D026}" v="1" dt="2026-01-06T03:43:53.9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04" autoAdjust="0"/>
  </p:normalViewPr>
  <p:slideViewPr>
    <p:cSldViewPr snapToGrid="0">
      <p:cViewPr varScale="1">
        <p:scale>
          <a:sx n="77" d="100"/>
          <a:sy n="77" d="100"/>
        </p:scale>
        <p:origin x="90" y="43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95571437-1CDD-49A9-9F44-9267EE8F1204}"/>
    <pc:docChg chg="modSld">
      <pc:chgData name="Harris, Wyatt J Lt Col USAF USAFA DF/DFAS" userId="768bfb95-c272-4014-8fa2-010c15306053" providerId="ADAL" clId="{95571437-1CDD-49A9-9F44-9267EE8F1204}" dt="2026-01-06T03:43:53.936" v="0" actId="1076"/>
      <pc:docMkLst>
        <pc:docMk/>
      </pc:docMkLst>
      <pc:sldChg chg="modSp">
        <pc:chgData name="Harris, Wyatt J Lt Col USAF USAFA DF/DFAS" userId="768bfb95-c272-4014-8fa2-010c15306053" providerId="ADAL" clId="{95571437-1CDD-49A9-9F44-9267EE8F1204}" dt="2026-01-06T03:43:53.936" v="0" actId="1076"/>
        <pc:sldMkLst>
          <pc:docMk/>
          <pc:sldMk cId="2771830747" sldId="290"/>
        </pc:sldMkLst>
        <pc:picChg chg="mod">
          <ac:chgData name="Harris, Wyatt J Lt Col USAF USAFA DF/DFAS" userId="768bfb95-c272-4014-8fa2-010c15306053" providerId="ADAL" clId="{95571437-1CDD-49A9-9F44-9267EE8F1204}" dt="2026-01-06T03:43:53.936" v="0" actId="1076"/>
          <ac:picMkLst>
            <pc:docMk/>
            <pc:sldMk cId="2771830747" sldId="290"/>
            <ac:picMk id="1126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946003" cy="343211"/>
          </a:xfrm>
          <a:prstGeom prst="rect">
            <a:avLst/>
          </a:prstGeom>
          <a:noFill/>
          <a:ln w="9525">
            <a:noFill/>
            <a:miter lim="800000"/>
            <a:headEnd/>
            <a:tailEnd/>
          </a:ln>
          <a:effectLst/>
        </p:spPr>
        <p:txBody>
          <a:bodyPr vert="horz" wrap="square" lIns="91184" tIns="45593" rIns="91184" bIns="45593" numCol="1" anchor="t" anchorCtr="0" compatLnSpc="1">
            <a:prstTxWarp prst="textNoShape">
              <a:avLst/>
            </a:prstTxWarp>
          </a:bodyPr>
          <a:lstStyle>
            <a:lvl1pPr defTabSz="912652">
              <a:defRPr sz="1200">
                <a:latin typeface="Arial" charset="0"/>
              </a:defRPr>
            </a:lvl1pPr>
          </a:lstStyle>
          <a:p>
            <a:pPr>
              <a:defRPr/>
            </a:pPr>
            <a:endParaRPr lang="en-US"/>
          </a:p>
        </p:txBody>
      </p:sp>
      <p:sp>
        <p:nvSpPr>
          <p:cNvPr id="23555" name="Rectangle 3"/>
          <p:cNvSpPr>
            <a:spLocks noGrp="1" noChangeArrowheads="1"/>
          </p:cNvSpPr>
          <p:nvPr>
            <p:ph type="dt" sz="quarter" idx="1"/>
          </p:nvPr>
        </p:nvSpPr>
        <p:spPr bwMode="auto">
          <a:xfrm>
            <a:off x="5152028" y="0"/>
            <a:ext cx="3947556" cy="343211"/>
          </a:xfrm>
          <a:prstGeom prst="rect">
            <a:avLst/>
          </a:prstGeom>
          <a:noFill/>
          <a:ln w="9525">
            <a:noFill/>
            <a:miter lim="800000"/>
            <a:headEnd/>
            <a:tailEnd/>
          </a:ln>
          <a:effectLst/>
        </p:spPr>
        <p:txBody>
          <a:bodyPr vert="horz" wrap="square" lIns="91184" tIns="45593" rIns="91184" bIns="45593" numCol="1" anchor="t" anchorCtr="0" compatLnSpc="1">
            <a:prstTxWarp prst="textNoShape">
              <a:avLst/>
            </a:prstTxWarp>
          </a:bodyPr>
          <a:lstStyle>
            <a:lvl1pPr algn="r" defTabSz="912652">
              <a:defRPr sz="1200">
                <a:latin typeface="Arial" charset="0"/>
              </a:defRPr>
            </a:lvl1pPr>
          </a:lstStyle>
          <a:p>
            <a:pPr>
              <a:defRPr/>
            </a:pPr>
            <a:endParaRPr lang="en-US"/>
          </a:p>
        </p:txBody>
      </p:sp>
      <p:sp>
        <p:nvSpPr>
          <p:cNvPr id="23556" name="Rectangle 4"/>
          <p:cNvSpPr>
            <a:spLocks noGrp="1" noChangeArrowheads="1"/>
          </p:cNvSpPr>
          <p:nvPr>
            <p:ph type="ftr" sz="quarter" idx="2"/>
          </p:nvPr>
        </p:nvSpPr>
        <p:spPr bwMode="auto">
          <a:xfrm>
            <a:off x="0" y="6513236"/>
            <a:ext cx="3946003" cy="343211"/>
          </a:xfrm>
          <a:prstGeom prst="rect">
            <a:avLst/>
          </a:prstGeom>
          <a:noFill/>
          <a:ln w="9525">
            <a:noFill/>
            <a:miter lim="800000"/>
            <a:headEnd/>
            <a:tailEnd/>
          </a:ln>
          <a:effectLst/>
        </p:spPr>
        <p:txBody>
          <a:bodyPr vert="horz" wrap="square" lIns="91184" tIns="45593" rIns="91184" bIns="45593" numCol="1" anchor="b" anchorCtr="0" compatLnSpc="1">
            <a:prstTxWarp prst="textNoShape">
              <a:avLst/>
            </a:prstTxWarp>
          </a:bodyPr>
          <a:lstStyle>
            <a:lvl1pPr defTabSz="912652">
              <a:defRPr sz="1200">
                <a:latin typeface="Arial" charset="0"/>
              </a:defRPr>
            </a:lvl1pPr>
          </a:lstStyle>
          <a:p>
            <a:pPr>
              <a:defRPr/>
            </a:pPr>
            <a:endParaRPr lang="en-US"/>
          </a:p>
        </p:txBody>
      </p:sp>
      <p:sp>
        <p:nvSpPr>
          <p:cNvPr id="23557" name="Rectangle 5"/>
          <p:cNvSpPr>
            <a:spLocks noGrp="1" noChangeArrowheads="1"/>
          </p:cNvSpPr>
          <p:nvPr>
            <p:ph type="sldNum" sz="quarter" idx="3"/>
          </p:nvPr>
        </p:nvSpPr>
        <p:spPr bwMode="auto">
          <a:xfrm>
            <a:off x="5152028" y="6513236"/>
            <a:ext cx="3947556" cy="343211"/>
          </a:xfrm>
          <a:prstGeom prst="rect">
            <a:avLst/>
          </a:prstGeom>
          <a:noFill/>
          <a:ln w="9525">
            <a:noFill/>
            <a:miter lim="800000"/>
            <a:headEnd/>
            <a:tailEnd/>
          </a:ln>
          <a:effectLst/>
        </p:spPr>
        <p:txBody>
          <a:bodyPr vert="horz" wrap="square" lIns="91184" tIns="45593" rIns="91184" bIns="45593" numCol="1" anchor="b" anchorCtr="0" compatLnSpc="1">
            <a:prstTxWarp prst="textNoShape">
              <a:avLst/>
            </a:prstTxWarp>
          </a:bodyPr>
          <a:lstStyle>
            <a:lvl1pPr algn="r" defTabSz="912652">
              <a:defRPr sz="1200">
                <a:latin typeface="Arial" charset="0"/>
              </a:defRPr>
            </a:lvl1pPr>
          </a:lstStyle>
          <a:p>
            <a:pPr>
              <a:defRPr/>
            </a:pPr>
            <a:fld id="{C78F81F3-36E1-47D6-8FD9-F7E9A13E3D9D}" type="slidenum">
              <a:rPr lang="en-US"/>
              <a:pPr>
                <a:defRPr/>
              </a:pPr>
              <a:t>‹#›</a:t>
            </a:fld>
            <a:endParaRPr lang="en-US"/>
          </a:p>
        </p:txBody>
      </p:sp>
    </p:spTree>
    <p:extLst>
      <p:ext uri="{BB962C8B-B14F-4D97-AF65-F5344CB8AC3E}">
        <p14:creationId xmlns:p14="http://schemas.microsoft.com/office/powerpoint/2010/main" val="1261162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4335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54613" y="0"/>
            <a:ext cx="3944937" cy="344488"/>
          </a:xfrm>
          <a:prstGeom prst="rect">
            <a:avLst/>
          </a:prstGeom>
        </p:spPr>
        <p:txBody>
          <a:bodyPr vert="horz" lIns="91440" tIns="45720" rIns="91440" bIns="45720" rtlCol="0"/>
          <a:lstStyle>
            <a:lvl1pPr algn="r">
              <a:defRPr sz="1200"/>
            </a:lvl1pPr>
          </a:lstStyle>
          <a:p>
            <a:fld id="{F23508F0-B3C4-4676-89F0-715E08FC4B67}" type="datetimeFigureOut">
              <a:rPr lang="en-US" smtClean="0"/>
              <a:t>1/5/2026</a:t>
            </a:fld>
            <a:endParaRPr lang="en-US"/>
          </a:p>
        </p:txBody>
      </p:sp>
      <p:sp>
        <p:nvSpPr>
          <p:cNvPr id="4" name="Slide Image Placeholder 3"/>
          <p:cNvSpPr>
            <a:spLocks noGrp="1" noRot="1" noChangeAspect="1"/>
          </p:cNvSpPr>
          <p:nvPr>
            <p:ph type="sldImg" idx="2"/>
          </p:nvPr>
        </p:nvSpPr>
        <p:spPr>
          <a:xfrm>
            <a:off x="3006725" y="857250"/>
            <a:ext cx="3087688"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09638" y="3300413"/>
            <a:ext cx="7281862"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4335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54613" y="6513513"/>
            <a:ext cx="3944937" cy="344487"/>
          </a:xfrm>
          <a:prstGeom prst="rect">
            <a:avLst/>
          </a:prstGeom>
        </p:spPr>
        <p:txBody>
          <a:bodyPr vert="horz" lIns="91440" tIns="45720" rIns="91440" bIns="45720" rtlCol="0" anchor="b"/>
          <a:lstStyle>
            <a:lvl1pPr algn="r">
              <a:defRPr sz="1200"/>
            </a:lvl1pPr>
          </a:lstStyle>
          <a:p>
            <a:fld id="{266ECCCC-8DBA-49BA-ACFC-4D0DC7DA764C}" type="slidenum">
              <a:rPr lang="en-US" smtClean="0"/>
              <a:t>‹#›</a:t>
            </a:fld>
            <a:endParaRPr lang="en-US"/>
          </a:p>
        </p:txBody>
      </p:sp>
    </p:spTree>
    <p:extLst>
      <p:ext uri="{BB962C8B-B14F-4D97-AF65-F5344CB8AC3E}">
        <p14:creationId xmlns:p14="http://schemas.microsoft.com/office/powerpoint/2010/main" val="29604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54363" y="914400"/>
            <a:ext cx="3292475" cy="2468563"/>
          </a:xfrm>
        </p:spPr>
      </p:sp>
      <p:sp>
        <p:nvSpPr>
          <p:cNvPr id="3" name="Notes Placeholder 2"/>
          <p:cNvSpPr>
            <a:spLocks noGrp="1"/>
          </p:cNvSpPr>
          <p:nvPr>
            <p:ph type="body" idx="1"/>
          </p:nvPr>
        </p:nvSpPr>
        <p:spPr/>
        <p:txBody>
          <a:bodyPr/>
          <a:lstStyle/>
          <a:p>
            <a:pPr eaLnBrk="1" hangingPunct="1"/>
            <a:r>
              <a:rPr lang="en-US" altLang="en-US" dirty="0">
                <a:latin typeface="Arial" panose="020B0604020202020204" pitchFamily="34" charset="0"/>
              </a:rPr>
              <a:t>Forsberg and </a:t>
            </a:r>
            <a:r>
              <a:rPr lang="en-US" altLang="en-US" dirty="0" err="1">
                <a:latin typeface="Arial" panose="020B0604020202020204" pitchFamily="34" charset="0"/>
              </a:rPr>
              <a:t>Mooz</a:t>
            </a:r>
            <a:r>
              <a:rPr lang="en-US" altLang="en-US" dirty="0">
                <a:latin typeface="Arial" panose="020B0604020202020204" pitchFamily="34" charset="0"/>
              </a:rPr>
              <a:t> developed</a:t>
            </a:r>
          </a:p>
          <a:p>
            <a:pPr eaLnBrk="1" hangingPunct="1"/>
            <a:r>
              <a:rPr lang="en-US" altLang="en-US" dirty="0">
                <a:latin typeface="Arial" panose="020B0604020202020204" pitchFamily="34" charset="0"/>
              </a:rPr>
              <a:t>Decomposition on the left down to an architecture, verification and testing up the right side to meet the original customer needs</a:t>
            </a:r>
          </a:p>
          <a:p>
            <a:pPr eaLnBrk="1" hangingPunct="1"/>
            <a:r>
              <a:rPr lang="en-US" altLang="en-US" dirty="0">
                <a:latin typeface="Arial" panose="020B0604020202020204" pitchFamily="34" charset="0"/>
              </a:rPr>
              <a:t>At all levels the original needs and requirements are verified</a:t>
            </a:r>
          </a:p>
          <a:p>
            <a:endParaRPr lang="en-US" dirty="0"/>
          </a:p>
        </p:txBody>
      </p:sp>
      <p:sp>
        <p:nvSpPr>
          <p:cNvPr id="4" name="Slide Number Placeholder 3"/>
          <p:cNvSpPr>
            <a:spLocks noGrp="1"/>
          </p:cNvSpPr>
          <p:nvPr>
            <p:ph type="sldNum" sz="quarter" idx="10"/>
          </p:nvPr>
        </p:nvSpPr>
        <p:spPr/>
        <p:txBody>
          <a:bodyPr/>
          <a:lstStyle/>
          <a:p>
            <a:fld id="{50799D20-18E2-4714-8420-C5241A391FC5}" type="slidenum">
              <a:rPr lang="en-US" smtClean="0"/>
              <a:t>6</a:t>
            </a:fld>
            <a:endParaRPr lang="en-US"/>
          </a:p>
        </p:txBody>
      </p:sp>
    </p:spTree>
    <p:extLst>
      <p:ext uri="{BB962C8B-B14F-4D97-AF65-F5344CB8AC3E}">
        <p14:creationId xmlns:p14="http://schemas.microsoft.com/office/powerpoint/2010/main" val="90690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a:t>
            </a:r>
            <a:r>
              <a:rPr lang="en-US" baseline="0" dirty="0"/>
              <a:t> SYSTEM is the sum of the best SUBSYSTEMS</a:t>
            </a:r>
          </a:p>
          <a:p>
            <a:r>
              <a:rPr lang="en-US" baseline="0" dirty="0"/>
              <a:t>Compromises must be made in each subsystem to optimize the overall system.</a:t>
            </a:r>
            <a:endParaRPr lang="en-US" dirty="0"/>
          </a:p>
        </p:txBody>
      </p:sp>
      <p:sp>
        <p:nvSpPr>
          <p:cNvPr id="4" name="Slide Number Placeholder 3"/>
          <p:cNvSpPr>
            <a:spLocks noGrp="1"/>
          </p:cNvSpPr>
          <p:nvPr>
            <p:ph type="sldNum" sz="quarter" idx="10"/>
          </p:nvPr>
        </p:nvSpPr>
        <p:spPr/>
        <p:txBody>
          <a:bodyPr/>
          <a:lstStyle/>
          <a:p>
            <a:fld id="{50799D20-18E2-4714-8420-C5241A391FC5}" type="slidenum">
              <a:rPr lang="en-US" smtClean="0"/>
              <a:t>10</a:t>
            </a:fld>
            <a:endParaRPr lang="en-US"/>
          </a:p>
        </p:txBody>
      </p:sp>
    </p:spTree>
    <p:extLst>
      <p:ext uri="{BB962C8B-B14F-4D97-AF65-F5344CB8AC3E}">
        <p14:creationId xmlns:p14="http://schemas.microsoft.com/office/powerpoint/2010/main" val="2323964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5BCDF89-FC78-4476-9D1F-4720A390704F}" type="slidenum">
              <a:rPr lang="en-US"/>
              <a:pPr>
                <a:defRPr/>
              </a:pPr>
              <a:t>‹#›</a:t>
            </a:fld>
            <a:endParaRPr lang="en-US"/>
          </a:p>
        </p:txBody>
      </p:sp>
    </p:spTree>
    <p:extLst>
      <p:ext uri="{BB962C8B-B14F-4D97-AF65-F5344CB8AC3E}">
        <p14:creationId xmlns:p14="http://schemas.microsoft.com/office/powerpoint/2010/main" val="79214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B9BBDA3-BE8A-4840-BDC4-7C423F6A6E06}" type="slidenum">
              <a:rPr lang="en-US"/>
              <a:pPr>
                <a:defRPr/>
              </a:pPr>
              <a:t>‹#›</a:t>
            </a:fld>
            <a:endParaRPr lang="en-US"/>
          </a:p>
        </p:txBody>
      </p:sp>
    </p:spTree>
    <p:extLst>
      <p:ext uri="{BB962C8B-B14F-4D97-AF65-F5344CB8AC3E}">
        <p14:creationId xmlns:p14="http://schemas.microsoft.com/office/powerpoint/2010/main" val="2977840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F5B951-26D8-49AA-B213-4D50C9E1FB54}" type="slidenum">
              <a:rPr lang="en-US"/>
              <a:pPr>
                <a:defRPr/>
              </a:pPr>
              <a:t>‹#›</a:t>
            </a:fld>
            <a:endParaRPr lang="en-US"/>
          </a:p>
        </p:txBody>
      </p:sp>
    </p:spTree>
    <p:extLst>
      <p:ext uri="{BB962C8B-B14F-4D97-AF65-F5344CB8AC3E}">
        <p14:creationId xmlns:p14="http://schemas.microsoft.com/office/powerpoint/2010/main" val="3262720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10B773-0897-43FD-BC26-CA1F5E38F107}" type="slidenum">
              <a:rPr lang="en-US"/>
              <a:pPr>
                <a:defRPr/>
              </a:pPr>
              <a:t>‹#›</a:t>
            </a:fld>
            <a:endParaRPr lang="en-US"/>
          </a:p>
        </p:txBody>
      </p:sp>
    </p:spTree>
    <p:extLst>
      <p:ext uri="{BB962C8B-B14F-4D97-AF65-F5344CB8AC3E}">
        <p14:creationId xmlns:p14="http://schemas.microsoft.com/office/powerpoint/2010/main" val="654956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CE764DD-B1D3-472F-A002-6FBB2064DD4D}" type="slidenum">
              <a:rPr lang="en-US"/>
              <a:pPr>
                <a:defRPr/>
              </a:pPr>
              <a:t>‹#›</a:t>
            </a:fld>
            <a:endParaRPr lang="en-US"/>
          </a:p>
        </p:txBody>
      </p:sp>
    </p:spTree>
    <p:extLst>
      <p:ext uri="{BB962C8B-B14F-4D97-AF65-F5344CB8AC3E}">
        <p14:creationId xmlns:p14="http://schemas.microsoft.com/office/powerpoint/2010/main" val="4235422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69C41B6-1AD4-4F05-97D3-3FE6B4A2E2B7}" type="slidenum">
              <a:rPr lang="en-US"/>
              <a:pPr>
                <a:defRPr/>
              </a:pPr>
              <a:t>‹#›</a:t>
            </a:fld>
            <a:endParaRPr lang="en-US"/>
          </a:p>
        </p:txBody>
      </p:sp>
    </p:spTree>
    <p:extLst>
      <p:ext uri="{BB962C8B-B14F-4D97-AF65-F5344CB8AC3E}">
        <p14:creationId xmlns:p14="http://schemas.microsoft.com/office/powerpoint/2010/main" val="1149178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46A20EBB-A61F-4D00-ABB1-E7D9080E866F}" type="slidenum">
              <a:rPr lang="en-US"/>
              <a:pPr>
                <a:defRPr/>
              </a:pPr>
              <a:t>‹#›</a:t>
            </a:fld>
            <a:endParaRPr lang="en-US"/>
          </a:p>
        </p:txBody>
      </p:sp>
    </p:spTree>
    <p:extLst>
      <p:ext uri="{BB962C8B-B14F-4D97-AF65-F5344CB8AC3E}">
        <p14:creationId xmlns:p14="http://schemas.microsoft.com/office/powerpoint/2010/main" val="1319162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7A82088-24F4-4B96-8F45-576938179071}" type="slidenum">
              <a:rPr lang="en-US"/>
              <a:pPr>
                <a:defRPr/>
              </a:pPr>
              <a:t>‹#›</a:t>
            </a:fld>
            <a:endParaRPr lang="en-US"/>
          </a:p>
        </p:txBody>
      </p:sp>
    </p:spTree>
    <p:extLst>
      <p:ext uri="{BB962C8B-B14F-4D97-AF65-F5344CB8AC3E}">
        <p14:creationId xmlns:p14="http://schemas.microsoft.com/office/powerpoint/2010/main" val="2149591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0D9DF44-B688-463A-96A9-A23F17CE7174}" type="slidenum">
              <a:rPr lang="en-US"/>
              <a:pPr>
                <a:defRPr/>
              </a:pPr>
              <a:t>‹#›</a:t>
            </a:fld>
            <a:endParaRPr lang="en-US"/>
          </a:p>
        </p:txBody>
      </p:sp>
    </p:spTree>
    <p:extLst>
      <p:ext uri="{BB962C8B-B14F-4D97-AF65-F5344CB8AC3E}">
        <p14:creationId xmlns:p14="http://schemas.microsoft.com/office/powerpoint/2010/main" val="1886104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4D7D47D-9A7E-4461-AAE2-8DEDFF7564BE}" type="slidenum">
              <a:rPr lang="en-US"/>
              <a:pPr>
                <a:defRPr/>
              </a:pPr>
              <a:t>‹#›</a:t>
            </a:fld>
            <a:endParaRPr lang="en-US"/>
          </a:p>
        </p:txBody>
      </p:sp>
    </p:spTree>
    <p:extLst>
      <p:ext uri="{BB962C8B-B14F-4D97-AF65-F5344CB8AC3E}">
        <p14:creationId xmlns:p14="http://schemas.microsoft.com/office/powerpoint/2010/main" val="572722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BDABA0-1E1B-479B-A4BB-8117B149497F}" type="slidenum">
              <a:rPr lang="en-US"/>
              <a:pPr>
                <a:defRPr/>
              </a:pPr>
              <a:t>‹#›</a:t>
            </a:fld>
            <a:endParaRPr lang="en-US"/>
          </a:p>
        </p:txBody>
      </p:sp>
    </p:spTree>
    <p:extLst>
      <p:ext uri="{BB962C8B-B14F-4D97-AF65-F5344CB8AC3E}">
        <p14:creationId xmlns:p14="http://schemas.microsoft.com/office/powerpoint/2010/main" val="884421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79EF945-E5F7-4035-9458-93138BFFC444}" type="slidenum">
              <a:rPr lang="en-US"/>
              <a:pPr>
                <a:defRPr/>
              </a:pPr>
              <a:t>‹#›</a:t>
            </a:fld>
            <a:endParaRPr lang="en-US"/>
          </a:p>
        </p:txBody>
      </p:sp>
    </p:spTree>
    <p:extLst>
      <p:ext uri="{BB962C8B-B14F-4D97-AF65-F5344CB8AC3E}">
        <p14:creationId xmlns:p14="http://schemas.microsoft.com/office/powerpoint/2010/main" val="3759058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A93B1E1-A800-4270-B03E-2C84855BF356}" type="slidenum">
              <a:rPr lang="en-US"/>
              <a:pPr>
                <a:defRPr/>
              </a:pPr>
              <a:t>‹#›</a:t>
            </a:fld>
            <a:endParaRPr lang="en-US"/>
          </a:p>
        </p:txBody>
      </p:sp>
    </p:spTree>
    <p:extLst>
      <p:ext uri="{BB962C8B-B14F-4D97-AF65-F5344CB8AC3E}">
        <p14:creationId xmlns:p14="http://schemas.microsoft.com/office/powerpoint/2010/main" val="108578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E7C19F1E-CC3B-446D-8287-3B8E0E41695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Astro 331 Lesson 1</a:t>
            </a:r>
          </a:p>
        </p:txBody>
      </p:sp>
      <p:sp>
        <p:nvSpPr>
          <p:cNvPr id="3" name="Subtitle 2"/>
          <p:cNvSpPr>
            <a:spLocks noGrp="1"/>
          </p:cNvSpPr>
          <p:nvPr>
            <p:ph type="subTitle" idx="1"/>
          </p:nvPr>
        </p:nvSpPr>
        <p:spPr/>
        <p:txBody>
          <a:bodyPr/>
          <a:lstStyle/>
          <a:p>
            <a:r>
              <a:rPr lang="en-US" dirty="0"/>
              <a:t>Introduction to Space</a:t>
            </a:r>
          </a:p>
          <a:p>
            <a:r>
              <a:rPr lang="en-US" dirty="0"/>
              <a:t>Systems Engineering</a:t>
            </a:r>
          </a:p>
          <a:p>
            <a:endParaRPr lang="en-US" dirty="0"/>
          </a:p>
          <a:p>
            <a:r>
              <a:rPr lang="en-US" dirty="0" err="1"/>
              <a:t>Supp</a:t>
            </a:r>
            <a:r>
              <a:rPr lang="en-US" dirty="0"/>
              <a:t> </a:t>
            </a:r>
            <a:r>
              <a:rPr lang="en-US" dirty="0" err="1"/>
              <a:t>Crs</a:t>
            </a:r>
            <a:r>
              <a:rPr lang="en-US" dirty="0"/>
              <a:t> </a:t>
            </a:r>
            <a:r>
              <a:rPr lang="en-US"/>
              <a:t>Mtl</a:t>
            </a:r>
            <a:endParaRPr lang="en-US" dirty="0"/>
          </a:p>
        </p:txBody>
      </p:sp>
    </p:spTree>
    <p:extLst>
      <p:ext uri="{BB962C8B-B14F-4D97-AF65-F5344CB8AC3E}">
        <p14:creationId xmlns:p14="http://schemas.microsoft.com/office/powerpoint/2010/main" val="1392453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 Objectives</a:t>
            </a:r>
          </a:p>
        </p:txBody>
      </p:sp>
      <p:sp>
        <p:nvSpPr>
          <p:cNvPr id="3" name="Content Placeholder 2"/>
          <p:cNvSpPr>
            <a:spLocks noGrp="1"/>
          </p:cNvSpPr>
          <p:nvPr>
            <p:ph idx="1"/>
          </p:nvPr>
        </p:nvSpPr>
        <p:spPr/>
        <p:txBody>
          <a:bodyPr>
            <a:normAutofit lnSpcReduction="10000"/>
          </a:bodyPr>
          <a:lstStyle/>
          <a:p>
            <a:r>
              <a:rPr lang="en-US" dirty="0"/>
              <a:t>Describe the desired goal of space mission design</a:t>
            </a:r>
          </a:p>
          <a:p>
            <a:r>
              <a:rPr lang="en-US" dirty="0"/>
              <a:t>Explain common elements shared in good definitions of systems engineering</a:t>
            </a:r>
          </a:p>
          <a:p>
            <a:r>
              <a:rPr lang="en-US" dirty="0"/>
              <a:t>Describe the systems engineering V-model</a:t>
            </a:r>
          </a:p>
          <a:p>
            <a:r>
              <a:rPr lang="en-US" dirty="0"/>
              <a:t>Explain why it is important to exercise good systems engineering early in a program</a:t>
            </a:r>
          </a:p>
          <a:p>
            <a:endParaRPr lang="en-US" dirty="0"/>
          </a:p>
        </p:txBody>
      </p:sp>
    </p:spTree>
    <p:extLst>
      <p:ext uri="{BB962C8B-B14F-4D97-AF65-F5344CB8AC3E}">
        <p14:creationId xmlns:p14="http://schemas.microsoft.com/office/powerpoint/2010/main" val="264397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Desired Goal of Space Mission Design</a:t>
            </a:r>
          </a:p>
        </p:txBody>
      </p:sp>
      <p:sp>
        <p:nvSpPr>
          <p:cNvPr id="3" name="Content Placeholder 2"/>
          <p:cNvSpPr>
            <a:spLocks noGrp="1"/>
          </p:cNvSpPr>
          <p:nvPr>
            <p:ph idx="1"/>
          </p:nvPr>
        </p:nvSpPr>
        <p:spPr>
          <a:xfrm>
            <a:off x="457200" y="1600200"/>
            <a:ext cx="8229600" cy="4338145"/>
          </a:xfrm>
        </p:spPr>
        <p:txBody>
          <a:bodyPr/>
          <a:lstStyle/>
          <a:p>
            <a:r>
              <a:rPr lang="en-US" dirty="0"/>
              <a:t>Want to generate a design that:</a:t>
            </a:r>
          </a:p>
          <a:p>
            <a:pPr lvl="1"/>
            <a:r>
              <a:rPr lang="en-US" dirty="0"/>
              <a:t>Considers all aspects of the space mission</a:t>
            </a:r>
          </a:p>
          <a:p>
            <a:pPr lvl="2"/>
            <a:r>
              <a:rPr lang="en-US" dirty="0"/>
              <a:t>Spacecraft, launch, operations, ground segment, user needs</a:t>
            </a:r>
          </a:p>
          <a:p>
            <a:pPr lvl="1"/>
            <a:r>
              <a:rPr lang="en-US" dirty="0"/>
              <a:t>Meets mission requirements</a:t>
            </a:r>
          </a:p>
          <a:p>
            <a:pPr lvl="1"/>
            <a:r>
              <a:rPr lang="en-US" dirty="0"/>
              <a:t>At an acceptable cost</a:t>
            </a:r>
          </a:p>
          <a:p>
            <a:pPr lvl="1"/>
            <a:r>
              <a:rPr lang="en-US" dirty="0"/>
              <a:t>At an acceptable level of risk</a:t>
            </a:r>
          </a:p>
          <a:p>
            <a:pPr lvl="1"/>
            <a:endParaRPr lang="en-US" dirty="0"/>
          </a:p>
          <a:p>
            <a:r>
              <a:rPr lang="en-US" dirty="0"/>
              <a:t>We will delve into each of these topics in greater detail in this course</a:t>
            </a:r>
          </a:p>
        </p:txBody>
      </p:sp>
    </p:spTree>
    <p:extLst>
      <p:ext uri="{BB962C8B-B14F-4D97-AF65-F5344CB8AC3E}">
        <p14:creationId xmlns:p14="http://schemas.microsoft.com/office/powerpoint/2010/main" val="4001009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a:xfrm>
            <a:off x="457200" y="1828800"/>
            <a:ext cx="8229600" cy="4297363"/>
          </a:xfrm>
        </p:spPr>
        <p:txBody>
          <a:bodyPr/>
          <a:lstStyle/>
          <a:p>
            <a:r>
              <a:rPr lang="en-US" dirty="0"/>
              <a:t>Top-down approach</a:t>
            </a:r>
          </a:p>
          <a:p>
            <a:r>
              <a:rPr lang="en-US" dirty="0"/>
              <a:t>Life-cycle orientation</a:t>
            </a:r>
          </a:p>
          <a:p>
            <a:r>
              <a:rPr lang="en-US" dirty="0"/>
              <a:t>Definition of system requirements</a:t>
            </a:r>
          </a:p>
          <a:p>
            <a:r>
              <a:rPr lang="en-US" dirty="0"/>
              <a:t>Interdisciplinary</a:t>
            </a:r>
          </a:p>
          <a:p>
            <a:endParaRPr lang="en-US" dirty="0"/>
          </a:p>
          <a:p>
            <a:endParaRPr lang="en-US" dirty="0"/>
          </a:p>
          <a:p>
            <a:pPr marL="0" indent="0">
              <a:buNone/>
            </a:pPr>
            <a:endParaRPr lang="en-US" dirty="0"/>
          </a:p>
        </p:txBody>
      </p:sp>
      <p:sp>
        <p:nvSpPr>
          <p:cNvPr id="2" name="Rounded Rectangle 1"/>
          <p:cNvSpPr/>
          <p:nvPr/>
        </p:nvSpPr>
        <p:spPr>
          <a:xfrm>
            <a:off x="831850" y="3684588"/>
            <a:ext cx="2951163" cy="457200"/>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172" name="Title 1"/>
          <p:cNvSpPr>
            <a:spLocks noGrp="1"/>
          </p:cNvSpPr>
          <p:nvPr>
            <p:ph type="title"/>
          </p:nvPr>
        </p:nvSpPr>
        <p:spPr>
          <a:xfrm>
            <a:off x="457200" y="441325"/>
            <a:ext cx="8229600" cy="1143000"/>
          </a:xfrm>
        </p:spPr>
        <p:txBody>
          <a:bodyPr/>
          <a:lstStyle/>
          <a:p>
            <a:r>
              <a:rPr lang="en-US"/>
              <a:t>Common Threads of </a:t>
            </a:r>
            <a:br>
              <a:rPr lang="en-US"/>
            </a:br>
            <a:r>
              <a:rPr lang="en-US"/>
              <a:t>Good SE Definitions</a:t>
            </a:r>
          </a:p>
        </p:txBody>
      </p:sp>
      <p:sp>
        <p:nvSpPr>
          <p:cNvPr id="5" name="Rounded Rectangle 4"/>
          <p:cNvSpPr/>
          <p:nvPr/>
        </p:nvSpPr>
        <p:spPr>
          <a:xfrm>
            <a:off x="831850" y="2479675"/>
            <a:ext cx="3878263" cy="4572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ounded Rectangle 5"/>
          <p:cNvSpPr/>
          <p:nvPr/>
        </p:nvSpPr>
        <p:spPr>
          <a:xfrm>
            <a:off x="831850" y="1939925"/>
            <a:ext cx="3878263" cy="457200"/>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ounded Rectangle 6"/>
          <p:cNvSpPr/>
          <p:nvPr/>
        </p:nvSpPr>
        <p:spPr>
          <a:xfrm>
            <a:off x="831850" y="3089275"/>
            <a:ext cx="6137275" cy="457200"/>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5"/>
          <p:cNvSpPr>
            <a:spLocks noGrp="1" noChangeArrowheads="1"/>
          </p:cNvSpPr>
          <p:nvPr>
            <p:ph type="body" idx="1"/>
          </p:nvPr>
        </p:nvSpPr>
        <p:spPr/>
        <p:txBody>
          <a:bodyPr/>
          <a:lstStyle/>
          <a:p>
            <a:pPr marL="609600" indent="-609600" eaLnBrk="1" hangingPunct="1">
              <a:lnSpc>
                <a:spcPct val="80000"/>
              </a:lnSpc>
              <a:buFontTx/>
              <a:buAutoNum type="arabicPeriod"/>
              <a:defRPr/>
            </a:pPr>
            <a:r>
              <a:rPr lang="en-US" sz="2400" dirty="0"/>
              <a:t>An interdisciplinary approach and means to enable the realization of successful systems.  It focuses on defining customer needs and required functionality early in the development cycle, documenting requirements, then proceeding with design synthesis and system validation while considering the complete problem:  operations, performance, test, manufacturing, cost &amp; schedule, training &amp; support, and disposal.  Systems Engineering integrates all the disciplines and specialty groups into a team effort forming a structured development process that proceeds from concept to production to operation.  Systems Engineering considers both the business and the technical needs of all customers with the goal of providing a quality product that meets the user needs.</a:t>
            </a:r>
            <a:br>
              <a:rPr lang="en-US" sz="2400" dirty="0"/>
            </a:br>
            <a:endParaRPr lang="en-US" sz="2400" dirty="0"/>
          </a:p>
          <a:p>
            <a:pPr marL="0" indent="0" eaLnBrk="1" hangingPunct="1">
              <a:lnSpc>
                <a:spcPct val="80000"/>
              </a:lnSpc>
              <a:buFontTx/>
              <a:buNone/>
              <a:defRPr/>
            </a:pPr>
            <a:endParaRPr lang="en-US" sz="2400" dirty="0"/>
          </a:p>
        </p:txBody>
      </p:sp>
      <p:sp>
        <p:nvSpPr>
          <p:cNvPr id="8195" name="Rectangle 4"/>
          <p:cNvSpPr>
            <a:spLocks noGrp="1" noChangeArrowheads="1"/>
          </p:cNvSpPr>
          <p:nvPr>
            <p:ph type="title"/>
          </p:nvPr>
        </p:nvSpPr>
        <p:spPr/>
        <p:txBody>
          <a:bodyPr/>
          <a:lstStyle/>
          <a:p>
            <a:pPr eaLnBrk="1" hangingPunct="1"/>
            <a:r>
              <a:rPr lang="en-US" sz="4000"/>
              <a:t>Definition of Systems Engineering</a:t>
            </a:r>
          </a:p>
        </p:txBody>
      </p:sp>
      <p:sp>
        <p:nvSpPr>
          <p:cNvPr id="8196" name="TextBox 1"/>
          <p:cNvSpPr txBox="1">
            <a:spLocks noChangeArrowheads="1"/>
          </p:cNvSpPr>
          <p:nvPr/>
        </p:nvSpPr>
        <p:spPr bwMode="auto">
          <a:xfrm>
            <a:off x="295275" y="6132513"/>
            <a:ext cx="86455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200" dirty="0"/>
              <a:t>International Council on Systems Engineering (INCOSE), 7670 Opportunity Road, Suite 220, San Diego, CA, USA.</a:t>
            </a:r>
          </a:p>
        </p:txBody>
      </p:sp>
      <p:sp>
        <p:nvSpPr>
          <p:cNvPr id="18" name="Rounded Rectangle 17"/>
          <p:cNvSpPr/>
          <p:nvPr/>
        </p:nvSpPr>
        <p:spPr>
          <a:xfrm>
            <a:off x="1595438" y="1609725"/>
            <a:ext cx="2132012"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ounded Rectangle 19"/>
          <p:cNvSpPr/>
          <p:nvPr/>
        </p:nvSpPr>
        <p:spPr>
          <a:xfrm>
            <a:off x="1106488" y="2216150"/>
            <a:ext cx="6873875" cy="249238"/>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ounded Rectangle 22"/>
          <p:cNvSpPr/>
          <p:nvPr/>
        </p:nvSpPr>
        <p:spPr>
          <a:xfrm>
            <a:off x="1133475" y="2835275"/>
            <a:ext cx="1838325"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ounded Rectangle 23"/>
          <p:cNvSpPr/>
          <p:nvPr/>
        </p:nvSpPr>
        <p:spPr>
          <a:xfrm>
            <a:off x="5380038" y="2520950"/>
            <a:ext cx="1838325"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ounded Rectangle 24"/>
          <p:cNvSpPr/>
          <p:nvPr/>
        </p:nvSpPr>
        <p:spPr>
          <a:xfrm>
            <a:off x="1122363" y="4237038"/>
            <a:ext cx="4373562" cy="344487"/>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ounded Rectangle 25"/>
          <p:cNvSpPr/>
          <p:nvPr/>
        </p:nvSpPr>
        <p:spPr>
          <a:xfrm>
            <a:off x="6062663" y="3941763"/>
            <a:ext cx="2325687" cy="344487"/>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ounded Rectangle 26"/>
          <p:cNvSpPr/>
          <p:nvPr/>
        </p:nvSpPr>
        <p:spPr>
          <a:xfrm>
            <a:off x="2482850" y="4573588"/>
            <a:ext cx="4384675"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ounded Rectangle 27"/>
          <p:cNvSpPr/>
          <p:nvPr/>
        </p:nvSpPr>
        <p:spPr>
          <a:xfrm>
            <a:off x="1123950" y="4845050"/>
            <a:ext cx="6678613"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ounded Rectangle 28"/>
          <p:cNvSpPr/>
          <p:nvPr/>
        </p:nvSpPr>
        <p:spPr>
          <a:xfrm>
            <a:off x="6070600" y="1931988"/>
            <a:ext cx="1512888"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ounded Rectangle 29"/>
          <p:cNvSpPr/>
          <p:nvPr/>
        </p:nvSpPr>
        <p:spPr>
          <a:xfrm>
            <a:off x="1123950" y="2532063"/>
            <a:ext cx="4164013"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ounded Rectangle 30"/>
          <p:cNvSpPr/>
          <p:nvPr/>
        </p:nvSpPr>
        <p:spPr>
          <a:xfrm>
            <a:off x="4135438" y="3087688"/>
            <a:ext cx="4233862"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ounded Rectangle 31"/>
          <p:cNvSpPr/>
          <p:nvPr/>
        </p:nvSpPr>
        <p:spPr>
          <a:xfrm>
            <a:off x="1103313" y="3386138"/>
            <a:ext cx="5486400"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ounded Rectangle 32"/>
          <p:cNvSpPr/>
          <p:nvPr/>
        </p:nvSpPr>
        <p:spPr>
          <a:xfrm>
            <a:off x="1117600" y="3706813"/>
            <a:ext cx="6913563"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Rounded Rectangle 33"/>
          <p:cNvSpPr/>
          <p:nvPr/>
        </p:nvSpPr>
        <p:spPr>
          <a:xfrm>
            <a:off x="1093788" y="4002088"/>
            <a:ext cx="1768475"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ounded Rectangle 34"/>
          <p:cNvSpPr/>
          <p:nvPr/>
        </p:nvSpPr>
        <p:spPr>
          <a:xfrm>
            <a:off x="5357813" y="5740400"/>
            <a:ext cx="3051175"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8212" name="Group 42"/>
          <p:cNvGrpSpPr>
            <a:grpSpLocks/>
          </p:cNvGrpSpPr>
          <p:nvPr/>
        </p:nvGrpSpPr>
        <p:grpSpPr bwMode="auto">
          <a:xfrm>
            <a:off x="7777163" y="5991225"/>
            <a:ext cx="1282700" cy="777875"/>
            <a:chOff x="5847052" y="5348391"/>
            <a:chExt cx="1283854" cy="778144"/>
          </a:xfrm>
        </p:grpSpPr>
        <p:grpSp>
          <p:nvGrpSpPr>
            <p:cNvPr id="8215" name="Group 43"/>
            <p:cNvGrpSpPr>
              <a:grpSpLocks/>
            </p:cNvGrpSpPr>
            <p:nvPr/>
          </p:nvGrpSpPr>
          <p:grpSpPr bwMode="auto">
            <a:xfrm>
              <a:off x="6051092" y="5911377"/>
              <a:ext cx="886917" cy="215158"/>
              <a:chOff x="6336986" y="4541177"/>
              <a:chExt cx="886917" cy="215158"/>
            </a:xfrm>
          </p:grpSpPr>
          <p:sp>
            <p:nvSpPr>
              <p:cNvPr id="16" name="Rounded Rectangle 15"/>
              <p:cNvSpPr>
                <a:spLocks noChangeAspect="1"/>
              </p:cNvSpPr>
              <p:nvPr/>
            </p:nvSpPr>
            <p:spPr>
              <a:xfrm>
                <a:off x="6441198" y="4564182"/>
                <a:ext cx="614915" cy="169920"/>
              </a:xfrm>
              <a:prstGeom prst="roundRect">
                <a:avLst/>
              </a:prstGeom>
              <a:solidFill>
                <a:srgbClr val="CCFF9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226" name="TextBox 54"/>
              <p:cNvSpPr txBox="1">
                <a:spLocks noChangeArrowheads="1"/>
              </p:cNvSpPr>
              <p:nvPr/>
            </p:nvSpPr>
            <p:spPr bwMode="auto">
              <a:xfrm>
                <a:off x="6336986" y="4541177"/>
                <a:ext cx="886917" cy="215158"/>
              </a:xfrm>
              <a:prstGeom prst="rect">
                <a:avLst/>
              </a:prstGeom>
              <a:solidFill>
                <a:srgbClr val="99FF66">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interdisciplinary</a:t>
                </a:r>
              </a:p>
            </p:txBody>
          </p:sp>
        </p:grpSp>
        <p:grpSp>
          <p:nvGrpSpPr>
            <p:cNvPr id="8216" name="Group 44"/>
            <p:cNvGrpSpPr>
              <a:grpSpLocks/>
            </p:cNvGrpSpPr>
            <p:nvPr/>
          </p:nvGrpSpPr>
          <p:grpSpPr bwMode="auto">
            <a:xfrm>
              <a:off x="5847052" y="5723715"/>
              <a:ext cx="1283854" cy="234869"/>
              <a:chOff x="7059215" y="5040505"/>
              <a:chExt cx="1283854" cy="234869"/>
            </a:xfrm>
          </p:grpSpPr>
          <p:sp>
            <p:nvSpPr>
              <p:cNvPr id="8223" name="TextBox 51"/>
              <p:cNvSpPr txBox="1">
                <a:spLocks noChangeArrowheads="1"/>
              </p:cNvSpPr>
              <p:nvPr/>
            </p:nvSpPr>
            <p:spPr bwMode="auto">
              <a:xfrm>
                <a:off x="7059215" y="5040505"/>
                <a:ext cx="128385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defn sys rqmts</a:t>
                </a:r>
              </a:p>
            </p:txBody>
          </p:sp>
          <p:sp>
            <p:nvSpPr>
              <p:cNvPr id="15" name="Rounded Rectangle 14"/>
              <p:cNvSpPr>
                <a:spLocks noChangeAspect="1"/>
              </p:cNvSpPr>
              <p:nvPr/>
            </p:nvSpPr>
            <p:spPr>
              <a:xfrm>
                <a:off x="7338866" y="5062193"/>
                <a:ext cx="764274" cy="212798"/>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8217" name="Group 45"/>
            <p:cNvGrpSpPr>
              <a:grpSpLocks/>
            </p:cNvGrpSpPr>
            <p:nvPr/>
          </p:nvGrpSpPr>
          <p:grpSpPr bwMode="auto">
            <a:xfrm>
              <a:off x="5847052" y="5536053"/>
              <a:ext cx="1283854" cy="215444"/>
              <a:chOff x="6547788" y="4555549"/>
              <a:chExt cx="1283854" cy="215444"/>
            </a:xfrm>
          </p:grpSpPr>
          <p:sp>
            <p:nvSpPr>
              <p:cNvPr id="12" name="Rounded Rectangle 11"/>
              <p:cNvSpPr>
                <a:spLocks noChangeAspect="1"/>
              </p:cNvSpPr>
              <p:nvPr/>
            </p:nvSpPr>
            <p:spPr>
              <a:xfrm>
                <a:off x="6881463" y="4577510"/>
                <a:ext cx="616504" cy="171509"/>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222" name="TextBox 50"/>
              <p:cNvSpPr txBox="1">
                <a:spLocks noChangeArrowheads="1"/>
              </p:cNvSpPr>
              <p:nvPr/>
            </p:nvSpPr>
            <p:spPr bwMode="auto">
              <a:xfrm>
                <a:off x="6547788" y="4555549"/>
                <a:ext cx="128385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life-cycle</a:t>
                </a:r>
              </a:p>
            </p:txBody>
          </p:sp>
        </p:grpSp>
        <p:grpSp>
          <p:nvGrpSpPr>
            <p:cNvPr id="8218" name="Group 46"/>
            <p:cNvGrpSpPr>
              <a:grpSpLocks/>
            </p:cNvGrpSpPr>
            <p:nvPr/>
          </p:nvGrpSpPr>
          <p:grpSpPr bwMode="auto">
            <a:xfrm>
              <a:off x="5847052" y="5348391"/>
              <a:ext cx="1283854" cy="215444"/>
              <a:chOff x="6132946" y="5522600"/>
              <a:chExt cx="1283854" cy="215444"/>
            </a:xfrm>
          </p:grpSpPr>
          <p:sp>
            <p:nvSpPr>
              <p:cNvPr id="10" name="Rounded Rectangle 9"/>
              <p:cNvSpPr>
                <a:spLocks noChangeAspect="1"/>
              </p:cNvSpPr>
              <p:nvPr/>
            </p:nvSpPr>
            <p:spPr>
              <a:xfrm>
                <a:off x="6466621" y="5544833"/>
                <a:ext cx="616504" cy="171509"/>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220" name="TextBox 48"/>
              <p:cNvSpPr txBox="1">
                <a:spLocks noChangeArrowheads="1"/>
              </p:cNvSpPr>
              <p:nvPr/>
            </p:nvSpPr>
            <p:spPr bwMode="auto">
              <a:xfrm>
                <a:off x="6132946" y="5522600"/>
                <a:ext cx="128385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top-down</a:t>
                </a:r>
              </a:p>
            </p:txBody>
          </p:sp>
        </p:grpSp>
      </p:grpSp>
      <p:sp>
        <p:nvSpPr>
          <p:cNvPr id="36" name="Rounded Rectangle 35"/>
          <p:cNvSpPr/>
          <p:nvPr/>
        </p:nvSpPr>
        <p:spPr>
          <a:xfrm>
            <a:off x="4124325" y="5118100"/>
            <a:ext cx="3836988"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7" name="Rounded Rectangle 36"/>
          <p:cNvSpPr/>
          <p:nvPr/>
        </p:nvSpPr>
        <p:spPr>
          <a:xfrm>
            <a:off x="1628775" y="5429250"/>
            <a:ext cx="2132013"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73239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V-model</a:t>
            </a:r>
            <a:endParaRPr lang="en-US" dirty="0"/>
          </a:p>
        </p:txBody>
      </p:sp>
      <p:sp>
        <p:nvSpPr>
          <p:cNvPr id="4" name="Slide Number Placeholder 3"/>
          <p:cNvSpPr>
            <a:spLocks noGrp="1"/>
          </p:cNvSpPr>
          <p:nvPr>
            <p:ph type="sldNum" sz="quarter" idx="12"/>
          </p:nvPr>
        </p:nvSpPr>
        <p:spPr/>
        <p:txBody>
          <a:bodyPr/>
          <a:lstStyle/>
          <a:p>
            <a:fld id="{10261E07-BC23-44AC-B98A-538CBBFC2C7C}" type="slidenum">
              <a:rPr lang="en-US" smtClean="0"/>
              <a:t>6</a:t>
            </a:fld>
            <a:endParaRPr lang="en-US"/>
          </a:p>
        </p:txBody>
      </p:sp>
      <p:grpSp>
        <p:nvGrpSpPr>
          <p:cNvPr id="35" name="Group 34"/>
          <p:cNvGrpSpPr/>
          <p:nvPr/>
        </p:nvGrpSpPr>
        <p:grpSpPr>
          <a:xfrm>
            <a:off x="283779" y="1448896"/>
            <a:ext cx="8576441" cy="5034454"/>
            <a:chOff x="1676400" y="1524001"/>
            <a:chExt cx="8991600" cy="5333999"/>
          </a:xfrm>
        </p:grpSpPr>
        <p:sp>
          <p:nvSpPr>
            <p:cNvPr id="10" name="WordArt 2"/>
            <p:cNvSpPr>
              <a:spLocks noChangeArrowheads="1" noChangeShapeType="1" noTextEdit="1"/>
            </p:cNvSpPr>
            <p:nvPr/>
          </p:nvSpPr>
          <p:spPr bwMode="auto">
            <a:xfrm>
              <a:off x="1676400" y="1676401"/>
              <a:ext cx="8991600" cy="4608513"/>
            </a:xfrm>
            <a:prstGeom prst="rect">
              <a:avLst/>
            </a:prstGeom>
          </p:spPr>
          <p:txBody>
            <a:bodyPr wrap="none" fromWordArt="1">
              <a:prstTxWarp prst="textPlain">
                <a:avLst>
                  <a:gd name="adj" fmla="val 50000"/>
                </a:avLst>
              </a:prstTxWarp>
            </a:bodyPr>
            <a:lstStyle/>
            <a:p>
              <a:pPr algn="ctr"/>
              <a:r>
                <a:rPr lang="en-US" sz="6000" kern="10">
                  <a:ln w="9525">
                    <a:solidFill>
                      <a:srgbClr val="000000"/>
                    </a:solidFill>
                    <a:round/>
                    <a:headEnd/>
                    <a:tailEnd/>
                  </a:ln>
                  <a:solidFill>
                    <a:schemeClr val="accent2">
                      <a:alpha val="20000"/>
                    </a:schemeClr>
                  </a:solidFill>
                  <a:latin typeface="Arial Black" panose="020B0A04020102020204" pitchFamily="34" charset="0"/>
                </a:rPr>
                <a:t>V</a:t>
              </a:r>
            </a:p>
          </p:txBody>
        </p:sp>
        <p:sp>
          <p:nvSpPr>
            <p:cNvPr id="11" name="Rectangle 3"/>
            <p:cNvSpPr>
              <a:spLocks noChangeArrowheads="1"/>
            </p:cNvSpPr>
            <p:nvPr/>
          </p:nvSpPr>
          <p:spPr bwMode="auto">
            <a:xfrm>
              <a:off x="4191000" y="2057400"/>
              <a:ext cx="3886200" cy="304800"/>
            </a:xfrm>
            <a:prstGeom prst="rect">
              <a:avLst/>
            </a:prstGeom>
            <a:gradFill rotWithShape="1">
              <a:gsLst>
                <a:gs pos="0">
                  <a:schemeClr val="accent2"/>
                </a:gs>
                <a:gs pos="100000">
                  <a:schemeClr val="accent2">
                    <a:gamma/>
                    <a:tint val="9412"/>
                    <a:invGamma/>
                  </a:schemeClr>
                </a:gs>
              </a:gsLst>
              <a:lin ang="0" scaled="1"/>
            </a:gradFill>
            <a:ln w="9525">
              <a:noFill/>
              <a:miter lim="800000"/>
              <a:headEnd/>
              <a:tailEnd/>
            </a:ln>
            <a:effectLst/>
          </p:spPr>
          <p:txBody>
            <a:bodyPr wrap="none" anchor="ctr"/>
            <a:lstStyle/>
            <a:p>
              <a:pPr eaLnBrk="1" hangingPunct="1">
                <a:defRPr/>
              </a:pPr>
              <a:endParaRPr lang="en-US" sz="1350">
                <a:latin typeface="Arial" charset="0"/>
              </a:endParaRPr>
            </a:p>
          </p:txBody>
        </p:sp>
        <p:sp>
          <p:nvSpPr>
            <p:cNvPr id="12" name="AutoShape 5"/>
            <p:cNvSpPr>
              <a:spLocks noChangeArrowheads="1"/>
            </p:cNvSpPr>
            <p:nvPr/>
          </p:nvSpPr>
          <p:spPr bwMode="auto">
            <a:xfrm>
              <a:off x="2362200" y="1828800"/>
              <a:ext cx="1828800" cy="685800"/>
            </a:xfrm>
            <a:prstGeom prst="flowChartAlternateProcess">
              <a:avLst/>
            </a:prstGeom>
            <a:solidFill>
              <a:srgbClr val="CCFF66"/>
            </a:solidFill>
            <a:ln w="9525">
              <a:solidFill>
                <a:schemeClr val="tx1"/>
              </a:solidFill>
              <a:miter lim="800000"/>
              <a:headEnd/>
              <a:tailEnd/>
            </a:ln>
          </p:spPr>
          <p:txBody>
            <a:bodyPr lIns="34290" rIns="34290"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Define System Requirements</a:t>
              </a:r>
            </a:p>
          </p:txBody>
        </p:sp>
        <p:sp>
          <p:nvSpPr>
            <p:cNvPr id="13" name="AutoShape 6"/>
            <p:cNvSpPr>
              <a:spLocks noChangeArrowheads="1"/>
            </p:cNvSpPr>
            <p:nvPr/>
          </p:nvSpPr>
          <p:spPr bwMode="auto">
            <a:xfrm>
              <a:off x="3276600" y="3048000"/>
              <a:ext cx="2057400" cy="1143000"/>
            </a:xfrm>
            <a:prstGeom prst="flowChartAlternateProcess">
              <a:avLst/>
            </a:prstGeom>
            <a:solidFill>
              <a:srgbClr val="CCFF66"/>
            </a:solidFill>
            <a:ln w="9525">
              <a:solidFill>
                <a:schemeClr val="tx1"/>
              </a:solidFill>
              <a:miter lim="800000"/>
              <a:headEnd/>
              <a:tailEnd/>
            </a:ln>
          </p:spPr>
          <p:txBody>
            <a:bodyPr lIns="34290" rIns="34290"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Allocate System Functions to Subsystems</a:t>
              </a:r>
            </a:p>
          </p:txBody>
        </p:sp>
        <p:sp>
          <p:nvSpPr>
            <p:cNvPr id="14" name="AutoShape 7"/>
            <p:cNvSpPr>
              <a:spLocks noChangeArrowheads="1"/>
            </p:cNvSpPr>
            <p:nvPr/>
          </p:nvSpPr>
          <p:spPr bwMode="auto">
            <a:xfrm>
              <a:off x="4191000" y="4724400"/>
              <a:ext cx="1828800" cy="838200"/>
            </a:xfrm>
            <a:prstGeom prst="flowChartAlternateProcess">
              <a:avLst/>
            </a:prstGeom>
            <a:solidFill>
              <a:srgbClr val="CCFF66"/>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Detail Design of Components</a:t>
              </a:r>
            </a:p>
          </p:txBody>
        </p:sp>
        <p:sp>
          <p:nvSpPr>
            <p:cNvPr id="15" name="AutoShape 8"/>
            <p:cNvSpPr>
              <a:spLocks noChangeArrowheads="1"/>
            </p:cNvSpPr>
            <p:nvPr/>
          </p:nvSpPr>
          <p:spPr bwMode="auto">
            <a:xfrm>
              <a:off x="6477000" y="4800600"/>
              <a:ext cx="1752600" cy="685800"/>
            </a:xfrm>
            <a:prstGeom prst="flowChartAlternateProcess">
              <a:avLst/>
            </a:prstGeom>
            <a:solidFill>
              <a:srgbClr val="CCFF66"/>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Verify Components</a:t>
              </a:r>
            </a:p>
          </p:txBody>
        </p:sp>
        <p:sp>
          <p:nvSpPr>
            <p:cNvPr id="16" name="AutoShape 9"/>
            <p:cNvSpPr>
              <a:spLocks noChangeArrowheads="1"/>
            </p:cNvSpPr>
            <p:nvPr/>
          </p:nvSpPr>
          <p:spPr bwMode="auto">
            <a:xfrm>
              <a:off x="7315200" y="3200400"/>
              <a:ext cx="1676400" cy="838200"/>
            </a:xfrm>
            <a:prstGeom prst="flowChartAlternateProcess">
              <a:avLst/>
            </a:prstGeom>
            <a:solidFill>
              <a:srgbClr val="CCFF66"/>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Verification of Subsystems</a:t>
              </a:r>
            </a:p>
          </p:txBody>
        </p:sp>
        <p:sp>
          <p:nvSpPr>
            <p:cNvPr id="17" name="AutoShape 10"/>
            <p:cNvSpPr>
              <a:spLocks noChangeArrowheads="1"/>
            </p:cNvSpPr>
            <p:nvPr/>
          </p:nvSpPr>
          <p:spPr bwMode="auto">
            <a:xfrm>
              <a:off x="8077200" y="1828800"/>
              <a:ext cx="1752600" cy="838200"/>
            </a:xfrm>
            <a:prstGeom prst="flowChartAlternateProcess">
              <a:avLst/>
            </a:prstGeom>
            <a:solidFill>
              <a:srgbClr val="CCFF66"/>
            </a:solidFill>
            <a:ln w="9525">
              <a:solidFill>
                <a:schemeClr val="tx1"/>
              </a:solidFill>
              <a:miter lim="800000"/>
              <a:headEnd/>
              <a:tailEnd/>
            </a:ln>
          </p:spPr>
          <p:txBody>
            <a:bodyPr lIns="34290" rIns="34290"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Full System Operation and Verification</a:t>
              </a:r>
            </a:p>
          </p:txBody>
        </p:sp>
        <p:sp>
          <p:nvSpPr>
            <p:cNvPr id="18" name="AutoShape 11"/>
            <p:cNvSpPr>
              <a:spLocks noChangeArrowheads="1"/>
            </p:cNvSpPr>
            <p:nvPr/>
          </p:nvSpPr>
          <p:spPr bwMode="auto">
            <a:xfrm rot="18263282">
              <a:off x="6887369" y="4085431"/>
              <a:ext cx="4724400" cy="668338"/>
            </a:xfrm>
            <a:prstGeom prst="rightArrow">
              <a:avLst>
                <a:gd name="adj1" fmla="val 50000"/>
                <a:gd name="adj2" fmla="val 176722"/>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Integration and Verification</a:t>
              </a:r>
            </a:p>
          </p:txBody>
        </p:sp>
        <p:sp>
          <p:nvSpPr>
            <p:cNvPr id="19" name="AutoShape 12"/>
            <p:cNvSpPr>
              <a:spLocks noChangeArrowheads="1"/>
            </p:cNvSpPr>
            <p:nvPr/>
          </p:nvSpPr>
          <p:spPr bwMode="auto">
            <a:xfrm rot="3398549">
              <a:off x="571500" y="4000500"/>
              <a:ext cx="4953000" cy="762000"/>
            </a:xfrm>
            <a:prstGeom prst="rightArrow">
              <a:avLst>
                <a:gd name="adj1" fmla="val 50000"/>
                <a:gd name="adj2" fmla="val 162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Decomposition and Definition</a:t>
              </a:r>
            </a:p>
          </p:txBody>
        </p:sp>
        <p:sp>
          <p:nvSpPr>
            <p:cNvPr id="20" name="Line 13"/>
            <p:cNvSpPr>
              <a:spLocks noChangeShapeType="1"/>
            </p:cNvSpPr>
            <p:nvPr/>
          </p:nvSpPr>
          <p:spPr bwMode="auto">
            <a:xfrm>
              <a:off x="3505200" y="2514600"/>
              <a:ext cx="381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1" name="Line 14"/>
            <p:cNvSpPr>
              <a:spLocks noChangeShapeType="1"/>
            </p:cNvSpPr>
            <p:nvPr/>
          </p:nvSpPr>
          <p:spPr bwMode="auto">
            <a:xfrm>
              <a:off x="4495800" y="4191000"/>
              <a:ext cx="381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2" name="Line 15"/>
            <p:cNvSpPr>
              <a:spLocks noChangeShapeType="1"/>
            </p:cNvSpPr>
            <p:nvPr/>
          </p:nvSpPr>
          <p:spPr bwMode="auto">
            <a:xfrm flipV="1">
              <a:off x="7391400" y="4038600"/>
              <a:ext cx="457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3" name="Line 16"/>
            <p:cNvSpPr>
              <a:spLocks noChangeShapeType="1"/>
            </p:cNvSpPr>
            <p:nvPr/>
          </p:nvSpPr>
          <p:spPr bwMode="auto">
            <a:xfrm flipV="1">
              <a:off x="8305800" y="2667000"/>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4" name="Line 17"/>
            <p:cNvSpPr>
              <a:spLocks noChangeShapeType="1"/>
            </p:cNvSpPr>
            <p:nvPr/>
          </p:nvSpPr>
          <p:spPr bwMode="auto">
            <a:xfrm>
              <a:off x="4191000" y="2209800"/>
              <a:ext cx="3886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5" name="Rectangle 18"/>
            <p:cNvSpPr>
              <a:spLocks noChangeArrowheads="1"/>
            </p:cNvSpPr>
            <p:nvPr/>
          </p:nvSpPr>
          <p:spPr bwMode="auto">
            <a:xfrm>
              <a:off x="5334000" y="3581400"/>
              <a:ext cx="1981200" cy="304800"/>
            </a:xfrm>
            <a:prstGeom prst="rect">
              <a:avLst/>
            </a:prstGeom>
            <a:gradFill rotWithShape="1">
              <a:gsLst>
                <a:gs pos="0">
                  <a:schemeClr val="accent2"/>
                </a:gs>
                <a:gs pos="100000">
                  <a:schemeClr val="accent2">
                    <a:gamma/>
                    <a:tint val="9412"/>
                    <a:invGamma/>
                  </a:schemeClr>
                </a:gs>
              </a:gsLst>
              <a:lin ang="0" scaled="1"/>
            </a:gradFill>
            <a:ln w="9525">
              <a:noFill/>
              <a:miter lim="800000"/>
              <a:headEnd/>
              <a:tailEnd/>
            </a:ln>
            <a:effectLst/>
          </p:spPr>
          <p:txBody>
            <a:bodyPr wrap="none" anchor="ctr"/>
            <a:lstStyle/>
            <a:p>
              <a:pPr eaLnBrk="1" hangingPunct="1">
                <a:defRPr/>
              </a:pPr>
              <a:endParaRPr lang="en-US" sz="1350">
                <a:latin typeface="Arial" charset="0"/>
              </a:endParaRPr>
            </a:p>
          </p:txBody>
        </p:sp>
        <p:sp>
          <p:nvSpPr>
            <p:cNvPr id="26" name="Line 19"/>
            <p:cNvSpPr>
              <a:spLocks noChangeShapeType="1"/>
            </p:cNvSpPr>
            <p:nvPr/>
          </p:nvSpPr>
          <p:spPr bwMode="auto">
            <a:xfrm>
              <a:off x="5334000" y="3733800"/>
              <a:ext cx="198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7" name="Rectangle 20"/>
            <p:cNvSpPr>
              <a:spLocks noChangeArrowheads="1"/>
            </p:cNvSpPr>
            <p:nvPr/>
          </p:nvSpPr>
          <p:spPr bwMode="auto">
            <a:xfrm>
              <a:off x="6019800" y="5029200"/>
              <a:ext cx="457200" cy="304800"/>
            </a:xfrm>
            <a:prstGeom prst="rect">
              <a:avLst/>
            </a:prstGeom>
            <a:gradFill rotWithShape="1">
              <a:gsLst>
                <a:gs pos="0">
                  <a:schemeClr val="accent2"/>
                </a:gs>
                <a:gs pos="100000">
                  <a:schemeClr val="accent2">
                    <a:gamma/>
                    <a:tint val="9412"/>
                    <a:invGamma/>
                  </a:schemeClr>
                </a:gs>
              </a:gsLst>
              <a:lin ang="0" scaled="1"/>
            </a:gradFill>
            <a:ln w="9525">
              <a:noFill/>
              <a:miter lim="800000"/>
              <a:headEnd/>
              <a:tailEnd/>
            </a:ln>
            <a:effectLst/>
          </p:spPr>
          <p:txBody>
            <a:bodyPr wrap="none" anchor="ctr"/>
            <a:lstStyle/>
            <a:p>
              <a:pPr eaLnBrk="1" hangingPunct="1">
                <a:defRPr/>
              </a:pPr>
              <a:endParaRPr lang="en-US" sz="1350">
                <a:latin typeface="Arial" charset="0"/>
              </a:endParaRPr>
            </a:p>
          </p:txBody>
        </p:sp>
        <p:sp>
          <p:nvSpPr>
            <p:cNvPr id="28" name="Line 21"/>
            <p:cNvSpPr>
              <a:spLocks noChangeShapeType="1"/>
            </p:cNvSpPr>
            <p:nvPr/>
          </p:nvSpPr>
          <p:spPr bwMode="auto">
            <a:xfrm>
              <a:off x="6019800" y="5181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9" name="Line 22"/>
            <p:cNvSpPr>
              <a:spLocks noChangeShapeType="1"/>
            </p:cNvSpPr>
            <p:nvPr/>
          </p:nvSpPr>
          <p:spPr bwMode="auto">
            <a:xfrm flipV="1">
              <a:off x="6248400" y="5486400"/>
              <a:ext cx="609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0" name="Line 23"/>
            <p:cNvSpPr>
              <a:spLocks noChangeShapeType="1"/>
            </p:cNvSpPr>
            <p:nvPr/>
          </p:nvSpPr>
          <p:spPr bwMode="auto">
            <a:xfrm>
              <a:off x="5715000" y="5562600"/>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24"/>
            <p:cNvSpPr>
              <a:spLocks noChangeShapeType="1"/>
            </p:cNvSpPr>
            <p:nvPr/>
          </p:nvSpPr>
          <p:spPr bwMode="auto">
            <a:xfrm>
              <a:off x="4724400" y="1828800"/>
              <a:ext cx="2743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2" name="Text Box 25"/>
            <p:cNvSpPr txBox="1">
              <a:spLocks noChangeArrowheads="1"/>
            </p:cNvSpPr>
            <p:nvPr/>
          </p:nvSpPr>
          <p:spPr bwMode="auto">
            <a:xfrm>
              <a:off x="5638800" y="1524001"/>
              <a:ext cx="104986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350" b="1"/>
                <a:t>Testing</a:t>
              </a:r>
            </a:p>
          </p:txBody>
        </p:sp>
      </p:grpSp>
    </p:spTree>
    <p:extLst>
      <p:ext uri="{BB962C8B-B14F-4D97-AF65-F5344CB8AC3E}">
        <p14:creationId xmlns:p14="http://schemas.microsoft.com/office/powerpoint/2010/main" val="61179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2062" y="61546"/>
            <a:ext cx="9061938" cy="6796454"/>
          </a:xfrm>
          <a:prstGeom prst="rect">
            <a:avLst/>
          </a:prstGeom>
        </p:spPr>
      </p:pic>
    </p:spTree>
    <p:extLst>
      <p:ext uri="{BB962C8B-B14F-4D97-AF65-F5344CB8AC3E}">
        <p14:creationId xmlns:p14="http://schemas.microsoft.com/office/powerpoint/2010/main" val="707263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p:nvPr/>
        </p:nvGrpSpPr>
        <p:grpSpPr>
          <a:xfrm>
            <a:off x="560070" y="1581150"/>
            <a:ext cx="7787640" cy="3562349"/>
            <a:chOff x="560070" y="1581150"/>
            <a:chExt cx="7787640" cy="3562349"/>
          </a:xfrm>
        </p:grpSpPr>
        <p:grpSp>
          <p:nvGrpSpPr>
            <p:cNvPr id="17" name="Group 16"/>
            <p:cNvGrpSpPr/>
            <p:nvPr/>
          </p:nvGrpSpPr>
          <p:grpSpPr>
            <a:xfrm>
              <a:off x="560070" y="1581150"/>
              <a:ext cx="7787640" cy="1234440"/>
              <a:chOff x="560070" y="1581150"/>
              <a:chExt cx="7787640" cy="1234440"/>
            </a:xfrm>
          </p:grpSpPr>
          <p:sp>
            <p:nvSpPr>
              <p:cNvPr id="11" name="TextBox 10"/>
              <p:cNvSpPr txBox="1"/>
              <p:nvPr/>
            </p:nvSpPr>
            <p:spPr>
              <a:xfrm rot="16200000">
                <a:off x="129540" y="2011680"/>
                <a:ext cx="1234440" cy="373380"/>
              </a:xfrm>
              <a:prstGeom prst="rect">
                <a:avLst/>
              </a:prstGeom>
              <a:noFill/>
              <a:ln>
                <a:noFill/>
              </a:ln>
            </p:spPr>
            <p:txBody>
              <a:bodyPr wrap="square" rtlCol="0">
                <a:noAutofit/>
              </a:bodyPr>
              <a:lstStyle/>
              <a:p>
                <a:pPr algn="ctr"/>
                <a:r>
                  <a:rPr lang="en-US" dirty="0"/>
                  <a:t>Need</a:t>
                </a:r>
              </a:p>
            </p:txBody>
          </p:sp>
          <p:grpSp>
            <p:nvGrpSpPr>
              <p:cNvPr id="16" name="Group 15"/>
              <p:cNvGrpSpPr/>
              <p:nvPr/>
            </p:nvGrpSpPr>
            <p:grpSpPr>
              <a:xfrm>
                <a:off x="937260" y="1736705"/>
                <a:ext cx="7410450" cy="923330"/>
                <a:chOff x="937260" y="1752600"/>
                <a:chExt cx="7410450" cy="923330"/>
              </a:xfrm>
            </p:grpSpPr>
            <p:sp>
              <p:nvSpPr>
                <p:cNvPr id="4" name="TextBox 3"/>
                <p:cNvSpPr txBox="1"/>
                <p:nvPr/>
              </p:nvSpPr>
              <p:spPr>
                <a:xfrm>
                  <a:off x="93726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a:p>
                <a:p>
                  <a:pPr algn="ctr">
                    <a:spcBef>
                      <a:spcPts val="0"/>
                    </a:spcBef>
                  </a:pPr>
                  <a:r>
                    <a:rPr lang="en-US" dirty="0"/>
                    <a:t>Develop Concept</a:t>
                  </a:r>
                </a:p>
              </p:txBody>
            </p:sp>
            <p:sp>
              <p:nvSpPr>
                <p:cNvPr id="6" name="TextBox 5"/>
                <p:cNvSpPr txBox="1"/>
                <p:nvPr/>
              </p:nvSpPr>
              <p:spPr>
                <a:xfrm>
                  <a:off x="2175510" y="1752600"/>
                  <a:ext cx="1234440" cy="923330"/>
                </a:xfrm>
                <a:prstGeom prst="rect">
                  <a:avLst/>
                </a:prstGeom>
                <a:noFill/>
                <a:ln>
                  <a:solidFill>
                    <a:schemeClr val="tx1"/>
                  </a:solidFill>
                </a:ln>
              </p:spPr>
              <p:txBody>
                <a:bodyPr wrap="square" rtlCol="0">
                  <a:noAutofit/>
                </a:bodyPr>
                <a:lstStyle/>
                <a:p>
                  <a:pPr algn="ctr"/>
                  <a:r>
                    <a:rPr lang="en-US" dirty="0"/>
                    <a:t>Design &amp; Develop System</a:t>
                  </a:r>
                </a:p>
              </p:txBody>
            </p:sp>
            <p:sp>
              <p:nvSpPr>
                <p:cNvPr id="12" name="TextBox 11"/>
                <p:cNvSpPr txBox="1"/>
                <p:nvPr/>
              </p:nvSpPr>
              <p:spPr>
                <a:xfrm>
                  <a:off x="711327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a:p>
                <a:p>
                  <a:pPr algn="ctr">
                    <a:spcBef>
                      <a:spcPts val="0"/>
                    </a:spcBef>
                  </a:pPr>
                  <a:r>
                    <a:rPr lang="en-US" dirty="0"/>
                    <a:t>Retire System</a:t>
                  </a:r>
                </a:p>
              </p:txBody>
            </p:sp>
            <p:sp>
              <p:nvSpPr>
                <p:cNvPr id="13" name="TextBox 12"/>
                <p:cNvSpPr txBox="1"/>
                <p:nvPr/>
              </p:nvSpPr>
              <p:spPr>
                <a:xfrm>
                  <a:off x="587121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a:p>
                <a:p>
                  <a:pPr algn="ctr">
                    <a:spcBef>
                      <a:spcPts val="0"/>
                    </a:spcBef>
                  </a:pPr>
                  <a:r>
                    <a:rPr lang="en-US" dirty="0"/>
                    <a:t>Operate System</a:t>
                  </a:r>
                </a:p>
              </p:txBody>
            </p:sp>
            <p:sp>
              <p:nvSpPr>
                <p:cNvPr id="14" name="TextBox 13"/>
                <p:cNvSpPr txBox="1"/>
                <p:nvPr/>
              </p:nvSpPr>
              <p:spPr>
                <a:xfrm>
                  <a:off x="464058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a:p>
                <a:p>
                  <a:pPr algn="ctr">
                    <a:spcBef>
                      <a:spcPts val="0"/>
                    </a:spcBef>
                  </a:pPr>
                  <a:r>
                    <a:rPr lang="en-US" dirty="0"/>
                    <a:t>Deploy System</a:t>
                  </a:r>
                </a:p>
              </p:txBody>
            </p:sp>
            <p:sp>
              <p:nvSpPr>
                <p:cNvPr id="15" name="TextBox 14"/>
                <p:cNvSpPr txBox="1"/>
                <p:nvPr/>
              </p:nvSpPr>
              <p:spPr>
                <a:xfrm>
                  <a:off x="340995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a:p>
                <a:p>
                  <a:pPr algn="ctr">
                    <a:spcBef>
                      <a:spcPts val="0"/>
                    </a:spcBef>
                  </a:pPr>
                  <a:r>
                    <a:rPr lang="en-US" dirty="0"/>
                    <a:t>Produce System</a:t>
                  </a:r>
                </a:p>
              </p:txBody>
            </p:sp>
          </p:grpSp>
        </p:grpSp>
        <p:sp>
          <p:nvSpPr>
            <p:cNvPr id="18" name="Right Brace 17"/>
            <p:cNvSpPr/>
            <p:nvPr/>
          </p:nvSpPr>
          <p:spPr>
            <a:xfrm rot="5400000">
              <a:off x="1211580" y="2586990"/>
              <a:ext cx="685800" cy="109728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p:cNvSpPr/>
            <p:nvPr/>
          </p:nvSpPr>
          <p:spPr>
            <a:xfrm rot="5400000">
              <a:off x="2472690" y="2586990"/>
              <a:ext cx="685800" cy="109728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868680" y="3489305"/>
              <a:ext cx="1356360" cy="923330"/>
            </a:xfrm>
            <a:prstGeom prst="rect">
              <a:avLst/>
            </a:prstGeom>
            <a:noFill/>
            <a:ln>
              <a:noFill/>
            </a:ln>
          </p:spPr>
          <p:txBody>
            <a:bodyPr wrap="square" rtlCol="0">
              <a:noAutofit/>
            </a:bodyPr>
            <a:lstStyle/>
            <a:p>
              <a:pPr algn="ctr">
                <a:spcBef>
                  <a:spcPts val="1800"/>
                </a:spcBef>
              </a:pPr>
              <a:endParaRPr lang="en-US" sz="900" dirty="0"/>
            </a:p>
            <a:p>
              <a:pPr algn="ctr">
                <a:spcBef>
                  <a:spcPts val="0"/>
                </a:spcBef>
              </a:pPr>
              <a:r>
                <a:rPr lang="en-US" dirty="0"/>
                <a:t>Conceptual Design</a:t>
              </a:r>
            </a:p>
          </p:txBody>
        </p:sp>
        <p:sp>
          <p:nvSpPr>
            <p:cNvPr id="21" name="TextBox 20"/>
            <p:cNvSpPr txBox="1"/>
            <p:nvPr/>
          </p:nvSpPr>
          <p:spPr>
            <a:xfrm>
              <a:off x="2141220" y="3489304"/>
              <a:ext cx="1356360" cy="1654195"/>
            </a:xfrm>
            <a:prstGeom prst="rect">
              <a:avLst/>
            </a:prstGeom>
            <a:noFill/>
            <a:ln>
              <a:noFill/>
            </a:ln>
          </p:spPr>
          <p:txBody>
            <a:bodyPr wrap="square" rtlCol="0">
              <a:noAutofit/>
            </a:bodyPr>
            <a:lstStyle/>
            <a:p>
              <a:pPr algn="ctr">
                <a:spcBef>
                  <a:spcPts val="1800"/>
                </a:spcBef>
              </a:pPr>
              <a:endParaRPr lang="en-US" sz="900" dirty="0"/>
            </a:p>
            <a:p>
              <a:pPr algn="ctr">
                <a:spcBef>
                  <a:spcPts val="0"/>
                </a:spcBef>
              </a:pPr>
              <a:r>
                <a:rPr lang="en-US" dirty="0"/>
                <a:t>Preliminary Design</a:t>
              </a:r>
            </a:p>
            <a:p>
              <a:pPr algn="ctr">
                <a:spcBef>
                  <a:spcPts val="0"/>
                </a:spcBef>
              </a:pPr>
              <a:r>
                <a:rPr lang="en-US" dirty="0"/>
                <a:t>&amp;</a:t>
              </a:r>
            </a:p>
            <a:p>
              <a:pPr algn="ctr">
                <a:spcBef>
                  <a:spcPts val="0"/>
                </a:spcBef>
              </a:pPr>
              <a:r>
                <a:rPr lang="en-US" dirty="0"/>
                <a:t>Detail</a:t>
              </a:r>
            </a:p>
            <a:p>
              <a:pPr algn="ctr">
                <a:spcBef>
                  <a:spcPts val="0"/>
                </a:spcBef>
              </a:pPr>
              <a:r>
                <a:rPr lang="en-US" dirty="0"/>
                <a:t>Design</a:t>
              </a:r>
            </a:p>
          </p:txBody>
        </p:sp>
      </p:grpSp>
    </p:spTree>
    <p:extLst>
      <p:ext uri="{BB962C8B-B14F-4D97-AF65-F5344CB8AC3E}">
        <p14:creationId xmlns:p14="http://schemas.microsoft.com/office/powerpoint/2010/main" val="2729361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Image result for Voyager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95" y="2459105"/>
            <a:ext cx="5228902" cy="400664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stronaut photo of Hubble Space Telescop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394" y="274638"/>
            <a:ext cx="3806577" cy="253375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communication satelli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7168" y="1607597"/>
            <a:ext cx="4909632" cy="3273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057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261E07-BC23-44AC-B98A-538CBBFC2C7C}" type="slidenum">
              <a:rPr lang="en-US" smtClean="0"/>
              <a:t>10</a:t>
            </a:fld>
            <a:endParaRPr lang="en-US"/>
          </a:p>
        </p:txBody>
      </p:sp>
      <p:pic>
        <p:nvPicPr>
          <p:cNvPr id="5"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1743" t="4546" r="69173" b="81452"/>
          <a:stretch/>
        </p:blipFill>
        <p:spPr>
          <a:xfrm>
            <a:off x="180769" y="1501469"/>
            <a:ext cx="1647607" cy="1122301"/>
          </a:xfrm>
          <a:prstGeom prst="rect">
            <a:avLst/>
          </a:prstGeom>
        </p:spPr>
      </p:pic>
      <p:pic>
        <p:nvPicPr>
          <p:cNvPr id="6"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3007" t="18548" r="66012" b="67004"/>
          <a:stretch/>
        </p:blipFill>
        <p:spPr>
          <a:xfrm>
            <a:off x="180769" y="2756473"/>
            <a:ext cx="1755071" cy="1158049"/>
          </a:xfrm>
        </p:spPr>
      </p:pic>
      <p:pic>
        <p:nvPicPr>
          <p:cNvPr id="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374" t="32847" r="65802" b="53598"/>
          <a:stretch/>
        </p:blipFill>
        <p:spPr>
          <a:xfrm>
            <a:off x="180769" y="4049957"/>
            <a:ext cx="1802828" cy="1086473"/>
          </a:xfrm>
          <a:prstGeom prst="rect">
            <a:avLst/>
          </a:prstGeom>
        </p:spPr>
      </p:pic>
      <p:pic>
        <p:nvPicPr>
          <p:cNvPr id="9"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164" t="47296" r="66855" b="37957"/>
          <a:stretch/>
        </p:blipFill>
        <p:spPr>
          <a:xfrm>
            <a:off x="1894120" y="1471612"/>
            <a:ext cx="1755071" cy="1182014"/>
          </a:xfrm>
          <a:prstGeom prst="rect">
            <a:avLst/>
          </a:prstGeom>
        </p:spPr>
      </p:pic>
      <p:pic>
        <p:nvPicPr>
          <p:cNvPr id="10"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8908" t="62192" r="65379" b="24700"/>
          <a:stretch/>
        </p:blipFill>
        <p:spPr>
          <a:xfrm>
            <a:off x="2114998" y="2810175"/>
            <a:ext cx="1456640" cy="1050644"/>
          </a:xfrm>
          <a:prstGeom prst="rect">
            <a:avLst/>
          </a:prstGeom>
        </p:spPr>
      </p:pic>
      <p:pic>
        <p:nvPicPr>
          <p:cNvPr id="11"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5535" t="77981" r="66434" b="9953"/>
          <a:stretch/>
        </p:blipFill>
        <p:spPr>
          <a:xfrm>
            <a:off x="2123949" y="4109631"/>
            <a:ext cx="1587955" cy="967125"/>
          </a:xfrm>
          <a:prstGeom prst="rect">
            <a:avLst/>
          </a:prstGeom>
        </p:spPr>
      </p:pic>
      <p:pic>
        <p:nvPicPr>
          <p:cNvPr id="12"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288" t="4396" r="3417" b="81304"/>
          <a:stretch/>
        </p:blipFill>
        <p:spPr>
          <a:xfrm>
            <a:off x="5559601" y="1489526"/>
            <a:ext cx="1659560" cy="1146186"/>
          </a:xfrm>
          <a:prstGeom prst="rect">
            <a:avLst/>
          </a:prstGeom>
        </p:spPr>
      </p:pic>
      <p:pic>
        <p:nvPicPr>
          <p:cNvPr id="13"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6866" t="20187" r="2574" b="67450"/>
          <a:stretch/>
        </p:blipFill>
        <p:spPr>
          <a:xfrm>
            <a:off x="5625314" y="2840032"/>
            <a:ext cx="1731222" cy="990930"/>
          </a:xfrm>
          <a:prstGeom prst="rect">
            <a:avLst/>
          </a:prstGeom>
        </p:spPr>
      </p:pic>
      <p:pic>
        <p:nvPicPr>
          <p:cNvPr id="14"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309" t="34785" r="2574" b="52852"/>
          <a:stretch/>
        </p:blipFill>
        <p:spPr>
          <a:xfrm>
            <a:off x="5534025" y="4097729"/>
            <a:ext cx="1706095" cy="990930"/>
          </a:xfrm>
          <a:prstGeom prst="rect">
            <a:avLst/>
          </a:prstGeom>
        </p:spPr>
      </p:pic>
      <p:pic>
        <p:nvPicPr>
          <p:cNvPr id="15"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287" t="48488" r="1731" b="39149"/>
          <a:stretch/>
        </p:blipFill>
        <p:spPr>
          <a:xfrm>
            <a:off x="7284906" y="1567154"/>
            <a:ext cx="1755128" cy="990930"/>
          </a:xfrm>
          <a:prstGeom prst="rect">
            <a:avLst/>
          </a:prstGeom>
        </p:spPr>
      </p:pic>
      <p:pic>
        <p:nvPicPr>
          <p:cNvPr id="16"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8763" t="64277" r="4682" b="25147"/>
          <a:stretch/>
        </p:blipFill>
        <p:spPr>
          <a:xfrm>
            <a:off x="7535694" y="2911649"/>
            <a:ext cx="1504340" cy="847697"/>
          </a:xfrm>
          <a:prstGeom prst="rect">
            <a:avLst/>
          </a:prstGeom>
        </p:spPr>
      </p:pic>
      <p:pic>
        <p:nvPicPr>
          <p:cNvPr id="1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8552" t="76492" r="2153" b="8315"/>
          <a:stretch/>
        </p:blipFill>
        <p:spPr>
          <a:xfrm>
            <a:off x="7380474" y="3984313"/>
            <a:ext cx="1659560" cy="1217762"/>
          </a:xfrm>
          <a:prstGeom prst="rect">
            <a:avLst/>
          </a:prstGeom>
        </p:spPr>
      </p:pic>
      <p:pic>
        <p:nvPicPr>
          <p:cNvPr id="18"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4410" t="47445" r="34188" b="38702"/>
          <a:stretch/>
        </p:blipFill>
        <p:spPr>
          <a:xfrm>
            <a:off x="3714936" y="1507440"/>
            <a:ext cx="1778921" cy="1110358"/>
          </a:xfrm>
          <a:prstGeom prst="rect">
            <a:avLst/>
          </a:prstGeom>
        </p:spPr>
      </p:pic>
      <p:pic>
        <p:nvPicPr>
          <p:cNvPr id="19"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5253" t="62937" r="34820" b="24700"/>
          <a:stretch/>
        </p:blipFill>
        <p:spPr>
          <a:xfrm>
            <a:off x="3750794" y="2840032"/>
            <a:ext cx="1695363" cy="990930"/>
          </a:xfrm>
          <a:prstGeom prst="rect">
            <a:avLst/>
          </a:prstGeom>
        </p:spPr>
      </p:pic>
      <p:pic>
        <p:nvPicPr>
          <p:cNvPr id="20"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9889" t="79769" r="33345" b="8910"/>
          <a:stretch/>
        </p:blipFill>
        <p:spPr>
          <a:xfrm>
            <a:off x="3852256" y="4139489"/>
            <a:ext cx="1516292" cy="907411"/>
          </a:xfrm>
          <a:prstGeom prst="rect">
            <a:avLst/>
          </a:prstGeom>
        </p:spPr>
      </p:pic>
      <p:sp>
        <p:nvSpPr>
          <p:cNvPr id="2" name="Title 1"/>
          <p:cNvSpPr>
            <a:spLocks noGrp="1"/>
          </p:cNvSpPr>
          <p:nvPr>
            <p:ph type="title"/>
          </p:nvPr>
        </p:nvSpPr>
        <p:spPr/>
        <p:txBody>
          <a:bodyPr/>
          <a:lstStyle/>
          <a:p>
            <a:r>
              <a:rPr lang="en-US" i="1" dirty="0"/>
              <a:t>“Best”</a:t>
            </a:r>
            <a:r>
              <a:rPr lang="en-US" dirty="0"/>
              <a:t> Designs If Each Team Gets Their Way</a:t>
            </a:r>
          </a:p>
        </p:txBody>
      </p:sp>
      <p:sp>
        <p:nvSpPr>
          <p:cNvPr id="3" name="TextBox 2"/>
          <p:cNvSpPr txBox="1"/>
          <p:nvPr/>
        </p:nvSpPr>
        <p:spPr>
          <a:xfrm>
            <a:off x="195911" y="5335298"/>
            <a:ext cx="8091953" cy="1384995"/>
          </a:xfrm>
          <a:prstGeom prst="rect">
            <a:avLst/>
          </a:prstGeom>
          <a:solidFill>
            <a:srgbClr val="0000FF"/>
          </a:solidFill>
        </p:spPr>
        <p:txBody>
          <a:bodyPr wrap="square" rtlCol="0">
            <a:spAutoFit/>
          </a:bodyPr>
          <a:lstStyle/>
          <a:p>
            <a:pPr algn="ctr"/>
            <a:r>
              <a:rPr lang="en-US" sz="2800" dirty="0">
                <a:solidFill>
                  <a:schemeClr val="bg1"/>
                </a:solidFill>
              </a:rPr>
              <a:t>Systems engineering is a holistic approach that considers what design choices are best for the system as a whole, not just one segment.</a:t>
            </a:r>
          </a:p>
        </p:txBody>
      </p:sp>
    </p:spTree>
    <p:extLst>
      <p:ext uri="{BB962C8B-B14F-4D97-AF65-F5344CB8AC3E}">
        <p14:creationId xmlns:p14="http://schemas.microsoft.com/office/powerpoint/2010/main" val="138759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4" descr="B_F 2_12"/>
          <p:cNvPicPr>
            <a:picLocks noGrp="1" noChangeAspect="1" noChangeArrowheads="1"/>
          </p:cNvPicPr>
          <p:nvPr>
            <p:ph idx="1"/>
          </p:nvPr>
        </p:nvPicPr>
        <p:blipFill>
          <a:blip r:embed="rId2" cstate="print">
            <a:lum bright="-12000" contrast="24000"/>
          </a:blip>
          <a:srcRect/>
          <a:stretch>
            <a:fillRect/>
          </a:stretch>
        </p:blipFill>
        <p:spPr>
          <a:xfrm>
            <a:off x="1477952" y="1295400"/>
            <a:ext cx="6188095" cy="5562600"/>
          </a:xfrm>
          <a:noFill/>
        </p:spPr>
      </p:pic>
      <p:sp>
        <p:nvSpPr>
          <p:cNvPr id="11266" name="Rectangle 5"/>
          <p:cNvSpPr>
            <a:spLocks noGrp="1" noChangeArrowheads="1"/>
          </p:cNvSpPr>
          <p:nvPr>
            <p:ph type="title"/>
          </p:nvPr>
        </p:nvSpPr>
        <p:spPr>
          <a:xfrm>
            <a:off x="457200" y="152400"/>
            <a:ext cx="8229600" cy="1143000"/>
          </a:xfrm>
        </p:spPr>
        <p:txBody>
          <a:bodyPr/>
          <a:lstStyle/>
          <a:p>
            <a:pPr eaLnBrk="1" hangingPunct="1"/>
            <a:r>
              <a:rPr lang="en-US" sz="4000" dirty="0"/>
              <a:t>Life Cycle Commitment, System Specific Knowledge, &amp; Costs</a:t>
            </a:r>
          </a:p>
        </p:txBody>
      </p:sp>
    </p:spTree>
    <p:extLst>
      <p:ext uri="{BB962C8B-B14F-4D97-AF65-F5344CB8AC3E}">
        <p14:creationId xmlns:p14="http://schemas.microsoft.com/office/powerpoint/2010/main" val="2771830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4" descr="B_F 2_12"/>
          <p:cNvPicPr>
            <a:picLocks noGrp="1" noChangeAspect="1" noChangeArrowheads="1"/>
          </p:cNvPicPr>
          <p:nvPr>
            <p:ph idx="1"/>
          </p:nvPr>
        </p:nvPicPr>
        <p:blipFill>
          <a:blip r:embed="rId2" cstate="print">
            <a:lum bright="-12000" contrast="24000"/>
          </a:blip>
          <a:srcRect/>
          <a:stretch>
            <a:fillRect/>
          </a:stretch>
        </p:blipFill>
        <p:spPr>
          <a:xfrm>
            <a:off x="-1" y="1295400"/>
            <a:ext cx="6188095" cy="5562600"/>
          </a:xfrm>
          <a:noFill/>
        </p:spPr>
      </p:pic>
      <p:sp>
        <p:nvSpPr>
          <p:cNvPr id="11266" name="Rectangle 5"/>
          <p:cNvSpPr>
            <a:spLocks noGrp="1" noChangeArrowheads="1"/>
          </p:cNvSpPr>
          <p:nvPr>
            <p:ph type="title"/>
          </p:nvPr>
        </p:nvSpPr>
        <p:spPr>
          <a:xfrm>
            <a:off x="457200" y="152400"/>
            <a:ext cx="8229600" cy="1143000"/>
          </a:xfrm>
        </p:spPr>
        <p:txBody>
          <a:bodyPr/>
          <a:lstStyle/>
          <a:p>
            <a:pPr eaLnBrk="1" hangingPunct="1"/>
            <a:r>
              <a:rPr lang="en-US" sz="4000" dirty="0"/>
              <a:t>Life Cycle Commitment, System Specific Knowledge, &amp; Costs</a:t>
            </a:r>
          </a:p>
        </p:txBody>
      </p:sp>
      <p:sp>
        <p:nvSpPr>
          <p:cNvPr id="17415" name="Text Box 7"/>
          <p:cNvSpPr txBox="1">
            <a:spLocks noChangeArrowheads="1"/>
          </p:cNvSpPr>
          <p:nvPr/>
        </p:nvSpPr>
        <p:spPr bwMode="auto">
          <a:xfrm>
            <a:off x="5451230" y="4060912"/>
            <a:ext cx="2039815" cy="646331"/>
          </a:xfrm>
          <a:prstGeom prst="rect">
            <a:avLst/>
          </a:prstGeom>
          <a:solidFill>
            <a:srgbClr val="FFFF99"/>
          </a:solidFill>
          <a:ln w="9525">
            <a:noFill/>
            <a:miter lim="800000"/>
            <a:headEnd/>
            <a:tailEnd/>
          </a:ln>
        </p:spPr>
        <p:txBody>
          <a:bodyPr wrap="square">
            <a:spAutoFit/>
          </a:bodyPr>
          <a:lstStyle/>
          <a:p>
            <a:r>
              <a:rPr lang="en-US" i="1" dirty="0">
                <a:solidFill>
                  <a:srgbClr val="0000CC"/>
                </a:solidFill>
              </a:rPr>
              <a:t>Change is easiest early in lifecycle</a:t>
            </a:r>
          </a:p>
        </p:txBody>
      </p:sp>
      <p:sp>
        <p:nvSpPr>
          <p:cNvPr id="17416" name="Text Box 8"/>
          <p:cNvSpPr txBox="1">
            <a:spLocks noChangeArrowheads="1"/>
          </p:cNvSpPr>
          <p:nvPr/>
        </p:nvSpPr>
        <p:spPr bwMode="auto">
          <a:xfrm>
            <a:off x="5814648" y="2515032"/>
            <a:ext cx="2286000" cy="641350"/>
          </a:xfrm>
          <a:prstGeom prst="rect">
            <a:avLst/>
          </a:prstGeom>
          <a:solidFill>
            <a:srgbClr val="FFFF99"/>
          </a:solidFill>
          <a:ln w="9525">
            <a:noFill/>
            <a:miter lim="800000"/>
            <a:headEnd/>
            <a:tailEnd/>
          </a:ln>
        </p:spPr>
        <p:txBody>
          <a:bodyPr>
            <a:spAutoFit/>
          </a:bodyPr>
          <a:lstStyle/>
          <a:p>
            <a:r>
              <a:rPr lang="en-US" i="1" dirty="0">
                <a:solidFill>
                  <a:srgbClr val="0000CC"/>
                </a:solidFill>
              </a:rPr>
              <a:t>Significant life cycle cost is incurred late</a:t>
            </a:r>
          </a:p>
        </p:txBody>
      </p:sp>
      <p:sp>
        <p:nvSpPr>
          <p:cNvPr id="17417" name="Text Box 9"/>
          <p:cNvSpPr txBox="1">
            <a:spLocks noChangeArrowheads="1"/>
          </p:cNvSpPr>
          <p:nvPr/>
        </p:nvSpPr>
        <p:spPr bwMode="auto">
          <a:xfrm>
            <a:off x="3653824" y="1487722"/>
            <a:ext cx="4552330" cy="369332"/>
          </a:xfrm>
          <a:prstGeom prst="rect">
            <a:avLst/>
          </a:prstGeom>
          <a:solidFill>
            <a:srgbClr val="FFFF99"/>
          </a:solidFill>
          <a:ln w="9525">
            <a:noFill/>
            <a:miter lim="800000"/>
            <a:headEnd/>
            <a:tailEnd/>
          </a:ln>
        </p:spPr>
        <p:txBody>
          <a:bodyPr wrap="square">
            <a:spAutoFit/>
          </a:bodyPr>
          <a:lstStyle/>
          <a:p>
            <a:r>
              <a:rPr lang="en-US" i="1" dirty="0">
                <a:solidFill>
                  <a:srgbClr val="0000CC"/>
                </a:solidFill>
              </a:rPr>
              <a:t>Commitment to an approach builds rapidly</a:t>
            </a:r>
          </a:p>
        </p:txBody>
      </p:sp>
      <p:sp>
        <p:nvSpPr>
          <p:cNvPr id="17418" name="Text Box 10"/>
          <p:cNvSpPr txBox="1">
            <a:spLocks noChangeArrowheads="1"/>
          </p:cNvSpPr>
          <p:nvPr/>
        </p:nvSpPr>
        <p:spPr bwMode="auto">
          <a:xfrm>
            <a:off x="5638800" y="3293191"/>
            <a:ext cx="3505200" cy="641350"/>
          </a:xfrm>
          <a:prstGeom prst="rect">
            <a:avLst/>
          </a:prstGeom>
          <a:solidFill>
            <a:srgbClr val="FFFF99"/>
          </a:solidFill>
          <a:ln w="9525">
            <a:noFill/>
            <a:miter lim="800000"/>
            <a:headEnd/>
            <a:tailEnd/>
          </a:ln>
        </p:spPr>
        <p:txBody>
          <a:bodyPr wrap="square">
            <a:spAutoFit/>
          </a:bodyPr>
          <a:lstStyle/>
          <a:p>
            <a:r>
              <a:rPr lang="en-US" i="1" dirty="0">
                <a:solidFill>
                  <a:srgbClr val="0000CC"/>
                </a:solidFill>
              </a:rPr>
              <a:t>Knowledge of the system lags behind commitment to approach</a:t>
            </a:r>
          </a:p>
        </p:txBody>
      </p:sp>
      <p:sp>
        <p:nvSpPr>
          <p:cNvPr id="17419" name="Text Box 11"/>
          <p:cNvSpPr txBox="1">
            <a:spLocks noChangeArrowheads="1"/>
          </p:cNvSpPr>
          <p:nvPr/>
        </p:nvSpPr>
        <p:spPr bwMode="auto">
          <a:xfrm>
            <a:off x="6477000" y="5334000"/>
            <a:ext cx="2332038" cy="822325"/>
          </a:xfrm>
          <a:prstGeom prst="rect">
            <a:avLst/>
          </a:prstGeom>
          <a:solidFill>
            <a:srgbClr val="CCFF99"/>
          </a:solidFill>
          <a:ln w="9525">
            <a:noFill/>
            <a:miter lim="800000"/>
            <a:headEnd/>
            <a:tailEnd/>
          </a:ln>
        </p:spPr>
        <p:txBody>
          <a:bodyPr wrap="none">
            <a:spAutoFit/>
          </a:bodyPr>
          <a:lstStyle/>
          <a:p>
            <a:r>
              <a:rPr lang="en-US" sz="2400" b="1" i="1" dirty="0"/>
              <a:t>So, what do </a:t>
            </a:r>
            <a:br>
              <a:rPr lang="en-US" sz="2400" b="1" i="1" dirty="0"/>
            </a:br>
            <a:r>
              <a:rPr lang="en-US" sz="2400" b="1" i="1" dirty="0"/>
              <a:t>you conclude?</a:t>
            </a:r>
          </a:p>
        </p:txBody>
      </p:sp>
    </p:spTree>
    <p:extLst>
      <p:ext uri="{BB962C8B-B14F-4D97-AF65-F5344CB8AC3E}">
        <p14:creationId xmlns:p14="http://schemas.microsoft.com/office/powerpoint/2010/main" val="352186179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23aa48c-73f2-40da-86b1-f1ae286477fe" xsi:nil="true"/>
    <lcf76f155ced4ddcb4097134ff3c332f xmlns="7584c457-6b5a-4caa-be47-be979cbe655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F67A91-A8D1-4649-9326-693A04164671}">
  <ds:schemaRef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7584c457-6b5a-4caa-be47-be979cbe6555"/>
    <ds:schemaRef ds:uri="http://schemas.microsoft.com/sharepoint/v3"/>
    <ds:schemaRef ds:uri="http://purl.org/dc/terms/"/>
    <ds:schemaRef ds:uri="http://schemas.microsoft.com/office/infopath/2007/PartnerControls"/>
    <ds:schemaRef ds:uri="723aa48c-73f2-40da-86b1-f1ae286477fe"/>
    <ds:schemaRef ds:uri="http://www.w3.org/XML/1998/namespace"/>
  </ds:schemaRefs>
</ds:datastoreItem>
</file>

<file path=customXml/itemProps2.xml><?xml version="1.0" encoding="utf-8"?>
<ds:datastoreItem xmlns:ds="http://schemas.openxmlformats.org/officeDocument/2006/customXml" ds:itemID="{6E3297D1-FE7B-4E64-9EAA-7A4BD259093D}">
  <ds:schemaRefs>
    <ds:schemaRef ds:uri="http://schemas.microsoft.com/sharepoint/v3/contenttype/forms"/>
  </ds:schemaRefs>
</ds:datastoreItem>
</file>

<file path=customXml/itemProps3.xml><?xml version="1.0" encoding="utf-8"?>
<ds:datastoreItem xmlns:ds="http://schemas.openxmlformats.org/officeDocument/2006/customXml" ds:itemID="{6987C1A3-882E-46F6-A604-A6EED741A8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3272</TotalTime>
  <Words>483</Words>
  <Application>Microsoft Office PowerPoint</Application>
  <PresentationFormat>On-screen Show (4:3)</PresentationFormat>
  <Paragraphs>80</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Arial Black</vt:lpstr>
      <vt:lpstr>Calibri</vt:lpstr>
      <vt:lpstr>Default Design</vt:lpstr>
      <vt:lpstr>Astro 331 Lesson 1</vt:lpstr>
      <vt:lpstr>Lesson Objectives</vt:lpstr>
      <vt:lpstr>Desired Goal of Space Mission Design</vt:lpstr>
      <vt:lpstr>Common Threads of  Good SE Definitions</vt:lpstr>
      <vt:lpstr>Definition of Systems Engineering</vt:lpstr>
      <vt:lpstr>V-model</vt:lpstr>
      <vt:lpstr>PowerPoint Presentation</vt:lpstr>
      <vt:lpstr>PowerPoint Presentation</vt:lpstr>
      <vt:lpstr>PowerPoint Presentation</vt:lpstr>
      <vt:lpstr>“Best” Designs If Each Team Gets Their Way</vt:lpstr>
      <vt:lpstr>Life Cycle Commitment, System Specific Knowledge, &amp; Costs</vt:lpstr>
      <vt:lpstr>Life Cycle Commitment, System Specific Knowledge, &amp; Costs</vt:lpstr>
    </vt:vector>
  </TitlesOfParts>
  <Company>USAFA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Take Home Points</dc:title>
  <dc:creator>Administrator</dc:creator>
  <cp:lastModifiedBy>Wyatt Harris</cp:lastModifiedBy>
  <cp:revision>130</cp:revision>
  <cp:lastPrinted>2014-08-24T23:25:23Z</cp:lastPrinted>
  <dcterms:created xsi:type="dcterms:W3CDTF">2005-07-21T15:25:51Z</dcterms:created>
  <dcterms:modified xsi:type="dcterms:W3CDTF">2026-01-06T03:44:02Z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