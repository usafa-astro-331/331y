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3"/>
  </p:notesMasterIdLst>
  <p:sldIdLst>
    <p:sldId id="256" r:id="rId5"/>
    <p:sldId id="257" r:id="rId6"/>
    <p:sldId id="258" r:id="rId7"/>
    <p:sldId id="260" r:id="rId8"/>
    <p:sldId id="644" r:id="rId9"/>
    <p:sldId id="259" r:id="rId10"/>
    <p:sldId id="643" r:id="rId11"/>
    <p:sldId id="264" r:id="rId12"/>
    <p:sldId id="645" r:id="rId13"/>
    <p:sldId id="267" r:id="rId14"/>
    <p:sldId id="268" r:id="rId15"/>
    <p:sldId id="263" r:id="rId16"/>
    <p:sldId id="266" r:id="rId17"/>
    <p:sldId id="261" r:id="rId18"/>
    <p:sldId id="262" r:id="rId19"/>
    <p:sldId id="646" r:id="rId20"/>
    <p:sldId id="265" r:id="rId21"/>
    <p:sldId id="269" r:id="rId2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5BD77-AC0F-4F9C-9779-F59536BE7164}" v="26" dt="2026-01-15T19:53:13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3464" autoAdjust="0"/>
  </p:normalViewPr>
  <p:slideViewPr>
    <p:cSldViewPr snapToGrid="0">
      <p:cViewPr varScale="1">
        <p:scale>
          <a:sx n="73" d="100"/>
          <a:sy n="73" d="100"/>
        </p:scale>
        <p:origin x="273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E18DAD13-4A53-44B8-9F3F-46E167733190}"/>
    <pc:docChg chg="custSel addSld modSld modMainMaster">
      <pc:chgData name="Harris, Wyatt J Lt Col USAF USAFA DF/DFAS" userId="768bfb95-c272-4014-8fa2-010c15306053" providerId="ADAL" clId="{E18DAD13-4A53-44B8-9F3F-46E167733190}" dt="2026-01-15T19:53:13.485" v="192"/>
      <pc:docMkLst>
        <pc:docMk/>
      </pc:docMkLst>
      <pc:sldChg chg="modSp new mod">
        <pc:chgData name="Harris, Wyatt J Lt Col USAF USAFA DF/DFAS" userId="768bfb95-c272-4014-8fa2-010c15306053" providerId="ADAL" clId="{E18DAD13-4A53-44B8-9F3F-46E167733190}" dt="2026-01-15T17:26:39.715" v="39" actId="20577"/>
        <pc:sldMkLst>
          <pc:docMk/>
          <pc:sldMk cId="4259375701" sldId="644"/>
        </pc:sldMkLst>
        <pc:spChg chg="mod">
          <ac:chgData name="Harris, Wyatt J Lt Col USAF USAFA DF/DFAS" userId="768bfb95-c272-4014-8fa2-010c15306053" providerId="ADAL" clId="{E18DAD13-4A53-44B8-9F3F-46E167733190}" dt="2026-01-15T17:26:32.549" v="35" actId="20577"/>
          <ac:spMkLst>
            <pc:docMk/>
            <pc:sldMk cId="4259375701" sldId="644"/>
            <ac:spMk id="2" creationId="{781619E8-7F1C-BB8D-EB45-AFB8323C4F4D}"/>
          </ac:spMkLst>
        </pc:spChg>
        <pc:spChg chg="mod">
          <ac:chgData name="Harris, Wyatt J Lt Col USAF USAFA DF/DFAS" userId="768bfb95-c272-4014-8fa2-010c15306053" providerId="ADAL" clId="{E18DAD13-4A53-44B8-9F3F-46E167733190}" dt="2026-01-15T17:26:39.715" v="39" actId="20577"/>
          <ac:spMkLst>
            <pc:docMk/>
            <pc:sldMk cId="4259375701" sldId="644"/>
            <ac:spMk id="3" creationId="{D9110674-D9D5-3A1C-F145-B57759DE8776}"/>
          </ac:spMkLst>
        </pc:spChg>
      </pc:sldChg>
      <pc:sldChg chg="addSp modSp new mod modNotesTx">
        <pc:chgData name="Harris, Wyatt J Lt Col USAF USAFA DF/DFAS" userId="768bfb95-c272-4014-8fa2-010c15306053" providerId="ADAL" clId="{E18DAD13-4A53-44B8-9F3F-46E167733190}" dt="2026-01-15T19:53:13.485" v="192"/>
        <pc:sldMkLst>
          <pc:docMk/>
          <pc:sldMk cId="1527794287" sldId="645"/>
        </pc:sldMkLst>
        <pc:spChg chg="mod">
          <ac:chgData name="Harris, Wyatt J Lt Col USAF USAFA DF/DFAS" userId="768bfb95-c272-4014-8fa2-010c15306053" providerId="ADAL" clId="{E18DAD13-4A53-44B8-9F3F-46E167733190}" dt="2026-01-15T19:53:13.485" v="192"/>
          <ac:spMkLst>
            <pc:docMk/>
            <pc:sldMk cId="1527794287" sldId="645"/>
            <ac:spMk id="2" creationId="{80E9381C-4F13-2B6F-E1FC-62E64D872626}"/>
          </ac:spMkLst>
        </pc:spChg>
        <pc:spChg chg="mod">
          <ac:chgData name="Harris, Wyatt J Lt Col USAF USAFA DF/DFAS" userId="768bfb95-c272-4014-8fa2-010c15306053" providerId="ADAL" clId="{E18DAD13-4A53-44B8-9F3F-46E167733190}" dt="2026-01-15T19:53:04.783" v="188" actId="20577"/>
          <ac:spMkLst>
            <pc:docMk/>
            <pc:sldMk cId="1527794287" sldId="645"/>
            <ac:spMk id="3" creationId="{9E103188-73C6-56D8-F799-9CD0429A302B}"/>
          </ac:spMkLst>
        </pc:spChg>
        <pc:spChg chg="add">
          <ac:chgData name="Harris, Wyatt J Lt Col USAF USAFA DF/DFAS" userId="768bfb95-c272-4014-8fa2-010c15306053" providerId="ADAL" clId="{E18DAD13-4A53-44B8-9F3F-46E167733190}" dt="2026-01-15T17:30:43.266" v="115"/>
          <ac:spMkLst>
            <pc:docMk/>
            <pc:sldMk cId="1527794287" sldId="645"/>
            <ac:spMk id="5" creationId="{53AC426D-CA34-68B8-946C-C704A70C9274}"/>
          </ac:spMkLst>
        </pc:spChg>
        <pc:spChg chg="add">
          <ac:chgData name="Harris, Wyatt J Lt Col USAF USAFA DF/DFAS" userId="768bfb95-c272-4014-8fa2-010c15306053" providerId="ADAL" clId="{E18DAD13-4A53-44B8-9F3F-46E167733190}" dt="2026-01-15T17:30:48.227" v="117"/>
          <ac:spMkLst>
            <pc:docMk/>
            <pc:sldMk cId="1527794287" sldId="645"/>
            <ac:spMk id="6" creationId="{4DC955AE-C2D5-EF0C-AE5E-809FCC1CD656}"/>
          </ac:spMkLst>
        </pc:spChg>
        <pc:spChg chg="add">
          <ac:chgData name="Harris, Wyatt J Lt Col USAF USAFA DF/DFAS" userId="768bfb95-c272-4014-8fa2-010c15306053" providerId="ADAL" clId="{E18DAD13-4A53-44B8-9F3F-46E167733190}" dt="2026-01-15T17:30:51.881" v="118"/>
          <ac:spMkLst>
            <pc:docMk/>
            <pc:sldMk cId="1527794287" sldId="645"/>
            <ac:spMk id="7" creationId="{82142635-4B17-DE23-EB08-ED301D40C0AD}"/>
          </ac:spMkLst>
        </pc:spChg>
        <pc:picChg chg="add mod">
          <ac:chgData name="Harris, Wyatt J Lt Col USAF USAFA DF/DFAS" userId="768bfb95-c272-4014-8fa2-010c15306053" providerId="ADAL" clId="{E18DAD13-4A53-44B8-9F3F-46E167733190}" dt="2026-01-15T19:53:09.909" v="191" actId="1076"/>
          <ac:picMkLst>
            <pc:docMk/>
            <pc:sldMk cId="1527794287" sldId="645"/>
            <ac:picMk id="1029" creationId="{B937D859-9033-DF36-D4DB-BC7B49AA0E96}"/>
          </ac:picMkLst>
        </pc:picChg>
      </pc:sldChg>
      <pc:sldChg chg="modSp new mod">
        <pc:chgData name="Harris, Wyatt J Lt Col USAF USAFA DF/DFAS" userId="768bfb95-c272-4014-8fa2-010c15306053" providerId="ADAL" clId="{E18DAD13-4A53-44B8-9F3F-46E167733190}" dt="2026-01-15T17:29:28.126" v="114" actId="27636"/>
        <pc:sldMkLst>
          <pc:docMk/>
          <pc:sldMk cId="3992378626" sldId="646"/>
        </pc:sldMkLst>
        <pc:spChg chg="mod">
          <ac:chgData name="Harris, Wyatt J Lt Col USAF USAFA DF/DFAS" userId="768bfb95-c272-4014-8fa2-010c15306053" providerId="ADAL" clId="{E18DAD13-4A53-44B8-9F3F-46E167733190}" dt="2026-01-15T17:29:06.411" v="107"/>
          <ac:spMkLst>
            <pc:docMk/>
            <pc:sldMk cId="3992378626" sldId="646"/>
            <ac:spMk id="2" creationId="{119B317E-4C33-1944-393D-37AA2A5054F3}"/>
          </ac:spMkLst>
        </pc:spChg>
        <pc:spChg chg="mod">
          <ac:chgData name="Harris, Wyatt J Lt Col USAF USAFA DF/DFAS" userId="768bfb95-c272-4014-8fa2-010c15306053" providerId="ADAL" clId="{E18DAD13-4A53-44B8-9F3F-46E167733190}" dt="2026-01-15T17:29:28.126" v="114" actId="27636"/>
          <ac:spMkLst>
            <pc:docMk/>
            <pc:sldMk cId="3992378626" sldId="646"/>
            <ac:spMk id="3" creationId="{3B23D578-2784-E646-14D3-1D4C35E0B500}"/>
          </ac:spMkLst>
        </pc:spChg>
      </pc:sldChg>
      <pc:sldMasterChg chg="modSp mod">
        <pc:chgData name="Harris, Wyatt J Lt Col USAF USAFA DF/DFAS" userId="768bfb95-c272-4014-8fa2-010c15306053" providerId="ADAL" clId="{E18DAD13-4A53-44B8-9F3F-46E167733190}" dt="2026-01-15T17:22:58.086" v="6" actId="14100"/>
        <pc:sldMasterMkLst>
          <pc:docMk/>
          <pc:sldMasterMk cId="85601226" sldId="2147483660"/>
        </pc:sldMasterMkLst>
        <pc:spChg chg="mod">
          <ac:chgData name="Harris, Wyatt J Lt Col USAF USAFA DF/DFAS" userId="768bfb95-c272-4014-8fa2-010c15306053" providerId="ADAL" clId="{E18DAD13-4A53-44B8-9F3F-46E167733190}" dt="2026-01-15T17:22:58.086" v="6" actId="14100"/>
          <ac:spMkLst>
            <pc:docMk/>
            <pc:sldMasterMk cId="85601226" sldId="2147483660"/>
            <ac:spMk id="8" creationId="{1B2918AF-A31D-A49D-520C-D6A347912BFA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#1</a:t>
            </a:r>
          </a:p>
          <a:p>
            <a:r>
              <a:rPr lang="en-US" dirty="0"/>
              <a:t>Skills review</a:t>
            </a:r>
          </a:p>
          <a:p>
            <a:r>
              <a:rPr lang="en-US" dirty="0"/>
              <a:t>HW#1 posted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04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40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Hysteresis Example: A sensor might turn on when an object is 2 cm away but only turn off when it's 3 cm away, with the 1 cm difference being the hysteresis.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75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br>
              <a:rPr lang="en-US" b="1" dirty="0">
                <a:effectLst/>
              </a:rPr>
            </a:br>
            <a:r>
              <a:rPr lang="en-US" dirty="0">
                <a:effectLst/>
              </a:rPr>
              <a:t>Animation showing how aliasing (frequency ambiguity) is a result of sampling a continuous waveform.</a:t>
            </a:r>
          </a:p>
          <a:p>
            <a:pPr rtl="0"/>
            <a:r>
              <a:rPr lang="en-US" b="1" dirty="0">
                <a:effectLst/>
              </a:rPr>
              <a:t>Upper left:</a:t>
            </a:r>
            <a:r>
              <a:rPr lang="en-US" dirty="0">
                <a:effectLst/>
              </a:rPr>
              <a:t> Animation depicts a sequence of sinusoids, each with a higher frequency than the previous ones. These "true" signals are also being sampled (blue dots) at a constant frequency/rate, fs.</a:t>
            </a:r>
          </a:p>
          <a:p>
            <a:pPr rtl="0"/>
            <a:r>
              <a:rPr lang="en-US" b="1" dirty="0">
                <a:effectLst/>
              </a:rPr>
              <a:t>Upper right:</a:t>
            </a:r>
            <a:r>
              <a:rPr lang="en-US" dirty="0">
                <a:effectLst/>
              </a:rPr>
              <a:t> The </a:t>
            </a:r>
            <a:r>
              <a:rPr lang="en-US" u="sng" dirty="0">
                <a:effectLst/>
              </a:rPr>
              <a:t>continuous</a:t>
            </a:r>
            <a:r>
              <a:rPr lang="en-US" dirty="0">
                <a:effectLst/>
              </a:rPr>
              <a:t> Fourier transform of the sinusoid (not the samples). The single non-zero component, depicting the actual frequency, means there is no ambiguity.</a:t>
            </a:r>
          </a:p>
          <a:p>
            <a:pPr rtl="0"/>
            <a:r>
              <a:rPr lang="en-US" b="1" dirty="0">
                <a:effectLst/>
              </a:rPr>
              <a:t>Lower right:</a:t>
            </a:r>
            <a:r>
              <a:rPr lang="en-US" dirty="0">
                <a:effectLst/>
              </a:rPr>
              <a:t> The </a:t>
            </a:r>
            <a:r>
              <a:rPr lang="en-US" u="sng" dirty="0">
                <a:effectLst/>
              </a:rPr>
              <a:t>discrete</a:t>
            </a:r>
            <a:r>
              <a:rPr lang="en-US" dirty="0">
                <a:effectLst/>
              </a:rPr>
              <a:t> Fourier transform of just the available samples. The presence of two components means the samples can fit at least two different sinusoids, one of which is the true frequency (upper-right).</a:t>
            </a:r>
          </a:p>
          <a:p>
            <a:pPr rtl="0"/>
            <a:r>
              <a:rPr lang="en-US" b="1" dirty="0">
                <a:effectLst/>
              </a:rPr>
              <a:t>Lower left:</a:t>
            </a:r>
            <a:r>
              <a:rPr lang="en-US" dirty="0">
                <a:effectLst/>
              </a:rPr>
              <a:t> Using the same samples (now in orange), the default reconstruction algorithm (i.e. in the absence of collateral information) produces the lower-frequency sinusoid.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25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*Draw on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32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National Institute of Standards and Technology (NIST)</a:t>
            </a:r>
          </a:p>
          <a:p>
            <a:pPr marL="0" marR="0" lvl="0" indent="0" algn="l" defTabSz="9143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hlinkClick r:id="rId3"/>
            </a:endParaRPr>
          </a:p>
          <a:p>
            <a:pPr marL="0" marR="0" lvl="0" indent="0" algn="l" defTabSz="9143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https://www.nist.gov/si-redefinition/kilogram-introduction</a:t>
            </a:r>
          </a:p>
          <a:p>
            <a:r>
              <a:rPr lang="en-US" dirty="0"/>
              <a:t>https://www.nist.gov/image/meter-bar-27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43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https://learn.adafruit.com/calibrating-sensors/why-calibrate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78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Mars Climate Orbiter (MCO)</a:t>
            </a:r>
            <a:r>
              <a:rPr lang="en-US" dirty="0"/>
              <a:t> — one of NASA’s most famous mission failures, and a classic case study for space systems engineering and metrology:</a:t>
            </a:r>
          </a:p>
          <a:p>
            <a:endParaRPr lang="en-US" dirty="0"/>
          </a:p>
          <a:p>
            <a:r>
              <a:rPr lang="en-US" b="1" dirty="0"/>
              <a:t>Mission Background</a:t>
            </a:r>
          </a:p>
          <a:p>
            <a:pPr lvl="1"/>
            <a:r>
              <a:rPr lang="en-US" b="1" dirty="0"/>
              <a:t>Launched:</a:t>
            </a:r>
            <a:r>
              <a:rPr lang="en-US" dirty="0"/>
              <a:t> December 11, 1998 on a Delta II rocket.</a:t>
            </a:r>
          </a:p>
          <a:p>
            <a:pPr lvl="1"/>
            <a:r>
              <a:rPr lang="en-US" b="1" dirty="0"/>
              <a:t>Mission Goal:</a:t>
            </a:r>
            <a:r>
              <a:rPr lang="en-US" dirty="0"/>
              <a:t> Study Mars’ climate, atmosphere, and surface changes; act as a communications relay for the Mars Polar Lander.</a:t>
            </a:r>
          </a:p>
          <a:p>
            <a:pPr lvl="1"/>
            <a:r>
              <a:rPr lang="en-US" b="1" dirty="0"/>
              <a:t>Spacecraft Cost:</a:t>
            </a:r>
            <a:r>
              <a:rPr lang="en-US" dirty="0"/>
              <a:t> About $327 million.</a:t>
            </a:r>
          </a:p>
          <a:p>
            <a:r>
              <a:rPr lang="en-US" b="1" dirty="0"/>
              <a:t>What Went Wrong</a:t>
            </a:r>
          </a:p>
          <a:p>
            <a:pPr lvl="1"/>
            <a:r>
              <a:rPr lang="en-US" dirty="0"/>
              <a:t>During trajectory corrections, the spacecraft entered the Martian atmosphere </a:t>
            </a:r>
            <a:r>
              <a:rPr lang="en-US" b="1" dirty="0"/>
              <a:t>too low</a:t>
            </a:r>
            <a:r>
              <a:rPr lang="en-US" dirty="0"/>
              <a:t> (around 57 km instead of ~140 km).</a:t>
            </a:r>
          </a:p>
          <a:p>
            <a:pPr lvl="1"/>
            <a:r>
              <a:rPr lang="en-US" dirty="0"/>
              <a:t>At that altitude, drag forces destroyed the spacecraft during orbital insertion.</a:t>
            </a:r>
          </a:p>
          <a:p>
            <a:r>
              <a:rPr lang="en-US" b="1" dirty="0"/>
              <a:t>The Root Cause: Unit Conversion Error</a:t>
            </a:r>
          </a:p>
          <a:p>
            <a:pPr lvl="1"/>
            <a:r>
              <a:rPr lang="en-US" dirty="0"/>
              <a:t>The spacecraft’s </a:t>
            </a:r>
            <a:r>
              <a:rPr lang="en-US" b="1" dirty="0"/>
              <a:t>navigation system expected thruster data in metric units (newton-seconds)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However, the </a:t>
            </a:r>
            <a:r>
              <a:rPr lang="en-US" b="1" dirty="0"/>
              <a:t>ground software team at Lockheed Martin produced the data in imperial units (pound-seconds)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mismatch was never caught during system integration and verification.</a:t>
            </a:r>
          </a:p>
          <a:p>
            <a:r>
              <a:rPr lang="en-US" b="1" dirty="0"/>
              <a:t>Engineering and Systems Lessons</a:t>
            </a:r>
          </a:p>
          <a:p>
            <a:pPr lvl="1"/>
            <a:r>
              <a:rPr lang="en-US" b="1" dirty="0"/>
              <a:t>Metrology Failure</a:t>
            </a:r>
            <a:endParaRPr lang="en-US" dirty="0"/>
          </a:p>
          <a:p>
            <a:pPr lvl="2"/>
            <a:r>
              <a:rPr lang="en-US" dirty="0"/>
              <a:t>No consistent unit system across teams → lack of traceability.</a:t>
            </a:r>
          </a:p>
          <a:p>
            <a:pPr lvl="2"/>
            <a:r>
              <a:rPr lang="en-US" dirty="0"/>
              <a:t>This is why space engineering insists on SI units (and explicit unit documentation).</a:t>
            </a:r>
          </a:p>
          <a:p>
            <a:pPr lvl="1"/>
            <a:r>
              <a:rPr lang="en-US" b="1" dirty="0"/>
              <a:t>Verification and Validation Failure</a:t>
            </a:r>
            <a:endParaRPr lang="en-US" dirty="0"/>
          </a:p>
          <a:p>
            <a:pPr lvl="2"/>
            <a:r>
              <a:rPr lang="en-US" dirty="0"/>
              <a:t>The software passed internal tests but was never cross-checked against mission requirements in an end-to-end simulation.</a:t>
            </a:r>
          </a:p>
          <a:p>
            <a:pPr lvl="1"/>
            <a:r>
              <a:rPr lang="en-US" b="1" dirty="0"/>
              <a:t>Communication &amp; Systems Engineering</a:t>
            </a:r>
            <a:endParaRPr lang="en-US" dirty="0"/>
          </a:p>
          <a:p>
            <a:pPr lvl="2"/>
            <a:r>
              <a:rPr lang="en-US" dirty="0"/>
              <a:t>NASA’s Jet Propulsion Laboratory (JPL) and Lockheed Martin used different assumptions.</a:t>
            </a:r>
          </a:p>
          <a:p>
            <a:pPr lvl="2"/>
            <a:r>
              <a:rPr lang="en-US" dirty="0"/>
              <a:t>Weak interface control documentation (ICD) let the error slip through.</a:t>
            </a:r>
          </a:p>
          <a:p>
            <a:r>
              <a:rPr lang="en-US" b="1" dirty="0"/>
              <a:t>Impact</a:t>
            </a:r>
          </a:p>
          <a:p>
            <a:pPr lvl="1"/>
            <a:r>
              <a:rPr lang="en-US" dirty="0"/>
              <a:t>The spacecraft burned up in Mars’ atmosphere on </a:t>
            </a:r>
            <a:r>
              <a:rPr lang="en-US" b="1" dirty="0"/>
              <a:t>September 23, 1999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Loss of $327M and critical science objectives.</a:t>
            </a:r>
          </a:p>
          <a:p>
            <a:pPr lvl="1"/>
            <a:r>
              <a:rPr lang="en-US" dirty="0"/>
              <a:t>Tarnished NASA’s Mars exploration program and caused restructuring in how missions handled </a:t>
            </a:r>
            <a:r>
              <a:rPr lang="en-US" b="1" dirty="0"/>
              <a:t>systems engineering, verification, and unit consistency</a:t>
            </a:r>
            <a:r>
              <a:rPr lang="en-US" dirty="0"/>
              <a:t>.</a:t>
            </a:r>
          </a:p>
          <a:p>
            <a:r>
              <a:rPr lang="en-US" b="1" dirty="0"/>
              <a:t>Takeaway</a:t>
            </a:r>
          </a:p>
          <a:p>
            <a:pPr lvl="1"/>
            <a:r>
              <a:rPr lang="en-US" dirty="0"/>
              <a:t>The Mars Climate Orbiter wasn’t lost due to a hardware defect or rocket failure, but because of </a:t>
            </a:r>
            <a:r>
              <a:rPr lang="en-US" b="1" dirty="0"/>
              <a:t>a simple unit conversion oversight</a:t>
            </a:r>
            <a:r>
              <a:rPr lang="en-US" dirty="0"/>
              <a:t> that propagated through the system unchecked.</a:t>
            </a:r>
          </a:p>
          <a:p>
            <a:pPr lvl="1"/>
            <a:r>
              <a:rPr lang="en-US" dirty="0"/>
              <a:t>It remains one of the best real-world examples to teach:</a:t>
            </a:r>
          </a:p>
          <a:p>
            <a:pPr lvl="1"/>
            <a:r>
              <a:rPr lang="en-US" dirty="0"/>
              <a:t>Importance of </a:t>
            </a:r>
            <a:r>
              <a:rPr lang="en-US" b="1" dirty="0"/>
              <a:t>calibration and metrology</a:t>
            </a:r>
            <a:r>
              <a:rPr lang="en-US" dirty="0"/>
              <a:t> (units matter!).</a:t>
            </a:r>
          </a:p>
          <a:p>
            <a:pPr lvl="1"/>
            <a:r>
              <a:rPr lang="en-US" dirty="0"/>
              <a:t>Rigorous </a:t>
            </a:r>
            <a:r>
              <a:rPr lang="en-US" b="1" dirty="0"/>
              <a:t>systems engineering</a:t>
            </a:r>
            <a:r>
              <a:rPr lang="en-US" dirty="0"/>
              <a:t> with interface control.</a:t>
            </a:r>
          </a:p>
          <a:p>
            <a:pPr lvl="1"/>
            <a:r>
              <a:rPr lang="en-US" dirty="0"/>
              <a:t>Value of </a:t>
            </a:r>
            <a:r>
              <a:rPr lang="en-US" b="1" dirty="0"/>
              <a:t>verification and validation</a:t>
            </a:r>
            <a:r>
              <a:rPr lang="en-US" dirty="0"/>
              <a:t> in mission 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7505" y="1287560"/>
            <a:ext cx="678899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600" dirty="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1/15/2026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1/15/2026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1/15/2026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1/15/2026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91" y="646510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1/15/2026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7693891" y="72097"/>
            <a:ext cx="1391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2025 Spring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46364" y="855395"/>
            <a:ext cx="9039409" cy="596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5" y="18574"/>
            <a:ext cx="734686" cy="8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YqfVE-fyk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adafruit.com/calibrating-sensors" TargetMode="Externa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scale.com/blog/nasa-mars-climate-orbiter-metric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k9egfWvb7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Lesson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Metrology</a:t>
            </a:r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0CE47-D77E-F8BF-B6AE-0FD1A6E34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hlinkClick r:id="rId3"/>
              </a:rPr>
              <a:t>Washington's Dream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E91FA-1503-F274-68A1-A7725D6C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7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F53A-1FF4-ABC6-E270-33FEAE7F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A7B2-A18A-037F-0D0A-700E7B4D3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2" y="2305431"/>
            <a:ext cx="8793015" cy="43422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/>
              <a:t>We can attempt to understand a state or parameter by taking a </a:t>
            </a:r>
            <a:r>
              <a:rPr lang="en-US" sz="2200" b="1" dirty="0"/>
              <a:t>measurement</a:t>
            </a:r>
            <a:r>
              <a:rPr lang="en-US" sz="2200" dirty="0"/>
              <a:t>.</a:t>
            </a:r>
          </a:p>
          <a:p>
            <a:pPr marL="457200" lvl="1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 </a:t>
            </a:r>
            <a:r>
              <a:rPr lang="en-US" sz="2200" dirty="0"/>
              <a:t>All measurements have some uncertainly though.</a:t>
            </a:r>
          </a:p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	 T</a:t>
            </a:r>
            <a:r>
              <a:rPr lang="en-US" sz="2200" dirty="0"/>
              <a:t>he best we can do is gain an </a:t>
            </a:r>
            <a:r>
              <a:rPr lang="en-US" sz="2200" b="1" i="1" u="sng" dirty="0"/>
              <a:t>estimate</a:t>
            </a:r>
            <a:r>
              <a:rPr lang="en-US" sz="2200" dirty="0"/>
              <a:t> of a state or parameter.</a:t>
            </a:r>
            <a:endParaRPr lang="en-US" b="1" dirty="0"/>
          </a:p>
          <a:p>
            <a:pPr marL="0" indent="0" algn="ctr">
              <a:buNone/>
            </a:pPr>
            <a:endParaRPr lang="en-US" b="1" i="1" dirty="0"/>
          </a:p>
          <a:p>
            <a:pPr marL="0" indent="0" algn="ctr">
              <a:buNone/>
            </a:pPr>
            <a:r>
              <a:rPr lang="en-US" b="1" i="1" dirty="0"/>
              <a:t>Metrology: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/>
              <a:t>the science of measurement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dirty="0"/>
              <a:t>Metrology encompasses:</a:t>
            </a:r>
          </a:p>
          <a:p>
            <a:r>
              <a:rPr lang="en-US" sz="2000" dirty="0"/>
              <a:t>Definition of units of measurement</a:t>
            </a:r>
          </a:p>
          <a:p>
            <a:r>
              <a:rPr lang="en-US" sz="2000" dirty="0"/>
              <a:t>Realization of these units of measurement in practice</a:t>
            </a:r>
          </a:p>
          <a:p>
            <a:r>
              <a:rPr lang="en-US" sz="2000" dirty="0"/>
              <a:t>Traceability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1A8F7-AFF0-61FC-4327-72294CDF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106BCE-E7FB-5E03-D04E-C00E4768D539}"/>
              </a:ext>
            </a:extLst>
          </p:cNvPr>
          <p:cNvSpPr txBox="1"/>
          <p:nvPr/>
        </p:nvSpPr>
        <p:spPr>
          <a:xfrm>
            <a:off x="1161535" y="1068353"/>
            <a:ext cx="6810144" cy="95410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We can never know the </a:t>
            </a:r>
            <a:r>
              <a:rPr lang="en-US" sz="2800" b="1" i="1" u="sng" dirty="0">
                <a:solidFill>
                  <a:srgbClr val="C00000"/>
                </a:solidFill>
              </a:rPr>
              <a:t>true</a:t>
            </a:r>
            <a:r>
              <a:rPr lang="en-US" sz="2800" b="1" dirty="0">
                <a:solidFill>
                  <a:srgbClr val="C00000"/>
                </a:solidFill>
              </a:rPr>
              <a:t> state or parameters of any system or object. </a:t>
            </a:r>
          </a:p>
        </p:txBody>
      </p:sp>
    </p:spTree>
    <p:extLst>
      <p:ext uri="{BB962C8B-B14F-4D97-AF65-F5344CB8AC3E}">
        <p14:creationId xmlns:p14="http://schemas.microsoft.com/office/powerpoint/2010/main" val="2963443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F2EE3-1BD9-E250-DB06-8DB57B4A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1843-F74D-9AEB-DE50-BBB36BB6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F0"/>
                </a:solidFill>
              </a:rPr>
              <a:t>"Any measurement that you make without the knowledge of its uncertainty is completely meaningless"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9BE0D-7914-DB82-E47E-383810B1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4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77B98B-81F4-B3FF-34D5-41D63944A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29876"/>
            <a:ext cx="4335985" cy="270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01650C-B9B5-F2C2-CFBE-2402DB6BF419}"/>
              </a:ext>
            </a:extLst>
          </p:cNvPr>
          <p:cNvSpPr txBox="1"/>
          <p:nvPr/>
        </p:nvSpPr>
        <p:spPr>
          <a:xfrm>
            <a:off x="238315" y="1818833"/>
            <a:ext cx="8705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Common statistical model used is that the error has two additive parts: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Random error: </a:t>
            </a:r>
            <a:r>
              <a:rPr lang="en-US" dirty="0"/>
              <a:t>Measurement variance from one observation to another.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Systematic error</a:t>
            </a:r>
            <a:r>
              <a:rPr lang="en-US" dirty="0"/>
              <a:t> </a:t>
            </a:r>
            <a:r>
              <a:rPr lang="en-US" b="1" dirty="0"/>
              <a:t>(bias)</a:t>
            </a:r>
            <a:r>
              <a:rPr lang="en-US" dirty="0"/>
              <a:t>: always occurs with the same value when we use the instrument in the same way and in the same case.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F44F18-F377-5464-65A9-FB7092BFFB51}"/>
                  </a:ext>
                </a:extLst>
              </p:cNvPr>
              <p:cNvSpPr txBox="1"/>
              <p:nvPr/>
            </p:nvSpPr>
            <p:spPr>
              <a:xfrm>
                <a:off x="4333685" y="3394016"/>
                <a:ext cx="4763951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600" dirty="0"/>
                  <a:t>Sensors are often approximated as linear systems:</a:t>
                </a:r>
              </a:p>
              <a:p>
                <a:pPr>
                  <a:buNone/>
                </a:pPr>
                <a:endParaRPr lang="en-US" sz="16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>
                  <a:buNone/>
                </a:pPr>
                <a:endParaRPr lang="en-US" sz="1600" dirty="0"/>
              </a:p>
              <a:p>
                <a:pPr>
                  <a:buNone/>
                </a:pPr>
                <a:r>
                  <a:rPr lang="en-US" sz="16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input (measured physical quantity, e.g., temperature, pressure, acceleration)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output (electrical signal, e.g., voltage, counts)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sensitivity (gain, scale factor, output/unit input)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bias (offset, zero error)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 noise (random error term)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F44F18-F377-5464-65A9-FB7092BFF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685" y="3394016"/>
                <a:ext cx="4763951" cy="3046988"/>
              </a:xfrm>
              <a:prstGeom prst="rect">
                <a:avLst/>
              </a:prstGeom>
              <a:blipFill>
                <a:blip r:embed="rId3"/>
                <a:stretch>
                  <a:fillRect l="-768" t="-600"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102E05-3BB1-88EA-8BAD-172B660558A4}"/>
              </a:ext>
            </a:extLst>
          </p:cNvPr>
          <p:cNvSpPr/>
          <p:nvPr/>
        </p:nvSpPr>
        <p:spPr>
          <a:xfrm rot="429053">
            <a:off x="8223957" y="2448849"/>
            <a:ext cx="409322" cy="859700"/>
          </a:xfrm>
          <a:custGeom>
            <a:avLst/>
            <a:gdLst>
              <a:gd name="connsiteX0" fmla="*/ 0 w 596310"/>
              <a:gd name="connsiteY0" fmla="*/ 0 h 609600"/>
              <a:gd name="connsiteX1" fmla="*/ 508000 w 596310"/>
              <a:gd name="connsiteY1" fmla="*/ 135466 h 609600"/>
              <a:gd name="connsiteX2" fmla="*/ 592667 w 596310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6310" h="609600">
                <a:moveTo>
                  <a:pt x="0" y="0"/>
                </a:moveTo>
                <a:cubicBezTo>
                  <a:pt x="204611" y="16933"/>
                  <a:pt x="409222" y="33866"/>
                  <a:pt x="508000" y="135466"/>
                </a:cubicBezTo>
                <a:cubicBezTo>
                  <a:pt x="606778" y="237066"/>
                  <a:pt x="599722" y="423333"/>
                  <a:pt x="592667" y="609600"/>
                </a:cubicBezTo>
              </a:path>
            </a:pathLst>
          </a:custGeom>
          <a:noFill/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5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619E8-7F1C-BB8D-EB45-AFB8323C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Sources of 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10674-D9D5-3A1C-F145-B57759DE8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Drift and Aging</a:t>
            </a:r>
          </a:p>
          <a:p>
            <a:r>
              <a:rPr lang="en-US" dirty="0"/>
              <a:t>Sensor characteristics change over time</a:t>
            </a:r>
          </a:p>
          <a:p>
            <a:r>
              <a:rPr lang="en-US" dirty="0"/>
              <a:t>Particularly important for long-duration missions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Environmental Sensitivities</a:t>
            </a:r>
          </a:p>
          <a:p>
            <a:r>
              <a:rPr lang="en-US" dirty="0"/>
              <a:t>Temperature</a:t>
            </a:r>
          </a:p>
          <a:p>
            <a:r>
              <a:rPr lang="en-US" dirty="0"/>
              <a:t>Radiation</a:t>
            </a:r>
          </a:p>
          <a:p>
            <a:r>
              <a:rPr lang="en-US" dirty="0"/>
              <a:t>Vibration and launch shock</a:t>
            </a:r>
          </a:p>
          <a:p>
            <a:r>
              <a:rPr lang="en-US" dirty="0"/>
              <a:t>Vacuum effects (outgassing, thermal gradients)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624B4-E31D-0ED9-883B-3B74BE86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75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AD6C-C1AE-2A85-585B-A7A8BA34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vs.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DD118-C7A0-1021-B9D7-721EBE8D5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Accuracy and precision describe observational error.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Accuracy</a:t>
            </a:r>
            <a:r>
              <a:rPr lang="en-US" sz="1800" dirty="0"/>
              <a:t>: how close a given set of measurements are to their true value </a:t>
            </a:r>
            <a:r>
              <a:rPr lang="en-US" sz="1800" dirty="0">
                <a:sym typeface="Wingdings" panose="05000000000000000000" pitchFamily="2" charset="2"/>
              </a:rPr>
              <a:t> Correctness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Precision</a:t>
            </a:r>
            <a:r>
              <a:rPr lang="en-US" sz="1800" dirty="0"/>
              <a:t>: how close the measurements are to each other—a measure of statistical variability)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Repeatability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59580-9B5D-ECAD-4706-27AAAE4E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What Is the Difference Between Accuracy and Precision?">
            <a:extLst>
              <a:ext uri="{FF2B5EF4-FFF2-40B4-BE49-F238E27FC236}">
                <a16:creationId xmlns:a16="http://schemas.microsoft.com/office/drawing/2014/main" id="{DA15E3F4-A18F-3A63-9305-DF0E052C6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69" y="3567113"/>
            <a:ext cx="4210565" cy="280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FB58A52-ABFE-CDE0-1BE1-5C152530D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234" y="3932238"/>
            <a:ext cx="4695766" cy="253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12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B4499-CB22-D852-7572-31DAD5E8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&amp; Digital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D4104-F4CB-E8E0-57B5-FA2845C4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Analog</a:t>
            </a:r>
            <a:r>
              <a:rPr lang="en-US" sz="2000" dirty="0"/>
              <a:t>: Continuous signal that can take on any value in a range.</a:t>
            </a:r>
          </a:p>
          <a:p>
            <a:pPr marL="0" indent="0">
              <a:buNone/>
            </a:pPr>
            <a:r>
              <a:rPr lang="en-US" sz="2000" b="1" dirty="0"/>
              <a:t>Digital</a:t>
            </a:r>
            <a:r>
              <a:rPr lang="en-US" sz="2000" dirty="0"/>
              <a:t>: Discrete signal with a finite set of values.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/>
              <a:t>Analog-to-Digital Converter (ADC): </a:t>
            </a:r>
            <a:r>
              <a:rPr lang="en-US" sz="1800" dirty="0"/>
              <a:t>converts continuous analog signal into a digital representation that can be processed, stored, or transmitted by digital systems.</a:t>
            </a:r>
          </a:p>
          <a:p>
            <a:pPr lvl="1"/>
            <a:r>
              <a:rPr lang="en-US" sz="1600" b="1" dirty="0"/>
              <a:t>Resolution: </a:t>
            </a:r>
            <a:r>
              <a:rPr lang="en-US" sz="1600" dirty="0"/>
              <a:t>smallest change in input signal that the ADC can detect, determined by the number of bits it uses to represent each measurement.</a:t>
            </a:r>
          </a:p>
          <a:p>
            <a:pPr lvl="2"/>
            <a:r>
              <a:rPr lang="en-US" sz="1200" dirty="0"/>
              <a:t>8-bit ADC → 2</a:t>
            </a:r>
            <a:r>
              <a:rPr lang="en-US" sz="1200" baseline="30000" dirty="0"/>
              <a:t>8 </a:t>
            </a:r>
            <a:r>
              <a:rPr lang="en-US" sz="1200" dirty="0"/>
              <a:t>= 256 levels</a:t>
            </a:r>
          </a:p>
          <a:p>
            <a:pPr lvl="2"/>
            <a:r>
              <a:rPr lang="en-US" sz="1200" dirty="0"/>
              <a:t>12-bit ADC → 2</a:t>
            </a:r>
            <a:r>
              <a:rPr lang="en-US" sz="1200" baseline="30000" dirty="0"/>
              <a:t>12 </a:t>
            </a:r>
            <a:r>
              <a:rPr lang="en-US" sz="1200" dirty="0"/>
              <a:t>= 4096 levels</a:t>
            </a:r>
          </a:p>
          <a:p>
            <a:pPr lvl="2"/>
            <a:r>
              <a:rPr lang="en-US" sz="1200" dirty="0"/>
              <a:t>16-bit ADC → 2</a:t>
            </a:r>
            <a:r>
              <a:rPr lang="en-US" sz="1200" baseline="30000" dirty="0"/>
              <a:t>16 </a:t>
            </a:r>
            <a:r>
              <a:rPr lang="en-US" sz="1200" dirty="0"/>
              <a:t>= 65,536 levels</a:t>
            </a:r>
          </a:p>
          <a:p>
            <a:pPr lvl="1"/>
            <a:r>
              <a:rPr lang="en-US" sz="1600" b="1" dirty="0"/>
              <a:t>Quantization error</a:t>
            </a:r>
            <a:r>
              <a:rPr lang="en-US" sz="1600" dirty="0"/>
              <a:t>: the difference between the actual value of an analog signal and the nearest digital value assigned to it during analog-to-digital conversion.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B0E39-1CA3-F545-567C-12F55A758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5CFC10-1D56-9C0C-3014-99F1FC825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39" y="4540570"/>
            <a:ext cx="4833744" cy="231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2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64F3-68C8-E48B-6962-8B5DBD1A8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Discretization/Quantization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5FD7A-F285-2B2C-2477-3EE58DFB9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002507"/>
            <a:ext cx="8793015" cy="3043732"/>
          </a:xfrm>
        </p:spPr>
        <p:txBody>
          <a:bodyPr>
            <a:normAutofit/>
          </a:bodyPr>
          <a:lstStyle/>
          <a:p>
            <a:r>
              <a:rPr lang="en-US" sz="1800" b="1" dirty="0"/>
              <a:t>Discretization</a:t>
            </a:r>
            <a:r>
              <a:rPr lang="en-US" sz="1800" dirty="0"/>
              <a:t>: process of converting a continuous signal into a sequence of values defined at discrete points in time (sampling).</a:t>
            </a:r>
          </a:p>
          <a:p>
            <a:pPr marL="457200" lvl="1" indent="0">
              <a:buNone/>
            </a:pPr>
            <a:r>
              <a:rPr lang="en-US" sz="1400" dirty="0">
                <a:sym typeface="Wingdings" panose="05000000000000000000" pitchFamily="2" charset="2"/>
              </a:rPr>
              <a:t> Sample at fixed intervals</a:t>
            </a:r>
            <a:endParaRPr lang="en-US" sz="1400" dirty="0"/>
          </a:p>
          <a:p>
            <a:r>
              <a:rPr lang="en-US" sz="1800" b="1" dirty="0"/>
              <a:t>Quantization: </a:t>
            </a:r>
            <a:r>
              <a:rPr lang="en-US" sz="1800" dirty="0"/>
              <a:t>The process of mapping a continuous range of values into a finite set of discrete levels.</a:t>
            </a:r>
          </a:p>
          <a:p>
            <a:pPr marL="457200" lvl="1" indent="0">
              <a:buNone/>
            </a:pPr>
            <a:r>
              <a:rPr lang="en-US" sz="1400" dirty="0">
                <a:sym typeface="Wingdings" panose="05000000000000000000" pitchFamily="2" charset="2"/>
              </a:rPr>
              <a:t> Round values to fixed levels</a:t>
            </a:r>
            <a:endParaRPr lang="en-US" sz="1400" dirty="0"/>
          </a:p>
          <a:p>
            <a:pPr marL="0" indent="0">
              <a:buNone/>
            </a:pPr>
            <a:r>
              <a:rPr lang="en-US" sz="1800" dirty="0"/>
              <a:t>Together, these steps transform an </a:t>
            </a:r>
            <a:r>
              <a:rPr lang="en-US" sz="1800" b="1" dirty="0"/>
              <a:t>analog signal</a:t>
            </a:r>
            <a:r>
              <a:rPr lang="en-US" sz="1800" dirty="0"/>
              <a:t> into a </a:t>
            </a:r>
            <a:r>
              <a:rPr lang="en-US" sz="1800" b="1" dirty="0"/>
              <a:t>digital signal</a:t>
            </a:r>
            <a:r>
              <a:rPr lang="en-US" sz="1800" dirty="0"/>
              <a:t> that can be processed by embedded systems (analog to digital conversion </a:t>
            </a:r>
            <a:r>
              <a:rPr lang="en-US" sz="1800" dirty="0">
                <a:sym typeface="Wingdings" panose="05000000000000000000" pitchFamily="2" charset="2"/>
              </a:rPr>
              <a:t> ADC).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F9F41-E62B-A6A9-FC50-64450710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 descr="analog - In digital systems do we discretize both time and magnitude or  only time? - Electrical Engineering Stack Exchange">
            <a:extLst>
              <a:ext uri="{FF2B5EF4-FFF2-40B4-BE49-F238E27FC236}">
                <a16:creationId xmlns:a16="http://schemas.microsoft.com/office/drawing/2014/main" id="{83AA110C-CED6-54C6-9D04-42CCD132E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858" y="3391810"/>
            <a:ext cx="4956283" cy="34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792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381C-4F13-2B6F-E1FC-62E64D872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Hysteresis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03188-73C6-56D8-F799-9CD0429A3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Hysteresis:</a:t>
            </a:r>
            <a:r>
              <a:rPr lang="en-US" sz="2400" dirty="0"/>
              <a:t> sensor's output depends on its input's history, causing a difference between the input value that triggers an "on" state and the value that triggers an "off" state.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FFC45-7B8E-FC48-B5C9-36C437DD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9</a:t>
            </a:fld>
            <a:endParaRPr lang="en-US"/>
          </a:p>
        </p:txBody>
      </p:sp>
      <p:pic>
        <p:nvPicPr>
          <p:cNvPr id="1029" name="Picture 5" descr="Hysteresis in pressure calibration: What you need to know">
            <a:extLst>
              <a:ext uri="{FF2B5EF4-FFF2-40B4-BE49-F238E27FC236}">
                <a16:creationId xmlns:a16="http://schemas.microsoft.com/office/drawing/2014/main" id="{B937D859-9033-DF36-D4DB-BC7B49AA0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993" y="2152736"/>
            <a:ext cx="5422013" cy="449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794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F377-1704-6A80-DAA7-FFAADF5A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8FFF2-A5B5-D570-5CC9-C5FEF0C8D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Difference between the actual value of an analog signal and the nearest digital value assigned to it during analog-to-digital conversion.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Too few quantization levels = Large quantization error, poor signal fidelity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0B771-E454-7DB6-833D-E6535BAE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10</a:t>
            </a:fld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D57CB23-E8C5-DBB5-1C3A-9DD5315C38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34"/>
          <a:stretch/>
        </p:blipFill>
        <p:spPr>
          <a:xfrm>
            <a:off x="76691" y="4201297"/>
            <a:ext cx="4712681" cy="2137323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6B4A980-8C26-A4A8-F72B-252B155A1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843" y="3867665"/>
            <a:ext cx="3757704" cy="257951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A7B07F5-6090-3E64-14F6-7AC15077E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99" y="2142649"/>
            <a:ext cx="894667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Spaceflight 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 tracker brightness: Low ADC resolution → faint stars may be lost in quantization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system telemetry: Quantization error can hide small voltage/current variations in spacecraft batteries.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Communications: Quantization noise limits dynamic range in digital signal processing for radios and telemetry.</a:t>
            </a:r>
          </a:p>
        </p:txBody>
      </p:sp>
    </p:spTree>
    <p:extLst>
      <p:ext uri="{BB962C8B-B14F-4D97-AF65-F5344CB8AC3E}">
        <p14:creationId xmlns:p14="http://schemas.microsoft.com/office/powerpoint/2010/main" val="221185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C18BBD-6C76-4C1D-9226-9F8AE5AF787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440" y="987465"/>
            <a:ext cx="4742875" cy="313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4CCBCC-F768-A67B-FD0F-915780FAD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 Error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45625-57FC-C33B-4CAF-49EC056D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D2F5F7A1-2948-5354-427B-4CF869CA61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206237"/>
              </p:ext>
            </p:extLst>
          </p:nvPr>
        </p:nvGraphicFramePr>
        <p:xfrm>
          <a:off x="4810316" y="1315413"/>
          <a:ext cx="4112268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756">
                  <a:extLst>
                    <a:ext uri="{9D8B030D-6E8A-4147-A177-3AD203B41FA5}">
                      <a16:colId xmlns:a16="http://schemas.microsoft.com/office/drawing/2014/main" val="3502407072"/>
                    </a:ext>
                  </a:extLst>
                </a:gridCol>
                <a:gridCol w="1370756">
                  <a:extLst>
                    <a:ext uri="{9D8B030D-6E8A-4147-A177-3AD203B41FA5}">
                      <a16:colId xmlns:a16="http://schemas.microsoft.com/office/drawing/2014/main" val="783683472"/>
                    </a:ext>
                  </a:extLst>
                </a:gridCol>
                <a:gridCol w="1370756">
                  <a:extLst>
                    <a:ext uri="{9D8B030D-6E8A-4147-A177-3AD203B41FA5}">
                      <a16:colId xmlns:a16="http://schemas.microsoft.com/office/drawing/2014/main" val="318513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Analog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Discrete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Max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25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0-4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33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4-8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49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8-12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499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12-16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14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28569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00670FC-A5AD-1328-2554-F709058DD973}"/>
              </a:ext>
            </a:extLst>
          </p:cNvPr>
          <p:cNvSpPr txBox="1"/>
          <p:nvPr/>
        </p:nvSpPr>
        <p:spPr>
          <a:xfrm>
            <a:off x="2764463" y="1765303"/>
            <a:ext cx="18411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70C0"/>
                </a:solidFill>
              </a:rPr>
              <a:t>Analog signal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DEA826-A246-1DAE-414D-97C087C941A5}"/>
              </a:ext>
            </a:extLst>
          </p:cNvPr>
          <p:cNvSpPr txBox="1"/>
          <p:nvPr/>
        </p:nvSpPr>
        <p:spPr>
          <a:xfrm>
            <a:off x="4962716" y="342899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many bits is this example?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2 bits/4 levels (</a:t>
            </a:r>
            <a:r>
              <a:rPr lang="en-US" i="1" dirty="0"/>
              <a:t>n </a:t>
            </a:r>
            <a:r>
              <a:rPr lang="en-US" dirty="0"/>
              <a:t>= 2)</a:t>
            </a:r>
            <a:endParaRPr lang="en-US" i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07BC3BC-84BE-1B10-6CAB-9A38365D2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444" y="4505420"/>
            <a:ext cx="6001588" cy="2181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43F325-5298-F098-85A7-77B06DBFA6B0}"/>
              </a:ext>
            </a:extLst>
          </p:cNvPr>
          <p:cNvSpPr txBox="1"/>
          <p:nvPr/>
        </p:nvSpPr>
        <p:spPr>
          <a:xfrm>
            <a:off x="163339" y="3325360"/>
            <a:ext cx="679403" cy="38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0 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2DFB9-5D52-E5C4-D3AE-FF6FAFBE2816}"/>
              </a:ext>
            </a:extLst>
          </p:cNvPr>
          <p:cNvSpPr txBox="1"/>
          <p:nvPr/>
        </p:nvSpPr>
        <p:spPr>
          <a:xfrm>
            <a:off x="73790" y="1080419"/>
            <a:ext cx="938843" cy="38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16 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CAAEBB-ACD7-4730-8B32-C989C8D73129}"/>
              </a:ext>
            </a:extLst>
          </p:cNvPr>
          <p:cNvSpPr txBox="1"/>
          <p:nvPr/>
        </p:nvSpPr>
        <p:spPr>
          <a:xfrm>
            <a:off x="5945871" y="987465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Option 2</a:t>
            </a:r>
          </a:p>
        </p:txBody>
      </p:sp>
    </p:spTree>
    <p:extLst>
      <p:ext uri="{BB962C8B-B14F-4D97-AF65-F5344CB8AC3E}">
        <p14:creationId xmlns:p14="http://schemas.microsoft.com/office/powerpoint/2010/main" val="2062599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AB17-D9F3-39BF-66B2-E71F8633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Frequency</a:t>
            </a:r>
          </a:p>
        </p:txBody>
      </p:sp>
      <p:pic>
        <p:nvPicPr>
          <p:cNvPr id="6" name="Content Placeholder 5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C26B029E-0C28-D221-28CE-6E95D201A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857" y="3951374"/>
            <a:ext cx="4318286" cy="287885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A0600-097F-E872-348E-4C3E483E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FEAF48-72AF-67D3-51FA-1DBE05B6F3DC}"/>
                  </a:ext>
                </a:extLst>
              </p:cNvPr>
              <p:cNvSpPr txBox="1"/>
              <p:nvPr/>
            </p:nvSpPr>
            <p:spPr>
              <a:xfrm>
                <a:off x="238315" y="944082"/>
                <a:ext cx="8515351" cy="28754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Sampling frequency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dirty="0"/>
                  <a:t>): number of samples taken </a:t>
                </a:r>
                <a:r>
                  <a:rPr lang="en-US" b="1" dirty="0"/>
                  <a:t>per second</a:t>
                </a:r>
                <a:r>
                  <a:rPr lang="en-US" dirty="0"/>
                  <a:t> when converting a continuous-time analog signal into a discrete-time digital signal.</a:t>
                </a: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b="1" dirty="0"/>
                  <a:t>Nyquist Frequency: </a:t>
                </a:r>
                <a:r>
                  <a:rPr lang="en-US" dirty="0"/>
                  <a:t>To reconstruct a signal accurately, the sampling frequency must be at least twice the highest frequency present in the signal.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Too low sampling rate → </a:t>
                </a:r>
                <a:r>
                  <a:rPr lang="en-US" b="1" dirty="0"/>
                  <a:t>Aliasing</a:t>
                </a:r>
                <a:r>
                  <a:rPr lang="en-US" dirty="0"/>
                  <a:t> (distorted signal representation).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FEAF48-72AF-67D3-51FA-1DBE05B6F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15" y="944082"/>
                <a:ext cx="8515351" cy="2875403"/>
              </a:xfrm>
              <a:prstGeom prst="rect">
                <a:avLst/>
              </a:prstGeom>
              <a:blipFill>
                <a:blip r:embed="rId4"/>
                <a:stretch>
                  <a:fillRect l="-573" t="-1059" r="-716" b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0FB47A-3CD2-E78F-FF82-26E9D43CF9D9}"/>
                  </a:ext>
                </a:extLst>
              </p:cNvPr>
              <p:cNvSpPr txBox="1"/>
              <p:nvPr/>
            </p:nvSpPr>
            <p:spPr>
              <a:xfrm>
                <a:off x="5449329" y="1645476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dirty="0"/>
                  <a:t> - Sampling Period (sec)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0FB47A-3CD2-E78F-FF82-26E9D43CF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329" y="1645476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B967C8-F394-0BE5-73E6-B3B5C2D37133}"/>
                  </a:ext>
                </a:extLst>
              </p:cNvPr>
              <p:cNvSpPr txBox="1"/>
              <p:nvPr/>
            </p:nvSpPr>
            <p:spPr>
              <a:xfrm>
                <a:off x="5449329" y="2874901"/>
                <a:ext cx="50106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- max frequency in signal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B967C8-F394-0BE5-73E6-B3B5C2D37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329" y="2874901"/>
                <a:ext cx="5010664" cy="369332"/>
              </a:xfrm>
              <a:prstGeom prst="rect">
                <a:avLst/>
              </a:prstGeom>
              <a:blipFill>
                <a:blip r:embed="rId6"/>
                <a:stretch>
                  <a:fillRect l="-365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AD5FC10-7DF4-5D5F-081B-422620C19770}"/>
              </a:ext>
            </a:extLst>
          </p:cNvPr>
          <p:cNvSpPr txBox="1"/>
          <p:nvPr/>
        </p:nvSpPr>
        <p:spPr>
          <a:xfrm>
            <a:off x="450175" y="3951374"/>
            <a:ext cx="1841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Actual signal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7FD50-3D3D-2D82-C301-845B1AA7C694}"/>
              </a:ext>
            </a:extLst>
          </p:cNvPr>
          <p:cNvSpPr txBox="1"/>
          <p:nvPr/>
        </p:nvSpPr>
        <p:spPr>
          <a:xfrm>
            <a:off x="268996" y="5590752"/>
            <a:ext cx="1841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Reconstructed signal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711DC8-ABD1-7C29-460F-FC907734A92A}"/>
              </a:ext>
            </a:extLst>
          </p:cNvPr>
          <p:cNvCxnSpPr/>
          <p:nvPr/>
        </p:nvCxnSpPr>
        <p:spPr>
          <a:xfrm>
            <a:off x="2110153" y="4136040"/>
            <a:ext cx="410308" cy="18466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40CAF0-DB78-A1C4-8BEA-F72E65E0A8C5}"/>
              </a:ext>
            </a:extLst>
          </p:cNvPr>
          <p:cNvCxnSpPr>
            <a:cxnSpLocks/>
          </p:cNvCxnSpPr>
          <p:nvPr/>
        </p:nvCxnSpPr>
        <p:spPr>
          <a:xfrm>
            <a:off x="2056351" y="5814646"/>
            <a:ext cx="258956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A5EC09-8FDD-ED80-4F11-35A885335B02}"/>
              </a:ext>
            </a:extLst>
          </p:cNvPr>
          <p:cNvSpPr txBox="1"/>
          <p:nvPr/>
        </p:nvSpPr>
        <p:spPr>
          <a:xfrm>
            <a:off x="-683454" y="4829762"/>
            <a:ext cx="4108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Dots = measurements</a:t>
            </a:r>
          </a:p>
        </p:txBody>
      </p:sp>
    </p:spTree>
    <p:extLst>
      <p:ext uri="{BB962C8B-B14F-4D97-AF65-F5344CB8AC3E}">
        <p14:creationId xmlns:p14="http://schemas.microsoft.com/office/powerpoint/2010/main" val="735775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540E-9199-6947-2438-35A51C91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Frequency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EE2C4-D9DE-F9A1-E25A-56B2E86A9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13</a:t>
            </a:fld>
            <a:endParaRPr 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476ECF3-7A57-D491-C3EB-A3BF650F3B6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8094" y="891295"/>
            <a:ext cx="5947812" cy="63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449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1B81-EAED-2543-9418-85138D98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10D90-194C-2928-A95F-8E08583AC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2" y="1014863"/>
            <a:ext cx="8793015" cy="5843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 measurement must be able to be linked back, through a chain of calibrations, to internationally recognized standards.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Example of a Traceability Chain</a:t>
            </a:r>
          </a:p>
          <a:p>
            <a:pPr marL="0" indent="0">
              <a:buNone/>
            </a:pPr>
            <a:r>
              <a:rPr lang="en-US" sz="1600" dirty="0"/>
              <a:t>Temperature measured by a spacecraft sensor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dirty="0"/>
              <a:t>Sensor calibrated against a reference thermometer </a:t>
            </a:r>
          </a:p>
          <a:p>
            <a:pPr marL="0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   </a:t>
            </a:r>
            <a:r>
              <a:rPr lang="en-US" sz="1600" dirty="0"/>
              <a:t>Reference thermometer calibrated against a national standards lab (e.g. </a:t>
            </a:r>
            <a:r>
              <a:rPr lang="en-US" sz="1600" dirty="0">
                <a:hlinkClick r:id="rId3"/>
              </a:rPr>
              <a:t>NIST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dirty="0"/>
              <a:t>National standard linked to the SI definition of the kelvin.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9925C-813C-5DBF-09A0-518A17A4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14</a:t>
            </a:fld>
            <a:endParaRPr lang="en-US"/>
          </a:p>
        </p:txBody>
      </p:sp>
      <p:pic>
        <p:nvPicPr>
          <p:cNvPr id="3074" name="Picture 2" descr="IPK under a glass dome">
            <a:extLst>
              <a:ext uri="{FF2B5EF4-FFF2-40B4-BE49-F238E27FC236}">
                <a16:creationId xmlns:a16="http://schemas.microsoft.com/office/drawing/2014/main" id="{D3B1EB18-9466-4E6D-C308-D98F81A0E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449" y="1935764"/>
            <a:ext cx="2725058" cy="33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E863DD-81FC-E4C4-DC20-47BE84919DC1}"/>
              </a:ext>
            </a:extLst>
          </p:cNvPr>
          <p:cNvSpPr txBox="1"/>
          <p:nvPr/>
        </p:nvSpPr>
        <p:spPr>
          <a:xfrm>
            <a:off x="5396592" y="1834979"/>
            <a:ext cx="272505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00B0F0"/>
                </a:solidFill>
                <a:effectLst/>
                <a:latin typeface="Source Sans Pro Web"/>
              </a:rPr>
              <a:t>The International Prototype Kilogram, aka </a:t>
            </a:r>
            <a:r>
              <a:rPr lang="en-US" sz="1400" b="1" i="1" dirty="0">
                <a:solidFill>
                  <a:srgbClr val="00B0F0"/>
                </a:solidFill>
                <a:effectLst/>
                <a:latin typeface="Source Sans Pro Web"/>
              </a:rPr>
              <a:t>Le Grand K</a:t>
            </a:r>
            <a:r>
              <a:rPr lang="en-US" sz="1400" b="1" i="0" dirty="0">
                <a:solidFill>
                  <a:srgbClr val="00B0F0"/>
                </a:solidFill>
                <a:effectLst/>
                <a:latin typeface="Source Sans Pro Web"/>
              </a:rPr>
              <a:t>.</a:t>
            </a:r>
            <a:endParaRPr lang="en-US" sz="1400" b="1" dirty="0">
              <a:solidFill>
                <a:srgbClr val="00B0F0"/>
              </a:solidFill>
            </a:endParaRPr>
          </a:p>
        </p:txBody>
      </p:sp>
      <p:pic>
        <p:nvPicPr>
          <p:cNvPr id="3076" name="Picture 4" descr="Meter Bar 27">
            <a:extLst>
              <a:ext uri="{FF2B5EF4-FFF2-40B4-BE49-F238E27FC236}">
                <a16:creationId xmlns:a16="http://schemas.microsoft.com/office/drawing/2014/main" id="{1D19A594-F6A4-DADC-D524-E183A38A6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30" y="1692171"/>
            <a:ext cx="4713833" cy="314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E71336-57C7-9761-7182-FC7FBF361F50}"/>
              </a:ext>
            </a:extLst>
          </p:cNvPr>
          <p:cNvSpPr txBox="1"/>
          <p:nvPr/>
        </p:nvSpPr>
        <p:spPr>
          <a:xfrm>
            <a:off x="1789453" y="4206815"/>
            <a:ext cx="4324867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US" sz="1400" b="1" i="0" dirty="0">
                <a:solidFill>
                  <a:srgbClr val="00B0F0"/>
                </a:solidFill>
                <a:effectLst/>
                <a:latin typeface="Source Sans Pro Web"/>
                <a:sym typeface="Wingdings" panose="05000000000000000000" pitchFamily="2" charset="2"/>
              </a:rPr>
              <a:t> </a:t>
            </a:r>
            <a:r>
              <a:rPr lang="en-US" sz="1400" b="1" i="0" dirty="0">
                <a:solidFill>
                  <a:srgbClr val="00B0F0"/>
                </a:solidFill>
                <a:effectLst/>
                <a:latin typeface="Source Sans Pro Web"/>
              </a:rPr>
              <a:t>certified to have a length of:</a:t>
            </a:r>
          </a:p>
          <a:p>
            <a:pPr algn="l">
              <a:buNone/>
            </a:pPr>
            <a:r>
              <a:rPr lang="en-US" sz="1400" b="1" i="0" dirty="0">
                <a:solidFill>
                  <a:srgbClr val="00B0F0"/>
                </a:solidFill>
                <a:effectLst/>
                <a:latin typeface="Source Sans Pro Web"/>
              </a:rPr>
              <a:t>1 m-1.6 µm + 8.657 µm*T + 0.001 µm*T2 ± 0.2 µm</a:t>
            </a:r>
          </a:p>
          <a:p>
            <a:pPr algn="l">
              <a:buNone/>
            </a:pPr>
            <a:r>
              <a:rPr lang="en-US" sz="1400" b="1" i="0" dirty="0">
                <a:solidFill>
                  <a:srgbClr val="00B0F0"/>
                </a:solidFill>
                <a:effectLst/>
                <a:latin typeface="Source Sans Pro Web"/>
              </a:rPr>
              <a:t>(T </a:t>
            </a:r>
            <a:r>
              <a:rPr lang="en-US" sz="1400" b="1" dirty="0">
                <a:solidFill>
                  <a:srgbClr val="00B0F0"/>
                </a:solidFill>
                <a:latin typeface="Source Sans Pro Web"/>
              </a:rPr>
              <a:t>=</a:t>
            </a:r>
            <a:r>
              <a:rPr lang="en-US" sz="1400" b="1" i="0" dirty="0">
                <a:solidFill>
                  <a:srgbClr val="00B0F0"/>
                </a:solidFill>
                <a:effectLst/>
                <a:latin typeface="Source Sans Pro Web"/>
              </a:rPr>
              <a:t> temp deg C)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3EDF0-5947-D648-5AA4-AB8375702257}"/>
              </a:ext>
            </a:extLst>
          </p:cNvPr>
          <p:cNvSpPr txBox="1"/>
          <p:nvPr/>
        </p:nvSpPr>
        <p:spPr>
          <a:xfrm>
            <a:off x="482000" y="1974077"/>
            <a:ext cx="4324867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400" b="1" i="0">
                <a:solidFill>
                  <a:srgbClr val="00B0F0"/>
                </a:solidFill>
                <a:effectLst/>
                <a:latin typeface="Source Sans Pro Web"/>
              </a:defRPr>
            </a:lvl1pPr>
          </a:lstStyle>
          <a:p>
            <a:pPr algn="ctr"/>
            <a:r>
              <a:rPr lang="en-US" dirty="0"/>
              <a:t>International Meter. National Prototype No. 27</a:t>
            </a:r>
          </a:p>
        </p:txBody>
      </p:sp>
    </p:spTree>
    <p:extLst>
      <p:ext uri="{BB962C8B-B14F-4D97-AF65-F5344CB8AC3E}">
        <p14:creationId xmlns:p14="http://schemas.microsoft.com/office/powerpoint/2010/main" val="992525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9274E-3A39-43BC-C676-E367B614B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FF78F-8C88-AC68-5CF8-146465B34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61" y="1828800"/>
            <a:ext cx="5656716" cy="44012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/>
              <a:t>Types of Calibration</a:t>
            </a:r>
          </a:p>
          <a:p>
            <a:r>
              <a:rPr lang="en-US" sz="1600" dirty="0"/>
              <a:t>Factory Calibration: Done by the manufacturer before shipping.</a:t>
            </a:r>
          </a:p>
          <a:p>
            <a:r>
              <a:rPr lang="en-US" sz="1600" dirty="0"/>
              <a:t>One-point Calibration: Sets offset at a single reference value.</a:t>
            </a:r>
          </a:p>
          <a:p>
            <a:r>
              <a:rPr lang="en-US" sz="1600" dirty="0"/>
              <a:t>Multi-point Calibration: Uses several reference points to map non-linearities.</a:t>
            </a:r>
          </a:p>
          <a:p>
            <a:r>
              <a:rPr lang="en-US" sz="1600" dirty="0"/>
              <a:t>Field Calibration: Performed in the operating environment to correct for drift or environmental effects.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General Calibration Process</a:t>
            </a:r>
          </a:p>
          <a:p>
            <a:pPr marL="342900" indent="-342900">
              <a:buAutoNum type="arabicParenBoth"/>
            </a:pPr>
            <a:r>
              <a:rPr lang="en-US" sz="1600" dirty="0"/>
              <a:t>Define the measurement range and accuracy requirements.</a:t>
            </a:r>
          </a:p>
          <a:p>
            <a:pPr marL="342900" indent="-342900">
              <a:buAutoNum type="arabicParenBoth"/>
            </a:pPr>
            <a:r>
              <a:rPr lang="en-US" sz="1600" dirty="0"/>
              <a:t>Expose the device to known reference values (e.g., temperature, pressure, voltage).</a:t>
            </a:r>
          </a:p>
          <a:p>
            <a:pPr marL="342900" indent="-342900">
              <a:buAutoNum type="arabicParenBoth"/>
            </a:pPr>
            <a:r>
              <a:rPr lang="en-US" sz="1600" dirty="0"/>
              <a:t>Record sensor outputs vs. reference values.</a:t>
            </a:r>
          </a:p>
          <a:p>
            <a:pPr marL="342900" indent="-342900">
              <a:buAutoNum type="arabicParenBoth"/>
            </a:pPr>
            <a:r>
              <a:rPr lang="en-US" sz="1600" dirty="0"/>
              <a:t>Compute calibration coefficients (offset, scale factor, non-linearity).</a:t>
            </a:r>
          </a:p>
          <a:p>
            <a:pPr marL="342900" indent="-342900">
              <a:buAutoNum type="arabicParenBoth"/>
            </a:pPr>
            <a:r>
              <a:rPr lang="en-US" sz="1600" dirty="0"/>
              <a:t>Apply corrections in hardware or software.</a:t>
            </a:r>
          </a:p>
          <a:p>
            <a:pPr marL="342900" indent="-342900">
              <a:buAutoNum type="arabicParenBoth"/>
            </a:pPr>
            <a:r>
              <a:rPr lang="en-US" sz="1600" dirty="0"/>
              <a:t>Document results for traceability.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FFE2E-DD4C-02CA-5AFF-FE690408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0193F-A327-1945-2E57-E0F076D0DCBF}"/>
              </a:ext>
            </a:extLst>
          </p:cNvPr>
          <p:cNvSpPr txBox="1"/>
          <p:nvPr/>
        </p:nvSpPr>
        <p:spPr>
          <a:xfrm>
            <a:off x="73597" y="983926"/>
            <a:ext cx="89194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The process of comparing output of a measurement instrument against a known standard and adjusting it to reduce errors.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13E1D4-7E47-D4D0-07B0-59C36F067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677" y="1237174"/>
            <a:ext cx="2840787" cy="2741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8478D063-28B9-7F01-6E2E-95FF3C28F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677" y="4116642"/>
            <a:ext cx="2840785" cy="274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969A0E-9404-70CB-CFD8-493177E5147E}"/>
              </a:ext>
            </a:extLst>
          </p:cNvPr>
          <p:cNvSpPr txBox="1"/>
          <p:nvPr/>
        </p:nvSpPr>
        <p:spPr>
          <a:xfrm>
            <a:off x="7228069" y="2964179"/>
            <a:ext cx="186956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400" b="1" i="0">
                <a:solidFill>
                  <a:srgbClr val="00B0F0"/>
                </a:solidFill>
                <a:effectLst/>
                <a:latin typeface="Source Sans Pro Web"/>
              </a:defRPr>
            </a:lvl1pPr>
          </a:lstStyle>
          <a:p>
            <a:pPr algn="ctr"/>
            <a:r>
              <a:rPr lang="en-US" sz="1200" dirty="0"/>
              <a:t>One-point Calibration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5D340-1EE6-60DD-5C87-84F380D4D53F}"/>
              </a:ext>
            </a:extLst>
          </p:cNvPr>
          <p:cNvSpPr txBox="1"/>
          <p:nvPr/>
        </p:nvSpPr>
        <p:spPr>
          <a:xfrm>
            <a:off x="7228068" y="5874074"/>
            <a:ext cx="186956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400" b="1" i="0">
                <a:solidFill>
                  <a:srgbClr val="00B0F0"/>
                </a:solidFill>
                <a:effectLst/>
                <a:latin typeface="Source Sans Pro Web"/>
              </a:defRPr>
            </a:lvl1pPr>
          </a:lstStyle>
          <a:p>
            <a:pPr algn="ctr"/>
            <a:r>
              <a:rPr lang="en-US" sz="1200" dirty="0"/>
              <a:t>Two-point Calibration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24B52-5090-A30F-116A-CF29CD363DBF}"/>
              </a:ext>
            </a:extLst>
          </p:cNvPr>
          <p:cNvSpPr txBox="1"/>
          <p:nvPr/>
        </p:nvSpPr>
        <p:spPr>
          <a:xfrm>
            <a:off x="433828" y="6296281"/>
            <a:ext cx="5373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https://learn.adafruit.com/calibrating-sensors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71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317E-4C33-1944-393D-37AA2A50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and Estimation as Metrology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3D578-2784-E646-14D3-1D4C35E0B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Sensors Alone Are Not Enough</a:t>
            </a:r>
          </a:p>
          <a:p>
            <a:r>
              <a:rPr lang="en-US" dirty="0"/>
              <a:t>Raw measurements are rarely usable directly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Role of Estimation</a:t>
            </a:r>
          </a:p>
          <a:p>
            <a:r>
              <a:rPr lang="en-US" dirty="0"/>
              <a:t>Sensor fusion</a:t>
            </a:r>
          </a:p>
          <a:p>
            <a:r>
              <a:rPr lang="en-US" dirty="0"/>
              <a:t>Bias estimation</a:t>
            </a:r>
          </a:p>
          <a:p>
            <a:r>
              <a:rPr lang="en-US" dirty="0"/>
              <a:t>Noise filtering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IMU + star tracker + estimator outperform either sensor alone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2016D-D494-B6FC-18D5-F523A608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78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01348-95EE-1A28-7353-6A67608B5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hlinkClick r:id="rId3"/>
              </a:rPr>
              <a:t>When NASA Lost a Spacecraft Due to a Metric Math Mistake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35FD4-107B-30D6-866D-FD13E9DF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68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8A750-2DE3-99FF-4209-DF498B10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EF7CF-8275-A8E0-0459-7758445A8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hlinkClick r:id="rId2"/>
              </a:rPr>
              <a:t>World's Heaviest Weight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74DCB-C572-4606-679D-88D1B437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16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aab13084cbfb645f826f7dc6731109d6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2636cc15ff2f3d2629ecec77a65aea39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86B8C-FFD3-47CE-9E8F-4104A49DEB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96DB7C-76B3-472D-8F6F-C8E69FE568F8}">
  <ds:schemaRefs>
    <ds:schemaRef ds:uri="http://schemas.microsoft.com/office/2006/documentManagement/types"/>
    <ds:schemaRef ds:uri="http://purl.org/dc/terms/"/>
    <ds:schemaRef ds:uri="http://www.w3.org/XML/1998/namespace"/>
    <ds:schemaRef ds:uri="c2d23aaa-6876-4856-882c-18271699c7a8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purl.org/dc/elements/1.1/"/>
    <ds:schemaRef ds:uri="http://schemas.microsoft.com/sharepoint/v3"/>
    <ds:schemaRef ds:uri="723aa48c-73f2-40da-86b1-f1ae286477fe"/>
    <ds:schemaRef ds:uri="7584c457-6b5a-4caa-be47-be979cbe6555"/>
  </ds:schemaRefs>
</ds:datastoreItem>
</file>

<file path=customXml/itemProps3.xml><?xml version="1.0" encoding="utf-8"?>
<ds:datastoreItem xmlns:ds="http://schemas.openxmlformats.org/officeDocument/2006/customXml" ds:itemID="{0057E3D5-55E4-4E79-AB92-1A2011FF82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22502</TotalTime>
  <Words>1752</Words>
  <Application>Microsoft Office PowerPoint</Application>
  <PresentationFormat>Letter Paper (8.5x11 in)</PresentationFormat>
  <Paragraphs>245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Cambria Math</vt:lpstr>
      <vt:lpstr>Segoe UI</vt:lpstr>
      <vt:lpstr>Source Sans Pro Web</vt:lpstr>
      <vt:lpstr>Wingdings</vt:lpstr>
      <vt:lpstr>Office Theme</vt:lpstr>
      <vt:lpstr>Lesson 5</vt:lpstr>
      <vt:lpstr>PowerPoint Presentation</vt:lpstr>
      <vt:lpstr>Metrology</vt:lpstr>
      <vt:lpstr>Uncertainty </vt:lpstr>
      <vt:lpstr>Other Sources of Uncertainty</vt:lpstr>
      <vt:lpstr>Accuracy vs. Precision</vt:lpstr>
      <vt:lpstr>Analog &amp; Digital</vt:lpstr>
      <vt:lpstr>Discretization/Quantization</vt:lpstr>
      <vt:lpstr>Hysteresis</vt:lpstr>
      <vt:lpstr>Quantization Error</vt:lpstr>
      <vt:lpstr>Quantization Error - Example</vt:lpstr>
      <vt:lpstr>Sampling Frequency</vt:lpstr>
      <vt:lpstr>Sampling Frequency - Example</vt:lpstr>
      <vt:lpstr>Traceability </vt:lpstr>
      <vt:lpstr>Calibration</vt:lpstr>
      <vt:lpstr>Software and Estimation as Metrology Tools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Harris, Wyatt J Lt Col USAF USAFA DF/DFAS</cp:lastModifiedBy>
  <cp:revision>4</cp:revision>
  <cp:lastPrinted>2025-08-01T16:37:26Z</cp:lastPrinted>
  <dcterms:created xsi:type="dcterms:W3CDTF">2025-07-17T17:53:42Z</dcterms:created>
  <dcterms:modified xsi:type="dcterms:W3CDTF">2026-01-15T19:54:14Z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